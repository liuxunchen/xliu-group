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bin" ContentType="application/vnd.openxmlformats-officedocument.oleObject"/>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Default Extension="wav" ContentType="audio/wav"/>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Default Extension="gif" ContentType="image/gif"/>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handoutMasters/handoutMaster1.xml" ContentType="application/vnd.openxmlformats-officedocument.presentationml.handoutMaster+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Layouts/slideLayout15.xml" ContentType="application/vnd.openxmlformats-officedocument.presentationml.slideLayout+xml"/>
  <Default Extension="wmf" ContentType="image/x-wmf"/>
  <Default Extension="rels" ContentType="application/vnd.openxmlformats-package.relationship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7"/>
  </p:notesMasterIdLst>
  <p:handoutMasterIdLst>
    <p:handoutMasterId r:id="rId78"/>
  </p:handoutMasterIdLst>
  <p:sldIdLst>
    <p:sldId id="539" r:id="rId2"/>
    <p:sldId id="540" r:id="rId3"/>
    <p:sldId id="541" r:id="rId4"/>
    <p:sldId id="474" r:id="rId5"/>
    <p:sldId id="290" r:id="rId6"/>
    <p:sldId id="329" r:id="rId7"/>
    <p:sldId id="323" r:id="rId8"/>
    <p:sldId id="324" r:id="rId9"/>
    <p:sldId id="401" r:id="rId10"/>
    <p:sldId id="542" r:id="rId11"/>
    <p:sldId id="397" r:id="rId12"/>
    <p:sldId id="399" r:id="rId13"/>
    <p:sldId id="325" r:id="rId14"/>
    <p:sldId id="334" r:id="rId15"/>
    <p:sldId id="354" r:id="rId16"/>
    <p:sldId id="356" r:id="rId17"/>
    <p:sldId id="340" r:id="rId18"/>
    <p:sldId id="341" r:id="rId19"/>
    <p:sldId id="358" r:id="rId20"/>
    <p:sldId id="322" r:id="rId21"/>
    <p:sldId id="344" r:id="rId22"/>
    <p:sldId id="348" r:id="rId23"/>
    <p:sldId id="416" r:id="rId24"/>
    <p:sldId id="402" r:id="rId25"/>
    <p:sldId id="403" r:id="rId26"/>
    <p:sldId id="430" r:id="rId27"/>
    <p:sldId id="431" r:id="rId28"/>
    <p:sldId id="432" r:id="rId29"/>
    <p:sldId id="433" r:id="rId30"/>
    <p:sldId id="434" r:id="rId31"/>
    <p:sldId id="435" r:id="rId32"/>
    <p:sldId id="436" r:id="rId33"/>
    <p:sldId id="437" r:id="rId34"/>
    <p:sldId id="438" r:id="rId35"/>
    <p:sldId id="307" r:id="rId36"/>
    <p:sldId id="548" r:id="rId37"/>
    <p:sldId id="310" r:id="rId38"/>
    <p:sldId id="311" r:id="rId39"/>
    <p:sldId id="313" r:id="rId40"/>
    <p:sldId id="314" r:id="rId41"/>
    <p:sldId id="408" r:id="rId42"/>
    <p:sldId id="422" r:id="rId43"/>
    <p:sldId id="409" r:id="rId44"/>
    <p:sldId id="407" r:id="rId45"/>
    <p:sldId id="315" r:id="rId46"/>
    <p:sldId id="361" r:id="rId47"/>
    <p:sldId id="362" r:id="rId48"/>
    <p:sldId id="363" r:id="rId49"/>
    <p:sldId id="368" r:id="rId50"/>
    <p:sldId id="369" r:id="rId51"/>
    <p:sldId id="370" r:id="rId52"/>
    <p:sldId id="371" r:id="rId53"/>
    <p:sldId id="417" r:id="rId54"/>
    <p:sldId id="372" r:id="rId55"/>
    <p:sldId id="425" r:id="rId56"/>
    <p:sldId id="373" r:id="rId57"/>
    <p:sldId id="547" r:id="rId58"/>
    <p:sldId id="376" r:id="rId59"/>
    <p:sldId id="543" r:id="rId60"/>
    <p:sldId id="429" r:id="rId61"/>
    <p:sldId id="374" r:id="rId62"/>
    <p:sldId id="426" r:id="rId63"/>
    <p:sldId id="427" r:id="rId64"/>
    <p:sldId id="428" r:id="rId65"/>
    <p:sldId id="380" r:id="rId66"/>
    <p:sldId id="382" r:id="rId67"/>
    <p:sldId id="424" r:id="rId68"/>
    <p:sldId id="383" r:id="rId69"/>
    <p:sldId id="544" r:id="rId70"/>
    <p:sldId id="393" r:id="rId71"/>
    <p:sldId id="394" r:id="rId72"/>
    <p:sldId id="384" r:id="rId73"/>
    <p:sldId id="545" r:id="rId74"/>
    <p:sldId id="538" r:id="rId75"/>
    <p:sldId id="546" r:id="rId76"/>
  </p:sldIdLst>
  <p:sldSz cx="9144000" cy="6858000" type="screen4x3"/>
  <p:notesSz cx="6858000" cy="9144000"/>
  <p:defaultTextStyle>
    <a:defPPr>
      <a:defRPr lang="en-US"/>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82E4F8"/>
    <a:srgbClr val="003618"/>
    <a:srgbClr val="000000"/>
    <a:srgbClr val="E892DC"/>
    <a:srgbClr val="9966FF"/>
    <a:srgbClr val="003366"/>
    <a:srgbClr val="FFFFFF"/>
    <a:srgbClr val="FF0000"/>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0182"/>
    <p:restoredTop sz="94636"/>
  </p:normalViewPr>
  <p:slideViewPr>
    <p:cSldViewPr snapToObjects="1" showGuides="1">
      <p:cViewPr>
        <p:scale>
          <a:sx n="82" d="100"/>
          <a:sy n="82" d="100"/>
        </p:scale>
        <p:origin x="-1362" y="216"/>
      </p:cViewPr>
      <p:guideLst>
        <p:guide orient="horz" pos="2160"/>
        <p:guide pos="2976"/>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handoutMaster" Target="handoutMasters/handout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4.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8.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52.wmf"/><Relationship Id="rId1" Type="http://schemas.openxmlformats.org/officeDocument/2006/relationships/image" Target="../media/image5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8610" name="页眉占位符 68609"/>
          <p:cNvSpPr>
            <a:spLocks noGrp="1"/>
          </p:cNvSpPr>
          <p:nvPr>
            <p:ph type="hdr" sz="quarter"/>
          </p:nvPr>
        </p:nvSpPr>
        <p:spPr>
          <a:xfrm>
            <a:off x="0" y="0"/>
            <a:ext cx="2971800" cy="457200"/>
          </a:xfrm>
          <a:prstGeom prst="rect">
            <a:avLst/>
          </a:prstGeom>
          <a:noFill/>
          <a:ln w="9525">
            <a:noFill/>
          </a:ln>
        </p:spPr>
        <p:txBody>
          <a:bodyPr/>
          <a:lstStyle/>
          <a:p>
            <a:pPr lvl="0" eaLnBrk="0" fontAlgn="base" hangingPunct="0"/>
            <a:endParaRPr lang="ko-KR" altLang="en-US" sz="1200" strike="noStrike" noProof="1">
              <a:latin typeface="Times New Roman" panose="02020603050405020304" pitchFamily="18" charset="0"/>
              <a:ea typeface="Gulim" panose="020B0600000101010101" pitchFamily="34" charset="-127"/>
            </a:endParaRPr>
          </a:p>
        </p:txBody>
      </p:sp>
      <p:sp>
        <p:nvSpPr>
          <p:cNvPr id="68611" name="日期占位符 68610"/>
          <p:cNvSpPr>
            <a:spLocks noGrp="1"/>
          </p:cNvSpPr>
          <p:nvPr>
            <p:ph type="dt" sz="quarter" idx="1"/>
          </p:nvPr>
        </p:nvSpPr>
        <p:spPr>
          <a:xfrm>
            <a:off x="3886200" y="0"/>
            <a:ext cx="2971800" cy="457200"/>
          </a:xfrm>
          <a:prstGeom prst="rect">
            <a:avLst/>
          </a:prstGeom>
          <a:noFill/>
          <a:ln w="9525">
            <a:noFill/>
          </a:ln>
        </p:spPr>
        <p:txBody>
          <a:bodyPr/>
          <a:lstStyle/>
          <a:p>
            <a:pPr lvl="0" algn="r" eaLnBrk="0" fontAlgn="base" hangingPunct="0"/>
            <a:endParaRPr lang="ko-KR" altLang="en-US" sz="1200" strike="noStrike" noProof="1">
              <a:latin typeface="Times New Roman" panose="02020603050405020304" pitchFamily="18" charset="0"/>
              <a:ea typeface="Gulim" panose="020B0600000101010101" pitchFamily="34" charset="-127"/>
            </a:endParaRPr>
          </a:p>
        </p:txBody>
      </p:sp>
      <p:sp>
        <p:nvSpPr>
          <p:cNvPr id="68612" name="页脚占位符 68611"/>
          <p:cNvSpPr>
            <a:spLocks noGrp="1"/>
          </p:cNvSpPr>
          <p:nvPr>
            <p:ph type="ftr" sz="quarter" idx="2"/>
          </p:nvPr>
        </p:nvSpPr>
        <p:spPr>
          <a:xfrm>
            <a:off x="0" y="8686800"/>
            <a:ext cx="2971800" cy="457200"/>
          </a:xfrm>
          <a:prstGeom prst="rect">
            <a:avLst/>
          </a:prstGeom>
          <a:noFill/>
          <a:ln w="9525">
            <a:noFill/>
          </a:ln>
        </p:spPr>
        <p:txBody>
          <a:bodyPr anchor="b"/>
          <a:lstStyle/>
          <a:p>
            <a:pPr lvl="0" eaLnBrk="0" fontAlgn="base" hangingPunct="0"/>
            <a:endParaRPr lang="ko-KR" altLang="en-US" sz="1200" strike="noStrike" noProof="1">
              <a:latin typeface="Times New Roman" panose="02020603050405020304" pitchFamily="18" charset="0"/>
              <a:ea typeface="Gulim" panose="020B0600000101010101" pitchFamily="34" charset="-127"/>
            </a:endParaRPr>
          </a:p>
        </p:txBody>
      </p:sp>
      <p:sp>
        <p:nvSpPr>
          <p:cNvPr id="68613" name="灯片编号占位符 68612"/>
          <p:cNvSpPr>
            <a:spLocks noGrp="1"/>
          </p:cNvSpPr>
          <p:nvPr>
            <p:ph type="sldNum" sz="quarter" idx="3"/>
          </p:nvPr>
        </p:nvSpPr>
        <p:spPr>
          <a:xfrm>
            <a:off x="3886200" y="8686800"/>
            <a:ext cx="2971800" cy="457200"/>
          </a:xfrm>
          <a:prstGeom prst="rect">
            <a:avLst/>
          </a:prstGeom>
          <a:noFill/>
          <a:ln w="9525">
            <a:noFill/>
          </a:ln>
        </p:spPr>
        <p:txBody>
          <a:bodyPr anchor="b"/>
          <a:lstStyle/>
          <a:p>
            <a:pPr lvl="0" algn="r" eaLnBrk="0" fontAlgn="base" hangingPunct="0"/>
            <a:fld id="{9A0DB2DC-4C9A-4742-B13C-FB6460FD3503}" type="slidenum">
              <a:rPr lang="ko-KR" altLang="en-US" sz="1200" strike="noStrike" noProof="1" dirty="0">
                <a:latin typeface="Times New Roman" panose="02020603050405020304" pitchFamily="18" charset="0"/>
                <a:ea typeface="Gulim" panose="020B0600000101010101" pitchFamily="34" charset="-127"/>
                <a:cs typeface="+mn-cs"/>
              </a:rPr>
              <a:pPr lvl="0" algn="r" eaLnBrk="0" fontAlgn="base" hangingPunct="0"/>
              <a:t>‹#›</a:t>
            </a:fld>
            <a:endParaRPr lang="ko-KR" altLang="en-US" sz="1200" strike="noStrike" noProof="1">
              <a:latin typeface="Times New Roman" panose="02020603050405020304" pitchFamily="18" charset="0"/>
              <a:ea typeface="Gulim" panose="020B0600000101010101" pitchFamily="34" charset="-127"/>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6802" name="页眉占位符 76801"/>
          <p:cNvSpPr>
            <a:spLocks noGrp="1"/>
          </p:cNvSpPr>
          <p:nvPr>
            <p:ph type="hdr" sz="quarter"/>
          </p:nvPr>
        </p:nvSpPr>
        <p:spPr>
          <a:xfrm>
            <a:off x="0" y="0"/>
            <a:ext cx="2971800" cy="457200"/>
          </a:xfrm>
          <a:prstGeom prst="rect">
            <a:avLst/>
          </a:prstGeom>
          <a:noFill/>
          <a:ln w="9525">
            <a:noFill/>
          </a:ln>
        </p:spPr>
        <p:txBody>
          <a:bodyPr/>
          <a:lstStyle/>
          <a:p>
            <a:pPr lvl="0" eaLnBrk="0" fontAlgn="base" hangingPunct="0"/>
            <a:endParaRPr lang="ko-KR" altLang="en-US" sz="1200" b="1" strike="noStrike" noProof="1">
              <a:solidFill>
                <a:schemeClr val="accent1"/>
              </a:solidFill>
              <a:latin typeface="Lucida Sans Unicode" panose="020B0602030504020204" pitchFamily="34" charset="0"/>
              <a:ea typeface="Gulim" panose="020B0600000101010101" pitchFamily="34" charset="-127"/>
            </a:endParaRPr>
          </a:p>
        </p:txBody>
      </p:sp>
      <p:sp>
        <p:nvSpPr>
          <p:cNvPr id="76803" name="日期占位符 76802"/>
          <p:cNvSpPr>
            <a:spLocks noGrp="1"/>
          </p:cNvSpPr>
          <p:nvPr>
            <p:ph type="dt" idx="1"/>
          </p:nvPr>
        </p:nvSpPr>
        <p:spPr>
          <a:xfrm>
            <a:off x="3886200" y="0"/>
            <a:ext cx="2971800" cy="457200"/>
          </a:xfrm>
          <a:prstGeom prst="rect">
            <a:avLst/>
          </a:prstGeom>
          <a:noFill/>
          <a:ln w="9525">
            <a:noFill/>
          </a:ln>
        </p:spPr>
        <p:txBody>
          <a:bodyPr/>
          <a:lstStyle/>
          <a:p>
            <a:pPr lvl="0" algn="r" eaLnBrk="0" fontAlgn="base" hangingPunct="0"/>
            <a:endParaRPr lang="ko-KR" altLang="en-US" sz="1200" b="1" strike="noStrike" noProof="1">
              <a:solidFill>
                <a:schemeClr val="accent1"/>
              </a:solidFill>
              <a:latin typeface="Lucida Sans Unicode" panose="020B0602030504020204" pitchFamily="34" charset="0"/>
              <a:ea typeface="Gulim" panose="020B0600000101010101" pitchFamily="34" charset="-127"/>
            </a:endParaRPr>
          </a:p>
        </p:txBody>
      </p:sp>
      <p:sp>
        <p:nvSpPr>
          <p:cNvPr id="4100" name="幻灯片图像占位符 76803"/>
          <p:cNvSpPr>
            <a:spLocks noGrp="1" noRot="1" noChangeAspec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4101" name="文本占位符 76804"/>
          <p:cNvSpPr>
            <a:spLocks noGrp="1"/>
          </p:cNvSpPr>
          <p:nvPr>
            <p:ph type="body" sz="quarter"/>
          </p:nvPr>
        </p:nvSpPr>
        <p:spPr>
          <a:xfrm>
            <a:off x="914400" y="4343400"/>
            <a:ext cx="5029200" cy="4114800"/>
          </a:xfrm>
          <a:prstGeom prst="rect">
            <a:avLst/>
          </a:prstGeom>
          <a:noFill/>
          <a:ln w="9525">
            <a:noFill/>
          </a:ln>
        </p:spPr>
        <p:txBody>
          <a:bodyPr anchor="t"/>
          <a:lstStyle/>
          <a:p>
            <a:pPr lvl="0" indent="0"/>
            <a:r>
              <a:rPr lang="ko-KR" altLang="en-US" dirty="0"/>
              <a:t>마스터 텍스트 스타일을 편집합니다</a:t>
            </a:r>
          </a:p>
          <a:p>
            <a:pPr lvl="1" indent="0"/>
            <a:r>
              <a:rPr lang="ko-KR" altLang="en-US" dirty="0"/>
              <a:t>둘째 수준</a:t>
            </a:r>
          </a:p>
          <a:p>
            <a:pPr lvl="2" indent="0"/>
            <a:r>
              <a:rPr lang="ko-KR" altLang="en-US" dirty="0"/>
              <a:t>셋째 수준</a:t>
            </a:r>
          </a:p>
          <a:p>
            <a:pPr lvl="3" indent="0"/>
            <a:r>
              <a:rPr lang="ko-KR" altLang="en-US" dirty="0"/>
              <a:t>넷째 수준</a:t>
            </a:r>
          </a:p>
          <a:p>
            <a:pPr lvl="4" indent="0"/>
            <a:r>
              <a:rPr lang="ko-KR" altLang="en-US" dirty="0"/>
              <a:t>다섯째 수준</a:t>
            </a:r>
          </a:p>
        </p:txBody>
      </p:sp>
      <p:sp>
        <p:nvSpPr>
          <p:cNvPr id="76806" name="页脚占位符 76805"/>
          <p:cNvSpPr>
            <a:spLocks noGrp="1"/>
          </p:cNvSpPr>
          <p:nvPr>
            <p:ph type="ftr" sz="quarter" idx="4"/>
          </p:nvPr>
        </p:nvSpPr>
        <p:spPr>
          <a:xfrm>
            <a:off x="0" y="8686800"/>
            <a:ext cx="2971800" cy="457200"/>
          </a:xfrm>
          <a:prstGeom prst="rect">
            <a:avLst/>
          </a:prstGeom>
          <a:noFill/>
          <a:ln w="9525">
            <a:noFill/>
          </a:ln>
        </p:spPr>
        <p:txBody>
          <a:bodyPr anchor="b"/>
          <a:lstStyle/>
          <a:p>
            <a:pPr lvl="0" eaLnBrk="0" fontAlgn="base" hangingPunct="0"/>
            <a:endParaRPr lang="ko-KR" altLang="en-US" sz="1200" b="1" strike="noStrike" noProof="1">
              <a:solidFill>
                <a:schemeClr val="accent1"/>
              </a:solidFill>
              <a:latin typeface="Lucida Sans Unicode" panose="020B0602030504020204" pitchFamily="34" charset="0"/>
              <a:ea typeface="Gulim" panose="020B0600000101010101" pitchFamily="34" charset="-127"/>
            </a:endParaRPr>
          </a:p>
        </p:txBody>
      </p:sp>
      <p:sp>
        <p:nvSpPr>
          <p:cNvPr id="76807" name="灯片编号占位符 76806"/>
          <p:cNvSpPr>
            <a:spLocks noGrp="1"/>
          </p:cNvSpPr>
          <p:nvPr>
            <p:ph type="sldNum" sz="quarter" idx="5"/>
          </p:nvPr>
        </p:nvSpPr>
        <p:spPr>
          <a:xfrm>
            <a:off x="3886200" y="8686800"/>
            <a:ext cx="2971800" cy="457200"/>
          </a:xfrm>
          <a:prstGeom prst="rect">
            <a:avLst/>
          </a:prstGeom>
          <a:noFill/>
          <a:ln w="9525">
            <a:noFill/>
          </a:ln>
        </p:spPr>
        <p:txBody>
          <a:bodyPr anchor="b"/>
          <a:lstStyle/>
          <a:p>
            <a:pPr lvl="0" algn="r" eaLnBrk="0" fontAlgn="base" hangingPunct="0"/>
            <a:fld id="{9A0DB2DC-4C9A-4742-B13C-FB6460FD3503}" type="slidenum">
              <a:rPr lang="ko-KR" altLang="en-US" sz="1200" b="1" strike="noStrike" noProof="1" dirty="0">
                <a:solidFill>
                  <a:schemeClr val="accent1"/>
                </a:solidFill>
                <a:latin typeface="Lucida Sans Unicode" panose="020B0602030504020204" pitchFamily="34" charset="0"/>
                <a:ea typeface="Gulim" panose="020B0600000101010101" pitchFamily="34" charset="-127"/>
                <a:cs typeface="+mn-cs"/>
              </a:rPr>
              <a:pPr lvl="0" algn="r" eaLnBrk="0" fontAlgn="base" hangingPunct="0"/>
              <a:t>‹#›</a:t>
            </a:fld>
            <a:endParaRPr lang="ko-KR" altLang="en-US" sz="1200" b="1" strike="noStrike" noProof="1">
              <a:solidFill>
                <a:schemeClr val="accent1"/>
              </a:solidFill>
              <a:latin typeface="Lucida Sans Unicode" panose="020B0602030504020204" pitchFamily="34" charset="0"/>
              <a:ea typeface="Gulim" panose="020B0600000101010101" pitchFamily="34" charset="-127"/>
            </a:endParaRPr>
          </a:p>
        </p:txBody>
      </p:sp>
    </p:spTree>
  </p:cSld>
  <p:clrMap bg1="lt1" tx1="dk1" bg2="lt2" tx2="dk2" accent1="accent1" accent2="accent2" accent3="accent3" accent4="accent4" accent5="accent5" accent6="accent6" hlink="hlink" folHlink="folHlink"/>
  <p:hf sldNum="0" hdr="0" ftr="0" dt="0"/>
  <p:notesStyle>
    <a:lvl1pPr marL="0" lvl="0"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2pPr>
    <a:lvl3pPr marL="914400" lvl="2"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3pPr>
    <a:lvl4pPr marL="1371600" lvl="3"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4pPr>
    <a:lvl5pPr marL="1828800" lvl="4"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5pPr>
    <a:lvl6pPr marL="2286000" lvl="5"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6pPr>
    <a:lvl7pPr marL="2743200" lvl="6"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7pPr>
    <a:lvl8pPr marL="3200400" lvl="7"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8pPr>
    <a:lvl9pPr marL="3657600" lvl="8"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p:cNvSpPr>
            <a:spLocks noGrp="1" noRot="1" noChangeAspect="1" noTextEdit="1"/>
          </p:cNvSpPr>
          <p:nvPr>
            <p:ph type="sldImg"/>
          </p:nvPr>
        </p:nvSpPr>
        <p:spPr/>
      </p:sp>
      <p:sp>
        <p:nvSpPr>
          <p:cNvPr id="39939" name="备注占位符 2"/>
          <p:cNvSpPr>
            <a:spLocks noGrp="1"/>
          </p:cNvSpPr>
          <p:nvPr>
            <p:ph type="body" idx="1"/>
          </p:nvPr>
        </p:nvSpPr>
        <p:spPr/>
        <p:txBody>
          <a:bodyPr wrap="square" lIns="91440" tIns="45720" rIns="91440" bIns="45720" anchor="ctr"/>
          <a:lstStyle/>
          <a:p>
            <a:pPr lvl="0" eaLnBrk="1" hangingPunct="1"/>
            <a:endParaRPr lang="zh-CN" altLang="en-US" dirty="0">
              <a:ea typeface="宋体" panose="02010600030101010101" pitchFamily="2" charset="-122"/>
            </a:endParaRPr>
          </a:p>
        </p:txBody>
      </p:sp>
      <p:sp>
        <p:nvSpPr>
          <p:cNvPr id="39940"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fld id="{9A0DB2DC-4C9A-4742-B13C-FB6460FD3503}" type="slidenum">
              <a:rPr lang="zh-CN" altLang="en-US" sz="1200" dirty="0">
                <a:ea typeface="宋体" panose="02010600030101010101" pitchFamily="2" charset="-122"/>
              </a:rPr>
              <a:pPr lvl="0" algn="r" eaLnBrk="1" hangingPunct="1"/>
              <a:t>1</a:t>
            </a:fld>
            <a:endParaRPr lang="zh-CN" altLang="en-US" sz="1200" dirty="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灯片编号占位符 2"/>
          <p:cNvSpPr>
            <a:spLocks noGrp="1"/>
          </p:cNvSpPr>
          <p:nvPr>
            <p:ph type="sldNum" sz="quarter" idx="11"/>
          </p:nvPr>
        </p:nvSpPr>
        <p:spPr/>
        <p:txBody>
          <a:bodyPr/>
          <a:lstStyle/>
          <a:p>
            <a:pPr lvl="0" eaLnBrk="1" hangingPunct="1"/>
            <a:fld id="{9A0DB2DC-4C9A-4742-B13C-FB6460FD3503}" type="slidenum">
              <a:rPr lang="zh-CN" altLang="en-US" dirty="0">
                <a:latin typeface="Arial" panose="020B0604020202020204" pitchFamily="34" charset="0"/>
              </a:rPr>
              <a:pPr lvl="0" eaLnBrk="1" hangingPunct="1"/>
              <a:t>‹#›</a:t>
            </a:fld>
            <a:endParaRPr lang="zh-CN" altLang="en-US" dirty="0">
              <a:latin typeface="Arial" panose="020B0604020202020204" pitchFamily="34" charset="0"/>
            </a:endParaRPr>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页脚占位符 3"/>
          <p:cNvSpPr>
            <a:spLocks noGrp="1"/>
          </p:cNvSpPr>
          <p:nvPr>
            <p:ph type="ftr" sz="quarter" idx="10"/>
          </p:nvPr>
        </p:nvSpPr>
        <p:spPr/>
        <p:txBody>
          <a:bodyPr/>
          <a:lstStyle/>
          <a:p>
            <a:pPr lvl="0" fontAlgn="base"/>
            <a:endParaRPr lang="zh-CN" altLang="en-US" strike="noStrike" noProof="1">
              <a:latin typeface="Arial" panose="020B0604020202020204" pitchFamily="34" charset="0"/>
            </a:endParaRPr>
          </a:p>
        </p:txBody>
      </p:sp>
      <p:sp>
        <p:nvSpPr>
          <p:cNvPr id="5" name="灯片编号占位符 4"/>
          <p:cNvSpPr>
            <a:spLocks noGrp="1"/>
          </p:cNvSpPr>
          <p:nvPr>
            <p:ph type="sldNum" sz="quarter" idx="11"/>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pPr lvl="0" fontAlgn="base"/>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页脚占位符 3"/>
          <p:cNvSpPr>
            <a:spLocks noGrp="1"/>
          </p:cNvSpPr>
          <p:nvPr>
            <p:ph type="ftr" sz="quarter" idx="10"/>
          </p:nvPr>
        </p:nvSpPr>
        <p:spPr/>
        <p:txBody>
          <a:bodyPr/>
          <a:lstStyle/>
          <a:p>
            <a:pPr lvl="0" fontAlgn="base"/>
            <a:endParaRPr lang="zh-CN" altLang="en-US" strike="noStrike" noProof="1">
              <a:latin typeface="Arial" panose="020B0604020202020204" pitchFamily="34" charset="0"/>
            </a:endParaRPr>
          </a:p>
        </p:txBody>
      </p:sp>
      <p:sp>
        <p:nvSpPr>
          <p:cNvPr id="5" name="灯片编号占位符 4"/>
          <p:cNvSpPr>
            <a:spLocks noGrp="1"/>
          </p:cNvSpPr>
          <p:nvPr>
            <p:ph type="sldNum" sz="quarter" idx="11"/>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pPr lvl="0" fontAlgn="base"/>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页脚占位符 4"/>
          <p:cNvSpPr>
            <a:spLocks noGrp="1"/>
          </p:cNvSpPr>
          <p:nvPr>
            <p:ph type="ftr" sz="quarter" idx="10"/>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1"/>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pPr lvl="0" fontAlgn="base"/>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页脚占位符 6"/>
          <p:cNvSpPr>
            <a:spLocks noGrp="1"/>
          </p:cNvSpPr>
          <p:nvPr>
            <p:ph type="ftr" sz="quarter" idx="10"/>
          </p:nvPr>
        </p:nvSpPr>
        <p:spPr/>
        <p:txBody>
          <a:bodyPr/>
          <a:lstStyle/>
          <a:p>
            <a:pPr lvl="0" fontAlgn="base"/>
            <a:endParaRPr lang="zh-CN" altLang="en-US" strike="noStrike" noProof="1">
              <a:latin typeface="Arial" panose="020B0604020202020204" pitchFamily="34" charset="0"/>
            </a:endParaRPr>
          </a:p>
        </p:txBody>
      </p:sp>
      <p:sp>
        <p:nvSpPr>
          <p:cNvPr id="8" name="灯片编号占位符 7"/>
          <p:cNvSpPr>
            <a:spLocks noGrp="1"/>
          </p:cNvSpPr>
          <p:nvPr>
            <p:ph type="sldNum" sz="quarter" idx="11"/>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pPr lvl="0" fontAlgn="base"/>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页脚占位符 2"/>
          <p:cNvSpPr>
            <a:spLocks noGrp="1"/>
          </p:cNvSpPr>
          <p:nvPr>
            <p:ph type="ftr" sz="quarter" idx="10"/>
          </p:nvPr>
        </p:nvSpPr>
        <p:spPr/>
        <p:txBody>
          <a:bodyPr/>
          <a:lstStyle/>
          <a:p>
            <a:pPr lvl="0" fontAlgn="base"/>
            <a:endParaRPr lang="zh-CN" altLang="en-US" strike="noStrike" noProof="1">
              <a:latin typeface="Arial" panose="020B0604020202020204" pitchFamily="34" charset="0"/>
            </a:endParaRPr>
          </a:p>
        </p:txBody>
      </p:sp>
      <p:sp>
        <p:nvSpPr>
          <p:cNvPr id="4" name="灯片编号占位符 3"/>
          <p:cNvSpPr>
            <a:spLocks noGrp="1"/>
          </p:cNvSpPr>
          <p:nvPr>
            <p:ph type="sldNum" sz="quarter" idx="11"/>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pPr lvl="0" fontAlgn="base"/>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lvl="0" fontAlgn="base"/>
            <a:endParaRPr lang="zh-CN" altLang="en-US" strike="noStrike" noProof="1">
              <a:latin typeface="Arial" panose="020B0604020202020204" pitchFamily="34" charset="0"/>
            </a:endParaRPr>
          </a:p>
        </p:txBody>
      </p:sp>
      <p:sp>
        <p:nvSpPr>
          <p:cNvPr id="3" name="灯片编号占位符 2"/>
          <p:cNvSpPr>
            <a:spLocks noGrp="1"/>
          </p:cNvSpPr>
          <p:nvPr>
            <p:ph type="sldNum" sz="quarter" idx="11"/>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pPr lvl="0" fontAlgn="base"/>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页脚占位符 4"/>
          <p:cNvSpPr>
            <a:spLocks noGrp="1"/>
          </p:cNvSpPr>
          <p:nvPr>
            <p:ph type="ftr" sz="quarter" idx="10"/>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1"/>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pPr lvl="0" fontAlgn="base"/>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页脚占位符 4"/>
          <p:cNvSpPr>
            <a:spLocks noGrp="1"/>
          </p:cNvSpPr>
          <p:nvPr>
            <p:ph type="ftr" sz="quarter" idx="10"/>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1"/>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pPr lvl="0" fontAlgn="base"/>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页脚占位符 3"/>
          <p:cNvSpPr>
            <a:spLocks noGrp="1"/>
          </p:cNvSpPr>
          <p:nvPr>
            <p:ph type="ftr" sz="quarter" idx="10"/>
          </p:nvPr>
        </p:nvSpPr>
        <p:spPr/>
        <p:txBody>
          <a:bodyPr/>
          <a:lstStyle/>
          <a:p>
            <a:pPr lvl="0" fontAlgn="base"/>
            <a:endParaRPr lang="zh-CN" altLang="en-US" strike="noStrike" noProof="1">
              <a:latin typeface="Arial" panose="020B0604020202020204" pitchFamily="34" charset="0"/>
            </a:endParaRPr>
          </a:p>
        </p:txBody>
      </p:sp>
      <p:sp>
        <p:nvSpPr>
          <p:cNvPr id="5" name="灯片编号占位符 4"/>
          <p:cNvSpPr>
            <a:spLocks noGrp="1"/>
          </p:cNvSpPr>
          <p:nvPr>
            <p:ph type="sldNum" sz="quarter" idx="11"/>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pPr lvl="0" fontAlgn="base"/>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垂直排列标题与文本">
    <p:spTree>
      <p:nvGrpSpPr>
        <p:cNvPr id="1" name=""/>
        <p:cNvGrpSpPr/>
        <p:nvPr/>
      </p:nvGrpSpPr>
      <p:grpSpPr>
        <a:xfrm>
          <a:off x="0" y="0"/>
          <a:ext cx="0" cy="0"/>
          <a:chOff x="0" y="0"/>
          <a:chExt cx="0" cy="0"/>
        </a:xfrm>
      </p:grpSpPr>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2" name="页脚占位符 1"/>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1"/>
          </p:nvPr>
        </p:nvSpPr>
        <p:spPr/>
        <p:txBody>
          <a:bodyPr/>
          <a:lstStyle/>
          <a:p>
            <a:pPr lvl="0" eaLnBrk="1" hangingPunct="1"/>
            <a:fld id="{9A0DB2DC-4C9A-4742-B13C-FB6460FD3503}" type="slidenum">
              <a:rPr lang="zh-CN" altLang="en-US" dirty="0">
                <a:latin typeface="Arial" panose="020B0604020202020204" pitchFamily="34" charset="0"/>
              </a:rPr>
              <a:pPr lvl="0" eaLnBrk="1" hangingPunct="1"/>
              <a:t>‹#›</a:t>
            </a:fld>
            <a:endParaRPr lang="zh-CN" altLang="en-US" dirty="0">
              <a:latin typeface="Arial" panose="020B0604020202020204" pitchFamily="34" charset="0"/>
            </a:endParaRPr>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pPr/>
              <a:t>2018-7-25</a:t>
            </a:fld>
            <a:endParaRPr lang="zh-CN" altLang="en-US"/>
          </a:p>
        </p:txBody>
      </p:sp>
      <p:sp>
        <p:nvSpPr>
          <p:cNvPr id="4" name="页脚占位符 3"/>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pPr lvl="0" fontAlgn="base"/>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pPr/>
              <a:t>2018-7-25</a:t>
            </a:fld>
            <a:endParaRPr lang="zh-CN" altLang="en-US"/>
          </a:p>
        </p:txBody>
      </p:sp>
      <p:sp>
        <p:nvSpPr>
          <p:cNvPr id="4" name="页脚占位符 3"/>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pPr lvl="0" fontAlgn="base"/>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pPr/>
              <a:t>2018-7-25</a:t>
            </a:fld>
            <a:endParaRPr lang="zh-CN" altLang="en-US"/>
          </a:p>
        </p:txBody>
      </p:sp>
      <p:sp>
        <p:nvSpPr>
          <p:cNvPr id="4" name="页脚占位符 3"/>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pPr lvl="0" fontAlgn="base"/>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pPr/>
              <a:t>2018-7-25</a:t>
            </a:fld>
            <a:endParaRPr lang="zh-CN" altLang="en-US"/>
          </a:p>
        </p:txBody>
      </p:sp>
      <p:sp>
        <p:nvSpPr>
          <p:cNvPr id="4" name="页脚占位符 3"/>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pPr lvl="0" fontAlgn="base"/>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gradFill flip="none" rotWithShape="1">
          <a:gsLst>
            <a:gs pos="0">
              <a:srgbClr val="FFFF00"/>
            </a:gs>
            <a:gs pos="100000">
              <a:srgbClr val="CCECFF"/>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1029" name="Rectangle 5"/>
          <p:cNvSpPr>
            <a:spLocks noGrp="1" noChangeArrowheads="1"/>
          </p:cNvSpPr>
          <p:nvPr>
            <p:ph type="ftr" sz="quarter" idx="3"/>
          </p:nvPr>
        </p:nvSpPr>
        <p:spPr bwMode="auto">
          <a:xfrm>
            <a:off x="1981200" y="6553200"/>
            <a:ext cx="5562600" cy="304800"/>
          </a:xfrm>
          <a:prstGeom prst="rect">
            <a:avLst/>
          </a:prstGeom>
          <a:noFill/>
          <a:ln w="9525">
            <a:noFill/>
            <a:miter lim="800000"/>
          </a:ln>
          <a:effectLst/>
        </p:spPr>
        <p:txBody>
          <a:bodyPr vert="horz" wrap="square" lIns="91440" tIns="45720" rIns="91440" bIns="45720" numCol="1" anchor="t" anchorCtr="0" compatLnSpc="1"/>
          <a:lstStyle>
            <a:lvl1pPr algn="ctr">
              <a:defRPr sz="1200">
                <a:ea typeface="宋体" panose="02010600030101010101" pitchFamily="2" charset="-122"/>
              </a:defRPr>
            </a:lvl1pPr>
          </a:lstStyle>
          <a:p>
            <a:pPr lvl="0" fontAlgn="base"/>
            <a:endParaRPr lang="zh-CN" altLang="en-US" strike="noStrike" noProof="1">
              <a:latin typeface="Arial" panose="020B0604020202020204" pitchFamily="34" charset="0"/>
            </a:endParaRPr>
          </a:p>
        </p:txBody>
      </p:sp>
      <p:sp>
        <p:nvSpPr>
          <p:cNvPr id="1030" name="Rectangle 6"/>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lgn="r">
              <a:defRPr sz="1200">
                <a:ea typeface="宋体" panose="02010600030101010101" pitchFamily="2" charset="-122"/>
              </a:defRPr>
            </a:lvl1p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pPr lvl="0" fontAlgn="base"/>
              <a:t>‹#›</a:t>
            </a:fld>
            <a:endParaRPr lang="zh-CN" altLang="en-US" strike="noStrike" noProof="1">
              <a:latin typeface="Arial" panose="020B0604020202020204" pitchFamily="34" charset="0"/>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Arial" panose="020B0604020202020204" pitchFamily="34" charset="0"/>
        </a:defRPr>
      </a:lvl2pPr>
      <a:lvl3pPr algn="l" rtl="0" eaLnBrk="0" fontAlgn="base" hangingPunct="0">
        <a:spcBef>
          <a:spcPct val="0"/>
        </a:spcBef>
        <a:spcAft>
          <a:spcPct val="0"/>
        </a:spcAft>
        <a:defRPr sz="4400">
          <a:solidFill>
            <a:schemeClr val="tx2"/>
          </a:solidFill>
          <a:latin typeface="Arial" panose="020B0604020202020204" pitchFamily="34" charset="0"/>
        </a:defRPr>
      </a:lvl3pPr>
      <a:lvl4pPr algn="l" rtl="0" eaLnBrk="0" fontAlgn="base" hangingPunct="0">
        <a:spcBef>
          <a:spcPct val="0"/>
        </a:spcBef>
        <a:spcAft>
          <a:spcPct val="0"/>
        </a:spcAft>
        <a:defRPr sz="4400">
          <a:solidFill>
            <a:schemeClr val="tx2"/>
          </a:solidFill>
          <a:latin typeface="Arial" panose="020B0604020202020204" pitchFamily="34" charset="0"/>
        </a:defRPr>
      </a:lvl4pPr>
      <a:lvl5pPr algn="l" rtl="0" eaLnBrk="0" fontAlgn="base" hangingPunct="0">
        <a:spcBef>
          <a:spcPct val="0"/>
        </a:spcBef>
        <a:spcAft>
          <a:spcPct val="0"/>
        </a:spcAft>
        <a:defRPr sz="4400">
          <a:solidFill>
            <a:schemeClr val="tx2"/>
          </a:solidFill>
          <a:latin typeface="Arial" panose="020B0604020202020204" pitchFamily="34" charset="0"/>
        </a:defRPr>
      </a:lvl5pPr>
      <a:lvl6pPr marL="457200" algn="l" rtl="0" fontAlgn="base">
        <a:spcBef>
          <a:spcPct val="0"/>
        </a:spcBef>
        <a:spcAft>
          <a:spcPct val="0"/>
        </a:spcAft>
        <a:defRPr sz="4400">
          <a:solidFill>
            <a:schemeClr val="tx2"/>
          </a:solidFill>
          <a:latin typeface="Arial" panose="020B0604020202020204" pitchFamily="34" charset="0"/>
        </a:defRPr>
      </a:lvl6pPr>
      <a:lvl7pPr marL="914400" algn="l" rtl="0" fontAlgn="base">
        <a:spcBef>
          <a:spcPct val="0"/>
        </a:spcBef>
        <a:spcAft>
          <a:spcPct val="0"/>
        </a:spcAft>
        <a:defRPr sz="4400">
          <a:solidFill>
            <a:schemeClr val="tx2"/>
          </a:solidFill>
          <a:latin typeface="Arial" panose="020B0604020202020204" pitchFamily="34" charset="0"/>
        </a:defRPr>
      </a:lvl7pPr>
      <a:lvl8pPr marL="1371600" algn="l" rtl="0" fontAlgn="base">
        <a:spcBef>
          <a:spcPct val="0"/>
        </a:spcBef>
        <a:spcAft>
          <a:spcPct val="0"/>
        </a:spcAft>
        <a:defRPr sz="4400">
          <a:solidFill>
            <a:schemeClr val="tx2"/>
          </a:solidFill>
          <a:latin typeface="Arial" panose="020B0604020202020204" pitchFamily="34" charset="0"/>
        </a:defRPr>
      </a:lvl8pPr>
      <a:lvl9pPr marL="1828800" algn="l" rtl="0" fontAlgn="base">
        <a:spcBef>
          <a:spcPct val="0"/>
        </a:spcBef>
        <a:spcAft>
          <a:spcPct val="0"/>
        </a:spcAft>
        <a:defRPr sz="4400">
          <a:solidFill>
            <a:schemeClr val="tx2"/>
          </a:solidFill>
          <a:latin typeface="Arial" panose="020B0604020202020204"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hyperlink" Target="&#31532;&#19968;&#20010;&#36229;&#38142;&#25509;-&#34507;&#30333;&#36136;&#30340;&#21512;&#25104;.flv"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imgsrc.baidu.com/baike/pic/item/9e7ce6dc2eb015b8cc11666f.jpg" TargetMode="External"/><Relationship Id="rId1" Type="http://schemas.openxmlformats.org/officeDocument/2006/relationships/slideLayout" Target="../slideLayouts/slideLayout2.xml"/><Relationship Id="rId4" Type="http://schemas.openxmlformats.org/officeDocument/2006/relationships/image" Target="F:/2018/&#24037;&#31243;&#21270;&#23398;/&#24037;&#31243;&#21270;&#23398;-&#31532;7,8,9&#31456;/&#31532;&#20061;&#31456;&#21270;&#23398;&#19982;&#29983;&#21629;/http:/imgsrc.baidu.com/baike/abpic/item/9e7ce6dc2eb015b8cc11666f.jpg"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baike.baidu.com/view/238650.htm" TargetMode="External"/><Relationship Id="rId2" Type="http://schemas.openxmlformats.org/officeDocument/2006/relationships/hyperlink" Target="http://baike.baidu.com/view/29901.htm" TargetMode="External"/><Relationship Id="rId1" Type="http://schemas.openxmlformats.org/officeDocument/2006/relationships/slideLayout" Target="../slideLayouts/slideLayout2.xml"/><Relationship Id="rId4" Type="http://schemas.openxmlformats.org/officeDocument/2006/relationships/hyperlink" Target="http://baike.baidu.com/view/418479.htm"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baike.baidu.com/view/676497.htm" TargetMode="External"/><Relationship Id="rId2" Type="http://schemas.openxmlformats.org/officeDocument/2006/relationships/hyperlink" Target="http://baike.baidu.com/view/397734.htm" TargetMode="External"/><Relationship Id="rId1" Type="http://schemas.openxmlformats.org/officeDocument/2006/relationships/slideLayout" Target="../slideLayouts/slideLayout2.xml"/><Relationship Id="rId6" Type="http://schemas.openxmlformats.org/officeDocument/2006/relationships/hyperlink" Target="http://baike.baidu.com/view/246341.htm" TargetMode="External"/><Relationship Id="rId5" Type="http://schemas.openxmlformats.org/officeDocument/2006/relationships/hyperlink" Target="http://baike.baidu.com/view/229671.htm" TargetMode="External"/><Relationship Id="rId4" Type="http://schemas.openxmlformats.org/officeDocument/2006/relationships/hyperlink" Target="http://baike.baidu.com/view/718162.htm"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image.baidu.com/i?ct=503316480&amp;z=0&amp;tn=baiduimagedetail&amp;word=%BB%C6%B9%CF&amp;in=26762&amp;cl=2&amp;cm=1&amp;sc=0&amp;lm=-1&amp;pn=80&amp;rn=1&amp;di=2272979956&amp;ln=2000&amp;fr=" TargetMode="External"/><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hyperlink" Target="http://image.baidu.com/i?ct=503316480&amp;z=0&amp;tn=baiduimagedetail&amp;word=%BA%A3%B4%F8%CD%BC%C6%AC&amp;in=8295&amp;cl=2&amp;cm=1&amp;sc=0&amp;lm=-1&amp;pn=86&amp;rn=1&amp;di=2892293660&amp;ln=2000&amp;fr="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1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oleObject" Target="../embeddings/oleObject2.bin"/></Relationships>
</file>

<file path=ppt/slides/_rels/slide3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31532;&#20108;&#20010;&#36229;&#38142;&#25509;-DNA&#22797;&#21046;&#30340;&#20840;&#36807;&#31243;.flv"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31532;&#19977;&#20010;&#36229;&#38142;&#25509;-&#36716;&#24405;&#19982;&#32763;&#35793;.flv" TargetMode="External"/><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jpeg"/></Relationships>
</file>

<file path=ppt/slides/_rels/slide3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2.xml"/><Relationship Id="rId4" Type="http://schemas.openxmlformats.org/officeDocument/2006/relationships/image" Target="../media/image28.jpeg"/></Relationships>
</file>

<file path=ppt/slides/_rels/slide45.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7.xml"/><Relationship Id="rId4" Type="http://schemas.openxmlformats.org/officeDocument/2006/relationships/image" Target="../media/image31.jpe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5.gi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4.xml"/><Relationship Id="rId1" Type="http://schemas.openxmlformats.org/officeDocument/2006/relationships/vmlDrawing" Target="../drawings/vmlDrawing3.vml"/><Relationship Id="rId4" Type="http://schemas.openxmlformats.org/officeDocument/2006/relationships/image" Target="../media/image39.jpeg"/></Relationships>
</file>

<file path=ppt/slides/_rels/slide54.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5.xml"/><Relationship Id="rId1" Type="http://schemas.openxmlformats.org/officeDocument/2006/relationships/vmlDrawing" Target="../drawings/vmlDrawing4.vml"/><Relationship Id="rId4" Type="http://schemas.openxmlformats.org/officeDocument/2006/relationships/oleObject" Target="../embeddings/oleObject5.bin"/></Relationships>
</file>

<file path=ppt/slides/_rels/slide68.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hyperlink" Target="&#31532;5&#20010;&#36229;&#38142;&#25509;--&#29983;&#21629;&#26053;&#34892;.flv" TargetMode="External"/><Relationship Id="rId2" Type="http://schemas.openxmlformats.org/officeDocument/2006/relationships/hyperlink" Target="&#31532;&#22235;&#20010;&#36229;&#38142;&#25509;-&#29616;&#20195;&#29983;&#21629;&#31185;&#23398;&#19982;&#20154;&#31867;&#29983;&#27963;.doc" TargetMode="Externa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16000">
              <a:srgbClr val="FFFF00"/>
            </a:gs>
            <a:gs pos="83000">
              <a:srgbClr val="0000FF">
                <a:alpha val="69000"/>
              </a:srgbClr>
            </a:gs>
            <a:gs pos="76000">
              <a:srgbClr val="00B050"/>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17412" name="AutoShape 4" descr="http://img.mp.sohu.com/upload/20170512/5d39dd93e77f4459bb0c95f1b41570f2_th.p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17414" name="AutoShape 6" descr="http://img.mp.sohu.com/upload/20170512/5d39dd93e77f4459bb0c95f1b41570f2_th.p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17416" name="AutoShape 8" descr="http://img.mp.sohu.com/upload/20170512/5d39dd93e77f4459bb0c95f1b41570f2_th.p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17418" name="AutoShape 10" descr="http://img.mp.sohu.com/upload/20170512/5d39dd93e77f4459bb0c95f1b41570f2_th.p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17420" name="AutoShape 12" descr="http://img.mp.sohu.com/upload/20170512/5d39dd93e77f4459bb0c95f1b41570f2_th.p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17422" name="AutoShape 14" descr="http://img.mp.sohu.com/upload/20170512/5d39dd93e77f4459bb0c95f1b41570f2_th.p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11" name="WordArt 7"/>
          <p:cNvSpPr>
            <a:spLocks noChangeArrowheads="1" noChangeShapeType="1" noTextEdit="1"/>
          </p:cNvSpPr>
          <p:nvPr/>
        </p:nvSpPr>
        <p:spPr bwMode="auto">
          <a:xfrm>
            <a:off x="2428860" y="2357430"/>
            <a:ext cx="4800600" cy="1905000"/>
          </a:xfrm>
          <a:prstGeom prst="rect">
            <a:avLst/>
          </a:prstGeom>
        </p:spPr>
        <p:txBody>
          <a:bodyPr wrap="none" fromWordArt="1">
            <a:prstTxWarp prst="textDeflate">
              <a:avLst>
                <a:gd name="adj" fmla="val 26227"/>
              </a:avLst>
            </a:prstTxWarp>
          </a:bodyPr>
          <a:lstStyle/>
          <a:p>
            <a:pPr algn="ctr"/>
            <a:r>
              <a:rPr lang="zh-CN" altLang="en-US" sz="4000" b="1" kern="10" dirty="0" smtClean="0">
                <a:ln w="9525">
                  <a:solidFill>
                    <a:srgbClr val="000000"/>
                  </a:solidFill>
                  <a:round/>
                  <a:headEnd/>
                  <a:tailEnd/>
                </a:ln>
                <a:solidFill>
                  <a:srgbClr val="0000FF"/>
                </a:solidFill>
                <a:latin typeface="楷体_GB2312"/>
                <a:ea typeface="楷体_GB2312"/>
              </a:rPr>
              <a:t>第</a:t>
            </a:r>
            <a:r>
              <a:rPr lang="en-US" altLang="zh-CN" sz="4000" b="1" kern="10" dirty="0" smtClean="0">
                <a:ln w="9525">
                  <a:solidFill>
                    <a:srgbClr val="000000"/>
                  </a:solidFill>
                  <a:round/>
                  <a:headEnd/>
                  <a:tailEnd/>
                </a:ln>
                <a:solidFill>
                  <a:srgbClr val="0000FF"/>
                </a:solidFill>
                <a:latin typeface="楷体_GB2312"/>
                <a:ea typeface="楷体_GB2312"/>
              </a:rPr>
              <a:t>9</a:t>
            </a:r>
            <a:r>
              <a:rPr lang="zh-CN" altLang="en-US" sz="4000" b="1" kern="10" dirty="0" smtClean="0">
                <a:ln w="9525">
                  <a:solidFill>
                    <a:srgbClr val="000000"/>
                  </a:solidFill>
                  <a:round/>
                  <a:headEnd/>
                  <a:tailEnd/>
                </a:ln>
                <a:solidFill>
                  <a:srgbClr val="0000FF"/>
                </a:solidFill>
                <a:latin typeface="楷体_GB2312"/>
                <a:ea typeface="楷体_GB2312"/>
              </a:rPr>
              <a:t>章 化学与生命</a:t>
            </a:r>
            <a:endParaRPr lang="zh-CN" altLang="en-US" sz="4000" b="1" kern="10" dirty="0">
              <a:ln w="9525">
                <a:solidFill>
                  <a:srgbClr val="000000"/>
                </a:solidFill>
                <a:round/>
                <a:headEnd/>
                <a:tailEnd/>
              </a:ln>
              <a:solidFill>
                <a:srgbClr val="0000FF"/>
              </a:solidFill>
              <a:latin typeface="楷体_GB2312"/>
              <a:ea typeface="楷体_GB2312"/>
            </a:endParaRPr>
          </a:p>
        </p:txBody>
      </p:sp>
      <p:pic>
        <p:nvPicPr>
          <p:cNvPr id="15" name="Picture 4" descr="http://p18.qhimg.com/t01a87e790e102c3391.jpg"/>
          <p:cNvPicPr>
            <a:picLocks noChangeAspect="1" noChangeArrowheads="1"/>
          </p:cNvPicPr>
          <p:nvPr/>
        </p:nvPicPr>
        <p:blipFill>
          <a:blip r:embed="rId3" cstate="print"/>
          <a:srcRect/>
          <a:stretch>
            <a:fillRect/>
          </a:stretch>
        </p:blipFill>
        <p:spPr bwMode="auto">
          <a:xfrm>
            <a:off x="6668898" y="5228089"/>
            <a:ext cx="2475102" cy="1629911"/>
          </a:xfrm>
          <a:prstGeom prst="rect">
            <a:avLst/>
          </a:prstGeom>
          <a:noFill/>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98" name="Group 3"/>
          <p:cNvGrpSpPr/>
          <p:nvPr/>
        </p:nvGrpSpPr>
        <p:grpSpPr>
          <a:xfrm>
            <a:off x="2198688" y="544513"/>
            <a:ext cx="4752975" cy="792162"/>
            <a:chOff x="0" y="0"/>
            <a:chExt cx="2858" cy="499"/>
          </a:xfrm>
        </p:grpSpPr>
        <p:sp>
          <p:nvSpPr>
            <p:cNvPr id="4121" name="AutoShape 4"/>
            <p:cNvSpPr/>
            <p:nvPr/>
          </p:nvSpPr>
          <p:spPr>
            <a:xfrm>
              <a:off x="0" y="0"/>
              <a:ext cx="2858" cy="499"/>
            </a:xfrm>
            <a:prstGeom prst="roundRect">
              <a:avLst>
                <a:gd name="adj" fmla="val 16667"/>
              </a:avLst>
            </a:prstGeom>
            <a:gradFill rotWithShape="1">
              <a:gsLst>
                <a:gs pos="0">
                  <a:srgbClr val="000000"/>
                </a:gs>
                <a:gs pos="50000">
                  <a:srgbClr val="6600CC"/>
                </a:gs>
                <a:gs pos="100000">
                  <a:srgbClr val="000000"/>
                </a:gs>
              </a:gsLst>
              <a:lin ang="5400000" scaled="1"/>
              <a:tileRect/>
            </a:gradFill>
            <a:ln w="22225" cap="flat" cmpd="sng">
              <a:solidFill>
                <a:srgbClr val="FFFF00"/>
              </a:solidFill>
              <a:prstDash val="solid"/>
              <a:headEnd type="none" w="med" len="med"/>
              <a:tailEnd type="none" w="med" len="med"/>
            </a:ln>
          </p:spPr>
          <p:txBody>
            <a:bodyPr wrap="none" anchor="ctr"/>
            <a:lstStyle/>
            <a:p>
              <a:endParaRPr lang="zh-CN" altLang="en-US" dirty="0">
                <a:latin typeface="Arial" panose="020B0604020202020204" pitchFamily="34" charset="0"/>
                <a:ea typeface="宋体" panose="02010600030101010101" pitchFamily="2" charset="-122"/>
              </a:endParaRPr>
            </a:p>
          </p:txBody>
        </p:sp>
        <p:sp>
          <p:nvSpPr>
            <p:cNvPr id="4122" name="Rectangle 5"/>
            <p:cNvSpPr/>
            <p:nvPr/>
          </p:nvSpPr>
          <p:spPr>
            <a:xfrm>
              <a:off x="680" y="46"/>
              <a:ext cx="1582" cy="365"/>
            </a:xfrm>
            <a:prstGeom prst="rect">
              <a:avLst/>
            </a:prstGeom>
            <a:noFill/>
            <a:ln w="9525">
              <a:noFill/>
            </a:ln>
          </p:spPr>
          <p:txBody>
            <a:bodyPr wrap="none">
              <a:spAutoFit/>
            </a:bodyPr>
            <a:lstStyle/>
            <a:p>
              <a:r>
                <a:rPr lang="zh-CN" altLang="en-US" sz="3200" b="1" dirty="0">
                  <a:solidFill>
                    <a:schemeClr val="bg1"/>
                  </a:solidFill>
                  <a:latin typeface="Arial" panose="020B0604020202020204" pitchFamily="34" charset="0"/>
                  <a:ea typeface="楷体_GB2312" pitchFamily="49" charset="-122"/>
                </a:rPr>
                <a:t>本章学习要点</a:t>
              </a:r>
            </a:p>
          </p:txBody>
        </p:sp>
      </p:grpSp>
      <p:graphicFrame>
        <p:nvGraphicFramePr>
          <p:cNvPr id="2" name="表格 1"/>
          <p:cNvGraphicFramePr/>
          <p:nvPr/>
        </p:nvGraphicFramePr>
        <p:xfrm>
          <a:off x="603250" y="1591945"/>
          <a:ext cx="8082915" cy="4380235"/>
        </p:xfrm>
        <a:graphic>
          <a:graphicData uri="http://schemas.openxmlformats.org/drawingml/2006/table">
            <a:tbl>
              <a:tblPr firstRow="1" bandRow="1">
                <a:tableStyleId>{5940675A-B579-460E-94D1-54222C63F5DA}</a:tableStyleId>
              </a:tblPr>
              <a:tblGrid>
                <a:gridCol w="1519555"/>
                <a:gridCol w="3385185"/>
                <a:gridCol w="3178175"/>
              </a:tblGrid>
              <a:tr h="228600">
                <a:tc>
                  <a:txBody>
                    <a:bodyPr/>
                    <a:lstStyle/>
                    <a:p>
                      <a:pPr indent="0" algn="ctr">
                        <a:buNone/>
                      </a:pPr>
                      <a:r>
                        <a:rPr lang="en-US" sz="2000" b="1" dirty="0" err="1">
                          <a:latin typeface="Times New Roman" pitchFamily="18" charset="0"/>
                          <a:ea typeface="宋体" panose="02010600030101010101" pitchFamily="2" charset="-122"/>
                          <a:cs typeface="Times New Roman" pitchFamily="18" charset="0"/>
                        </a:rPr>
                        <a:t>知识要点</a:t>
                      </a:r>
                      <a:endParaRPr lang="en-US" altLang="en-US" sz="2000" b="1" dirty="0">
                        <a:latin typeface="Times New Roman" pitchFamily="18" charset="0"/>
                        <a:ea typeface="宋体" panose="02010600030101010101" pitchFamily="2" charset="-122"/>
                        <a:cs typeface="Times New Roman" pitchFamily="18" charset="0"/>
                      </a:endParaRPr>
                    </a:p>
                  </a:txBody>
                  <a:tcPr marL="68580" marR="68580" marT="0" marB="0" anchor="ctr">
                    <a:lnL>
                      <a:noFill/>
                    </a:lnL>
                    <a:lnR w="12700" cap="flat" cmpd="sng">
                      <a:solidFill>
                        <a:srgbClr val="00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1">
                          <a:latin typeface="Times New Roman" pitchFamily="18" charset="0"/>
                          <a:ea typeface="宋体" panose="02010600030101010101" pitchFamily="2" charset="-122"/>
                          <a:cs typeface="Times New Roman" pitchFamily="18" charset="0"/>
                        </a:rPr>
                        <a:t>掌握程度</a:t>
                      </a:r>
                      <a:endParaRPr lang="en-US" altLang="en-US" sz="2000" b="1">
                        <a:latin typeface="Times New Roman" pitchFamily="18" charset="0"/>
                        <a:ea typeface="宋体" panose="02010600030101010101" pitchFamily="2" charset="-122"/>
                        <a:cs typeface="Times New Roman" pitchFamily="18" charset="0"/>
                      </a:endParaRPr>
                    </a:p>
                  </a:txBody>
                  <a:tcPr marL="68580" marR="68580"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1">
                          <a:latin typeface="Times New Roman" pitchFamily="18" charset="0"/>
                          <a:ea typeface="宋体" panose="02010600030101010101" pitchFamily="2" charset="-122"/>
                          <a:cs typeface="Times New Roman" pitchFamily="18" charset="0"/>
                        </a:rPr>
                        <a:t>相关知识</a:t>
                      </a:r>
                      <a:endParaRPr lang="en-US" altLang="en-US" sz="2000" b="1">
                        <a:latin typeface="Times New Roman" pitchFamily="18" charset="0"/>
                        <a:ea typeface="宋体" panose="02010600030101010101" pitchFamily="2" charset="-122"/>
                        <a:cs typeface="Times New Roman" pitchFamily="18" charset="0"/>
                      </a:endParaRPr>
                    </a:p>
                  </a:txBody>
                  <a:tcPr marL="68580" marR="68580" marT="0" marB="0" anchor="ctr">
                    <a:lnL w="12700" cap="flat" cmpd="sng">
                      <a:solidFill>
                        <a:srgbClr val="000000"/>
                      </a:solidFill>
                      <a:prstDash val="solid"/>
                      <a:headEnd type="none" w="med" len="med"/>
                      <a:tailEnd type="none" w="med" len="med"/>
                    </a:lnL>
                    <a:lnR cap="flat">
                      <a:noFill/>
                    </a:lnR>
                    <a:lnT w="19050" cap="flat" cmpd="sng">
                      <a:solidFill>
                        <a:srgbClr val="08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93700">
                <a:tc>
                  <a:txBody>
                    <a:bodyPr/>
                    <a:lstStyle/>
                    <a:p>
                      <a:pPr indent="0" algn="ctr">
                        <a:buNone/>
                      </a:pPr>
                      <a:r>
                        <a:rPr lang="en-US" sz="2000" b="1" dirty="0" err="1">
                          <a:latin typeface="Times New Roman" pitchFamily="18" charset="0"/>
                          <a:ea typeface="宋体" panose="02010600030101010101" pitchFamily="2" charset="-122"/>
                          <a:cs typeface="Times New Roman" pitchFamily="18" charset="0"/>
                        </a:rPr>
                        <a:t>蛋白质与酶</a:t>
                      </a:r>
                      <a:endParaRPr lang="en-US" altLang="en-US" sz="2000" b="1" dirty="0">
                        <a:latin typeface="Times New Roman" pitchFamily="18" charset="0"/>
                        <a:ea typeface="宋体" panose="02010600030101010101" pitchFamily="2" charset="-122"/>
                        <a:cs typeface="Times New Roman" pitchFamily="18" charset="0"/>
                      </a:endParaRPr>
                    </a:p>
                  </a:txBody>
                  <a:tcPr marL="68580" marR="68580" marT="0" marB="0" anchor="ctr">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1">
                          <a:latin typeface="Times New Roman" pitchFamily="18" charset="0"/>
                          <a:ea typeface="宋体" panose="02010600030101010101" pitchFamily="2" charset="-122"/>
                          <a:cs typeface="Times New Roman" pitchFamily="18" charset="0"/>
                        </a:rPr>
                        <a:t>熟悉氨基酸、肽和蛋白质的基本概念、组成与结构，熟悉酶的催化反应特性。</a:t>
                      </a:r>
                      <a:endParaRPr lang="en-US" altLang="en-US" sz="2000" b="1">
                        <a:latin typeface="Times New Roman" pitchFamily="18" charset="0"/>
                        <a:ea typeface="宋体" panose="02010600030101010101" pitchFamily="2" charset="-122"/>
                        <a:cs typeface="Times New Roman" pitchFamily="18" charset="0"/>
                      </a:endParaRPr>
                    </a:p>
                  </a:txBody>
                  <a:tcPr marL="68580" marR="68580"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1">
                          <a:latin typeface="Times New Roman" pitchFamily="18" charset="0"/>
                          <a:ea typeface="宋体" panose="02010600030101010101" pitchFamily="2" charset="-122"/>
                          <a:cs typeface="Times New Roman" pitchFamily="18" charset="0"/>
                        </a:rPr>
                        <a:t>氨基酸、肽、蛋白质和酶</a:t>
                      </a:r>
                      <a:endParaRPr lang="en-US" altLang="en-US" sz="2000" b="1">
                        <a:latin typeface="Times New Roman" pitchFamily="18" charset="0"/>
                        <a:ea typeface="宋体" panose="02010600030101010101" pitchFamily="2" charset="-122"/>
                        <a:cs typeface="Times New Roman" pitchFamily="18" charset="0"/>
                      </a:endParaRPr>
                    </a:p>
                  </a:txBody>
                  <a:tcPr marL="68580" marR="68580" marT="0" marB="0" anchor="ctr">
                    <a:lnL w="12700" cap="flat" cmpd="sng">
                      <a:solidFill>
                        <a:srgbClr val="000000"/>
                      </a:solidFill>
                      <a:prstDash val="solid"/>
                      <a:headEnd type="none" w="med" len="med"/>
                      <a:tailEnd type="none" w="med" len="med"/>
                    </a:lnL>
                    <a:lnR cap="flat">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93700">
                <a:tc>
                  <a:txBody>
                    <a:bodyPr/>
                    <a:lstStyle/>
                    <a:p>
                      <a:pPr indent="0" algn="ctr">
                        <a:buNone/>
                      </a:pPr>
                      <a:r>
                        <a:rPr lang="en-US" sz="2000" b="1" dirty="0" err="1">
                          <a:latin typeface="Times New Roman" pitchFamily="18" charset="0"/>
                          <a:ea typeface="宋体" panose="02010600030101010101" pitchFamily="2" charset="-122"/>
                          <a:cs typeface="Times New Roman" pitchFamily="18" charset="0"/>
                        </a:rPr>
                        <a:t>核酸</a:t>
                      </a:r>
                      <a:endParaRPr lang="en-US" altLang="en-US" sz="2000" b="1" dirty="0">
                        <a:latin typeface="Times New Roman" pitchFamily="18" charset="0"/>
                        <a:ea typeface="宋体" panose="02010600030101010101" pitchFamily="2" charset="-122"/>
                        <a:cs typeface="Times New Roman" pitchFamily="18" charset="0"/>
                      </a:endParaRPr>
                    </a:p>
                  </a:txBody>
                  <a:tcPr marL="68580" marR="68580" marT="0" marB="0" anchor="ctr">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1" dirty="0" err="1">
                          <a:latin typeface="Times New Roman" pitchFamily="18" charset="0"/>
                          <a:ea typeface="宋体" panose="02010600030101010101" pitchFamily="2" charset="-122"/>
                          <a:cs typeface="Times New Roman" pitchFamily="18" charset="0"/>
                        </a:rPr>
                        <a:t>熟悉核酸的基本概念和化学组成，了解DNA和RNA的结构及复制机制</a:t>
                      </a:r>
                      <a:r>
                        <a:rPr lang="en-US" sz="2000" b="1" dirty="0">
                          <a:latin typeface="Times New Roman" pitchFamily="18" charset="0"/>
                          <a:ea typeface="宋体" panose="02010600030101010101" pitchFamily="2" charset="-122"/>
                          <a:cs typeface="Times New Roman" pitchFamily="18" charset="0"/>
                        </a:rPr>
                        <a:t>。</a:t>
                      </a:r>
                      <a:endParaRPr lang="en-US" altLang="en-US" sz="2000" b="1" dirty="0">
                        <a:latin typeface="Times New Roman" pitchFamily="18" charset="0"/>
                        <a:ea typeface="宋体" panose="02010600030101010101" pitchFamily="2" charset="-122"/>
                        <a:cs typeface="Times New Roman" pitchFamily="18" charset="0"/>
                      </a:endParaRPr>
                    </a:p>
                  </a:txBody>
                  <a:tcPr marL="68580" marR="68580"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1">
                          <a:latin typeface="Times New Roman" pitchFamily="18" charset="0"/>
                          <a:ea typeface="宋体" panose="02010600030101010101" pitchFamily="2" charset="-122"/>
                          <a:cs typeface="Times New Roman" pitchFamily="18" charset="0"/>
                        </a:rPr>
                        <a:t>核苷酸、DNA、RNA和DNA复制与基因表达</a:t>
                      </a:r>
                      <a:endParaRPr lang="en-US" altLang="en-US" sz="2000" b="1">
                        <a:latin typeface="Times New Roman" pitchFamily="18" charset="0"/>
                        <a:ea typeface="宋体" panose="02010600030101010101" pitchFamily="2" charset="-122"/>
                        <a:cs typeface="Times New Roman" pitchFamily="18" charset="0"/>
                      </a:endParaRPr>
                    </a:p>
                  </a:txBody>
                  <a:tcPr marL="68580" marR="68580" marT="0" marB="0" anchor="ctr">
                    <a:lnL w="12700" cap="flat" cmpd="sng">
                      <a:solidFill>
                        <a:srgbClr val="000000"/>
                      </a:solidFill>
                      <a:prstDash val="solid"/>
                      <a:headEnd type="none" w="med" len="med"/>
                      <a:tailEnd type="none" w="med" len="med"/>
                    </a:lnL>
                    <a:lnR cap="flat">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17835">
                <a:tc>
                  <a:txBody>
                    <a:bodyPr/>
                    <a:lstStyle/>
                    <a:p>
                      <a:pPr indent="0" algn="ctr">
                        <a:buNone/>
                      </a:pPr>
                      <a:r>
                        <a:rPr lang="en-US" sz="2000" b="1" dirty="0">
                          <a:latin typeface="Times New Roman" pitchFamily="18" charset="0"/>
                          <a:ea typeface="宋体" panose="02010600030101010101" pitchFamily="2" charset="-122"/>
                          <a:cs typeface="Times New Roman" pitchFamily="18" charset="0"/>
                        </a:rPr>
                        <a:t>糖</a:t>
                      </a:r>
                      <a:endParaRPr lang="en-US" altLang="en-US" sz="2000" b="1" dirty="0">
                        <a:latin typeface="Times New Roman" pitchFamily="18" charset="0"/>
                        <a:ea typeface="宋体" panose="02010600030101010101" pitchFamily="2" charset="-122"/>
                        <a:cs typeface="Times New Roman" pitchFamily="18" charset="0"/>
                      </a:endParaRPr>
                    </a:p>
                  </a:txBody>
                  <a:tcPr marL="68580" marR="68580" marT="0" marB="0" anchor="ctr">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1" dirty="0" err="1">
                          <a:latin typeface="Times New Roman" pitchFamily="18" charset="0"/>
                          <a:ea typeface="宋体" panose="02010600030101010101" pitchFamily="2" charset="-122"/>
                          <a:cs typeface="Times New Roman" pitchFamily="18" charset="0"/>
                        </a:rPr>
                        <a:t>熟悉糖的组成、</a:t>
                      </a:r>
                      <a:r>
                        <a:rPr lang="en-US" sz="2000" b="1" dirty="0" err="1" smtClean="0">
                          <a:latin typeface="Times New Roman" pitchFamily="18" charset="0"/>
                          <a:ea typeface="宋体" panose="02010600030101010101" pitchFamily="2" charset="-122"/>
                          <a:cs typeface="Times New Roman" pitchFamily="18" charset="0"/>
                        </a:rPr>
                        <a:t>分类和结构</a:t>
                      </a:r>
                      <a:r>
                        <a:rPr lang="zh-CN" altLang="en-US" sz="2000" b="1" dirty="0" smtClean="0">
                          <a:latin typeface="Times New Roman" pitchFamily="18" charset="0"/>
                          <a:ea typeface="宋体" panose="02010600030101010101" pitchFamily="2" charset="-122"/>
                          <a:cs typeface="Times New Roman" pitchFamily="18" charset="0"/>
                        </a:rPr>
                        <a:t>；</a:t>
                      </a:r>
                      <a:endParaRPr lang="en-US" altLang="en-US" sz="2000" b="1" dirty="0">
                        <a:latin typeface="Times New Roman" pitchFamily="18" charset="0"/>
                        <a:ea typeface="宋体" panose="02010600030101010101" pitchFamily="2" charset="-122"/>
                        <a:cs typeface="Times New Roman" pitchFamily="18" charset="0"/>
                      </a:endParaRPr>
                    </a:p>
                  </a:txBody>
                  <a:tcPr marL="68580" marR="68580"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1">
                          <a:latin typeface="Times New Roman" pitchFamily="18" charset="0"/>
                          <a:ea typeface="宋体" panose="02010600030101010101" pitchFamily="2" charset="-122"/>
                          <a:cs typeface="Times New Roman" pitchFamily="18" charset="0"/>
                        </a:rPr>
                        <a:t>单糖、寡糖和多糖</a:t>
                      </a:r>
                      <a:endParaRPr lang="en-US" altLang="en-US" sz="2000" b="1">
                        <a:latin typeface="Times New Roman" pitchFamily="18" charset="0"/>
                        <a:ea typeface="宋体" panose="02010600030101010101" pitchFamily="2" charset="-122"/>
                        <a:cs typeface="Times New Roman" pitchFamily="18" charset="0"/>
                      </a:endParaRPr>
                    </a:p>
                  </a:txBody>
                  <a:tcPr marL="68580" marR="68580" marT="0" marB="0" anchor="ctr">
                    <a:lnL w="12700" cap="flat" cmpd="sng">
                      <a:solidFill>
                        <a:srgbClr val="000000"/>
                      </a:solidFill>
                      <a:prstDash val="solid"/>
                      <a:headEnd type="none" w="med" len="med"/>
                      <a:tailEnd type="none" w="med" len="med"/>
                    </a:lnL>
                    <a:lnR cap="flat">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93700">
                <a:tc>
                  <a:txBody>
                    <a:bodyPr/>
                    <a:lstStyle/>
                    <a:p>
                      <a:pPr indent="0" algn="ctr">
                        <a:buNone/>
                      </a:pPr>
                      <a:r>
                        <a:rPr lang="en-US" sz="2000" b="1">
                          <a:latin typeface="Times New Roman" pitchFamily="18" charset="0"/>
                          <a:ea typeface="宋体" panose="02010600030101010101" pitchFamily="2" charset="-122"/>
                          <a:cs typeface="Times New Roman" pitchFamily="18" charset="0"/>
                        </a:rPr>
                        <a:t>维生素</a:t>
                      </a:r>
                      <a:endParaRPr lang="en-US" altLang="en-US" sz="2000" b="1">
                        <a:latin typeface="Times New Roman" pitchFamily="18" charset="0"/>
                        <a:ea typeface="宋体" panose="02010600030101010101" pitchFamily="2" charset="-122"/>
                        <a:cs typeface="Times New Roman" pitchFamily="18" charset="0"/>
                      </a:endParaRPr>
                    </a:p>
                  </a:txBody>
                  <a:tcPr marL="68580" marR="68580" marT="0" marB="0" anchor="ctr">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1" dirty="0" err="1">
                          <a:latin typeface="Times New Roman" pitchFamily="18" charset="0"/>
                          <a:ea typeface="宋体" panose="02010600030101010101" pitchFamily="2" charset="-122"/>
                          <a:cs typeface="Times New Roman" pitchFamily="18" charset="0"/>
                        </a:rPr>
                        <a:t>了解维生素的种类、生理功能及其与人体健康的关系</a:t>
                      </a:r>
                      <a:r>
                        <a:rPr lang="en-US" sz="2000" b="1" dirty="0">
                          <a:latin typeface="Times New Roman" pitchFamily="18" charset="0"/>
                          <a:ea typeface="宋体" panose="02010600030101010101" pitchFamily="2" charset="-122"/>
                          <a:cs typeface="Times New Roman" pitchFamily="18" charset="0"/>
                        </a:rPr>
                        <a:t>。</a:t>
                      </a:r>
                      <a:endParaRPr lang="en-US" altLang="en-US" sz="2000" b="1" dirty="0">
                        <a:latin typeface="Times New Roman" pitchFamily="18" charset="0"/>
                        <a:ea typeface="宋体" panose="02010600030101010101" pitchFamily="2" charset="-122"/>
                        <a:cs typeface="Times New Roman" pitchFamily="18" charset="0"/>
                      </a:endParaRPr>
                    </a:p>
                  </a:txBody>
                  <a:tcPr marL="68580" marR="68580"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1">
                          <a:latin typeface="Times New Roman" pitchFamily="18" charset="0"/>
                          <a:ea typeface="宋体" panose="02010600030101010101" pitchFamily="2" charset="-122"/>
                          <a:cs typeface="Times New Roman" pitchFamily="18" charset="0"/>
                        </a:rPr>
                        <a:t>维生素A、维生素B、维生素C、维生素D、维生素E和维生素K</a:t>
                      </a:r>
                      <a:endParaRPr lang="en-US" altLang="en-US" sz="2000" b="1">
                        <a:latin typeface="Times New Roman" pitchFamily="18" charset="0"/>
                        <a:ea typeface="宋体" panose="02010600030101010101" pitchFamily="2" charset="-122"/>
                        <a:cs typeface="Times New Roman" pitchFamily="18" charset="0"/>
                      </a:endParaRPr>
                    </a:p>
                  </a:txBody>
                  <a:tcPr marL="68580" marR="68580" marT="0" marB="0" anchor="ctr">
                    <a:lnL w="12700" cap="flat" cmpd="sng">
                      <a:solidFill>
                        <a:srgbClr val="000000"/>
                      </a:solidFill>
                      <a:prstDash val="solid"/>
                      <a:headEnd type="none" w="med" len="med"/>
                      <a:tailEnd type="none" w="med" len="med"/>
                    </a:lnL>
                    <a:lnR cap="flat">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93700">
                <a:tc>
                  <a:txBody>
                    <a:bodyPr/>
                    <a:lstStyle/>
                    <a:p>
                      <a:pPr indent="0" algn="ctr">
                        <a:buNone/>
                      </a:pPr>
                      <a:r>
                        <a:rPr lang="en-US" sz="2000" b="1">
                          <a:latin typeface="Times New Roman" pitchFamily="18" charset="0"/>
                          <a:ea typeface="宋体" panose="02010600030101010101" pitchFamily="2" charset="-122"/>
                          <a:cs typeface="Times New Roman" pitchFamily="18" charset="0"/>
                        </a:rPr>
                        <a:t>生命元素</a:t>
                      </a:r>
                      <a:endParaRPr lang="en-US" altLang="en-US" sz="2000" b="1">
                        <a:latin typeface="Times New Roman" pitchFamily="18" charset="0"/>
                        <a:ea typeface="宋体" panose="02010600030101010101" pitchFamily="2" charset="-122"/>
                        <a:cs typeface="Times New Roman" pitchFamily="18" charset="0"/>
                      </a:endParaRPr>
                    </a:p>
                  </a:txBody>
                  <a:tcPr marL="68580" marR="68580" marT="0" marB="0" anchor="ctr">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1" dirty="0" err="1">
                          <a:latin typeface="Times New Roman" pitchFamily="18" charset="0"/>
                          <a:ea typeface="宋体" panose="02010600030101010101" pitchFamily="2" charset="-122"/>
                          <a:cs typeface="Times New Roman" pitchFamily="18" charset="0"/>
                        </a:rPr>
                        <a:t>了解人体内常见元素和微量元素的生理功能及其与人体健康的关系</a:t>
                      </a:r>
                      <a:r>
                        <a:rPr lang="en-US" sz="2000" b="1" dirty="0">
                          <a:latin typeface="Times New Roman" pitchFamily="18" charset="0"/>
                          <a:ea typeface="宋体" panose="02010600030101010101" pitchFamily="2" charset="-122"/>
                          <a:cs typeface="Times New Roman" pitchFamily="18" charset="0"/>
                        </a:rPr>
                        <a:t>。</a:t>
                      </a:r>
                      <a:endParaRPr lang="en-US" altLang="en-US" sz="2000" b="1" dirty="0">
                        <a:latin typeface="Times New Roman" pitchFamily="18" charset="0"/>
                        <a:ea typeface="宋体" panose="02010600030101010101" pitchFamily="2" charset="-122"/>
                        <a:cs typeface="Times New Roman" pitchFamily="18" charset="0"/>
                      </a:endParaRPr>
                    </a:p>
                  </a:txBody>
                  <a:tcPr marL="68580" marR="68580"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1" dirty="0" err="1">
                          <a:latin typeface="Times New Roman" pitchFamily="18" charset="0"/>
                          <a:ea typeface="宋体" panose="02010600030101010101" pitchFamily="2" charset="-122"/>
                          <a:cs typeface="Times New Roman" pitchFamily="18" charset="0"/>
                        </a:rPr>
                        <a:t>常见元素和微量元素</a:t>
                      </a:r>
                      <a:endParaRPr lang="en-US" altLang="en-US" sz="2000" b="1" dirty="0">
                        <a:latin typeface="Times New Roman" pitchFamily="18" charset="0"/>
                        <a:ea typeface="宋体" panose="02010600030101010101" pitchFamily="2" charset="-122"/>
                        <a:cs typeface="Times New Roman" pitchFamily="18" charset="0"/>
                      </a:endParaRPr>
                    </a:p>
                  </a:txBody>
                  <a:tcPr marL="68580" marR="68580" marT="0" marB="0" anchor="ctr">
                    <a:lnL w="12700" cap="flat" cmpd="sng">
                      <a:solidFill>
                        <a:srgbClr val="000000"/>
                      </a:solidFill>
                      <a:prstDash val="solid"/>
                      <a:headEnd type="none" w="med" len="med"/>
                      <a:tailEnd type="none" w="med" len="med"/>
                    </a:lnL>
                    <a:lnR cap="flat">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22" name="Group 2"/>
          <p:cNvGrpSpPr/>
          <p:nvPr/>
        </p:nvGrpSpPr>
        <p:grpSpPr>
          <a:xfrm>
            <a:off x="2016125" y="690563"/>
            <a:ext cx="5113338" cy="792162"/>
            <a:chOff x="0" y="0"/>
            <a:chExt cx="2858" cy="499"/>
          </a:xfrm>
        </p:grpSpPr>
        <p:sp>
          <p:nvSpPr>
            <p:cNvPr id="5127" name="AutoShape 3"/>
            <p:cNvSpPr/>
            <p:nvPr/>
          </p:nvSpPr>
          <p:spPr>
            <a:xfrm>
              <a:off x="0" y="0"/>
              <a:ext cx="2858" cy="499"/>
            </a:xfrm>
            <a:prstGeom prst="roundRect">
              <a:avLst>
                <a:gd name="adj" fmla="val 16667"/>
              </a:avLst>
            </a:prstGeom>
            <a:gradFill rotWithShape="1">
              <a:gsLst>
                <a:gs pos="0">
                  <a:srgbClr val="000000"/>
                </a:gs>
                <a:gs pos="50000">
                  <a:srgbClr val="6600CC"/>
                </a:gs>
                <a:gs pos="100000">
                  <a:srgbClr val="000000"/>
                </a:gs>
              </a:gsLst>
              <a:lin ang="5400000" scaled="1"/>
              <a:tileRect/>
            </a:gradFill>
            <a:ln w="22225" cap="flat" cmpd="sng">
              <a:solidFill>
                <a:srgbClr val="FFFF00"/>
              </a:solidFill>
              <a:prstDash val="solid"/>
              <a:headEnd type="none" w="med" len="med"/>
              <a:tailEnd type="none" w="med" len="med"/>
            </a:ln>
          </p:spPr>
          <p:txBody>
            <a:bodyPr wrap="none" anchor="ctr"/>
            <a:lstStyle/>
            <a:p>
              <a:endParaRPr lang="zh-CN" altLang="en-US" dirty="0">
                <a:latin typeface="Arial" panose="020B0604020202020204" pitchFamily="34" charset="0"/>
                <a:ea typeface="宋体" panose="02010600030101010101" pitchFamily="2" charset="-122"/>
              </a:endParaRPr>
            </a:p>
          </p:txBody>
        </p:sp>
        <p:sp>
          <p:nvSpPr>
            <p:cNvPr id="5128" name="Rectangle 4"/>
            <p:cNvSpPr/>
            <p:nvPr/>
          </p:nvSpPr>
          <p:spPr>
            <a:xfrm>
              <a:off x="680" y="46"/>
              <a:ext cx="1577" cy="365"/>
            </a:xfrm>
            <a:prstGeom prst="rect">
              <a:avLst/>
            </a:prstGeom>
            <a:noFill/>
            <a:ln w="9525">
              <a:noFill/>
            </a:ln>
          </p:spPr>
          <p:txBody>
            <a:bodyPr>
              <a:spAutoFit/>
            </a:bodyPr>
            <a:lstStyle/>
            <a:p>
              <a:r>
                <a:rPr lang="zh-CN" altLang="en-US" sz="3200" b="1" dirty="0">
                  <a:solidFill>
                    <a:schemeClr val="bg1"/>
                  </a:solidFill>
                  <a:latin typeface="Arial" panose="020B0604020202020204" pitchFamily="34" charset="0"/>
                  <a:ea typeface="楷体_GB2312" pitchFamily="49" charset="-122"/>
                </a:rPr>
                <a:t>本章主要内容</a:t>
              </a:r>
            </a:p>
          </p:txBody>
        </p:sp>
      </p:grpSp>
      <p:sp>
        <p:nvSpPr>
          <p:cNvPr id="5123" name="Rectangle 5"/>
          <p:cNvSpPr/>
          <p:nvPr/>
        </p:nvSpPr>
        <p:spPr>
          <a:xfrm>
            <a:off x="1322388" y="2222501"/>
            <a:ext cx="5761037" cy="444500"/>
          </a:xfrm>
          <a:prstGeom prst="rect">
            <a:avLst/>
          </a:prstGeom>
          <a:noFill/>
          <a:ln w="9525">
            <a:noFill/>
          </a:ln>
        </p:spPr>
        <p:txBody>
          <a:bodyPr tIns="76176" bIns="0" anchor="ctr">
            <a:spAutoFit/>
          </a:bodyPr>
          <a:lstStyle/>
          <a:p>
            <a:r>
              <a:rPr lang="en-US" altLang="zh-CN" sz="2400" b="1" dirty="0">
                <a:latin typeface="Times New Roman" panose="02020603050405020304" pitchFamily="18" charset="0"/>
                <a:ea typeface="宋体" panose="02010600030101010101" pitchFamily="2" charset="-122"/>
              </a:rPr>
              <a:t>9.1  </a:t>
            </a:r>
            <a:r>
              <a:rPr lang="en-US" sz="2400" b="1">
                <a:latin typeface="宋体" panose="02010600030101010101" pitchFamily="2" charset="-122"/>
                <a:cs typeface="宋体" panose="02010600030101010101" pitchFamily="2" charset="-122"/>
                <a:sym typeface="+mn-ea"/>
              </a:rPr>
              <a:t>蛋白质与酶</a:t>
            </a:r>
            <a:endParaRPr lang="zh-CN" altLang="en-US" sz="2400" b="1" dirty="0">
              <a:latin typeface="Arial" panose="020B0604020202020204" pitchFamily="34" charset="0"/>
              <a:ea typeface="宋体" panose="02010600030101010101" pitchFamily="2" charset="-122"/>
            </a:endParaRPr>
          </a:p>
        </p:txBody>
      </p:sp>
      <p:sp>
        <p:nvSpPr>
          <p:cNvPr id="5124" name="Rectangle 6"/>
          <p:cNvSpPr/>
          <p:nvPr/>
        </p:nvSpPr>
        <p:spPr>
          <a:xfrm>
            <a:off x="1285875" y="3025776"/>
            <a:ext cx="6769100" cy="444500"/>
          </a:xfrm>
          <a:prstGeom prst="rect">
            <a:avLst/>
          </a:prstGeom>
          <a:noFill/>
          <a:ln w="9525">
            <a:noFill/>
          </a:ln>
        </p:spPr>
        <p:txBody>
          <a:bodyPr tIns="76176" bIns="0" anchor="ctr">
            <a:spAutoFit/>
          </a:bodyPr>
          <a:lstStyle/>
          <a:p>
            <a:pPr indent="0" algn="l">
              <a:buNone/>
            </a:pPr>
            <a:r>
              <a:rPr lang="en-US" altLang="zh-CN" sz="2400" b="1" dirty="0">
                <a:latin typeface="Times New Roman" panose="02020603050405020304" pitchFamily="18" charset="0"/>
                <a:ea typeface="宋体" panose="02010600030101010101" pitchFamily="2" charset="-122"/>
              </a:rPr>
              <a:t>9.2   </a:t>
            </a:r>
            <a:r>
              <a:rPr lang="en-US" sz="2400" b="1">
                <a:latin typeface="宋体" panose="02010600030101010101" pitchFamily="2" charset="-122"/>
                <a:cs typeface="宋体" panose="02010600030101010101" pitchFamily="2" charset="-122"/>
                <a:sym typeface="+mn-ea"/>
              </a:rPr>
              <a:t>核酸</a:t>
            </a:r>
            <a:endParaRPr lang="zh-CN" altLang="en-US" sz="2400" b="1" dirty="0">
              <a:latin typeface="Times New Roman" panose="02020603050405020304" pitchFamily="18" charset="0"/>
              <a:ea typeface="宋体" panose="02010600030101010101" pitchFamily="2" charset="-122"/>
            </a:endParaRPr>
          </a:p>
        </p:txBody>
      </p:sp>
      <p:sp>
        <p:nvSpPr>
          <p:cNvPr id="5125" name="Rectangle 7"/>
          <p:cNvSpPr/>
          <p:nvPr/>
        </p:nvSpPr>
        <p:spPr>
          <a:xfrm>
            <a:off x="1285875" y="3865563"/>
            <a:ext cx="6337300" cy="444500"/>
          </a:xfrm>
          <a:prstGeom prst="rect">
            <a:avLst/>
          </a:prstGeom>
          <a:noFill/>
          <a:ln w="9525">
            <a:noFill/>
          </a:ln>
        </p:spPr>
        <p:txBody>
          <a:bodyPr tIns="76176" bIns="0" anchor="ctr">
            <a:spAutoFit/>
          </a:bodyPr>
          <a:lstStyle/>
          <a:p>
            <a:pPr indent="0" algn="l">
              <a:buNone/>
            </a:pPr>
            <a:r>
              <a:rPr lang="en-US" altLang="zh-CN" sz="2400" b="1" dirty="0">
                <a:latin typeface="Times New Roman" panose="02020603050405020304" pitchFamily="18" charset="0"/>
                <a:ea typeface="宋体" panose="02010600030101010101" pitchFamily="2" charset="-122"/>
              </a:rPr>
              <a:t>9.3 </a:t>
            </a:r>
            <a:r>
              <a:rPr lang="en-US" altLang="zh-CN" sz="2400" b="1" dirty="0" smtClean="0">
                <a:latin typeface="Times New Roman" panose="02020603050405020304" pitchFamily="18" charset="0"/>
                <a:ea typeface="宋体" panose="02010600030101010101" pitchFamily="2" charset="-122"/>
              </a:rPr>
              <a:t> </a:t>
            </a:r>
            <a:r>
              <a:rPr lang="en-US" sz="2400" b="1" dirty="0" smtClean="0">
                <a:latin typeface="宋体" panose="02010600030101010101" pitchFamily="2" charset="-122"/>
                <a:cs typeface="宋体" panose="02010600030101010101" pitchFamily="2" charset="-122"/>
                <a:sym typeface="+mn-ea"/>
              </a:rPr>
              <a:t>糖</a:t>
            </a:r>
            <a:endParaRPr lang="zh-CN" altLang="en-US" sz="2400" b="1" dirty="0">
              <a:latin typeface="Times New Roman" panose="02020603050405020304" pitchFamily="18" charset="0"/>
              <a:ea typeface="宋体" panose="02010600030101010101" pitchFamily="2" charset="-122"/>
            </a:endParaRPr>
          </a:p>
        </p:txBody>
      </p:sp>
      <p:sp>
        <p:nvSpPr>
          <p:cNvPr id="5126" name="Rectangle 8"/>
          <p:cNvSpPr/>
          <p:nvPr/>
        </p:nvSpPr>
        <p:spPr>
          <a:xfrm>
            <a:off x="1285875" y="4670425"/>
            <a:ext cx="5329238" cy="460375"/>
          </a:xfrm>
          <a:prstGeom prst="rect">
            <a:avLst/>
          </a:prstGeom>
          <a:noFill/>
          <a:ln w="9525">
            <a:noFill/>
          </a:ln>
        </p:spPr>
        <p:txBody>
          <a:bodyPr>
            <a:spAutoFit/>
          </a:bodyPr>
          <a:lstStyle/>
          <a:p>
            <a:r>
              <a:rPr lang="en-US" altLang="zh-CN" sz="2400" b="1" dirty="0">
                <a:latin typeface="Times New Roman" panose="02020603050405020304" pitchFamily="18" charset="0"/>
                <a:ea typeface="宋体" panose="02010600030101010101" pitchFamily="2" charset="-122"/>
              </a:rPr>
              <a:t>9.4  </a:t>
            </a:r>
            <a:r>
              <a:rPr lang="en-US" sz="2400" b="1">
                <a:latin typeface="宋体" panose="02010600030101010101" pitchFamily="2" charset="-122"/>
                <a:cs typeface="宋体" panose="02010600030101010101" pitchFamily="2" charset="-122"/>
                <a:sym typeface="+mn-ea"/>
              </a:rPr>
              <a:t>维生素</a:t>
            </a:r>
            <a:endParaRPr lang="zh-CN" altLang="en-US" sz="2400" b="1" dirty="0">
              <a:latin typeface="Times New Roman" panose="02020603050405020304" pitchFamily="18" charset="0"/>
              <a:ea typeface="宋体" panose="02010600030101010101" pitchFamily="2" charset="-122"/>
            </a:endParaRPr>
          </a:p>
        </p:txBody>
      </p:sp>
      <p:sp>
        <p:nvSpPr>
          <p:cNvPr id="2" name="Rectangle 8"/>
          <p:cNvSpPr/>
          <p:nvPr/>
        </p:nvSpPr>
        <p:spPr>
          <a:xfrm>
            <a:off x="1322705" y="5311775"/>
            <a:ext cx="5329238" cy="460375"/>
          </a:xfrm>
          <a:prstGeom prst="rect">
            <a:avLst/>
          </a:prstGeom>
          <a:noFill/>
          <a:ln w="9525">
            <a:noFill/>
          </a:ln>
        </p:spPr>
        <p:txBody>
          <a:bodyPr>
            <a:spAutoFit/>
          </a:bodyPr>
          <a:lstStyle/>
          <a:p>
            <a:r>
              <a:rPr lang="en-US" altLang="zh-CN" sz="2400" b="1" dirty="0">
                <a:latin typeface="Times New Roman" panose="02020603050405020304" pitchFamily="18" charset="0"/>
                <a:ea typeface="宋体" panose="02010600030101010101" pitchFamily="2" charset="-122"/>
              </a:rPr>
              <a:t>9.5  </a:t>
            </a:r>
            <a:r>
              <a:rPr lang="en-US" sz="2400" b="1">
                <a:latin typeface="宋体" panose="02010600030101010101" pitchFamily="2" charset="-122"/>
                <a:cs typeface="宋体" panose="02010600030101010101" pitchFamily="2" charset="-122"/>
                <a:sym typeface="+mn-ea"/>
              </a:rPr>
              <a:t>生命元素</a:t>
            </a: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文本占位符 96258"/>
          <p:cNvSpPr>
            <a:spLocks noGrp="1" noRot="1"/>
          </p:cNvSpPr>
          <p:nvPr/>
        </p:nvSpPr>
        <p:spPr>
          <a:xfrm>
            <a:off x="206375" y="555625"/>
            <a:ext cx="8229600" cy="4933950"/>
          </a:xfrm>
          <a:prstGeom prst="rect">
            <a:avLst/>
          </a:prstGeom>
          <a:noFill/>
          <a:ln w="9525">
            <a:noFill/>
          </a:ln>
        </p:spPr>
        <p:txBody>
          <a:bodyPr anchor="t"/>
          <a:lstStyle/>
          <a:p>
            <a:pPr marL="342900" indent="-342900">
              <a:spcBef>
                <a:spcPct val="20000"/>
              </a:spcBef>
              <a:buClr>
                <a:schemeClr val="hlink"/>
              </a:buClr>
              <a:buSzPct val="75000"/>
              <a:buFont typeface="Wingdings" panose="05000000000000000000" pitchFamily="2" charset="2"/>
              <a:buChar char="v"/>
            </a:pPr>
            <a:r>
              <a:rPr lang="zh-CN" altLang="en-US" sz="3200" b="1" dirty="0">
                <a:solidFill>
                  <a:srgbClr val="C00000"/>
                </a:solidFill>
                <a:latin typeface="楷体_GB2312" pitchFamily="49" charset="-122"/>
                <a:ea typeface="楷体_GB2312" pitchFamily="49" charset="-122"/>
              </a:rPr>
              <a:t>生命起源于化学</a:t>
            </a:r>
          </a:p>
        </p:txBody>
      </p:sp>
      <p:sp>
        <p:nvSpPr>
          <p:cNvPr id="6146" name="文本框 96259"/>
          <p:cNvSpPr txBox="1"/>
          <p:nvPr/>
        </p:nvSpPr>
        <p:spPr>
          <a:xfrm>
            <a:off x="1939925" y="1274763"/>
            <a:ext cx="428625" cy="1120775"/>
          </a:xfrm>
          <a:prstGeom prst="rect">
            <a:avLst/>
          </a:prstGeom>
          <a:noFill/>
          <a:ln w="9525">
            <a:noFill/>
          </a:ln>
        </p:spPr>
        <p:txBody>
          <a:bodyPr vert="eaVert" anchor="t">
            <a:spAutoFit/>
          </a:bodyPr>
          <a:lstStyle/>
          <a:p>
            <a:pPr algn="r" eaLnBrk="0" hangingPunct="0"/>
            <a:r>
              <a:rPr lang="zh-CN" altLang="en-US" sz="1600" b="1" dirty="0">
                <a:solidFill>
                  <a:srgbClr val="003366"/>
                </a:solidFill>
                <a:latin typeface="Lucida Sans Unicode" panose="020B0602030504020204" pitchFamily="34" charset="0"/>
                <a:ea typeface="楷体_GB2312" pitchFamily="49" charset="-122"/>
              </a:rPr>
              <a:t>元 素 形 成</a:t>
            </a:r>
          </a:p>
        </p:txBody>
      </p:sp>
      <p:sp>
        <p:nvSpPr>
          <p:cNvPr id="6147" name="文本框 96260"/>
          <p:cNvSpPr txBox="1"/>
          <p:nvPr/>
        </p:nvSpPr>
        <p:spPr>
          <a:xfrm>
            <a:off x="1905000" y="2624138"/>
            <a:ext cx="428625" cy="1087437"/>
          </a:xfrm>
          <a:prstGeom prst="rect">
            <a:avLst/>
          </a:prstGeom>
          <a:noFill/>
          <a:ln w="9525">
            <a:noFill/>
          </a:ln>
        </p:spPr>
        <p:txBody>
          <a:bodyPr vert="eaVert" wrap="none" anchor="t">
            <a:spAutoFit/>
          </a:bodyPr>
          <a:lstStyle/>
          <a:p>
            <a:pPr algn="r" eaLnBrk="0" hangingPunct="0"/>
            <a:r>
              <a:rPr lang="zh-CN" altLang="en-US" sz="1600" b="1" dirty="0">
                <a:solidFill>
                  <a:srgbClr val="003366"/>
                </a:solidFill>
                <a:latin typeface="Lucida Sans Unicode" panose="020B0602030504020204" pitchFamily="34" charset="0"/>
                <a:ea typeface="楷体_GB2312" pitchFamily="49" charset="-122"/>
              </a:rPr>
              <a:t>化 学 进 化</a:t>
            </a:r>
          </a:p>
        </p:txBody>
      </p:sp>
      <p:sp>
        <p:nvSpPr>
          <p:cNvPr id="6148" name="文本框 96261"/>
          <p:cNvSpPr txBox="1"/>
          <p:nvPr/>
        </p:nvSpPr>
        <p:spPr>
          <a:xfrm>
            <a:off x="1939925" y="4214813"/>
            <a:ext cx="428625" cy="1274762"/>
          </a:xfrm>
          <a:prstGeom prst="rect">
            <a:avLst/>
          </a:prstGeom>
          <a:noFill/>
          <a:ln w="9525">
            <a:noFill/>
          </a:ln>
        </p:spPr>
        <p:txBody>
          <a:bodyPr vert="eaVert" anchor="t">
            <a:spAutoFit/>
          </a:bodyPr>
          <a:lstStyle/>
          <a:p>
            <a:pPr algn="r" eaLnBrk="0" hangingPunct="0"/>
            <a:r>
              <a:rPr lang="zh-CN" altLang="en-US" sz="1600" b="1" dirty="0">
                <a:solidFill>
                  <a:srgbClr val="003366"/>
                </a:solidFill>
                <a:latin typeface="Lucida Sans Unicode" panose="020B0602030504020204" pitchFamily="34" charset="0"/>
                <a:ea typeface="楷体_GB2312" pitchFamily="49" charset="-122"/>
              </a:rPr>
              <a:t>生 物 进 化</a:t>
            </a:r>
          </a:p>
        </p:txBody>
      </p:sp>
      <p:sp>
        <p:nvSpPr>
          <p:cNvPr id="6149" name="直接连接符 96262"/>
          <p:cNvSpPr/>
          <p:nvPr/>
        </p:nvSpPr>
        <p:spPr>
          <a:xfrm>
            <a:off x="2154238" y="2395538"/>
            <a:ext cx="0" cy="215900"/>
          </a:xfrm>
          <a:prstGeom prst="line">
            <a:avLst/>
          </a:prstGeom>
          <a:ln w="12700" cap="flat" cmpd="sng">
            <a:solidFill>
              <a:schemeClr val="bg2"/>
            </a:solidFill>
            <a:prstDash val="solid"/>
            <a:round/>
            <a:headEnd type="none" w="med" len="med"/>
            <a:tailEnd type="triangle" w="med" len="med"/>
          </a:ln>
        </p:spPr>
      </p:sp>
      <p:sp>
        <p:nvSpPr>
          <p:cNvPr id="6150" name="直接连接符 96263"/>
          <p:cNvSpPr/>
          <p:nvPr/>
        </p:nvSpPr>
        <p:spPr>
          <a:xfrm>
            <a:off x="2138363" y="3771900"/>
            <a:ext cx="0" cy="552450"/>
          </a:xfrm>
          <a:prstGeom prst="line">
            <a:avLst/>
          </a:prstGeom>
          <a:ln w="12700" cap="flat" cmpd="sng">
            <a:solidFill>
              <a:schemeClr val="bg2"/>
            </a:solidFill>
            <a:prstDash val="solid"/>
            <a:round/>
            <a:headEnd type="none" w="med" len="med"/>
            <a:tailEnd type="triangle" w="med" len="med"/>
          </a:ln>
        </p:spPr>
      </p:sp>
      <p:sp>
        <p:nvSpPr>
          <p:cNvPr id="6151" name="直接连接符 96264"/>
          <p:cNvSpPr/>
          <p:nvPr/>
        </p:nvSpPr>
        <p:spPr>
          <a:xfrm>
            <a:off x="4494213" y="1274763"/>
            <a:ext cx="0" cy="215900"/>
          </a:xfrm>
          <a:prstGeom prst="line">
            <a:avLst/>
          </a:prstGeom>
          <a:ln w="12700" cap="flat" cmpd="sng">
            <a:solidFill>
              <a:schemeClr val="bg2"/>
            </a:solidFill>
            <a:prstDash val="solid"/>
            <a:round/>
            <a:headEnd type="none" w="med" len="med"/>
            <a:tailEnd type="triangle" w="med" len="med"/>
          </a:ln>
        </p:spPr>
      </p:sp>
      <p:sp>
        <p:nvSpPr>
          <p:cNvPr id="6152" name="文本框 96265"/>
          <p:cNvSpPr txBox="1"/>
          <p:nvPr/>
        </p:nvSpPr>
        <p:spPr>
          <a:xfrm>
            <a:off x="3382963" y="1514475"/>
            <a:ext cx="2808287" cy="581025"/>
          </a:xfrm>
          <a:prstGeom prst="rect">
            <a:avLst/>
          </a:prstGeom>
          <a:noFill/>
          <a:ln w="9525">
            <a:noFill/>
          </a:ln>
        </p:spPr>
        <p:txBody>
          <a:bodyPr anchor="t">
            <a:spAutoFit/>
          </a:bodyPr>
          <a:lstStyle/>
          <a:p>
            <a:pPr eaLnBrk="0" hangingPunct="0"/>
            <a:r>
              <a:rPr lang="zh-CN" altLang="en-US" sz="1600" b="1" dirty="0">
                <a:solidFill>
                  <a:srgbClr val="003366"/>
                </a:solidFill>
                <a:latin typeface="Lucida Sans Unicode" panose="020B0602030504020204" pitchFamily="34" charset="0"/>
                <a:ea typeface="楷体_GB2312" pitchFamily="49" charset="-122"/>
              </a:rPr>
              <a:t>   合成有机物的元素</a:t>
            </a:r>
          </a:p>
          <a:p>
            <a:pPr eaLnBrk="0" hangingPunct="0"/>
            <a:r>
              <a:rPr lang="en-US" altLang="zh-CN" sz="1600" b="1">
                <a:solidFill>
                  <a:srgbClr val="003366"/>
                </a:solidFill>
                <a:latin typeface="Lucida Sans Unicode" panose="020B0602030504020204" pitchFamily="34" charset="0"/>
                <a:ea typeface="楷体_GB2312" pitchFamily="49" charset="-122"/>
              </a:rPr>
              <a:t>    </a:t>
            </a:r>
            <a:r>
              <a:rPr lang="en-US" altLang="zh-CN" sz="1600" b="1">
                <a:solidFill>
                  <a:srgbClr val="003366"/>
                </a:solidFill>
                <a:latin typeface="Times New Roman" panose="02020603050405020304" pitchFamily="18" charset="0"/>
                <a:ea typeface="楷体_GB2312" pitchFamily="49" charset="-122"/>
              </a:rPr>
              <a:t>H </a:t>
            </a:r>
            <a:r>
              <a:rPr lang="zh-CN" altLang="en-US" sz="1600" b="1" dirty="0">
                <a:solidFill>
                  <a:srgbClr val="003366"/>
                </a:solidFill>
                <a:latin typeface="Times New Roman" panose="02020603050405020304" pitchFamily="18" charset="0"/>
                <a:ea typeface="楷体_GB2312" pitchFamily="49" charset="-122"/>
              </a:rPr>
              <a:t>、</a:t>
            </a:r>
            <a:r>
              <a:rPr lang="en-US" altLang="zh-CN" sz="1600" b="1">
                <a:solidFill>
                  <a:srgbClr val="003366"/>
                </a:solidFill>
                <a:latin typeface="Times New Roman" panose="02020603050405020304" pitchFamily="18" charset="0"/>
                <a:ea typeface="楷体_GB2312" pitchFamily="49" charset="-122"/>
              </a:rPr>
              <a:t>N</a:t>
            </a:r>
            <a:r>
              <a:rPr lang="zh-CN" altLang="en-US" sz="1600" b="1" dirty="0">
                <a:solidFill>
                  <a:srgbClr val="003366"/>
                </a:solidFill>
                <a:latin typeface="Times New Roman" panose="02020603050405020304" pitchFamily="18" charset="0"/>
                <a:ea typeface="楷体_GB2312" pitchFamily="49" charset="-122"/>
              </a:rPr>
              <a:t>、 </a:t>
            </a:r>
            <a:r>
              <a:rPr lang="en-US" altLang="zh-CN" sz="1600" b="1">
                <a:solidFill>
                  <a:srgbClr val="003366"/>
                </a:solidFill>
                <a:latin typeface="Times New Roman" panose="02020603050405020304" pitchFamily="18" charset="0"/>
                <a:ea typeface="楷体_GB2312" pitchFamily="49" charset="-122"/>
              </a:rPr>
              <a:t>O</a:t>
            </a:r>
            <a:r>
              <a:rPr lang="zh-CN" altLang="en-US" sz="1600" b="1" dirty="0">
                <a:solidFill>
                  <a:srgbClr val="003366"/>
                </a:solidFill>
                <a:latin typeface="Times New Roman" panose="02020603050405020304" pitchFamily="18" charset="0"/>
                <a:ea typeface="楷体_GB2312" pitchFamily="49" charset="-122"/>
              </a:rPr>
              <a:t>、 </a:t>
            </a:r>
            <a:r>
              <a:rPr lang="en-US" altLang="zh-CN" sz="1600" b="1">
                <a:solidFill>
                  <a:srgbClr val="003366"/>
                </a:solidFill>
                <a:latin typeface="Times New Roman" panose="02020603050405020304" pitchFamily="18" charset="0"/>
                <a:ea typeface="楷体_GB2312" pitchFamily="49" charset="-122"/>
              </a:rPr>
              <a:t>C</a:t>
            </a:r>
            <a:r>
              <a:rPr lang="zh-CN" altLang="en-US" sz="1600" b="1" dirty="0">
                <a:solidFill>
                  <a:srgbClr val="003366"/>
                </a:solidFill>
                <a:latin typeface="Times New Roman" panose="02020603050405020304" pitchFamily="18" charset="0"/>
                <a:ea typeface="楷体_GB2312" pitchFamily="49" charset="-122"/>
              </a:rPr>
              <a:t>、</a:t>
            </a:r>
            <a:r>
              <a:rPr lang="en-US" altLang="zh-CN" sz="1600" b="1">
                <a:solidFill>
                  <a:srgbClr val="003366"/>
                </a:solidFill>
                <a:latin typeface="Times New Roman" panose="02020603050405020304" pitchFamily="18" charset="0"/>
                <a:ea typeface="楷体_GB2312" pitchFamily="49" charset="-122"/>
              </a:rPr>
              <a:t>S</a:t>
            </a:r>
            <a:r>
              <a:rPr lang="zh-CN" altLang="en-US" sz="1600" b="1" dirty="0">
                <a:solidFill>
                  <a:srgbClr val="003366"/>
                </a:solidFill>
                <a:latin typeface="Times New Roman" panose="02020603050405020304" pitchFamily="18" charset="0"/>
                <a:ea typeface="楷体_GB2312" pitchFamily="49" charset="-122"/>
              </a:rPr>
              <a:t>、</a:t>
            </a:r>
            <a:r>
              <a:rPr lang="en-US" altLang="zh-CN" sz="1600" b="1">
                <a:solidFill>
                  <a:srgbClr val="003366"/>
                </a:solidFill>
                <a:latin typeface="Times New Roman" panose="02020603050405020304" pitchFamily="18" charset="0"/>
                <a:ea typeface="楷体_GB2312" pitchFamily="49" charset="-122"/>
              </a:rPr>
              <a:t>P</a:t>
            </a:r>
            <a:r>
              <a:rPr lang="en-US" altLang="zh-CN" sz="1600" b="1">
                <a:solidFill>
                  <a:srgbClr val="003366"/>
                </a:solidFill>
                <a:latin typeface="Lucida Sans Unicode" panose="020B0602030504020204" pitchFamily="34" charset="0"/>
                <a:ea typeface="楷体_GB2312" pitchFamily="49" charset="-122"/>
              </a:rPr>
              <a:t> </a:t>
            </a:r>
            <a:r>
              <a:rPr lang="zh-CN" altLang="en-US" sz="1600" b="1" dirty="0">
                <a:solidFill>
                  <a:srgbClr val="003366"/>
                </a:solidFill>
                <a:latin typeface="Lucida Sans Unicode" panose="020B0602030504020204" pitchFamily="34" charset="0"/>
                <a:ea typeface="楷体_GB2312" pitchFamily="49" charset="-122"/>
              </a:rPr>
              <a:t>等</a:t>
            </a:r>
          </a:p>
        </p:txBody>
      </p:sp>
      <p:sp>
        <p:nvSpPr>
          <p:cNvPr id="6153" name="直接连接符 96266"/>
          <p:cNvSpPr/>
          <p:nvPr/>
        </p:nvSpPr>
        <p:spPr>
          <a:xfrm>
            <a:off x="4471988" y="2071688"/>
            <a:ext cx="0" cy="215900"/>
          </a:xfrm>
          <a:prstGeom prst="line">
            <a:avLst/>
          </a:prstGeom>
          <a:ln w="12700" cap="flat" cmpd="sng">
            <a:solidFill>
              <a:schemeClr val="bg2"/>
            </a:solidFill>
            <a:prstDash val="solid"/>
            <a:round/>
            <a:headEnd type="none" w="med" len="med"/>
            <a:tailEnd type="triangle" w="med" len="med"/>
          </a:ln>
        </p:spPr>
      </p:sp>
      <p:sp>
        <p:nvSpPr>
          <p:cNvPr id="6154" name="文本框 96267"/>
          <p:cNvSpPr txBox="1"/>
          <p:nvPr/>
        </p:nvSpPr>
        <p:spPr>
          <a:xfrm>
            <a:off x="3057525" y="2287588"/>
            <a:ext cx="4573588" cy="581025"/>
          </a:xfrm>
          <a:prstGeom prst="rect">
            <a:avLst/>
          </a:prstGeom>
          <a:noFill/>
          <a:ln w="9525">
            <a:noFill/>
          </a:ln>
        </p:spPr>
        <p:txBody>
          <a:bodyPr anchor="t">
            <a:spAutoFit/>
          </a:bodyPr>
          <a:lstStyle/>
          <a:p>
            <a:pPr eaLnBrk="0" hangingPunct="0"/>
            <a:r>
              <a:rPr lang="zh-CN" altLang="en-US" sz="1600" b="1" dirty="0">
                <a:solidFill>
                  <a:srgbClr val="003366"/>
                </a:solidFill>
                <a:latin typeface="Lucida Sans Unicode" panose="020B0602030504020204" pitchFamily="34" charset="0"/>
                <a:ea typeface="楷体_GB2312" pitchFamily="49" charset="-122"/>
              </a:rPr>
              <a:t>简单有机物和其它化合物</a:t>
            </a:r>
          </a:p>
          <a:p>
            <a:pPr eaLnBrk="0" hangingPunct="0"/>
            <a:r>
              <a:rPr lang="en-US" altLang="zh-CN" sz="1600" b="1" dirty="0">
                <a:solidFill>
                  <a:srgbClr val="003366"/>
                </a:solidFill>
                <a:latin typeface="Times New Roman" panose="02020603050405020304" pitchFamily="18" charset="0"/>
                <a:ea typeface="楷体_GB2312" pitchFamily="49" charset="-122"/>
              </a:rPr>
              <a:t>HCHO</a:t>
            </a:r>
            <a:r>
              <a:rPr lang="zh-CN" altLang="en-US" sz="1600" b="1" dirty="0">
                <a:solidFill>
                  <a:srgbClr val="003366"/>
                </a:solidFill>
                <a:latin typeface="Times New Roman" panose="02020603050405020304" pitchFamily="18" charset="0"/>
                <a:ea typeface="楷体_GB2312" pitchFamily="49" charset="-122"/>
              </a:rPr>
              <a:t>、</a:t>
            </a:r>
            <a:r>
              <a:rPr lang="en-US" altLang="zh-CN" sz="1600" b="1" dirty="0">
                <a:solidFill>
                  <a:srgbClr val="003366"/>
                </a:solidFill>
                <a:latin typeface="Times New Roman" panose="02020603050405020304" pitchFamily="18" charset="0"/>
                <a:ea typeface="楷体_GB2312" pitchFamily="49" charset="-122"/>
              </a:rPr>
              <a:t>CH</a:t>
            </a:r>
            <a:r>
              <a:rPr lang="en-US" altLang="zh-CN" sz="1600" b="1" baseline="-25000" dirty="0">
                <a:solidFill>
                  <a:srgbClr val="003366"/>
                </a:solidFill>
                <a:latin typeface="Times New Roman" panose="02020603050405020304" pitchFamily="18" charset="0"/>
                <a:ea typeface="楷体_GB2312" pitchFamily="49" charset="-122"/>
              </a:rPr>
              <a:t>4</a:t>
            </a:r>
            <a:r>
              <a:rPr lang="zh-CN" altLang="en-US" sz="1600" b="1" dirty="0">
                <a:solidFill>
                  <a:srgbClr val="003366"/>
                </a:solidFill>
                <a:latin typeface="Times New Roman" panose="02020603050405020304" pitchFamily="18" charset="0"/>
                <a:ea typeface="楷体_GB2312" pitchFamily="49" charset="-122"/>
              </a:rPr>
              <a:t>、</a:t>
            </a:r>
            <a:r>
              <a:rPr lang="en-US" altLang="zh-CN" sz="1600" b="1" dirty="0">
                <a:solidFill>
                  <a:srgbClr val="003366"/>
                </a:solidFill>
                <a:latin typeface="Times New Roman" panose="02020603050405020304" pitchFamily="18" charset="0"/>
                <a:ea typeface="楷体_GB2312" pitchFamily="49" charset="-122"/>
              </a:rPr>
              <a:t>NH</a:t>
            </a:r>
            <a:r>
              <a:rPr lang="en-US" altLang="zh-CN" sz="1600" b="1" baseline="-25000" dirty="0">
                <a:solidFill>
                  <a:srgbClr val="003366"/>
                </a:solidFill>
                <a:latin typeface="Times New Roman" panose="02020603050405020304" pitchFamily="18" charset="0"/>
                <a:ea typeface="楷体_GB2312" pitchFamily="49" charset="-122"/>
              </a:rPr>
              <a:t>3</a:t>
            </a:r>
            <a:r>
              <a:rPr lang="zh-CN" altLang="en-US" sz="1600" b="1" dirty="0">
                <a:solidFill>
                  <a:srgbClr val="003366"/>
                </a:solidFill>
                <a:latin typeface="Times New Roman" panose="02020603050405020304" pitchFamily="18" charset="0"/>
                <a:ea typeface="楷体_GB2312" pitchFamily="49" charset="-122"/>
              </a:rPr>
              <a:t>、</a:t>
            </a:r>
            <a:r>
              <a:rPr lang="en-US" altLang="zh-CN" sz="1600" b="1" dirty="0">
                <a:solidFill>
                  <a:srgbClr val="003366"/>
                </a:solidFill>
                <a:latin typeface="Times New Roman" panose="02020603050405020304" pitchFamily="18" charset="0"/>
                <a:ea typeface="楷体_GB2312" pitchFamily="49" charset="-122"/>
              </a:rPr>
              <a:t>CO</a:t>
            </a:r>
            <a:r>
              <a:rPr lang="en-US" altLang="zh-CN" sz="1600" b="1" baseline="-25000" dirty="0">
                <a:solidFill>
                  <a:srgbClr val="003366"/>
                </a:solidFill>
                <a:latin typeface="Times New Roman" panose="02020603050405020304" pitchFamily="18" charset="0"/>
                <a:ea typeface="楷体_GB2312" pitchFamily="49" charset="-122"/>
              </a:rPr>
              <a:t>2</a:t>
            </a:r>
            <a:r>
              <a:rPr lang="zh-CN" altLang="en-US" sz="1600" b="1" baseline="-25000" dirty="0">
                <a:solidFill>
                  <a:srgbClr val="003366"/>
                </a:solidFill>
                <a:latin typeface="Times New Roman" panose="02020603050405020304" pitchFamily="18" charset="0"/>
                <a:ea typeface="楷体_GB2312" pitchFamily="49" charset="-122"/>
              </a:rPr>
              <a:t>、</a:t>
            </a:r>
            <a:r>
              <a:rPr lang="en-US" altLang="zh-CN" sz="1600" b="1" dirty="0">
                <a:solidFill>
                  <a:srgbClr val="003366"/>
                </a:solidFill>
                <a:latin typeface="Times New Roman" panose="02020603050405020304" pitchFamily="18" charset="0"/>
                <a:ea typeface="楷体_GB2312" pitchFamily="49" charset="-122"/>
              </a:rPr>
              <a:t>CO</a:t>
            </a:r>
            <a:r>
              <a:rPr lang="zh-CN" altLang="en-US" sz="1600" b="1" dirty="0">
                <a:solidFill>
                  <a:srgbClr val="003366"/>
                </a:solidFill>
                <a:latin typeface="Times New Roman" panose="02020603050405020304" pitchFamily="18" charset="0"/>
                <a:ea typeface="楷体_GB2312" pitchFamily="49" charset="-122"/>
              </a:rPr>
              <a:t>、</a:t>
            </a:r>
            <a:r>
              <a:rPr lang="en-US" altLang="zh-CN" sz="1600" b="1" dirty="0">
                <a:solidFill>
                  <a:srgbClr val="003366"/>
                </a:solidFill>
                <a:latin typeface="Times New Roman" panose="02020603050405020304" pitchFamily="18" charset="0"/>
                <a:ea typeface="楷体_GB2312" pitchFamily="49" charset="-122"/>
              </a:rPr>
              <a:t>H</a:t>
            </a:r>
            <a:r>
              <a:rPr lang="en-US" altLang="zh-CN" sz="1600" b="1" baseline="-25000" dirty="0">
                <a:solidFill>
                  <a:srgbClr val="003366"/>
                </a:solidFill>
                <a:latin typeface="Times New Roman" panose="02020603050405020304" pitchFamily="18" charset="0"/>
                <a:ea typeface="楷体_GB2312" pitchFamily="49" charset="-122"/>
              </a:rPr>
              <a:t>2</a:t>
            </a:r>
            <a:r>
              <a:rPr lang="en-US" altLang="zh-CN" sz="1600" b="1" dirty="0">
                <a:solidFill>
                  <a:srgbClr val="003366"/>
                </a:solidFill>
                <a:latin typeface="Times New Roman" panose="02020603050405020304" pitchFamily="18" charset="0"/>
                <a:ea typeface="楷体_GB2312" pitchFamily="49" charset="-122"/>
              </a:rPr>
              <a:t>S</a:t>
            </a:r>
            <a:r>
              <a:rPr lang="zh-CN" altLang="en-US" sz="1600" b="1" dirty="0">
                <a:solidFill>
                  <a:srgbClr val="003366"/>
                </a:solidFill>
                <a:latin typeface="Times New Roman" panose="02020603050405020304" pitchFamily="18" charset="0"/>
                <a:ea typeface="楷体_GB2312" pitchFamily="49" charset="-122"/>
              </a:rPr>
              <a:t>、</a:t>
            </a:r>
            <a:r>
              <a:rPr lang="en-US" altLang="zh-CN" sz="1600" b="1" dirty="0">
                <a:solidFill>
                  <a:srgbClr val="003366"/>
                </a:solidFill>
                <a:latin typeface="Times New Roman" panose="02020603050405020304" pitchFamily="18" charset="0"/>
                <a:ea typeface="楷体_GB2312" pitchFamily="49" charset="-122"/>
              </a:rPr>
              <a:t>H</a:t>
            </a:r>
            <a:r>
              <a:rPr lang="en-US" altLang="zh-CN" sz="1600" b="1" baseline="-25000" dirty="0">
                <a:solidFill>
                  <a:srgbClr val="003366"/>
                </a:solidFill>
                <a:latin typeface="Times New Roman" panose="02020603050405020304" pitchFamily="18" charset="0"/>
                <a:ea typeface="楷体_GB2312" pitchFamily="49" charset="-122"/>
              </a:rPr>
              <a:t>2</a:t>
            </a:r>
            <a:r>
              <a:rPr lang="en-US" altLang="zh-CN" sz="1600" b="1" dirty="0">
                <a:solidFill>
                  <a:srgbClr val="003366"/>
                </a:solidFill>
                <a:latin typeface="Times New Roman" panose="02020603050405020304" pitchFamily="18" charset="0"/>
                <a:ea typeface="楷体_GB2312" pitchFamily="49" charset="-122"/>
              </a:rPr>
              <a:t>O</a:t>
            </a:r>
            <a:r>
              <a:rPr lang="en-US" altLang="zh-CN" sz="1600" b="1" dirty="0">
                <a:solidFill>
                  <a:srgbClr val="003366"/>
                </a:solidFill>
                <a:latin typeface="Lucida Sans Unicode" panose="020B0602030504020204" pitchFamily="34" charset="0"/>
                <a:ea typeface="楷体_GB2312" pitchFamily="49" charset="-122"/>
              </a:rPr>
              <a:t> </a:t>
            </a:r>
            <a:r>
              <a:rPr lang="zh-CN" altLang="en-US" sz="1600" b="1" dirty="0">
                <a:solidFill>
                  <a:srgbClr val="003366"/>
                </a:solidFill>
                <a:latin typeface="Lucida Sans Unicode" panose="020B0602030504020204" pitchFamily="34" charset="0"/>
                <a:ea typeface="楷体_GB2312" pitchFamily="49" charset="-122"/>
              </a:rPr>
              <a:t>等</a:t>
            </a:r>
          </a:p>
        </p:txBody>
      </p:sp>
      <p:sp>
        <p:nvSpPr>
          <p:cNvPr id="6155" name="直接连接符 96268"/>
          <p:cNvSpPr/>
          <p:nvPr/>
        </p:nvSpPr>
        <p:spPr>
          <a:xfrm>
            <a:off x="4494213" y="2868613"/>
            <a:ext cx="0" cy="215900"/>
          </a:xfrm>
          <a:prstGeom prst="line">
            <a:avLst/>
          </a:prstGeom>
          <a:ln w="12700" cap="flat" cmpd="sng">
            <a:solidFill>
              <a:schemeClr val="bg2"/>
            </a:solidFill>
            <a:prstDash val="solid"/>
            <a:round/>
            <a:headEnd type="none" w="med" len="med"/>
            <a:tailEnd type="triangle" w="med" len="med"/>
          </a:ln>
        </p:spPr>
      </p:sp>
      <p:sp>
        <p:nvSpPr>
          <p:cNvPr id="6156" name="文本框 96269"/>
          <p:cNvSpPr txBox="1"/>
          <p:nvPr/>
        </p:nvSpPr>
        <p:spPr>
          <a:xfrm>
            <a:off x="3273425" y="3190875"/>
            <a:ext cx="4573588" cy="581025"/>
          </a:xfrm>
          <a:prstGeom prst="rect">
            <a:avLst/>
          </a:prstGeom>
          <a:noFill/>
          <a:ln w="9525">
            <a:noFill/>
          </a:ln>
        </p:spPr>
        <p:txBody>
          <a:bodyPr anchor="t">
            <a:spAutoFit/>
          </a:bodyPr>
          <a:lstStyle/>
          <a:p>
            <a:pPr eaLnBrk="0" hangingPunct="0"/>
            <a:r>
              <a:rPr lang="zh-CN" altLang="en-US" sz="1600" b="1" dirty="0">
                <a:solidFill>
                  <a:srgbClr val="003366"/>
                </a:solidFill>
                <a:latin typeface="Lucida Sans Unicode" panose="020B0602030504020204" pitchFamily="34" charset="0"/>
                <a:ea typeface="楷体_GB2312" pitchFamily="49" charset="-122"/>
              </a:rPr>
              <a:t>复杂的有机物</a:t>
            </a:r>
          </a:p>
          <a:p>
            <a:pPr eaLnBrk="0" hangingPunct="0"/>
            <a:r>
              <a:rPr lang="zh-CN" altLang="en-US" sz="1600" b="1" dirty="0">
                <a:solidFill>
                  <a:srgbClr val="003366"/>
                </a:solidFill>
                <a:latin typeface="Lucida Sans Unicode" panose="020B0602030504020204" pitchFamily="34" charset="0"/>
                <a:ea typeface="楷体_GB2312" pitchFamily="49" charset="-122"/>
              </a:rPr>
              <a:t>氨基酸、糖类、核苷酸、甘油、脂肪酸等</a:t>
            </a:r>
          </a:p>
        </p:txBody>
      </p:sp>
      <p:sp>
        <p:nvSpPr>
          <p:cNvPr id="6157" name="文本框 96270"/>
          <p:cNvSpPr txBox="1"/>
          <p:nvPr/>
        </p:nvSpPr>
        <p:spPr>
          <a:xfrm>
            <a:off x="3057525" y="3987800"/>
            <a:ext cx="4573588" cy="336550"/>
          </a:xfrm>
          <a:prstGeom prst="rect">
            <a:avLst/>
          </a:prstGeom>
          <a:noFill/>
          <a:ln w="9525">
            <a:noFill/>
          </a:ln>
        </p:spPr>
        <p:txBody>
          <a:bodyPr anchor="t">
            <a:spAutoFit/>
          </a:bodyPr>
          <a:lstStyle/>
          <a:p>
            <a:pPr eaLnBrk="0" hangingPunct="0"/>
            <a:r>
              <a:rPr lang="zh-CN" altLang="en-US" sz="1600" b="1" dirty="0">
                <a:solidFill>
                  <a:srgbClr val="003366"/>
                </a:solidFill>
                <a:latin typeface="Lucida Sans Unicode" panose="020B0602030504020204" pitchFamily="34" charset="0"/>
                <a:ea typeface="楷体_GB2312" pitchFamily="49" charset="-122"/>
              </a:rPr>
              <a:t>前细胞生命体、团聚体、微球体等</a:t>
            </a:r>
          </a:p>
        </p:txBody>
      </p:sp>
      <p:sp>
        <p:nvSpPr>
          <p:cNvPr id="6158" name="文本框 96271"/>
          <p:cNvSpPr txBox="1"/>
          <p:nvPr/>
        </p:nvSpPr>
        <p:spPr>
          <a:xfrm>
            <a:off x="3273425" y="4652963"/>
            <a:ext cx="4573588" cy="336550"/>
          </a:xfrm>
          <a:prstGeom prst="rect">
            <a:avLst/>
          </a:prstGeom>
          <a:noFill/>
          <a:ln w="9525">
            <a:noFill/>
          </a:ln>
        </p:spPr>
        <p:txBody>
          <a:bodyPr anchor="t">
            <a:spAutoFit/>
          </a:bodyPr>
          <a:lstStyle/>
          <a:p>
            <a:pPr eaLnBrk="0" hangingPunct="0"/>
            <a:r>
              <a:rPr lang="zh-CN" altLang="en-US" sz="1600" b="1" dirty="0">
                <a:solidFill>
                  <a:srgbClr val="003366"/>
                </a:solidFill>
                <a:latin typeface="Lucida Sans Unicode" panose="020B0602030504020204" pitchFamily="34" charset="0"/>
                <a:ea typeface="楷体_GB2312" pitchFamily="49" charset="-122"/>
              </a:rPr>
              <a:t>具备生命特征的细胞</a:t>
            </a:r>
          </a:p>
        </p:txBody>
      </p:sp>
      <p:sp>
        <p:nvSpPr>
          <p:cNvPr id="6159" name="文本框 96272"/>
          <p:cNvSpPr txBox="1"/>
          <p:nvPr/>
        </p:nvSpPr>
        <p:spPr>
          <a:xfrm>
            <a:off x="3741738" y="5314950"/>
            <a:ext cx="1781175" cy="336550"/>
          </a:xfrm>
          <a:prstGeom prst="rect">
            <a:avLst/>
          </a:prstGeom>
          <a:noFill/>
          <a:ln w="9525">
            <a:noFill/>
          </a:ln>
        </p:spPr>
        <p:txBody>
          <a:bodyPr anchor="t">
            <a:spAutoFit/>
          </a:bodyPr>
          <a:lstStyle/>
          <a:p>
            <a:pPr eaLnBrk="0" hangingPunct="0"/>
            <a:r>
              <a:rPr lang="zh-CN" altLang="en-US" sz="1600" b="1" dirty="0">
                <a:solidFill>
                  <a:srgbClr val="003366"/>
                </a:solidFill>
                <a:latin typeface="Lucida Sans Unicode" panose="020B0602030504020204" pitchFamily="34" charset="0"/>
                <a:ea typeface="楷体_GB2312" pitchFamily="49" charset="-122"/>
              </a:rPr>
              <a:t>多细胞生物</a:t>
            </a:r>
          </a:p>
        </p:txBody>
      </p:sp>
      <p:sp>
        <p:nvSpPr>
          <p:cNvPr id="6160" name="文本框 96273"/>
          <p:cNvSpPr txBox="1"/>
          <p:nvPr/>
        </p:nvSpPr>
        <p:spPr>
          <a:xfrm>
            <a:off x="3957638" y="5927725"/>
            <a:ext cx="1404937" cy="336550"/>
          </a:xfrm>
          <a:prstGeom prst="rect">
            <a:avLst/>
          </a:prstGeom>
          <a:noFill/>
          <a:ln w="9525">
            <a:noFill/>
          </a:ln>
        </p:spPr>
        <p:txBody>
          <a:bodyPr anchor="t">
            <a:spAutoFit/>
          </a:bodyPr>
          <a:lstStyle/>
          <a:p>
            <a:pPr eaLnBrk="0" hangingPunct="0"/>
            <a:r>
              <a:rPr lang="zh-CN" altLang="en-US" sz="1600" b="1" dirty="0">
                <a:solidFill>
                  <a:srgbClr val="003366"/>
                </a:solidFill>
                <a:latin typeface="Lucida Sans Unicode" panose="020B0602030504020204" pitchFamily="34" charset="0"/>
                <a:ea typeface="楷体_GB2312" pitchFamily="49" charset="-122"/>
              </a:rPr>
              <a:t>现代生物</a:t>
            </a:r>
          </a:p>
        </p:txBody>
      </p:sp>
      <p:sp>
        <p:nvSpPr>
          <p:cNvPr id="6161" name="直接连接符 96274"/>
          <p:cNvSpPr/>
          <p:nvPr/>
        </p:nvSpPr>
        <p:spPr>
          <a:xfrm>
            <a:off x="4443413" y="3771900"/>
            <a:ext cx="0" cy="215900"/>
          </a:xfrm>
          <a:prstGeom prst="line">
            <a:avLst/>
          </a:prstGeom>
          <a:ln w="12700" cap="flat" cmpd="sng">
            <a:solidFill>
              <a:schemeClr val="bg2"/>
            </a:solidFill>
            <a:prstDash val="solid"/>
            <a:round/>
            <a:headEnd type="none" w="med" len="med"/>
            <a:tailEnd type="triangle" w="med" len="med"/>
          </a:ln>
        </p:spPr>
      </p:sp>
      <p:sp>
        <p:nvSpPr>
          <p:cNvPr id="6162" name="直接连接符 96275"/>
          <p:cNvSpPr/>
          <p:nvPr/>
        </p:nvSpPr>
        <p:spPr>
          <a:xfrm>
            <a:off x="4443413" y="4324350"/>
            <a:ext cx="0" cy="215900"/>
          </a:xfrm>
          <a:prstGeom prst="line">
            <a:avLst/>
          </a:prstGeom>
          <a:ln w="12700" cap="flat" cmpd="sng">
            <a:solidFill>
              <a:schemeClr val="bg2"/>
            </a:solidFill>
            <a:prstDash val="solid"/>
            <a:round/>
            <a:headEnd type="none" w="med" len="med"/>
            <a:tailEnd type="triangle" w="med" len="med"/>
          </a:ln>
        </p:spPr>
      </p:sp>
      <p:sp>
        <p:nvSpPr>
          <p:cNvPr id="6163" name="直接连接符 96276"/>
          <p:cNvSpPr/>
          <p:nvPr/>
        </p:nvSpPr>
        <p:spPr>
          <a:xfrm>
            <a:off x="4443413" y="4989513"/>
            <a:ext cx="0" cy="215900"/>
          </a:xfrm>
          <a:prstGeom prst="line">
            <a:avLst/>
          </a:prstGeom>
          <a:ln w="12700" cap="flat" cmpd="sng">
            <a:solidFill>
              <a:schemeClr val="bg2"/>
            </a:solidFill>
            <a:prstDash val="solid"/>
            <a:round/>
            <a:headEnd type="none" w="med" len="med"/>
            <a:tailEnd type="triangle" w="med" len="med"/>
          </a:ln>
        </p:spPr>
      </p:sp>
      <p:sp>
        <p:nvSpPr>
          <p:cNvPr id="6164" name="直接连接符 96277"/>
          <p:cNvSpPr/>
          <p:nvPr/>
        </p:nvSpPr>
        <p:spPr>
          <a:xfrm>
            <a:off x="4443413" y="5711825"/>
            <a:ext cx="0" cy="215900"/>
          </a:xfrm>
          <a:prstGeom prst="line">
            <a:avLst/>
          </a:prstGeom>
          <a:ln w="12700" cap="flat" cmpd="sng">
            <a:solidFill>
              <a:schemeClr val="bg2"/>
            </a:solidFill>
            <a:prstDash val="solid"/>
            <a:round/>
            <a:headEnd type="none" w="med" len="med"/>
            <a:tailEnd type="triangle" w="med" len="med"/>
          </a:ln>
        </p:spPr>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文本占位符 82946"/>
          <p:cNvSpPr>
            <a:spLocks noGrp="1" noRot="1"/>
          </p:cNvSpPr>
          <p:nvPr>
            <p:ph idx="1"/>
          </p:nvPr>
        </p:nvSpPr>
        <p:spPr>
          <a:xfrm>
            <a:off x="457200" y="909320"/>
            <a:ext cx="8687435" cy="4526280"/>
          </a:xfrm>
          <a:ln/>
        </p:spPr>
        <p:txBody>
          <a:bodyPr anchor="t"/>
          <a:lstStyle/>
          <a:p>
            <a:r>
              <a:rPr lang="zh-CN" altLang="en-US" b="1" dirty="0">
                <a:solidFill>
                  <a:schemeClr val="tx1"/>
                </a:solidFill>
                <a:ea typeface="楷体_GB2312" pitchFamily="49" charset="-122"/>
              </a:rPr>
              <a:t>自然界的生命可以划分为不同的层次或组织水平，下图可见化学与生命的内在联系。</a:t>
            </a:r>
          </a:p>
        </p:txBody>
      </p:sp>
      <p:sp>
        <p:nvSpPr>
          <p:cNvPr id="7170" name="文本框 82948"/>
          <p:cNvSpPr txBox="1"/>
          <p:nvPr/>
        </p:nvSpPr>
        <p:spPr>
          <a:xfrm>
            <a:off x="0" y="2016125"/>
            <a:ext cx="692150" cy="855663"/>
          </a:xfrm>
          <a:prstGeom prst="rect">
            <a:avLst/>
          </a:prstGeom>
          <a:solidFill>
            <a:srgbClr val="FFFFCC"/>
          </a:solidFill>
          <a:ln w="9525">
            <a:noFill/>
          </a:ln>
        </p:spPr>
        <p:txBody>
          <a:bodyPr anchor="t">
            <a:spAutoFit/>
          </a:bodyPr>
          <a:lstStyle/>
          <a:p>
            <a:pPr algn="r" eaLnBrk="0" hangingPunct="0"/>
            <a:r>
              <a:rPr lang="zh-CN" altLang="en-US" sz="1600" b="1" dirty="0">
                <a:solidFill>
                  <a:srgbClr val="0000FF"/>
                </a:solidFill>
                <a:latin typeface="Lucida Sans Unicode" panose="020B0602030504020204" pitchFamily="34" charset="0"/>
                <a:ea typeface="楷体_GB2312" pitchFamily="49" charset="-122"/>
              </a:rPr>
              <a:t>质子</a:t>
            </a:r>
          </a:p>
          <a:p>
            <a:pPr algn="r" eaLnBrk="0" hangingPunct="0"/>
            <a:endParaRPr lang="zh-CN" altLang="en-US" b="1" dirty="0">
              <a:solidFill>
                <a:srgbClr val="0000FF"/>
              </a:solidFill>
              <a:latin typeface="Lucida Sans Unicode" panose="020B0602030504020204" pitchFamily="34" charset="0"/>
              <a:ea typeface="楷体_GB2312" pitchFamily="49" charset="-122"/>
            </a:endParaRPr>
          </a:p>
          <a:p>
            <a:pPr algn="r" eaLnBrk="0" hangingPunct="0"/>
            <a:r>
              <a:rPr lang="zh-CN" altLang="en-US" sz="1600" b="1" dirty="0">
                <a:solidFill>
                  <a:srgbClr val="0000FF"/>
                </a:solidFill>
                <a:latin typeface="Lucida Sans Unicode" panose="020B0602030504020204" pitchFamily="34" charset="0"/>
                <a:ea typeface="楷体_GB2312" pitchFamily="49" charset="-122"/>
              </a:rPr>
              <a:t>中子</a:t>
            </a:r>
          </a:p>
        </p:txBody>
      </p:sp>
      <p:sp>
        <p:nvSpPr>
          <p:cNvPr id="7171" name="右大括号 82950"/>
          <p:cNvSpPr/>
          <p:nvPr/>
        </p:nvSpPr>
        <p:spPr>
          <a:xfrm rot="-10800000" flipH="1">
            <a:off x="692150" y="2198688"/>
            <a:ext cx="239713" cy="492125"/>
          </a:xfrm>
          <a:prstGeom prst="rightBrace">
            <a:avLst>
              <a:gd name="adj1" fmla="val 17079"/>
              <a:gd name="adj2" fmla="val 50000"/>
            </a:avLst>
          </a:prstGeom>
          <a:solidFill>
            <a:srgbClr val="FFFFCC"/>
          </a:solidFill>
          <a:ln w="3175" cap="flat" cmpd="sng">
            <a:solidFill>
              <a:schemeClr val="bg2"/>
            </a:solidFill>
            <a:prstDash val="solid"/>
            <a:round/>
            <a:headEnd type="none" w="med" len="med"/>
            <a:tailEnd type="none" w="med" len="med"/>
          </a:ln>
        </p:spPr>
        <p:txBody>
          <a:bodyPr anchor="t"/>
          <a:lstStyle/>
          <a:p>
            <a:endParaRPr lang="zh-CN" altLang="en-US">
              <a:latin typeface="Arial" panose="020B0604020202020204" pitchFamily="34" charset="0"/>
            </a:endParaRPr>
          </a:p>
        </p:txBody>
      </p:sp>
      <p:sp>
        <p:nvSpPr>
          <p:cNvPr id="7172" name="直接连接符 82952"/>
          <p:cNvSpPr/>
          <p:nvPr/>
        </p:nvSpPr>
        <p:spPr>
          <a:xfrm>
            <a:off x="1357313" y="2457450"/>
            <a:ext cx="461962" cy="0"/>
          </a:xfrm>
          <a:prstGeom prst="line">
            <a:avLst/>
          </a:prstGeom>
          <a:ln w="9525">
            <a:noFill/>
          </a:ln>
        </p:spPr>
      </p:sp>
      <p:sp>
        <p:nvSpPr>
          <p:cNvPr id="7173" name="文本框 82954"/>
          <p:cNvSpPr txBox="1"/>
          <p:nvPr/>
        </p:nvSpPr>
        <p:spPr>
          <a:xfrm>
            <a:off x="1057275" y="2255838"/>
            <a:ext cx="893763" cy="915987"/>
          </a:xfrm>
          <a:prstGeom prst="rect">
            <a:avLst/>
          </a:prstGeom>
          <a:noFill/>
          <a:ln w="9525">
            <a:noFill/>
          </a:ln>
        </p:spPr>
        <p:txBody>
          <a:bodyPr anchor="t">
            <a:spAutoFit/>
          </a:bodyPr>
          <a:lstStyle/>
          <a:p>
            <a:pPr algn="r" eaLnBrk="0" hangingPunct="0"/>
            <a:r>
              <a:rPr lang="zh-CN" altLang="en-US" b="1" dirty="0">
                <a:solidFill>
                  <a:srgbClr val="0000FF"/>
                </a:solidFill>
                <a:latin typeface="Lucida Sans Unicode" panose="020B0602030504020204" pitchFamily="34" charset="0"/>
                <a:ea typeface="楷体_GB2312" pitchFamily="49" charset="-122"/>
              </a:rPr>
              <a:t>原子核</a:t>
            </a:r>
          </a:p>
          <a:p>
            <a:pPr algn="r" eaLnBrk="0" hangingPunct="0"/>
            <a:r>
              <a:rPr lang="zh-CN" altLang="en-US" b="1" dirty="0">
                <a:solidFill>
                  <a:srgbClr val="0000FF"/>
                </a:solidFill>
                <a:latin typeface="楷体_GB2312" pitchFamily="49" charset="-122"/>
                <a:ea typeface="楷体_GB2312" pitchFamily="49" charset="-122"/>
              </a:rPr>
              <a:t>         电  子</a:t>
            </a:r>
          </a:p>
        </p:txBody>
      </p:sp>
      <p:sp>
        <p:nvSpPr>
          <p:cNvPr id="7174" name="直接连接符 82955"/>
          <p:cNvSpPr/>
          <p:nvPr/>
        </p:nvSpPr>
        <p:spPr>
          <a:xfrm>
            <a:off x="1357313" y="3538538"/>
            <a:ext cx="1058862" cy="0"/>
          </a:xfrm>
          <a:prstGeom prst="line">
            <a:avLst/>
          </a:prstGeom>
          <a:ln w="9525">
            <a:noFill/>
          </a:ln>
        </p:spPr>
      </p:sp>
      <p:sp>
        <p:nvSpPr>
          <p:cNvPr id="7175" name="直接连接符 82956"/>
          <p:cNvSpPr/>
          <p:nvPr/>
        </p:nvSpPr>
        <p:spPr>
          <a:xfrm>
            <a:off x="931863" y="2444750"/>
            <a:ext cx="249237" cy="0"/>
          </a:xfrm>
          <a:prstGeom prst="line">
            <a:avLst/>
          </a:prstGeom>
          <a:ln w="12700" cap="flat" cmpd="sng">
            <a:solidFill>
              <a:schemeClr val="bg2"/>
            </a:solidFill>
            <a:prstDash val="solid"/>
            <a:round/>
            <a:headEnd type="none" w="med" len="med"/>
            <a:tailEnd type="triangle" w="med" len="med"/>
          </a:ln>
        </p:spPr>
      </p:sp>
      <p:sp>
        <p:nvSpPr>
          <p:cNvPr id="7176" name="右大括号 82958"/>
          <p:cNvSpPr/>
          <p:nvPr/>
        </p:nvSpPr>
        <p:spPr>
          <a:xfrm rot="-10800000" flipH="1">
            <a:off x="1951038" y="2433638"/>
            <a:ext cx="241300" cy="384175"/>
          </a:xfrm>
          <a:prstGeom prst="rightBrace">
            <a:avLst>
              <a:gd name="adj1" fmla="val 13245"/>
              <a:gd name="adj2" fmla="val 50000"/>
            </a:avLst>
          </a:prstGeom>
          <a:solidFill>
            <a:srgbClr val="FFFFCC"/>
          </a:solidFill>
          <a:ln w="3175" cap="flat" cmpd="sng">
            <a:solidFill>
              <a:schemeClr val="bg2"/>
            </a:solidFill>
            <a:prstDash val="solid"/>
            <a:round/>
            <a:headEnd type="none" w="med" len="med"/>
            <a:tailEnd type="none" w="med" len="med"/>
          </a:ln>
        </p:spPr>
        <p:txBody>
          <a:bodyPr rot="10800000" anchor="ctr">
            <a:spAutoFit/>
          </a:bodyPr>
          <a:lstStyle/>
          <a:p>
            <a:pPr algn="ctr" eaLnBrk="0" hangingPunct="0"/>
            <a:endParaRPr lang="zh-CN" altLang="en-US" b="1" u="sng" dirty="0">
              <a:solidFill>
                <a:srgbClr val="0000FF"/>
              </a:solidFill>
              <a:latin typeface="Lucida Sans Unicode" panose="020B0602030504020204" pitchFamily="34" charset="0"/>
              <a:ea typeface="Gulim" panose="020B0600000101010101" pitchFamily="34" charset="-127"/>
            </a:endParaRPr>
          </a:p>
        </p:txBody>
      </p:sp>
      <p:sp>
        <p:nvSpPr>
          <p:cNvPr id="7177" name="文本框 82960"/>
          <p:cNvSpPr txBox="1"/>
          <p:nvPr/>
        </p:nvSpPr>
        <p:spPr>
          <a:xfrm>
            <a:off x="2070100" y="2478088"/>
            <a:ext cx="641350" cy="366712"/>
          </a:xfrm>
          <a:prstGeom prst="rect">
            <a:avLst/>
          </a:prstGeom>
          <a:noFill/>
          <a:ln w="9525">
            <a:noFill/>
          </a:ln>
        </p:spPr>
        <p:txBody>
          <a:bodyPr wrap="none" anchor="t">
            <a:spAutoFit/>
          </a:bodyPr>
          <a:lstStyle/>
          <a:p>
            <a:pPr algn="r" eaLnBrk="0" hangingPunct="0"/>
            <a:r>
              <a:rPr lang="zh-CN" altLang="en-US" b="1" dirty="0">
                <a:solidFill>
                  <a:srgbClr val="0000FF"/>
                </a:solidFill>
                <a:latin typeface="Lucida Sans Unicode" panose="020B0602030504020204" pitchFamily="34" charset="0"/>
                <a:ea typeface="楷体_GB2312" pitchFamily="49" charset="-122"/>
              </a:rPr>
              <a:t>原子</a:t>
            </a:r>
          </a:p>
        </p:txBody>
      </p:sp>
      <p:sp>
        <p:nvSpPr>
          <p:cNvPr id="7178" name="直接连接符 82961"/>
          <p:cNvSpPr/>
          <p:nvPr/>
        </p:nvSpPr>
        <p:spPr>
          <a:xfrm>
            <a:off x="2662238" y="2673350"/>
            <a:ext cx="268287" cy="0"/>
          </a:xfrm>
          <a:prstGeom prst="line">
            <a:avLst/>
          </a:prstGeom>
          <a:ln w="12700" cap="flat" cmpd="sng">
            <a:solidFill>
              <a:schemeClr val="bg2"/>
            </a:solidFill>
            <a:prstDash val="solid"/>
            <a:round/>
            <a:headEnd type="none" w="med" len="med"/>
            <a:tailEnd type="triangle" w="med" len="med"/>
          </a:ln>
        </p:spPr>
      </p:sp>
      <p:sp>
        <p:nvSpPr>
          <p:cNvPr id="7179" name="文本框 82962"/>
          <p:cNvSpPr txBox="1"/>
          <p:nvPr/>
        </p:nvSpPr>
        <p:spPr>
          <a:xfrm>
            <a:off x="2879725" y="2476500"/>
            <a:ext cx="641350" cy="366713"/>
          </a:xfrm>
          <a:prstGeom prst="rect">
            <a:avLst/>
          </a:prstGeom>
          <a:noFill/>
          <a:ln w="9525">
            <a:noFill/>
          </a:ln>
        </p:spPr>
        <p:txBody>
          <a:bodyPr wrap="none" anchor="t">
            <a:spAutoFit/>
          </a:bodyPr>
          <a:lstStyle/>
          <a:p>
            <a:pPr algn="r" eaLnBrk="0" hangingPunct="0"/>
            <a:r>
              <a:rPr lang="zh-CN" altLang="en-US" b="1" dirty="0">
                <a:solidFill>
                  <a:srgbClr val="0000FF"/>
                </a:solidFill>
                <a:latin typeface="Lucida Sans Unicode" panose="020B0602030504020204" pitchFamily="34" charset="0"/>
                <a:ea typeface="楷体_GB2312" pitchFamily="49" charset="-122"/>
              </a:rPr>
              <a:t>分子</a:t>
            </a:r>
          </a:p>
        </p:txBody>
      </p:sp>
      <p:sp>
        <p:nvSpPr>
          <p:cNvPr id="7180" name="文本框 82964"/>
          <p:cNvSpPr txBox="1"/>
          <p:nvPr/>
        </p:nvSpPr>
        <p:spPr>
          <a:xfrm>
            <a:off x="3684588" y="2479675"/>
            <a:ext cx="869950" cy="366713"/>
          </a:xfrm>
          <a:prstGeom prst="rect">
            <a:avLst/>
          </a:prstGeom>
          <a:noFill/>
          <a:ln w="9525">
            <a:noFill/>
          </a:ln>
        </p:spPr>
        <p:txBody>
          <a:bodyPr wrap="none" anchor="t">
            <a:spAutoFit/>
          </a:bodyPr>
          <a:lstStyle/>
          <a:p>
            <a:pPr algn="r" eaLnBrk="0" hangingPunct="0"/>
            <a:r>
              <a:rPr lang="zh-CN" altLang="en-US" b="1" dirty="0">
                <a:solidFill>
                  <a:srgbClr val="0000FF"/>
                </a:solidFill>
                <a:latin typeface="Lucida Sans Unicode" panose="020B0602030504020204" pitchFamily="34" charset="0"/>
                <a:ea typeface="楷体_GB2312" pitchFamily="49" charset="-122"/>
              </a:rPr>
              <a:t>大分子</a:t>
            </a:r>
          </a:p>
        </p:txBody>
      </p:sp>
      <p:sp>
        <p:nvSpPr>
          <p:cNvPr id="7181" name="直接连接符 82965"/>
          <p:cNvSpPr/>
          <p:nvPr/>
        </p:nvSpPr>
        <p:spPr>
          <a:xfrm flipV="1">
            <a:off x="4543425" y="2649538"/>
            <a:ext cx="285750" cy="9525"/>
          </a:xfrm>
          <a:prstGeom prst="line">
            <a:avLst/>
          </a:prstGeom>
          <a:ln w="12700" cap="flat" cmpd="sng">
            <a:solidFill>
              <a:schemeClr val="bg2"/>
            </a:solidFill>
            <a:prstDash val="solid"/>
            <a:round/>
            <a:headEnd type="none" w="med" len="med"/>
            <a:tailEnd type="triangle" w="med" len="med"/>
          </a:ln>
        </p:spPr>
      </p:sp>
      <p:sp>
        <p:nvSpPr>
          <p:cNvPr id="7182" name="文本框 82966"/>
          <p:cNvSpPr txBox="1"/>
          <p:nvPr/>
        </p:nvSpPr>
        <p:spPr>
          <a:xfrm>
            <a:off x="4686300" y="2503488"/>
            <a:ext cx="692150" cy="366712"/>
          </a:xfrm>
          <a:prstGeom prst="rect">
            <a:avLst/>
          </a:prstGeom>
          <a:noFill/>
          <a:ln w="9525">
            <a:noFill/>
          </a:ln>
        </p:spPr>
        <p:txBody>
          <a:bodyPr anchor="t">
            <a:spAutoFit/>
          </a:bodyPr>
          <a:lstStyle/>
          <a:p>
            <a:pPr algn="r" eaLnBrk="0" hangingPunct="0"/>
            <a:r>
              <a:rPr lang="zh-CN" altLang="en-US" b="1" dirty="0">
                <a:solidFill>
                  <a:srgbClr val="0000FF"/>
                </a:solidFill>
                <a:latin typeface="Lucida Sans Unicode" panose="020B0602030504020204" pitchFamily="34" charset="0"/>
                <a:ea typeface="楷体_GB2312" pitchFamily="49" charset="-122"/>
              </a:rPr>
              <a:t>细胞</a:t>
            </a:r>
          </a:p>
        </p:txBody>
      </p:sp>
      <p:sp>
        <p:nvSpPr>
          <p:cNvPr id="7183" name="直接连接符 82967"/>
          <p:cNvSpPr/>
          <p:nvPr/>
        </p:nvSpPr>
        <p:spPr>
          <a:xfrm>
            <a:off x="5378450" y="2674938"/>
            <a:ext cx="217488" cy="0"/>
          </a:xfrm>
          <a:prstGeom prst="line">
            <a:avLst/>
          </a:prstGeom>
          <a:ln w="12700" cap="flat" cmpd="sng">
            <a:solidFill>
              <a:schemeClr val="bg2"/>
            </a:solidFill>
            <a:prstDash val="solid"/>
            <a:round/>
            <a:headEnd type="none" w="med" len="med"/>
            <a:tailEnd type="triangle" w="med" len="med"/>
          </a:ln>
        </p:spPr>
      </p:sp>
      <p:sp>
        <p:nvSpPr>
          <p:cNvPr id="7184" name="直接连接符 82968"/>
          <p:cNvSpPr/>
          <p:nvPr/>
        </p:nvSpPr>
        <p:spPr>
          <a:xfrm>
            <a:off x="6343650" y="2659063"/>
            <a:ext cx="327025" cy="0"/>
          </a:xfrm>
          <a:prstGeom prst="line">
            <a:avLst/>
          </a:prstGeom>
          <a:ln w="12700" cap="flat" cmpd="sng">
            <a:solidFill>
              <a:schemeClr val="bg2"/>
            </a:solidFill>
            <a:prstDash val="solid"/>
            <a:round/>
            <a:headEnd type="none" w="med" len="med"/>
            <a:tailEnd type="triangle" w="med" len="med"/>
          </a:ln>
        </p:spPr>
      </p:sp>
      <p:sp>
        <p:nvSpPr>
          <p:cNvPr id="7185" name="文本框 82969"/>
          <p:cNvSpPr txBox="1"/>
          <p:nvPr/>
        </p:nvSpPr>
        <p:spPr>
          <a:xfrm>
            <a:off x="5651500" y="2503488"/>
            <a:ext cx="692150" cy="366712"/>
          </a:xfrm>
          <a:prstGeom prst="rect">
            <a:avLst/>
          </a:prstGeom>
          <a:noFill/>
          <a:ln w="9525">
            <a:noFill/>
          </a:ln>
        </p:spPr>
        <p:txBody>
          <a:bodyPr anchor="t">
            <a:spAutoFit/>
          </a:bodyPr>
          <a:lstStyle/>
          <a:p>
            <a:pPr algn="r" eaLnBrk="0" hangingPunct="0"/>
            <a:r>
              <a:rPr lang="zh-CN" altLang="en-US" b="1" dirty="0">
                <a:solidFill>
                  <a:srgbClr val="0000FF"/>
                </a:solidFill>
                <a:latin typeface="Lucida Sans Unicode" panose="020B0602030504020204" pitchFamily="34" charset="0"/>
                <a:ea typeface="楷体_GB2312" pitchFamily="49" charset="-122"/>
              </a:rPr>
              <a:t>组织</a:t>
            </a:r>
          </a:p>
        </p:txBody>
      </p:sp>
      <p:sp>
        <p:nvSpPr>
          <p:cNvPr id="7186" name="文本框 82970"/>
          <p:cNvSpPr txBox="1"/>
          <p:nvPr/>
        </p:nvSpPr>
        <p:spPr>
          <a:xfrm>
            <a:off x="6734175" y="2503488"/>
            <a:ext cx="692150" cy="366712"/>
          </a:xfrm>
          <a:prstGeom prst="rect">
            <a:avLst/>
          </a:prstGeom>
          <a:noFill/>
          <a:ln w="9525">
            <a:noFill/>
          </a:ln>
        </p:spPr>
        <p:txBody>
          <a:bodyPr anchor="t">
            <a:spAutoFit/>
          </a:bodyPr>
          <a:lstStyle/>
          <a:p>
            <a:pPr algn="r" eaLnBrk="0" hangingPunct="0"/>
            <a:r>
              <a:rPr lang="zh-CN" altLang="en-US" b="1" dirty="0">
                <a:solidFill>
                  <a:srgbClr val="0000FF"/>
                </a:solidFill>
                <a:latin typeface="Lucida Sans Unicode" panose="020B0602030504020204" pitchFamily="34" charset="0"/>
                <a:ea typeface="楷体_GB2312" pitchFamily="49" charset="-122"/>
              </a:rPr>
              <a:t>器官</a:t>
            </a:r>
          </a:p>
        </p:txBody>
      </p:sp>
      <p:sp>
        <p:nvSpPr>
          <p:cNvPr id="7187" name="直接连接符 82971"/>
          <p:cNvSpPr/>
          <p:nvPr/>
        </p:nvSpPr>
        <p:spPr>
          <a:xfrm>
            <a:off x="7426325" y="2668588"/>
            <a:ext cx="327025" cy="0"/>
          </a:xfrm>
          <a:prstGeom prst="line">
            <a:avLst/>
          </a:prstGeom>
          <a:ln w="12700" cap="flat" cmpd="sng">
            <a:solidFill>
              <a:schemeClr val="bg2"/>
            </a:solidFill>
            <a:prstDash val="solid"/>
            <a:round/>
            <a:headEnd type="none" w="med" len="med"/>
            <a:tailEnd type="triangle" w="med" len="med"/>
          </a:ln>
        </p:spPr>
      </p:sp>
      <p:sp>
        <p:nvSpPr>
          <p:cNvPr id="7188" name="文本框 82972"/>
          <p:cNvSpPr txBox="1"/>
          <p:nvPr/>
        </p:nvSpPr>
        <p:spPr>
          <a:xfrm>
            <a:off x="7707313" y="2503488"/>
            <a:ext cx="1100137" cy="366712"/>
          </a:xfrm>
          <a:prstGeom prst="rect">
            <a:avLst/>
          </a:prstGeom>
          <a:noFill/>
          <a:ln w="9525">
            <a:noFill/>
          </a:ln>
        </p:spPr>
        <p:txBody>
          <a:bodyPr anchor="t">
            <a:spAutoFit/>
          </a:bodyPr>
          <a:lstStyle/>
          <a:p>
            <a:pPr algn="r" eaLnBrk="0" hangingPunct="0"/>
            <a:r>
              <a:rPr lang="zh-CN" altLang="en-US" b="1" dirty="0">
                <a:solidFill>
                  <a:srgbClr val="0000FF"/>
                </a:solidFill>
                <a:latin typeface="Lucida Sans Unicode" panose="020B0602030504020204" pitchFamily="34" charset="0"/>
                <a:ea typeface="楷体_GB2312" pitchFamily="49" charset="-122"/>
              </a:rPr>
              <a:t>生命个体</a:t>
            </a:r>
          </a:p>
        </p:txBody>
      </p:sp>
      <p:sp>
        <p:nvSpPr>
          <p:cNvPr id="7189" name="直接连接符 82973"/>
          <p:cNvSpPr/>
          <p:nvPr/>
        </p:nvSpPr>
        <p:spPr>
          <a:xfrm>
            <a:off x="3521075" y="2690813"/>
            <a:ext cx="268288" cy="0"/>
          </a:xfrm>
          <a:prstGeom prst="line">
            <a:avLst/>
          </a:prstGeom>
          <a:ln w="12700" cap="flat" cmpd="sng">
            <a:solidFill>
              <a:schemeClr val="bg2"/>
            </a:solidFill>
            <a:prstDash val="solid"/>
            <a:round/>
            <a:headEnd type="none" w="med" len="med"/>
            <a:tailEnd type="triangle" w="med" len="med"/>
          </a:ln>
        </p:spPr>
      </p:sp>
      <p:sp>
        <p:nvSpPr>
          <p:cNvPr id="7190" name="直接连接符 82974"/>
          <p:cNvSpPr/>
          <p:nvPr/>
        </p:nvSpPr>
        <p:spPr>
          <a:xfrm>
            <a:off x="379413" y="3081338"/>
            <a:ext cx="0" cy="600075"/>
          </a:xfrm>
          <a:prstGeom prst="line">
            <a:avLst/>
          </a:prstGeom>
          <a:ln w="12700" cap="flat" cmpd="sng">
            <a:solidFill>
              <a:schemeClr val="bg2"/>
            </a:solidFill>
            <a:prstDash val="solid"/>
            <a:round/>
            <a:headEnd type="none" w="med" len="med"/>
            <a:tailEnd type="none" w="med" len="med"/>
          </a:ln>
        </p:spPr>
      </p:sp>
      <p:sp>
        <p:nvSpPr>
          <p:cNvPr id="7191" name="文本框 82977"/>
          <p:cNvSpPr txBox="1"/>
          <p:nvPr/>
        </p:nvSpPr>
        <p:spPr>
          <a:xfrm rot="-10800000" flipV="1">
            <a:off x="2039938" y="3513138"/>
            <a:ext cx="590550" cy="641350"/>
          </a:xfrm>
          <a:prstGeom prst="rect">
            <a:avLst/>
          </a:prstGeom>
          <a:noFill/>
          <a:ln w="9525">
            <a:noFill/>
          </a:ln>
        </p:spPr>
        <p:txBody>
          <a:bodyPr anchor="t">
            <a:spAutoFit/>
          </a:bodyPr>
          <a:lstStyle/>
          <a:p>
            <a:pPr algn="r" eaLnBrk="0" hangingPunct="0"/>
            <a:r>
              <a:rPr lang="zh-CN" altLang="en-US" b="1" dirty="0">
                <a:solidFill>
                  <a:srgbClr val="0000FF"/>
                </a:solidFill>
                <a:latin typeface="Lucida Sans Unicode" panose="020B0602030504020204" pitchFamily="34" charset="0"/>
                <a:ea typeface="楷体_GB2312" pitchFamily="49" charset="-122"/>
              </a:rPr>
              <a:t>化学</a:t>
            </a:r>
          </a:p>
        </p:txBody>
      </p:sp>
      <p:sp>
        <p:nvSpPr>
          <p:cNvPr id="7192" name="直接连接符 82979"/>
          <p:cNvSpPr/>
          <p:nvPr/>
        </p:nvSpPr>
        <p:spPr>
          <a:xfrm>
            <a:off x="379413" y="3681413"/>
            <a:ext cx="1662112" cy="0"/>
          </a:xfrm>
          <a:prstGeom prst="line">
            <a:avLst/>
          </a:prstGeom>
          <a:ln w="12700" cap="flat" cmpd="sng">
            <a:solidFill>
              <a:schemeClr val="bg2"/>
            </a:solidFill>
            <a:prstDash val="solid"/>
            <a:round/>
            <a:headEnd type="none" w="med" len="med"/>
            <a:tailEnd type="triangle" w="med" len="med"/>
          </a:ln>
        </p:spPr>
      </p:sp>
      <p:sp>
        <p:nvSpPr>
          <p:cNvPr id="7193" name="直接连接符 82980"/>
          <p:cNvSpPr/>
          <p:nvPr/>
        </p:nvSpPr>
        <p:spPr>
          <a:xfrm>
            <a:off x="4195763" y="3081338"/>
            <a:ext cx="0" cy="600075"/>
          </a:xfrm>
          <a:prstGeom prst="line">
            <a:avLst/>
          </a:prstGeom>
          <a:ln w="12700" cap="flat" cmpd="sng">
            <a:solidFill>
              <a:schemeClr val="bg2"/>
            </a:solidFill>
            <a:prstDash val="solid"/>
            <a:round/>
            <a:headEnd type="none" w="med" len="med"/>
            <a:tailEnd type="none" w="med" len="med"/>
          </a:ln>
        </p:spPr>
      </p:sp>
      <p:sp>
        <p:nvSpPr>
          <p:cNvPr id="7194" name="直接连接符 82981"/>
          <p:cNvSpPr/>
          <p:nvPr/>
        </p:nvSpPr>
        <p:spPr>
          <a:xfrm>
            <a:off x="2632075" y="3681413"/>
            <a:ext cx="3508375" cy="0"/>
          </a:xfrm>
          <a:prstGeom prst="line">
            <a:avLst/>
          </a:prstGeom>
          <a:ln w="9525">
            <a:noFill/>
          </a:ln>
        </p:spPr>
      </p:sp>
      <p:sp>
        <p:nvSpPr>
          <p:cNvPr id="7195" name="直接连接符 82982"/>
          <p:cNvSpPr/>
          <p:nvPr/>
        </p:nvSpPr>
        <p:spPr>
          <a:xfrm>
            <a:off x="2632075" y="3681413"/>
            <a:ext cx="3363913" cy="0"/>
          </a:xfrm>
          <a:prstGeom prst="line">
            <a:avLst/>
          </a:prstGeom>
          <a:ln w="12700" cap="flat" cmpd="sng">
            <a:solidFill>
              <a:schemeClr val="bg2"/>
            </a:solidFill>
            <a:prstDash val="solid"/>
            <a:round/>
            <a:headEnd type="triangle" w="med" len="med"/>
            <a:tailEnd type="triangle" w="med" len="med"/>
          </a:ln>
        </p:spPr>
      </p:sp>
      <p:sp>
        <p:nvSpPr>
          <p:cNvPr id="7196" name="直接连接符 82983"/>
          <p:cNvSpPr/>
          <p:nvPr/>
        </p:nvSpPr>
        <p:spPr>
          <a:xfrm>
            <a:off x="8258175" y="3081338"/>
            <a:ext cx="0" cy="600075"/>
          </a:xfrm>
          <a:prstGeom prst="line">
            <a:avLst/>
          </a:prstGeom>
          <a:ln w="12700" cap="flat" cmpd="sng">
            <a:solidFill>
              <a:schemeClr val="bg2"/>
            </a:solidFill>
            <a:prstDash val="solid"/>
            <a:round/>
            <a:headEnd type="none" w="med" len="med"/>
            <a:tailEnd type="none" w="med" len="med"/>
          </a:ln>
        </p:spPr>
      </p:sp>
      <p:sp>
        <p:nvSpPr>
          <p:cNvPr id="7197" name="直接连接符 82984"/>
          <p:cNvSpPr/>
          <p:nvPr/>
        </p:nvSpPr>
        <p:spPr>
          <a:xfrm>
            <a:off x="6946900" y="3681413"/>
            <a:ext cx="1311275" cy="0"/>
          </a:xfrm>
          <a:prstGeom prst="line">
            <a:avLst/>
          </a:prstGeom>
          <a:ln w="12700" cap="flat" cmpd="sng">
            <a:solidFill>
              <a:schemeClr val="bg2"/>
            </a:solidFill>
            <a:prstDash val="solid"/>
            <a:round/>
            <a:headEnd type="triangle" w="med" len="med"/>
            <a:tailEnd type="none" w="med" len="med"/>
          </a:ln>
        </p:spPr>
      </p:sp>
      <p:sp>
        <p:nvSpPr>
          <p:cNvPr id="7198" name="文本框 82986"/>
          <p:cNvSpPr txBox="1"/>
          <p:nvPr/>
        </p:nvSpPr>
        <p:spPr>
          <a:xfrm rot="-10800000" flipV="1">
            <a:off x="6140450" y="3556000"/>
            <a:ext cx="808038" cy="641350"/>
          </a:xfrm>
          <a:prstGeom prst="rect">
            <a:avLst/>
          </a:prstGeom>
          <a:noFill/>
          <a:ln w="9525">
            <a:noFill/>
          </a:ln>
        </p:spPr>
        <p:txBody>
          <a:bodyPr anchor="t">
            <a:spAutoFit/>
          </a:bodyPr>
          <a:lstStyle/>
          <a:p>
            <a:pPr algn="r" eaLnBrk="0" hangingPunct="0"/>
            <a:r>
              <a:rPr lang="zh-CN" altLang="en-US" b="1" dirty="0">
                <a:solidFill>
                  <a:srgbClr val="0000FF"/>
                </a:solidFill>
                <a:latin typeface="Lucida Sans Unicode" panose="020B0602030504020204" pitchFamily="34" charset="0"/>
                <a:ea typeface="楷体_GB2312" pitchFamily="49" charset="-122"/>
              </a:rPr>
              <a:t>生物学</a:t>
            </a:r>
          </a:p>
        </p:txBody>
      </p:sp>
      <p:sp>
        <p:nvSpPr>
          <p:cNvPr id="7199" name="矩形 82987"/>
          <p:cNvSpPr/>
          <p:nvPr/>
        </p:nvSpPr>
        <p:spPr>
          <a:xfrm>
            <a:off x="690563" y="4721225"/>
            <a:ext cx="7008812" cy="714375"/>
          </a:xfrm>
          <a:prstGeom prst="rect">
            <a:avLst/>
          </a:prstGeom>
          <a:solidFill>
            <a:srgbClr val="E892DC"/>
          </a:solidFill>
          <a:ln w="12700" cap="flat" cmpd="sng">
            <a:solidFill>
              <a:schemeClr val="bg2"/>
            </a:solidFill>
            <a:prstDash val="solid"/>
            <a:miter/>
            <a:headEnd type="none" w="med" len="med"/>
            <a:tailEnd type="none" w="med" len="med"/>
          </a:ln>
        </p:spPr>
        <p:txBody>
          <a:bodyPr anchor="ctr">
            <a:spAutoFit/>
          </a:bodyPr>
          <a:lstStyle/>
          <a:p>
            <a:pPr algn="ctr" eaLnBrk="0" hangingPunct="0"/>
            <a:r>
              <a:rPr lang="zh-CN" altLang="en-US" sz="2000" b="1" dirty="0">
                <a:solidFill>
                  <a:srgbClr val="0000FF"/>
                </a:solidFill>
                <a:latin typeface="Lucida Sans Unicode" panose="020B0602030504020204" pitchFamily="34" charset="0"/>
                <a:ea typeface="楷体_GB2312" pitchFamily="49" charset="-122"/>
              </a:rPr>
              <a:t>生命共同的分子基础主要有：糖、脂、蛋白质（氨基酸、              肽）、酶、核酸、维生素、无机盐（矿物元素）、水等。</a:t>
            </a:r>
          </a:p>
        </p:txBody>
      </p:sp>
      <p:sp>
        <p:nvSpPr>
          <p:cNvPr id="7200" name="灯片编号占位符 1"/>
          <p:cNvSpPr>
            <a:spLocks noGrp="1"/>
          </p:cNvSpPr>
          <p:nvPr>
            <p:ph type="sldNum" sz="quarter" idx="11"/>
          </p:nvPr>
        </p:nvSpPr>
        <p:spPr>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400" dirty="0"/>
              <a:pPr lvl="0" indent="0" algn="r"/>
              <a:t>5</a:t>
            </a:fld>
            <a:endParaRPr lang="zh-CN" altLang="en-US" sz="14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9" name="文本框 398338"/>
          <p:cNvSpPr txBox="1"/>
          <p:nvPr/>
        </p:nvSpPr>
        <p:spPr>
          <a:xfrm>
            <a:off x="684213" y="1417638"/>
            <a:ext cx="7772400" cy="4621212"/>
          </a:xfrm>
          <a:prstGeom prst="rect">
            <a:avLst/>
          </a:prstGeom>
          <a:noFill/>
          <a:ln w="9525">
            <a:noFill/>
          </a:ln>
        </p:spPr>
        <p:txBody>
          <a:bodyPr anchor="t">
            <a:spAutoFit/>
          </a:bodyPr>
          <a:lstStyle/>
          <a:p>
            <a:pPr>
              <a:spcBef>
                <a:spcPct val="20000"/>
              </a:spcBef>
              <a:buClr>
                <a:schemeClr val="bg1"/>
              </a:buClr>
            </a:pPr>
            <a:r>
              <a:rPr lang="en-US" altLang="zh-CN" sz="2800" b="1">
                <a:latin typeface="Times New Roman" panose="02020603050405020304" pitchFamily="18" charset="0"/>
              </a:rPr>
              <a:t>1 </a:t>
            </a:r>
            <a:r>
              <a:rPr lang="zh-CN" altLang="en-US" sz="2800" b="1" dirty="0">
                <a:solidFill>
                  <a:srgbClr val="0000FF"/>
                </a:solidFill>
                <a:latin typeface="Times New Roman" panose="02020603050405020304" pitchFamily="18" charset="0"/>
              </a:rPr>
              <a:t>调节功能</a:t>
            </a:r>
            <a:r>
              <a:rPr lang="en-US" altLang="zh-CN" sz="2800" b="1">
                <a:latin typeface="Times New Roman" panose="02020603050405020304" pitchFamily="18" charset="0"/>
              </a:rPr>
              <a:t>----</a:t>
            </a:r>
            <a:r>
              <a:rPr lang="zh-CN" altLang="en-US" sz="2800" b="1" dirty="0">
                <a:latin typeface="Times New Roman" panose="02020603050405020304" pitchFamily="18" charset="0"/>
              </a:rPr>
              <a:t>如胰岛素调节糖的代谢</a:t>
            </a:r>
          </a:p>
          <a:p>
            <a:pPr>
              <a:spcBef>
                <a:spcPct val="20000"/>
              </a:spcBef>
              <a:buClr>
                <a:schemeClr val="bg1"/>
              </a:buClr>
            </a:pPr>
            <a:r>
              <a:rPr lang="en-US" altLang="zh-CN" sz="2800" b="1">
                <a:latin typeface="Times New Roman" panose="02020603050405020304" pitchFamily="18" charset="0"/>
              </a:rPr>
              <a:t>2 </a:t>
            </a:r>
            <a:r>
              <a:rPr lang="zh-CN" altLang="en-US" sz="2800" b="1" dirty="0">
                <a:solidFill>
                  <a:srgbClr val="0000FF"/>
                </a:solidFill>
                <a:latin typeface="Times New Roman" panose="02020603050405020304" pitchFamily="18" charset="0"/>
              </a:rPr>
              <a:t>催化功能</a:t>
            </a:r>
            <a:r>
              <a:rPr lang="en-US" altLang="zh-CN" sz="2800" b="1">
                <a:latin typeface="Times New Roman" panose="02020603050405020304" pitchFamily="18" charset="0"/>
              </a:rPr>
              <a:t>----</a:t>
            </a:r>
            <a:r>
              <a:rPr lang="zh-CN" altLang="en-US" sz="2800" b="1" dirty="0">
                <a:latin typeface="Times New Roman" panose="02020603050405020304" pitchFamily="18" charset="0"/>
              </a:rPr>
              <a:t>如淀粉酶、胃蛋白酶的催化作用</a:t>
            </a:r>
          </a:p>
          <a:p>
            <a:pPr>
              <a:spcBef>
                <a:spcPct val="20000"/>
              </a:spcBef>
              <a:buClr>
                <a:schemeClr val="bg1"/>
              </a:buClr>
            </a:pPr>
            <a:r>
              <a:rPr lang="en-US" altLang="zh-CN" sz="2800" b="1">
                <a:latin typeface="Times New Roman" panose="02020603050405020304" pitchFamily="18" charset="0"/>
              </a:rPr>
              <a:t>3 </a:t>
            </a:r>
            <a:r>
              <a:rPr lang="zh-CN" altLang="en-US" sz="2800" b="1" dirty="0">
                <a:solidFill>
                  <a:srgbClr val="0000FF"/>
                </a:solidFill>
                <a:latin typeface="Times New Roman" panose="02020603050405020304" pitchFamily="18" charset="0"/>
              </a:rPr>
              <a:t>运输功能</a:t>
            </a:r>
            <a:r>
              <a:rPr lang="en-US" altLang="zh-CN" sz="2800" b="1">
                <a:latin typeface="Times New Roman" panose="02020603050405020304" pitchFamily="18" charset="0"/>
              </a:rPr>
              <a:t>----</a:t>
            </a:r>
            <a:r>
              <a:rPr lang="zh-CN" altLang="en-US" sz="2800" b="1" dirty="0">
                <a:latin typeface="Times New Roman" panose="02020603050405020304" pitchFamily="18" charset="0"/>
              </a:rPr>
              <a:t>如血红蛋白输送氧</a:t>
            </a:r>
          </a:p>
          <a:p>
            <a:pPr>
              <a:spcBef>
                <a:spcPct val="20000"/>
              </a:spcBef>
              <a:buClr>
                <a:schemeClr val="bg1"/>
              </a:buClr>
            </a:pPr>
            <a:r>
              <a:rPr lang="en-US" altLang="zh-CN" sz="2800" b="1">
                <a:latin typeface="Times New Roman" panose="02020603050405020304" pitchFamily="18" charset="0"/>
              </a:rPr>
              <a:t>4 </a:t>
            </a:r>
            <a:r>
              <a:rPr lang="zh-CN" altLang="en-US" sz="2800" b="1" dirty="0">
                <a:solidFill>
                  <a:srgbClr val="0000FF"/>
                </a:solidFill>
                <a:latin typeface="Times New Roman" panose="02020603050405020304" pitchFamily="18" charset="0"/>
              </a:rPr>
              <a:t>传递功能</a:t>
            </a:r>
            <a:r>
              <a:rPr lang="en-US" altLang="zh-CN" sz="2800" b="1">
                <a:latin typeface="Times New Roman" panose="02020603050405020304" pitchFamily="18" charset="0"/>
              </a:rPr>
              <a:t>----</a:t>
            </a:r>
            <a:r>
              <a:rPr lang="zh-CN" altLang="en-US" sz="2800" b="1" dirty="0">
                <a:latin typeface="Times New Roman" panose="02020603050405020304" pitchFamily="18" charset="0"/>
              </a:rPr>
              <a:t>如叶绿素传递能量</a:t>
            </a:r>
            <a:r>
              <a:rPr lang="en-US" altLang="zh-CN" sz="2800" b="1">
                <a:latin typeface="Times New Roman" panose="02020603050405020304" pitchFamily="18" charset="0"/>
              </a:rPr>
              <a:t>---</a:t>
            </a:r>
            <a:r>
              <a:rPr lang="zh-CN" altLang="en-US" sz="2800" b="1" dirty="0">
                <a:latin typeface="Times New Roman" panose="02020603050405020304" pitchFamily="18" charset="0"/>
              </a:rPr>
              <a:t>光合作用</a:t>
            </a:r>
          </a:p>
          <a:p>
            <a:pPr>
              <a:spcBef>
                <a:spcPct val="20000"/>
              </a:spcBef>
              <a:buClr>
                <a:schemeClr val="bg1"/>
              </a:buClr>
            </a:pPr>
            <a:r>
              <a:rPr lang="en-US" altLang="zh-CN" sz="2800" b="1">
                <a:latin typeface="Times New Roman" panose="02020603050405020304" pitchFamily="18" charset="0"/>
              </a:rPr>
              <a:t>5 </a:t>
            </a:r>
            <a:r>
              <a:rPr lang="zh-CN" altLang="en-US" sz="2800" b="1" dirty="0">
                <a:solidFill>
                  <a:srgbClr val="0000FF"/>
                </a:solidFill>
                <a:latin typeface="Times New Roman" panose="02020603050405020304" pitchFamily="18" charset="0"/>
              </a:rPr>
              <a:t>运动功能</a:t>
            </a:r>
            <a:r>
              <a:rPr lang="en-US" altLang="zh-CN" sz="2800" b="1">
                <a:latin typeface="Times New Roman" panose="02020603050405020304" pitchFamily="18" charset="0"/>
              </a:rPr>
              <a:t>----</a:t>
            </a:r>
            <a:r>
              <a:rPr lang="zh-CN" altLang="en-US" sz="2800" b="1" dirty="0">
                <a:latin typeface="Times New Roman" panose="02020603050405020304" pitchFamily="18" charset="0"/>
              </a:rPr>
              <a:t>如肌肉的收缩</a:t>
            </a:r>
          </a:p>
          <a:p>
            <a:pPr>
              <a:spcBef>
                <a:spcPct val="20000"/>
              </a:spcBef>
              <a:buClr>
                <a:schemeClr val="bg1"/>
              </a:buClr>
            </a:pPr>
            <a:r>
              <a:rPr lang="en-US" altLang="zh-CN" sz="2800" b="1">
                <a:latin typeface="Times New Roman" panose="02020603050405020304" pitchFamily="18" charset="0"/>
              </a:rPr>
              <a:t>6 </a:t>
            </a:r>
            <a:r>
              <a:rPr lang="zh-CN" altLang="en-US" sz="2800" b="1" dirty="0">
                <a:solidFill>
                  <a:srgbClr val="0000FF"/>
                </a:solidFill>
                <a:latin typeface="Times New Roman" panose="02020603050405020304" pitchFamily="18" charset="0"/>
              </a:rPr>
              <a:t>免疫功能</a:t>
            </a:r>
            <a:r>
              <a:rPr lang="en-US" altLang="zh-CN" sz="2800" b="1">
                <a:latin typeface="Times New Roman" panose="02020603050405020304" pitchFamily="18" charset="0"/>
              </a:rPr>
              <a:t>----</a:t>
            </a:r>
            <a:r>
              <a:rPr lang="zh-CN" altLang="en-US" sz="2800" b="1" dirty="0">
                <a:latin typeface="Times New Roman" panose="02020603050405020304" pitchFamily="18" charset="0"/>
              </a:rPr>
              <a:t>如免疫球胆白</a:t>
            </a:r>
          </a:p>
          <a:p>
            <a:pPr>
              <a:spcBef>
                <a:spcPct val="20000"/>
              </a:spcBef>
              <a:buClr>
                <a:schemeClr val="bg1"/>
              </a:buClr>
            </a:pPr>
            <a:r>
              <a:rPr lang="en-US" altLang="zh-CN" sz="2800" b="1">
                <a:latin typeface="Times New Roman" panose="02020603050405020304" pitchFamily="18" charset="0"/>
              </a:rPr>
              <a:t>7 </a:t>
            </a:r>
            <a:r>
              <a:rPr lang="zh-CN" altLang="en-US" sz="2800" b="1" dirty="0">
                <a:solidFill>
                  <a:srgbClr val="0000FF"/>
                </a:solidFill>
                <a:latin typeface="Times New Roman" panose="02020603050405020304" pitchFamily="18" charset="0"/>
              </a:rPr>
              <a:t>保护功能</a:t>
            </a:r>
            <a:r>
              <a:rPr lang="en-US" altLang="zh-CN" sz="2800" b="1">
                <a:latin typeface="Times New Roman" panose="02020603050405020304" pitchFamily="18" charset="0"/>
              </a:rPr>
              <a:t>----</a:t>
            </a:r>
            <a:r>
              <a:rPr lang="zh-CN" altLang="en-US" sz="2800" b="1" dirty="0">
                <a:latin typeface="Times New Roman" panose="02020603050405020304" pitchFamily="18" charset="0"/>
              </a:rPr>
              <a:t>如指甲、头发、蹄角等</a:t>
            </a:r>
          </a:p>
          <a:p>
            <a:pPr>
              <a:spcBef>
                <a:spcPct val="20000"/>
              </a:spcBef>
              <a:buClr>
                <a:schemeClr val="bg1"/>
              </a:buClr>
            </a:pPr>
            <a:r>
              <a:rPr lang="en-US" altLang="zh-CN" sz="2800" b="1">
                <a:latin typeface="Times New Roman" panose="02020603050405020304" pitchFamily="18" charset="0"/>
              </a:rPr>
              <a:t>8 </a:t>
            </a:r>
            <a:r>
              <a:rPr lang="zh-CN" altLang="en-US" sz="2800" b="1" dirty="0">
                <a:solidFill>
                  <a:srgbClr val="0000FF"/>
                </a:solidFill>
                <a:latin typeface="Times New Roman" panose="02020603050405020304" pitchFamily="18" charset="0"/>
              </a:rPr>
              <a:t>致病功能</a:t>
            </a:r>
            <a:r>
              <a:rPr lang="en-US" altLang="zh-CN" sz="2800" b="1">
                <a:latin typeface="Times New Roman" panose="02020603050405020304" pitchFamily="18" charset="0"/>
              </a:rPr>
              <a:t>----</a:t>
            </a:r>
            <a:r>
              <a:rPr lang="zh-CN" altLang="en-US" sz="2800" b="1" dirty="0">
                <a:latin typeface="Times New Roman" panose="02020603050405020304" pitchFamily="18" charset="0"/>
              </a:rPr>
              <a:t>如病毒蛋白质可致病</a:t>
            </a:r>
          </a:p>
          <a:p>
            <a:pPr>
              <a:spcBef>
                <a:spcPct val="20000"/>
              </a:spcBef>
              <a:buClr>
                <a:schemeClr val="bg1"/>
              </a:buClr>
            </a:pPr>
            <a:r>
              <a:rPr lang="en-US" altLang="zh-CN" sz="2800" b="1">
                <a:latin typeface="Times New Roman" panose="02020603050405020304" pitchFamily="18" charset="0"/>
              </a:rPr>
              <a:t>9 </a:t>
            </a:r>
            <a:r>
              <a:rPr lang="zh-CN" altLang="en-US" sz="2800" b="1" dirty="0">
                <a:solidFill>
                  <a:srgbClr val="0000FF"/>
                </a:solidFill>
                <a:latin typeface="Times New Roman" panose="02020603050405020304" pitchFamily="18" charset="0"/>
              </a:rPr>
              <a:t>毒害功能</a:t>
            </a:r>
            <a:r>
              <a:rPr lang="en-US" altLang="zh-CN" sz="2800" b="1">
                <a:latin typeface="Times New Roman" panose="02020603050405020304" pitchFamily="18" charset="0"/>
              </a:rPr>
              <a:t>----</a:t>
            </a:r>
            <a:r>
              <a:rPr lang="zh-CN" altLang="en-US" sz="2800" b="1" dirty="0">
                <a:latin typeface="Times New Roman" panose="02020603050405020304" pitchFamily="18" charset="0"/>
              </a:rPr>
              <a:t>如毒蛋白等</a:t>
            </a:r>
            <a:endParaRPr lang="zh-CN" altLang="en-US" sz="2800" b="1">
              <a:latin typeface="Times New Roman" panose="02020603050405020304" pitchFamily="18" charset="0"/>
            </a:endParaRPr>
          </a:p>
        </p:txBody>
      </p:sp>
      <p:sp>
        <p:nvSpPr>
          <p:cNvPr id="8195" name="灯片编号占位符 1"/>
          <p:cNvSpPr>
            <a:spLocks noGrp="1"/>
          </p:cNvSpPr>
          <p:nvPr>
            <p:ph type="sldNum" sz="quarter" idx="11"/>
          </p:nvPr>
        </p:nvSpPr>
        <p:spPr>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400" dirty="0"/>
              <a:pPr lvl="0" indent="0" algn="r"/>
              <a:t>6</a:t>
            </a:fld>
            <a:endParaRPr lang="zh-CN" altLang="en-US" sz="1400" dirty="0"/>
          </a:p>
        </p:txBody>
      </p:sp>
      <p:sp>
        <p:nvSpPr>
          <p:cNvPr id="7170" name="Rectangle 2"/>
          <p:cNvSpPr>
            <a:spLocks noChangeArrowheads="1"/>
          </p:cNvSpPr>
          <p:nvPr/>
        </p:nvSpPr>
        <p:spPr bwMode="auto">
          <a:xfrm>
            <a:off x="0" y="418783"/>
            <a:ext cx="9144000" cy="720725"/>
          </a:xfrm>
          <a:prstGeom prst="rect">
            <a:avLst/>
          </a:prstGeom>
          <a:gradFill rotWithShape="1">
            <a:gsLst>
              <a:gs pos="0">
                <a:srgbClr val="0000FF">
                  <a:gamma/>
                  <a:shade val="46275"/>
                  <a:invGamma/>
                </a:srgbClr>
              </a:gs>
              <a:gs pos="50000">
                <a:srgbClr val="0000FF">
                  <a:alpha val="98999"/>
                </a:srgbClr>
              </a:gs>
              <a:gs pos="100000">
                <a:srgbClr val="0000FF">
                  <a:gamma/>
                  <a:shade val="46275"/>
                  <a:invGamma/>
                </a:srgbClr>
              </a:gs>
            </a:gsLst>
            <a:lin ang="5400000" scaled="1"/>
          </a:gradFill>
          <a:ln w="9525">
            <a:noFill/>
            <a:miter lim="800000"/>
          </a:ln>
        </p:spPr>
        <p:txBody>
          <a:bodyPr anchor="ctr"/>
          <a:lstStyle/>
          <a:p>
            <a:pPr marL="0" marR="0" lvl="0" indent="0" algn="ctr" defTabSz="914400" rtl="0" eaLnBrk="1" fontAlgn="base" latinLnBrk="0" hangingPunct="1">
              <a:lnSpc>
                <a:spcPct val="115000"/>
              </a:lnSpc>
              <a:spcBef>
                <a:spcPct val="0"/>
              </a:spcBef>
              <a:spcAft>
                <a:spcPct val="0"/>
              </a:spcAft>
              <a:buClrTx/>
              <a:buSzTx/>
              <a:buFont typeface="Arial" panose="020B0604020202020204" pitchFamily="34" charset="0"/>
              <a:buNone/>
              <a:defRPr/>
            </a:pPr>
            <a:r>
              <a:rPr kumimoji="0" lang="en-US" altLang="zh-CN" sz="3200" b="1" i="0" u="none" strike="noStrike" kern="1200" cap="none" spc="0" normalizeH="0" baseline="0" noProof="0">
                <a:ln>
                  <a:noFill/>
                </a:ln>
                <a:solidFill>
                  <a:schemeClr val="bg1"/>
                </a:solidFill>
                <a:effectLst/>
                <a:uLnTx/>
                <a:uFillTx/>
                <a:latin typeface="楷体_GB2312" pitchFamily="49" charset="-122"/>
                <a:ea typeface="楷体_GB2312" pitchFamily="49" charset="-122"/>
                <a:cs typeface="+mn-cs"/>
              </a:rPr>
              <a:t>§9</a:t>
            </a:r>
            <a:r>
              <a:rPr kumimoji="0" lang="en-US" altLang="zh-CN" sz="3200" b="1" i="0" u="none" strike="noStrike" kern="1200" cap="none" spc="0" normalizeH="0" baseline="0" noProof="0">
                <a:ln>
                  <a:noFill/>
                </a:ln>
                <a:solidFill>
                  <a:schemeClr val="bg1"/>
                </a:solidFill>
                <a:effectLst/>
                <a:uLnTx/>
                <a:uFillTx/>
                <a:latin typeface="Times New Roman" panose="02020603050405020304" pitchFamily="18" charset="0"/>
                <a:ea typeface="楷体_GB2312" pitchFamily="49" charset="-122"/>
                <a:cs typeface="+mn-cs"/>
              </a:rPr>
              <a:t>.1  </a:t>
            </a:r>
            <a:r>
              <a:rPr kumimoji="0" lang="zh-CN" altLang="en-US" sz="3200" b="1" i="0" u="none" strike="noStrike" kern="1200" cap="none" spc="0" normalizeH="0" baseline="0" noProof="0">
                <a:ln>
                  <a:noFill/>
                </a:ln>
                <a:solidFill>
                  <a:schemeClr val="bg1"/>
                </a:solidFill>
                <a:effectLst/>
                <a:uLnTx/>
                <a:uFillTx/>
                <a:latin typeface="Times New Roman" panose="02020603050405020304" pitchFamily="18" charset="0"/>
                <a:ea typeface="楷体_GB2312" pitchFamily="49" charset="-122"/>
                <a:cs typeface="+mn-cs"/>
              </a:rPr>
              <a:t>蛋白质与酶</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1" presetClass="entr" presetSubtype="0" fill="hold" nodeType="clickEffect">
                                  <p:stCondLst>
                                    <p:cond delay="0"/>
                                  </p:stCondLst>
                                  <p:iterate type="lt">
                                    <p:tmPct val="10000"/>
                                  </p:iterate>
                                  <p:childTnLst>
                                    <p:set>
                                      <p:cBhvr>
                                        <p:cTn id="6" dur="1" fill="hold">
                                          <p:stCondLst>
                                            <p:cond delay="0"/>
                                          </p:stCondLst>
                                        </p:cTn>
                                        <p:tgtEl>
                                          <p:spTgt spid="7170"/>
                                        </p:tgtEl>
                                        <p:attrNameLst>
                                          <p:attrName>style.visibility</p:attrName>
                                        </p:attrNameLst>
                                      </p:cBhvr>
                                      <p:to>
                                        <p:strVal val="visible"/>
                                      </p:to>
                                    </p:set>
                                    <p:anim calcmode="lin" valueType="num">
                                      <p:cBhvr>
                                        <p:cTn id="7" dur="500" fill="hold"/>
                                        <p:tgtEl>
                                          <p:spTgt spid="7170"/>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7170"/>
                                        </p:tgtEl>
                                        <p:attrNameLst>
                                          <p:attrName>ppt_y</p:attrName>
                                        </p:attrNameLst>
                                      </p:cBhvr>
                                      <p:tavLst>
                                        <p:tav tm="0">
                                          <p:val>
                                            <p:strVal val="#ppt_y"/>
                                          </p:val>
                                        </p:tav>
                                        <p:tav tm="100000">
                                          <p:val>
                                            <p:strVal val="#ppt_y"/>
                                          </p:val>
                                        </p:tav>
                                      </p:tavLst>
                                    </p:anim>
                                    <p:anim calcmode="lin" valueType="num">
                                      <p:cBhvr>
                                        <p:cTn id="9" dur="500" fill="hold"/>
                                        <p:tgtEl>
                                          <p:spTgt spid="7170"/>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7170"/>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7170"/>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398339">
                                            <p:txEl>
                                              <p:pRg st="0" end="0"/>
                                            </p:txEl>
                                          </p:spTgt>
                                        </p:tgtEl>
                                        <p:attrNameLst>
                                          <p:attrName>style.visibility</p:attrName>
                                        </p:attrNameLst>
                                      </p:cBhvr>
                                      <p:to>
                                        <p:strVal val="visible"/>
                                      </p:to>
                                    </p:set>
                                    <p:animEffect transition="in" filter="dissolve">
                                      <p:cBhvr>
                                        <p:cTn id="16" dur="500"/>
                                        <p:tgtEl>
                                          <p:spTgt spid="398339">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398339">
                                            <p:txEl>
                                              <p:pRg st="1" end="1"/>
                                            </p:txEl>
                                          </p:spTgt>
                                        </p:tgtEl>
                                        <p:attrNameLst>
                                          <p:attrName>style.visibility</p:attrName>
                                        </p:attrNameLst>
                                      </p:cBhvr>
                                      <p:to>
                                        <p:strVal val="visible"/>
                                      </p:to>
                                    </p:set>
                                    <p:animEffect transition="in" filter="dissolve">
                                      <p:cBhvr>
                                        <p:cTn id="21" dur="500"/>
                                        <p:tgtEl>
                                          <p:spTgt spid="398339">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398339">
                                            <p:txEl>
                                              <p:pRg st="2" end="2"/>
                                            </p:txEl>
                                          </p:spTgt>
                                        </p:tgtEl>
                                        <p:attrNameLst>
                                          <p:attrName>style.visibility</p:attrName>
                                        </p:attrNameLst>
                                      </p:cBhvr>
                                      <p:to>
                                        <p:strVal val="visible"/>
                                      </p:to>
                                    </p:set>
                                    <p:animEffect transition="in" filter="dissolve">
                                      <p:cBhvr>
                                        <p:cTn id="26" dur="500"/>
                                        <p:tgtEl>
                                          <p:spTgt spid="398339">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398339">
                                            <p:txEl>
                                              <p:pRg st="3" end="3"/>
                                            </p:txEl>
                                          </p:spTgt>
                                        </p:tgtEl>
                                        <p:attrNameLst>
                                          <p:attrName>style.visibility</p:attrName>
                                        </p:attrNameLst>
                                      </p:cBhvr>
                                      <p:to>
                                        <p:strVal val="visible"/>
                                      </p:to>
                                    </p:set>
                                    <p:animEffect transition="in" filter="dissolve">
                                      <p:cBhvr>
                                        <p:cTn id="31" dur="500"/>
                                        <p:tgtEl>
                                          <p:spTgt spid="398339">
                                            <p:txEl>
                                              <p:pRg st="3" end="3"/>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398339">
                                            <p:txEl>
                                              <p:pRg st="4" end="4"/>
                                            </p:txEl>
                                          </p:spTgt>
                                        </p:tgtEl>
                                        <p:attrNameLst>
                                          <p:attrName>style.visibility</p:attrName>
                                        </p:attrNameLst>
                                      </p:cBhvr>
                                      <p:to>
                                        <p:strVal val="visible"/>
                                      </p:to>
                                    </p:set>
                                    <p:animEffect transition="in" filter="dissolve">
                                      <p:cBhvr>
                                        <p:cTn id="36" dur="500"/>
                                        <p:tgtEl>
                                          <p:spTgt spid="398339">
                                            <p:txEl>
                                              <p:pRg st="4" end="4"/>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398339">
                                            <p:txEl>
                                              <p:pRg st="5" end="5"/>
                                            </p:txEl>
                                          </p:spTgt>
                                        </p:tgtEl>
                                        <p:attrNameLst>
                                          <p:attrName>style.visibility</p:attrName>
                                        </p:attrNameLst>
                                      </p:cBhvr>
                                      <p:to>
                                        <p:strVal val="visible"/>
                                      </p:to>
                                    </p:set>
                                    <p:animEffect transition="in" filter="dissolve">
                                      <p:cBhvr>
                                        <p:cTn id="41" dur="500"/>
                                        <p:tgtEl>
                                          <p:spTgt spid="398339">
                                            <p:txEl>
                                              <p:pRg st="5" end="5"/>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grpId="0" nodeType="clickEffect">
                                  <p:stCondLst>
                                    <p:cond delay="0"/>
                                  </p:stCondLst>
                                  <p:childTnLst>
                                    <p:set>
                                      <p:cBhvr>
                                        <p:cTn id="45" dur="1" fill="hold">
                                          <p:stCondLst>
                                            <p:cond delay="0"/>
                                          </p:stCondLst>
                                        </p:cTn>
                                        <p:tgtEl>
                                          <p:spTgt spid="398339">
                                            <p:txEl>
                                              <p:pRg st="6" end="6"/>
                                            </p:txEl>
                                          </p:spTgt>
                                        </p:tgtEl>
                                        <p:attrNameLst>
                                          <p:attrName>style.visibility</p:attrName>
                                        </p:attrNameLst>
                                      </p:cBhvr>
                                      <p:to>
                                        <p:strVal val="visible"/>
                                      </p:to>
                                    </p:set>
                                    <p:animEffect transition="in" filter="dissolve">
                                      <p:cBhvr>
                                        <p:cTn id="46" dur="500"/>
                                        <p:tgtEl>
                                          <p:spTgt spid="398339">
                                            <p:txEl>
                                              <p:pRg st="6" end="6"/>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grpId="0" nodeType="clickEffect">
                                  <p:stCondLst>
                                    <p:cond delay="0"/>
                                  </p:stCondLst>
                                  <p:childTnLst>
                                    <p:set>
                                      <p:cBhvr>
                                        <p:cTn id="50" dur="1" fill="hold">
                                          <p:stCondLst>
                                            <p:cond delay="0"/>
                                          </p:stCondLst>
                                        </p:cTn>
                                        <p:tgtEl>
                                          <p:spTgt spid="398339">
                                            <p:txEl>
                                              <p:pRg st="7" end="7"/>
                                            </p:txEl>
                                          </p:spTgt>
                                        </p:tgtEl>
                                        <p:attrNameLst>
                                          <p:attrName>style.visibility</p:attrName>
                                        </p:attrNameLst>
                                      </p:cBhvr>
                                      <p:to>
                                        <p:strVal val="visible"/>
                                      </p:to>
                                    </p:set>
                                    <p:animEffect transition="in" filter="dissolve">
                                      <p:cBhvr>
                                        <p:cTn id="51" dur="500"/>
                                        <p:tgtEl>
                                          <p:spTgt spid="398339">
                                            <p:txEl>
                                              <p:pRg st="7" end="7"/>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9" presetClass="entr" presetSubtype="0" fill="hold" grpId="0" nodeType="clickEffect">
                                  <p:stCondLst>
                                    <p:cond delay="0"/>
                                  </p:stCondLst>
                                  <p:childTnLst>
                                    <p:set>
                                      <p:cBhvr>
                                        <p:cTn id="55" dur="1" fill="hold">
                                          <p:stCondLst>
                                            <p:cond delay="0"/>
                                          </p:stCondLst>
                                        </p:cTn>
                                        <p:tgtEl>
                                          <p:spTgt spid="398339">
                                            <p:txEl>
                                              <p:pRg st="8" end="8"/>
                                            </p:txEl>
                                          </p:spTgt>
                                        </p:tgtEl>
                                        <p:attrNameLst>
                                          <p:attrName>style.visibility</p:attrName>
                                        </p:attrNameLst>
                                      </p:cBhvr>
                                      <p:to>
                                        <p:strVal val="visible"/>
                                      </p:to>
                                    </p:set>
                                    <p:animEffect transition="in" filter="dissolve">
                                      <p:cBhvr>
                                        <p:cTn id="56" dur="500"/>
                                        <p:tgtEl>
                                          <p:spTgt spid="39833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8339"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标题 124929"/>
          <p:cNvSpPr>
            <a:spLocks noGrp="1" noRot="1"/>
          </p:cNvSpPr>
          <p:nvPr>
            <p:ph type="title"/>
          </p:nvPr>
        </p:nvSpPr>
        <p:spPr/>
        <p:txBody>
          <a:bodyPr anchor="ctr"/>
          <a:lstStyle/>
          <a:p>
            <a:pPr fontAlgn="base"/>
            <a:r>
              <a:rPr lang="zh-CN" altLang="en-US" sz="4800" b="1" strike="noStrike" noProof="1">
                <a:ln>
                  <a:solidFill>
                    <a:sysClr val="windowText" lastClr="000000"/>
                  </a:solidFill>
                </a:ln>
                <a:solidFill>
                  <a:srgbClr val="FF0000"/>
                </a:solidFill>
                <a:latin typeface="楷体_GB2312" pitchFamily="49" charset="-122"/>
                <a:ea typeface="楷体_GB2312" pitchFamily="49" charset="-122"/>
                <a:hlinkClick r:id="rId2" action="ppaction://hlinkfile"/>
              </a:rPr>
              <a:t>蛋白质的组成和结构</a:t>
            </a:r>
            <a:endParaRPr lang="zh-CN" altLang="en-US" sz="4800" b="1" strike="noStrike" noProof="1">
              <a:ln>
                <a:solidFill>
                  <a:sysClr val="windowText" lastClr="000000"/>
                </a:solidFill>
              </a:ln>
              <a:solidFill>
                <a:srgbClr val="FF0000"/>
              </a:solidFill>
              <a:latin typeface="楷体_GB2312" pitchFamily="49" charset="-122"/>
              <a:ea typeface="楷体_GB2312" pitchFamily="49" charset="-122"/>
            </a:endParaRPr>
          </a:p>
        </p:txBody>
      </p:sp>
      <p:sp>
        <p:nvSpPr>
          <p:cNvPr id="124931" name="内容占位符 124930"/>
          <p:cNvSpPr>
            <a:spLocks noGrp="1" noRot="1"/>
          </p:cNvSpPr>
          <p:nvPr>
            <p:ph idx="1"/>
          </p:nvPr>
        </p:nvSpPr>
        <p:spPr>
          <a:ln/>
        </p:spPr>
        <p:txBody>
          <a:bodyPr anchor="t"/>
          <a:lstStyle/>
          <a:p>
            <a:pPr marL="914400" indent="-914400">
              <a:lnSpc>
                <a:spcPct val="90000"/>
              </a:lnSpc>
              <a:buNone/>
            </a:pPr>
            <a:r>
              <a:rPr lang="zh-CN" altLang="en-US" sz="3600" dirty="0">
                <a:solidFill>
                  <a:schemeClr val="tx1"/>
                </a:solidFill>
                <a:latin typeface="Times New Roman" pitchFamily="18" charset="0"/>
                <a:ea typeface="楷体_GB2312" pitchFamily="49" charset="-122"/>
                <a:cs typeface="Times New Roman" pitchFamily="18" charset="0"/>
              </a:rPr>
              <a:t>概念：</a:t>
            </a:r>
            <a:endParaRPr lang="zh-CN" altLang="en-US" sz="3600" dirty="0">
              <a:solidFill>
                <a:srgbClr val="9966FF"/>
              </a:solidFill>
              <a:latin typeface="Times New Roman" pitchFamily="18" charset="0"/>
              <a:ea typeface="楷体_GB2312" pitchFamily="49" charset="-122"/>
              <a:cs typeface="Times New Roman" pitchFamily="18" charset="0"/>
            </a:endParaRPr>
          </a:p>
          <a:p>
            <a:pPr marL="914400" indent="-914400">
              <a:lnSpc>
                <a:spcPct val="90000"/>
              </a:lnSpc>
              <a:buNone/>
            </a:pPr>
            <a:r>
              <a:rPr lang="zh-CN" altLang="en-US" sz="2400" b="1" dirty="0">
                <a:solidFill>
                  <a:schemeClr val="hlink"/>
                </a:solidFill>
                <a:latin typeface="Times New Roman" pitchFamily="18" charset="0"/>
                <a:cs typeface="Times New Roman" pitchFamily="18" charset="0"/>
              </a:rPr>
              <a:t>          </a:t>
            </a:r>
            <a:r>
              <a:rPr lang="zh-CN" altLang="en-US" b="1" dirty="0">
                <a:solidFill>
                  <a:schemeClr val="tx1"/>
                </a:solidFill>
                <a:latin typeface="Times New Roman" pitchFamily="18" charset="0"/>
                <a:ea typeface="楷体_GB2312" pitchFamily="49" charset="-122"/>
                <a:cs typeface="Times New Roman" pitchFamily="18" charset="0"/>
              </a:rPr>
              <a:t>由</a:t>
            </a:r>
            <a:r>
              <a:rPr lang="en-US" altLang="zh-CN" b="1" dirty="0">
                <a:solidFill>
                  <a:schemeClr val="tx1"/>
                </a:solidFill>
                <a:latin typeface="Times New Roman" pitchFamily="18" charset="0"/>
                <a:ea typeface="楷体_GB2312" pitchFamily="49" charset="-122"/>
                <a:cs typeface="Times New Roman" pitchFamily="18" charset="0"/>
              </a:rPr>
              <a:t>α-</a:t>
            </a:r>
            <a:r>
              <a:rPr lang="zh-CN" altLang="en-US" b="1" dirty="0">
                <a:solidFill>
                  <a:schemeClr val="tx1"/>
                </a:solidFill>
                <a:latin typeface="Times New Roman" pitchFamily="18" charset="0"/>
                <a:ea typeface="楷体_GB2312" pitchFamily="49" charset="-122"/>
                <a:cs typeface="Times New Roman" pitchFamily="18" charset="0"/>
              </a:rPr>
              <a:t>氨基酸通过肽键而形成的高分</a:t>
            </a:r>
          </a:p>
          <a:p>
            <a:pPr marL="914400" indent="-914400">
              <a:lnSpc>
                <a:spcPct val="90000"/>
              </a:lnSpc>
              <a:buNone/>
            </a:pPr>
            <a:r>
              <a:rPr lang="zh-CN" altLang="en-US" b="1" dirty="0">
                <a:solidFill>
                  <a:schemeClr val="tx1"/>
                </a:solidFill>
                <a:latin typeface="Times New Roman" pitchFamily="18" charset="0"/>
                <a:ea typeface="楷体_GB2312" pitchFamily="49" charset="-122"/>
                <a:cs typeface="Times New Roman" pitchFamily="18" charset="0"/>
              </a:rPr>
              <a:t>    子化合物</a:t>
            </a:r>
            <a:r>
              <a:rPr lang="zh-CN" altLang="en-US" sz="2400" b="1" dirty="0">
                <a:solidFill>
                  <a:schemeClr val="tx1"/>
                </a:solidFill>
                <a:latin typeface="Times New Roman" pitchFamily="18" charset="0"/>
                <a:ea typeface="楷体_GB2312" pitchFamily="49" charset="-122"/>
                <a:cs typeface="Times New Roman" pitchFamily="18" charset="0"/>
              </a:rPr>
              <a:t>。</a:t>
            </a:r>
          </a:p>
          <a:p>
            <a:pPr marL="914400" indent="-914400">
              <a:lnSpc>
                <a:spcPct val="90000"/>
              </a:lnSpc>
              <a:buNone/>
            </a:pPr>
            <a:endParaRPr lang="zh-CN" altLang="en-US" sz="2400" b="1" dirty="0">
              <a:solidFill>
                <a:schemeClr val="hlink"/>
              </a:solidFill>
              <a:latin typeface="Times New Roman" pitchFamily="18" charset="0"/>
              <a:ea typeface="楷体_GB2312" pitchFamily="49" charset="-122"/>
              <a:cs typeface="Times New Roman" pitchFamily="18" charset="0"/>
            </a:endParaRPr>
          </a:p>
          <a:p>
            <a:pPr marL="914400" indent="-914400">
              <a:lnSpc>
                <a:spcPct val="90000"/>
              </a:lnSpc>
              <a:buNone/>
            </a:pPr>
            <a:r>
              <a:rPr lang="zh-CN" altLang="en-US" sz="3600" dirty="0">
                <a:solidFill>
                  <a:schemeClr val="tx1"/>
                </a:solidFill>
                <a:latin typeface="Times New Roman" pitchFamily="18" charset="0"/>
                <a:ea typeface="楷体_GB2312" pitchFamily="49" charset="-122"/>
                <a:cs typeface="Times New Roman" pitchFamily="18" charset="0"/>
              </a:rPr>
              <a:t>组成元素：</a:t>
            </a:r>
            <a:endParaRPr lang="zh-CN" altLang="en-US" sz="3600" dirty="0">
              <a:solidFill>
                <a:srgbClr val="9966FF"/>
              </a:solidFill>
              <a:latin typeface="Times New Roman" pitchFamily="18" charset="0"/>
              <a:ea typeface="楷体_GB2312" pitchFamily="49" charset="-122"/>
              <a:cs typeface="Times New Roman" pitchFamily="18" charset="0"/>
            </a:endParaRPr>
          </a:p>
          <a:p>
            <a:pPr marL="914400" indent="-914400">
              <a:lnSpc>
                <a:spcPct val="90000"/>
              </a:lnSpc>
              <a:buNone/>
            </a:pPr>
            <a:r>
              <a:rPr lang="en-US" altLang="zh-CN" sz="2400" b="1" dirty="0">
                <a:solidFill>
                  <a:schemeClr val="hlink"/>
                </a:solidFill>
                <a:latin typeface="Times New Roman" pitchFamily="18" charset="0"/>
                <a:cs typeface="Times New Roman" pitchFamily="18" charset="0"/>
              </a:rPr>
              <a:t>       </a:t>
            </a:r>
            <a:r>
              <a:rPr lang="en-US" altLang="zh-CN" sz="2400" b="1" dirty="0">
                <a:solidFill>
                  <a:schemeClr val="tx1"/>
                </a:solidFill>
                <a:latin typeface="Times New Roman" pitchFamily="18" charset="0"/>
                <a:cs typeface="Times New Roman" pitchFamily="18" charset="0"/>
              </a:rPr>
              <a:t> </a:t>
            </a:r>
            <a:r>
              <a:rPr lang="en-US" altLang="zh-CN" b="1" dirty="0">
                <a:solidFill>
                  <a:schemeClr val="tx1"/>
                </a:solidFill>
                <a:latin typeface="Times New Roman" pitchFamily="18" charset="0"/>
                <a:ea typeface="楷体_GB2312" pitchFamily="49" charset="-122"/>
                <a:cs typeface="Times New Roman" pitchFamily="18" charset="0"/>
              </a:rPr>
              <a:t>C  H  O  N   S   P  Fe  Zn Mo…</a:t>
            </a:r>
            <a:r>
              <a:rPr lang="zh-CN" altLang="en-US" b="1" dirty="0">
                <a:solidFill>
                  <a:schemeClr val="tx1"/>
                </a:solidFill>
                <a:latin typeface="Times New Roman" pitchFamily="18" charset="0"/>
                <a:ea typeface="楷体_GB2312" pitchFamily="49" charset="-122"/>
                <a:cs typeface="Times New Roman" pitchFamily="18" charset="0"/>
              </a:rPr>
              <a:t> </a:t>
            </a:r>
          </a:p>
          <a:p>
            <a:pPr marL="914400" indent="-914400">
              <a:lnSpc>
                <a:spcPct val="90000"/>
              </a:lnSpc>
              <a:buNone/>
            </a:pPr>
            <a:r>
              <a:rPr lang="zh-CN" altLang="en-US" b="1" dirty="0">
                <a:solidFill>
                  <a:schemeClr val="tx1"/>
                </a:solidFill>
                <a:latin typeface="Times New Roman" pitchFamily="18" charset="0"/>
                <a:ea typeface="楷体_GB2312" pitchFamily="49" charset="-122"/>
                <a:cs typeface="Times New Roman" pitchFamily="18" charset="0"/>
              </a:rPr>
              <a:t>       属于天然高分子化合物</a:t>
            </a:r>
            <a:r>
              <a:rPr lang="zh-CN" altLang="en-US" sz="2400" b="1" dirty="0">
                <a:solidFill>
                  <a:schemeClr val="tx1"/>
                </a:solidFill>
                <a:latin typeface="Times New Roman" pitchFamily="18" charset="0"/>
                <a:ea typeface="楷体_GB2312" pitchFamily="49" charset="-122"/>
                <a:cs typeface="Times New Roman" pitchFamily="18" charset="0"/>
              </a:rPr>
              <a:t>。</a:t>
            </a:r>
          </a:p>
        </p:txBody>
      </p:sp>
      <p:sp>
        <p:nvSpPr>
          <p:cNvPr id="9219" name="灯片编号占位符 1"/>
          <p:cNvSpPr>
            <a:spLocks noGrp="1"/>
          </p:cNvSpPr>
          <p:nvPr>
            <p:ph type="sldNum" sz="quarter" idx="11"/>
          </p:nvPr>
        </p:nvSpPr>
        <p:spPr>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400" dirty="0"/>
              <a:pPr lvl="0" indent="0" algn="r"/>
              <a:t>7</a:t>
            </a:fld>
            <a:endParaRPr lang="zh-CN" altLang="en-US" sz="14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iterate type="lt">
                                    <p:tmPct val="5000"/>
                                  </p:iterate>
                                  <p:childTnLst>
                                    <p:set>
                                      <p:cBhvr>
                                        <p:cTn id="6" dur="1" fill="hold">
                                          <p:stCondLst>
                                            <p:cond delay="0"/>
                                          </p:stCondLst>
                                        </p:cTn>
                                        <p:tgtEl>
                                          <p:spTgt spid="124931">
                                            <p:txEl>
                                              <p:pRg st="0" end="0"/>
                                            </p:txEl>
                                          </p:spTgt>
                                        </p:tgtEl>
                                        <p:attrNameLst>
                                          <p:attrName>style.visibility</p:attrName>
                                        </p:attrNameLst>
                                      </p:cBhvr>
                                      <p:to>
                                        <p:strVal val="visible"/>
                                      </p:to>
                                    </p:set>
                                    <p:anim calcmode="lin" valueType="num">
                                      <p:cBhvr>
                                        <p:cTn id="7" dur="1000" fill="hold"/>
                                        <p:tgtEl>
                                          <p:spTgt spid="124931">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124931">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124931">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124931">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iterate type="lt">
                                    <p:tmPct val="5000"/>
                                  </p:iterate>
                                  <p:childTnLst>
                                    <p:set>
                                      <p:cBhvr>
                                        <p:cTn id="14" dur="1" fill="hold">
                                          <p:stCondLst>
                                            <p:cond delay="0"/>
                                          </p:stCondLst>
                                        </p:cTn>
                                        <p:tgtEl>
                                          <p:spTgt spid="124931">
                                            <p:txEl>
                                              <p:pRg st="1" end="1"/>
                                            </p:txEl>
                                          </p:spTgt>
                                        </p:tgtEl>
                                        <p:attrNameLst>
                                          <p:attrName>style.visibility</p:attrName>
                                        </p:attrNameLst>
                                      </p:cBhvr>
                                      <p:to>
                                        <p:strVal val="visible"/>
                                      </p:to>
                                    </p:set>
                                    <p:anim calcmode="lin" valueType="num">
                                      <p:cBhvr>
                                        <p:cTn id="15" dur="1000" fill="hold"/>
                                        <p:tgtEl>
                                          <p:spTgt spid="124931">
                                            <p:txEl>
                                              <p:pRg st="1" end="1"/>
                                            </p:txEl>
                                          </p:spTgt>
                                        </p:tgtEl>
                                        <p:attrNameLst>
                                          <p:attrName>ppt_w</p:attrName>
                                        </p:attrNameLst>
                                      </p:cBhvr>
                                      <p:tavLst>
                                        <p:tav tm="0">
                                          <p:val>
                                            <p:fltVal val="0"/>
                                          </p:val>
                                        </p:tav>
                                        <p:tav tm="100000">
                                          <p:val>
                                            <p:strVal val="#ppt_w"/>
                                          </p:val>
                                        </p:tav>
                                      </p:tavLst>
                                    </p:anim>
                                    <p:anim calcmode="lin" valueType="num">
                                      <p:cBhvr>
                                        <p:cTn id="16" dur="1000" fill="hold"/>
                                        <p:tgtEl>
                                          <p:spTgt spid="124931">
                                            <p:txEl>
                                              <p:pRg st="1" end="1"/>
                                            </p:txEl>
                                          </p:spTgt>
                                        </p:tgtEl>
                                        <p:attrNameLst>
                                          <p:attrName>ppt_h</p:attrName>
                                        </p:attrNameLst>
                                      </p:cBhvr>
                                      <p:tavLst>
                                        <p:tav tm="0">
                                          <p:val>
                                            <p:fltVal val="0"/>
                                          </p:val>
                                        </p:tav>
                                        <p:tav tm="100000">
                                          <p:val>
                                            <p:strVal val="#ppt_h"/>
                                          </p:val>
                                        </p:tav>
                                      </p:tavLst>
                                    </p:anim>
                                    <p:anim calcmode="lin" valueType="num">
                                      <p:cBhvr>
                                        <p:cTn id="17" dur="1000" fill="hold"/>
                                        <p:tgtEl>
                                          <p:spTgt spid="124931">
                                            <p:txEl>
                                              <p:pRg st="1" end="1"/>
                                            </p:txEl>
                                          </p:spTgt>
                                        </p:tgtEl>
                                        <p:attrNameLst>
                                          <p:attrName>style.rotation</p:attrName>
                                        </p:attrNameLst>
                                      </p:cBhvr>
                                      <p:tavLst>
                                        <p:tav tm="0">
                                          <p:val>
                                            <p:fltVal val="90"/>
                                          </p:val>
                                        </p:tav>
                                        <p:tav tm="100000">
                                          <p:val>
                                            <p:fltVal val="0"/>
                                          </p:val>
                                        </p:tav>
                                      </p:tavLst>
                                    </p:anim>
                                    <p:animEffect transition="in" filter="fade">
                                      <p:cBhvr>
                                        <p:cTn id="18" dur="1000"/>
                                        <p:tgtEl>
                                          <p:spTgt spid="124931">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iterate type="lt">
                                    <p:tmPct val="5000"/>
                                  </p:iterate>
                                  <p:childTnLst>
                                    <p:set>
                                      <p:cBhvr>
                                        <p:cTn id="22" dur="1" fill="hold">
                                          <p:stCondLst>
                                            <p:cond delay="0"/>
                                          </p:stCondLst>
                                        </p:cTn>
                                        <p:tgtEl>
                                          <p:spTgt spid="124931">
                                            <p:txEl>
                                              <p:pRg st="2" end="2"/>
                                            </p:txEl>
                                          </p:spTgt>
                                        </p:tgtEl>
                                        <p:attrNameLst>
                                          <p:attrName>style.visibility</p:attrName>
                                        </p:attrNameLst>
                                      </p:cBhvr>
                                      <p:to>
                                        <p:strVal val="visible"/>
                                      </p:to>
                                    </p:set>
                                    <p:anim calcmode="lin" valueType="num">
                                      <p:cBhvr>
                                        <p:cTn id="23" dur="1000" fill="hold"/>
                                        <p:tgtEl>
                                          <p:spTgt spid="124931">
                                            <p:txEl>
                                              <p:pRg st="2" end="2"/>
                                            </p:txEl>
                                          </p:spTgt>
                                        </p:tgtEl>
                                        <p:attrNameLst>
                                          <p:attrName>ppt_w</p:attrName>
                                        </p:attrNameLst>
                                      </p:cBhvr>
                                      <p:tavLst>
                                        <p:tav tm="0">
                                          <p:val>
                                            <p:fltVal val="0"/>
                                          </p:val>
                                        </p:tav>
                                        <p:tav tm="100000">
                                          <p:val>
                                            <p:strVal val="#ppt_w"/>
                                          </p:val>
                                        </p:tav>
                                      </p:tavLst>
                                    </p:anim>
                                    <p:anim calcmode="lin" valueType="num">
                                      <p:cBhvr>
                                        <p:cTn id="24" dur="1000" fill="hold"/>
                                        <p:tgtEl>
                                          <p:spTgt spid="124931">
                                            <p:txEl>
                                              <p:pRg st="2" end="2"/>
                                            </p:txEl>
                                          </p:spTgt>
                                        </p:tgtEl>
                                        <p:attrNameLst>
                                          <p:attrName>ppt_h</p:attrName>
                                        </p:attrNameLst>
                                      </p:cBhvr>
                                      <p:tavLst>
                                        <p:tav tm="0">
                                          <p:val>
                                            <p:fltVal val="0"/>
                                          </p:val>
                                        </p:tav>
                                        <p:tav tm="100000">
                                          <p:val>
                                            <p:strVal val="#ppt_h"/>
                                          </p:val>
                                        </p:tav>
                                      </p:tavLst>
                                    </p:anim>
                                    <p:anim calcmode="lin" valueType="num">
                                      <p:cBhvr>
                                        <p:cTn id="25" dur="1000" fill="hold"/>
                                        <p:tgtEl>
                                          <p:spTgt spid="124931">
                                            <p:txEl>
                                              <p:pRg st="2" end="2"/>
                                            </p:txEl>
                                          </p:spTgt>
                                        </p:tgtEl>
                                        <p:attrNameLst>
                                          <p:attrName>style.rotation</p:attrName>
                                        </p:attrNameLst>
                                      </p:cBhvr>
                                      <p:tavLst>
                                        <p:tav tm="0">
                                          <p:val>
                                            <p:fltVal val="90"/>
                                          </p:val>
                                        </p:tav>
                                        <p:tav tm="100000">
                                          <p:val>
                                            <p:fltVal val="0"/>
                                          </p:val>
                                        </p:tav>
                                      </p:tavLst>
                                    </p:anim>
                                    <p:animEffect transition="in" filter="fade">
                                      <p:cBhvr>
                                        <p:cTn id="26" dur="1000"/>
                                        <p:tgtEl>
                                          <p:spTgt spid="124931">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grpId="0" nodeType="clickEffect">
                                  <p:stCondLst>
                                    <p:cond delay="0"/>
                                  </p:stCondLst>
                                  <p:iterate type="lt">
                                    <p:tmPct val="5000"/>
                                  </p:iterate>
                                  <p:childTnLst>
                                    <p:set>
                                      <p:cBhvr>
                                        <p:cTn id="30" dur="1" fill="hold">
                                          <p:stCondLst>
                                            <p:cond delay="0"/>
                                          </p:stCondLst>
                                        </p:cTn>
                                        <p:tgtEl>
                                          <p:spTgt spid="124931">
                                            <p:txEl>
                                              <p:pRg st="4" end="4"/>
                                            </p:txEl>
                                          </p:spTgt>
                                        </p:tgtEl>
                                        <p:attrNameLst>
                                          <p:attrName>style.visibility</p:attrName>
                                        </p:attrNameLst>
                                      </p:cBhvr>
                                      <p:to>
                                        <p:strVal val="visible"/>
                                      </p:to>
                                    </p:set>
                                    <p:anim calcmode="lin" valueType="num">
                                      <p:cBhvr>
                                        <p:cTn id="31" dur="1000" fill="hold"/>
                                        <p:tgtEl>
                                          <p:spTgt spid="124931">
                                            <p:txEl>
                                              <p:pRg st="4" end="4"/>
                                            </p:txEl>
                                          </p:spTgt>
                                        </p:tgtEl>
                                        <p:attrNameLst>
                                          <p:attrName>ppt_w</p:attrName>
                                        </p:attrNameLst>
                                      </p:cBhvr>
                                      <p:tavLst>
                                        <p:tav tm="0">
                                          <p:val>
                                            <p:fltVal val="0"/>
                                          </p:val>
                                        </p:tav>
                                        <p:tav tm="100000">
                                          <p:val>
                                            <p:strVal val="#ppt_w"/>
                                          </p:val>
                                        </p:tav>
                                      </p:tavLst>
                                    </p:anim>
                                    <p:anim calcmode="lin" valueType="num">
                                      <p:cBhvr>
                                        <p:cTn id="32" dur="1000" fill="hold"/>
                                        <p:tgtEl>
                                          <p:spTgt spid="124931">
                                            <p:txEl>
                                              <p:pRg st="4" end="4"/>
                                            </p:txEl>
                                          </p:spTgt>
                                        </p:tgtEl>
                                        <p:attrNameLst>
                                          <p:attrName>ppt_h</p:attrName>
                                        </p:attrNameLst>
                                      </p:cBhvr>
                                      <p:tavLst>
                                        <p:tav tm="0">
                                          <p:val>
                                            <p:fltVal val="0"/>
                                          </p:val>
                                        </p:tav>
                                        <p:tav tm="100000">
                                          <p:val>
                                            <p:strVal val="#ppt_h"/>
                                          </p:val>
                                        </p:tav>
                                      </p:tavLst>
                                    </p:anim>
                                    <p:anim calcmode="lin" valueType="num">
                                      <p:cBhvr>
                                        <p:cTn id="33" dur="1000" fill="hold"/>
                                        <p:tgtEl>
                                          <p:spTgt spid="124931">
                                            <p:txEl>
                                              <p:pRg st="4" end="4"/>
                                            </p:txEl>
                                          </p:spTgt>
                                        </p:tgtEl>
                                        <p:attrNameLst>
                                          <p:attrName>style.rotation</p:attrName>
                                        </p:attrNameLst>
                                      </p:cBhvr>
                                      <p:tavLst>
                                        <p:tav tm="0">
                                          <p:val>
                                            <p:fltVal val="90"/>
                                          </p:val>
                                        </p:tav>
                                        <p:tav tm="100000">
                                          <p:val>
                                            <p:fltVal val="0"/>
                                          </p:val>
                                        </p:tav>
                                      </p:tavLst>
                                    </p:anim>
                                    <p:animEffect transition="in" filter="fade">
                                      <p:cBhvr>
                                        <p:cTn id="34" dur="1000"/>
                                        <p:tgtEl>
                                          <p:spTgt spid="124931">
                                            <p:txEl>
                                              <p:pRg st="4" end="4"/>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1" presetClass="entr" presetSubtype="0" fill="hold" grpId="0" nodeType="clickEffect">
                                  <p:stCondLst>
                                    <p:cond delay="0"/>
                                  </p:stCondLst>
                                  <p:iterate type="lt">
                                    <p:tmPct val="5000"/>
                                  </p:iterate>
                                  <p:childTnLst>
                                    <p:set>
                                      <p:cBhvr>
                                        <p:cTn id="38" dur="1" fill="hold">
                                          <p:stCondLst>
                                            <p:cond delay="0"/>
                                          </p:stCondLst>
                                        </p:cTn>
                                        <p:tgtEl>
                                          <p:spTgt spid="124931">
                                            <p:txEl>
                                              <p:pRg st="5" end="5"/>
                                            </p:txEl>
                                          </p:spTgt>
                                        </p:tgtEl>
                                        <p:attrNameLst>
                                          <p:attrName>style.visibility</p:attrName>
                                        </p:attrNameLst>
                                      </p:cBhvr>
                                      <p:to>
                                        <p:strVal val="visible"/>
                                      </p:to>
                                    </p:set>
                                    <p:anim calcmode="lin" valueType="num">
                                      <p:cBhvr>
                                        <p:cTn id="39" dur="1000" fill="hold"/>
                                        <p:tgtEl>
                                          <p:spTgt spid="124931">
                                            <p:txEl>
                                              <p:pRg st="5" end="5"/>
                                            </p:txEl>
                                          </p:spTgt>
                                        </p:tgtEl>
                                        <p:attrNameLst>
                                          <p:attrName>ppt_w</p:attrName>
                                        </p:attrNameLst>
                                      </p:cBhvr>
                                      <p:tavLst>
                                        <p:tav tm="0">
                                          <p:val>
                                            <p:fltVal val="0"/>
                                          </p:val>
                                        </p:tav>
                                        <p:tav tm="100000">
                                          <p:val>
                                            <p:strVal val="#ppt_w"/>
                                          </p:val>
                                        </p:tav>
                                      </p:tavLst>
                                    </p:anim>
                                    <p:anim calcmode="lin" valueType="num">
                                      <p:cBhvr>
                                        <p:cTn id="40" dur="1000" fill="hold"/>
                                        <p:tgtEl>
                                          <p:spTgt spid="124931">
                                            <p:txEl>
                                              <p:pRg st="5" end="5"/>
                                            </p:txEl>
                                          </p:spTgt>
                                        </p:tgtEl>
                                        <p:attrNameLst>
                                          <p:attrName>ppt_h</p:attrName>
                                        </p:attrNameLst>
                                      </p:cBhvr>
                                      <p:tavLst>
                                        <p:tav tm="0">
                                          <p:val>
                                            <p:fltVal val="0"/>
                                          </p:val>
                                        </p:tav>
                                        <p:tav tm="100000">
                                          <p:val>
                                            <p:strVal val="#ppt_h"/>
                                          </p:val>
                                        </p:tav>
                                      </p:tavLst>
                                    </p:anim>
                                    <p:anim calcmode="lin" valueType="num">
                                      <p:cBhvr>
                                        <p:cTn id="41" dur="1000" fill="hold"/>
                                        <p:tgtEl>
                                          <p:spTgt spid="124931">
                                            <p:txEl>
                                              <p:pRg st="5" end="5"/>
                                            </p:txEl>
                                          </p:spTgt>
                                        </p:tgtEl>
                                        <p:attrNameLst>
                                          <p:attrName>style.rotation</p:attrName>
                                        </p:attrNameLst>
                                      </p:cBhvr>
                                      <p:tavLst>
                                        <p:tav tm="0">
                                          <p:val>
                                            <p:fltVal val="90"/>
                                          </p:val>
                                        </p:tav>
                                        <p:tav tm="100000">
                                          <p:val>
                                            <p:fltVal val="0"/>
                                          </p:val>
                                        </p:tav>
                                      </p:tavLst>
                                    </p:anim>
                                    <p:animEffect transition="in" filter="fade">
                                      <p:cBhvr>
                                        <p:cTn id="42" dur="1000"/>
                                        <p:tgtEl>
                                          <p:spTgt spid="124931">
                                            <p:txEl>
                                              <p:pRg st="5" end="5"/>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1" presetClass="entr" presetSubtype="0" fill="hold" grpId="0" nodeType="clickEffect">
                                  <p:stCondLst>
                                    <p:cond delay="0"/>
                                  </p:stCondLst>
                                  <p:iterate type="lt">
                                    <p:tmPct val="5000"/>
                                  </p:iterate>
                                  <p:childTnLst>
                                    <p:set>
                                      <p:cBhvr>
                                        <p:cTn id="46" dur="1" fill="hold">
                                          <p:stCondLst>
                                            <p:cond delay="0"/>
                                          </p:stCondLst>
                                        </p:cTn>
                                        <p:tgtEl>
                                          <p:spTgt spid="124931">
                                            <p:txEl>
                                              <p:pRg st="6" end="6"/>
                                            </p:txEl>
                                          </p:spTgt>
                                        </p:tgtEl>
                                        <p:attrNameLst>
                                          <p:attrName>style.visibility</p:attrName>
                                        </p:attrNameLst>
                                      </p:cBhvr>
                                      <p:to>
                                        <p:strVal val="visible"/>
                                      </p:to>
                                    </p:set>
                                    <p:anim calcmode="lin" valueType="num">
                                      <p:cBhvr>
                                        <p:cTn id="47" dur="1000" fill="hold"/>
                                        <p:tgtEl>
                                          <p:spTgt spid="124931">
                                            <p:txEl>
                                              <p:pRg st="6" end="6"/>
                                            </p:txEl>
                                          </p:spTgt>
                                        </p:tgtEl>
                                        <p:attrNameLst>
                                          <p:attrName>ppt_w</p:attrName>
                                        </p:attrNameLst>
                                      </p:cBhvr>
                                      <p:tavLst>
                                        <p:tav tm="0">
                                          <p:val>
                                            <p:fltVal val="0"/>
                                          </p:val>
                                        </p:tav>
                                        <p:tav tm="100000">
                                          <p:val>
                                            <p:strVal val="#ppt_w"/>
                                          </p:val>
                                        </p:tav>
                                      </p:tavLst>
                                    </p:anim>
                                    <p:anim calcmode="lin" valueType="num">
                                      <p:cBhvr>
                                        <p:cTn id="48" dur="1000" fill="hold"/>
                                        <p:tgtEl>
                                          <p:spTgt spid="124931">
                                            <p:txEl>
                                              <p:pRg st="6" end="6"/>
                                            </p:txEl>
                                          </p:spTgt>
                                        </p:tgtEl>
                                        <p:attrNameLst>
                                          <p:attrName>ppt_h</p:attrName>
                                        </p:attrNameLst>
                                      </p:cBhvr>
                                      <p:tavLst>
                                        <p:tav tm="0">
                                          <p:val>
                                            <p:fltVal val="0"/>
                                          </p:val>
                                        </p:tav>
                                        <p:tav tm="100000">
                                          <p:val>
                                            <p:strVal val="#ppt_h"/>
                                          </p:val>
                                        </p:tav>
                                      </p:tavLst>
                                    </p:anim>
                                    <p:anim calcmode="lin" valueType="num">
                                      <p:cBhvr>
                                        <p:cTn id="49" dur="1000" fill="hold"/>
                                        <p:tgtEl>
                                          <p:spTgt spid="124931">
                                            <p:txEl>
                                              <p:pRg st="6" end="6"/>
                                            </p:txEl>
                                          </p:spTgt>
                                        </p:tgtEl>
                                        <p:attrNameLst>
                                          <p:attrName>style.rotation</p:attrName>
                                        </p:attrNameLst>
                                      </p:cBhvr>
                                      <p:tavLst>
                                        <p:tav tm="0">
                                          <p:val>
                                            <p:fltVal val="90"/>
                                          </p:val>
                                        </p:tav>
                                        <p:tav tm="100000">
                                          <p:val>
                                            <p:fltVal val="0"/>
                                          </p:val>
                                        </p:tav>
                                      </p:tavLst>
                                    </p:anim>
                                    <p:animEffect transition="in" filter="fade">
                                      <p:cBhvr>
                                        <p:cTn id="50" dur="1000"/>
                                        <p:tgtEl>
                                          <p:spTgt spid="12493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31"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627683"/>
            <a:ext cx="5915000" cy="706090"/>
          </a:xfrm>
        </p:spPr>
        <p:txBody>
          <a:bodyPr/>
          <a:lstStyle/>
          <a:p>
            <a:r>
              <a:rPr lang="en-US" altLang="zh-CN" sz="3600" b="1" dirty="0" smtClean="0">
                <a:solidFill>
                  <a:srgbClr val="0000FF"/>
                </a:solidFill>
              </a:rPr>
              <a:t>1</a:t>
            </a:r>
            <a:r>
              <a:rPr lang="zh-CN" altLang="en-US" sz="3600" b="1" dirty="0" smtClean="0">
                <a:solidFill>
                  <a:srgbClr val="0000FF"/>
                </a:solidFill>
              </a:rPr>
              <a:t>、</a:t>
            </a:r>
            <a:r>
              <a:rPr lang="zh-CN" altLang="en-US" sz="3200" b="1" dirty="0" smtClean="0">
                <a:solidFill>
                  <a:srgbClr val="0000FF"/>
                </a:solidFill>
              </a:rPr>
              <a:t>氨基酸是组成蛋白质的基石</a:t>
            </a:r>
            <a:r>
              <a:rPr lang="zh-CN" altLang="en-US" b="1" dirty="0" smtClean="0">
                <a:solidFill>
                  <a:srgbClr val="0000FF"/>
                </a:solidFill>
              </a:rPr>
              <a:t/>
            </a:r>
            <a:br>
              <a:rPr lang="zh-CN" altLang="en-US" b="1" dirty="0" smtClean="0">
                <a:solidFill>
                  <a:srgbClr val="0000FF"/>
                </a:solidFill>
              </a:rPr>
            </a:br>
            <a:endParaRPr lang="zh-CN" altLang="en-US" dirty="0"/>
          </a:p>
        </p:txBody>
      </p:sp>
      <p:sp>
        <p:nvSpPr>
          <p:cNvPr id="125963" name="矩形 125962"/>
          <p:cNvSpPr/>
          <p:nvPr/>
        </p:nvSpPr>
        <p:spPr>
          <a:xfrm>
            <a:off x="679450" y="2819345"/>
            <a:ext cx="8083550" cy="1554272"/>
          </a:xfrm>
          <a:prstGeom prst="rect">
            <a:avLst/>
          </a:prstGeom>
          <a:noFill/>
          <a:ln w="9525">
            <a:noFill/>
          </a:ln>
        </p:spPr>
        <p:txBody>
          <a:bodyPr wrap="square" anchor="ctr">
            <a:spAutoFit/>
          </a:bodyPr>
          <a:lstStyle/>
          <a:p>
            <a:pPr>
              <a:lnSpc>
                <a:spcPct val="150000"/>
              </a:lnSpc>
            </a:pPr>
            <a:r>
              <a:rPr lang="zh-CN" altLang="en-US" sz="1000" dirty="0">
                <a:solidFill>
                  <a:srgbClr val="000000"/>
                </a:solidFill>
                <a:latin typeface="Arial" panose="020B0604020202020204" pitchFamily="34" charset="0"/>
              </a:rPr>
              <a:t>　</a:t>
            </a:r>
            <a:r>
              <a:rPr lang="zh-CN" altLang="en-US" sz="2400" b="1" dirty="0">
                <a:solidFill>
                  <a:srgbClr val="0000FF"/>
                </a:solidFill>
                <a:latin typeface="Arial" panose="020B0604020202020204" pitchFamily="34" charset="0"/>
              </a:rPr>
              <a:t>氨基酸的结构通式</a:t>
            </a:r>
            <a:r>
              <a:rPr lang="zh-CN" altLang="en-US" sz="2400" dirty="0">
                <a:solidFill>
                  <a:srgbClr val="0000FF"/>
                </a:solidFill>
                <a:latin typeface="Arial" panose="020B0604020202020204" pitchFamily="34" charset="0"/>
              </a:rPr>
              <a:t>：</a:t>
            </a:r>
            <a:r>
              <a:rPr lang="zh-CN" altLang="en-US" sz="2400" b="1" dirty="0">
                <a:solidFill>
                  <a:schemeClr val="tx1"/>
                </a:solidFill>
                <a:latin typeface="Arial" panose="020B0604020202020204" pitchFamily="34" charset="0"/>
              </a:rPr>
              <a:t>是一类含有羧基并在与羧基相连的碳原子下连有氨基的有机化合物。</a:t>
            </a:r>
          </a:p>
          <a:p>
            <a:pPr eaLnBrk="0" hangingPunct="0">
              <a:lnSpc>
                <a:spcPct val="150000"/>
              </a:lnSpc>
            </a:pPr>
            <a:r>
              <a:rPr lang="zh-CN" altLang="en-US" sz="1000" b="1" dirty="0">
                <a:solidFill>
                  <a:schemeClr val="tx1"/>
                </a:solidFill>
                <a:latin typeface="Arial" panose="020B0604020202020204" pitchFamily="34" charset="0"/>
              </a:rPr>
              <a:t>　　 </a:t>
            </a:r>
            <a:endParaRPr lang="zh-CN" altLang="en-US" sz="800" b="1" dirty="0">
              <a:solidFill>
                <a:schemeClr val="tx1"/>
              </a:solidFill>
              <a:latin typeface="Arial" panose="020B0604020202020204" pitchFamily="34" charset="0"/>
            </a:endParaRPr>
          </a:p>
          <a:p>
            <a:pPr eaLnBrk="0" hangingPunct="0"/>
            <a:endParaRPr lang="zh-CN" altLang="en-US" sz="800" dirty="0">
              <a:solidFill>
                <a:schemeClr val="tx1"/>
              </a:solidFill>
              <a:latin typeface="Arial" panose="020B0604020202020204" pitchFamily="34" charset="0"/>
            </a:endParaRPr>
          </a:p>
        </p:txBody>
      </p:sp>
      <p:pic>
        <p:nvPicPr>
          <p:cNvPr id="125962" name="图片 125961" descr="F:/2018/工程化学/第九章化学与生命/http:/imgsrc.baidu.com/baike/abpic/item/9e7ce6dc2eb015b8cc11666f.jpg">
            <a:hlinkClick r:id="rId2"/>
          </p:cNvPr>
          <p:cNvPicPr>
            <a:picLocks noChangeAspect="1"/>
          </p:cNvPicPr>
          <p:nvPr/>
        </p:nvPicPr>
        <p:blipFill>
          <a:blip r:embed="rId3" r:link="rId4" cstate="print"/>
          <a:stretch>
            <a:fillRect/>
          </a:stretch>
        </p:blipFill>
        <p:spPr>
          <a:xfrm>
            <a:off x="3348038" y="4221163"/>
            <a:ext cx="2520950" cy="1058862"/>
          </a:xfrm>
          <a:prstGeom prst="rect">
            <a:avLst/>
          </a:prstGeom>
          <a:noFill/>
          <a:ln w="9525">
            <a:noFill/>
          </a:ln>
        </p:spPr>
      </p:pic>
      <p:sp>
        <p:nvSpPr>
          <p:cNvPr id="125964" name="矩形 125963"/>
          <p:cNvSpPr/>
          <p:nvPr/>
        </p:nvSpPr>
        <p:spPr>
          <a:xfrm>
            <a:off x="438150" y="1581617"/>
            <a:ext cx="8454330" cy="1246495"/>
          </a:xfrm>
          <a:prstGeom prst="rect">
            <a:avLst/>
          </a:prstGeom>
          <a:solidFill>
            <a:srgbClr val="FFFFFF"/>
          </a:solidFill>
          <a:ln w="9525">
            <a:noFill/>
          </a:ln>
        </p:spPr>
        <p:txBody>
          <a:bodyPr wrap="square" lIns="31740" tIns="0" rIns="31740" bIns="0" anchor="ctr">
            <a:spAutoFit/>
          </a:bodyPr>
          <a:lstStyle/>
          <a:p>
            <a:pPr>
              <a:lnSpc>
                <a:spcPct val="150000"/>
              </a:lnSpc>
            </a:pPr>
            <a:r>
              <a:rPr lang="en-US" altLang="zh-CN" b="1" dirty="0" smtClean="0">
                <a:solidFill>
                  <a:srgbClr val="FF0000"/>
                </a:solidFill>
                <a:latin typeface="Arial" panose="020B0604020202020204" pitchFamily="34" charset="0"/>
              </a:rPr>
              <a:t>    《</a:t>
            </a:r>
            <a:r>
              <a:rPr lang="zh-CN" altLang="en-US" b="1" dirty="0" smtClean="0">
                <a:solidFill>
                  <a:srgbClr val="FF0000"/>
                </a:solidFill>
                <a:latin typeface="Arial" panose="020B0604020202020204" pitchFamily="34" charset="0"/>
              </a:rPr>
              <a:t>新科学家</a:t>
            </a:r>
            <a:r>
              <a:rPr lang="en-US" altLang="zh-CN" b="1" dirty="0" smtClean="0">
                <a:solidFill>
                  <a:srgbClr val="FF0000"/>
                </a:solidFill>
                <a:latin typeface="Arial" panose="020B0604020202020204" pitchFamily="34" charset="0"/>
              </a:rPr>
              <a:t>》</a:t>
            </a:r>
            <a:r>
              <a:rPr lang="zh-CN" altLang="en-US" b="1" dirty="0">
                <a:solidFill>
                  <a:srgbClr val="FF0000"/>
                </a:solidFill>
                <a:latin typeface="Arial" panose="020B0604020202020204" pitchFamily="34" charset="0"/>
              </a:rPr>
              <a:t>杂志网站</a:t>
            </a:r>
            <a:r>
              <a:rPr lang="en-US" altLang="zh-CN" b="1" dirty="0">
                <a:solidFill>
                  <a:srgbClr val="FF0000"/>
                </a:solidFill>
                <a:latin typeface="Arial" panose="020B0604020202020204" pitchFamily="34" charset="0"/>
              </a:rPr>
              <a:t>2009</a:t>
            </a:r>
            <a:r>
              <a:rPr lang="zh-CN" altLang="en-US" b="1" dirty="0">
                <a:solidFill>
                  <a:srgbClr val="FF0000"/>
                </a:solidFill>
                <a:latin typeface="Arial" panose="020B0604020202020204" pitchFamily="34" charset="0"/>
              </a:rPr>
              <a:t>年</a:t>
            </a:r>
            <a:r>
              <a:rPr lang="en-US" altLang="zh-CN" b="1" dirty="0">
                <a:solidFill>
                  <a:srgbClr val="FF0000"/>
                </a:solidFill>
                <a:latin typeface="Arial" panose="020B0604020202020204" pitchFamily="34" charset="0"/>
              </a:rPr>
              <a:t>8</a:t>
            </a:r>
            <a:r>
              <a:rPr lang="zh-CN" altLang="en-US" b="1" dirty="0">
                <a:solidFill>
                  <a:srgbClr val="FF0000"/>
                </a:solidFill>
                <a:latin typeface="Arial" panose="020B0604020202020204" pitchFamily="34" charset="0"/>
              </a:rPr>
              <a:t>月</a:t>
            </a:r>
            <a:r>
              <a:rPr lang="en-US" altLang="zh-CN" b="1" dirty="0">
                <a:solidFill>
                  <a:srgbClr val="FF0000"/>
                </a:solidFill>
                <a:latin typeface="Arial" panose="020B0604020202020204" pitchFamily="34" charset="0"/>
              </a:rPr>
              <a:t>17</a:t>
            </a:r>
            <a:r>
              <a:rPr lang="zh-CN" altLang="en-US" b="1" dirty="0">
                <a:solidFill>
                  <a:srgbClr val="FF0000"/>
                </a:solidFill>
                <a:latin typeface="Arial" panose="020B0604020202020204" pitchFamily="34" charset="0"/>
              </a:rPr>
              <a:t>日报道称，美研究人员第一次在彗星尘埃样品中发现了甘氨酸</a:t>
            </a:r>
            <a:r>
              <a:rPr lang="en-US" altLang="zh-CN" b="1" dirty="0">
                <a:solidFill>
                  <a:srgbClr val="FF0000"/>
                </a:solidFill>
                <a:latin typeface="Arial" panose="020B0604020202020204" pitchFamily="34" charset="0"/>
              </a:rPr>
              <a:t>——</a:t>
            </a:r>
            <a:r>
              <a:rPr lang="zh-CN" altLang="en-US" b="1" dirty="0">
                <a:solidFill>
                  <a:srgbClr val="FF0000"/>
                </a:solidFill>
                <a:latin typeface="Arial" panose="020B0604020202020204" pitchFamily="34" charset="0"/>
              </a:rPr>
              <a:t>一种结构最为简单的氨基酸。该发现证实，早期地球生命的部分构成元素来自于太空</a:t>
            </a:r>
            <a:r>
              <a:rPr lang="zh-CN" altLang="en-US" b="1" dirty="0" smtClean="0">
                <a:solidFill>
                  <a:srgbClr val="FF0000"/>
                </a:solidFill>
                <a:latin typeface="Arial" panose="020B0604020202020204" pitchFamily="34" charset="0"/>
              </a:rPr>
              <a:t>。</a:t>
            </a:r>
            <a:endParaRPr lang="zh-CN" altLang="en-US" b="1" dirty="0">
              <a:solidFill>
                <a:srgbClr val="FF0000"/>
              </a:solidFill>
              <a:latin typeface="Arial" panose="020B0604020202020204" pitchFamily="34" charset="0"/>
            </a:endParaRPr>
          </a:p>
        </p:txBody>
      </p:sp>
      <p:sp>
        <p:nvSpPr>
          <p:cNvPr id="10245" name="灯片编号占位符 1"/>
          <p:cNvSpPr>
            <a:spLocks noGrp="1"/>
          </p:cNvSpPr>
          <p:nvPr>
            <p:ph type="sldNum" sz="quarter" idx="11"/>
          </p:nvPr>
        </p:nvSpPr>
        <p:spPr>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400" dirty="0"/>
              <a:pPr lvl="0" indent="0" algn="r"/>
              <a:t>8</a:t>
            </a:fld>
            <a:endParaRPr lang="zh-CN" altLang="en-US" sz="14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125964">
                                            <p:txEl>
                                              <p:pRg st="0" end="0"/>
                                            </p:txEl>
                                          </p:spTgt>
                                        </p:tgtEl>
                                        <p:attrNameLst>
                                          <p:attrName>style.visibility</p:attrName>
                                        </p:attrNameLst>
                                      </p:cBhvr>
                                      <p:to>
                                        <p:strVal val="visible"/>
                                      </p:to>
                                    </p:set>
                                    <p:anim calcmode="lin" valueType="num">
                                      <p:cBhvr>
                                        <p:cTn id="7" dur="1" fill="hold"/>
                                        <p:tgtEl>
                                          <p:spTgt spid="125964">
                                            <p:txEl>
                                              <p:pRg st="0" end="0"/>
                                            </p:txEl>
                                          </p:spTgt>
                                        </p:tgtEl>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125963">
                                            <p:txEl>
                                              <p:pRg st="0" end="0"/>
                                            </p:txEl>
                                          </p:spTgt>
                                        </p:tgtEl>
                                        <p:attrNameLst>
                                          <p:attrName>style.visibility</p:attrName>
                                        </p:attrNameLst>
                                      </p:cBhvr>
                                      <p:to>
                                        <p:strVal val="visible"/>
                                      </p:to>
                                    </p:set>
                                    <p:anim calcmode="lin" valueType="num">
                                      <p:cBhvr>
                                        <p:cTn id="12" dur="1" fill="hold"/>
                                        <p:tgtEl>
                                          <p:spTgt spid="125963">
                                            <p:txEl>
                                              <p:pRg st="0" end="0"/>
                                            </p:txEl>
                                          </p:spTgt>
                                        </p:tgtEl>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nodeType="clickEffect">
                                  <p:stCondLst>
                                    <p:cond delay="0"/>
                                  </p:stCondLst>
                                  <p:childTnLst>
                                    <p:set>
                                      <p:cBhvr>
                                        <p:cTn id="16" dur="1" fill="hold">
                                          <p:stCondLst>
                                            <p:cond delay="0"/>
                                          </p:stCondLst>
                                        </p:cTn>
                                        <p:tgtEl>
                                          <p:spTgt spid="125962"/>
                                        </p:tgtEl>
                                        <p:attrNameLst>
                                          <p:attrName>style.visibility</p:attrName>
                                        </p:attrNameLst>
                                      </p:cBhvr>
                                      <p:to>
                                        <p:strVal val="visible"/>
                                      </p:to>
                                    </p:set>
                                    <p:anim calcmode="lin" valueType="num">
                                      <p:cBhvr>
                                        <p:cTn id="17" dur="1" fill="hold"/>
                                        <p:tgtEl>
                                          <p:spTgt spid="125962"/>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4595" name="文本框 494594"/>
          <p:cNvSpPr txBox="1"/>
          <p:nvPr/>
        </p:nvSpPr>
        <p:spPr>
          <a:xfrm>
            <a:off x="479425" y="501650"/>
            <a:ext cx="7234238" cy="641350"/>
          </a:xfrm>
          <a:prstGeom prst="rect">
            <a:avLst/>
          </a:prstGeom>
          <a:noFill/>
          <a:ln w="9525">
            <a:noFill/>
          </a:ln>
        </p:spPr>
        <p:txBody>
          <a:bodyPr wrap="none" anchor="t">
            <a:spAutoFit/>
          </a:bodyPr>
          <a:lstStyle/>
          <a:p>
            <a:pPr>
              <a:buClr>
                <a:schemeClr val="bg1"/>
              </a:buClr>
            </a:pPr>
            <a:r>
              <a:rPr lang="zh-CN" altLang="en-US" sz="3200" b="1" dirty="0">
                <a:latin typeface="楷体_GB2312" pitchFamily="49" charset="-122"/>
                <a:ea typeface="楷体_GB2312" pitchFamily="49" charset="-122"/>
              </a:rPr>
              <a:t>蛋白质与氨基酸在人体内的变化及作用</a:t>
            </a:r>
            <a:r>
              <a:rPr lang="zh-CN" altLang="en-US" sz="3600" b="1" dirty="0">
                <a:latin typeface="Times New Roman" panose="02020603050405020304" pitchFamily="18" charset="0"/>
              </a:rPr>
              <a:t> </a:t>
            </a:r>
            <a:endParaRPr lang="zh-CN" altLang="en-US" sz="3600" b="1">
              <a:latin typeface="Times New Roman" panose="02020603050405020304" pitchFamily="18" charset="0"/>
            </a:endParaRPr>
          </a:p>
        </p:txBody>
      </p:sp>
      <p:sp>
        <p:nvSpPr>
          <p:cNvPr id="494596" name="文本框 494595"/>
          <p:cNvSpPr txBox="1"/>
          <p:nvPr/>
        </p:nvSpPr>
        <p:spPr>
          <a:xfrm>
            <a:off x="250825" y="2565400"/>
            <a:ext cx="2160588" cy="579438"/>
          </a:xfrm>
          <a:prstGeom prst="rect">
            <a:avLst/>
          </a:prstGeom>
          <a:noFill/>
          <a:ln w="9525">
            <a:noFill/>
          </a:ln>
        </p:spPr>
        <p:txBody>
          <a:bodyPr anchor="t">
            <a:spAutoFit/>
          </a:bodyPr>
          <a:lstStyle/>
          <a:p>
            <a:pPr>
              <a:buClr>
                <a:schemeClr val="bg1"/>
              </a:buClr>
            </a:pPr>
            <a:r>
              <a:rPr lang="zh-CN" altLang="en-US" sz="3200" b="1" dirty="0">
                <a:latin typeface="Times New Roman" panose="02020603050405020304" pitchFamily="18" charset="0"/>
                <a:ea typeface="楷体_GB2312" pitchFamily="49" charset="-122"/>
              </a:rPr>
              <a:t>蛋白质</a:t>
            </a:r>
            <a:endParaRPr lang="zh-CN" altLang="en-US" sz="3200" b="1">
              <a:latin typeface="Times New Roman" panose="02020603050405020304" pitchFamily="18" charset="0"/>
              <a:ea typeface="楷体_GB2312" pitchFamily="49" charset="-122"/>
            </a:endParaRPr>
          </a:p>
        </p:txBody>
      </p:sp>
      <p:sp>
        <p:nvSpPr>
          <p:cNvPr id="494597" name="直接连接符 494596"/>
          <p:cNvSpPr/>
          <p:nvPr/>
        </p:nvSpPr>
        <p:spPr>
          <a:xfrm>
            <a:off x="1828800" y="2924175"/>
            <a:ext cx="2590800" cy="0"/>
          </a:xfrm>
          <a:prstGeom prst="line">
            <a:avLst/>
          </a:prstGeom>
          <a:ln w="9525" cap="flat" cmpd="sng">
            <a:solidFill>
              <a:schemeClr val="tx1"/>
            </a:solidFill>
            <a:prstDash val="solid"/>
            <a:round/>
            <a:headEnd type="none" w="med" len="med"/>
            <a:tailEnd type="triangle" w="med" len="med"/>
          </a:ln>
        </p:spPr>
      </p:sp>
      <p:sp>
        <p:nvSpPr>
          <p:cNvPr id="494598" name="文本框 494597"/>
          <p:cNvSpPr txBox="1"/>
          <p:nvPr/>
        </p:nvSpPr>
        <p:spPr>
          <a:xfrm>
            <a:off x="1812925" y="2368550"/>
            <a:ext cx="3046413" cy="396875"/>
          </a:xfrm>
          <a:prstGeom prst="rect">
            <a:avLst/>
          </a:prstGeom>
          <a:noFill/>
          <a:ln w="9525">
            <a:noFill/>
          </a:ln>
        </p:spPr>
        <p:txBody>
          <a:bodyPr anchor="t">
            <a:spAutoFit/>
          </a:bodyPr>
          <a:lstStyle/>
          <a:p>
            <a:pPr>
              <a:buClr>
                <a:schemeClr val="bg1"/>
              </a:buClr>
            </a:pPr>
            <a:r>
              <a:rPr lang="zh-CN" altLang="en-US" sz="2000" b="1" dirty="0">
                <a:latin typeface="Times New Roman" panose="02020603050405020304" pitchFamily="18" charset="0"/>
                <a:ea typeface="楷体_GB2312" pitchFamily="49" charset="-122"/>
              </a:rPr>
              <a:t>胃蛋白酶和胰蛋白酶</a:t>
            </a:r>
            <a:endParaRPr lang="zh-CN" altLang="en-US" sz="2000" b="1">
              <a:latin typeface="Times New Roman" panose="02020603050405020304" pitchFamily="18" charset="0"/>
              <a:ea typeface="楷体_GB2312" pitchFamily="49" charset="-122"/>
            </a:endParaRPr>
          </a:p>
        </p:txBody>
      </p:sp>
      <p:sp>
        <p:nvSpPr>
          <p:cNvPr id="494599" name="文本框 494598"/>
          <p:cNvSpPr txBox="1"/>
          <p:nvPr/>
        </p:nvSpPr>
        <p:spPr>
          <a:xfrm>
            <a:off x="2193925" y="3273425"/>
            <a:ext cx="184150" cy="396875"/>
          </a:xfrm>
          <a:prstGeom prst="rect">
            <a:avLst/>
          </a:prstGeom>
          <a:noFill/>
          <a:ln w="9525">
            <a:noFill/>
          </a:ln>
        </p:spPr>
        <p:txBody>
          <a:bodyPr wrap="none" anchor="t">
            <a:spAutoFit/>
          </a:bodyPr>
          <a:lstStyle/>
          <a:p>
            <a:pPr>
              <a:buClr>
                <a:schemeClr val="bg1"/>
              </a:buClr>
            </a:pPr>
            <a:endParaRPr lang="zh-CN" altLang="en-US" sz="2000" b="1" dirty="0">
              <a:latin typeface="Times New Roman" panose="02020603050405020304" pitchFamily="18" charset="0"/>
            </a:endParaRPr>
          </a:p>
        </p:txBody>
      </p:sp>
      <p:sp>
        <p:nvSpPr>
          <p:cNvPr id="494600" name="文本框 494599"/>
          <p:cNvSpPr txBox="1"/>
          <p:nvPr/>
        </p:nvSpPr>
        <p:spPr>
          <a:xfrm>
            <a:off x="2362200" y="3068638"/>
            <a:ext cx="1346200" cy="396875"/>
          </a:xfrm>
          <a:prstGeom prst="rect">
            <a:avLst/>
          </a:prstGeom>
          <a:noFill/>
          <a:ln w="9525">
            <a:noFill/>
          </a:ln>
        </p:spPr>
        <p:txBody>
          <a:bodyPr anchor="t">
            <a:spAutoFit/>
          </a:bodyPr>
          <a:lstStyle/>
          <a:p>
            <a:pPr>
              <a:buClr>
                <a:schemeClr val="bg1"/>
              </a:buClr>
            </a:pPr>
            <a:r>
              <a:rPr lang="zh-CN" altLang="en-US" sz="2000" b="1" dirty="0">
                <a:latin typeface="楷体_GB2312" pitchFamily="49" charset="-122"/>
                <a:ea typeface="楷体_GB2312" pitchFamily="49" charset="-122"/>
              </a:rPr>
              <a:t>    水解</a:t>
            </a:r>
            <a:endParaRPr lang="zh-CN" altLang="en-US" sz="2000" b="1">
              <a:latin typeface="楷体_GB2312" pitchFamily="49" charset="-122"/>
              <a:ea typeface="楷体_GB2312" pitchFamily="49" charset="-122"/>
            </a:endParaRPr>
          </a:p>
        </p:txBody>
      </p:sp>
      <p:sp>
        <p:nvSpPr>
          <p:cNvPr id="494601" name="文本框 494600"/>
          <p:cNvSpPr txBox="1"/>
          <p:nvPr/>
        </p:nvSpPr>
        <p:spPr>
          <a:xfrm>
            <a:off x="4403725" y="2646363"/>
            <a:ext cx="3192463" cy="579437"/>
          </a:xfrm>
          <a:prstGeom prst="rect">
            <a:avLst/>
          </a:prstGeom>
          <a:noFill/>
          <a:ln w="9525">
            <a:noFill/>
          </a:ln>
        </p:spPr>
        <p:txBody>
          <a:bodyPr anchor="t">
            <a:spAutoFit/>
          </a:bodyPr>
          <a:lstStyle/>
          <a:p>
            <a:pPr>
              <a:buClr>
                <a:schemeClr val="bg1"/>
              </a:buClr>
            </a:pPr>
            <a:r>
              <a:rPr lang="zh-CN" altLang="en-US" sz="2800" b="1" dirty="0">
                <a:latin typeface="楷体_GB2312" pitchFamily="49" charset="-122"/>
                <a:ea typeface="楷体_GB2312" pitchFamily="49" charset="-122"/>
              </a:rPr>
              <a:t>多种</a:t>
            </a:r>
            <a:r>
              <a:rPr lang="en-US" altLang="zh-CN" sz="3200" b="1">
                <a:latin typeface="楷体_GB2312" pitchFamily="49" charset="-122"/>
                <a:ea typeface="楷体_GB2312" pitchFamily="49" charset="-122"/>
              </a:rPr>
              <a:t>α-</a:t>
            </a:r>
            <a:r>
              <a:rPr lang="zh-CN" altLang="en-US" sz="3200" b="1" dirty="0">
                <a:latin typeface="楷体_GB2312" pitchFamily="49" charset="-122"/>
                <a:ea typeface="楷体_GB2312" pitchFamily="49" charset="-122"/>
              </a:rPr>
              <a:t>氨基酸</a:t>
            </a:r>
            <a:endParaRPr lang="zh-CN" altLang="en-US" sz="3200" b="1">
              <a:latin typeface="楷体_GB2312" pitchFamily="49" charset="-122"/>
              <a:ea typeface="楷体_GB2312" pitchFamily="49" charset="-122"/>
            </a:endParaRPr>
          </a:p>
        </p:txBody>
      </p:sp>
      <p:sp>
        <p:nvSpPr>
          <p:cNvPr id="494602" name="直接连接符 494601"/>
          <p:cNvSpPr/>
          <p:nvPr/>
        </p:nvSpPr>
        <p:spPr>
          <a:xfrm flipV="1">
            <a:off x="6553200" y="2349500"/>
            <a:ext cx="381000" cy="381000"/>
          </a:xfrm>
          <a:prstGeom prst="line">
            <a:avLst/>
          </a:prstGeom>
          <a:ln w="9525" cap="flat" cmpd="sng">
            <a:solidFill>
              <a:schemeClr val="tx1"/>
            </a:solidFill>
            <a:prstDash val="solid"/>
            <a:round/>
            <a:headEnd type="none" w="med" len="med"/>
            <a:tailEnd type="triangle" w="med" len="med"/>
          </a:ln>
        </p:spPr>
      </p:sp>
      <p:sp>
        <p:nvSpPr>
          <p:cNvPr id="494603" name="文本框 494602"/>
          <p:cNvSpPr txBox="1"/>
          <p:nvPr/>
        </p:nvSpPr>
        <p:spPr>
          <a:xfrm>
            <a:off x="7019925" y="1647825"/>
            <a:ext cx="1800225" cy="946150"/>
          </a:xfrm>
          <a:prstGeom prst="rect">
            <a:avLst/>
          </a:prstGeom>
          <a:noFill/>
          <a:ln w="9525">
            <a:noFill/>
          </a:ln>
        </p:spPr>
        <p:txBody>
          <a:bodyPr anchor="t">
            <a:spAutoFit/>
          </a:bodyPr>
          <a:lstStyle/>
          <a:p>
            <a:pPr>
              <a:buClr>
                <a:schemeClr val="bg1"/>
              </a:buClr>
            </a:pPr>
            <a:r>
              <a:rPr lang="zh-CN" altLang="en-US" sz="2800" b="1" dirty="0">
                <a:latin typeface="Times New Roman" panose="02020603050405020304" pitchFamily="18" charset="0"/>
                <a:ea typeface="楷体_GB2312" pitchFamily="49" charset="-122"/>
              </a:rPr>
              <a:t>重新合成</a:t>
            </a:r>
          </a:p>
          <a:p>
            <a:pPr>
              <a:buClr>
                <a:schemeClr val="bg1"/>
              </a:buClr>
            </a:pPr>
            <a:r>
              <a:rPr lang="zh-CN" altLang="en-US" sz="2800" b="1" dirty="0">
                <a:latin typeface="Times New Roman" panose="02020603050405020304" pitchFamily="18" charset="0"/>
                <a:ea typeface="楷体_GB2312" pitchFamily="49" charset="-122"/>
              </a:rPr>
              <a:t>人体蛋白</a:t>
            </a:r>
            <a:endParaRPr lang="zh-CN" altLang="en-US" sz="2800" b="1">
              <a:latin typeface="Times New Roman" panose="02020603050405020304" pitchFamily="18" charset="0"/>
              <a:ea typeface="楷体_GB2312" pitchFamily="49" charset="-122"/>
            </a:endParaRPr>
          </a:p>
        </p:txBody>
      </p:sp>
      <p:sp>
        <p:nvSpPr>
          <p:cNvPr id="494604" name="直接连接符 494603"/>
          <p:cNvSpPr/>
          <p:nvPr/>
        </p:nvSpPr>
        <p:spPr>
          <a:xfrm>
            <a:off x="6553200" y="3284538"/>
            <a:ext cx="381000" cy="228600"/>
          </a:xfrm>
          <a:prstGeom prst="line">
            <a:avLst/>
          </a:prstGeom>
          <a:ln w="9525" cap="flat" cmpd="sng">
            <a:solidFill>
              <a:schemeClr val="tx1"/>
            </a:solidFill>
            <a:prstDash val="solid"/>
            <a:round/>
            <a:headEnd type="none" w="med" len="med"/>
            <a:tailEnd type="triangle" w="med" len="med"/>
          </a:ln>
        </p:spPr>
      </p:sp>
      <p:sp>
        <p:nvSpPr>
          <p:cNvPr id="494605" name="文本框 494604"/>
          <p:cNvSpPr txBox="1"/>
          <p:nvPr/>
        </p:nvSpPr>
        <p:spPr>
          <a:xfrm>
            <a:off x="6516688" y="3635375"/>
            <a:ext cx="2627312" cy="946150"/>
          </a:xfrm>
          <a:prstGeom prst="rect">
            <a:avLst/>
          </a:prstGeom>
          <a:noFill/>
          <a:ln w="9525">
            <a:noFill/>
          </a:ln>
        </p:spPr>
        <p:txBody>
          <a:bodyPr anchor="t">
            <a:spAutoFit/>
          </a:bodyPr>
          <a:lstStyle/>
          <a:p>
            <a:pPr>
              <a:buClr>
                <a:schemeClr val="bg1"/>
              </a:buClr>
            </a:pPr>
            <a:r>
              <a:rPr lang="zh-CN" altLang="en-US" sz="2800" b="1" dirty="0">
                <a:latin typeface="Times New Roman" panose="02020603050405020304" pitchFamily="18" charset="0"/>
                <a:ea typeface="楷体_GB2312" pitchFamily="49" charset="-122"/>
              </a:rPr>
              <a:t>构成和修补</a:t>
            </a:r>
          </a:p>
          <a:p>
            <a:pPr>
              <a:buClr>
                <a:schemeClr val="bg1"/>
              </a:buClr>
            </a:pPr>
            <a:r>
              <a:rPr lang="zh-CN" altLang="en-US" sz="2800" b="1" dirty="0">
                <a:latin typeface="Times New Roman" panose="02020603050405020304" pitchFamily="18" charset="0"/>
                <a:ea typeface="楷体_GB2312" pitchFamily="49" charset="-122"/>
              </a:rPr>
              <a:t>人体各种组织</a:t>
            </a:r>
            <a:endParaRPr lang="zh-CN" altLang="en-US" sz="2800" b="1">
              <a:latin typeface="Times New Roman" panose="02020603050405020304" pitchFamily="18" charset="0"/>
              <a:ea typeface="楷体_GB2312" pitchFamily="49" charset="-122"/>
            </a:endParaRPr>
          </a:p>
        </p:txBody>
      </p:sp>
      <p:sp>
        <p:nvSpPr>
          <p:cNvPr id="11276" name="灯片编号占位符 1"/>
          <p:cNvSpPr>
            <a:spLocks noGrp="1"/>
          </p:cNvSpPr>
          <p:nvPr>
            <p:ph type="sldNum" sz="quarter" idx="11"/>
          </p:nvPr>
        </p:nvSpPr>
        <p:spPr>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400" dirty="0"/>
              <a:pPr lvl="0" indent="0" algn="r"/>
              <a:t>9</a:t>
            </a:fld>
            <a:endParaRPr lang="zh-CN" altLang="en-US" sz="14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94595">
                                            <p:txEl>
                                              <p:pRg st="0" end="0"/>
                                            </p:txEl>
                                          </p:spTgt>
                                        </p:tgtEl>
                                        <p:attrNameLst>
                                          <p:attrName>style.visibility</p:attrName>
                                        </p:attrNameLst>
                                      </p:cBhvr>
                                      <p:to>
                                        <p:strVal val="visible"/>
                                      </p:to>
                                    </p:set>
                                    <p:anim calcmode="lin" valueType="num">
                                      <p:cBhvr additive="base">
                                        <p:cTn id="7" dur="500" fill="hold"/>
                                        <p:tgtEl>
                                          <p:spTgt spid="49459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9459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94596">
                                            <p:txEl>
                                              <p:pRg st="0" end="0"/>
                                            </p:txEl>
                                          </p:spTgt>
                                        </p:tgtEl>
                                        <p:attrNameLst>
                                          <p:attrName>style.visibility</p:attrName>
                                        </p:attrNameLst>
                                      </p:cBhvr>
                                      <p:to>
                                        <p:strVal val="visible"/>
                                      </p:to>
                                    </p:set>
                                    <p:anim calcmode="lin" valueType="num">
                                      <p:cBhvr additive="base">
                                        <p:cTn id="13" dur="500" fill="hold"/>
                                        <p:tgtEl>
                                          <p:spTgt spid="494596">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9459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494597"/>
                                        </p:tgtEl>
                                        <p:attrNameLst>
                                          <p:attrName>style.visibility</p:attrName>
                                        </p:attrNameLst>
                                      </p:cBhvr>
                                      <p:to>
                                        <p:strVal val="visible"/>
                                      </p:to>
                                    </p:set>
                                    <p:anim calcmode="lin" valueType="num">
                                      <p:cBhvr additive="base">
                                        <p:cTn id="19" dur="500" fill="hold"/>
                                        <p:tgtEl>
                                          <p:spTgt spid="494597"/>
                                        </p:tgtEl>
                                        <p:attrNameLst>
                                          <p:attrName>ppt_x</p:attrName>
                                        </p:attrNameLst>
                                      </p:cBhvr>
                                      <p:tavLst>
                                        <p:tav tm="0">
                                          <p:val>
                                            <p:strVal val="0-#ppt_w/2"/>
                                          </p:val>
                                        </p:tav>
                                        <p:tav tm="100000">
                                          <p:val>
                                            <p:strVal val="#ppt_x"/>
                                          </p:val>
                                        </p:tav>
                                      </p:tavLst>
                                    </p:anim>
                                    <p:anim calcmode="lin" valueType="num">
                                      <p:cBhvr additive="base">
                                        <p:cTn id="20" dur="500" fill="hold"/>
                                        <p:tgtEl>
                                          <p:spTgt spid="49459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94598">
                                            <p:txEl>
                                              <p:pRg st="0" end="0"/>
                                            </p:txEl>
                                          </p:spTgt>
                                        </p:tgtEl>
                                        <p:attrNameLst>
                                          <p:attrName>style.visibility</p:attrName>
                                        </p:attrNameLst>
                                      </p:cBhvr>
                                      <p:to>
                                        <p:strVal val="visible"/>
                                      </p:to>
                                    </p:set>
                                    <p:anim calcmode="lin" valueType="num">
                                      <p:cBhvr additive="base">
                                        <p:cTn id="25" dur="500" fill="hold"/>
                                        <p:tgtEl>
                                          <p:spTgt spid="494598">
                                            <p:txEl>
                                              <p:pRg st="0" end="0"/>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49459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nodePh="1">
                                  <p:stCondLst>
                                    <p:cond delay="0"/>
                                  </p:stCondLst>
                                  <p:endCondLst>
                                    <p:cond evt="begin" delay="0">
                                      <p:tn val="29"/>
                                    </p:cond>
                                  </p:endCondLst>
                                  <p:childTnLst>
                                    <p:set>
                                      <p:cBhvr>
                                        <p:cTn id="30" dur="1" fill="hold">
                                          <p:stCondLst>
                                            <p:cond delay="0"/>
                                          </p:stCondLst>
                                        </p:cTn>
                                        <p:tgtEl>
                                          <p:spTgt spid="494599">
                                            <p:txEl>
                                              <p:pRg st="0" end="0"/>
                                            </p:txEl>
                                          </p:spTgt>
                                        </p:tgtEl>
                                        <p:attrNameLst>
                                          <p:attrName>style.visibility</p:attrName>
                                        </p:attrNameLst>
                                      </p:cBhvr>
                                      <p:to>
                                        <p:strVal val="visible"/>
                                      </p:to>
                                    </p:set>
                                    <p:anim calcmode="lin" valueType="num">
                                      <p:cBhvr additive="base">
                                        <p:cTn id="31" dur="500" fill="hold"/>
                                        <p:tgtEl>
                                          <p:spTgt spid="494599">
                                            <p:txEl>
                                              <p:pRg st="0" end="0"/>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49459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494600">
                                            <p:txEl>
                                              <p:pRg st="0" end="0"/>
                                            </p:txEl>
                                          </p:spTgt>
                                        </p:tgtEl>
                                        <p:attrNameLst>
                                          <p:attrName>style.visibility</p:attrName>
                                        </p:attrNameLst>
                                      </p:cBhvr>
                                      <p:to>
                                        <p:strVal val="visible"/>
                                      </p:to>
                                    </p:set>
                                    <p:anim calcmode="lin" valueType="num">
                                      <p:cBhvr additive="base">
                                        <p:cTn id="37" dur="500" fill="hold"/>
                                        <p:tgtEl>
                                          <p:spTgt spid="494600">
                                            <p:txEl>
                                              <p:pRg st="0" end="0"/>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49460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494601">
                                            <p:txEl>
                                              <p:pRg st="0" end="0"/>
                                            </p:txEl>
                                          </p:spTgt>
                                        </p:tgtEl>
                                        <p:attrNameLst>
                                          <p:attrName>style.visibility</p:attrName>
                                        </p:attrNameLst>
                                      </p:cBhvr>
                                      <p:to>
                                        <p:strVal val="visible"/>
                                      </p:to>
                                    </p:set>
                                    <p:anim calcmode="lin" valueType="num">
                                      <p:cBhvr additive="base">
                                        <p:cTn id="43" dur="500" fill="hold"/>
                                        <p:tgtEl>
                                          <p:spTgt spid="494601">
                                            <p:txEl>
                                              <p:pRg st="0" end="0"/>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49460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nodeType="clickEffect">
                                  <p:stCondLst>
                                    <p:cond delay="0"/>
                                  </p:stCondLst>
                                  <p:childTnLst>
                                    <p:set>
                                      <p:cBhvr>
                                        <p:cTn id="48" dur="1" fill="hold">
                                          <p:stCondLst>
                                            <p:cond delay="0"/>
                                          </p:stCondLst>
                                        </p:cTn>
                                        <p:tgtEl>
                                          <p:spTgt spid="494602"/>
                                        </p:tgtEl>
                                        <p:attrNameLst>
                                          <p:attrName>style.visibility</p:attrName>
                                        </p:attrNameLst>
                                      </p:cBhvr>
                                      <p:to>
                                        <p:strVal val="visible"/>
                                      </p:to>
                                    </p:set>
                                    <p:anim calcmode="lin" valueType="num">
                                      <p:cBhvr additive="base">
                                        <p:cTn id="49" dur="500" fill="hold"/>
                                        <p:tgtEl>
                                          <p:spTgt spid="494602"/>
                                        </p:tgtEl>
                                        <p:attrNameLst>
                                          <p:attrName>ppt_x</p:attrName>
                                        </p:attrNameLst>
                                      </p:cBhvr>
                                      <p:tavLst>
                                        <p:tav tm="0">
                                          <p:val>
                                            <p:strVal val="0-#ppt_w/2"/>
                                          </p:val>
                                        </p:tav>
                                        <p:tav tm="100000">
                                          <p:val>
                                            <p:strVal val="#ppt_x"/>
                                          </p:val>
                                        </p:tav>
                                      </p:tavLst>
                                    </p:anim>
                                    <p:anim calcmode="lin" valueType="num">
                                      <p:cBhvr additive="base">
                                        <p:cTn id="50" dur="500" fill="hold"/>
                                        <p:tgtEl>
                                          <p:spTgt spid="494602"/>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494603">
                                            <p:txEl>
                                              <p:pRg st="0" end="0"/>
                                            </p:txEl>
                                          </p:spTgt>
                                        </p:tgtEl>
                                        <p:attrNameLst>
                                          <p:attrName>style.visibility</p:attrName>
                                        </p:attrNameLst>
                                      </p:cBhvr>
                                      <p:to>
                                        <p:strVal val="visible"/>
                                      </p:to>
                                    </p:set>
                                    <p:anim calcmode="lin" valueType="num">
                                      <p:cBhvr additive="base">
                                        <p:cTn id="55" dur="500" fill="hold"/>
                                        <p:tgtEl>
                                          <p:spTgt spid="494603">
                                            <p:txEl>
                                              <p:pRg st="0" end="0"/>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49460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494603">
                                            <p:txEl>
                                              <p:pRg st="1" end="1"/>
                                            </p:txEl>
                                          </p:spTgt>
                                        </p:tgtEl>
                                        <p:attrNameLst>
                                          <p:attrName>style.visibility</p:attrName>
                                        </p:attrNameLst>
                                      </p:cBhvr>
                                      <p:to>
                                        <p:strVal val="visible"/>
                                      </p:to>
                                    </p:set>
                                    <p:anim calcmode="lin" valueType="num">
                                      <p:cBhvr additive="base">
                                        <p:cTn id="61" dur="500" fill="hold"/>
                                        <p:tgtEl>
                                          <p:spTgt spid="494603">
                                            <p:txEl>
                                              <p:pRg st="1" end="1"/>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49460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nodeType="clickEffect">
                                  <p:stCondLst>
                                    <p:cond delay="0"/>
                                  </p:stCondLst>
                                  <p:childTnLst>
                                    <p:set>
                                      <p:cBhvr>
                                        <p:cTn id="66" dur="1" fill="hold">
                                          <p:stCondLst>
                                            <p:cond delay="0"/>
                                          </p:stCondLst>
                                        </p:cTn>
                                        <p:tgtEl>
                                          <p:spTgt spid="494604"/>
                                        </p:tgtEl>
                                        <p:attrNameLst>
                                          <p:attrName>style.visibility</p:attrName>
                                        </p:attrNameLst>
                                      </p:cBhvr>
                                      <p:to>
                                        <p:strVal val="visible"/>
                                      </p:to>
                                    </p:set>
                                    <p:anim calcmode="lin" valueType="num">
                                      <p:cBhvr additive="base">
                                        <p:cTn id="67" dur="500" fill="hold"/>
                                        <p:tgtEl>
                                          <p:spTgt spid="494604"/>
                                        </p:tgtEl>
                                        <p:attrNameLst>
                                          <p:attrName>ppt_x</p:attrName>
                                        </p:attrNameLst>
                                      </p:cBhvr>
                                      <p:tavLst>
                                        <p:tav tm="0">
                                          <p:val>
                                            <p:strVal val="0-#ppt_w/2"/>
                                          </p:val>
                                        </p:tav>
                                        <p:tav tm="100000">
                                          <p:val>
                                            <p:strVal val="#ppt_x"/>
                                          </p:val>
                                        </p:tav>
                                      </p:tavLst>
                                    </p:anim>
                                    <p:anim calcmode="lin" valueType="num">
                                      <p:cBhvr additive="base">
                                        <p:cTn id="68" dur="500" fill="hold"/>
                                        <p:tgtEl>
                                          <p:spTgt spid="494604"/>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494605">
                                            <p:txEl>
                                              <p:pRg st="0" end="0"/>
                                            </p:txEl>
                                          </p:spTgt>
                                        </p:tgtEl>
                                        <p:attrNameLst>
                                          <p:attrName>style.visibility</p:attrName>
                                        </p:attrNameLst>
                                      </p:cBhvr>
                                      <p:to>
                                        <p:strVal val="visible"/>
                                      </p:to>
                                    </p:set>
                                    <p:anim calcmode="lin" valueType="num">
                                      <p:cBhvr additive="base">
                                        <p:cTn id="73" dur="500" fill="hold"/>
                                        <p:tgtEl>
                                          <p:spTgt spid="494605">
                                            <p:txEl>
                                              <p:pRg st="0" end="0"/>
                                            </p:txEl>
                                          </p:spTgt>
                                        </p:tgtEl>
                                        <p:attrNameLst>
                                          <p:attrName>ppt_x</p:attrName>
                                        </p:attrNameLst>
                                      </p:cBhvr>
                                      <p:tavLst>
                                        <p:tav tm="0">
                                          <p:val>
                                            <p:strVal val="0-#ppt_w/2"/>
                                          </p:val>
                                        </p:tav>
                                        <p:tav tm="100000">
                                          <p:val>
                                            <p:strVal val="#ppt_x"/>
                                          </p:val>
                                        </p:tav>
                                      </p:tavLst>
                                    </p:anim>
                                    <p:anim calcmode="lin" valueType="num">
                                      <p:cBhvr additive="base">
                                        <p:cTn id="74" dur="500" fill="hold"/>
                                        <p:tgtEl>
                                          <p:spTgt spid="49460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8" fill="hold" grpId="0" nodeType="clickEffect">
                                  <p:stCondLst>
                                    <p:cond delay="0"/>
                                  </p:stCondLst>
                                  <p:childTnLst>
                                    <p:set>
                                      <p:cBhvr>
                                        <p:cTn id="78" dur="1" fill="hold">
                                          <p:stCondLst>
                                            <p:cond delay="0"/>
                                          </p:stCondLst>
                                        </p:cTn>
                                        <p:tgtEl>
                                          <p:spTgt spid="494605">
                                            <p:txEl>
                                              <p:pRg st="1" end="1"/>
                                            </p:txEl>
                                          </p:spTgt>
                                        </p:tgtEl>
                                        <p:attrNameLst>
                                          <p:attrName>style.visibility</p:attrName>
                                        </p:attrNameLst>
                                      </p:cBhvr>
                                      <p:to>
                                        <p:strVal val="visible"/>
                                      </p:to>
                                    </p:set>
                                    <p:anim calcmode="lin" valueType="num">
                                      <p:cBhvr additive="base">
                                        <p:cTn id="79" dur="500" fill="hold"/>
                                        <p:tgtEl>
                                          <p:spTgt spid="494605">
                                            <p:txEl>
                                              <p:pRg st="1" end="1"/>
                                            </p:txEl>
                                          </p:spTgt>
                                        </p:tgtEl>
                                        <p:attrNameLst>
                                          <p:attrName>ppt_x</p:attrName>
                                        </p:attrNameLst>
                                      </p:cBhvr>
                                      <p:tavLst>
                                        <p:tav tm="0">
                                          <p:val>
                                            <p:strVal val="0-#ppt_w/2"/>
                                          </p:val>
                                        </p:tav>
                                        <p:tav tm="100000">
                                          <p:val>
                                            <p:strVal val="#ppt_x"/>
                                          </p:val>
                                        </p:tav>
                                      </p:tavLst>
                                    </p:anim>
                                    <p:anim calcmode="lin" valueType="num">
                                      <p:cBhvr additive="base">
                                        <p:cTn id="80" dur="500" fill="hold"/>
                                        <p:tgtEl>
                                          <p:spTgt spid="494605">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4595" grpId="0" build="p"/>
      <p:bldP spid="494596" grpId="0" build="p"/>
      <p:bldP spid="494598" grpId="0" build="p"/>
      <p:bldP spid="494599" grpId="0" build="p"/>
      <p:bldP spid="494600" grpId="0" build="p"/>
      <p:bldP spid="494601" grpId="0" build="p"/>
      <p:bldP spid="494603" grpId="0" build="p"/>
      <p:bldP spid="494605"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文本占位符 490498"/>
          <p:cNvSpPr>
            <a:spLocks noGrp="1" noRot="1"/>
          </p:cNvSpPr>
          <p:nvPr>
            <p:ph idx="1"/>
          </p:nvPr>
        </p:nvSpPr>
        <p:spPr>
          <a:xfrm>
            <a:off x="318135" y="334010"/>
            <a:ext cx="8229600" cy="4525963"/>
          </a:xfrm>
          <a:ln/>
        </p:spPr>
        <p:txBody>
          <a:bodyPr anchor="t"/>
          <a:lstStyle/>
          <a:p>
            <a:pPr>
              <a:lnSpc>
                <a:spcPct val="150000"/>
              </a:lnSpc>
            </a:pPr>
            <a:r>
              <a:rPr lang="zh-CN" altLang="en-US" sz="2800" b="1" dirty="0" smtClean="0"/>
              <a:t>       人体</a:t>
            </a:r>
            <a:r>
              <a:rPr lang="zh-CN" altLang="en-US" sz="2800" b="1" dirty="0"/>
              <a:t>必须的</a:t>
            </a:r>
            <a:r>
              <a:rPr lang="en-US" altLang="zh-CN" sz="2800" b="1" dirty="0">
                <a:solidFill>
                  <a:srgbClr val="FF0000"/>
                </a:solidFill>
              </a:rPr>
              <a:t>8</a:t>
            </a:r>
            <a:r>
              <a:rPr lang="zh-CN" altLang="en-US" sz="2800" b="1" dirty="0"/>
              <a:t>种氨基酸： 指人体（或其它脊椎动物）不能合成或合成速度远不适应机体的需要，必需由食物蛋白供给，这些氨基酸称为必需氨基酸：</a:t>
            </a:r>
          </a:p>
          <a:p>
            <a:pPr>
              <a:lnSpc>
                <a:spcPct val="150000"/>
              </a:lnSpc>
            </a:pPr>
            <a:r>
              <a:rPr lang="zh-CN" altLang="en-US" sz="2800" b="1" dirty="0"/>
              <a:t>　　①</a:t>
            </a:r>
            <a:r>
              <a:rPr lang="zh-CN" altLang="en-US" sz="2800" b="1" dirty="0">
                <a:hlinkClick r:id="rId2"/>
              </a:rPr>
              <a:t>赖氨酸</a:t>
            </a:r>
            <a:r>
              <a:rPr lang="zh-CN" altLang="en-US" sz="2800" b="1" dirty="0"/>
              <a:t>：</a:t>
            </a:r>
            <a:r>
              <a:rPr lang="zh-CN" altLang="en-US" sz="2400" b="1" dirty="0"/>
              <a:t>促进大脑发育，是肝及胆的组成成分，能促进脂肪代谢，调节松果腺、乳腺、黄体及卵巢，防止细胞退化</a:t>
            </a:r>
            <a:r>
              <a:rPr lang="en-US" altLang="zh-CN" sz="2400" b="1" dirty="0"/>
              <a:t>,</a:t>
            </a:r>
            <a:r>
              <a:rPr lang="zh-CN" altLang="en-US" sz="2400" b="1" dirty="0"/>
              <a:t>增加钙吸收</a:t>
            </a:r>
            <a:r>
              <a:rPr lang="en-US" altLang="zh-CN" sz="2400" b="1" dirty="0"/>
              <a:t>,</a:t>
            </a:r>
            <a:r>
              <a:rPr lang="zh-CN" altLang="en-US" sz="2400" b="1" dirty="0"/>
              <a:t>从而增高；</a:t>
            </a:r>
          </a:p>
          <a:p>
            <a:pPr>
              <a:lnSpc>
                <a:spcPct val="150000"/>
              </a:lnSpc>
            </a:pPr>
            <a:r>
              <a:rPr lang="zh-CN" altLang="en-US" sz="2800" b="1" dirty="0"/>
              <a:t>　　②</a:t>
            </a:r>
            <a:r>
              <a:rPr lang="zh-CN" altLang="en-US" sz="2800" b="1" dirty="0">
                <a:hlinkClick r:id="rId3"/>
              </a:rPr>
              <a:t>色氨酸</a:t>
            </a:r>
            <a:r>
              <a:rPr lang="zh-CN" altLang="en-US" sz="2800" b="1" dirty="0"/>
              <a:t>：</a:t>
            </a:r>
            <a:r>
              <a:rPr lang="zh-CN" altLang="en-US" sz="2400" b="1" dirty="0"/>
              <a:t>促进胃液及胰液的产生，改善睡眠；</a:t>
            </a:r>
          </a:p>
          <a:p>
            <a:pPr>
              <a:lnSpc>
                <a:spcPct val="150000"/>
              </a:lnSpc>
            </a:pPr>
            <a:r>
              <a:rPr lang="zh-CN" altLang="en-US" sz="2800" b="1" dirty="0"/>
              <a:t>　　③</a:t>
            </a:r>
            <a:r>
              <a:rPr lang="zh-CN" altLang="en-US" sz="2800" b="1" dirty="0">
                <a:hlinkClick r:id="rId4"/>
              </a:rPr>
              <a:t>苯丙氨酸</a:t>
            </a:r>
            <a:r>
              <a:rPr lang="zh-CN" altLang="en-US" sz="2800" b="1" dirty="0"/>
              <a:t>：</a:t>
            </a:r>
            <a:r>
              <a:rPr lang="zh-CN" altLang="en-US" sz="2400" b="1" dirty="0"/>
              <a:t>参与消除肾及膀胱功能的损耗；</a:t>
            </a:r>
            <a:r>
              <a:rPr lang="zh-CN" altLang="en-US" sz="2800" b="1" dirty="0"/>
              <a:t> 　　</a:t>
            </a:r>
          </a:p>
        </p:txBody>
      </p:sp>
      <p:sp>
        <p:nvSpPr>
          <p:cNvPr id="12290" name="灯片编号占位符 1"/>
          <p:cNvSpPr>
            <a:spLocks noGrp="1"/>
          </p:cNvSpPr>
          <p:nvPr>
            <p:ph type="sldNum" sz="quarter" idx="11"/>
          </p:nvPr>
        </p:nvSpPr>
        <p:spPr>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400" dirty="0"/>
              <a:pPr lvl="0" indent="0" algn="r"/>
              <a:t>10</a:t>
            </a:fld>
            <a:endParaRPr lang="zh-CN" alt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2289">
                                            <p:bg/>
                                          </p:spTgt>
                                        </p:tgtEl>
                                        <p:attrNameLst>
                                          <p:attrName>style.visibility</p:attrName>
                                        </p:attrNameLst>
                                      </p:cBhvr>
                                      <p:to>
                                        <p:strVal val="visible"/>
                                      </p:to>
                                    </p:set>
                                    <p:animEffect transition="in" filter="checkerboard(across)">
                                      <p:cBhvr>
                                        <p:cTn id="7" dur="500"/>
                                        <p:tgtEl>
                                          <p:spTgt spid="12289">
                                            <p:bg/>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2289">
                                            <p:txEl>
                                              <p:pRg st="0" end="0"/>
                                            </p:txEl>
                                          </p:spTgt>
                                        </p:tgtEl>
                                        <p:attrNameLst>
                                          <p:attrName>style.visibility</p:attrName>
                                        </p:attrNameLst>
                                      </p:cBhvr>
                                      <p:to>
                                        <p:strVal val="visible"/>
                                      </p:to>
                                    </p:set>
                                    <p:animEffect transition="in" filter="checkerboard(across)">
                                      <p:cBhvr>
                                        <p:cTn id="12" dur="500"/>
                                        <p:tgtEl>
                                          <p:spTgt spid="1228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2289">
                                            <p:txEl>
                                              <p:pRg st="1" end="1"/>
                                            </p:txEl>
                                          </p:spTgt>
                                        </p:tgtEl>
                                        <p:attrNameLst>
                                          <p:attrName>style.visibility</p:attrName>
                                        </p:attrNameLst>
                                      </p:cBhvr>
                                      <p:to>
                                        <p:strVal val="visible"/>
                                      </p:to>
                                    </p:set>
                                    <p:animEffect transition="in" filter="checkerboard(across)">
                                      <p:cBhvr>
                                        <p:cTn id="17" dur="500"/>
                                        <p:tgtEl>
                                          <p:spTgt spid="12289">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2289">
                                            <p:txEl>
                                              <p:pRg st="2" end="2"/>
                                            </p:txEl>
                                          </p:spTgt>
                                        </p:tgtEl>
                                        <p:attrNameLst>
                                          <p:attrName>style.visibility</p:attrName>
                                        </p:attrNameLst>
                                      </p:cBhvr>
                                      <p:to>
                                        <p:strVal val="visible"/>
                                      </p:to>
                                    </p:set>
                                    <p:animEffect transition="in" filter="checkerboard(across)">
                                      <p:cBhvr>
                                        <p:cTn id="22" dur="500"/>
                                        <p:tgtEl>
                                          <p:spTgt spid="12289">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12289">
                                            <p:txEl>
                                              <p:pRg st="3" end="3"/>
                                            </p:txEl>
                                          </p:spTgt>
                                        </p:tgtEl>
                                        <p:attrNameLst>
                                          <p:attrName>style.visibility</p:attrName>
                                        </p:attrNameLst>
                                      </p:cBhvr>
                                      <p:to>
                                        <p:strVal val="visible"/>
                                      </p:to>
                                    </p:set>
                                    <p:animEffect transition="in" filter="checkerboard(across)">
                                      <p:cBhvr>
                                        <p:cTn id="27" dur="500"/>
                                        <p:tgtEl>
                                          <p:spTgt spid="1228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9" grpId="0" uiExpand="1" build="p"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文本占位符 490498"/>
          <p:cNvSpPr>
            <a:spLocks noGrp="1" noRot="1"/>
          </p:cNvSpPr>
          <p:nvPr>
            <p:ph idx="1"/>
          </p:nvPr>
        </p:nvSpPr>
        <p:spPr>
          <a:xfrm>
            <a:off x="318135" y="764704"/>
            <a:ext cx="8229600" cy="4525963"/>
          </a:xfrm>
          <a:ln/>
        </p:spPr>
        <p:txBody>
          <a:bodyPr anchor="t"/>
          <a:lstStyle/>
          <a:p>
            <a:pPr>
              <a:lnSpc>
                <a:spcPct val="150000"/>
              </a:lnSpc>
            </a:pPr>
            <a:r>
              <a:rPr lang="zh-CN" altLang="en-US" sz="2800" b="1" dirty="0"/>
              <a:t>　　④</a:t>
            </a:r>
            <a:r>
              <a:rPr lang="zh-CN" altLang="en-US" sz="2800" b="1" dirty="0">
                <a:hlinkClick r:id="rId2"/>
              </a:rPr>
              <a:t>蛋氨酸</a:t>
            </a:r>
            <a:r>
              <a:rPr lang="zh-CN" altLang="en-US" sz="2400" b="1" dirty="0"/>
              <a:t>（又叫甲硫氨酸）；参与组成血红蛋白、组织与血清，有促进脾脏、胰脏及淋巴的功能；</a:t>
            </a:r>
          </a:p>
          <a:p>
            <a:pPr>
              <a:lnSpc>
                <a:spcPct val="150000"/>
              </a:lnSpc>
            </a:pPr>
            <a:r>
              <a:rPr lang="zh-CN" altLang="en-US" sz="2800" b="1" dirty="0"/>
              <a:t>　　⑤</a:t>
            </a:r>
            <a:r>
              <a:rPr lang="zh-CN" altLang="en-US" sz="2800" b="1" dirty="0">
                <a:hlinkClick r:id="rId3"/>
              </a:rPr>
              <a:t>苏氨酸</a:t>
            </a:r>
            <a:r>
              <a:rPr lang="zh-CN" altLang="en-US" sz="2800" b="1" dirty="0"/>
              <a:t>：</a:t>
            </a:r>
            <a:r>
              <a:rPr lang="zh-CN" altLang="en-US" sz="2400" b="1" dirty="0"/>
              <a:t>有转变某些氨基酸达到平衡的功能； </a:t>
            </a:r>
          </a:p>
          <a:p>
            <a:pPr>
              <a:lnSpc>
                <a:spcPct val="150000"/>
              </a:lnSpc>
            </a:pPr>
            <a:r>
              <a:rPr lang="zh-CN" altLang="en-US" sz="2800" b="1" dirty="0"/>
              <a:t>　　⑥</a:t>
            </a:r>
            <a:r>
              <a:rPr lang="zh-CN" altLang="en-US" sz="2800" b="1" dirty="0">
                <a:hlinkClick r:id="rId4"/>
              </a:rPr>
              <a:t>异亮氨酸</a:t>
            </a:r>
            <a:r>
              <a:rPr lang="zh-CN" altLang="en-US" sz="2800" b="1" dirty="0"/>
              <a:t>：</a:t>
            </a:r>
            <a:r>
              <a:rPr lang="zh-CN" altLang="en-US" sz="2400" b="1" dirty="0"/>
              <a:t>参与胸腺、脾脏及脑下腺的调节以及代谢；脑下腺属总司令部作用于甲状腺、性腺； </a:t>
            </a:r>
          </a:p>
          <a:p>
            <a:pPr>
              <a:lnSpc>
                <a:spcPct val="150000"/>
              </a:lnSpc>
            </a:pPr>
            <a:r>
              <a:rPr lang="zh-CN" altLang="en-US" sz="2800" b="1" dirty="0"/>
              <a:t>　　⑦</a:t>
            </a:r>
            <a:r>
              <a:rPr lang="zh-CN" altLang="en-US" sz="2800" b="1" dirty="0">
                <a:hlinkClick r:id="rId5"/>
              </a:rPr>
              <a:t>亮氨酸</a:t>
            </a:r>
            <a:r>
              <a:rPr lang="zh-CN" altLang="en-US" sz="2800" b="1" dirty="0"/>
              <a:t>：</a:t>
            </a:r>
            <a:r>
              <a:rPr lang="zh-CN" altLang="en-US" sz="2400" b="1" dirty="0"/>
              <a:t>作用平衡异亮氨酸；</a:t>
            </a:r>
          </a:p>
          <a:p>
            <a:pPr>
              <a:lnSpc>
                <a:spcPct val="150000"/>
              </a:lnSpc>
            </a:pPr>
            <a:r>
              <a:rPr lang="zh-CN" altLang="en-US" sz="2800" b="1" dirty="0"/>
              <a:t>　　⑧</a:t>
            </a:r>
            <a:r>
              <a:rPr lang="zh-CN" altLang="en-US" sz="2800" b="1" dirty="0">
                <a:hlinkClick r:id="rId6"/>
              </a:rPr>
              <a:t>缬氨酸</a:t>
            </a:r>
            <a:r>
              <a:rPr lang="zh-CN" altLang="en-US" sz="2800" b="1" dirty="0"/>
              <a:t>：</a:t>
            </a:r>
            <a:r>
              <a:rPr lang="zh-CN" altLang="en-US" sz="2400" b="1" dirty="0"/>
              <a:t>作用于黄体、乳腺及卵巢</a:t>
            </a:r>
            <a:r>
              <a:rPr lang="zh-CN" altLang="en-US" sz="2800" b="1" dirty="0" smtClean="0"/>
              <a:t>。</a:t>
            </a:r>
            <a:r>
              <a:rPr lang="zh-CN" altLang="en-US" sz="2800" b="1" dirty="0"/>
              <a:t>　　</a:t>
            </a:r>
          </a:p>
        </p:txBody>
      </p:sp>
      <p:sp>
        <p:nvSpPr>
          <p:cNvPr id="12290" name="灯片编号占位符 1"/>
          <p:cNvSpPr>
            <a:spLocks noGrp="1"/>
          </p:cNvSpPr>
          <p:nvPr>
            <p:ph type="sldNum" sz="quarter" idx="11"/>
          </p:nvPr>
        </p:nvSpPr>
        <p:spPr>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400" dirty="0"/>
              <a:pPr lvl="0" indent="0" algn="r"/>
              <a:t>11</a:t>
            </a:fld>
            <a:endParaRPr lang="zh-CN" alt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2289">
                                            <p:txEl>
                                              <p:pRg st="0" end="0"/>
                                            </p:txEl>
                                          </p:spTgt>
                                        </p:tgtEl>
                                        <p:attrNameLst>
                                          <p:attrName>style.visibility</p:attrName>
                                        </p:attrNameLst>
                                      </p:cBhvr>
                                      <p:to>
                                        <p:strVal val="visible"/>
                                      </p:to>
                                    </p:set>
                                    <p:animEffect transition="in" filter="checkerboard(across)">
                                      <p:cBhvr>
                                        <p:cTn id="7" dur="500"/>
                                        <p:tgtEl>
                                          <p:spTgt spid="1228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2289">
                                            <p:txEl>
                                              <p:pRg st="1" end="1"/>
                                            </p:txEl>
                                          </p:spTgt>
                                        </p:tgtEl>
                                        <p:attrNameLst>
                                          <p:attrName>style.visibility</p:attrName>
                                        </p:attrNameLst>
                                      </p:cBhvr>
                                      <p:to>
                                        <p:strVal val="visible"/>
                                      </p:to>
                                    </p:set>
                                    <p:animEffect transition="in" filter="checkerboard(across)">
                                      <p:cBhvr>
                                        <p:cTn id="12" dur="500"/>
                                        <p:tgtEl>
                                          <p:spTgt spid="1228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2289">
                                            <p:txEl>
                                              <p:pRg st="2" end="2"/>
                                            </p:txEl>
                                          </p:spTgt>
                                        </p:tgtEl>
                                        <p:attrNameLst>
                                          <p:attrName>style.visibility</p:attrName>
                                        </p:attrNameLst>
                                      </p:cBhvr>
                                      <p:to>
                                        <p:strVal val="visible"/>
                                      </p:to>
                                    </p:set>
                                    <p:animEffect transition="in" filter="checkerboard(across)">
                                      <p:cBhvr>
                                        <p:cTn id="17" dur="500"/>
                                        <p:tgtEl>
                                          <p:spTgt spid="1228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12289">
                                            <p:txEl>
                                              <p:pRg st="3" end="3"/>
                                            </p:txEl>
                                          </p:spTgt>
                                        </p:tgtEl>
                                        <p:attrNameLst>
                                          <p:attrName>style.visibility</p:attrName>
                                        </p:attrNameLst>
                                      </p:cBhvr>
                                      <p:to>
                                        <p:strVal val="visible"/>
                                      </p:to>
                                    </p:set>
                                    <p:animEffect transition="in" filter="checkerboard(across)">
                                      <p:cBhvr>
                                        <p:cTn id="22" dur="500"/>
                                        <p:tgtEl>
                                          <p:spTgt spid="1228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12289">
                                            <p:txEl>
                                              <p:pRg st="4" end="4"/>
                                            </p:txEl>
                                          </p:spTgt>
                                        </p:tgtEl>
                                        <p:attrNameLst>
                                          <p:attrName>style.visibility</p:attrName>
                                        </p:attrNameLst>
                                      </p:cBhvr>
                                      <p:to>
                                        <p:strVal val="visible"/>
                                      </p:to>
                                    </p:set>
                                    <p:animEffect transition="in" filter="checkerboard(across)">
                                      <p:cBhvr>
                                        <p:cTn id="27" dur="500"/>
                                        <p:tgtEl>
                                          <p:spTgt spid="1228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标题 492545"/>
          <p:cNvSpPr>
            <a:spLocks noGrp="1" noRot="1"/>
          </p:cNvSpPr>
          <p:nvPr>
            <p:ph type="title"/>
          </p:nvPr>
        </p:nvSpPr>
        <p:spPr>
          <a:ln/>
        </p:spPr>
        <p:txBody>
          <a:bodyPr anchor="ctr"/>
          <a:lstStyle/>
          <a:p>
            <a:r>
              <a:rPr lang="zh-CN" altLang="en-US" sz="4000" b="1" dirty="0"/>
              <a:t/>
            </a:r>
            <a:br>
              <a:rPr lang="zh-CN" altLang="en-US" sz="4000" b="1" dirty="0"/>
            </a:br>
            <a:r>
              <a:rPr lang="zh-CN" altLang="en-US" sz="4000" b="1" dirty="0"/>
              <a:t/>
            </a:r>
            <a:br>
              <a:rPr lang="zh-CN" altLang="en-US" sz="4000" b="1" dirty="0"/>
            </a:br>
            <a:r>
              <a:rPr lang="zh-CN" altLang="en-US" sz="4000" b="1" dirty="0"/>
              <a:t/>
            </a:r>
            <a:br>
              <a:rPr lang="zh-CN" altLang="en-US" sz="4000" b="1" dirty="0"/>
            </a:br>
            <a:r>
              <a:rPr lang="zh-CN" altLang="en-US" sz="4000" b="1" dirty="0"/>
              <a:t/>
            </a:r>
            <a:br>
              <a:rPr lang="zh-CN" altLang="en-US" sz="4000" b="1" dirty="0"/>
            </a:br>
            <a:r>
              <a:rPr lang="zh-CN" altLang="en-US" sz="4000" b="1" dirty="0"/>
              <a:t/>
            </a:r>
            <a:br>
              <a:rPr lang="zh-CN" altLang="en-US" sz="4000" b="1" dirty="0"/>
            </a:br>
            <a:r>
              <a:rPr lang="zh-CN" altLang="en-US" sz="4000" b="1" dirty="0"/>
              <a:t/>
            </a:r>
            <a:br>
              <a:rPr lang="zh-CN" altLang="en-US" sz="4000" b="1" dirty="0"/>
            </a:br>
            <a:r>
              <a:rPr lang="zh-CN" altLang="en-US" sz="4000" b="1" dirty="0"/>
              <a:t/>
            </a:r>
            <a:br>
              <a:rPr lang="zh-CN" altLang="en-US" sz="4000" b="1" dirty="0"/>
            </a:br>
            <a:r>
              <a:rPr lang="zh-CN" altLang="en-US" sz="4000" b="1" dirty="0"/>
              <a:t/>
            </a:r>
            <a:br>
              <a:rPr lang="zh-CN" altLang="en-US" sz="4000" b="1" dirty="0"/>
            </a:br>
            <a:r>
              <a:rPr lang="zh-CN" altLang="en-US" sz="4000" b="1" dirty="0"/>
              <a:t/>
            </a:r>
            <a:br>
              <a:rPr lang="zh-CN" altLang="en-US" sz="4000" b="1" dirty="0"/>
            </a:br>
            <a:r>
              <a:rPr lang="en-US" altLang="zh-CN" sz="4000" b="1"/>
              <a:t>8</a:t>
            </a:r>
            <a:r>
              <a:rPr lang="zh-CN" altLang="en-US" sz="4000" b="1" dirty="0"/>
              <a:t>种人体必需氨基酸的记忆口诀：</a:t>
            </a:r>
            <a:br>
              <a:rPr lang="zh-CN" altLang="en-US" sz="4000" b="1" dirty="0"/>
            </a:br>
            <a:r>
              <a:rPr lang="zh-CN" altLang="en-US" sz="4000" b="1" dirty="0"/>
              <a:t>  </a:t>
            </a:r>
            <a:br>
              <a:rPr lang="zh-CN" altLang="en-US" sz="4000" b="1" dirty="0"/>
            </a:br>
            <a:r>
              <a:rPr lang="zh-CN" altLang="en-US" sz="3400" b="1" dirty="0">
                <a:solidFill>
                  <a:srgbClr val="FF0000"/>
                </a:solidFill>
              </a:rPr>
              <a:t>笨</a:t>
            </a:r>
            <a:r>
              <a:rPr lang="zh-CN" altLang="en-US" sz="3400" b="1" dirty="0"/>
              <a:t>（苯丙氨酸）</a:t>
            </a:r>
            <a:r>
              <a:rPr lang="zh-CN" altLang="en-US" sz="3400" b="1" dirty="0">
                <a:solidFill>
                  <a:srgbClr val="FF0000"/>
                </a:solidFill>
              </a:rPr>
              <a:t>蛋</a:t>
            </a:r>
            <a:r>
              <a:rPr lang="zh-CN" altLang="en-US" sz="3400" b="1" dirty="0"/>
              <a:t>（蛋氨酸）</a:t>
            </a:r>
            <a:r>
              <a:rPr lang="zh-CN" altLang="en-US" sz="3400" b="1" dirty="0">
                <a:solidFill>
                  <a:srgbClr val="FF0000"/>
                </a:solidFill>
              </a:rPr>
              <a:t>来</a:t>
            </a:r>
            <a:r>
              <a:rPr lang="zh-CN" altLang="en-US" sz="3400" b="1" dirty="0"/>
              <a:t>（赖氨酸）</a:t>
            </a:r>
            <a:r>
              <a:rPr lang="zh-CN" altLang="en-US" sz="3400" b="1" dirty="0">
                <a:solidFill>
                  <a:srgbClr val="FF0000"/>
                </a:solidFill>
              </a:rPr>
              <a:t>宿</a:t>
            </a:r>
            <a:r>
              <a:rPr lang="zh-CN" altLang="en-US" sz="3400" b="1" dirty="0"/>
              <a:t>（苏氨酸）</a:t>
            </a:r>
            <a:r>
              <a:rPr lang="zh-CN" altLang="en-US" sz="3400" b="1" dirty="0">
                <a:solidFill>
                  <a:srgbClr val="FF0000"/>
                </a:solidFill>
              </a:rPr>
              <a:t>舍</a:t>
            </a:r>
            <a:r>
              <a:rPr lang="zh-CN" altLang="en-US" sz="3400" b="1" dirty="0"/>
              <a:t>（色氨酸），</a:t>
            </a:r>
            <a:r>
              <a:rPr lang="zh-CN" altLang="en-US" sz="3400" b="1" dirty="0">
                <a:solidFill>
                  <a:srgbClr val="FF0000"/>
                </a:solidFill>
              </a:rPr>
              <a:t>晾</a:t>
            </a:r>
            <a:r>
              <a:rPr lang="zh-CN" altLang="en-US" sz="3400" b="1" dirty="0"/>
              <a:t>（亮氨酸</a:t>
            </a:r>
            <a:r>
              <a:rPr lang="en-US" altLang="zh-CN" sz="3400">
                <a:latin typeface="宋体" panose="02010600030101010101" pitchFamily="2" charset="-122"/>
              </a:rPr>
              <a:t>)</a:t>
            </a:r>
            <a:r>
              <a:rPr lang="zh-CN" altLang="en-US" sz="3400" dirty="0">
                <a:solidFill>
                  <a:srgbClr val="FF0000"/>
                </a:solidFill>
                <a:latin typeface="宋体" panose="02010600030101010101" pitchFamily="2" charset="-122"/>
              </a:rPr>
              <a:t>一</a:t>
            </a:r>
            <a:r>
              <a:rPr lang="zh-CN" altLang="en-US" sz="3400" b="1" dirty="0">
                <a:solidFill>
                  <a:srgbClr val="FF0000"/>
                </a:solidFill>
              </a:rPr>
              <a:t>晾</a:t>
            </a:r>
            <a:r>
              <a:rPr lang="zh-CN" altLang="en-US" sz="3400" b="1" dirty="0"/>
              <a:t>（异亮氨酸）</a:t>
            </a:r>
            <a:r>
              <a:rPr lang="zh-CN" altLang="en-US" sz="3400" b="1" dirty="0">
                <a:solidFill>
                  <a:srgbClr val="FF0000"/>
                </a:solidFill>
              </a:rPr>
              <a:t>鞋</a:t>
            </a:r>
            <a:r>
              <a:rPr lang="zh-CN" altLang="en-US" sz="3400" b="1" dirty="0"/>
              <a:t>（缬氨酸）</a:t>
            </a:r>
          </a:p>
        </p:txBody>
      </p:sp>
      <p:sp>
        <p:nvSpPr>
          <p:cNvPr id="13314" name="矩形 492547"/>
          <p:cNvSpPr>
            <a:spLocks noTextEdit="1"/>
          </p:cNvSpPr>
          <p:nvPr/>
        </p:nvSpPr>
        <p:spPr>
          <a:xfrm>
            <a:off x="2153603" y="274955"/>
            <a:ext cx="4335462" cy="1533525"/>
          </a:xfrm>
          <a:prstGeom prst="rect">
            <a:avLst/>
          </a:prstGeom>
        </p:spPr>
        <p:txBody>
          <a:bodyPr wrap="none" fromWordArt="1">
            <a:prstTxWarp prst="textPlain">
              <a:avLst>
                <a:gd name="adj" fmla="val 50000"/>
              </a:avLst>
            </a:prstTxWarp>
            <a:normAutofit/>
          </a:bodyPr>
          <a:lstStyle/>
          <a:p>
            <a:pPr algn="ctr"/>
            <a:r>
              <a:rPr lang="zh-CN" altLang="en-US" sz="3600" dirty="0">
                <a:ln w="19050" cap="flat" cmpd="sng">
                  <a:solidFill>
                    <a:srgbClr val="99CCFF"/>
                  </a:solidFill>
                  <a:prstDash val="solid"/>
                  <a:round/>
                  <a:headEnd type="none" w="med" len="med"/>
                  <a:tailEnd type="none" w="med" len="med"/>
                </a:ln>
                <a:solidFill>
                  <a:srgbClr val="0066CC"/>
                </a:solidFill>
                <a:effectLst>
                  <a:outerShdw dist="35921" dir="2699999" algn="ctr" rotWithShape="0">
                    <a:srgbClr val="990000"/>
                  </a:outerShdw>
                </a:effectLst>
                <a:latin typeface="宋体" panose="02010600030101010101" pitchFamily="2" charset="-122"/>
                <a:ea typeface="宋体" panose="02010600030101010101" pitchFamily="2" charset="-122"/>
              </a:rPr>
              <a:t>"笨蛋来宿舍，晾一晾鞋"</a:t>
            </a:r>
          </a:p>
        </p:txBody>
      </p:sp>
      <p:sp>
        <p:nvSpPr>
          <p:cNvPr id="13315" name="灯片编号占位符 1"/>
          <p:cNvSpPr>
            <a:spLocks noGrp="1"/>
          </p:cNvSpPr>
          <p:nvPr>
            <p:ph type="sldNum" sz="quarter" idx="11"/>
          </p:nvPr>
        </p:nvSpPr>
        <p:spPr>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400" dirty="0"/>
              <a:pPr lvl="0" indent="0" algn="r"/>
              <a:t>12</a:t>
            </a:fld>
            <a:endParaRPr lang="zh-CN" altLang="en-US" sz="14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9026" name="组合 129025"/>
          <p:cNvGrpSpPr/>
          <p:nvPr/>
        </p:nvGrpSpPr>
        <p:grpSpPr>
          <a:xfrm>
            <a:off x="539750" y="1074738"/>
            <a:ext cx="6335713" cy="1614487"/>
            <a:chOff x="192" y="2707"/>
            <a:chExt cx="5328" cy="1339"/>
          </a:xfrm>
        </p:grpSpPr>
        <p:sp>
          <p:nvSpPr>
            <p:cNvPr id="14338" name="文本框 129026"/>
            <p:cNvSpPr txBox="1"/>
            <p:nvPr/>
          </p:nvSpPr>
          <p:spPr>
            <a:xfrm>
              <a:off x="192" y="2707"/>
              <a:ext cx="5328" cy="1339"/>
            </a:xfrm>
            <a:prstGeom prst="rect">
              <a:avLst/>
            </a:prstGeom>
            <a:noFill/>
            <a:ln w="9525">
              <a:noFill/>
            </a:ln>
          </p:spPr>
          <p:txBody>
            <a:bodyPr anchor="t">
              <a:spAutoFit/>
            </a:bodyPr>
            <a:lstStyle/>
            <a:p>
              <a:pPr>
                <a:spcBef>
                  <a:spcPct val="50000"/>
                </a:spcBef>
              </a:pPr>
              <a:endParaRPr lang="zh-CN" altLang="en-US" sz="2800" b="1" dirty="0">
                <a:solidFill>
                  <a:srgbClr val="0000FF"/>
                </a:solidFill>
                <a:latin typeface="Arial" panose="020B0604020202020204" pitchFamily="34" charset="0"/>
              </a:endParaRPr>
            </a:p>
            <a:p>
              <a:pPr>
                <a:spcBef>
                  <a:spcPct val="50000"/>
                </a:spcBef>
              </a:pPr>
              <a:r>
                <a:rPr lang="en-US" altLang="zh-CN" sz="2400" b="1">
                  <a:solidFill>
                    <a:srgbClr val="0000FF"/>
                  </a:solidFill>
                  <a:latin typeface="Arial" panose="020B0604020202020204" pitchFamily="34" charset="0"/>
                </a:rPr>
                <a:t>HOOC—CH</a:t>
              </a:r>
              <a:r>
                <a:rPr lang="en-US" altLang="zh-CN" sz="2400" b="1" baseline="-25000">
                  <a:solidFill>
                    <a:srgbClr val="0000FF"/>
                  </a:solidFill>
                  <a:latin typeface="Arial" panose="020B0604020202020204" pitchFamily="34" charset="0"/>
                </a:rPr>
                <a:t>2</a:t>
              </a:r>
              <a:r>
                <a:rPr lang="en-US" altLang="zh-CN" sz="2400" b="1">
                  <a:solidFill>
                    <a:srgbClr val="0000FF"/>
                  </a:solidFill>
                  <a:latin typeface="Arial" panose="020B0604020202020204" pitchFamily="34" charset="0"/>
                </a:rPr>
                <a:t>—</a:t>
              </a:r>
              <a:r>
                <a:rPr lang="en-US" altLang="zh-CN" sz="2400" b="1" dirty="0" err="1">
                  <a:solidFill>
                    <a:srgbClr val="0000FF"/>
                  </a:solidFill>
                  <a:latin typeface="Arial" panose="020B0604020202020204" pitchFamily="34" charset="0"/>
                </a:rPr>
                <a:t>CH</a:t>
              </a:r>
              <a:r>
                <a:rPr lang="en-US" altLang="zh-CN" sz="2400" b="1" baseline="-25000" dirty="0" err="1">
                  <a:solidFill>
                    <a:srgbClr val="0000FF"/>
                  </a:solidFill>
                  <a:latin typeface="Arial" panose="020B0604020202020204" pitchFamily="34" charset="0"/>
                </a:rPr>
                <a:t>2</a:t>
              </a:r>
              <a:r>
                <a:rPr lang="en-US" altLang="zh-CN" sz="2400" b="1">
                  <a:solidFill>
                    <a:srgbClr val="0000FF"/>
                  </a:solidFill>
                  <a:latin typeface="Arial" panose="020B0604020202020204" pitchFamily="34" charset="0"/>
                </a:rPr>
                <a:t>—CH—</a:t>
              </a:r>
              <a:r>
                <a:rPr lang="en-US" altLang="zh-CN" sz="2400" b="1" dirty="0" err="1">
                  <a:solidFill>
                    <a:srgbClr val="FF3300"/>
                  </a:solidFill>
                  <a:latin typeface="Arial" panose="020B0604020202020204" pitchFamily="34" charset="0"/>
                </a:rPr>
                <a:t>COONa</a:t>
              </a:r>
              <a:endParaRPr lang="en-US" altLang="zh-CN" sz="2400" b="1">
                <a:solidFill>
                  <a:srgbClr val="FF3300"/>
                </a:solidFill>
                <a:latin typeface="Arial" panose="020B0604020202020204" pitchFamily="34" charset="0"/>
              </a:endParaRPr>
            </a:p>
            <a:p>
              <a:pPr>
                <a:spcBef>
                  <a:spcPct val="50000"/>
                </a:spcBef>
              </a:pPr>
              <a:r>
                <a:rPr lang="en-US" altLang="zh-CN" sz="2400" b="1">
                  <a:solidFill>
                    <a:srgbClr val="FFFF99"/>
                  </a:solidFill>
                  <a:latin typeface="Arial" panose="020B0604020202020204" pitchFamily="34" charset="0"/>
                </a:rPr>
                <a:t>                                   </a:t>
              </a:r>
              <a:r>
                <a:rPr lang="en-US" altLang="zh-CN" sz="2400" b="1">
                  <a:solidFill>
                    <a:srgbClr val="FF3300"/>
                  </a:solidFill>
                  <a:latin typeface="Arial" panose="020B0604020202020204" pitchFamily="34" charset="0"/>
                </a:rPr>
                <a:t>NH</a:t>
              </a:r>
              <a:r>
                <a:rPr lang="en-US" altLang="zh-CN" sz="2400" b="1" baseline="-25000">
                  <a:solidFill>
                    <a:srgbClr val="FF3300"/>
                  </a:solidFill>
                  <a:latin typeface="Arial" panose="020B0604020202020204" pitchFamily="34" charset="0"/>
                </a:rPr>
                <a:t>2</a:t>
              </a:r>
              <a:endParaRPr lang="en-US" altLang="zh-CN" sz="2400" b="1">
                <a:solidFill>
                  <a:srgbClr val="FF3300"/>
                </a:solidFill>
                <a:latin typeface="Arial" panose="020B0604020202020204" pitchFamily="34" charset="0"/>
              </a:endParaRPr>
            </a:p>
          </p:txBody>
        </p:sp>
        <p:sp>
          <p:nvSpPr>
            <p:cNvPr id="14339" name="直接连接符 129027"/>
            <p:cNvSpPr/>
            <p:nvPr/>
          </p:nvSpPr>
          <p:spPr>
            <a:xfrm>
              <a:off x="2832" y="3456"/>
              <a:ext cx="0" cy="240"/>
            </a:xfrm>
            <a:prstGeom prst="line">
              <a:avLst/>
            </a:prstGeom>
            <a:ln w="38100" cap="flat" cmpd="sng">
              <a:solidFill>
                <a:srgbClr val="0000FF"/>
              </a:solidFill>
              <a:prstDash val="solid"/>
              <a:round/>
              <a:headEnd type="none" w="med" len="med"/>
              <a:tailEnd type="none" w="med" len="med"/>
            </a:ln>
          </p:spPr>
        </p:sp>
      </p:grpSp>
      <p:sp>
        <p:nvSpPr>
          <p:cNvPr id="129033" name="文本框 129032"/>
          <p:cNvSpPr txBox="1"/>
          <p:nvPr/>
        </p:nvSpPr>
        <p:spPr>
          <a:xfrm>
            <a:off x="323850" y="495300"/>
            <a:ext cx="6980238" cy="579438"/>
          </a:xfrm>
          <a:prstGeom prst="rect">
            <a:avLst/>
          </a:prstGeom>
          <a:noFill/>
          <a:ln w="9525">
            <a:noFill/>
          </a:ln>
        </p:spPr>
        <p:txBody>
          <a:bodyPr wrap="none" anchor="t">
            <a:spAutoFit/>
          </a:bodyPr>
          <a:lstStyle/>
          <a:p>
            <a:pPr>
              <a:buClr>
                <a:schemeClr val="bg1"/>
              </a:buClr>
            </a:pPr>
            <a:r>
              <a:rPr lang="zh-CN" altLang="en-US" sz="3200" b="1" dirty="0">
                <a:solidFill>
                  <a:srgbClr val="0000FF"/>
                </a:solidFill>
                <a:latin typeface="Arial" panose="020B0604020202020204" pitchFamily="34" charset="0"/>
              </a:rPr>
              <a:t>味精－谷氨酸钠</a:t>
            </a:r>
            <a:r>
              <a:rPr lang="en-US" altLang="zh-CN" sz="3200" b="1">
                <a:solidFill>
                  <a:srgbClr val="0000FF"/>
                </a:solidFill>
                <a:latin typeface="Arial" panose="020B0604020202020204" pitchFamily="34" charset="0"/>
              </a:rPr>
              <a:t>(α—</a:t>
            </a:r>
            <a:r>
              <a:rPr lang="zh-CN" altLang="en-US" sz="3200" b="1" dirty="0">
                <a:solidFill>
                  <a:srgbClr val="0000FF"/>
                </a:solidFill>
                <a:latin typeface="Arial" panose="020B0604020202020204" pitchFamily="34" charset="0"/>
              </a:rPr>
              <a:t>氨基戊二酸钠</a:t>
            </a:r>
            <a:r>
              <a:rPr lang="en-US" altLang="zh-CN" sz="3200" b="1">
                <a:solidFill>
                  <a:srgbClr val="0000FF"/>
                </a:solidFill>
                <a:latin typeface="Arial" panose="020B0604020202020204" pitchFamily="34" charset="0"/>
              </a:rPr>
              <a:t>)</a:t>
            </a:r>
            <a:r>
              <a:rPr lang="zh-CN" altLang="en-US" sz="3200" b="1" dirty="0">
                <a:solidFill>
                  <a:srgbClr val="0000FF"/>
                </a:solidFill>
                <a:latin typeface="Arial" panose="020B0604020202020204" pitchFamily="34" charset="0"/>
              </a:rPr>
              <a:t>：</a:t>
            </a:r>
          </a:p>
        </p:txBody>
      </p:sp>
      <p:sp>
        <p:nvSpPr>
          <p:cNvPr id="129034" name="文本框 129033"/>
          <p:cNvSpPr txBox="1"/>
          <p:nvPr/>
        </p:nvSpPr>
        <p:spPr>
          <a:xfrm>
            <a:off x="539750" y="3042603"/>
            <a:ext cx="3549650" cy="460375"/>
          </a:xfrm>
          <a:prstGeom prst="rect">
            <a:avLst/>
          </a:prstGeom>
          <a:noFill/>
          <a:ln w="9525">
            <a:noFill/>
          </a:ln>
        </p:spPr>
        <p:txBody>
          <a:bodyPr wrap="none" anchor="t">
            <a:spAutoFit/>
          </a:bodyPr>
          <a:lstStyle/>
          <a:p>
            <a:pPr>
              <a:buClr>
                <a:schemeClr val="bg1"/>
              </a:buClr>
            </a:pPr>
            <a:r>
              <a:rPr lang="zh-CN" altLang="en-US" sz="2400" b="1" dirty="0">
                <a:solidFill>
                  <a:schemeClr val="tx1"/>
                </a:solidFill>
                <a:latin typeface="Arial" panose="020B0604020202020204" pitchFamily="34" charset="0"/>
              </a:rPr>
              <a:t>含谷氨酸钠的天然食品：</a:t>
            </a:r>
          </a:p>
        </p:txBody>
      </p:sp>
      <p:pic>
        <p:nvPicPr>
          <p:cNvPr id="129038" name="图片 129037" descr="u=4215350556,3193334883&amp;fm=0&amp;gp=-40">
            <a:hlinkClick r:id="rId2"/>
          </p:cNvPr>
          <p:cNvPicPr>
            <a:picLocks noChangeAspect="1"/>
          </p:cNvPicPr>
          <p:nvPr/>
        </p:nvPicPr>
        <p:blipFill>
          <a:blip r:embed="rId3" cstate="print"/>
          <a:stretch>
            <a:fillRect/>
          </a:stretch>
        </p:blipFill>
        <p:spPr>
          <a:xfrm>
            <a:off x="4787900" y="2268538"/>
            <a:ext cx="1200150" cy="1600200"/>
          </a:xfrm>
          <a:prstGeom prst="rect">
            <a:avLst/>
          </a:prstGeom>
          <a:noFill/>
          <a:ln w="9525">
            <a:noFill/>
          </a:ln>
        </p:spPr>
      </p:pic>
      <p:pic>
        <p:nvPicPr>
          <p:cNvPr id="129040" name="图片 129039" descr="u=1081949022,584242803&amp;fm=0&amp;gp=-36">
            <a:hlinkClick r:id="rId4"/>
          </p:cNvPr>
          <p:cNvPicPr>
            <a:picLocks noChangeAspect="1"/>
          </p:cNvPicPr>
          <p:nvPr/>
        </p:nvPicPr>
        <p:blipFill>
          <a:blip r:embed="rId5" cstate="print"/>
          <a:stretch>
            <a:fillRect/>
          </a:stretch>
        </p:blipFill>
        <p:spPr>
          <a:xfrm>
            <a:off x="6680200" y="2451100"/>
            <a:ext cx="1600200" cy="1235075"/>
          </a:xfrm>
          <a:prstGeom prst="rect">
            <a:avLst/>
          </a:prstGeom>
          <a:noFill/>
          <a:ln w="9525">
            <a:noFill/>
          </a:ln>
        </p:spPr>
      </p:pic>
      <p:sp>
        <p:nvSpPr>
          <p:cNvPr id="129041" name="文本框 129040"/>
          <p:cNvSpPr txBox="1"/>
          <p:nvPr/>
        </p:nvSpPr>
        <p:spPr>
          <a:xfrm>
            <a:off x="6680200" y="2505075"/>
            <a:ext cx="644525" cy="366713"/>
          </a:xfrm>
          <a:prstGeom prst="rect">
            <a:avLst/>
          </a:prstGeom>
          <a:noFill/>
          <a:ln w="9525">
            <a:noFill/>
          </a:ln>
        </p:spPr>
        <p:txBody>
          <a:bodyPr wrap="none" anchor="t">
            <a:spAutoFit/>
          </a:bodyPr>
          <a:lstStyle/>
          <a:p>
            <a:pPr>
              <a:buClr>
                <a:schemeClr val="bg1"/>
              </a:buClr>
            </a:pPr>
            <a:r>
              <a:rPr lang="zh-CN" altLang="en-US" b="1" dirty="0">
                <a:solidFill>
                  <a:srgbClr val="990033"/>
                </a:solidFill>
                <a:latin typeface="Arial" panose="020B0604020202020204" pitchFamily="34" charset="0"/>
              </a:rPr>
              <a:t>海带</a:t>
            </a:r>
          </a:p>
        </p:txBody>
      </p:sp>
      <p:sp>
        <p:nvSpPr>
          <p:cNvPr id="129042" name="文本框 129041"/>
          <p:cNvSpPr txBox="1"/>
          <p:nvPr/>
        </p:nvSpPr>
        <p:spPr>
          <a:xfrm>
            <a:off x="679450" y="4940300"/>
            <a:ext cx="8353425" cy="460375"/>
          </a:xfrm>
          <a:prstGeom prst="rect">
            <a:avLst/>
          </a:prstGeom>
          <a:noFill/>
          <a:ln w="9525">
            <a:noFill/>
          </a:ln>
        </p:spPr>
        <p:txBody>
          <a:bodyPr wrap="none" anchor="t">
            <a:spAutoFit/>
          </a:bodyPr>
          <a:lstStyle/>
          <a:p>
            <a:pPr>
              <a:buClr>
                <a:schemeClr val="bg1"/>
              </a:buClr>
            </a:pPr>
            <a:r>
              <a:rPr lang="zh-CN" altLang="en-US" sz="2400" b="1" dirty="0">
                <a:solidFill>
                  <a:schemeClr val="tx1"/>
                </a:solidFill>
                <a:latin typeface="Arial" panose="020B0604020202020204" pitchFamily="34" charset="0"/>
              </a:rPr>
              <a:t>“超鲜味精”， </a:t>
            </a:r>
            <a:r>
              <a:rPr lang="en-US" altLang="zh-CN" sz="2400" b="1">
                <a:solidFill>
                  <a:schemeClr val="tx1"/>
                </a:solidFill>
                <a:latin typeface="Arial" panose="020B0604020202020204" pitchFamily="34" charset="0"/>
              </a:rPr>
              <a:t>2—</a:t>
            </a:r>
            <a:r>
              <a:rPr lang="zh-CN" altLang="en-US" sz="2400" b="1" dirty="0">
                <a:solidFill>
                  <a:schemeClr val="tx1"/>
                </a:solidFill>
                <a:latin typeface="Arial" panose="020B0604020202020204" pitchFamily="34" charset="0"/>
              </a:rPr>
              <a:t>甲基呋喃苷酸，它比味精要鲜上</a:t>
            </a:r>
            <a:r>
              <a:rPr lang="en-US" altLang="zh-CN" sz="2400" b="1">
                <a:solidFill>
                  <a:schemeClr val="tx1"/>
                </a:solidFill>
                <a:latin typeface="Arial" panose="020B0604020202020204" pitchFamily="34" charset="0"/>
              </a:rPr>
              <a:t>600</a:t>
            </a:r>
            <a:r>
              <a:rPr lang="zh-CN" altLang="en-US" sz="2400" b="1" dirty="0">
                <a:solidFill>
                  <a:schemeClr val="tx1"/>
                </a:solidFill>
                <a:latin typeface="Arial" panose="020B0604020202020204" pitchFamily="34" charset="0"/>
              </a:rPr>
              <a:t>多倍</a:t>
            </a:r>
            <a:r>
              <a:rPr lang="zh-CN" altLang="en-US" b="1" dirty="0">
                <a:solidFill>
                  <a:schemeClr val="tx1"/>
                </a:solidFill>
                <a:latin typeface="Arial" panose="020B0604020202020204" pitchFamily="34" charset="0"/>
              </a:rPr>
              <a:t> </a:t>
            </a:r>
          </a:p>
        </p:txBody>
      </p:sp>
      <p:sp>
        <p:nvSpPr>
          <p:cNvPr id="129043" name="文本框 129042"/>
          <p:cNvSpPr txBox="1"/>
          <p:nvPr/>
        </p:nvSpPr>
        <p:spPr>
          <a:xfrm>
            <a:off x="679450" y="4068763"/>
            <a:ext cx="8446770" cy="829945"/>
          </a:xfrm>
          <a:prstGeom prst="rect">
            <a:avLst/>
          </a:prstGeom>
          <a:noFill/>
          <a:ln w="9525">
            <a:noFill/>
          </a:ln>
        </p:spPr>
        <p:txBody>
          <a:bodyPr wrap="none" anchor="t">
            <a:spAutoFit/>
          </a:bodyPr>
          <a:lstStyle/>
          <a:p>
            <a:pPr>
              <a:buClr>
                <a:schemeClr val="bg1"/>
              </a:buClr>
            </a:pPr>
            <a:r>
              <a:rPr lang="zh-CN" altLang="en-US" sz="2400" b="1" dirty="0">
                <a:solidFill>
                  <a:schemeClr val="tx1"/>
                </a:solidFill>
                <a:latin typeface="Arial" panose="020B0604020202020204" pitchFamily="34" charset="0"/>
              </a:rPr>
              <a:t>“强力味精”，少量乌苷酸钠（蘑菇成分）掺到味精里制得，</a:t>
            </a:r>
          </a:p>
          <a:p>
            <a:pPr>
              <a:buClr>
                <a:schemeClr val="bg1"/>
              </a:buClr>
            </a:pPr>
            <a:r>
              <a:rPr lang="zh-CN" altLang="en-US" sz="2400" b="1" dirty="0">
                <a:solidFill>
                  <a:schemeClr val="tx1"/>
                </a:solidFill>
                <a:latin typeface="Arial" panose="020B0604020202020204" pitchFamily="34" charset="0"/>
              </a:rPr>
              <a:t>比味精要鲜上</a:t>
            </a:r>
            <a:r>
              <a:rPr lang="en-US" altLang="zh-CN" sz="2400" b="1">
                <a:solidFill>
                  <a:schemeClr val="tx1"/>
                </a:solidFill>
                <a:latin typeface="Arial" panose="020B0604020202020204" pitchFamily="34" charset="0"/>
              </a:rPr>
              <a:t>160</a:t>
            </a:r>
            <a:r>
              <a:rPr lang="zh-CN" altLang="en-US" sz="2400" b="1" dirty="0">
                <a:solidFill>
                  <a:schemeClr val="tx1"/>
                </a:solidFill>
                <a:latin typeface="Arial" panose="020B0604020202020204" pitchFamily="34" charset="0"/>
              </a:rPr>
              <a:t>倍 </a:t>
            </a:r>
          </a:p>
        </p:txBody>
      </p:sp>
      <p:sp>
        <p:nvSpPr>
          <p:cNvPr id="14347" name="灯片编号占位符 1"/>
          <p:cNvSpPr>
            <a:spLocks noGrp="1"/>
          </p:cNvSpPr>
          <p:nvPr>
            <p:ph type="sldNum" sz="quarter" idx="11"/>
          </p:nvPr>
        </p:nvSpPr>
        <p:spPr>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400" dirty="0"/>
              <a:pPr lvl="0" indent="0" algn="r"/>
              <a:t>13</a:t>
            </a:fld>
            <a:endParaRPr lang="zh-CN" altLang="en-US" sz="14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129033"/>
                                        </p:tgtEl>
                                        <p:attrNameLst>
                                          <p:attrName>style.visibility</p:attrName>
                                        </p:attrNameLst>
                                      </p:cBhvr>
                                      <p:to>
                                        <p:strVal val="visible"/>
                                      </p:to>
                                    </p:set>
                                    <p:anim calcmode="lin" valueType="num">
                                      <p:cBhvr>
                                        <p:cTn id="7" dur="1" fill="hold"/>
                                        <p:tgtEl>
                                          <p:spTgt spid="129033"/>
                                        </p:tgtEl>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129026"/>
                                        </p:tgtEl>
                                        <p:attrNameLst>
                                          <p:attrName>style.visibility</p:attrName>
                                        </p:attrNameLst>
                                      </p:cBhvr>
                                      <p:to>
                                        <p:strVal val="visible"/>
                                      </p:to>
                                    </p:set>
                                    <p:anim calcmode="lin" valueType="num">
                                      <p:cBhvr>
                                        <p:cTn id="12" dur="1" fill="hold"/>
                                        <p:tgtEl>
                                          <p:spTgt spid="129026"/>
                                        </p:tgtEl>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129034"/>
                                        </p:tgtEl>
                                        <p:attrNameLst>
                                          <p:attrName>style.visibility</p:attrName>
                                        </p:attrNameLst>
                                      </p:cBhvr>
                                      <p:to>
                                        <p:strVal val="visible"/>
                                      </p:to>
                                    </p:set>
                                    <p:anim calcmode="lin" valueType="num">
                                      <p:cBhvr>
                                        <p:cTn id="17" dur="1" fill="hold"/>
                                        <p:tgtEl>
                                          <p:spTgt spid="129034"/>
                                        </p:tgtEl>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nodeType="clickEffect">
                                  <p:stCondLst>
                                    <p:cond delay="0"/>
                                  </p:stCondLst>
                                  <p:childTnLst>
                                    <p:set>
                                      <p:cBhvr>
                                        <p:cTn id="21" dur="1" fill="hold">
                                          <p:stCondLst>
                                            <p:cond delay="0"/>
                                          </p:stCondLst>
                                        </p:cTn>
                                        <p:tgtEl>
                                          <p:spTgt spid="129038"/>
                                        </p:tgtEl>
                                        <p:attrNameLst>
                                          <p:attrName>style.visibility</p:attrName>
                                        </p:attrNameLst>
                                      </p:cBhvr>
                                      <p:to>
                                        <p:strVal val="visible"/>
                                      </p:to>
                                    </p:set>
                                    <p:anim calcmode="lin" valueType="num">
                                      <p:cBhvr>
                                        <p:cTn id="22" dur="1" fill="hold"/>
                                        <p:tgtEl>
                                          <p:spTgt spid="129038"/>
                                        </p:tgtEl>
                                      </p:cBhvr>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nodeType="clickEffect">
                                  <p:stCondLst>
                                    <p:cond delay="0"/>
                                  </p:stCondLst>
                                  <p:childTnLst>
                                    <p:set>
                                      <p:cBhvr>
                                        <p:cTn id="26" dur="1" fill="hold">
                                          <p:stCondLst>
                                            <p:cond delay="0"/>
                                          </p:stCondLst>
                                        </p:cTn>
                                        <p:tgtEl>
                                          <p:spTgt spid="129040"/>
                                        </p:tgtEl>
                                        <p:attrNameLst>
                                          <p:attrName>style.visibility</p:attrName>
                                        </p:attrNameLst>
                                      </p:cBhvr>
                                      <p:to>
                                        <p:strVal val="visible"/>
                                      </p:to>
                                    </p:set>
                                    <p:anim calcmode="lin" valueType="num">
                                      <p:cBhvr>
                                        <p:cTn id="27" dur="1" fill="hold"/>
                                        <p:tgtEl>
                                          <p:spTgt spid="129040"/>
                                        </p:tgtEl>
                                      </p:cBhvr>
                                    </p:anim>
                                  </p:childTnLst>
                                </p:cTn>
                              </p:par>
                            </p:childTnLst>
                          </p:cTn>
                        </p:par>
                      </p:childTnLst>
                    </p:cTn>
                  </p:par>
                  <p:par>
                    <p:cTn id="28" fill="hold">
                      <p:stCondLst>
                        <p:cond delay="indefinite"/>
                      </p:stCondLst>
                      <p:childTnLst>
                        <p:par>
                          <p:cTn id="29" fill="hold">
                            <p:stCondLst>
                              <p:cond delay="0"/>
                            </p:stCondLst>
                            <p:childTnLst>
                              <p:par>
                                <p:cTn id="30" presetID="24" presetClass="entr" presetSubtype="0" fill="hold" grpId="0" nodeType="clickEffect">
                                  <p:stCondLst>
                                    <p:cond delay="0"/>
                                  </p:stCondLst>
                                  <p:childTnLst>
                                    <p:set>
                                      <p:cBhvr>
                                        <p:cTn id="31" dur="1" fill="hold">
                                          <p:stCondLst>
                                            <p:cond delay="0"/>
                                          </p:stCondLst>
                                        </p:cTn>
                                        <p:tgtEl>
                                          <p:spTgt spid="129041"/>
                                        </p:tgtEl>
                                        <p:attrNameLst>
                                          <p:attrName>style.visibility</p:attrName>
                                        </p:attrNameLst>
                                      </p:cBhvr>
                                      <p:to>
                                        <p:strVal val="visible"/>
                                      </p:to>
                                    </p:set>
                                    <p:anim calcmode="lin" valueType="num">
                                      <p:cBhvr>
                                        <p:cTn id="32" dur="1" fill="hold"/>
                                        <p:tgtEl>
                                          <p:spTgt spid="129041"/>
                                        </p:tgtEl>
                                      </p:cBhvr>
                                    </p:anim>
                                  </p:childTnLst>
                                </p:cTn>
                              </p:par>
                            </p:childTnLst>
                          </p:cTn>
                        </p:par>
                      </p:childTnLst>
                    </p:cTn>
                  </p:par>
                  <p:par>
                    <p:cTn id="33" fill="hold">
                      <p:stCondLst>
                        <p:cond delay="indefinite"/>
                      </p:stCondLst>
                      <p:childTnLst>
                        <p:par>
                          <p:cTn id="34" fill="hold">
                            <p:stCondLst>
                              <p:cond delay="0"/>
                            </p:stCondLst>
                            <p:childTnLst>
                              <p:par>
                                <p:cTn id="35" presetID="24" presetClass="entr" presetSubtype="0" fill="hold" grpId="0" nodeType="clickEffect">
                                  <p:stCondLst>
                                    <p:cond delay="0"/>
                                  </p:stCondLst>
                                  <p:childTnLst>
                                    <p:set>
                                      <p:cBhvr>
                                        <p:cTn id="36" dur="1" fill="hold">
                                          <p:stCondLst>
                                            <p:cond delay="0"/>
                                          </p:stCondLst>
                                        </p:cTn>
                                        <p:tgtEl>
                                          <p:spTgt spid="129043"/>
                                        </p:tgtEl>
                                        <p:attrNameLst>
                                          <p:attrName>style.visibility</p:attrName>
                                        </p:attrNameLst>
                                      </p:cBhvr>
                                      <p:to>
                                        <p:strVal val="visible"/>
                                      </p:to>
                                    </p:set>
                                    <p:anim calcmode="lin" valueType="num">
                                      <p:cBhvr>
                                        <p:cTn id="37" dur="1" fill="hold"/>
                                        <p:tgtEl>
                                          <p:spTgt spid="129043"/>
                                        </p:tgtEl>
                                      </p:cBhvr>
                                    </p:anim>
                                  </p:childTnLst>
                                </p:cTn>
                              </p:par>
                            </p:childTnLst>
                          </p:cTn>
                        </p:par>
                      </p:childTnLst>
                    </p:cTn>
                  </p:par>
                  <p:par>
                    <p:cTn id="38" fill="hold">
                      <p:stCondLst>
                        <p:cond delay="indefinite"/>
                      </p:stCondLst>
                      <p:childTnLst>
                        <p:par>
                          <p:cTn id="39" fill="hold">
                            <p:stCondLst>
                              <p:cond delay="0"/>
                            </p:stCondLst>
                            <p:childTnLst>
                              <p:par>
                                <p:cTn id="40" presetID="24" presetClass="entr" presetSubtype="0" fill="hold" grpId="0" nodeType="clickEffect">
                                  <p:stCondLst>
                                    <p:cond delay="0"/>
                                  </p:stCondLst>
                                  <p:childTnLst>
                                    <p:set>
                                      <p:cBhvr>
                                        <p:cTn id="41" dur="1" fill="hold">
                                          <p:stCondLst>
                                            <p:cond delay="0"/>
                                          </p:stCondLst>
                                        </p:cTn>
                                        <p:tgtEl>
                                          <p:spTgt spid="129042"/>
                                        </p:tgtEl>
                                        <p:attrNameLst>
                                          <p:attrName>style.visibility</p:attrName>
                                        </p:attrNameLst>
                                      </p:cBhvr>
                                      <p:to>
                                        <p:strVal val="visible"/>
                                      </p:to>
                                    </p:set>
                                    <p:anim calcmode="lin" valueType="num">
                                      <p:cBhvr>
                                        <p:cTn id="42" dur="1" fill="hold"/>
                                        <p:tgtEl>
                                          <p:spTgt spid="129042"/>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33" grpId="0"/>
      <p:bldP spid="129034" grpId="0"/>
      <p:bldP spid="129041" grpId="0"/>
      <p:bldP spid="129042" grpId="0"/>
      <p:bldP spid="12904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458" name="文本框 403457"/>
          <p:cNvSpPr txBox="1"/>
          <p:nvPr/>
        </p:nvSpPr>
        <p:spPr>
          <a:xfrm>
            <a:off x="34925" y="2776538"/>
            <a:ext cx="4895850" cy="579437"/>
          </a:xfrm>
          <a:prstGeom prst="rect">
            <a:avLst/>
          </a:prstGeom>
          <a:noFill/>
          <a:ln w="9525">
            <a:noFill/>
          </a:ln>
        </p:spPr>
        <p:txBody>
          <a:bodyPr anchor="t">
            <a:spAutoFit/>
          </a:bodyPr>
          <a:lstStyle/>
          <a:p>
            <a:pPr>
              <a:buClr>
                <a:schemeClr val="bg1"/>
              </a:buClr>
            </a:pPr>
            <a:r>
              <a:rPr lang="en-US" altLang="zh-CN" sz="3200" b="1">
                <a:solidFill>
                  <a:srgbClr val="0000FF"/>
                </a:solidFill>
                <a:latin typeface="Times New Roman" panose="02020603050405020304" pitchFamily="18" charset="0"/>
              </a:rPr>
              <a:t>CH</a:t>
            </a:r>
            <a:r>
              <a:rPr lang="en-US" altLang="zh-CN" sz="3200" b="1" baseline="-25000">
                <a:solidFill>
                  <a:srgbClr val="0000FF"/>
                </a:solidFill>
                <a:latin typeface="Times New Roman" panose="02020603050405020304" pitchFamily="18" charset="0"/>
              </a:rPr>
              <a:t>2</a:t>
            </a:r>
            <a:r>
              <a:rPr lang="en-US" altLang="zh-CN" sz="3200" b="1">
                <a:solidFill>
                  <a:srgbClr val="0000FF"/>
                </a:solidFill>
                <a:latin typeface="Times New Roman" panose="02020603050405020304" pitchFamily="18" charset="0"/>
              </a:rPr>
              <a:t>-COOH+NaOH </a:t>
            </a:r>
          </a:p>
        </p:txBody>
      </p:sp>
      <p:sp>
        <p:nvSpPr>
          <p:cNvPr id="403459" name="文本框 403458"/>
          <p:cNvSpPr txBox="1"/>
          <p:nvPr/>
        </p:nvSpPr>
        <p:spPr>
          <a:xfrm>
            <a:off x="4427538" y="2719388"/>
            <a:ext cx="2951162" cy="641350"/>
          </a:xfrm>
          <a:prstGeom prst="rect">
            <a:avLst/>
          </a:prstGeom>
          <a:noFill/>
          <a:ln w="9525">
            <a:noFill/>
          </a:ln>
        </p:spPr>
        <p:txBody>
          <a:bodyPr anchor="t">
            <a:spAutoFit/>
          </a:bodyPr>
          <a:lstStyle/>
          <a:p>
            <a:pPr>
              <a:buClr>
                <a:schemeClr val="bg1"/>
              </a:buClr>
            </a:pPr>
            <a:r>
              <a:rPr lang="en-US" altLang="zh-CN" sz="3600" b="1">
                <a:solidFill>
                  <a:srgbClr val="0000FF"/>
                </a:solidFill>
                <a:latin typeface="Times New Roman" panose="02020603050405020304" pitchFamily="18" charset="0"/>
              </a:rPr>
              <a:t>[</a:t>
            </a:r>
            <a:r>
              <a:rPr lang="en-US" altLang="zh-CN" sz="3200" b="1">
                <a:solidFill>
                  <a:srgbClr val="0000FF"/>
                </a:solidFill>
                <a:latin typeface="Times New Roman" panose="02020603050405020304" pitchFamily="18" charset="0"/>
              </a:rPr>
              <a:t>CH</a:t>
            </a:r>
            <a:r>
              <a:rPr lang="en-US" altLang="zh-CN" sz="3200" b="1" baseline="-25000">
                <a:solidFill>
                  <a:srgbClr val="0000FF"/>
                </a:solidFill>
                <a:latin typeface="Times New Roman" panose="02020603050405020304" pitchFamily="18" charset="0"/>
              </a:rPr>
              <a:t>2</a:t>
            </a:r>
            <a:r>
              <a:rPr lang="en-US" altLang="zh-CN" sz="3200" b="1">
                <a:solidFill>
                  <a:srgbClr val="0000FF"/>
                </a:solidFill>
                <a:latin typeface="Times New Roman" panose="02020603050405020304" pitchFamily="18" charset="0"/>
              </a:rPr>
              <a:t>-COO]</a:t>
            </a:r>
            <a:r>
              <a:rPr lang="zh-CN" altLang="en-US" sz="3200" b="1" baseline="30000">
                <a:solidFill>
                  <a:srgbClr val="0000FF"/>
                </a:solidFill>
                <a:latin typeface="Times New Roman" panose="02020603050405020304" pitchFamily="18" charset="0"/>
              </a:rPr>
              <a:t>－</a:t>
            </a:r>
            <a:endParaRPr lang="zh-CN" altLang="en-US" sz="3200" b="1">
              <a:solidFill>
                <a:srgbClr val="0000FF"/>
              </a:solidFill>
              <a:latin typeface="Times New Roman" panose="02020603050405020304" pitchFamily="18" charset="0"/>
            </a:endParaRPr>
          </a:p>
        </p:txBody>
      </p:sp>
      <p:sp>
        <p:nvSpPr>
          <p:cNvPr id="403460" name="文本框 403459"/>
          <p:cNvSpPr txBox="1"/>
          <p:nvPr/>
        </p:nvSpPr>
        <p:spPr>
          <a:xfrm>
            <a:off x="6804025" y="2781300"/>
            <a:ext cx="2160588" cy="579438"/>
          </a:xfrm>
          <a:prstGeom prst="rect">
            <a:avLst/>
          </a:prstGeom>
          <a:noFill/>
          <a:ln w="9525">
            <a:noFill/>
          </a:ln>
        </p:spPr>
        <p:txBody>
          <a:bodyPr anchor="t">
            <a:spAutoFit/>
          </a:bodyPr>
          <a:lstStyle/>
          <a:p>
            <a:pPr>
              <a:buClr>
                <a:schemeClr val="bg1"/>
              </a:buClr>
            </a:pPr>
            <a:r>
              <a:rPr lang="en-US" altLang="zh-CN" sz="3200" b="1">
                <a:solidFill>
                  <a:srgbClr val="0000FF"/>
                </a:solidFill>
                <a:latin typeface="Times New Roman" panose="02020603050405020304" pitchFamily="18" charset="0"/>
              </a:rPr>
              <a:t>Na</a:t>
            </a:r>
            <a:r>
              <a:rPr lang="en-US" altLang="zh-CN" sz="3200" b="1" baseline="30000">
                <a:solidFill>
                  <a:srgbClr val="0000FF"/>
                </a:solidFill>
                <a:latin typeface="Times New Roman" panose="02020603050405020304" pitchFamily="18" charset="0"/>
              </a:rPr>
              <a:t>+ </a:t>
            </a:r>
            <a:r>
              <a:rPr lang="en-US" altLang="zh-CN" sz="3200" b="1">
                <a:solidFill>
                  <a:srgbClr val="0000FF"/>
                </a:solidFill>
                <a:latin typeface="Times New Roman" panose="02020603050405020304" pitchFamily="18" charset="0"/>
              </a:rPr>
              <a:t>+ H</a:t>
            </a:r>
            <a:r>
              <a:rPr lang="en-US" altLang="zh-CN" sz="3200" b="1" baseline="-25000">
                <a:solidFill>
                  <a:srgbClr val="0000FF"/>
                </a:solidFill>
                <a:latin typeface="Times New Roman" panose="02020603050405020304" pitchFamily="18" charset="0"/>
              </a:rPr>
              <a:t>2</a:t>
            </a:r>
            <a:r>
              <a:rPr lang="en-US" altLang="zh-CN" sz="3200" b="1">
                <a:solidFill>
                  <a:srgbClr val="0000FF"/>
                </a:solidFill>
                <a:latin typeface="Times New Roman" panose="02020603050405020304" pitchFamily="18" charset="0"/>
              </a:rPr>
              <a:t>O</a:t>
            </a:r>
          </a:p>
        </p:txBody>
      </p:sp>
      <p:grpSp>
        <p:nvGrpSpPr>
          <p:cNvPr id="403461" name="组合 403460"/>
          <p:cNvGrpSpPr/>
          <p:nvPr/>
        </p:nvGrpSpPr>
        <p:grpSpPr>
          <a:xfrm>
            <a:off x="0" y="3284538"/>
            <a:ext cx="936625" cy="855662"/>
            <a:chOff x="22" y="2251"/>
            <a:chExt cx="590" cy="539"/>
          </a:xfrm>
        </p:grpSpPr>
        <p:sp>
          <p:nvSpPr>
            <p:cNvPr id="15365" name="文本框 403461"/>
            <p:cNvSpPr txBox="1"/>
            <p:nvPr/>
          </p:nvSpPr>
          <p:spPr>
            <a:xfrm>
              <a:off x="22" y="2419"/>
              <a:ext cx="590" cy="371"/>
            </a:xfrm>
            <a:prstGeom prst="rect">
              <a:avLst/>
            </a:prstGeom>
            <a:noFill/>
            <a:ln w="9525" cap="flat" cmpd="sng">
              <a:solidFill>
                <a:schemeClr val="tx1"/>
              </a:solidFill>
              <a:prstDash val="solid"/>
              <a:miter/>
              <a:headEnd type="none" w="med" len="med"/>
              <a:tailEnd type="none" w="med" len="med"/>
            </a:ln>
          </p:spPr>
          <p:txBody>
            <a:bodyPr wrap="none" anchor="t">
              <a:spAutoFit/>
            </a:bodyPr>
            <a:lstStyle/>
            <a:p>
              <a:pPr>
                <a:buClr>
                  <a:schemeClr val="bg1"/>
                </a:buClr>
              </a:pPr>
              <a:r>
                <a:rPr lang="en-US" altLang="zh-CN" sz="3200" b="1">
                  <a:solidFill>
                    <a:srgbClr val="0000FF"/>
                  </a:solidFill>
                  <a:latin typeface="Times New Roman" panose="02020603050405020304" pitchFamily="18" charset="0"/>
                </a:rPr>
                <a:t>NH</a:t>
              </a:r>
              <a:r>
                <a:rPr lang="en-US" altLang="zh-CN" sz="3200" b="1" baseline="-25000">
                  <a:solidFill>
                    <a:srgbClr val="0000FF"/>
                  </a:solidFill>
                  <a:latin typeface="Times New Roman" panose="02020603050405020304" pitchFamily="18" charset="0"/>
                </a:rPr>
                <a:t>2</a:t>
              </a:r>
              <a:endParaRPr lang="en-US" altLang="zh-CN" sz="3200" b="1">
                <a:solidFill>
                  <a:srgbClr val="0000FF"/>
                </a:solidFill>
                <a:latin typeface="Times New Roman" panose="02020603050405020304" pitchFamily="18" charset="0"/>
              </a:endParaRPr>
            </a:p>
          </p:txBody>
        </p:sp>
        <p:sp>
          <p:nvSpPr>
            <p:cNvPr id="15366" name="直接连接符 403462"/>
            <p:cNvSpPr/>
            <p:nvPr/>
          </p:nvSpPr>
          <p:spPr>
            <a:xfrm>
              <a:off x="158" y="2251"/>
              <a:ext cx="0" cy="181"/>
            </a:xfrm>
            <a:prstGeom prst="line">
              <a:avLst/>
            </a:prstGeom>
            <a:ln w="28575" cap="flat" cmpd="sng">
              <a:solidFill>
                <a:schemeClr val="tx1"/>
              </a:solidFill>
              <a:prstDash val="solid"/>
              <a:round/>
              <a:headEnd type="none" w="med" len="med"/>
              <a:tailEnd type="none" w="med" len="med"/>
            </a:ln>
          </p:spPr>
        </p:sp>
      </p:grpSp>
      <p:sp>
        <p:nvSpPr>
          <p:cNvPr id="403464" name="文本框 403463"/>
          <p:cNvSpPr txBox="1"/>
          <p:nvPr/>
        </p:nvSpPr>
        <p:spPr>
          <a:xfrm>
            <a:off x="1619250" y="6216650"/>
            <a:ext cx="3168650" cy="641350"/>
          </a:xfrm>
          <a:prstGeom prst="rect">
            <a:avLst/>
          </a:prstGeom>
          <a:solidFill>
            <a:schemeClr val="bg2">
              <a:alpha val="89999"/>
            </a:schemeClr>
          </a:solidFill>
          <a:ln w="9525">
            <a:noFill/>
          </a:ln>
        </p:spPr>
        <p:txBody>
          <a:bodyPr anchor="t">
            <a:spAutoFit/>
          </a:bodyPr>
          <a:lstStyle/>
          <a:p>
            <a:pPr>
              <a:buClr>
                <a:schemeClr val="bg1"/>
              </a:buClr>
            </a:pPr>
            <a:r>
              <a:rPr lang="zh-CN" altLang="en-US" sz="3600" b="1" dirty="0">
                <a:solidFill>
                  <a:srgbClr val="FFFF00"/>
                </a:solidFill>
                <a:latin typeface="Times New Roman" panose="02020603050405020304" pitchFamily="18" charset="0"/>
              </a:rPr>
              <a:t>也会形成内盐</a:t>
            </a:r>
          </a:p>
        </p:txBody>
      </p:sp>
      <p:grpSp>
        <p:nvGrpSpPr>
          <p:cNvPr id="403465" name="组合 403464"/>
          <p:cNvGrpSpPr/>
          <p:nvPr/>
        </p:nvGrpSpPr>
        <p:grpSpPr>
          <a:xfrm>
            <a:off x="5795963" y="5589588"/>
            <a:ext cx="3059112" cy="1295400"/>
            <a:chOff x="3833" y="3294"/>
            <a:chExt cx="1927" cy="816"/>
          </a:xfrm>
        </p:grpSpPr>
        <p:grpSp>
          <p:nvGrpSpPr>
            <p:cNvPr id="15369" name="组合 403465"/>
            <p:cNvGrpSpPr/>
            <p:nvPr/>
          </p:nvGrpSpPr>
          <p:grpSpPr>
            <a:xfrm>
              <a:off x="3833" y="3294"/>
              <a:ext cx="1927" cy="816"/>
              <a:chOff x="3833" y="3294"/>
              <a:chExt cx="1927" cy="816"/>
            </a:xfrm>
          </p:grpSpPr>
          <p:sp>
            <p:nvSpPr>
              <p:cNvPr id="15370" name="文本框 403466"/>
              <p:cNvSpPr txBox="1"/>
              <p:nvPr/>
            </p:nvSpPr>
            <p:spPr>
              <a:xfrm>
                <a:off x="3833" y="3294"/>
                <a:ext cx="1927" cy="404"/>
              </a:xfrm>
              <a:prstGeom prst="rect">
                <a:avLst/>
              </a:prstGeom>
              <a:noFill/>
              <a:ln w="9525">
                <a:noFill/>
              </a:ln>
            </p:spPr>
            <p:txBody>
              <a:bodyPr anchor="t">
                <a:spAutoFit/>
              </a:bodyPr>
              <a:lstStyle/>
              <a:p>
                <a:pPr>
                  <a:buClr>
                    <a:schemeClr val="bg1"/>
                  </a:buClr>
                </a:pPr>
                <a:r>
                  <a:rPr lang="en-US" altLang="zh-CN" sz="3600" b="1" dirty="0">
                    <a:solidFill>
                      <a:srgbClr val="0000FF"/>
                    </a:solidFill>
                    <a:latin typeface="Times New Roman" panose="02020603050405020304" pitchFamily="18" charset="0"/>
                  </a:rPr>
                  <a:t>CH</a:t>
                </a:r>
                <a:r>
                  <a:rPr lang="en-US" altLang="zh-CN" sz="3600" b="1" baseline="-25000" dirty="0">
                    <a:solidFill>
                      <a:srgbClr val="0000FF"/>
                    </a:solidFill>
                    <a:latin typeface="Times New Roman" panose="02020603050405020304" pitchFamily="18" charset="0"/>
                  </a:rPr>
                  <a:t>2</a:t>
                </a:r>
                <a:r>
                  <a:rPr lang="en-US" altLang="zh-CN" sz="3600" b="1" dirty="0">
                    <a:solidFill>
                      <a:srgbClr val="0000FF"/>
                    </a:solidFill>
                    <a:latin typeface="Times New Roman" panose="02020603050405020304" pitchFamily="18" charset="0"/>
                  </a:rPr>
                  <a:t>COO</a:t>
                </a:r>
                <a:r>
                  <a:rPr lang="zh-CN" altLang="en-US" sz="3600" b="1" baseline="30000" dirty="0">
                    <a:solidFill>
                      <a:srgbClr val="0000FF"/>
                    </a:solidFill>
                    <a:latin typeface="Times New Roman" panose="02020603050405020304" pitchFamily="18" charset="0"/>
                  </a:rPr>
                  <a:t>－</a:t>
                </a:r>
                <a:endParaRPr lang="zh-CN" altLang="en-US" sz="3600" b="1" dirty="0">
                  <a:solidFill>
                    <a:srgbClr val="0000FF"/>
                  </a:solidFill>
                  <a:latin typeface="Times New Roman" panose="02020603050405020304" pitchFamily="18" charset="0"/>
                </a:endParaRPr>
              </a:p>
            </p:txBody>
          </p:sp>
          <p:sp>
            <p:nvSpPr>
              <p:cNvPr id="15371" name="文本框 403467"/>
              <p:cNvSpPr txBox="1"/>
              <p:nvPr/>
            </p:nvSpPr>
            <p:spPr>
              <a:xfrm>
                <a:off x="3878" y="3706"/>
                <a:ext cx="998" cy="404"/>
              </a:xfrm>
              <a:prstGeom prst="rect">
                <a:avLst/>
              </a:prstGeom>
              <a:noFill/>
              <a:ln w="9525">
                <a:noFill/>
              </a:ln>
            </p:spPr>
            <p:txBody>
              <a:bodyPr anchor="t">
                <a:spAutoFit/>
              </a:bodyPr>
              <a:lstStyle/>
              <a:p>
                <a:pPr>
                  <a:buClr>
                    <a:schemeClr val="bg1"/>
                  </a:buClr>
                </a:pPr>
                <a:r>
                  <a:rPr lang="en-US" altLang="zh-CN" sz="3600" b="1">
                    <a:solidFill>
                      <a:srgbClr val="0000FF"/>
                    </a:solidFill>
                    <a:latin typeface="Times New Roman" panose="02020603050405020304" pitchFamily="18" charset="0"/>
                  </a:rPr>
                  <a:t>NH</a:t>
                </a:r>
                <a:r>
                  <a:rPr lang="en-US" altLang="zh-CN" sz="3600" b="1" baseline="-25000">
                    <a:solidFill>
                      <a:srgbClr val="0000FF"/>
                    </a:solidFill>
                    <a:latin typeface="Times New Roman" panose="02020603050405020304" pitchFamily="18" charset="0"/>
                  </a:rPr>
                  <a:t>3</a:t>
                </a:r>
                <a:r>
                  <a:rPr lang="en-US" altLang="zh-CN" sz="3600" b="1" baseline="30000">
                    <a:solidFill>
                      <a:srgbClr val="0000FF"/>
                    </a:solidFill>
                    <a:latin typeface="Times New Roman" panose="02020603050405020304" pitchFamily="18" charset="0"/>
                  </a:rPr>
                  <a:t>+</a:t>
                </a:r>
                <a:endParaRPr lang="en-US" altLang="zh-CN" sz="3600" b="1">
                  <a:solidFill>
                    <a:srgbClr val="0000FF"/>
                  </a:solidFill>
                  <a:latin typeface="Times New Roman" panose="02020603050405020304" pitchFamily="18" charset="0"/>
                </a:endParaRPr>
              </a:p>
            </p:txBody>
          </p:sp>
        </p:grpSp>
        <p:sp>
          <p:nvSpPr>
            <p:cNvPr id="15372" name="直接连接符 403468"/>
            <p:cNvSpPr/>
            <p:nvPr/>
          </p:nvSpPr>
          <p:spPr>
            <a:xfrm>
              <a:off x="4014" y="3656"/>
              <a:ext cx="0" cy="137"/>
            </a:xfrm>
            <a:prstGeom prst="line">
              <a:avLst/>
            </a:prstGeom>
            <a:ln w="28575" cap="flat" cmpd="sng">
              <a:solidFill>
                <a:srgbClr val="FFFF99"/>
              </a:solidFill>
              <a:prstDash val="solid"/>
              <a:round/>
              <a:headEnd type="none" w="med" len="med"/>
              <a:tailEnd type="none" w="med" len="med"/>
            </a:ln>
          </p:spPr>
        </p:sp>
      </p:grpSp>
      <p:sp>
        <p:nvSpPr>
          <p:cNvPr id="403470" name="直接连接符 403469"/>
          <p:cNvSpPr/>
          <p:nvPr/>
        </p:nvSpPr>
        <p:spPr>
          <a:xfrm>
            <a:off x="3708400" y="3068638"/>
            <a:ext cx="792163" cy="0"/>
          </a:xfrm>
          <a:prstGeom prst="line">
            <a:avLst/>
          </a:prstGeom>
          <a:ln w="28575" cap="flat" cmpd="sng">
            <a:solidFill>
              <a:schemeClr val="tx1"/>
            </a:solidFill>
            <a:prstDash val="solid"/>
            <a:round/>
            <a:headEnd type="none" w="med" len="med"/>
            <a:tailEnd type="triangle" w="med" len="med"/>
          </a:ln>
        </p:spPr>
      </p:sp>
      <p:grpSp>
        <p:nvGrpSpPr>
          <p:cNvPr id="403471" name="组合 403470"/>
          <p:cNvGrpSpPr/>
          <p:nvPr/>
        </p:nvGrpSpPr>
        <p:grpSpPr>
          <a:xfrm>
            <a:off x="4641850" y="3230563"/>
            <a:ext cx="927100" cy="846137"/>
            <a:chOff x="22" y="2251"/>
            <a:chExt cx="584" cy="533"/>
          </a:xfrm>
        </p:grpSpPr>
        <p:sp>
          <p:nvSpPr>
            <p:cNvPr id="15375" name="文本框 403471"/>
            <p:cNvSpPr txBox="1"/>
            <p:nvPr/>
          </p:nvSpPr>
          <p:spPr>
            <a:xfrm>
              <a:off x="22" y="2419"/>
              <a:ext cx="584" cy="365"/>
            </a:xfrm>
            <a:prstGeom prst="rect">
              <a:avLst/>
            </a:prstGeom>
            <a:noFill/>
            <a:ln w="9525">
              <a:noFill/>
            </a:ln>
          </p:spPr>
          <p:txBody>
            <a:bodyPr wrap="none" anchor="t">
              <a:spAutoFit/>
            </a:bodyPr>
            <a:lstStyle/>
            <a:p>
              <a:pPr>
                <a:buClr>
                  <a:schemeClr val="bg1"/>
                </a:buClr>
              </a:pPr>
              <a:r>
                <a:rPr lang="en-US" altLang="zh-CN" sz="3200" b="1">
                  <a:solidFill>
                    <a:srgbClr val="0000FF"/>
                  </a:solidFill>
                  <a:latin typeface="Times New Roman" panose="02020603050405020304" pitchFamily="18" charset="0"/>
                </a:rPr>
                <a:t>NH</a:t>
              </a:r>
              <a:r>
                <a:rPr lang="en-US" altLang="zh-CN" sz="3200" b="1" baseline="-25000">
                  <a:solidFill>
                    <a:srgbClr val="0000FF"/>
                  </a:solidFill>
                  <a:latin typeface="Times New Roman" panose="02020603050405020304" pitchFamily="18" charset="0"/>
                </a:rPr>
                <a:t>2</a:t>
              </a:r>
              <a:endParaRPr lang="en-US" altLang="zh-CN" sz="3200" b="1">
                <a:solidFill>
                  <a:srgbClr val="0000FF"/>
                </a:solidFill>
                <a:latin typeface="Times New Roman" panose="02020603050405020304" pitchFamily="18" charset="0"/>
              </a:endParaRPr>
            </a:p>
          </p:txBody>
        </p:sp>
        <p:sp>
          <p:nvSpPr>
            <p:cNvPr id="15376" name="直接连接符 403472"/>
            <p:cNvSpPr/>
            <p:nvPr/>
          </p:nvSpPr>
          <p:spPr>
            <a:xfrm>
              <a:off x="158" y="2251"/>
              <a:ext cx="0" cy="181"/>
            </a:xfrm>
            <a:prstGeom prst="line">
              <a:avLst/>
            </a:prstGeom>
            <a:ln w="28575" cap="flat" cmpd="sng">
              <a:solidFill>
                <a:schemeClr val="tx1"/>
              </a:solidFill>
              <a:prstDash val="solid"/>
              <a:round/>
              <a:headEnd type="none" w="med" len="med"/>
              <a:tailEnd type="none" w="med" len="med"/>
            </a:ln>
          </p:spPr>
        </p:sp>
      </p:grpSp>
      <p:sp>
        <p:nvSpPr>
          <p:cNvPr id="403474" name="文本框 403473"/>
          <p:cNvSpPr txBox="1"/>
          <p:nvPr/>
        </p:nvSpPr>
        <p:spPr>
          <a:xfrm>
            <a:off x="34925" y="4379913"/>
            <a:ext cx="3348038" cy="579437"/>
          </a:xfrm>
          <a:prstGeom prst="rect">
            <a:avLst/>
          </a:prstGeom>
          <a:noFill/>
          <a:ln w="9525">
            <a:noFill/>
          </a:ln>
        </p:spPr>
        <p:txBody>
          <a:bodyPr anchor="t">
            <a:spAutoFit/>
          </a:bodyPr>
          <a:lstStyle/>
          <a:p>
            <a:pPr>
              <a:buClr>
                <a:schemeClr val="bg1"/>
              </a:buClr>
            </a:pPr>
            <a:r>
              <a:rPr lang="en-US" altLang="zh-CN" sz="3200" b="1">
                <a:solidFill>
                  <a:srgbClr val="0000FF"/>
                </a:solidFill>
                <a:latin typeface="Times New Roman" panose="02020603050405020304" pitchFamily="18" charset="0"/>
              </a:rPr>
              <a:t>CH</a:t>
            </a:r>
            <a:r>
              <a:rPr lang="en-US" altLang="zh-CN" sz="3200" b="1" baseline="-25000">
                <a:solidFill>
                  <a:srgbClr val="0000FF"/>
                </a:solidFill>
                <a:latin typeface="Times New Roman" panose="02020603050405020304" pitchFamily="18" charset="0"/>
              </a:rPr>
              <a:t>2</a:t>
            </a:r>
            <a:r>
              <a:rPr lang="en-US" altLang="zh-CN" sz="3200" b="1">
                <a:solidFill>
                  <a:srgbClr val="0000FF"/>
                </a:solidFill>
                <a:latin typeface="Times New Roman" panose="02020603050405020304" pitchFamily="18" charset="0"/>
              </a:rPr>
              <a:t>-COOH+HCl</a:t>
            </a:r>
          </a:p>
        </p:txBody>
      </p:sp>
      <p:grpSp>
        <p:nvGrpSpPr>
          <p:cNvPr id="403475" name="组合 403474"/>
          <p:cNvGrpSpPr/>
          <p:nvPr/>
        </p:nvGrpSpPr>
        <p:grpSpPr>
          <a:xfrm>
            <a:off x="34925" y="4887913"/>
            <a:ext cx="927100" cy="846137"/>
            <a:chOff x="22" y="2251"/>
            <a:chExt cx="584" cy="533"/>
          </a:xfrm>
        </p:grpSpPr>
        <p:sp>
          <p:nvSpPr>
            <p:cNvPr id="15379" name="文本框 403475"/>
            <p:cNvSpPr txBox="1"/>
            <p:nvPr/>
          </p:nvSpPr>
          <p:spPr>
            <a:xfrm>
              <a:off x="22" y="2419"/>
              <a:ext cx="584" cy="365"/>
            </a:xfrm>
            <a:prstGeom prst="rect">
              <a:avLst/>
            </a:prstGeom>
            <a:noFill/>
            <a:ln w="9525">
              <a:noFill/>
            </a:ln>
          </p:spPr>
          <p:txBody>
            <a:bodyPr wrap="none" anchor="t">
              <a:spAutoFit/>
            </a:bodyPr>
            <a:lstStyle/>
            <a:p>
              <a:pPr>
                <a:buClr>
                  <a:schemeClr val="bg1"/>
                </a:buClr>
              </a:pPr>
              <a:r>
                <a:rPr lang="en-US" altLang="zh-CN" sz="3200" b="1">
                  <a:solidFill>
                    <a:srgbClr val="0000FF"/>
                  </a:solidFill>
                  <a:latin typeface="Times New Roman" panose="02020603050405020304" pitchFamily="18" charset="0"/>
                </a:rPr>
                <a:t>NH</a:t>
              </a:r>
              <a:r>
                <a:rPr lang="en-US" altLang="zh-CN" sz="3200" b="1" baseline="-25000">
                  <a:solidFill>
                    <a:srgbClr val="0000FF"/>
                  </a:solidFill>
                  <a:latin typeface="Times New Roman" panose="02020603050405020304" pitchFamily="18" charset="0"/>
                </a:rPr>
                <a:t>2</a:t>
              </a:r>
              <a:endParaRPr lang="en-US" altLang="zh-CN" sz="3200" b="1">
                <a:solidFill>
                  <a:srgbClr val="0000FF"/>
                </a:solidFill>
                <a:latin typeface="Times New Roman" panose="02020603050405020304" pitchFamily="18" charset="0"/>
              </a:endParaRPr>
            </a:p>
          </p:txBody>
        </p:sp>
        <p:sp>
          <p:nvSpPr>
            <p:cNvPr id="15380" name="直接连接符 403476"/>
            <p:cNvSpPr/>
            <p:nvPr/>
          </p:nvSpPr>
          <p:spPr>
            <a:xfrm>
              <a:off x="158" y="2251"/>
              <a:ext cx="0" cy="181"/>
            </a:xfrm>
            <a:prstGeom prst="line">
              <a:avLst/>
            </a:prstGeom>
            <a:ln w="28575" cap="flat" cmpd="sng">
              <a:solidFill>
                <a:schemeClr val="tx1"/>
              </a:solidFill>
              <a:prstDash val="solid"/>
              <a:round/>
              <a:headEnd type="none" w="med" len="med"/>
              <a:tailEnd type="none" w="med" len="med"/>
            </a:ln>
          </p:spPr>
        </p:sp>
      </p:grpSp>
      <p:sp>
        <p:nvSpPr>
          <p:cNvPr id="403478" name="直接连接符 403477"/>
          <p:cNvSpPr/>
          <p:nvPr/>
        </p:nvSpPr>
        <p:spPr>
          <a:xfrm>
            <a:off x="3311525" y="4672013"/>
            <a:ext cx="792163" cy="0"/>
          </a:xfrm>
          <a:prstGeom prst="line">
            <a:avLst/>
          </a:prstGeom>
          <a:ln w="28575" cap="flat" cmpd="sng">
            <a:solidFill>
              <a:schemeClr val="tx1"/>
            </a:solidFill>
            <a:prstDash val="solid"/>
            <a:round/>
            <a:headEnd type="none" w="med" len="med"/>
            <a:tailEnd type="triangle" w="med" len="med"/>
          </a:ln>
        </p:spPr>
      </p:sp>
      <p:sp>
        <p:nvSpPr>
          <p:cNvPr id="403479" name="文本框 403478"/>
          <p:cNvSpPr txBox="1"/>
          <p:nvPr/>
        </p:nvSpPr>
        <p:spPr>
          <a:xfrm>
            <a:off x="4175125" y="4311650"/>
            <a:ext cx="3600450" cy="641350"/>
          </a:xfrm>
          <a:prstGeom prst="rect">
            <a:avLst/>
          </a:prstGeom>
          <a:noFill/>
          <a:ln w="9525">
            <a:noFill/>
          </a:ln>
        </p:spPr>
        <p:txBody>
          <a:bodyPr anchor="t">
            <a:spAutoFit/>
          </a:bodyPr>
          <a:lstStyle/>
          <a:p>
            <a:pPr>
              <a:buClr>
                <a:schemeClr val="bg1"/>
              </a:buClr>
            </a:pPr>
            <a:r>
              <a:rPr lang="en-US" altLang="zh-CN" sz="3600" b="1">
                <a:solidFill>
                  <a:srgbClr val="0000FF"/>
                </a:solidFill>
                <a:latin typeface="Times New Roman" panose="02020603050405020304" pitchFamily="18" charset="0"/>
              </a:rPr>
              <a:t>[</a:t>
            </a:r>
            <a:r>
              <a:rPr lang="en-US" altLang="zh-CN" sz="3200" b="1">
                <a:solidFill>
                  <a:srgbClr val="0000FF"/>
                </a:solidFill>
                <a:latin typeface="Times New Roman" panose="02020603050405020304" pitchFamily="18" charset="0"/>
              </a:rPr>
              <a:t>CH</a:t>
            </a:r>
            <a:r>
              <a:rPr lang="en-US" altLang="zh-CN" sz="3200" b="1" baseline="-25000">
                <a:solidFill>
                  <a:srgbClr val="0000FF"/>
                </a:solidFill>
                <a:latin typeface="Times New Roman" panose="02020603050405020304" pitchFamily="18" charset="0"/>
              </a:rPr>
              <a:t>2</a:t>
            </a:r>
            <a:r>
              <a:rPr lang="en-US" altLang="zh-CN" sz="3200" b="1">
                <a:solidFill>
                  <a:srgbClr val="0000FF"/>
                </a:solidFill>
                <a:latin typeface="Times New Roman" panose="02020603050405020304" pitchFamily="18" charset="0"/>
              </a:rPr>
              <a:t>-COOH]Cl</a:t>
            </a:r>
            <a:r>
              <a:rPr lang="zh-CN" altLang="en-US" sz="3200" b="1" baseline="30000">
                <a:solidFill>
                  <a:srgbClr val="0000FF"/>
                </a:solidFill>
                <a:latin typeface="Times New Roman" panose="02020603050405020304" pitchFamily="18" charset="0"/>
              </a:rPr>
              <a:t>－</a:t>
            </a:r>
            <a:endParaRPr lang="zh-CN" altLang="en-US" sz="3200" b="1">
              <a:solidFill>
                <a:srgbClr val="0000FF"/>
              </a:solidFill>
              <a:latin typeface="Times New Roman" panose="02020603050405020304" pitchFamily="18" charset="0"/>
            </a:endParaRPr>
          </a:p>
        </p:txBody>
      </p:sp>
      <p:grpSp>
        <p:nvGrpSpPr>
          <p:cNvPr id="403480" name="组合 403479"/>
          <p:cNvGrpSpPr/>
          <p:nvPr/>
        </p:nvGrpSpPr>
        <p:grpSpPr>
          <a:xfrm>
            <a:off x="4389438" y="4822825"/>
            <a:ext cx="936625" cy="855663"/>
            <a:chOff x="22" y="2251"/>
            <a:chExt cx="590" cy="539"/>
          </a:xfrm>
        </p:grpSpPr>
        <p:sp>
          <p:nvSpPr>
            <p:cNvPr id="15384" name="文本框 403480"/>
            <p:cNvSpPr txBox="1"/>
            <p:nvPr/>
          </p:nvSpPr>
          <p:spPr>
            <a:xfrm>
              <a:off x="22" y="2419"/>
              <a:ext cx="590" cy="371"/>
            </a:xfrm>
            <a:prstGeom prst="rect">
              <a:avLst/>
            </a:prstGeom>
            <a:noFill/>
            <a:ln w="9525" cap="flat" cmpd="sng">
              <a:solidFill>
                <a:schemeClr val="tx1"/>
              </a:solidFill>
              <a:prstDash val="solid"/>
              <a:miter/>
              <a:headEnd type="none" w="med" len="med"/>
              <a:tailEnd type="none" w="med" len="med"/>
            </a:ln>
          </p:spPr>
          <p:txBody>
            <a:bodyPr wrap="none" anchor="t">
              <a:spAutoFit/>
            </a:bodyPr>
            <a:lstStyle/>
            <a:p>
              <a:pPr>
                <a:buClr>
                  <a:schemeClr val="bg1"/>
                </a:buClr>
              </a:pPr>
              <a:r>
                <a:rPr lang="en-US" altLang="zh-CN" sz="3200" b="1">
                  <a:solidFill>
                    <a:srgbClr val="0000FF"/>
                  </a:solidFill>
                  <a:latin typeface="Times New Roman" panose="02020603050405020304" pitchFamily="18" charset="0"/>
                </a:rPr>
                <a:t>NH</a:t>
              </a:r>
              <a:r>
                <a:rPr lang="en-US" altLang="zh-CN" sz="3200" b="1" baseline="-25000">
                  <a:solidFill>
                    <a:srgbClr val="0000FF"/>
                  </a:solidFill>
                  <a:latin typeface="Times New Roman" panose="02020603050405020304" pitchFamily="18" charset="0"/>
                </a:rPr>
                <a:t>3</a:t>
              </a:r>
              <a:endParaRPr lang="en-US" altLang="zh-CN" sz="3200" b="1">
                <a:solidFill>
                  <a:srgbClr val="0000FF"/>
                </a:solidFill>
                <a:latin typeface="Times New Roman" panose="02020603050405020304" pitchFamily="18" charset="0"/>
              </a:endParaRPr>
            </a:p>
          </p:txBody>
        </p:sp>
        <p:sp>
          <p:nvSpPr>
            <p:cNvPr id="15385" name="直接连接符 403481"/>
            <p:cNvSpPr/>
            <p:nvPr/>
          </p:nvSpPr>
          <p:spPr>
            <a:xfrm>
              <a:off x="158" y="2251"/>
              <a:ext cx="0" cy="181"/>
            </a:xfrm>
            <a:prstGeom prst="line">
              <a:avLst/>
            </a:prstGeom>
            <a:ln w="28575" cap="flat" cmpd="sng">
              <a:solidFill>
                <a:schemeClr val="tx1"/>
              </a:solidFill>
              <a:prstDash val="solid"/>
              <a:round/>
              <a:headEnd type="none" w="med" len="med"/>
              <a:tailEnd type="none" w="med" len="med"/>
            </a:ln>
          </p:spPr>
        </p:sp>
      </p:grpSp>
      <p:sp>
        <p:nvSpPr>
          <p:cNvPr id="403483" name="文本框 403482"/>
          <p:cNvSpPr txBox="1"/>
          <p:nvPr/>
        </p:nvSpPr>
        <p:spPr>
          <a:xfrm>
            <a:off x="4932363" y="5006975"/>
            <a:ext cx="414337" cy="366713"/>
          </a:xfrm>
          <a:prstGeom prst="rect">
            <a:avLst/>
          </a:prstGeom>
          <a:noFill/>
          <a:ln w="28575">
            <a:noFill/>
          </a:ln>
        </p:spPr>
        <p:txBody>
          <a:bodyPr wrap="none" anchor="t">
            <a:spAutoFit/>
          </a:bodyPr>
          <a:lstStyle/>
          <a:p>
            <a:pPr>
              <a:buClr>
                <a:schemeClr val="bg1"/>
              </a:buClr>
            </a:pPr>
            <a:r>
              <a:rPr lang="zh-CN" altLang="en-US" b="1" dirty="0">
                <a:solidFill>
                  <a:srgbClr val="0000FF"/>
                </a:solidFill>
                <a:latin typeface="Times New Roman" panose="02020603050405020304" pitchFamily="18" charset="0"/>
              </a:rPr>
              <a:t>＋</a:t>
            </a:r>
          </a:p>
        </p:txBody>
      </p:sp>
      <p:sp>
        <p:nvSpPr>
          <p:cNvPr id="403484" name="文本框 403483"/>
          <p:cNvSpPr txBox="1"/>
          <p:nvPr/>
        </p:nvSpPr>
        <p:spPr>
          <a:xfrm>
            <a:off x="323850" y="765175"/>
            <a:ext cx="8167688" cy="1190625"/>
          </a:xfrm>
          <a:prstGeom prst="rect">
            <a:avLst/>
          </a:prstGeom>
          <a:solidFill>
            <a:srgbClr val="0000FF"/>
          </a:solidFill>
          <a:ln w="9525">
            <a:noFill/>
          </a:ln>
        </p:spPr>
        <p:txBody>
          <a:bodyPr anchor="t">
            <a:spAutoFit/>
          </a:bodyPr>
          <a:lstStyle/>
          <a:p>
            <a:pPr>
              <a:spcBef>
                <a:spcPct val="50000"/>
              </a:spcBef>
            </a:pPr>
            <a:r>
              <a:rPr lang="zh-CN" altLang="en-US" sz="3600" b="1" dirty="0">
                <a:solidFill>
                  <a:schemeClr val="bg1"/>
                </a:solidFill>
                <a:latin typeface="Arial" panose="020B0604020202020204" pitchFamily="34" charset="0"/>
              </a:rPr>
              <a:t>      </a:t>
            </a:r>
            <a:r>
              <a:rPr lang="zh-CN" altLang="en-US" sz="3600" b="1" dirty="0">
                <a:solidFill>
                  <a:schemeClr val="bg1"/>
                </a:solidFill>
                <a:latin typeface="楷体_GB2312" pitchFamily="49" charset="-122"/>
                <a:ea typeface="楷体_GB2312" pitchFamily="49" charset="-122"/>
              </a:rPr>
              <a:t>氨基酸中的</a:t>
            </a:r>
            <a:r>
              <a:rPr lang="zh-CN" altLang="en-US" sz="3600" b="1" dirty="0">
                <a:solidFill>
                  <a:srgbClr val="FFFF00"/>
                </a:solidFill>
                <a:latin typeface="楷体_GB2312" pitchFamily="49" charset="-122"/>
                <a:ea typeface="楷体_GB2312" pitchFamily="49" charset="-122"/>
              </a:rPr>
              <a:t>氨基</a:t>
            </a:r>
            <a:r>
              <a:rPr lang="zh-CN" altLang="en-US" sz="3600" b="1" dirty="0">
                <a:solidFill>
                  <a:schemeClr val="bg1"/>
                </a:solidFill>
                <a:latin typeface="楷体_GB2312" pitchFamily="49" charset="-122"/>
                <a:ea typeface="楷体_GB2312" pitchFamily="49" charset="-122"/>
              </a:rPr>
              <a:t>具碱性</a:t>
            </a:r>
            <a:r>
              <a:rPr lang="en-US" altLang="zh-CN" sz="3600" b="1">
                <a:solidFill>
                  <a:schemeClr val="bg1"/>
                </a:solidFill>
                <a:latin typeface="楷体_GB2312" pitchFamily="49" charset="-122"/>
                <a:ea typeface="楷体_GB2312" pitchFamily="49" charset="-122"/>
              </a:rPr>
              <a:t>,</a:t>
            </a:r>
            <a:r>
              <a:rPr lang="zh-CN" altLang="en-US" sz="3600" b="1" dirty="0">
                <a:solidFill>
                  <a:srgbClr val="FFFF00"/>
                </a:solidFill>
                <a:latin typeface="楷体_GB2312" pitchFamily="49" charset="-122"/>
                <a:ea typeface="楷体_GB2312" pitchFamily="49" charset="-122"/>
              </a:rPr>
              <a:t>羧基</a:t>
            </a:r>
            <a:r>
              <a:rPr lang="zh-CN" altLang="en-US" sz="3600" b="1" dirty="0">
                <a:solidFill>
                  <a:schemeClr val="bg1"/>
                </a:solidFill>
                <a:latin typeface="楷体_GB2312" pitchFamily="49" charset="-122"/>
                <a:ea typeface="楷体_GB2312" pitchFamily="49" charset="-122"/>
              </a:rPr>
              <a:t>具有酸性</a:t>
            </a:r>
            <a:r>
              <a:rPr lang="en-US" altLang="zh-CN" sz="3600" b="1">
                <a:solidFill>
                  <a:schemeClr val="bg1"/>
                </a:solidFill>
                <a:latin typeface="楷体_GB2312" pitchFamily="49" charset="-122"/>
                <a:ea typeface="楷体_GB2312" pitchFamily="49" charset="-122"/>
              </a:rPr>
              <a:t>,</a:t>
            </a:r>
            <a:r>
              <a:rPr lang="zh-CN" altLang="en-US" sz="3600" b="1" dirty="0">
                <a:solidFill>
                  <a:schemeClr val="bg1"/>
                </a:solidFill>
                <a:latin typeface="楷体_GB2312" pitchFamily="49" charset="-122"/>
                <a:ea typeface="楷体_GB2312" pitchFamily="49" charset="-122"/>
              </a:rPr>
              <a:t>因此</a:t>
            </a:r>
            <a:r>
              <a:rPr lang="en-US" altLang="zh-CN" sz="3600" b="1">
                <a:solidFill>
                  <a:schemeClr val="bg1"/>
                </a:solidFill>
                <a:latin typeface="楷体_GB2312" pitchFamily="49" charset="-122"/>
                <a:ea typeface="楷体_GB2312" pitchFamily="49" charset="-122"/>
              </a:rPr>
              <a:t>,</a:t>
            </a:r>
            <a:r>
              <a:rPr lang="zh-CN" altLang="en-US" sz="3600" b="1" dirty="0">
                <a:solidFill>
                  <a:schemeClr val="bg1"/>
                </a:solidFill>
                <a:latin typeface="楷体_GB2312" pitchFamily="49" charset="-122"/>
                <a:ea typeface="楷体_GB2312" pitchFamily="49" charset="-122"/>
              </a:rPr>
              <a:t>氨基酸属</a:t>
            </a:r>
            <a:r>
              <a:rPr lang="zh-CN" altLang="en-US" sz="3600" b="1" dirty="0">
                <a:solidFill>
                  <a:srgbClr val="66FF33"/>
                </a:solidFill>
                <a:latin typeface="楷体_GB2312" pitchFamily="49" charset="-122"/>
                <a:ea typeface="楷体_GB2312" pitchFamily="49" charset="-122"/>
              </a:rPr>
              <a:t>两性化合物</a:t>
            </a:r>
            <a:r>
              <a:rPr lang="en-US" altLang="zh-CN" sz="3600" b="1">
                <a:solidFill>
                  <a:srgbClr val="66FF33"/>
                </a:solidFill>
                <a:latin typeface="楷体_GB2312" pitchFamily="49" charset="-122"/>
                <a:ea typeface="楷体_GB2312" pitchFamily="49" charset="-122"/>
              </a:rPr>
              <a:t>.</a:t>
            </a:r>
          </a:p>
        </p:txBody>
      </p:sp>
      <p:sp>
        <p:nvSpPr>
          <p:cNvPr id="15388" name="灯片编号占位符 1"/>
          <p:cNvSpPr>
            <a:spLocks noGrp="1"/>
          </p:cNvSpPr>
          <p:nvPr>
            <p:ph type="sldNum" sz="quarter" idx="11"/>
          </p:nvPr>
        </p:nvSpPr>
        <p:spPr>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400" dirty="0"/>
              <a:pPr lvl="0" indent="0" algn="r"/>
              <a:t>14</a:t>
            </a:fld>
            <a:endParaRPr lang="zh-CN" altLang="en-US" sz="14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1" presetClass="entr" presetSubtype="0" fill="hold" grpId="0" nodeType="clickEffect">
                                  <p:stCondLst>
                                    <p:cond delay="0"/>
                                  </p:stCondLst>
                                  <p:childTnLst>
                                    <p:set>
                                      <p:cBhvr>
                                        <p:cTn id="6" dur="1" fill="hold">
                                          <p:stCondLst>
                                            <p:cond delay="0"/>
                                          </p:stCondLst>
                                        </p:cTn>
                                        <p:tgtEl>
                                          <p:spTgt spid="403484"/>
                                        </p:tgtEl>
                                        <p:attrNameLst>
                                          <p:attrName>style.visibility</p:attrName>
                                        </p:attrNameLst>
                                      </p:cBhvr>
                                      <p:to>
                                        <p:strVal val="visible"/>
                                      </p:to>
                                    </p:set>
                                    <p:animEffect transition="in" filter="fade">
                                      <p:cBhvr>
                                        <p:cTn id="7" dur="770" decel="100000"/>
                                        <p:tgtEl>
                                          <p:spTgt spid="403484"/>
                                        </p:tgtEl>
                                      </p:cBhvr>
                                    </p:animEffect>
                                    <p:animScale>
                                      <p:cBhvr>
                                        <p:cTn id="8" dur="770" decel="100000"/>
                                        <p:tgtEl>
                                          <p:spTgt spid="403484"/>
                                        </p:tgtEl>
                                      </p:cBhvr>
                                      <p:from x="10000" y="10000"/>
                                      <p:to x="200000" y="450000"/>
                                    </p:animScale>
                                    <p:animScale>
                                      <p:cBhvr>
                                        <p:cTn id="9" dur="1230" accel="100000" fill="hold">
                                          <p:stCondLst>
                                            <p:cond delay="770"/>
                                          </p:stCondLst>
                                        </p:cTn>
                                        <p:tgtEl>
                                          <p:spTgt spid="403484"/>
                                        </p:tgtEl>
                                      </p:cBhvr>
                                      <p:from x="200000" y="450000"/>
                                      <p:to x="100000" y="100000"/>
                                    </p:animScale>
                                    <p:set>
                                      <p:cBhvr>
                                        <p:cTn id="10" dur="770" fill="hold"/>
                                        <p:tgtEl>
                                          <p:spTgt spid="403484"/>
                                        </p:tgtEl>
                                        <p:attrNameLst>
                                          <p:attrName>ppt_x</p:attrName>
                                        </p:attrNameLst>
                                      </p:cBhvr>
                                      <p:to>
                                        <p:strVal val="(0.5)"/>
                                      </p:to>
                                    </p:set>
                                    <p:anim from="(0.5)" to="(#ppt_x)" calcmode="lin" valueType="num">
                                      <p:cBhvr>
                                        <p:cTn id="11" dur="1230" accel="100000" fill="hold">
                                          <p:stCondLst>
                                            <p:cond delay="770"/>
                                          </p:stCondLst>
                                        </p:cTn>
                                        <p:tgtEl>
                                          <p:spTgt spid="403484"/>
                                        </p:tgtEl>
                                        <p:attrNameLst>
                                          <p:attrName>ppt_x</p:attrName>
                                        </p:attrNameLst>
                                      </p:cBhvr>
                                    </p:anim>
                                    <p:set>
                                      <p:cBhvr>
                                        <p:cTn id="12" dur="770" fill="hold"/>
                                        <p:tgtEl>
                                          <p:spTgt spid="403484"/>
                                        </p:tgtEl>
                                        <p:attrNameLst>
                                          <p:attrName>ppt_y</p:attrName>
                                        </p:attrNameLst>
                                      </p:cBhvr>
                                      <p:to>
                                        <p:strVal val="(#ppt_y+0.4)"/>
                                      </p:to>
                                    </p:set>
                                    <p:anim from="(#ppt_y+0.4)" to="(#ppt_y)" calcmode="lin" valueType="num">
                                      <p:cBhvr>
                                        <p:cTn id="13" dur="1230" accel="100000" fill="hold">
                                          <p:stCondLst>
                                            <p:cond delay="770"/>
                                          </p:stCondLst>
                                        </p:cTn>
                                        <p:tgtEl>
                                          <p:spTgt spid="403484"/>
                                        </p:tgtEl>
                                        <p:attrNameLst>
                                          <p:attrName>ppt_y</p:attrName>
                                        </p:attrNameLst>
                                      </p:cBhvr>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403458"/>
                                        </p:tgtEl>
                                        <p:attrNameLst>
                                          <p:attrName>style.visibility</p:attrName>
                                        </p:attrNameLst>
                                      </p:cBhvr>
                                      <p:to>
                                        <p:strVal val="visible"/>
                                      </p:to>
                                    </p:set>
                                    <p:anim calcmode="lin" valueType="num">
                                      <p:cBhvr additive="base">
                                        <p:cTn id="18" dur="500" fill="hold"/>
                                        <p:tgtEl>
                                          <p:spTgt spid="403458"/>
                                        </p:tgtEl>
                                        <p:attrNameLst>
                                          <p:attrName>ppt_x</p:attrName>
                                        </p:attrNameLst>
                                      </p:cBhvr>
                                      <p:tavLst>
                                        <p:tav tm="0">
                                          <p:val>
                                            <p:strVal val="0-#ppt_w/2"/>
                                          </p:val>
                                        </p:tav>
                                        <p:tav tm="100000">
                                          <p:val>
                                            <p:strVal val="#ppt_x"/>
                                          </p:val>
                                        </p:tav>
                                      </p:tavLst>
                                    </p:anim>
                                    <p:anim calcmode="lin" valueType="num">
                                      <p:cBhvr additive="base">
                                        <p:cTn id="19" dur="500" fill="hold"/>
                                        <p:tgtEl>
                                          <p:spTgt spid="403458"/>
                                        </p:tgtEl>
                                        <p:attrNameLst>
                                          <p:attrName>ppt_y</p:attrName>
                                        </p:attrNameLst>
                                      </p:cBhvr>
                                      <p:tavLst>
                                        <p:tav tm="0">
                                          <p:val>
                                            <p:strVal val="#ppt_y"/>
                                          </p:val>
                                        </p:tav>
                                        <p:tav tm="100000">
                                          <p:val>
                                            <p:strVal val="#ppt_y"/>
                                          </p:val>
                                        </p:tav>
                                      </p:tavLst>
                                    </p:anim>
                                  </p:childTnLst>
                                </p:cTn>
                              </p:par>
                            </p:childTnLst>
                          </p:cTn>
                        </p:par>
                        <p:par>
                          <p:cTn id="20" fill="hold">
                            <p:stCondLst>
                              <p:cond delay="500"/>
                            </p:stCondLst>
                            <p:childTnLst>
                              <p:par>
                                <p:cTn id="21" presetID="2" presetClass="entr" presetSubtype="8" fill="hold" grpId="0" nodeType="afterEffect">
                                  <p:stCondLst>
                                    <p:cond delay="0"/>
                                  </p:stCondLst>
                                  <p:childTnLst>
                                    <p:set>
                                      <p:cBhvr>
                                        <p:cTn id="22" dur="1" fill="hold">
                                          <p:stCondLst>
                                            <p:cond delay="0"/>
                                          </p:stCondLst>
                                        </p:cTn>
                                        <p:tgtEl>
                                          <p:spTgt spid="403459"/>
                                        </p:tgtEl>
                                        <p:attrNameLst>
                                          <p:attrName>style.visibility</p:attrName>
                                        </p:attrNameLst>
                                      </p:cBhvr>
                                      <p:to>
                                        <p:strVal val="visible"/>
                                      </p:to>
                                    </p:set>
                                    <p:anim calcmode="lin" valueType="num">
                                      <p:cBhvr additive="base">
                                        <p:cTn id="23" dur="500" fill="hold"/>
                                        <p:tgtEl>
                                          <p:spTgt spid="403459"/>
                                        </p:tgtEl>
                                        <p:attrNameLst>
                                          <p:attrName>ppt_x</p:attrName>
                                        </p:attrNameLst>
                                      </p:cBhvr>
                                      <p:tavLst>
                                        <p:tav tm="0">
                                          <p:val>
                                            <p:strVal val="0-#ppt_w/2"/>
                                          </p:val>
                                        </p:tav>
                                        <p:tav tm="100000">
                                          <p:val>
                                            <p:strVal val="#ppt_x"/>
                                          </p:val>
                                        </p:tav>
                                      </p:tavLst>
                                    </p:anim>
                                    <p:anim calcmode="lin" valueType="num">
                                      <p:cBhvr additive="base">
                                        <p:cTn id="24" dur="500" fill="hold"/>
                                        <p:tgtEl>
                                          <p:spTgt spid="403459"/>
                                        </p:tgtEl>
                                        <p:attrNameLst>
                                          <p:attrName>ppt_y</p:attrName>
                                        </p:attrNameLst>
                                      </p:cBhvr>
                                      <p:tavLst>
                                        <p:tav tm="0">
                                          <p:val>
                                            <p:strVal val="#ppt_y"/>
                                          </p:val>
                                        </p:tav>
                                        <p:tav tm="100000">
                                          <p:val>
                                            <p:strVal val="#ppt_y"/>
                                          </p:val>
                                        </p:tav>
                                      </p:tavLst>
                                    </p:anim>
                                  </p:childTnLst>
                                </p:cTn>
                              </p:par>
                            </p:childTnLst>
                          </p:cTn>
                        </p:par>
                        <p:par>
                          <p:cTn id="25" fill="hold">
                            <p:stCondLst>
                              <p:cond delay="1000"/>
                            </p:stCondLst>
                            <p:childTnLst>
                              <p:par>
                                <p:cTn id="26" presetID="2" presetClass="entr" presetSubtype="8" fill="hold" grpId="0" nodeType="afterEffect">
                                  <p:stCondLst>
                                    <p:cond delay="0"/>
                                  </p:stCondLst>
                                  <p:childTnLst>
                                    <p:set>
                                      <p:cBhvr>
                                        <p:cTn id="27" dur="1" fill="hold">
                                          <p:stCondLst>
                                            <p:cond delay="0"/>
                                          </p:stCondLst>
                                        </p:cTn>
                                        <p:tgtEl>
                                          <p:spTgt spid="403460"/>
                                        </p:tgtEl>
                                        <p:attrNameLst>
                                          <p:attrName>style.visibility</p:attrName>
                                        </p:attrNameLst>
                                      </p:cBhvr>
                                      <p:to>
                                        <p:strVal val="visible"/>
                                      </p:to>
                                    </p:set>
                                    <p:anim calcmode="lin" valueType="num">
                                      <p:cBhvr additive="base">
                                        <p:cTn id="28" dur="500" fill="hold"/>
                                        <p:tgtEl>
                                          <p:spTgt spid="403460"/>
                                        </p:tgtEl>
                                        <p:attrNameLst>
                                          <p:attrName>ppt_x</p:attrName>
                                        </p:attrNameLst>
                                      </p:cBhvr>
                                      <p:tavLst>
                                        <p:tav tm="0">
                                          <p:val>
                                            <p:strVal val="0-#ppt_w/2"/>
                                          </p:val>
                                        </p:tav>
                                        <p:tav tm="100000">
                                          <p:val>
                                            <p:strVal val="#ppt_x"/>
                                          </p:val>
                                        </p:tav>
                                      </p:tavLst>
                                    </p:anim>
                                    <p:anim calcmode="lin" valueType="num">
                                      <p:cBhvr additive="base">
                                        <p:cTn id="29" dur="500" fill="hold"/>
                                        <p:tgtEl>
                                          <p:spTgt spid="403460"/>
                                        </p:tgtEl>
                                        <p:attrNameLst>
                                          <p:attrName>ppt_y</p:attrName>
                                        </p:attrNameLst>
                                      </p:cBhvr>
                                      <p:tavLst>
                                        <p:tav tm="0">
                                          <p:val>
                                            <p:strVal val="#ppt_y"/>
                                          </p:val>
                                        </p:tav>
                                        <p:tav tm="100000">
                                          <p:val>
                                            <p:strVal val="#ppt_y"/>
                                          </p:val>
                                        </p:tav>
                                      </p:tavLst>
                                    </p:anim>
                                  </p:childTnLst>
                                </p:cTn>
                              </p:par>
                            </p:childTnLst>
                          </p:cTn>
                        </p:par>
                        <p:par>
                          <p:cTn id="30" fill="hold">
                            <p:stCondLst>
                              <p:cond delay="1500"/>
                            </p:stCondLst>
                            <p:childTnLst>
                              <p:par>
                                <p:cTn id="31" presetID="2" presetClass="entr" presetSubtype="8" fill="hold" nodeType="afterEffect">
                                  <p:stCondLst>
                                    <p:cond delay="0"/>
                                  </p:stCondLst>
                                  <p:childTnLst>
                                    <p:set>
                                      <p:cBhvr>
                                        <p:cTn id="32" dur="1" fill="hold">
                                          <p:stCondLst>
                                            <p:cond delay="0"/>
                                          </p:stCondLst>
                                        </p:cTn>
                                        <p:tgtEl>
                                          <p:spTgt spid="403461"/>
                                        </p:tgtEl>
                                        <p:attrNameLst>
                                          <p:attrName>style.visibility</p:attrName>
                                        </p:attrNameLst>
                                      </p:cBhvr>
                                      <p:to>
                                        <p:strVal val="visible"/>
                                      </p:to>
                                    </p:set>
                                    <p:anim calcmode="lin" valueType="num">
                                      <p:cBhvr additive="base">
                                        <p:cTn id="33" dur="500" fill="hold"/>
                                        <p:tgtEl>
                                          <p:spTgt spid="403461"/>
                                        </p:tgtEl>
                                        <p:attrNameLst>
                                          <p:attrName>ppt_x</p:attrName>
                                        </p:attrNameLst>
                                      </p:cBhvr>
                                      <p:tavLst>
                                        <p:tav tm="0">
                                          <p:val>
                                            <p:strVal val="0-#ppt_w/2"/>
                                          </p:val>
                                        </p:tav>
                                        <p:tav tm="100000">
                                          <p:val>
                                            <p:strVal val="#ppt_x"/>
                                          </p:val>
                                        </p:tav>
                                      </p:tavLst>
                                    </p:anim>
                                    <p:anim calcmode="lin" valueType="num">
                                      <p:cBhvr additive="base">
                                        <p:cTn id="34" dur="500" fill="hold"/>
                                        <p:tgtEl>
                                          <p:spTgt spid="403461"/>
                                        </p:tgtEl>
                                        <p:attrNameLst>
                                          <p:attrName>ppt_y</p:attrName>
                                        </p:attrNameLst>
                                      </p:cBhvr>
                                      <p:tavLst>
                                        <p:tav tm="0">
                                          <p:val>
                                            <p:strVal val="#ppt_y"/>
                                          </p:val>
                                        </p:tav>
                                        <p:tav tm="100000">
                                          <p:val>
                                            <p:strVal val="#ppt_y"/>
                                          </p:val>
                                        </p:tav>
                                      </p:tavLst>
                                    </p:anim>
                                  </p:childTnLst>
                                </p:cTn>
                              </p:par>
                            </p:childTnLst>
                          </p:cTn>
                        </p:par>
                        <p:par>
                          <p:cTn id="35" fill="hold">
                            <p:stCondLst>
                              <p:cond delay="2000"/>
                            </p:stCondLst>
                            <p:childTnLst>
                              <p:par>
                                <p:cTn id="36" presetID="2" presetClass="entr" presetSubtype="8" fill="hold" nodeType="afterEffect">
                                  <p:stCondLst>
                                    <p:cond delay="0"/>
                                  </p:stCondLst>
                                  <p:childTnLst>
                                    <p:set>
                                      <p:cBhvr>
                                        <p:cTn id="37" dur="1" fill="hold">
                                          <p:stCondLst>
                                            <p:cond delay="0"/>
                                          </p:stCondLst>
                                        </p:cTn>
                                        <p:tgtEl>
                                          <p:spTgt spid="403470"/>
                                        </p:tgtEl>
                                        <p:attrNameLst>
                                          <p:attrName>style.visibility</p:attrName>
                                        </p:attrNameLst>
                                      </p:cBhvr>
                                      <p:to>
                                        <p:strVal val="visible"/>
                                      </p:to>
                                    </p:set>
                                    <p:anim calcmode="lin" valueType="num">
                                      <p:cBhvr additive="base">
                                        <p:cTn id="38" dur="500" fill="hold"/>
                                        <p:tgtEl>
                                          <p:spTgt spid="403470"/>
                                        </p:tgtEl>
                                        <p:attrNameLst>
                                          <p:attrName>ppt_x</p:attrName>
                                        </p:attrNameLst>
                                      </p:cBhvr>
                                      <p:tavLst>
                                        <p:tav tm="0">
                                          <p:val>
                                            <p:strVal val="0-#ppt_w/2"/>
                                          </p:val>
                                        </p:tav>
                                        <p:tav tm="100000">
                                          <p:val>
                                            <p:strVal val="#ppt_x"/>
                                          </p:val>
                                        </p:tav>
                                      </p:tavLst>
                                    </p:anim>
                                    <p:anim calcmode="lin" valueType="num">
                                      <p:cBhvr additive="base">
                                        <p:cTn id="39" dur="500" fill="hold"/>
                                        <p:tgtEl>
                                          <p:spTgt spid="403470"/>
                                        </p:tgtEl>
                                        <p:attrNameLst>
                                          <p:attrName>ppt_y</p:attrName>
                                        </p:attrNameLst>
                                      </p:cBhvr>
                                      <p:tavLst>
                                        <p:tav tm="0">
                                          <p:val>
                                            <p:strVal val="#ppt_y"/>
                                          </p:val>
                                        </p:tav>
                                        <p:tav tm="100000">
                                          <p:val>
                                            <p:strVal val="#ppt_y"/>
                                          </p:val>
                                        </p:tav>
                                      </p:tavLst>
                                    </p:anim>
                                  </p:childTnLst>
                                </p:cTn>
                              </p:par>
                            </p:childTnLst>
                          </p:cTn>
                        </p:par>
                        <p:par>
                          <p:cTn id="40" fill="hold">
                            <p:stCondLst>
                              <p:cond delay="2500"/>
                            </p:stCondLst>
                            <p:childTnLst>
                              <p:par>
                                <p:cTn id="41" presetID="2" presetClass="entr" presetSubtype="8" fill="hold" nodeType="afterEffect">
                                  <p:stCondLst>
                                    <p:cond delay="0"/>
                                  </p:stCondLst>
                                  <p:childTnLst>
                                    <p:set>
                                      <p:cBhvr>
                                        <p:cTn id="42" dur="1" fill="hold">
                                          <p:stCondLst>
                                            <p:cond delay="0"/>
                                          </p:stCondLst>
                                        </p:cTn>
                                        <p:tgtEl>
                                          <p:spTgt spid="403471"/>
                                        </p:tgtEl>
                                        <p:attrNameLst>
                                          <p:attrName>style.visibility</p:attrName>
                                        </p:attrNameLst>
                                      </p:cBhvr>
                                      <p:to>
                                        <p:strVal val="visible"/>
                                      </p:to>
                                    </p:set>
                                    <p:anim calcmode="lin" valueType="num">
                                      <p:cBhvr additive="base">
                                        <p:cTn id="43" dur="500" fill="hold"/>
                                        <p:tgtEl>
                                          <p:spTgt spid="403471"/>
                                        </p:tgtEl>
                                        <p:attrNameLst>
                                          <p:attrName>ppt_x</p:attrName>
                                        </p:attrNameLst>
                                      </p:cBhvr>
                                      <p:tavLst>
                                        <p:tav tm="0">
                                          <p:val>
                                            <p:strVal val="0-#ppt_w/2"/>
                                          </p:val>
                                        </p:tav>
                                        <p:tav tm="100000">
                                          <p:val>
                                            <p:strVal val="#ppt_x"/>
                                          </p:val>
                                        </p:tav>
                                      </p:tavLst>
                                    </p:anim>
                                    <p:anim calcmode="lin" valueType="num">
                                      <p:cBhvr additive="base">
                                        <p:cTn id="44" dur="500" fill="hold"/>
                                        <p:tgtEl>
                                          <p:spTgt spid="403471"/>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499"/>
                                          </p:stCondLst>
                                        </p:cTn>
                                        <p:tgtEl>
                                          <p:spTgt spid="403474"/>
                                        </p:tgtEl>
                                        <p:attrNameLst>
                                          <p:attrName>style.visibility</p:attrName>
                                        </p:attrNameLst>
                                      </p:cBhvr>
                                      <p:to>
                                        <p:strVal val="visible"/>
                                      </p:to>
                                    </p:set>
                                  </p:childTnLst>
                                </p:cTn>
                              </p:par>
                            </p:childTnLst>
                          </p:cTn>
                        </p:par>
                        <p:par>
                          <p:cTn id="49" fill="hold">
                            <p:stCondLst>
                              <p:cond delay="500"/>
                            </p:stCondLst>
                            <p:childTnLst>
                              <p:par>
                                <p:cTn id="50" presetID="1" presetClass="entr" presetSubtype="0" fill="hold" nodeType="afterEffect">
                                  <p:stCondLst>
                                    <p:cond delay="0"/>
                                  </p:stCondLst>
                                  <p:childTnLst>
                                    <p:set>
                                      <p:cBhvr>
                                        <p:cTn id="51" dur="1" fill="hold">
                                          <p:stCondLst>
                                            <p:cond delay="499"/>
                                          </p:stCondLst>
                                        </p:cTn>
                                        <p:tgtEl>
                                          <p:spTgt spid="403475"/>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4" presetClass="entr" presetSubtype="10" fill="hold" grpId="0" nodeType="clickEffect">
                                  <p:stCondLst>
                                    <p:cond delay="0"/>
                                  </p:stCondLst>
                                  <p:childTnLst>
                                    <p:set>
                                      <p:cBhvr>
                                        <p:cTn id="55" dur="1" fill="hold">
                                          <p:stCondLst>
                                            <p:cond delay="0"/>
                                          </p:stCondLst>
                                        </p:cTn>
                                        <p:tgtEl>
                                          <p:spTgt spid="403483"/>
                                        </p:tgtEl>
                                        <p:attrNameLst>
                                          <p:attrName>style.visibility</p:attrName>
                                        </p:attrNameLst>
                                      </p:cBhvr>
                                      <p:to>
                                        <p:strVal val="visible"/>
                                      </p:to>
                                    </p:set>
                                    <p:animEffect transition="in" filter="randombar(horizontal)">
                                      <p:cBhvr>
                                        <p:cTn id="56" dur="500"/>
                                        <p:tgtEl>
                                          <p:spTgt spid="403483"/>
                                        </p:tgtEl>
                                      </p:cBhvr>
                                    </p:animEffect>
                                  </p:childTnLst>
                                </p:cTn>
                              </p:par>
                            </p:childTnLst>
                          </p:cTn>
                        </p:par>
                        <p:par>
                          <p:cTn id="57" fill="hold">
                            <p:stCondLst>
                              <p:cond delay="500"/>
                            </p:stCondLst>
                            <p:childTnLst>
                              <p:par>
                                <p:cTn id="58" presetID="1" presetClass="entr" presetSubtype="0" fill="hold" nodeType="afterEffect">
                                  <p:stCondLst>
                                    <p:cond delay="0"/>
                                  </p:stCondLst>
                                  <p:childTnLst>
                                    <p:set>
                                      <p:cBhvr>
                                        <p:cTn id="59" dur="1" fill="hold">
                                          <p:stCondLst>
                                            <p:cond delay="499"/>
                                          </p:stCondLst>
                                        </p:cTn>
                                        <p:tgtEl>
                                          <p:spTgt spid="403478"/>
                                        </p:tgtEl>
                                        <p:attrNameLst>
                                          <p:attrName>style.visibility</p:attrName>
                                        </p:attrNameLst>
                                      </p:cBhvr>
                                      <p:to>
                                        <p:strVal val="visible"/>
                                      </p:to>
                                    </p:set>
                                  </p:childTnLst>
                                </p:cTn>
                              </p:par>
                            </p:childTnLst>
                          </p:cTn>
                        </p:par>
                        <p:par>
                          <p:cTn id="60" fill="hold">
                            <p:stCondLst>
                              <p:cond delay="1000"/>
                            </p:stCondLst>
                            <p:childTnLst>
                              <p:par>
                                <p:cTn id="61" presetID="1" presetClass="entr" presetSubtype="0" fill="hold" grpId="0" nodeType="afterEffect">
                                  <p:stCondLst>
                                    <p:cond delay="0"/>
                                  </p:stCondLst>
                                  <p:childTnLst>
                                    <p:set>
                                      <p:cBhvr>
                                        <p:cTn id="62" dur="1" fill="hold">
                                          <p:stCondLst>
                                            <p:cond delay="499"/>
                                          </p:stCondLst>
                                        </p:cTn>
                                        <p:tgtEl>
                                          <p:spTgt spid="403479"/>
                                        </p:tgtEl>
                                        <p:attrNameLst>
                                          <p:attrName>style.visibility</p:attrName>
                                        </p:attrNameLst>
                                      </p:cBhvr>
                                      <p:to>
                                        <p:strVal val="visible"/>
                                      </p:to>
                                    </p:set>
                                  </p:childTnLst>
                                </p:cTn>
                              </p:par>
                            </p:childTnLst>
                          </p:cTn>
                        </p:par>
                        <p:par>
                          <p:cTn id="63" fill="hold">
                            <p:stCondLst>
                              <p:cond delay="1500"/>
                            </p:stCondLst>
                            <p:childTnLst>
                              <p:par>
                                <p:cTn id="64" presetID="1" presetClass="entr" presetSubtype="0" fill="hold" nodeType="afterEffect">
                                  <p:stCondLst>
                                    <p:cond delay="0"/>
                                  </p:stCondLst>
                                  <p:childTnLst>
                                    <p:set>
                                      <p:cBhvr>
                                        <p:cTn id="65" dur="1" fill="hold">
                                          <p:stCondLst>
                                            <p:cond delay="499"/>
                                          </p:stCondLst>
                                        </p:cTn>
                                        <p:tgtEl>
                                          <p:spTgt spid="403480"/>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2" presetClass="entr" presetSubtype="8" fill="hold" grpId="0" nodeType="clickEffect">
                                  <p:stCondLst>
                                    <p:cond delay="0"/>
                                  </p:stCondLst>
                                  <p:childTnLst>
                                    <p:set>
                                      <p:cBhvr>
                                        <p:cTn id="69" dur="1" fill="hold">
                                          <p:stCondLst>
                                            <p:cond delay="0"/>
                                          </p:stCondLst>
                                        </p:cTn>
                                        <p:tgtEl>
                                          <p:spTgt spid="403464"/>
                                        </p:tgtEl>
                                        <p:attrNameLst>
                                          <p:attrName>style.visibility</p:attrName>
                                        </p:attrNameLst>
                                      </p:cBhvr>
                                      <p:to>
                                        <p:strVal val="visible"/>
                                      </p:to>
                                    </p:set>
                                    <p:anim calcmode="lin" valueType="num">
                                      <p:cBhvr additive="base">
                                        <p:cTn id="70" dur="500" fill="hold"/>
                                        <p:tgtEl>
                                          <p:spTgt spid="403464"/>
                                        </p:tgtEl>
                                        <p:attrNameLst>
                                          <p:attrName>ppt_x</p:attrName>
                                        </p:attrNameLst>
                                      </p:cBhvr>
                                      <p:tavLst>
                                        <p:tav tm="0">
                                          <p:val>
                                            <p:strVal val="0-#ppt_w/2"/>
                                          </p:val>
                                        </p:tav>
                                        <p:tav tm="100000">
                                          <p:val>
                                            <p:strVal val="#ppt_x"/>
                                          </p:val>
                                        </p:tav>
                                      </p:tavLst>
                                    </p:anim>
                                    <p:anim calcmode="lin" valueType="num">
                                      <p:cBhvr additive="base">
                                        <p:cTn id="71" dur="500" fill="hold"/>
                                        <p:tgtEl>
                                          <p:spTgt spid="403464"/>
                                        </p:tgtEl>
                                        <p:attrNameLst>
                                          <p:attrName>ppt_y</p:attrName>
                                        </p:attrNameLst>
                                      </p:cBhvr>
                                      <p:tavLst>
                                        <p:tav tm="0">
                                          <p:val>
                                            <p:strVal val="#ppt_y"/>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14" presetClass="entr" presetSubtype="10" fill="hold" nodeType="clickEffect">
                                  <p:stCondLst>
                                    <p:cond delay="0"/>
                                  </p:stCondLst>
                                  <p:childTnLst>
                                    <p:set>
                                      <p:cBhvr>
                                        <p:cTn id="75" dur="1" fill="hold">
                                          <p:stCondLst>
                                            <p:cond delay="0"/>
                                          </p:stCondLst>
                                        </p:cTn>
                                        <p:tgtEl>
                                          <p:spTgt spid="403465"/>
                                        </p:tgtEl>
                                        <p:attrNameLst>
                                          <p:attrName>style.visibility</p:attrName>
                                        </p:attrNameLst>
                                      </p:cBhvr>
                                      <p:to>
                                        <p:strVal val="visible"/>
                                      </p:to>
                                    </p:set>
                                    <p:animEffect transition="in" filter="randombar(horizontal)">
                                      <p:cBhvr>
                                        <p:cTn id="76" dur="500"/>
                                        <p:tgtEl>
                                          <p:spTgt spid="4034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3458" grpId="0"/>
      <p:bldP spid="403459" grpId="0"/>
      <p:bldP spid="403460" grpId="0"/>
      <p:bldP spid="403464" grpId="0" animBg="1"/>
      <p:bldP spid="403474" grpId="0"/>
      <p:bldP spid="403479" grpId="0"/>
      <p:bldP spid="403483" grpId="0"/>
      <p:bldP spid="40348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标题 424961"/>
          <p:cNvSpPr>
            <a:spLocks noGrp="1" noRot="1"/>
          </p:cNvSpPr>
          <p:nvPr>
            <p:ph type="title"/>
          </p:nvPr>
        </p:nvSpPr>
        <p:spPr>
          <a:ln/>
        </p:spPr>
        <p:txBody>
          <a:bodyPr anchor="ctr"/>
          <a:lstStyle/>
          <a:p>
            <a:r>
              <a:rPr lang="en-US" altLang="zh-CN" sz="3600" b="1" dirty="0">
                <a:solidFill>
                  <a:srgbClr val="0000FF"/>
                </a:solidFill>
              </a:rPr>
              <a:t>2</a:t>
            </a:r>
            <a:r>
              <a:rPr lang="zh-CN" altLang="en-US" sz="3600" b="1" dirty="0">
                <a:solidFill>
                  <a:srgbClr val="0000FF"/>
                </a:solidFill>
              </a:rPr>
              <a:t>、多 肽</a:t>
            </a:r>
            <a:endParaRPr lang="zh-CN" altLang="en-US" sz="3600" b="1" dirty="0">
              <a:solidFill>
                <a:srgbClr val="0000FF"/>
              </a:solidFill>
              <a:ea typeface="楷体_GB2312" pitchFamily="49" charset="-122"/>
            </a:endParaRPr>
          </a:p>
        </p:txBody>
      </p:sp>
      <p:sp>
        <p:nvSpPr>
          <p:cNvPr id="424963" name="文本框 424962"/>
          <p:cNvSpPr txBox="1"/>
          <p:nvPr/>
        </p:nvSpPr>
        <p:spPr>
          <a:xfrm>
            <a:off x="304800" y="1341438"/>
            <a:ext cx="8534400" cy="823912"/>
          </a:xfrm>
          <a:prstGeom prst="rect">
            <a:avLst/>
          </a:prstGeom>
          <a:noFill/>
          <a:ln w="9525">
            <a:noFill/>
          </a:ln>
        </p:spPr>
        <p:txBody>
          <a:bodyPr anchor="t">
            <a:spAutoFit/>
          </a:bodyPr>
          <a:lstStyle/>
          <a:p>
            <a:pPr>
              <a:spcBef>
                <a:spcPct val="50000"/>
              </a:spcBef>
            </a:pPr>
            <a:r>
              <a:rPr lang="en-US" altLang="zh-CN" sz="4800" b="1" dirty="0">
                <a:solidFill>
                  <a:srgbClr val="0000FF"/>
                </a:solidFill>
                <a:latin typeface="宋体" panose="02010600030101010101" pitchFamily="2" charset="-122"/>
              </a:rPr>
              <a:t>NH</a:t>
            </a:r>
            <a:r>
              <a:rPr lang="en-US" altLang="zh-CN" sz="4800" b="1" baseline="-25000" dirty="0">
                <a:solidFill>
                  <a:srgbClr val="0000FF"/>
                </a:solidFill>
                <a:latin typeface="宋体" panose="02010600030101010101" pitchFamily="2" charset="-122"/>
              </a:rPr>
              <a:t>2</a:t>
            </a:r>
            <a:r>
              <a:rPr lang="en-US" altLang="zh-CN" sz="4800" b="1" dirty="0">
                <a:solidFill>
                  <a:srgbClr val="0000FF"/>
                </a:solidFill>
                <a:latin typeface="宋体" panose="02010600030101010101" pitchFamily="2" charset="-122"/>
              </a:rPr>
              <a:t>CH</a:t>
            </a:r>
            <a:r>
              <a:rPr lang="en-US" altLang="zh-CN" sz="4800" b="1" baseline="-25000" dirty="0">
                <a:solidFill>
                  <a:srgbClr val="0000FF"/>
                </a:solidFill>
                <a:latin typeface="宋体" panose="02010600030101010101" pitchFamily="2" charset="-122"/>
              </a:rPr>
              <a:t>2</a:t>
            </a:r>
            <a:r>
              <a:rPr lang="en-US" altLang="zh-CN" sz="4800" b="1" dirty="0">
                <a:solidFill>
                  <a:srgbClr val="0000FF"/>
                </a:solidFill>
                <a:latin typeface="宋体" panose="02010600030101010101" pitchFamily="2" charset="-122"/>
              </a:rPr>
              <a:t>COOH + H-NH-CH</a:t>
            </a:r>
            <a:r>
              <a:rPr lang="en-US" altLang="zh-CN" sz="4800" b="1" baseline="-25000" dirty="0">
                <a:solidFill>
                  <a:srgbClr val="0000FF"/>
                </a:solidFill>
                <a:latin typeface="宋体" panose="02010600030101010101" pitchFamily="2" charset="-122"/>
              </a:rPr>
              <a:t>2</a:t>
            </a:r>
            <a:r>
              <a:rPr lang="en-US" altLang="zh-CN" sz="4800" b="1" dirty="0">
                <a:solidFill>
                  <a:srgbClr val="0000FF"/>
                </a:solidFill>
                <a:latin typeface="宋体" panose="02010600030101010101" pitchFamily="2" charset="-122"/>
              </a:rPr>
              <a:t>COOH →</a:t>
            </a:r>
          </a:p>
        </p:txBody>
      </p:sp>
      <p:sp>
        <p:nvSpPr>
          <p:cNvPr id="424964" name="文本框 424963"/>
          <p:cNvSpPr txBox="1"/>
          <p:nvPr/>
        </p:nvSpPr>
        <p:spPr>
          <a:xfrm>
            <a:off x="384175" y="4430713"/>
            <a:ext cx="8458200" cy="1814512"/>
          </a:xfrm>
          <a:prstGeom prst="rect">
            <a:avLst/>
          </a:prstGeom>
          <a:noFill/>
          <a:ln w="9525">
            <a:noFill/>
          </a:ln>
        </p:spPr>
        <p:txBody>
          <a:bodyPr anchor="t">
            <a:spAutoFit/>
          </a:bodyPr>
          <a:lstStyle/>
          <a:p>
            <a:pPr>
              <a:spcBef>
                <a:spcPct val="50000"/>
              </a:spcBef>
            </a:pPr>
            <a:r>
              <a:rPr lang="zh-CN" altLang="en-US" sz="2800" b="1" dirty="0">
                <a:solidFill>
                  <a:schemeClr val="accent2"/>
                </a:solidFill>
                <a:latin typeface="宋体" panose="02010600030101010101" pitchFamily="2" charset="-122"/>
              </a:rPr>
              <a:t>定义： 这个反应跟酯化反应类似， 两个氨基酸彼此之间脱一分子水得到的产物叫二肽。许多氨基酸分子彼此脱水生成的化合物叫多肽。多肽与蛋白质在分子量上有差别</a:t>
            </a:r>
            <a:r>
              <a:rPr lang="en-US" altLang="zh-CN" sz="2800" b="1">
                <a:solidFill>
                  <a:schemeClr val="accent2"/>
                </a:solidFill>
                <a:latin typeface="宋体" panose="02010600030101010101" pitchFamily="2" charset="-122"/>
              </a:rPr>
              <a:t>,</a:t>
            </a:r>
            <a:r>
              <a:rPr lang="zh-CN" altLang="en-US" sz="2800" b="1" dirty="0">
                <a:solidFill>
                  <a:schemeClr val="accent2"/>
                </a:solidFill>
                <a:latin typeface="宋体" panose="02010600030101010101" pitchFamily="2" charset="-122"/>
              </a:rPr>
              <a:t>一般</a:t>
            </a:r>
            <a:r>
              <a:rPr lang="en-US" altLang="zh-CN" sz="2800" b="1">
                <a:solidFill>
                  <a:schemeClr val="accent2"/>
                </a:solidFill>
                <a:latin typeface="宋体" panose="02010600030101010101" pitchFamily="2" charset="-122"/>
              </a:rPr>
              <a:t>M&lt;10000</a:t>
            </a:r>
            <a:r>
              <a:rPr lang="zh-CN" altLang="en-US" sz="2800" b="1" dirty="0">
                <a:solidFill>
                  <a:schemeClr val="accent2"/>
                </a:solidFill>
                <a:latin typeface="宋体" panose="02010600030101010101" pitchFamily="2" charset="-122"/>
              </a:rPr>
              <a:t>是多肽</a:t>
            </a:r>
            <a:r>
              <a:rPr lang="en-US" altLang="zh-CN" sz="2800" b="1">
                <a:solidFill>
                  <a:schemeClr val="accent2"/>
                </a:solidFill>
                <a:latin typeface="宋体" panose="02010600030101010101" pitchFamily="2" charset="-122"/>
              </a:rPr>
              <a:t>,M&gt;10000</a:t>
            </a:r>
            <a:r>
              <a:rPr lang="zh-CN" altLang="en-US" sz="2800" b="1" dirty="0">
                <a:solidFill>
                  <a:schemeClr val="accent2"/>
                </a:solidFill>
                <a:latin typeface="宋体" panose="02010600030101010101" pitchFamily="2" charset="-122"/>
              </a:rPr>
              <a:t>是蛋白质。</a:t>
            </a:r>
          </a:p>
        </p:txBody>
      </p:sp>
      <p:sp>
        <p:nvSpPr>
          <p:cNvPr id="424965" name="矩形 424964"/>
          <p:cNvSpPr/>
          <p:nvPr/>
        </p:nvSpPr>
        <p:spPr>
          <a:xfrm>
            <a:off x="2743200" y="1289050"/>
            <a:ext cx="1981200" cy="838200"/>
          </a:xfrm>
          <a:prstGeom prst="rect">
            <a:avLst/>
          </a:prstGeom>
          <a:noFill/>
          <a:ln w="19050" cap="flat" cmpd="sng">
            <a:solidFill>
              <a:srgbClr val="FF0000"/>
            </a:solidFill>
            <a:prstDash val="solid"/>
            <a:miter/>
            <a:headEnd type="none" w="med" len="med"/>
            <a:tailEnd type="none" w="med" len="med"/>
          </a:ln>
        </p:spPr>
        <p:txBody>
          <a:bodyPr anchor="t"/>
          <a:lstStyle/>
          <a:p>
            <a:endParaRPr lang="zh-CN" altLang="en-US">
              <a:latin typeface="Arial" panose="020B0604020202020204" pitchFamily="34" charset="0"/>
            </a:endParaRPr>
          </a:p>
        </p:txBody>
      </p:sp>
      <p:grpSp>
        <p:nvGrpSpPr>
          <p:cNvPr id="424966" name="组合 424965"/>
          <p:cNvGrpSpPr/>
          <p:nvPr/>
        </p:nvGrpSpPr>
        <p:grpSpPr>
          <a:xfrm>
            <a:off x="2209800" y="2127250"/>
            <a:ext cx="2133600" cy="2089150"/>
            <a:chOff x="1392" y="1200"/>
            <a:chExt cx="1344" cy="1316"/>
          </a:xfrm>
        </p:grpSpPr>
        <p:sp>
          <p:nvSpPr>
            <p:cNvPr id="16390" name="矩形标注 424966"/>
            <p:cNvSpPr/>
            <p:nvPr/>
          </p:nvSpPr>
          <p:spPr>
            <a:xfrm>
              <a:off x="1680" y="1200"/>
              <a:ext cx="1056" cy="768"/>
            </a:xfrm>
            <a:prstGeom prst="wedgeRectCallout">
              <a:avLst>
                <a:gd name="adj1" fmla="val -40625"/>
                <a:gd name="adj2" fmla="val 69273"/>
              </a:avLst>
            </a:prstGeom>
            <a:noFill/>
            <a:ln w="28575" cap="flat" cmpd="sng">
              <a:solidFill>
                <a:srgbClr val="FF3300"/>
              </a:solidFill>
              <a:prstDash val="solid"/>
              <a:miter/>
              <a:headEnd type="none" w="med" len="med"/>
              <a:tailEnd type="none" w="med" len="med"/>
            </a:ln>
          </p:spPr>
          <p:txBody>
            <a:bodyPr anchor="t"/>
            <a:lstStyle/>
            <a:p>
              <a:pPr algn="ctr"/>
              <a:endParaRPr lang="zh-CN" altLang="en-US" dirty="0">
                <a:latin typeface="Arial" panose="020B0604020202020204" pitchFamily="34" charset="0"/>
              </a:endParaRPr>
            </a:p>
          </p:txBody>
        </p:sp>
        <p:sp>
          <p:nvSpPr>
            <p:cNvPr id="16391" name="文本框 424967"/>
            <p:cNvSpPr txBox="1"/>
            <p:nvPr/>
          </p:nvSpPr>
          <p:spPr>
            <a:xfrm>
              <a:off x="1392" y="2112"/>
              <a:ext cx="720" cy="404"/>
            </a:xfrm>
            <a:prstGeom prst="rect">
              <a:avLst/>
            </a:prstGeom>
            <a:noFill/>
            <a:ln w="9525">
              <a:noFill/>
            </a:ln>
          </p:spPr>
          <p:txBody>
            <a:bodyPr anchor="t">
              <a:spAutoFit/>
            </a:bodyPr>
            <a:lstStyle/>
            <a:p>
              <a:pPr>
                <a:spcBef>
                  <a:spcPct val="50000"/>
                </a:spcBef>
              </a:pPr>
              <a:r>
                <a:rPr lang="zh-CN" altLang="en-US" sz="3600" b="1" dirty="0">
                  <a:latin typeface="Arial" panose="020B0604020202020204" pitchFamily="34" charset="0"/>
                  <a:ea typeface="楷体_GB2312" pitchFamily="49" charset="-122"/>
                </a:rPr>
                <a:t>肽键</a:t>
              </a:r>
            </a:p>
          </p:txBody>
        </p:sp>
      </p:grpSp>
      <p:grpSp>
        <p:nvGrpSpPr>
          <p:cNvPr id="424969" name="组合 424968"/>
          <p:cNvGrpSpPr/>
          <p:nvPr/>
        </p:nvGrpSpPr>
        <p:grpSpPr>
          <a:xfrm>
            <a:off x="477838" y="2444750"/>
            <a:ext cx="7653337" cy="42863"/>
            <a:chOff x="500" y="885"/>
            <a:chExt cx="4645" cy="2027"/>
          </a:xfrm>
        </p:grpSpPr>
        <p:graphicFrame>
          <p:nvGraphicFramePr>
            <p:cNvPr id="16393" name="内容占位符 424969"/>
            <p:cNvGraphicFramePr>
              <a:graphicFrameLocks/>
            </p:cNvGraphicFramePr>
            <p:nvPr>
              <p:ph idx="4294967295"/>
            </p:nvPr>
          </p:nvGraphicFramePr>
          <p:xfrm>
            <a:off x="500" y="885"/>
            <a:ext cx="4645" cy="1032"/>
          </p:xfrm>
          <a:graphic>
            <a:graphicData uri="http://schemas.openxmlformats.org/presentationml/2006/ole">
              <p:oleObj spid="_x0000_s3076" r:id="rId3" imgW="2634583" imgH="495090" progId="">
                <p:embed/>
              </p:oleObj>
            </a:graphicData>
          </a:graphic>
        </p:graphicFrame>
        <p:sp>
          <p:nvSpPr>
            <p:cNvPr id="16394" name="文本框 424970"/>
            <p:cNvSpPr txBox="1"/>
            <p:nvPr/>
          </p:nvSpPr>
          <p:spPr>
            <a:xfrm>
              <a:off x="3504" y="1970"/>
              <a:ext cx="768" cy="942"/>
            </a:xfrm>
            <a:prstGeom prst="rect">
              <a:avLst/>
            </a:prstGeom>
            <a:noFill/>
            <a:ln w="9525">
              <a:noFill/>
            </a:ln>
          </p:spPr>
          <p:txBody>
            <a:bodyPr anchor="t">
              <a:spAutoFit/>
            </a:bodyPr>
            <a:lstStyle/>
            <a:p>
              <a:pPr>
                <a:spcBef>
                  <a:spcPct val="50000"/>
                </a:spcBef>
              </a:pPr>
              <a:r>
                <a:rPr lang="zh-CN" altLang="en-US" sz="3600" b="1" dirty="0">
                  <a:latin typeface="Arial" panose="020B0604020202020204" pitchFamily="34" charset="0"/>
                  <a:ea typeface="楷体_GB2312" pitchFamily="49" charset="-122"/>
                </a:rPr>
                <a:t>二肽</a:t>
              </a:r>
            </a:p>
          </p:txBody>
        </p:sp>
      </p:grpSp>
      <p:sp>
        <p:nvSpPr>
          <p:cNvPr id="424972" name="文本框 424971"/>
          <p:cNvSpPr txBox="1"/>
          <p:nvPr/>
        </p:nvSpPr>
        <p:spPr>
          <a:xfrm>
            <a:off x="7924800" y="1289050"/>
            <a:ext cx="914400" cy="396875"/>
          </a:xfrm>
          <a:prstGeom prst="rect">
            <a:avLst/>
          </a:prstGeom>
          <a:noFill/>
          <a:ln w="38100">
            <a:noFill/>
          </a:ln>
        </p:spPr>
        <p:txBody>
          <a:bodyPr anchor="t">
            <a:spAutoFit/>
          </a:bodyPr>
          <a:lstStyle/>
          <a:p>
            <a:pPr>
              <a:spcBef>
                <a:spcPct val="50000"/>
              </a:spcBef>
            </a:pPr>
            <a:r>
              <a:rPr lang="zh-CN" altLang="en-US" sz="2000" b="1" dirty="0">
                <a:solidFill>
                  <a:schemeClr val="hlink"/>
                </a:solidFill>
                <a:latin typeface="Arial" panose="020B0604020202020204" pitchFamily="34" charset="0"/>
                <a:ea typeface="楷体_GB2312" pitchFamily="49" charset="-122"/>
              </a:rPr>
              <a:t>缩聚</a:t>
            </a:r>
          </a:p>
        </p:txBody>
      </p:sp>
      <p:sp>
        <p:nvSpPr>
          <p:cNvPr id="16396" name="灯片编号占位符 1"/>
          <p:cNvSpPr>
            <a:spLocks noGrp="1"/>
          </p:cNvSpPr>
          <p:nvPr>
            <p:ph type="sldNum" sz="quarter" idx="11"/>
          </p:nvPr>
        </p:nvSpPr>
        <p:spPr>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400" dirty="0"/>
              <a:pPr lvl="0" indent="0" algn="r"/>
              <a:t>15</a:t>
            </a:fld>
            <a:endParaRPr lang="zh-CN" altLang="en-US" sz="14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24963">
                                            <p:txEl>
                                              <p:pRg st="0" end="0"/>
                                            </p:txEl>
                                          </p:spTgt>
                                        </p:tgtEl>
                                        <p:attrNameLst>
                                          <p:attrName>style.visibility</p:attrName>
                                        </p:attrNameLst>
                                      </p:cBhvr>
                                      <p:to>
                                        <p:strVal val="visible"/>
                                      </p:to>
                                    </p:set>
                                    <p:anim calcmode="lin" valueType="num">
                                      <p:cBhvr additive="base">
                                        <p:cTn id="7" dur="1000" fill="hold"/>
                                        <p:tgtEl>
                                          <p:spTgt spid="424963">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42496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7" presetClass="entr" presetSubtype="0" fill="hold" nodeType="clickEffect">
                                  <p:stCondLst>
                                    <p:cond delay="0"/>
                                  </p:stCondLst>
                                  <p:childTnLst>
                                    <p:set>
                                      <p:cBhvr>
                                        <p:cTn id="12" dur="1" fill="hold">
                                          <p:stCondLst>
                                            <p:cond delay="0"/>
                                          </p:stCondLst>
                                        </p:cTn>
                                        <p:tgtEl>
                                          <p:spTgt spid="424965"/>
                                        </p:tgtEl>
                                        <p:attrNameLst>
                                          <p:attrName>style.visibility</p:attrName>
                                        </p:attrNameLst>
                                      </p:cBhvr>
                                      <p:to>
                                        <p:strVal val="visible"/>
                                      </p:to>
                                    </p:set>
                                    <p:animEffect transition="in" filter="fade">
                                      <p:cBhvr>
                                        <p:cTn id="13" dur="500"/>
                                        <p:tgtEl>
                                          <p:spTgt spid="424965"/>
                                        </p:tgtEl>
                                      </p:cBhvr>
                                    </p:animEffect>
                                    <p:anim calcmode="lin" valueType="num">
                                      <p:cBhvr>
                                        <p:cTn id="14" dur="500" fill="hold"/>
                                        <p:tgtEl>
                                          <p:spTgt spid="424965"/>
                                        </p:tgtEl>
                                        <p:attrNameLst>
                                          <p:attrName>ppt_x</p:attrName>
                                        </p:attrNameLst>
                                      </p:cBhvr>
                                      <p:tavLst>
                                        <p:tav tm="0">
                                          <p:val>
                                            <p:strVal val="#ppt_x"/>
                                          </p:val>
                                        </p:tav>
                                        <p:tav tm="100000">
                                          <p:val>
                                            <p:strVal val="#ppt_x"/>
                                          </p:val>
                                        </p:tav>
                                      </p:tavLst>
                                    </p:anim>
                                    <p:anim calcmode="lin" valueType="num">
                                      <p:cBhvr>
                                        <p:cTn id="15" dur="500" fill="hold"/>
                                        <p:tgtEl>
                                          <p:spTgt spid="424965"/>
                                        </p:tgtEl>
                                        <p:attrNameLst>
                                          <p:attrName>ppt_y</p:attrName>
                                        </p:attrNameLst>
                                      </p:cBhvr>
                                      <p:tavLst>
                                        <p:tav tm="0">
                                          <p:val>
                                            <p:strVal val="#ppt_y-.1"/>
                                          </p:val>
                                        </p:tav>
                                        <p:tav tm="100000">
                                          <p:val>
                                            <p:strVal val="#ppt_y"/>
                                          </p:val>
                                        </p:tav>
                                      </p:tavLst>
                                    </p:anim>
                                  </p:childTnLst>
                                </p:cTn>
                              </p:par>
                            </p:childTnLst>
                          </p:cTn>
                        </p:par>
                        <p:par>
                          <p:cTn id="16" fill="hold">
                            <p:stCondLst>
                              <p:cond delay="500"/>
                            </p:stCondLst>
                            <p:childTnLst>
                              <p:par>
                                <p:cTn id="17" presetID="2" presetClass="entr" presetSubtype="8" fill="hold" grpId="0" nodeType="afterEffect">
                                  <p:stCondLst>
                                    <p:cond delay="0"/>
                                  </p:stCondLst>
                                  <p:childTnLst>
                                    <p:set>
                                      <p:cBhvr>
                                        <p:cTn id="18" dur="1" fill="hold">
                                          <p:stCondLst>
                                            <p:cond delay="0"/>
                                          </p:stCondLst>
                                        </p:cTn>
                                        <p:tgtEl>
                                          <p:spTgt spid="424972"/>
                                        </p:tgtEl>
                                        <p:attrNameLst>
                                          <p:attrName>style.visibility</p:attrName>
                                        </p:attrNameLst>
                                      </p:cBhvr>
                                      <p:to>
                                        <p:strVal val="visible"/>
                                      </p:to>
                                    </p:set>
                                    <p:anim calcmode="lin" valueType="num">
                                      <p:cBhvr additive="base">
                                        <p:cTn id="19" dur="500" fill="hold"/>
                                        <p:tgtEl>
                                          <p:spTgt spid="424972"/>
                                        </p:tgtEl>
                                        <p:attrNameLst>
                                          <p:attrName>ppt_x</p:attrName>
                                        </p:attrNameLst>
                                      </p:cBhvr>
                                      <p:tavLst>
                                        <p:tav tm="0">
                                          <p:val>
                                            <p:strVal val="0-#ppt_w/2"/>
                                          </p:val>
                                        </p:tav>
                                        <p:tav tm="100000">
                                          <p:val>
                                            <p:strVal val="#ppt_x"/>
                                          </p:val>
                                        </p:tav>
                                      </p:tavLst>
                                    </p:anim>
                                    <p:anim calcmode="lin" valueType="num">
                                      <p:cBhvr additive="base">
                                        <p:cTn id="20" dur="500" fill="hold"/>
                                        <p:tgtEl>
                                          <p:spTgt spid="424972"/>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424969"/>
                                        </p:tgtEl>
                                        <p:attrNameLst>
                                          <p:attrName>style.visibility</p:attrName>
                                        </p:attrNameLst>
                                      </p:cBhvr>
                                      <p:to>
                                        <p:strVal val="visible"/>
                                      </p:to>
                                    </p:set>
                                    <p:animEffect transition="in" filter="blinds(horizontal)">
                                      <p:cBhvr>
                                        <p:cTn id="25" dur="500"/>
                                        <p:tgtEl>
                                          <p:spTgt spid="424969"/>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424966"/>
                                        </p:tgtEl>
                                        <p:attrNameLst>
                                          <p:attrName>style.visibility</p:attrName>
                                        </p:attrNameLst>
                                      </p:cBhvr>
                                      <p:to>
                                        <p:strVal val="visible"/>
                                      </p:to>
                                    </p:set>
                                    <p:animEffect transition="in" filter="wipe(down)">
                                      <p:cBhvr>
                                        <p:cTn id="30" dur="500"/>
                                        <p:tgtEl>
                                          <p:spTgt spid="424966"/>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424964">
                                            <p:txEl>
                                              <p:pRg st="0" end="0"/>
                                            </p:txEl>
                                          </p:spTgt>
                                        </p:tgtEl>
                                        <p:attrNameLst>
                                          <p:attrName>style.visibility</p:attrName>
                                        </p:attrNameLst>
                                      </p:cBhvr>
                                      <p:to>
                                        <p:strVal val="visible"/>
                                      </p:to>
                                    </p:set>
                                    <p:animEffect transition="in" filter="blinds(horizontal)">
                                      <p:cBhvr>
                                        <p:cTn id="35" dur="500"/>
                                        <p:tgtEl>
                                          <p:spTgt spid="424964">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xit" presetSubtype="0" fill="hold" grpId="0" nodeType="clickEffect">
                                  <p:stCondLst>
                                    <p:cond delay="0"/>
                                  </p:stCondLst>
                                  <p:childTnLst>
                                    <p:set>
                                      <p:cBhvr>
                                        <p:cTn id="39" dur="1" fill="hold">
                                          <p:stCondLst>
                                            <p:cond delay="0"/>
                                          </p:stCondLst>
                                        </p:cTn>
                                        <p:tgtEl>
                                          <p:spTgt spid="424964">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4964" grpId="0" build="allAtOnce"/>
      <p:bldP spid="424972" grpId="0"/>
    </p:bldLst>
  </p:timing>
</p:sld>
</file>

<file path=ppt/slides/slide16.xml><?xml version="1.0" encoding="utf-8"?>
<p:sld xmlns:a="http://schemas.openxmlformats.org/drawingml/2006/main" xmlns:r="http://schemas.openxmlformats.org/officeDocument/2006/relationships" xmlns:p="http://schemas.openxmlformats.org/presentationml/2006/main" showMasterSp="0">
  <p:cSld>
    <p:bg>
      <p:bgPr>
        <a:blipFill rotWithShape="0">
          <a:blip r:embed="rId2" cstate="print"/>
        </a:blipFill>
        <a:effectLst/>
      </p:bgPr>
    </p:bg>
    <p:spTree>
      <p:nvGrpSpPr>
        <p:cNvPr id="1" name=""/>
        <p:cNvGrpSpPr/>
        <p:nvPr/>
      </p:nvGrpSpPr>
      <p:grpSpPr>
        <a:xfrm>
          <a:off x="0" y="0"/>
          <a:ext cx="0" cy="0"/>
          <a:chOff x="0" y="0"/>
          <a:chExt cx="0" cy="0"/>
        </a:xfrm>
      </p:grpSpPr>
      <p:grpSp>
        <p:nvGrpSpPr>
          <p:cNvPr id="428034" name="组合 428033"/>
          <p:cNvGrpSpPr/>
          <p:nvPr/>
        </p:nvGrpSpPr>
        <p:grpSpPr>
          <a:xfrm>
            <a:off x="304800" y="3068638"/>
            <a:ext cx="8839200" cy="2530475"/>
            <a:chOff x="192" y="1776"/>
            <a:chExt cx="5568" cy="1594"/>
          </a:xfrm>
        </p:grpSpPr>
        <p:sp>
          <p:nvSpPr>
            <p:cNvPr id="17411" name="文本框 428034"/>
            <p:cNvSpPr txBox="1"/>
            <p:nvPr/>
          </p:nvSpPr>
          <p:spPr>
            <a:xfrm>
              <a:off x="192" y="1776"/>
              <a:ext cx="5568" cy="1594"/>
            </a:xfrm>
            <a:prstGeom prst="rect">
              <a:avLst/>
            </a:prstGeom>
            <a:noFill/>
            <a:ln w="9525">
              <a:noFill/>
            </a:ln>
          </p:spPr>
          <p:txBody>
            <a:bodyPr anchor="t">
              <a:spAutoFit/>
            </a:bodyPr>
            <a:lstStyle/>
            <a:p>
              <a:pPr>
                <a:spcBef>
                  <a:spcPct val="50000"/>
                </a:spcBef>
              </a:pPr>
              <a:r>
                <a:rPr lang="zh-CN" altLang="en-US" sz="3200" b="1" dirty="0">
                  <a:solidFill>
                    <a:srgbClr val="003366"/>
                  </a:solidFill>
                  <a:latin typeface="Arial" panose="020B0604020202020204" pitchFamily="34" charset="0"/>
                </a:rPr>
                <a:t>其中：</a:t>
              </a:r>
              <a:r>
                <a:rPr lang="en-US" altLang="zh-CN" sz="3200" b="1" dirty="0">
                  <a:solidFill>
                    <a:srgbClr val="003366"/>
                  </a:solidFill>
                  <a:latin typeface="Arial" panose="020B0604020202020204" pitchFamily="34" charset="0"/>
                </a:rPr>
                <a:t>—C—N— </a:t>
              </a:r>
              <a:r>
                <a:rPr lang="zh-CN" altLang="en-US" sz="3200" b="1" dirty="0">
                  <a:solidFill>
                    <a:srgbClr val="003366"/>
                  </a:solidFill>
                  <a:latin typeface="Arial" panose="020B0604020202020204" pitchFamily="34" charset="0"/>
                </a:rPr>
                <a:t>叫肽键，氨基酸发生缩聚反应</a:t>
              </a:r>
            </a:p>
            <a:p>
              <a:pPr>
                <a:spcBef>
                  <a:spcPct val="50000"/>
                </a:spcBef>
              </a:pPr>
              <a:r>
                <a:rPr lang="zh-CN" altLang="en-US" sz="3200" b="1" dirty="0">
                  <a:solidFill>
                    <a:srgbClr val="003366"/>
                  </a:solidFill>
                  <a:latin typeface="Arial" panose="020B0604020202020204" pitchFamily="34" charset="0"/>
                </a:rPr>
                <a:t>              </a:t>
              </a:r>
              <a:r>
                <a:rPr lang="en-US" altLang="zh-CN" sz="3200" b="1" dirty="0">
                  <a:solidFill>
                    <a:srgbClr val="003366"/>
                  </a:solidFill>
                  <a:latin typeface="Arial" panose="020B0604020202020204" pitchFamily="34" charset="0"/>
                </a:rPr>
                <a:t>O    H</a:t>
              </a:r>
            </a:p>
            <a:p>
              <a:pPr>
                <a:spcBef>
                  <a:spcPct val="50000"/>
                </a:spcBef>
              </a:pPr>
              <a:r>
                <a:rPr lang="zh-CN" altLang="en-US" sz="3200" b="1" dirty="0">
                  <a:solidFill>
                    <a:srgbClr val="003366"/>
                  </a:solidFill>
                  <a:latin typeface="Arial" panose="020B0604020202020204" pitchFamily="34" charset="0"/>
                </a:rPr>
                <a:t>时形成肽键中的</a:t>
              </a:r>
              <a:r>
                <a:rPr lang="en-US" altLang="zh-CN" sz="3200" b="1" dirty="0">
                  <a:solidFill>
                    <a:srgbClr val="003366"/>
                  </a:solidFill>
                  <a:latin typeface="Arial" panose="020B0604020202020204" pitchFamily="34" charset="0"/>
                </a:rPr>
                <a:t>C—N</a:t>
              </a:r>
              <a:r>
                <a:rPr lang="zh-CN" altLang="en-US" sz="3200" b="1" dirty="0">
                  <a:solidFill>
                    <a:srgbClr val="003366"/>
                  </a:solidFill>
                  <a:latin typeface="Arial" panose="020B0604020202020204" pitchFamily="34" charset="0"/>
                </a:rPr>
                <a:t>键，蛋白质水解时断裂肽键中的</a:t>
              </a:r>
              <a:r>
                <a:rPr lang="en-US" altLang="zh-CN" sz="3200" b="1" dirty="0">
                  <a:solidFill>
                    <a:srgbClr val="003366"/>
                  </a:solidFill>
                  <a:latin typeface="Arial" panose="020B0604020202020204" pitchFamily="34" charset="0"/>
                </a:rPr>
                <a:t>C—N</a:t>
              </a:r>
              <a:r>
                <a:rPr lang="zh-CN" altLang="en-US" sz="3200" b="1" dirty="0">
                  <a:solidFill>
                    <a:srgbClr val="003366"/>
                  </a:solidFill>
                  <a:latin typeface="Arial" panose="020B0604020202020204" pitchFamily="34" charset="0"/>
                </a:rPr>
                <a:t>键</a:t>
              </a:r>
              <a:r>
                <a:rPr lang="en-US" altLang="zh-CN" sz="3200" b="1" dirty="0">
                  <a:solidFill>
                    <a:srgbClr val="003366"/>
                  </a:solidFill>
                  <a:latin typeface="Arial" panose="020B0604020202020204" pitchFamily="34" charset="0"/>
                </a:rPr>
                <a:t>.</a:t>
              </a:r>
            </a:p>
          </p:txBody>
        </p:sp>
        <p:sp>
          <p:nvSpPr>
            <p:cNvPr id="17412" name="直接连接符 428035"/>
            <p:cNvSpPr/>
            <p:nvPr/>
          </p:nvSpPr>
          <p:spPr>
            <a:xfrm>
              <a:off x="1344" y="2064"/>
              <a:ext cx="0" cy="192"/>
            </a:xfrm>
            <a:prstGeom prst="line">
              <a:avLst/>
            </a:prstGeom>
            <a:ln w="38100" cap="flat" cmpd="sng">
              <a:solidFill>
                <a:schemeClr val="bg1"/>
              </a:solidFill>
              <a:prstDash val="solid"/>
              <a:round/>
              <a:headEnd type="none" w="med" len="med"/>
              <a:tailEnd type="none" w="med" len="med"/>
            </a:ln>
          </p:spPr>
        </p:sp>
        <p:sp>
          <p:nvSpPr>
            <p:cNvPr id="17413" name="直接连接符 428036"/>
            <p:cNvSpPr/>
            <p:nvPr/>
          </p:nvSpPr>
          <p:spPr>
            <a:xfrm>
              <a:off x="1392" y="2064"/>
              <a:ext cx="0" cy="192"/>
            </a:xfrm>
            <a:prstGeom prst="line">
              <a:avLst/>
            </a:prstGeom>
            <a:ln w="38100" cap="flat" cmpd="sng">
              <a:solidFill>
                <a:schemeClr val="bg1"/>
              </a:solidFill>
              <a:prstDash val="solid"/>
              <a:round/>
              <a:headEnd type="none" w="med" len="med"/>
              <a:tailEnd type="none" w="med" len="med"/>
            </a:ln>
          </p:spPr>
        </p:sp>
        <p:sp>
          <p:nvSpPr>
            <p:cNvPr id="17414" name="直接连接符 428037"/>
            <p:cNvSpPr/>
            <p:nvPr/>
          </p:nvSpPr>
          <p:spPr>
            <a:xfrm>
              <a:off x="1824" y="2064"/>
              <a:ext cx="0" cy="192"/>
            </a:xfrm>
            <a:prstGeom prst="line">
              <a:avLst/>
            </a:prstGeom>
            <a:ln w="38100" cap="flat" cmpd="sng">
              <a:solidFill>
                <a:schemeClr val="bg1"/>
              </a:solidFill>
              <a:prstDash val="solid"/>
              <a:round/>
              <a:headEnd type="none" w="med" len="med"/>
              <a:tailEnd type="none" w="med" len="med"/>
            </a:ln>
          </p:spPr>
        </p:sp>
      </p:grpSp>
      <p:grpSp>
        <p:nvGrpSpPr>
          <p:cNvPr id="17415" name="组合 428038"/>
          <p:cNvGrpSpPr/>
          <p:nvPr/>
        </p:nvGrpSpPr>
        <p:grpSpPr>
          <a:xfrm>
            <a:off x="0" y="69850"/>
            <a:ext cx="9144000" cy="2927350"/>
            <a:chOff x="0" y="0"/>
            <a:chExt cx="5760" cy="1844"/>
          </a:xfrm>
        </p:grpSpPr>
        <p:sp>
          <p:nvSpPr>
            <p:cNvPr id="17416" name="矩形 428039"/>
            <p:cNvSpPr/>
            <p:nvPr/>
          </p:nvSpPr>
          <p:spPr>
            <a:xfrm>
              <a:off x="0" y="0"/>
              <a:ext cx="5760" cy="1230"/>
            </a:xfrm>
            <a:prstGeom prst="rect">
              <a:avLst/>
            </a:prstGeom>
            <a:noFill/>
            <a:ln w="9525">
              <a:noFill/>
            </a:ln>
          </p:spPr>
          <p:txBody>
            <a:bodyPr anchor="t">
              <a:spAutoFit/>
            </a:bodyPr>
            <a:lstStyle/>
            <a:p>
              <a:pPr>
                <a:spcBef>
                  <a:spcPct val="50000"/>
                </a:spcBef>
                <a:buClr>
                  <a:schemeClr val="bg1"/>
                </a:buClr>
              </a:pPr>
              <a:r>
                <a:rPr lang="zh-CN" altLang="en-US" sz="3600" b="1" dirty="0">
                  <a:solidFill>
                    <a:schemeClr val="bg1"/>
                  </a:solidFill>
                  <a:latin typeface="Times New Roman" panose="02020603050405020304" pitchFamily="18" charset="0"/>
                </a:rPr>
                <a:t>       </a:t>
              </a:r>
              <a:r>
                <a:rPr lang="zh-CN" altLang="en-US" sz="3200" b="1" dirty="0">
                  <a:solidFill>
                    <a:srgbClr val="003366"/>
                  </a:solidFill>
                  <a:latin typeface="Times New Roman" panose="02020603050405020304" pitchFamily="18" charset="0"/>
                </a:rPr>
                <a:t>在一定条件下，</a:t>
              </a:r>
              <a:r>
                <a:rPr lang="en-US" altLang="zh-CN" sz="3200" b="1">
                  <a:solidFill>
                    <a:srgbClr val="003366"/>
                  </a:solidFill>
                  <a:latin typeface="宋体" panose="02010600030101010101" pitchFamily="2" charset="-122"/>
                </a:rPr>
                <a:t>α</a:t>
              </a:r>
              <a:r>
                <a:rPr lang="en-US" altLang="zh-CN" sz="3200" b="1">
                  <a:solidFill>
                    <a:srgbClr val="003366"/>
                  </a:solidFill>
                  <a:latin typeface="Times New Roman" panose="02020603050405020304" pitchFamily="18" charset="0"/>
                </a:rPr>
                <a:t>-</a:t>
              </a:r>
              <a:r>
                <a:rPr lang="zh-CN" altLang="en-US" sz="3200" b="1" dirty="0">
                  <a:solidFill>
                    <a:srgbClr val="003366"/>
                  </a:solidFill>
                  <a:latin typeface="Times New Roman" panose="02020603050405020304" pitchFamily="18" charset="0"/>
                </a:rPr>
                <a:t>氨基酸发生缩聚反应，通过肽键又可形成蛋白质。如：</a:t>
              </a:r>
            </a:p>
            <a:p>
              <a:pPr>
                <a:spcBef>
                  <a:spcPct val="50000"/>
                </a:spcBef>
                <a:buClr>
                  <a:schemeClr val="bg1"/>
                </a:buClr>
              </a:pPr>
              <a:r>
                <a:rPr lang="en-US" altLang="zh-CN" sz="3600" b="1">
                  <a:solidFill>
                    <a:srgbClr val="003366"/>
                  </a:solidFill>
                  <a:latin typeface="Times New Roman" panose="02020603050405020304" pitchFamily="18" charset="0"/>
                </a:rPr>
                <a:t>nCH</a:t>
              </a:r>
              <a:r>
                <a:rPr lang="en-US" altLang="zh-CN" sz="3600" b="1" baseline="-25000">
                  <a:solidFill>
                    <a:srgbClr val="003366"/>
                  </a:solidFill>
                  <a:latin typeface="Times New Roman" panose="02020603050405020304" pitchFamily="18" charset="0"/>
                </a:rPr>
                <a:t>2</a:t>
              </a:r>
              <a:r>
                <a:rPr lang="en-US" altLang="zh-CN" sz="3600" b="1">
                  <a:solidFill>
                    <a:srgbClr val="003366"/>
                  </a:solidFill>
                  <a:latin typeface="Times New Roman" panose="02020603050405020304" pitchFamily="18" charset="0"/>
                </a:rPr>
                <a:t>COOH                       [NCH</a:t>
              </a:r>
              <a:r>
                <a:rPr lang="en-US" altLang="zh-CN" sz="3600" b="1" baseline="-25000">
                  <a:solidFill>
                    <a:srgbClr val="003366"/>
                  </a:solidFill>
                  <a:latin typeface="Times New Roman" panose="02020603050405020304" pitchFamily="18" charset="0"/>
                </a:rPr>
                <a:t>2</a:t>
              </a:r>
              <a:r>
                <a:rPr lang="en-US" altLang="zh-CN" sz="3600" b="1">
                  <a:solidFill>
                    <a:srgbClr val="003366"/>
                  </a:solidFill>
                  <a:latin typeface="Times New Roman" panose="02020603050405020304" pitchFamily="18" charset="0"/>
                </a:rPr>
                <a:t>C ]</a:t>
              </a:r>
              <a:r>
                <a:rPr lang="en-US" altLang="zh-CN" sz="3600" b="1" baseline="-25000">
                  <a:solidFill>
                    <a:srgbClr val="003366"/>
                  </a:solidFill>
                  <a:latin typeface="Times New Roman" panose="02020603050405020304" pitchFamily="18" charset="0"/>
                </a:rPr>
                <a:t>n  </a:t>
              </a:r>
              <a:r>
                <a:rPr lang="en-US" altLang="zh-CN" sz="3600" b="1">
                  <a:solidFill>
                    <a:srgbClr val="003366"/>
                  </a:solidFill>
                  <a:latin typeface="Times New Roman" panose="02020603050405020304" pitchFamily="18" charset="0"/>
                </a:rPr>
                <a:t>+ nH</a:t>
              </a:r>
              <a:r>
                <a:rPr lang="en-US" altLang="zh-CN" sz="3600" b="1" baseline="-25000">
                  <a:solidFill>
                    <a:srgbClr val="003366"/>
                  </a:solidFill>
                  <a:latin typeface="Times New Roman" panose="02020603050405020304" pitchFamily="18" charset="0"/>
                </a:rPr>
                <a:t>2</a:t>
              </a:r>
              <a:r>
                <a:rPr lang="en-US" altLang="zh-CN" sz="3600" b="1">
                  <a:solidFill>
                    <a:srgbClr val="003366"/>
                  </a:solidFill>
                  <a:latin typeface="Times New Roman" panose="02020603050405020304" pitchFamily="18" charset="0"/>
                </a:rPr>
                <a:t>O  </a:t>
              </a:r>
            </a:p>
          </p:txBody>
        </p:sp>
        <p:sp>
          <p:nvSpPr>
            <p:cNvPr id="17417" name="矩形 428040"/>
            <p:cNvSpPr/>
            <p:nvPr/>
          </p:nvSpPr>
          <p:spPr>
            <a:xfrm>
              <a:off x="1728" y="691"/>
              <a:ext cx="1144" cy="365"/>
            </a:xfrm>
            <a:prstGeom prst="rect">
              <a:avLst/>
            </a:prstGeom>
            <a:noFill/>
            <a:ln w="9525">
              <a:noFill/>
            </a:ln>
          </p:spPr>
          <p:txBody>
            <a:bodyPr wrap="none" anchor="t">
              <a:spAutoFit/>
            </a:bodyPr>
            <a:lstStyle/>
            <a:p>
              <a:r>
                <a:rPr lang="zh-CN" altLang="en-US" sz="3200" b="1" dirty="0">
                  <a:solidFill>
                    <a:srgbClr val="003366"/>
                  </a:solidFill>
                  <a:latin typeface="Arial" panose="020B0604020202020204" pitchFamily="34" charset="0"/>
                </a:rPr>
                <a:t>一定条件</a:t>
              </a:r>
            </a:p>
          </p:txBody>
        </p:sp>
        <p:sp>
          <p:nvSpPr>
            <p:cNvPr id="17418" name="直接连接符 428041"/>
            <p:cNvSpPr/>
            <p:nvPr/>
          </p:nvSpPr>
          <p:spPr>
            <a:xfrm>
              <a:off x="3072" y="1056"/>
              <a:ext cx="288" cy="0"/>
            </a:xfrm>
            <a:prstGeom prst="line">
              <a:avLst/>
            </a:prstGeom>
            <a:ln w="38100" cap="flat" cmpd="sng">
              <a:solidFill>
                <a:schemeClr val="bg1"/>
              </a:solidFill>
              <a:prstDash val="solid"/>
              <a:round/>
              <a:headEnd type="none" w="med" len="med"/>
              <a:tailEnd type="none" w="med" len="med"/>
            </a:ln>
          </p:spPr>
        </p:sp>
        <p:sp>
          <p:nvSpPr>
            <p:cNvPr id="17419" name="直接连接符 428042"/>
            <p:cNvSpPr/>
            <p:nvPr/>
          </p:nvSpPr>
          <p:spPr>
            <a:xfrm>
              <a:off x="4320" y="1056"/>
              <a:ext cx="336" cy="0"/>
            </a:xfrm>
            <a:prstGeom prst="line">
              <a:avLst/>
            </a:prstGeom>
            <a:ln w="38100" cap="flat" cmpd="sng">
              <a:solidFill>
                <a:schemeClr val="bg1"/>
              </a:solidFill>
              <a:prstDash val="solid"/>
              <a:round/>
              <a:headEnd type="none" w="med" len="med"/>
              <a:tailEnd type="none" w="med" len="med"/>
            </a:ln>
          </p:spPr>
        </p:sp>
        <p:sp>
          <p:nvSpPr>
            <p:cNvPr id="17420" name="直接连接符 428043"/>
            <p:cNvSpPr/>
            <p:nvPr/>
          </p:nvSpPr>
          <p:spPr>
            <a:xfrm>
              <a:off x="1680" y="1056"/>
              <a:ext cx="1344" cy="0"/>
            </a:xfrm>
            <a:prstGeom prst="line">
              <a:avLst/>
            </a:prstGeom>
            <a:ln w="38100" cap="flat" cmpd="sng">
              <a:solidFill>
                <a:srgbClr val="FFFF00"/>
              </a:solidFill>
              <a:prstDash val="solid"/>
              <a:round/>
              <a:headEnd type="none" w="med" len="med"/>
              <a:tailEnd type="triangle" w="med" len="med"/>
            </a:ln>
          </p:spPr>
        </p:sp>
        <p:sp>
          <p:nvSpPr>
            <p:cNvPr id="17421" name="直接连接符 428044"/>
            <p:cNvSpPr/>
            <p:nvPr/>
          </p:nvSpPr>
          <p:spPr>
            <a:xfrm>
              <a:off x="3504" y="1152"/>
              <a:ext cx="0" cy="336"/>
            </a:xfrm>
            <a:prstGeom prst="line">
              <a:avLst/>
            </a:prstGeom>
            <a:ln w="38100" cap="flat" cmpd="sng">
              <a:solidFill>
                <a:schemeClr val="bg1"/>
              </a:solidFill>
              <a:prstDash val="solid"/>
              <a:round/>
              <a:headEnd type="none" w="med" len="med"/>
              <a:tailEnd type="none" w="med" len="med"/>
            </a:ln>
          </p:spPr>
        </p:sp>
        <p:sp>
          <p:nvSpPr>
            <p:cNvPr id="17422" name="直接连接符 428045"/>
            <p:cNvSpPr/>
            <p:nvPr/>
          </p:nvSpPr>
          <p:spPr>
            <a:xfrm>
              <a:off x="4224" y="1152"/>
              <a:ext cx="0" cy="336"/>
            </a:xfrm>
            <a:prstGeom prst="line">
              <a:avLst/>
            </a:prstGeom>
            <a:ln w="38100" cap="flat" cmpd="sng">
              <a:solidFill>
                <a:schemeClr val="bg1"/>
              </a:solidFill>
              <a:prstDash val="solid"/>
              <a:round/>
              <a:headEnd type="none" w="med" len="med"/>
              <a:tailEnd type="none" w="med" len="med"/>
            </a:ln>
          </p:spPr>
        </p:sp>
        <p:sp>
          <p:nvSpPr>
            <p:cNvPr id="17423" name="直接连接符 428046"/>
            <p:cNvSpPr/>
            <p:nvPr/>
          </p:nvSpPr>
          <p:spPr>
            <a:xfrm>
              <a:off x="4272" y="1152"/>
              <a:ext cx="0" cy="336"/>
            </a:xfrm>
            <a:prstGeom prst="line">
              <a:avLst/>
            </a:prstGeom>
            <a:ln w="38100" cap="flat" cmpd="sng">
              <a:solidFill>
                <a:schemeClr val="bg1"/>
              </a:solidFill>
              <a:prstDash val="solid"/>
              <a:round/>
              <a:headEnd type="none" w="med" len="med"/>
              <a:tailEnd type="none" w="med" len="med"/>
            </a:ln>
          </p:spPr>
        </p:sp>
        <p:sp>
          <p:nvSpPr>
            <p:cNvPr id="17424" name="直接连接符 428047"/>
            <p:cNvSpPr/>
            <p:nvPr/>
          </p:nvSpPr>
          <p:spPr>
            <a:xfrm>
              <a:off x="336" y="1152"/>
              <a:ext cx="0" cy="336"/>
            </a:xfrm>
            <a:prstGeom prst="line">
              <a:avLst/>
            </a:prstGeom>
            <a:ln w="38100" cap="flat" cmpd="sng">
              <a:solidFill>
                <a:schemeClr val="bg1"/>
              </a:solidFill>
              <a:prstDash val="solid"/>
              <a:round/>
              <a:headEnd type="none" w="med" len="med"/>
              <a:tailEnd type="none" w="med" len="med"/>
            </a:ln>
          </p:spPr>
        </p:sp>
        <p:sp>
          <p:nvSpPr>
            <p:cNvPr id="17425" name="矩形 428048"/>
            <p:cNvSpPr/>
            <p:nvPr/>
          </p:nvSpPr>
          <p:spPr>
            <a:xfrm>
              <a:off x="192" y="1440"/>
              <a:ext cx="4260" cy="404"/>
            </a:xfrm>
            <a:prstGeom prst="rect">
              <a:avLst/>
            </a:prstGeom>
            <a:noFill/>
            <a:ln w="9525">
              <a:noFill/>
            </a:ln>
          </p:spPr>
          <p:txBody>
            <a:bodyPr wrap="none" anchor="t">
              <a:spAutoFit/>
            </a:bodyPr>
            <a:lstStyle/>
            <a:p>
              <a:pPr>
                <a:spcBef>
                  <a:spcPct val="50000"/>
                </a:spcBef>
                <a:buClr>
                  <a:schemeClr val="bg1"/>
                </a:buClr>
              </a:pPr>
              <a:r>
                <a:rPr lang="en-US" altLang="zh-CN" sz="3600" b="1">
                  <a:solidFill>
                    <a:srgbClr val="003366"/>
                  </a:solidFill>
                  <a:latin typeface="Times New Roman" panose="02020603050405020304" pitchFamily="18" charset="0"/>
                </a:rPr>
                <a:t>NH</a:t>
              </a:r>
              <a:r>
                <a:rPr lang="en-US" altLang="zh-CN" sz="3600" b="1" baseline="-25000">
                  <a:solidFill>
                    <a:srgbClr val="003366"/>
                  </a:solidFill>
                  <a:latin typeface="Times New Roman" panose="02020603050405020304" pitchFamily="18" charset="0"/>
                </a:rPr>
                <a:t>2</a:t>
              </a:r>
              <a:r>
                <a:rPr lang="en-US" altLang="zh-CN" sz="3600" b="1">
                  <a:solidFill>
                    <a:srgbClr val="003366"/>
                  </a:solidFill>
                  <a:latin typeface="Times New Roman" panose="02020603050405020304" pitchFamily="18" charset="0"/>
                </a:rPr>
                <a:t>                                     H       O</a:t>
              </a:r>
            </a:p>
          </p:txBody>
        </p:sp>
      </p:grpSp>
      <p:grpSp>
        <p:nvGrpSpPr>
          <p:cNvPr id="428050" name="组合 428049"/>
          <p:cNvGrpSpPr/>
          <p:nvPr/>
        </p:nvGrpSpPr>
        <p:grpSpPr>
          <a:xfrm>
            <a:off x="250825" y="5410200"/>
            <a:ext cx="8820150" cy="1474788"/>
            <a:chOff x="158" y="3408"/>
            <a:chExt cx="5556" cy="929"/>
          </a:xfrm>
        </p:grpSpPr>
        <p:sp>
          <p:nvSpPr>
            <p:cNvPr id="17427" name="文本框 428050"/>
            <p:cNvSpPr txBox="1"/>
            <p:nvPr/>
          </p:nvSpPr>
          <p:spPr>
            <a:xfrm>
              <a:off x="158" y="3748"/>
              <a:ext cx="5556" cy="404"/>
            </a:xfrm>
            <a:prstGeom prst="rect">
              <a:avLst/>
            </a:prstGeom>
            <a:solidFill>
              <a:schemeClr val="tx1"/>
            </a:solidFill>
            <a:ln w="9525">
              <a:noFill/>
            </a:ln>
          </p:spPr>
          <p:txBody>
            <a:bodyPr anchor="t">
              <a:spAutoFit/>
            </a:bodyPr>
            <a:lstStyle/>
            <a:p>
              <a:pPr>
                <a:spcBef>
                  <a:spcPct val="50000"/>
                </a:spcBef>
              </a:pPr>
              <a:r>
                <a:rPr lang="zh-CN" altLang="en-US" sz="3600" b="1" dirty="0">
                  <a:solidFill>
                    <a:srgbClr val="003366"/>
                  </a:solidFill>
                  <a:latin typeface="Arial" panose="020B0604020202020204" pitchFamily="34" charset="0"/>
                </a:rPr>
                <a:t>氨基酸          二肽          多肽          蛋白质</a:t>
              </a:r>
              <a:endParaRPr lang="zh-CN" altLang="en-US" sz="3600" b="1" baseline="-25000" dirty="0">
                <a:solidFill>
                  <a:srgbClr val="003366"/>
                </a:solidFill>
                <a:latin typeface="Arial" panose="020B0604020202020204" pitchFamily="34" charset="0"/>
              </a:endParaRPr>
            </a:p>
          </p:txBody>
        </p:sp>
        <p:sp>
          <p:nvSpPr>
            <p:cNvPr id="17428" name="文本框 428051"/>
            <p:cNvSpPr txBox="1"/>
            <p:nvPr/>
          </p:nvSpPr>
          <p:spPr>
            <a:xfrm>
              <a:off x="288" y="3408"/>
              <a:ext cx="5232" cy="365"/>
            </a:xfrm>
            <a:prstGeom prst="rect">
              <a:avLst/>
            </a:prstGeom>
            <a:noFill/>
            <a:ln w="9525">
              <a:noFill/>
            </a:ln>
          </p:spPr>
          <p:txBody>
            <a:bodyPr anchor="t">
              <a:spAutoFit/>
            </a:bodyPr>
            <a:lstStyle/>
            <a:p>
              <a:pPr>
                <a:spcBef>
                  <a:spcPct val="50000"/>
                </a:spcBef>
              </a:pPr>
              <a:endParaRPr lang="zh-CN" altLang="en-US" sz="3200" b="1" dirty="0">
                <a:solidFill>
                  <a:schemeClr val="bg1"/>
                </a:solidFill>
                <a:latin typeface="Arial" panose="020B0604020202020204" pitchFamily="34" charset="0"/>
              </a:endParaRPr>
            </a:p>
          </p:txBody>
        </p:sp>
        <p:grpSp>
          <p:nvGrpSpPr>
            <p:cNvPr id="17429" name="组合 428052"/>
            <p:cNvGrpSpPr/>
            <p:nvPr/>
          </p:nvGrpSpPr>
          <p:grpSpPr>
            <a:xfrm>
              <a:off x="1202" y="3612"/>
              <a:ext cx="680" cy="725"/>
              <a:chOff x="1202" y="3612"/>
              <a:chExt cx="680" cy="725"/>
            </a:xfrm>
          </p:grpSpPr>
          <p:sp>
            <p:nvSpPr>
              <p:cNvPr id="17430" name="直接连接符 428053"/>
              <p:cNvSpPr/>
              <p:nvPr/>
            </p:nvSpPr>
            <p:spPr>
              <a:xfrm>
                <a:off x="1247" y="3929"/>
                <a:ext cx="499" cy="0"/>
              </a:xfrm>
              <a:prstGeom prst="line">
                <a:avLst/>
              </a:prstGeom>
              <a:ln w="38100" cap="flat" cmpd="sng">
                <a:solidFill>
                  <a:srgbClr val="FFFF00"/>
                </a:solidFill>
                <a:prstDash val="solid"/>
                <a:round/>
                <a:headEnd type="none" w="sm" len="sm"/>
                <a:tailEnd type="arrow" w="med" len="med"/>
              </a:ln>
            </p:spPr>
          </p:sp>
          <p:sp>
            <p:nvSpPr>
              <p:cNvPr id="17431" name="直接连接符 428054"/>
              <p:cNvSpPr/>
              <p:nvPr/>
            </p:nvSpPr>
            <p:spPr>
              <a:xfrm flipH="1">
                <a:off x="1247" y="4020"/>
                <a:ext cx="499" cy="0"/>
              </a:xfrm>
              <a:prstGeom prst="line">
                <a:avLst/>
              </a:prstGeom>
              <a:ln w="38100" cap="flat" cmpd="sng">
                <a:solidFill>
                  <a:srgbClr val="FFFF00"/>
                </a:solidFill>
                <a:prstDash val="solid"/>
                <a:round/>
                <a:headEnd type="none" w="med" len="med"/>
                <a:tailEnd type="arrow" w="med" len="med"/>
              </a:ln>
            </p:spPr>
          </p:sp>
          <p:sp>
            <p:nvSpPr>
              <p:cNvPr id="17432" name="文本框 428055"/>
              <p:cNvSpPr txBox="1"/>
              <p:nvPr/>
            </p:nvSpPr>
            <p:spPr>
              <a:xfrm>
                <a:off x="1202" y="3612"/>
                <a:ext cx="680" cy="327"/>
              </a:xfrm>
              <a:prstGeom prst="rect">
                <a:avLst/>
              </a:prstGeom>
              <a:noFill/>
              <a:ln w="12700">
                <a:noFill/>
              </a:ln>
            </p:spPr>
            <p:txBody>
              <a:bodyPr anchor="t">
                <a:spAutoFit/>
              </a:bodyPr>
              <a:lstStyle/>
              <a:p>
                <a:pPr>
                  <a:spcBef>
                    <a:spcPct val="50000"/>
                  </a:spcBef>
                  <a:buClr>
                    <a:schemeClr val="bg1"/>
                  </a:buClr>
                </a:pPr>
                <a:r>
                  <a:rPr lang="zh-CN" altLang="en-US" sz="2800" b="1" dirty="0">
                    <a:solidFill>
                      <a:srgbClr val="66FF33"/>
                    </a:solidFill>
                    <a:latin typeface="Times New Roman" panose="02020603050405020304" pitchFamily="18" charset="0"/>
                  </a:rPr>
                  <a:t>缩合</a:t>
                </a:r>
              </a:p>
            </p:txBody>
          </p:sp>
          <p:sp>
            <p:nvSpPr>
              <p:cNvPr id="17433" name="文本框 428056"/>
              <p:cNvSpPr txBox="1"/>
              <p:nvPr/>
            </p:nvSpPr>
            <p:spPr>
              <a:xfrm>
                <a:off x="1202" y="4010"/>
                <a:ext cx="680" cy="327"/>
              </a:xfrm>
              <a:prstGeom prst="rect">
                <a:avLst/>
              </a:prstGeom>
              <a:noFill/>
              <a:ln w="12700">
                <a:noFill/>
              </a:ln>
            </p:spPr>
            <p:txBody>
              <a:bodyPr anchor="t">
                <a:spAutoFit/>
              </a:bodyPr>
              <a:lstStyle/>
              <a:p>
                <a:pPr>
                  <a:spcBef>
                    <a:spcPct val="50000"/>
                  </a:spcBef>
                  <a:buClr>
                    <a:schemeClr val="bg1"/>
                  </a:buClr>
                </a:pPr>
                <a:r>
                  <a:rPr lang="zh-CN" altLang="en-US" sz="2800" b="1" dirty="0">
                    <a:solidFill>
                      <a:srgbClr val="66FF33"/>
                    </a:solidFill>
                    <a:latin typeface="Times New Roman" panose="02020603050405020304" pitchFamily="18" charset="0"/>
                  </a:rPr>
                  <a:t>水解</a:t>
                </a:r>
              </a:p>
            </p:txBody>
          </p:sp>
        </p:grpSp>
        <p:grpSp>
          <p:nvGrpSpPr>
            <p:cNvPr id="17434" name="组合 428057"/>
            <p:cNvGrpSpPr/>
            <p:nvPr/>
          </p:nvGrpSpPr>
          <p:grpSpPr>
            <a:xfrm>
              <a:off x="2563" y="3612"/>
              <a:ext cx="680" cy="725"/>
              <a:chOff x="1202" y="3612"/>
              <a:chExt cx="680" cy="725"/>
            </a:xfrm>
          </p:grpSpPr>
          <p:sp>
            <p:nvSpPr>
              <p:cNvPr id="17435" name="直接连接符 428058"/>
              <p:cNvSpPr/>
              <p:nvPr/>
            </p:nvSpPr>
            <p:spPr>
              <a:xfrm>
                <a:off x="1247" y="3929"/>
                <a:ext cx="499" cy="0"/>
              </a:xfrm>
              <a:prstGeom prst="line">
                <a:avLst/>
              </a:prstGeom>
              <a:ln w="38100" cap="flat" cmpd="sng">
                <a:solidFill>
                  <a:srgbClr val="FFFF00"/>
                </a:solidFill>
                <a:prstDash val="solid"/>
                <a:round/>
                <a:headEnd type="none" w="sm" len="sm"/>
                <a:tailEnd type="arrow" w="med" len="med"/>
              </a:ln>
            </p:spPr>
          </p:sp>
          <p:sp>
            <p:nvSpPr>
              <p:cNvPr id="17436" name="直接连接符 428059"/>
              <p:cNvSpPr/>
              <p:nvPr/>
            </p:nvSpPr>
            <p:spPr>
              <a:xfrm flipH="1">
                <a:off x="1247" y="4020"/>
                <a:ext cx="499" cy="0"/>
              </a:xfrm>
              <a:prstGeom prst="line">
                <a:avLst/>
              </a:prstGeom>
              <a:ln w="38100" cap="flat" cmpd="sng">
                <a:solidFill>
                  <a:srgbClr val="FFFF00"/>
                </a:solidFill>
                <a:prstDash val="solid"/>
                <a:round/>
                <a:headEnd type="none" w="med" len="med"/>
                <a:tailEnd type="arrow" w="med" len="med"/>
              </a:ln>
            </p:spPr>
          </p:sp>
          <p:sp>
            <p:nvSpPr>
              <p:cNvPr id="17437" name="文本框 428060"/>
              <p:cNvSpPr txBox="1"/>
              <p:nvPr/>
            </p:nvSpPr>
            <p:spPr>
              <a:xfrm>
                <a:off x="1202" y="3612"/>
                <a:ext cx="680" cy="327"/>
              </a:xfrm>
              <a:prstGeom prst="rect">
                <a:avLst/>
              </a:prstGeom>
              <a:noFill/>
              <a:ln w="12700">
                <a:noFill/>
              </a:ln>
            </p:spPr>
            <p:txBody>
              <a:bodyPr anchor="t">
                <a:spAutoFit/>
              </a:bodyPr>
              <a:lstStyle/>
              <a:p>
                <a:pPr>
                  <a:spcBef>
                    <a:spcPct val="50000"/>
                  </a:spcBef>
                  <a:buClr>
                    <a:schemeClr val="bg1"/>
                  </a:buClr>
                </a:pPr>
                <a:r>
                  <a:rPr lang="zh-CN" altLang="en-US" sz="2800" b="1" dirty="0">
                    <a:solidFill>
                      <a:srgbClr val="66FF33"/>
                    </a:solidFill>
                    <a:latin typeface="Times New Roman" panose="02020603050405020304" pitchFamily="18" charset="0"/>
                  </a:rPr>
                  <a:t>缩合</a:t>
                </a:r>
              </a:p>
            </p:txBody>
          </p:sp>
          <p:sp>
            <p:nvSpPr>
              <p:cNvPr id="17438" name="文本框 428061"/>
              <p:cNvSpPr txBox="1"/>
              <p:nvPr/>
            </p:nvSpPr>
            <p:spPr>
              <a:xfrm>
                <a:off x="1202" y="4010"/>
                <a:ext cx="680" cy="327"/>
              </a:xfrm>
              <a:prstGeom prst="rect">
                <a:avLst/>
              </a:prstGeom>
              <a:noFill/>
              <a:ln w="12700">
                <a:noFill/>
              </a:ln>
            </p:spPr>
            <p:txBody>
              <a:bodyPr anchor="t">
                <a:spAutoFit/>
              </a:bodyPr>
              <a:lstStyle/>
              <a:p>
                <a:pPr>
                  <a:spcBef>
                    <a:spcPct val="50000"/>
                  </a:spcBef>
                  <a:buClr>
                    <a:schemeClr val="bg1"/>
                  </a:buClr>
                </a:pPr>
                <a:r>
                  <a:rPr lang="zh-CN" altLang="en-US" sz="2800" b="1" dirty="0">
                    <a:solidFill>
                      <a:srgbClr val="66FF33"/>
                    </a:solidFill>
                    <a:latin typeface="Times New Roman" panose="02020603050405020304" pitchFamily="18" charset="0"/>
                  </a:rPr>
                  <a:t>水解</a:t>
                </a:r>
              </a:p>
            </p:txBody>
          </p:sp>
        </p:grpSp>
        <p:grpSp>
          <p:nvGrpSpPr>
            <p:cNvPr id="17439" name="组合 428062"/>
            <p:cNvGrpSpPr/>
            <p:nvPr/>
          </p:nvGrpSpPr>
          <p:grpSpPr>
            <a:xfrm>
              <a:off x="3969" y="3612"/>
              <a:ext cx="680" cy="725"/>
              <a:chOff x="1202" y="3612"/>
              <a:chExt cx="680" cy="725"/>
            </a:xfrm>
          </p:grpSpPr>
          <p:sp>
            <p:nvSpPr>
              <p:cNvPr id="17440" name="直接连接符 428063"/>
              <p:cNvSpPr/>
              <p:nvPr/>
            </p:nvSpPr>
            <p:spPr>
              <a:xfrm>
                <a:off x="1247" y="3929"/>
                <a:ext cx="499" cy="0"/>
              </a:xfrm>
              <a:prstGeom prst="line">
                <a:avLst/>
              </a:prstGeom>
              <a:ln w="38100" cap="flat" cmpd="sng">
                <a:solidFill>
                  <a:srgbClr val="FFFF00"/>
                </a:solidFill>
                <a:prstDash val="solid"/>
                <a:round/>
                <a:headEnd type="none" w="sm" len="sm"/>
                <a:tailEnd type="arrow" w="med" len="med"/>
              </a:ln>
            </p:spPr>
          </p:sp>
          <p:sp>
            <p:nvSpPr>
              <p:cNvPr id="17441" name="直接连接符 428064"/>
              <p:cNvSpPr/>
              <p:nvPr/>
            </p:nvSpPr>
            <p:spPr>
              <a:xfrm flipH="1">
                <a:off x="1247" y="4020"/>
                <a:ext cx="499" cy="0"/>
              </a:xfrm>
              <a:prstGeom prst="line">
                <a:avLst/>
              </a:prstGeom>
              <a:ln w="38100" cap="flat" cmpd="sng">
                <a:solidFill>
                  <a:srgbClr val="FFFF00"/>
                </a:solidFill>
                <a:prstDash val="solid"/>
                <a:round/>
                <a:headEnd type="none" w="med" len="med"/>
                <a:tailEnd type="arrow" w="med" len="med"/>
              </a:ln>
            </p:spPr>
          </p:sp>
          <p:sp>
            <p:nvSpPr>
              <p:cNvPr id="17442" name="文本框 428065"/>
              <p:cNvSpPr txBox="1"/>
              <p:nvPr/>
            </p:nvSpPr>
            <p:spPr>
              <a:xfrm>
                <a:off x="1202" y="3612"/>
                <a:ext cx="680" cy="327"/>
              </a:xfrm>
              <a:prstGeom prst="rect">
                <a:avLst/>
              </a:prstGeom>
              <a:noFill/>
              <a:ln w="12700">
                <a:noFill/>
              </a:ln>
            </p:spPr>
            <p:txBody>
              <a:bodyPr anchor="t">
                <a:spAutoFit/>
              </a:bodyPr>
              <a:lstStyle/>
              <a:p>
                <a:pPr>
                  <a:spcBef>
                    <a:spcPct val="50000"/>
                  </a:spcBef>
                  <a:buClr>
                    <a:schemeClr val="bg1"/>
                  </a:buClr>
                </a:pPr>
                <a:r>
                  <a:rPr lang="zh-CN" altLang="en-US" sz="2800" b="1" dirty="0">
                    <a:solidFill>
                      <a:srgbClr val="66FF33"/>
                    </a:solidFill>
                    <a:latin typeface="Times New Roman" panose="02020603050405020304" pitchFamily="18" charset="0"/>
                  </a:rPr>
                  <a:t>缩合</a:t>
                </a:r>
              </a:p>
            </p:txBody>
          </p:sp>
          <p:sp>
            <p:nvSpPr>
              <p:cNvPr id="17443" name="文本框 428066"/>
              <p:cNvSpPr txBox="1"/>
              <p:nvPr/>
            </p:nvSpPr>
            <p:spPr>
              <a:xfrm>
                <a:off x="1202" y="4010"/>
                <a:ext cx="680" cy="327"/>
              </a:xfrm>
              <a:prstGeom prst="rect">
                <a:avLst/>
              </a:prstGeom>
              <a:noFill/>
              <a:ln w="12700">
                <a:noFill/>
              </a:ln>
            </p:spPr>
            <p:txBody>
              <a:bodyPr anchor="t">
                <a:spAutoFit/>
              </a:bodyPr>
              <a:lstStyle/>
              <a:p>
                <a:pPr>
                  <a:spcBef>
                    <a:spcPct val="50000"/>
                  </a:spcBef>
                  <a:buClr>
                    <a:schemeClr val="bg1"/>
                  </a:buClr>
                </a:pPr>
                <a:r>
                  <a:rPr lang="zh-CN" altLang="en-US" sz="2800" b="1" dirty="0">
                    <a:solidFill>
                      <a:srgbClr val="66FF33"/>
                    </a:solidFill>
                    <a:latin typeface="Times New Roman" panose="02020603050405020304" pitchFamily="18" charset="0"/>
                  </a:rPr>
                  <a:t>水解</a:t>
                </a:r>
              </a:p>
            </p:txBody>
          </p:sp>
        </p:grpSp>
      </p:grpSp>
      <p:sp>
        <p:nvSpPr>
          <p:cNvPr id="428068" name="云形标注 428067"/>
          <p:cNvSpPr/>
          <p:nvPr/>
        </p:nvSpPr>
        <p:spPr>
          <a:xfrm>
            <a:off x="5508625" y="2349500"/>
            <a:ext cx="3254375" cy="2519660"/>
          </a:xfrm>
          <a:prstGeom prst="cloudCallout">
            <a:avLst>
              <a:gd name="adj1" fmla="val -17903"/>
              <a:gd name="adj2" fmla="val 89944"/>
            </a:avLst>
          </a:prstGeom>
          <a:solidFill>
            <a:schemeClr val="accent1"/>
          </a:solidFill>
          <a:ln w="12700" cap="flat" cmpd="sng">
            <a:solidFill>
              <a:schemeClr val="tx1"/>
            </a:solidFill>
            <a:prstDash val="solid"/>
            <a:round/>
            <a:headEnd type="none" w="sm" len="sm"/>
            <a:tailEnd type="none" w="sm" len="sm"/>
          </a:ln>
        </p:spPr>
        <p:txBody>
          <a:bodyPr anchor="t"/>
          <a:lstStyle/>
          <a:p>
            <a:pPr algn="ctr">
              <a:buClr>
                <a:schemeClr val="bg1"/>
              </a:buClr>
            </a:pPr>
            <a:r>
              <a:rPr lang="zh-CN" altLang="en-US" sz="3200" b="1" dirty="0">
                <a:solidFill>
                  <a:srgbClr val="FF3300"/>
                </a:solidFill>
                <a:latin typeface="Times New Roman" panose="02020603050405020304" pitchFamily="18" charset="0"/>
              </a:rPr>
              <a:t>多肽与蛋白质之间没有严格的界限！</a:t>
            </a:r>
          </a:p>
        </p:txBody>
      </p:sp>
      <p:pic>
        <p:nvPicPr>
          <p:cNvPr id="428069" name="图片 428068" descr="1-14"/>
          <p:cNvPicPr>
            <a:picLocks noChangeAspect="1"/>
          </p:cNvPicPr>
          <p:nvPr/>
        </p:nvPicPr>
        <p:blipFill>
          <a:blip r:embed="rId3" cstate="print"/>
          <a:stretch>
            <a:fillRect/>
          </a:stretch>
        </p:blipFill>
        <p:spPr>
          <a:xfrm>
            <a:off x="612775" y="0"/>
            <a:ext cx="4895850" cy="6742113"/>
          </a:xfrm>
          <a:prstGeom prst="rect">
            <a:avLst/>
          </a:prstGeom>
          <a:noFill/>
          <a:ln w="9525">
            <a:noFill/>
          </a:ln>
        </p:spPr>
      </p:pic>
      <p:sp>
        <p:nvSpPr>
          <p:cNvPr id="428070" name="文本框 428069"/>
          <p:cNvSpPr txBox="1"/>
          <p:nvPr/>
        </p:nvSpPr>
        <p:spPr>
          <a:xfrm>
            <a:off x="395288" y="333375"/>
            <a:ext cx="720725" cy="6134100"/>
          </a:xfrm>
          <a:prstGeom prst="rect">
            <a:avLst/>
          </a:prstGeom>
          <a:noFill/>
          <a:ln w="12700">
            <a:noFill/>
          </a:ln>
        </p:spPr>
        <p:txBody>
          <a:bodyPr anchor="t">
            <a:spAutoFit/>
          </a:bodyPr>
          <a:lstStyle/>
          <a:p>
            <a:pPr>
              <a:spcBef>
                <a:spcPct val="50000"/>
              </a:spcBef>
              <a:buClr>
                <a:schemeClr val="bg1"/>
              </a:buClr>
            </a:pPr>
            <a:r>
              <a:rPr lang="zh-CN" altLang="en-US" sz="3600" b="1" dirty="0">
                <a:solidFill>
                  <a:srgbClr val="FF3300"/>
                </a:solidFill>
                <a:latin typeface="Times New Roman" panose="02020603050405020304" pitchFamily="18" charset="0"/>
              </a:rPr>
              <a:t>蛋白质是生命的物质基础</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 fill="hold">
                                          <p:stCondLst>
                                            <p:cond delay="0"/>
                                          </p:stCondLst>
                                        </p:cTn>
                                        <p:tgtEl>
                                          <p:spTgt spid="428034"/>
                                        </p:tgtEl>
                                        <p:attrNameLst>
                                          <p:attrName>style.visibility</p:attrName>
                                        </p:attrNameLst>
                                      </p:cBhvr>
                                      <p:to>
                                        <p:strVal val="visible"/>
                                      </p:to>
                                    </p:set>
                                    <p:animEffect transition="in" filter="wedge">
                                      <p:cBhvr>
                                        <p:cTn id="7" dur="2000"/>
                                        <p:tgtEl>
                                          <p:spTgt spid="42803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28050"/>
                                        </p:tgtEl>
                                        <p:attrNameLst>
                                          <p:attrName>style.visibility</p:attrName>
                                        </p:attrNameLst>
                                      </p:cBhvr>
                                      <p:to>
                                        <p:strVal val="visible"/>
                                      </p:to>
                                    </p:set>
                                    <p:animEffect transition="in" filter="wipe(left)">
                                      <p:cBhvr>
                                        <p:cTn id="12" dur="2000"/>
                                        <p:tgtEl>
                                          <p:spTgt spid="42805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28068"/>
                                        </p:tgtEl>
                                        <p:attrNameLst>
                                          <p:attrName>style.visibility</p:attrName>
                                        </p:attrNameLst>
                                      </p:cBhvr>
                                      <p:to>
                                        <p:strVal val="visible"/>
                                      </p:to>
                                    </p:set>
                                    <p:animEffect transition="in" filter="wipe(down)">
                                      <p:cBhvr>
                                        <p:cTn id="17" dur="3000"/>
                                        <p:tgtEl>
                                          <p:spTgt spid="428068"/>
                                        </p:tgtEl>
                                      </p:cBhvr>
                                    </p:animEffect>
                                  </p:childTnLst>
                                </p:cTn>
                              </p:par>
                            </p:childTnLst>
                          </p:cTn>
                        </p:par>
                      </p:childTnLst>
                    </p:cTn>
                  </p:par>
                  <p:par>
                    <p:cTn id="18" fill="hold">
                      <p:stCondLst>
                        <p:cond delay="indefinite"/>
                      </p:stCondLst>
                      <p:childTnLst>
                        <p:par>
                          <p:cTn id="19" fill="hold">
                            <p:stCondLst>
                              <p:cond delay="0"/>
                            </p:stCondLst>
                            <p:childTnLst>
                              <p:par>
                                <p:cTn id="20" presetID="31" presetClass="entr" presetSubtype="0" fill="hold" nodeType="clickEffect">
                                  <p:stCondLst>
                                    <p:cond delay="0"/>
                                  </p:stCondLst>
                                  <p:iterate type="lt">
                                    <p:tmPct val="5000"/>
                                  </p:iterate>
                                  <p:childTnLst>
                                    <p:set>
                                      <p:cBhvr>
                                        <p:cTn id="21" dur="1" fill="hold">
                                          <p:stCondLst>
                                            <p:cond delay="0"/>
                                          </p:stCondLst>
                                        </p:cTn>
                                        <p:tgtEl>
                                          <p:spTgt spid="428069"/>
                                        </p:tgtEl>
                                        <p:attrNameLst>
                                          <p:attrName>style.visibility</p:attrName>
                                        </p:attrNameLst>
                                      </p:cBhvr>
                                      <p:to>
                                        <p:strVal val="visible"/>
                                      </p:to>
                                    </p:set>
                                    <p:anim calcmode="lin" valueType="num">
                                      <p:cBhvr>
                                        <p:cTn id="22" dur="2000" fill="hold"/>
                                        <p:tgtEl>
                                          <p:spTgt spid="428069"/>
                                        </p:tgtEl>
                                        <p:attrNameLst>
                                          <p:attrName>ppt_w</p:attrName>
                                        </p:attrNameLst>
                                      </p:cBhvr>
                                      <p:tavLst>
                                        <p:tav tm="0">
                                          <p:val>
                                            <p:fltVal val="0"/>
                                          </p:val>
                                        </p:tav>
                                        <p:tav tm="100000">
                                          <p:val>
                                            <p:strVal val="#ppt_w"/>
                                          </p:val>
                                        </p:tav>
                                      </p:tavLst>
                                    </p:anim>
                                    <p:anim calcmode="lin" valueType="num">
                                      <p:cBhvr>
                                        <p:cTn id="23" dur="2000" fill="hold"/>
                                        <p:tgtEl>
                                          <p:spTgt spid="428069"/>
                                        </p:tgtEl>
                                        <p:attrNameLst>
                                          <p:attrName>ppt_h</p:attrName>
                                        </p:attrNameLst>
                                      </p:cBhvr>
                                      <p:tavLst>
                                        <p:tav tm="0">
                                          <p:val>
                                            <p:fltVal val="0"/>
                                          </p:val>
                                        </p:tav>
                                        <p:tav tm="100000">
                                          <p:val>
                                            <p:strVal val="#ppt_h"/>
                                          </p:val>
                                        </p:tav>
                                      </p:tavLst>
                                    </p:anim>
                                    <p:anim calcmode="lin" valueType="num">
                                      <p:cBhvr>
                                        <p:cTn id="24" dur="2000" fill="hold"/>
                                        <p:tgtEl>
                                          <p:spTgt spid="428069"/>
                                        </p:tgtEl>
                                        <p:attrNameLst>
                                          <p:attrName>style.rotation</p:attrName>
                                        </p:attrNameLst>
                                      </p:cBhvr>
                                      <p:tavLst>
                                        <p:tav tm="0">
                                          <p:val>
                                            <p:fltVal val="90"/>
                                          </p:val>
                                        </p:tav>
                                        <p:tav tm="100000">
                                          <p:val>
                                            <p:fltVal val="0"/>
                                          </p:val>
                                        </p:tav>
                                      </p:tavLst>
                                    </p:anim>
                                    <p:animEffect transition="in" filter="fade">
                                      <p:cBhvr>
                                        <p:cTn id="25" dur="2000"/>
                                        <p:tgtEl>
                                          <p:spTgt spid="428069"/>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32" fill="hold" grpId="0" nodeType="clickEffect">
                                  <p:stCondLst>
                                    <p:cond delay="0"/>
                                  </p:stCondLst>
                                  <p:childTnLst>
                                    <p:set>
                                      <p:cBhvr>
                                        <p:cTn id="29" dur="1" fill="hold">
                                          <p:stCondLst>
                                            <p:cond delay="0"/>
                                          </p:stCondLst>
                                        </p:cTn>
                                        <p:tgtEl>
                                          <p:spTgt spid="428070"/>
                                        </p:tgtEl>
                                        <p:attrNameLst>
                                          <p:attrName>style.visibility</p:attrName>
                                        </p:attrNameLst>
                                      </p:cBhvr>
                                      <p:to>
                                        <p:strVal val="visible"/>
                                      </p:to>
                                    </p:set>
                                    <p:anim calcmode="lin" valueType="num">
                                      <p:cBhvr>
                                        <p:cTn id="30" dur="1000" fill="hold"/>
                                        <p:tgtEl>
                                          <p:spTgt spid="428070"/>
                                        </p:tgtEl>
                                        <p:attrNameLst>
                                          <p:attrName>ppt_w</p:attrName>
                                        </p:attrNameLst>
                                      </p:cBhvr>
                                      <p:tavLst>
                                        <p:tav tm="0">
                                          <p:val>
                                            <p:strVal val="4*#ppt_w"/>
                                          </p:val>
                                        </p:tav>
                                        <p:tav tm="100000">
                                          <p:val>
                                            <p:strVal val="#ppt_w"/>
                                          </p:val>
                                        </p:tav>
                                      </p:tavLst>
                                    </p:anim>
                                    <p:anim calcmode="lin" valueType="num">
                                      <p:cBhvr>
                                        <p:cTn id="31" dur="1000" fill="hold"/>
                                        <p:tgtEl>
                                          <p:spTgt spid="428070"/>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8068" grpId="0" animBg="1"/>
      <p:bldP spid="42807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626" name="矩形 410625"/>
          <p:cNvSpPr/>
          <p:nvPr/>
        </p:nvSpPr>
        <p:spPr>
          <a:xfrm>
            <a:off x="34925" y="692150"/>
            <a:ext cx="8642350" cy="1152674"/>
          </a:xfrm>
          <a:prstGeom prst="rect">
            <a:avLst/>
          </a:prstGeom>
          <a:noFill/>
          <a:ln w="9525">
            <a:noFill/>
          </a:ln>
        </p:spPr>
        <p:txBody>
          <a:bodyPr anchor="t"/>
          <a:lstStyle/>
          <a:p>
            <a:pPr marL="342900" indent="-342900">
              <a:lnSpc>
                <a:spcPct val="150000"/>
              </a:lnSpc>
              <a:spcBef>
                <a:spcPct val="20000"/>
              </a:spcBef>
              <a:buClr>
                <a:schemeClr val="hlink"/>
              </a:buClr>
              <a:buSzPct val="75000"/>
              <a:buFont typeface="Wingdings" panose="05000000000000000000" pitchFamily="2" charset="2"/>
              <a:buChar char="v"/>
            </a:pPr>
            <a:r>
              <a:rPr lang="zh-CN" altLang="en-US" sz="2800" b="1" dirty="0">
                <a:solidFill>
                  <a:schemeClr val="tx1"/>
                </a:solidFill>
                <a:latin typeface="Arial" panose="020B0604020202020204" pitchFamily="34" charset="0"/>
              </a:rPr>
              <a:t>从身边的例子可我们可以感受到</a:t>
            </a:r>
            <a:r>
              <a:rPr lang="en-US" altLang="zh-CN" sz="2800" b="1" dirty="0">
                <a:solidFill>
                  <a:schemeClr val="tx1"/>
                </a:solidFill>
                <a:latin typeface="Arial" panose="020B0604020202020204" pitchFamily="34" charset="0"/>
              </a:rPr>
              <a:t>:</a:t>
            </a:r>
            <a:r>
              <a:rPr lang="zh-CN" altLang="en-US" sz="2800" b="1" dirty="0">
                <a:solidFill>
                  <a:schemeClr val="tx1"/>
                </a:solidFill>
                <a:latin typeface="Times New Roman" panose="02020603050405020304" pitchFamily="18" charset="0"/>
              </a:rPr>
              <a:t>浓食盐水</a:t>
            </a:r>
            <a:r>
              <a:rPr lang="en-US" altLang="zh-CN" sz="2800" b="1" dirty="0">
                <a:solidFill>
                  <a:schemeClr val="tx1"/>
                </a:solidFill>
                <a:latin typeface="Times New Roman" panose="02020603050405020304" pitchFamily="18" charset="0"/>
              </a:rPr>
              <a:t>,</a:t>
            </a:r>
            <a:r>
              <a:rPr lang="zh-CN" altLang="en-US" sz="2800" b="1" dirty="0">
                <a:solidFill>
                  <a:schemeClr val="tx1"/>
                </a:solidFill>
                <a:latin typeface="Times New Roman" panose="02020603050405020304" pitchFamily="18" charset="0"/>
              </a:rPr>
              <a:t>重金属</a:t>
            </a:r>
            <a:r>
              <a:rPr lang="en-US" altLang="zh-CN" sz="2800" b="1" dirty="0">
                <a:solidFill>
                  <a:schemeClr val="tx1"/>
                </a:solidFill>
                <a:latin typeface="Times New Roman" panose="02020603050405020304" pitchFamily="18" charset="0"/>
              </a:rPr>
              <a:t>,</a:t>
            </a:r>
            <a:r>
              <a:rPr lang="zh-CN" altLang="en-US" sz="2800" b="1" dirty="0">
                <a:solidFill>
                  <a:schemeClr val="tx1"/>
                </a:solidFill>
                <a:latin typeface="Times New Roman" panose="02020603050405020304" pitchFamily="18" charset="0"/>
              </a:rPr>
              <a:t>加热</a:t>
            </a:r>
            <a:r>
              <a:rPr lang="en-US" altLang="zh-CN" sz="2800" b="1" dirty="0">
                <a:solidFill>
                  <a:schemeClr val="tx1"/>
                </a:solidFill>
                <a:latin typeface="Times New Roman" panose="02020603050405020304" pitchFamily="18" charset="0"/>
              </a:rPr>
              <a:t>,</a:t>
            </a:r>
            <a:r>
              <a:rPr lang="zh-CN" altLang="en-US" sz="2800" b="1" dirty="0">
                <a:solidFill>
                  <a:schemeClr val="tx1"/>
                </a:solidFill>
                <a:latin typeface="Times New Roman" panose="02020603050405020304" pitchFamily="18" charset="0"/>
              </a:rPr>
              <a:t>紫外线</a:t>
            </a:r>
            <a:r>
              <a:rPr lang="en-US" altLang="zh-CN" sz="2800" b="1" dirty="0">
                <a:solidFill>
                  <a:schemeClr val="tx1"/>
                </a:solidFill>
                <a:latin typeface="Times New Roman" panose="02020603050405020304" pitchFamily="18" charset="0"/>
              </a:rPr>
              <a:t>,</a:t>
            </a:r>
            <a:r>
              <a:rPr lang="zh-CN" altLang="en-US" sz="2800" b="1" dirty="0">
                <a:solidFill>
                  <a:schemeClr val="tx1"/>
                </a:solidFill>
                <a:latin typeface="Times New Roman" panose="02020603050405020304" pitchFamily="18" charset="0"/>
              </a:rPr>
              <a:t>浓</a:t>
            </a:r>
            <a:r>
              <a:rPr lang="en-US" altLang="zh-CN" sz="2800" b="1" dirty="0">
                <a:solidFill>
                  <a:schemeClr val="tx1"/>
                </a:solidFill>
                <a:latin typeface="Times New Roman" panose="02020603050405020304" pitchFamily="18" charset="0"/>
              </a:rPr>
              <a:t>HNO</a:t>
            </a:r>
            <a:r>
              <a:rPr lang="en-US" altLang="zh-CN" sz="2800" b="1" baseline="-25000" dirty="0">
                <a:solidFill>
                  <a:schemeClr val="tx1"/>
                </a:solidFill>
                <a:latin typeface="Times New Roman" panose="02020603050405020304" pitchFamily="18" charset="0"/>
              </a:rPr>
              <a:t>3</a:t>
            </a:r>
            <a:r>
              <a:rPr lang="zh-CN" altLang="en-US" sz="2800" b="1" dirty="0" smtClean="0">
                <a:solidFill>
                  <a:schemeClr val="tx1"/>
                </a:solidFill>
                <a:latin typeface="Times New Roman" panose="02020603050405020304" pitchFamily="18" charset="0"/>
              </a:rPr>
              <a:t>等，都会</a:t>
            </a:r>
            <a:r>
              <a:rPr lang="zh-CN" altLang="en-US" sz="2800" b="1" dirty="0">
                <a:solidFill>
                  <a:schemeClr val="tx1"/>
                </a:solidFill>
                <a:latin typeface="Times New Roman" panose="02020603050405020304" pitchFamily="18" charset="0"/>
              </a:rPr>
              <a:t>对蛋白质产生作用</a:t>
            </a:r>
            <a:r>
              <a:rPr lang="en-US" altLang="zh-CN" sz="2800" b="1" dirty="0">
                <a:solidFill>
                  <a:schemeClr val="tx1"/>
                </a:solidFill>
                <a:latin typeface="Times New Roman" panose="02020603050405020304" pitchFamily="18" charset="0"/>
              </a:rPr>
              <a:t>.</a:t>
            </a:r>
          </a:p>
        </p:txBody>
      </p:sp>
      <p:sp>
        <p:nvSpPr>
          <p:cNvPr id="410627" name="文本框 410626"/>
          <p:cNvSpPr txBox="1"/>
          <p:nvPr/>
        </p:nvSpPr>
        <p:spPr>
          <a:xfrm>
            <a:off x="34925" y="2852738"/>
            <a:ext cx="8858250" cy="1077218"/>
          </a:xfrm>
          <a:prstGeom prst="rect">
            <a:avLst/>
          </a:prstGeom>
          <a:noFill/>
          <a:ln w="9525">
            <a:noFill/>
          </a:ln>
        </p:spPr>
        <p:txBody>
          <a:bodyPr anchor="t">
            <a:spAutoFit/>
          </a:bodyPr>
          <a:lstStyle/>
          <a:p>
            <a:pPr>
              <a:buClr>
                <a:schemeClr val="bg1"/>
              </a:buClr>
            </a:pPr>
            <a:r>
              <a:rPr lang="zh-CN" altLang="en-US" sz="3200" b="1" dirty="0">
                <a:solidFill>
                  <a:schemeClr val="tx1"/>
                </a:solidFill>
                <a:latin typeface="Times New Roman" panose="02020603050405020304" pitchFamily="18" charset="0"/>
              </a:rPr>
              <a:t>（</a:t>
            </a:r>
            <a:r>
              <a:rPr lang="en-US" altLang="zh-CN" sz="3200" b="1" dirty="0">
                <a:solidFill>
                  <a:schemeClr val="tx1"/>
                </a:solidFill>
                <a:latin typeface="Times New Roman" panose="02020603050405020304" pitchFamily="18" charset="0"/>
              </a:rPr>
              <a:t>1</a:t>
            </a:r>
            <a:r>
              <a:rPr lang="zh-CN" altLang="en-US" sz="3200" b="1" dirty="0">
                <a:solidFill>
                  <a:schemeClr val="tx1"/>
                </a:solidFill>
                <a:latin typeface="Times New Roman" panose="02020603050405020304" pitchFamily="18" charset="0"/>
              </a:rPr>
              <a:t>）</a:t>
            </a:r>
            <a:r>
              <a:rPr lang="zh-CN" altLang="en-US" sz="3200" b="1" dirty="0">
                <a:solidFill>
                  <a:srgbClr val="0000FF"/>
                </a:solidFill>
                <a:latin typeface="楷体_GB2312" pitchFamily="49" charset="-122"/>
                <a:ea typeface="楷体_GB2312" pitchFamily="49" charset="-122"/>
              </a:rPr>
              <a:t>两性</a:t>
            </a:r>
            <a:r>
              <a:rPr lang="en-US" altLang="zh-CN" sz="3200" b="1" dirty="0">
                <a:solidFill>
                  <a:schemeClr val="tx1"/>
                </a:solidFill>
                <a:latin typeface="Times New Roman" panose="02020603050405020304" pitchFamily="18" charset="0"/>
                <a:ea typeface="楷体_GB2312" pitchFamily="49" charset="-122"/>
              </a:rPr>
              <a:t>—</a:t>
            </a:r>
            <a:r>
              <a:rPr lang="zh-CN" altLang="en-US" sz="3200" b="1" dirty="0">
                <a:solidFill>
                  <a:schemeClr val="tx1"/>
                </a:solidFill>
                <a:latin typeface="楷体_GB2312" pitchFamily="49" charset="-122"/>
                <a:ea typeface="楷体_GB2312" pitchFamily="49" charset="-122"/>
              </a:rPr>
              <a:t>由于蛋白质分子中含有氨基和</a:t>
            </a:r>
          </a:p>
          <a:p>
            <a:pPr>
              <a:buClr>
                <a:schemeClr val="bg1"/>
              </a:buClr>
            </a:pPr>
            <a:r>
              <a:rPr lang="zh-CN" altLang="en-US" sz="3200" b="1" dirty="0">
                <a:solidFill>
                  <a:schemeClr val="tx1"/>
                </a:solidFill>
                <a:latin typeface="楷体_GB2312" pitchFamily="49" charset="-122"/>
                <a:ea typeface="楷体_GB2312" pitchFamily="49" charset="-122"/>
              </a:rPr>
              <a:t>           羧基，与氨基酸相似</a:t>
            </a:r>
          </a:p>
        </p:txBody>
      </p:sp>
      <p:sp>
        <p:nvSpPr>
          <p:cNvPr id="410628" name="文本框 410627"/>
          <p:cNvSpPr txBox="1"/>
          <p:nvPr/>
        </p:nvSpPr>
        <p:spPr>
          <a:xfrm>
            <a:off x="-36512" y="4511675"/>
            <a:ext cx="5184775" cy="584775"/>
          </a:xfrm>
          <a:prstGeom prst="rect">
            <a:avLst/>
          </a:prstGeom>
          <a:noFill/>
          <a:ln w="9525">
            <a:noFill/>
          </a:ln>
        </p:spPr>
        <p:txBody>
          <a:bodyPr anchor="t">
            <a:spAutoFit/>
          </a:bodyPr>
          <a:lstStyle/>
          <a:p>
            <a:pPr>
              <a:buClr>
                <a:schemeClr val="bg1"/>
              </a:buClr>
            </a:pPr>
            <a:r>
              <a:rPr lang="zh-CN" altLang="en-US" sz="3200" b="1" dirty="0" smtClean="0">
                <a:solidFill>
                  <a:schemeClr val="tx1"/>
                </a:solidFill>
                <a:latin typeface="Times New Roman" panose="02020603050405020304" pitchFamily="18" charset="0"/>
              </a:rPr>
              <a:t>   （</a:t>
            </a:r>
            <a:r>
              <a:rPr lang="en-US" altLang="zh-CN" sz="3200" b="1" dirty="0">
                <a:solidFill>
                  <a:schemeClr val="tx1"/>
                </a:solidFill>
                <a:latin typeface="Times New Roman" panose="02020603050405020304" pitchFamily="18" charset="0"/>
              </a:rPr>
              <a:t>2</a:t>
            </a:r>
            <a:r>
              <a:rPr lang="zh-CN" altLang="en-US" sz="3200" b="1" dirty="0">
                <a:solidFill>
                  <a:schemeClr val="tx1"/>
                </a:solidFill>
                <a:latin typeface="Times New Roman" panose="02020603050405020304" pitchFamily="18" charset="0"/>
              </a:rPr>
              <a:t>）</a:t>
            </a:r>
            <a:r>
              <a:rPr lang="zh-CN" altLang="en-US" sz="3200" b="1" dirty="0">
                <a:solidFill>
                  <a:srgbClr val="0000FF"/>
                </a:solidFill>
                <a:latin typeface="Times New Roman" panose="02020603050405020304" pitchFamily="18" charset="0"/>
                <a:ea typeface="楷体_GB2312" pitchFamily="49" charset="-122"/>
              </a:rPr>
              <a:t>盐析</a:t>
            </a:r>
            <a:r>
              <a:rPr lang="en-US" altLang="zh-CN" sz="3200" b="1" dirty="0">
                <a:solidFill>
                  <a:schemeClr val="tx1"/>
                </a:solidFill>
                <a:latin typeface="Times New Roman" panose="02020603050405020304" pitchFamily="18" charset="0"/>
                <a:ea typeface="楷体_GB2312" pitchFamily="49" charset="-122"/>
              </a:rPr>
              <a:t>—</a:t>
            </a:r>
            <a:r>
              <a:rPr lang="zh-CN" altLang="en-US" sz="3200" b="1" dirty="0">
                <a:solidFill>
                  <a:schemeClr val="tx1"/>
                </a:solidFill>
                <a:latin typeface="Times New Roman" panose="02020603050405020304" pitchFamily="18" charset="0"/>
                <a:ea typeface="楷体_GB2312" pitchFamily="49" charset="-122"/>
              </a:rPr>
              <a:t>蛋白质溶液</a:t>
            </a:r>
          </a:p>
        </p:txBody>
      </p:sp>
      <p:sp>
        <p:nvSpPr>
          <p:cNvPr id="410629" name="直接连接符 410628"/>
          <p:cNvSpPr/>
          <p:nvPr/>
        </p:nvSpPr>
        <p:spPr>
          <a:xfrm>
            <a:off x="5076825" y="4725988"/>
            <a:ext cx="2895600" cy="0"/>
          </a:xfrm>
          <a:prstGeom prst="line">
            <a:avLst/>
          </a:prstGeom>
          <a:ln w="28575" cap="flat" cmpd="sng">
            <a:solidFill>
              <a:schemeClr val="tx1"/>
            </a:solidFill>
            <a:prstDash val="solid"/>
            <a:round/>
            <a:headEnd type="none" w="med" len="med"/>
            <a:tailEnd type="triangle" w="med" len="med"/>
          </a:ln>
        </p:spPr>
      </p:sp>
      <p:sp>
        <p:nvSpPr>
          <p:cNvPr id="410630" name="文本框 410629"/>
          <p:cNvSpPr txBox="1"/>
          <p:nvPr/>
        </p:nvSpPr>
        <p:spPr>
          <a:xfrm>
            <a:off x="5347970" y="4155758"/>
            <a:ext cx="2735263" cy="457200"/>
          </a:xfrm>
          <a:prstGeom prst="rect">
            <a:avLst/>
          </a:prstGeom>
          <a:noFill/>
          <a:ln w="9525">
            <a:noFill/>
          </a:ln>
        </p:spPr>
        <p:txBody>
          <a:bodyPr anchor="t">
            <a:spAutoFit/>
          </a:bodyPr>
          <a:lstStyle/>
          <a:p>
            <a:pPr>
              <a:buClr>
                <a:schemeClr val="bg1"/>
              </a:buClr>
            </a:pPr>
            <a:r>
              <a:rPr lang="zh-CN" altLang="en-US" sz="2400" b="1" dirty="0">
                <a:solidFill>
                  <a:schemeClr val="tx1"/>
                </a:solidFill>
                <a:latin typeface="Times New Roman" panose="02020603050405020304" pitchFamily="18" charset="0"/>
                <a:ea typeface="楷体_GB2312" pitchFamily="49" charset="-122"/>
              </a:rPr>
              <a:t>加入浓无机盐溶液</a:t>
            </a:r>
          </a:p>
        </p:txBody>
      </p:sp>
      <p:sp>
        <p:nvSpPr>
          <p:cNvPr id="410631" name="文本框 410630"/>
          <p:cNvSpPr txBox="1"/>
          <p:nvPr/>
        </p:nvSpPr>
        <p:spPr>
          <a:xfrm>
            <a:off x="4932363" y="5516563"/>
            <a:ext cx="2590800" cy="1077218"/>
          </a:xfrm>
          <a:prstGeom prst="rect">
            <a:avLst/>
          </a:prstGeom>
          <a:noFill/>
          <a:ln w="9525">
            <a:noFill/>
          </a:ln>
        </p:spPr>
        <p:txBody>
          <a:bodyPr anchor="t">
            <a:spAutoFit/>
          </a:bodyPr>
          <a:lstStyle/>
          <a:p>
            <a:pPr algn="ctr">
              <a:buClr>
                <a:schemeClr val="bg1"/>
              </a:buClr>
            </a:pPr>
            <a:r>
              <a:rPr lang="zh-CN" altLang="en-US" sz="3200" b="1" dirty="0">
                <a:solidFill>
                  <a:schemeClr val="tx1"/>
                </a:solidFill>
                <a:latin typeface="Times New Roman" panose="02020603050405020304" pitchFamily="18" charset="0"/>
                <a:ea typeface="楷体_GB2312" pitchFamily="49" charset="-122"/>
              </a:rPr>
              <a:t>蛋白质析出</a:t>
            </a:r>
          </a:p>
          <a:p>
            <a:pPr algn="ctr">
              <a:buClr>
                <a:schemeClr val="bg1"/>
              </a:buClr>
            </a:pPr>
            <a:r>
              <a:rPr lang="zh-CN" altLang="en-US" sz="3200" b="1" u="sng" dirty="0">
                <a:solidFill>
                  <a:schemeClr val="tx1"/>
                </a:solidFill>
                <a:latin typeface="Times New Roman" panose="02020603050405020304" pitchFamily="18" charset="0"/>
              </a:rPr>
              <a:t>（</a:t>
            </a:r>
            <a:r>
              <a:rPr lang="zh-CN" altLang="en-US" sz="3200" b="1" u="sng" dirty="0">
                <a:solidFill>
                  <a:schemeClr val="tx1"/>
                </a:solidFill>
                <a:latin typeface="Times New Roman" panose="02020603050405020304" pitchFamily="18" charset="0"/>
                <a:ea typeface="楷体_GB2312" pitchFamily="49" charset="-122"/>
              </a:rPr>
              <a:t>盐析</a:t>
            </a:r>
            <a:r>
              <a:rPr lang="zh-CN" altLang="en-US" sz="3200" b="1" u="sng" dirty="0">
                <a:solidFill>
                  <a:schemeClr val="tx1"/>
                </a:solidFill>
                <a:latin typeface="Times New Roman" panose="02020603050405020304" pitchFamily="18" charset="0"/>
              </a:rPr>
              <a:t>）</a:t>
            </a:r>
          </a:p>
        </p:txBody>
      </p:sp>
      <p:sp>
        <p:nvSpPr>
          <p:cNvPr id="410632" name="直接连接符 410631"/>
          <p:cNvSpPr/>
          <p:nvPr/>
        </p:nvSpPr>
        <p:spPr>
          <a:xfrm flipH="1">
            <a:off x="5076825" y="4870450"/>
            <a:ext cx="2819400" cy="0"/>
          </a:xfrm>
          <a:prstGeom prst="line">
            <a:avLst/>
          </a:prstGeom>
          <a:ln w="28575" cap="flat" cmpd="sng">
            <a:solidFill>
              <a:schemeClr val="tx1"/>
            </a:solidFill>
            <a:prstDash val="solid"/>
            <a:round/>
            <a:headEnd type="none" w="med" len="med"/>
            <a:tailEnd type="triangle" w="med" len="med"/>
          </a:ln>
        </p:spPr>
      </p:sp>
      <p:sp>
        <p:nvSpPr>
          <p:cNvPr id="410633" name="文本框 410632"/>
          <p:cNvSpPr txBox="1"/>
          <p:nvPr/>
        </p:nvSpPr>
        <p:spPr>
          <a:xfrm>
            <a:off x="5653088" y="4916488"/>
            <a:ext cx="1295400" cy="457200"/>
          </a:xfrm>
          <a:prstGeom prst="rect">
            <a:avLst/>
          </a:prstGeom>
          <a:noFill/>
          <a:ln w="9525">
            <a:noFill/>
          </a:ln>
        </p:spPr>
        <p:txBody>
          <a:bodyPr anchor="t">
            <a:spAutoFit/>
          </a:bodyPr>
          <a:lstStyle/>
          <a:p>
            <a:pPr>
              <a:buClr>
                <a:schemeClr val="bg1"/>
              </a:buClr>
            </a:pPr>
            <a:r>
              <a:rPr lang="zh-CN" altLang="en-US" sz="2400" b="1">
                <a:solidFill>
                  <a:srgbClr val="FFFF00"/>
                </a:solidFill>
                <a:latin typeface="Times New Roman" panose="02020603050405020304" pitchFamily="18" charset="0"/>
              </a:rPr>
              <a:t>    </a:t>
            </a:r>
            <a:r>
              <a:rPr lang="zh-CN" altLang="en-US" sz="2400" b="1" dirty="0">
                <a:solidFill>
                  <a:schemeClr val="tx1"/>
                </a:solidFill>
                <a:latin typeface="楷体_GB2312" pitchFamily="49" charset="-122"/>
                <a:ea typeface="楷体_GB2312" pitchFamily="49" charset="-122"/>
              </a:rPr>
              <a:t>加水</a:t>
            </a:r>
            <a:r>
              <a:rPr lang="zh-CN" altLang="en-US" sz="2400" b="1" dirty="0">
                <a:solidFill>
                  <a:schemeClr val="hlink"/>
                </a:solidFill>
                <a:latin typeface="楷体_GB2312" pitchFamily="49" charset="-122"/>
                <a:ea typeface="楷体_GB2312" pitchFamily="49" charset="-122"/>
              </a:rPr>
              <a:t> </a:t>
            </a:r>
            <a:endParaRPr lang="zh-CN" altLang="en-US" sz="2400" b="1">
              <a:solidFill>
                <a:schemeClr val="hlink"/>
              </a:solidFill>
              <a:latin typeface="楷体_GB2312" pitchFamily="49" charset="-122"/>
              <a:ea typeface="楷体_GB2312" pitchFamily="49" charset="-122"/>
            </a:endParaRPr>
          </a:p>
        </p:txBody>
      </p:sp>
      <p:sp>
        <p:nvSpPr>
          <p:cNvPr id="410634" name="矩形 410633"/>
          <p:cNvSpPr/>
          <p:nvPr/>
        </p:nvSpPr>
        <p:spPr>
          <a:xfrm>
            <a:off x="323850" y="2097088"/>
            <a:ext cx="6048375" cy="854075"/>
          </a:xfrm>
          <a:prstGeom prst="rect">
            <a:avLst/>
          </a:prstGeom>
          <a:noFill/>
          <a:ln w="9525">
            <a:noFill/>
          </a:ln>
        </p:spPr>
        <p:txBody>
          <a:bodyPr anchor="ctr">
            <a:spAutoFit/>
          </a:bodyPr>
          <a:lstStyle/>
          <a:p>
            <a:pPr algn="ctr"/>
            <a:r>
              <a:rPr lang="zh-CN" altLang="en-US" sz="4800" b="1" dirty="0">
                <a:solidFill>
                  <a:schemeClr val="tx2"/>
                </a:solidFill>
                <a:latin typeface="Arial" panose="020B0604020202020204" pitchFamily="34" charset="0"/>
                <a:ea typeface="楷体_GB2312" pitchFamily="49" charset="-122"/>
              </a:rPr>
              <a:t>蛋白质的性质</a:t>
            </a:r>
          </a:p>
        </p:txBody>
      </p:sp>
      <p:sp>
        <p:nvSpPr>
          <p:cNvPr id="18442" name="灯片编号占位符 1"/>
          <p:cNvSpPr>
            <a:spLocks noGrp="1"/>
          </p:cNvSpPr>
          <p:nvPr>
            <p:ph type="sldNum" sz="quarter" idx="11"/>
          </p:nvPr>
        </p:nvSpPr>
        <p:spPr>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400" dirty="0"/>
              <a:pPr lvl="0" indent="0" algn="r"/>
              <a:t>17</a:t>
            </a:fld>
            <a:endParaRPr lang="zh-CN" altLang="en-US" sz="14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10626">
                                            <p:txEl>
                                              <p:pRg st="0" end="0"/>
                                            </p:txEl>
                                          </p:spTgt>
                                        </p:tgtEl>
                                        <p:attrNameLst>
                                          <p:attrName>style.visibility</p:attrName>
                                        </p:attrNameLst>
                                      </p:cBhvr>
                                      <p:to>
                                        <p:strVal val="visible"/>
                                      </p:to>
                                    </p:set>
                                    <p:animEffect transition="in" filter="blinds(horizontal)">
                                      <p:cBhvr>
                                        <p:cTn id="7" dur="500"/>
                                        <p:tgtEl>
                                          <p:spTgt spid="41062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10634"/>
                                        </p:tgtEl>
                                        <p:attrNameLst>
                                          <p:attrName>style.visibility</p:attrName>
                                        </p:attrNameLst>
                                      </p:cBhvr>
                                      <p:to>
                                        <p:strVal val="visible"/>
                                      </p:to>
                                    </p:set>
                                    <p:animEffect transition="in" filter="blinds(horizontal)">
                                      <p:cBhvr>
                                        <p:cTn id="12" dur="500"/>
                                        <p:tgtEl>
                                          <p:spTgt spid="410634"/>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410627"/>
                                        </p:tgtEl>
                                        <p:attrNameLst>
                                          <p:attrName>style.visibility</p:attrName>
                                        </p:attrNameLst>
                                      </p:cBhvr>
                                      <p:to>
                                        <p:strVal val="visible"/>
                                      </p:to>
                                    </p:set>
                                    <p:anim calcmode="lin" valueType="num">
                                      <p:cBhvr additive="base">
                                        <p:cTn id="17" dur="500" fill="hold"/>
                                        <p:tgtEl>
                                          <p:spTgt spid="410627"/>
                                        </p:tgtEl>
                                        <p:attrNameLst>
                                          <p:attrName>ppt_x</p:attrName>
                                        </p:attrNameLst>
                                      </p:cBhvr>
                                      <p:tavLst>
                                        <p:tav tm="0">
                                          <p:val>
                                            <p:strVal val="0-#ppt_w/2"/>
                                          </p:val>
                                        </p:tav>
                                        <p:tav tm="100000">
                                          <p:val>
                                            <p:strVal val="#ppt_x"/>
                                          </p:val>
                                        </p:tav>
                                      </p:tavLst>
                                    </p:anim>
                                    <p:anim calcmode="lin" valueType="num">
                                      <p:cBhvr additive="base">
                                        <p:cTn id="18" dur="500" fill="hold"/>
                                        <p:tgtEl>
                                          <p:spTgt spid="410627"/>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410628"/>
                                        </p:tgtEl>
                                        <p:attrNameLst>
                                          <p:attrName>style.visibility</p:attrName>
                                        </p:attrNameLst>
                                      </p:cBhvr>
                                      <p:to>
                                        <p:strVal val="visible"/>
                                      </p:to>
                                    </p:set>
                                    <p:anim calcmode="lin" valueType="num">
                                      <p:cBhvr additive="base">
                                        <p:cTn id="23" dur="500" fill="hold"/>
                                        <p:tgtEl>
                                          <p:spTgt spid="410628"/>
                                        </p:tgtEl>
                                        <p:attrNameLst>
                                          <p:attrName>ppt_x</p:attrName>
                                        </p:attrNameLst>
                                      </p:cBhvr>
                                      <p:tavLst>
                                        <p:tav tm="0">
                                          <p:val>
                                            <p:strVal val="0-#ppt_w/2"/>
                                          </p:val>
                                        </p:tav>
                                        <p:tav tm="100000">
                                          <p:val>
                                            <p:strVal val="#ppt_x"/>
                                          </p:val>
                                        </p:tav>
                                      </p:tavLst>
                                    </p:anim>
                                    <p:anim calcmode="lin" valueType="num">
                                      <p:cBhvr additive="base">
                                        <p:cTn id="24" dur="500" fill="hold"/>
                                        <p:tgtEl>
                                          <p:spTgt spid="410628"/>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410630"/>
                                        </p:tgtEl>
                                        <p:attrNameLst>
                                          <p:attrName>style.visibility</p:attrName>
                                        </p:attrNameLst>
                                      </p:cBhvr>
                                      <p:to>
                                        <p:strVal val="visible"/>
                                      </p:to>
                                    </p:set>
                                    <p:anim calcmode="lin" valueType="num">
                                      <p:cBhvr additive="base">
                                        <p:cTn id="29" dur="500" fill="hold"/>
                                        <p:tgtEl>
                                          <p:spTgt spid="410630"/>
                                        </p:tgtEl>
                                        <p:attrNameLst>
                                          <p:attrName>ppt_x</p:attrName>
                                        </p:attrNameLst>
                                      </p:cBhvr>
                                      <p:tavLst>
                                        <p:tav tm="0">
                                          <p:val>
                                            <p:strVal val="0-#ppt_w/2"/>
                                          </p:val>
                                        </p:tav>
                                        <p:tav tm="100000">
                                          <p:val>
                                            <p:strVal val="#ppt_x"/>
                                          </p:val>
                                        </p:tav>
                                      </p:tavLst>
                                    </p:anim>
                                    <p:anim calcmode="lin" valueType="num">
                                      <p:cBhvr additive="base">
                                        <p:cTn id="30" dur="500" fill="hold"/>
                                        <p:tgtEl>
                                          <p:spTgt spid="410630"/>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nodeType="clickEffect">
                                  <p:stCondLst>
                                    <p:cond delay="0"/>
                                  </p:stCondLst>
                                  <p:childTnLst>
                                    <p:set>
                                      <p:cBhvr>
                                        <p:cTn id="34" dur="1" fill="hold">
                                          <p:stCondLst>
                                            <p:cond delay="0"/>
                                          </p:stCondLst>
                                        </p:cTn>
                                        <p:tgtEl>
                                          <p:spTgt spid="410629"/>
                                        </p:tgtEl>
                                        <p:attrNameLst>
                                          <p:attrName>style.visibility</p:attrName>
                                        </p:attrNameLst>
                                      </p:cBhvr>
                                      <p:to>
                                        <p:strVal val="visible"/>
                                      </p:to>
                                    </p:set>
                                    <p:anim calcmode="lin" valueType="num">
                                      <p:cBhvr additive="base">
                                        <p:cTn id="35" dur="500" fill="hold"/>
                                        <p:tgtEl>
                                          <p:spTgt spid="410629"/>
                                        </p:tgtEl>
                                        <p:attrNameLst>
                                          <p:attrName>ppt_x</p:attrName>
                                        </p:attrNameLst>
                                      </p:cBhvr>
                                      <p:tavLst>
                                        <p:tav tm="0">
                                          <p:val>
                                            <p:strVal val="0-#ppt_w/2"/>
                                          </p:val>
                                        </p:tav>
                                        <p:tav tm="100000">
                                          <p:val>
                                            <p:strVal val="#ppt_x"/>
                                          </p:val>
                                        </p:tav>
                                      </p:tavLst>
                                    </p:anim>
                                    <p:anim calcmode="lin" valueType="num">
                                      <p:cBhvr additive="base">
                                        <p:cTn id="36" dur="500" fill="hold"/>
                                        <p:tgtEl>
                                          <p:spTgt spid="410629"/>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410631"/>
                                        </p:tgtEl>
                                        <p:attrNameLst>
                                          <p:attrName>style.visibility</p:attrName>
                                        </p:attrNameLst>
                                      </p:cBhvr>
                                      <p:to>
                                        <p:strVal val="visible"/>
                                      </p:to>
                                    </p:set>
                                    <p:anim calcmode="lin" valueType="num">
                                      <p:cBhvr additive="base">
                                        <p:cTn id="41" dur="500" fill="hold"/>
                                        <p:tgtEl>
                                          <p:spTgt spid="410631"/>
                                        </p:tgtEl>
                                        <p:attrNameLst>
                                          <p:attrName>ppt_x</p:attrName>
                                        </p:attrNameLst>
                                      </p:cBhvr>
                                      <p:tavLst>
                                        <p:tav tm="0">
                                          <p:val>
                                            <p:strVal val="0-#ppt_w/2"/>
                                          </p:val>
                                        </p:tav>
                                        <p:tav tm="100000">
                                          <p:val>
                                            <p:strVal val="#ppt_x"/>
                                          </p:val>
                                        </p:tav>
                                      </p:tavLst>
                                    </p:anim>
                                    <p:anim calcmode="lin" valueType="num">
                                      <p:cBhvr additive="base">
                                        <p:cTn id="42" dur="500" fill="hold"/>
                                        <p:tgtEl>
                                          <p:spTgt spid="410631"/>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8" fill="hold" nodeType="clickEffect">
                                  <p:stCondLst>
                                    <p:cond delay="0"/>
                                  </p:stCondLst>
                                  <p:childTnLst>
                                    <p:set>
                                      <p:cBhvr>
                                        <p:cTn id="46" dur="1" fill="hold">
                                          <p:stCondLst>
                                            <p:cond delay="0"/>
                                          </p:stCondLst>
                                        </p:cTn>
                                        <p:tgtEl>
                                          <p:spTgt spid="410632"/>
                                        </p:tgtEl>
                                        <p:attrNameLst>
                                          <p:attrName>style.visibility</p:attrName>
                                        </p:attrNameLst>
                                      </p:cBhvr>
                                      <p:to>
                                        <p:strVal val="visible"/>
                                      </p:to>
                                    </p:set>
                                    <p:anim calcmode="lin" valueType="num">
                                      <p:cBhvr additive="base">
                                        <p:cTn id="47" dur="500" fill="hold"/>
                                        <p:tgtEl>
                                          <p:spTgt spid="410632"/>
                                        </p:tgtEl>
                                        <p:attrNameLst>
                                          <p:attrName>ppt_x</p:attrName>
                                        </p:attrNameLst>
                                      </p:cBhvr>
                                      <p:tavLst>
                                        <p:tav tm="0">
                                          <p:val>
                                            <p:strVal val="0-#ppt_w/2"/>
                                          </p:val>
                                        </p:tav>
                                        <p:tav tm="100000">
                                          <p:val>
                                            <p:strVal val="#ppt_x"/>
                                          </p:val>
                                        </p:tav>
                                      </p:tavLst>
                                    </p:anim>
                                    <p:anim calcmode="lin" valueType="num">
                                      <p:cBhvr additive="base">
                                        <p:cTn id="48" dur="500" fill="hold"/>
                                        <p:tgtEl>
                                          <p:spTgt spid="410632"/>
                                        </p:tgtEl>
                                        <p:attrNameLst>
                                          <p:attrName>ppt_y</p:attrName>
                                        </p:attrNameLst>
                                      </p:cBhvr>
                                      <p:tavLst>
                                        <p:tav tm="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8" fill="hold" grpId="0" nodeType="clickEffect">
                                  <p:stCondLst>
                                    <p:cond delay="0"/>
                                  </p:stCondLst>
                                  <p:childTnLst>
                                    <p:set>
                                      <p:cBhvr>
                                        <p:cTn id="52" dur="1" fill="hold">
                                          <p:stCondLst>
                                            <p:cond delay="0"/>
                                          </p:stCondLst>
                                        </p:cTn>
                                        <p:tgtEl>
                                          <p:spTgt spid="410633"/>
                                        </p:tgtEl>
                                        <p:attrNameLst>
                                          <p:attrName>style.visibility</p:attrName>
                                        </p:attrNameLst>
                                      </p:cBhvr>
                                      <p:to>
                                        <p:strVal val="visible"/>
                                      </p:to>
                                    </p:set>
                                    <p:anim calcmode="lin" valueType="num">
                                      <p:cBhvr additive="base">
                                        <p:cTn id="53" dur="500" fill="hold"/>
                                        <p:tgtEl>
                                          <p:spTgt spid="410633"/>
                                        </p:tgtEl>
                                        <p:attrNameLst>
                                          <p:attrName>ppt_x</p:attrName>
                                        </p:attrNameLst>
                                      </p:cBhvr>
                                      <p:tavLst>
                                        <p:tav tm="0">
                                          <p:val>
                                            <p:strVal val="0-#ppt_w/2"/>
                                          </p:val>
                                        </p:tav>
                                        <p:tav tm="100000">
                                          <p:val>
                                            <p:strVal val="#ppt_x"/>
                                          </p:val>
                                        </p:tav>
                                      </p:tavLst>
                                    </p:anim>
                                    <p:anim calcmode="lin" valueType="num">
                                      <p:cBhvr additive="base">
                                        <p:cTn id="54" dur="500" fill="hold"/>
                                        <p:tgtEl>
                                          <p:spTgt spid="41063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626" grpId="0" build="p"/>
      <p:bldP spid="410627" grpId="0"/>
      <p:bldP spid="410628" grpId="0"/>
      <p:bldP spid="410630" grpId="0"/>
      <p:bldP spid="410631" grpId="0"/>
      <p:bldP spid="410633" grpId="0"/>
      <p:bldP spid="41063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50" name="文本框 411649"/>
          <p:cNvSpPr txBox="1"/>
          <p:nvPr/>
        </p:nvSpPr>
        <p:spPr>
          <a:xfrm>
            <a:off x="107950" y="980728"/>
            <a:ext cx="8964613" cy="1508105"/>
          </a:xfrm>
          <a:prstGeom prst="rect">
            <a:avLst/>
          </a:prstGeom>
          <a:noFill/>
          <a:ln w="9525">
            <a:noFill/>
          </a:ln>
        </p:spPr>
        <p:txBody>
          <a:bodyPr anchor="t">
            <a:spAutoFit/>
          </a:bodyPr>
          <a:lstStyle/>
          <a:p>
            <a:pPr>
              <a:buClr>
                <a:schemeClr val="bg1"/>
              </a:buClr>
            </a:pPr>
            <a:r>
              <a:rPr lang="zh-CN" altLang="en-US" sz="2800" b="1" dirty="0" smtClean="0">
                <a:solidFill>
                  <a:schemeClr val="tx1"/>
                </a:solidFill>
                <a:latin typeface="楷体_GB2312" pitchFamily="49" charset="-122"/>
                <a:ea typeface="楷体_GB2312" pitchFamily="49" charset="-122"/>
              </a:rPr>
              <a:t>   （</a:t>
            </a:r>
            <a:r>
              <a:rPr lang="en-US" altLang="zh-CN" sz="2800" b="1" dirty="0">
                <a:solidFill>
                  <a:schemeClr val="tx1"/>
                </a:solidFill>
                <a:latin typeface="楷体_GB2312" pitchFamily="49" charset="-122"/>
                <a:ea typeface="楷体_GB2312" pitchFamily="49" charset="-122"/>
              </a:rPr>
              <a:t>3</a:t>
            </a:r>
            <a:r>
              <a:rPr lang="zh-CN" altLang="en-US" sz="2800" b="1" dirty="0">
                <a:solidFill>
                  <a:schemeClr val="tx1"/>
                </a:solidFill>
                <a:latin typeface="楷体_GB2312" pitchFamily="49" charset="-122"/>
                <a:ea typeface="楷体_GB2312" pitchFamily="49" charset="-122"/>
              </a:rPr>
              <a:t>）</a:t>
            </a:r>
            <a:r>
              <a:rPr lang="zh-CN" altLang="en-US" sz="2800" b="1" dirty="0">
                <a:solidFill>
                  <a:srgbClr val="0000FF"/>
                </a:solidFill>
                <a:latin typeface="楷体_GB2312" pitchFamily="49" charset="-122"/>
                <a:ea typeface="楷体_GB2312" pitchFamily="49" charset="-122"/>
              </a:rPr>
              <a:t>变性</a:t>
            </a:r>
            <a:r>
              <a:rPr lang="en-US" altLang="zh-CN" sz="2800" b="1" dirty="0">
                <a:solidFill>
                  <a:schemeClr val="tx1"/>
                </a:solidFill>
                <a:latin typeface="Times New Roman" panose="02020603050405020304" pitchFamily="18" charset="0"/>
                <a:ea typeface="楷体_GB2312" pitchFamily="49" charset="-122"/>
              </a:rPr>
              <a:t>—</a:t>
            </a:r>
            <a:r>
              <a:rPr lang="en-US" altLang="zh-CN" sz="2800" b="1" dirty="0">
                <a:solidFill>
                  <a:schemeClr val="tx1"/>
                </a:solidFill>
                <a:latin typeface="楷体_GB2312" pitchFamily="49" charset="-122"/>
                <a:ea typeface="楷体_GB2312" pitchFamily="49" charset="-122"/>
              </a:rPr>
              <a:t> </a:t>
            </a:r>
            <a:r>
              <a:rPr lang="zh-CN" altLang="en-US" sz="2800" b="1" dirty="0">
                <a:solidFill>
                  <a:schemeClr val="tx1"/>
                </a:solidFill>
                <a:latin typeface="楷体_GB2312" pitchFamily="49" charset="-122"/>
                <a:ea typeface="楷体_GB2312" pitchFamily="49" charset="-122"/>
              </a:rPr>
              <a:t>在热、酸、碱、重金属盐、甲醛、酒精等作用下，蛋白质发生性质上的改变而凝结，这样的凝结不可逆，这种变化叫</a:t>
            </a:r>
            <a:r>
              <a:rPr lang="zh-CN" altLang="en-US" sz="2800" b="1" u="sng" dirty="0">
                <a:solidFill>
                  <a:srgbClr val="0000FF"/>
                </a:solidFill>
                <a:latin typeface="楷体_GB2312" pitchFamily="49" charset="-122"/>
                <a:ea typeface="楷体_GB2312" pitchFamily="49" charset="-122"/>
              </a:rPr>
              <a:t>变性</a:t>
            </a:r>
            <a:r>
              <a:rPr lang="zh-CN" altLang="en-US" sz="2800" b="1" dirty="0" smtClean="0">
                <a:solidFill>
                  <a:schemeClr val="hlink"/>
                </a:solidFill>
                <a:latin typeface="楷体_GB2312" pitchFamily="49" charset="-122"/>
                <a:ea typeface="楷体_GB2312" pitchFamily="49" charset="-122"/>
              </a:rPr>
              <a:t>。</a:t>
            </a:r>
            <a:r>
              <a:rPr lang="zh-CN" altLang="en-US" sz="3600" b="1" dirty="0" smtClean="0">
                <a:solidFill>
                  <a:srgbClr val="FFFF00"/>
                </a:solidFill>
                <a:latin typeface="Times New Roman" panose="02020603050405020304" pitchFamily="18" charset="0"/>
              </a:rPr>
              <a:t>               </a:t>
            </a:r>
            <a:endParaRPr lang="zh-CN" altLang="en-US" sz="3600" b="1" dirty="0">
              <a:solidFill>
                <a:srgbClr val="FFFF00"/>
              </a:solidFill>
              <a:latin typeface="Times New Roman" panose="02020603050405020304" pitchFamily="18" charset="0"/>
            </a:endParaRPr>
          </a:p>
        </p:txBody>
      </p:sp>
      <p:sp>
        <p:nvSpPr>
          <p:cNvPr id="411651" name="文本框 411650"/>
          <p:cNvSpPr txBox="1"/>
          <p:nvPr/>
        </p:nvSpPr>
        <p:spPr>
          <a:xfrm>
            <a:off x="107950" y="2768600"/>
            <a:ext cx="9036050" cy="1384995"/>
          </a:xfrm>
          <a:prstGeom prst="rect">
            <a:avLst/>
          </a:prstGeom>
          <a:noFill/>
          <a:ln w="9525">
            <a:noFill/>
          </a:ln>
        </p:spPr>
        <p:txBody>
          <a:bodyPr anchor="t">
            <a:spAutoFit/>
          </a:bodyPr>
          <a:lstStyle/>
          <a:p>
            <a:pPr>
              <a:buClr>
                <a:schemeClr val="bg1"/>
              </a:buClr>
            </a:pPr>
            <a:r>
              <a:rPr lang="zh-CN" altLang="en-US" sz="2800" b="1" dirty="0" smtClean="0">
                <a:solidFill>
                  <a:schemeClr val="tx1"/>
                </a:solidFill>
                <a:latin typeface="楷体_GB2312" pitchFamily="49" charset="-122"/>
                <a:ea typeface="楷体_GB2312" pitchFamily="49" charset="-122"/>
              </a:rPr>
              <a:t>   （</a:t>
            </a:r>
            <a:r>
              <a:rPr lang="en-US" altLang="zh-CN" sz="2800" b="1" dirty="0">
                <a:solidFill>
                  <a:schemeClr val="tx1"/>
                </a:solidFill>
                <a:latin typeface="楷体_GB2312" pitchFamily="49" charset="-122"/>
                <a:ea typeface="楷体_GB2312" pitchFamily="49" charset="-122"/>
              </a:rPr>
              <a:t>4</a:t>
            </a:r>
            <a:r>
              <a:rPr lang="zh-CN" altLang="en-US" sz="2800" b="1" dirty="0">
                <a:solidFill>
                  <a:schemeClr val="tx1"/>
                </a:solidFill>
                <a:latin typeface="楷体_GB2312" pitchFamily="49" charset="-122"/>
                <a:ea typeface="楷体_GB2312" pitchFamily="49" charset="-122"/>
              </a:rPr>
              <a:t>）</a:t>
            </a:r>
            <a:r>
              <a:rPr lang="zh-CN" altLang="en-US" sz="2800" b="1" dirty="0">
                <a:solidFill>
                  <a:srgbClr val="0000FF"/>
                </a:solidFill>
                <a:latin typeface="楷体_GB2312" pitchFamily="49" charset="-122"/>
                <a:ea typeface="楷体_GB2312" pitchFamily="49" charset="-122"/>
              </a:rPr>
              <a:t>颜色</a:t>
            </a:r>
            <a:r>
              <a:rPr lang="zh-CN" altLang="en-US" sz="2800" b="1" u="sng" dirty="0">
                <a:solidFill>
                  <a:schemeClr val="tx1"/>
                </a:solidFill>
                <a:latin typeface="楷体_GB2312" pitchFamily="49" charset="-122"/>
                <a:ea typeface="楷体_GB2312" pitchFamily="49" charset="-122"/>
              </a:rPr>
              <a:t>反应</a:t>
            </a:r>
            <a:r>
              <a:rPr lang="en-US" altLang="zh-CN" sz="2800" b="1" dirty="0">
                <a:solidFill>
                  <a:schemeClr val="tx1"/>
                </a:solidFill>
                <a:latin typeface="Times New Roman" panose="02020603050405020304" pitchFamily="18" charset="0"/>
                <a:ea typeface="楷体_GB2312" pitchFamily="49" charset="-122"/>
              </a:rPr>
              <a:t>—</a:t>
            </a:r>
            <a:r>
              <a:rPr lang="en-US" altLang="zh-CN" sz="2800" b="1" dirty="0">
                <a:solidFill>
                  <a:schemeClr val="tx1"/>
                </a:solidFill>
                <a:latin typeface="楷体_GB2312" pitchFamily="49" charset="-122"/>
                <a:ea typeface="楷体_GB2312" pitchFamily="49" charset="-122"/>
              </a:rPr>
              <a:t> </a:t>
            </a:r>
            <a:r>
              <a:rPr lang="zh-CN" altLang="en-US" sz="2800" b="1" dirty="0">
                <a:solidFill>
                  <a:schemeClr val="tx1"/>
                </a:solidFill>
                <a:latin typeface="楷体_GB2312" pitchFamily="49" charset="-122"/>
                <a:ea typeface="楷体_GB2312" pitchFamily="49" charset="-122"/>
              </a:rPr>
              <a:t>许多蛋白质（并非所有）       可以和许多试剂起颜色反应。灼烧蛋白质放出烧焦羽毛的气味。</a:t>
            </a:r>
          </a:p>
        </p:txBody>
      </p:sp>
      <p:sp>
        <p:nvSpPr>
          <p:cNvPr id="411652" name="文本框 411651"/>
          <p:cNvSpPr txBox="1"/>
          <p:nvPr/>
        </p:nvSpPr>
        <p:spPr>
          <a:xfrm>
            <a:off x="36513" y="4307671"/>
            <a:ext cx="9036050" cy="954107"/>
          </a:xfrm>
          <a:prstGeom prst="rect">
            <a:avLst/>
          </a:prstGeom>
          <a:noFill/>
          <a:ln w="9525">
            <a:noFill/>
          </a:ln>
        </p:spPr>
        <p:txBody>
          <a:bodyPr anchor="t">
            <a:spAutoFit/>
          </a:bodyPr>
          <a:lstStyle/>
          <a:p>
            <a:pPr>
              <a:buClr>
                <a:schemeClr val="bg1"/>
              </a:buClr>
            </a:pPr>
            <a:r>
              <a:rPr lang="zh-CN" altLang="en-US" sz="2800" b="1" dirty="0" smtClean="0">
                <a:solidFill>
                  <a:schemeClr val="tx1"/>
                </a:solidFill>
                <a:latin typeface="楷体_GB2312" pitchFamily="49" charset="-122"/>
                <a:ea typeface="楷体_GB2312" pitchFamily="49" charset="-122"/>
              </a:rPr>
              <a:t>    （</a:t>
            </a:r>
            <a:r>
              <a:rPr lang="en-US" altLang="zh-CN" sz="2800" b="1" dirty="0">
                <a:solidFill>
                  <a:schemeClr val="tx1"/>
                </a:solidFill>
                <a:latin typeface="楷体_GB2312" pitchFamily="49" charset="-122"/>
                <a:ea typeface="楷体_GB2312" pitchFamily="49" charset="-122"/>
              </a:rPr>
              <a:t>5</a:t>
            </a:r>
            <a:r>
              <a:rPr lang="zh-CN" altLang="en-US" sz="2800" b="1" dirty="0">
                <a:solidFill>
                  <a:schemeClr val="tx1"/>
                </a:solidFill>
                <a:latin typeface="楷体_GB2312" pitchFamily="49" charset="-122"/>
                <a:ea typeface="楷体_GB2312" pitchFamily="49" charset="-122"/>
              </a:rPr>
              <a:t>）</a:t>
            </a:r>
            <a:r>
              <a:rPr lang="zh-CN" altLang="en-US" sz="2800" b="1" dirty="0">
                <a:solidFill>
                  <a:srgbClr val="0000FF"/>
                </a:solidFill>
                <a:latin typeface="楷体_GB2312" pitchFamily="49" charset="-122"/>
                <a:ea typeface="楷体_GB2312" pitchFamily="49" charset="-122"/>
              </a:rPr>
              <a:t>水解反应</a:t>
            </a:r>
            <a:r>
              <a:rPr lang="en-US" altLang="zh-CN" sz="2800" b="1" dirty="0">
                <a:solidFill>
                  <a:schemeClr val="tx1"/>
                </a:solidFill>
                <a:latin typeface="Times New Roman" panose="02020603050405020304" pitchFamily="18" charset="0"/>
                <a:ea typeface="楷体_GB2312" pitchFamily="49" charset="-122"/>
              </a:rPr>
              <a:t>—</a:t>
            </a:r>
            <a:r>
              <a:rPr lang="en-US" altLang="zh-CN" sz="2800" b="1" dirty="0">
                <a:solidFill>
                  <a:schemeClr val="tx1"/>
                </a:solidFill>
                <a:latin typeface="楷体_GB2312" pitchFamily="49" charset="-122"/>
                <a:ea typeface="楷体_GB2312" pitchFamily="49" charset="-122"/>
              </a:rPr>
              <a:t> </a:t>
            </a:r>
            <a:r>
              <a:rPr lang="zh-CN" altLang="en-US" sz="2800" b="1" dirty="0">
                <a:solidFill>
                  <a:schemeClr val="tx1"/>
                </a:solidFill>
                <a:latin typeface="楷体_GB2312" pitchFamily="49" charset="-122"/>
                <a:ea typeface="楷体_GB2312" pitchFamily="49" charset="-122"/>
              </a:rPr>
              <a:t>蛋白质可以在催化剂，如各种酶的作用下水解为氨基酸。</a:t>
            </a:r>
          </a:p>
        </p:txBody>
      </p:sp>
      <p:sp>
        <p:nvSpPr>
          <p:cNvPr id="19460" name="灯片编号占位符 1"/>
          <p:cNvSpPr>
            <a:spLocks noGrp="1"/>
          </p:cNvSpPr>
          <p:nvPr>
            <p:ph type="sldNum" sz="quarter" idx="11"/>
          </p:nvPr>
        </p:nvSpPr>
        <p:spPr>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400" dirty="0"/>
              <a:pPr lvl="0" indent="0" algn="r"/>
              <a:t>18</a:t>
            </a:fld>
            <a:endParaRPr lang="zh-CN" altLang="en-US" sz="14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11650">
                                            <p:txEl>
                                              <p:pRg st="0" end="0"/>
                                            </p:txEl>
                                          </p:spTgt>
                                        </p:tgtEl>
                                        <p:attrNameLst>
                                          <p:attrName>style.visibility</p:attrName>
                                        </p:attrNameLst>
                                      </p:cBhvr>
                                      <p:to>
                                        <p:strVal val="visible"/>
                                      </p:to>
                                    </p:set>
                                    <p:anim calcmode="lin" valueType="num">
                                      <p:cBhvr additive="base">
                                        <p:cTn id="7" dur="500" fill="hold"/>
                                        <p:tgtEl>
                                          <p:spTgt spid="41165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1165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11651">
                                            <p:txEl>
                                              <p:pRg st="0" end="0"/>
                                            </p:txEl>
                                          </p:spTgt>
                                        </p:tgtEl>
                                        <p:attrNameLst>
                                          <p:attrName>style.visibility</p:attrName>
                                        </p:attrNameLst>
                                      </p:cBhvr>
                                      <p:to>
                                        <p:strVal val="visible"/>
                                      </p:to>
                                    </p:set>
                                    <p:anim calcmode="lin" valueType="num">
                                      <p:cBhvr additive="base">
                                        <p:cTn id="13" dur="500" fill="hold"/>
                                        <p:tgtEl>
                                          <p:spTgt spid="411651">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1165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11652">
                                            <p:txEl>
                                              <p:pRg st="0" end="0"/>
                                            </p:txEl>
                                          </p:spTgt>
                                        </p:tgtEl>
                                        <p:attrNameLst>
                                          <p:attrName>style.visibility</p:attrName>
                                        </p:attrNameLst>
                                      </p:cBhvr>
                                      <p:to>
                                        <p:strVal val="visible"/>
                                      </p:to>
                                    </p:set>
                                    <p:anim calcmode="lin" valueType="num">
                                      <p:cBhvr additive="base">
                                        <p:cTn id="19" dur="500" fill="hold"/>
                                        <p:tgtEl>
                                          <p:spTgt spid="411652">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11652">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1650" grpId="0" build="p"/>
      <p:bldP spid="411651" grpId="0" build="p"/>
      <p:bldP spid="411652"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1" name="图片 434177" descr="蛋白质三级结构"/>
          <p:cNvPicPr>
            <a:picLocks noChangeAspect="1"/>
          </p:cNvPicPr>
          <p:nvPr/>
        </p:nvPicPr>
        <p:blipFill>
          <a:blip r:embed="rId2" cstate="print"/>
          <a:stretch>
            <a:fillRect/>
          </a:stretch>
        </p:blipFill>
        <p:spPr>
          <a:xfrm>
            <a:off x="0" y="0"/>
            <a:ext cx="5732463" cy="6092825"/>
          </a:xfrm>
          <a:prstGeom prst="rect">
            <a:avLst/>
          </a:prstGeom>
          <a:noFill/>
          <a:ln w="9525">
            <a:noFill/>
          </a:ln>
        </p:spPr>
      </p:pic>
      <p:sp>
        <p:nvSpPr>
          <p:cNvPr id="20482" name="文本框 434178"/>
          <p:cNvSpPr txBox="1"/>
          <p:nvPr/>
        </p:nvSpPr>
        <p:spPr>
          <a:xfrm>
            <a:off x="6842125" y="1077913"/>
            <a:ext cx="793750" cy="5230812"/>
          </a:xfrm>
          <a:prstGeom prst="rect">
            <a:avLst/>
          </a:prstGeom>
          <a:noFill/>
          <a:ln w="28575">
            <a:noFill/>
          </a:ln>
        </p:spPr>
        <p:txBody>
          <a:bodyPr vert="eaVert" anchor="t">
            <a:spAutoFit/>
          </a:bodyPr>
          <a:lstStyle/>
          <a:p>
            <a:pPr>
              <a:buClr>
                <a:schemeClr val="bg1"/>
              </a:buClr>
            </a:pPr>
            <a:r>
              <a:rPr lang="zh-CN" altLang="en-US" sz="4000" b="1" dirty="0">
                <a:solidFill>
                  <a:schemeClr val="tx1"/>
                </a:solidFill>
                <a:latin typeface="Times New Roman" panose="02020603050405020304" pitchFamily="18" charset="0"/>
              </a:rPr>
              <a:t>蛋白质的三级空间结构</a:t>
            </a:r>
          </a:p>
        </p:txBody>
      </p:sp>
      <p:sp>
        <p:nvSpPr>
          <p:cNvPr id="20483" name="灯片编号占位符 1"/>
          <p:cNvSpPr>
            <a:spLocks noGrp="1"/>
          </p:cNvSpPr>
          <p:nvPr>
            <p:ph type="sldNum" sz="quarter" idx="11"/>
          </p:nvPr>
        </p:nvSpPr>
        <p:spPr>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400" dirty="0"/>
              <a:pPr lvl="0" indent="0" algn="r"/>
              <a:t>19</a:t>
            </a:fld>
            <a:endParaRPr lang="zh-CN" altLang="en-US" sz="1400" dirty="0"/>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7" name="图片 123907" descr="结晶牛胰岛素"/>
          <p:cNvPicPr>
            <a:picLocks noChangeAspect="1"/>
          </p:cNvPicPr>
          <p:nvPr/>
        </p:nvPicPr>
        <p:blipFill>
          <a:blip r:embed="rId2" cstate="print"/>
          <a:stretch>
            <a:fillRect/>
          </a:stretch>
        </p:blipFill>
        <p:spPr>
          <a:xfrm>
            <a:off x="749846" y="274638"/>
            <a:ext cx="7936954" cy="5459412"/>
          </a:xfrm>
          <a:prstGeom prst="rect">
            <a:avLst/>
          </a:prstGeom>
          <a:noFill/>
          <a:ln w="9525">
            <a:noFill/>
          </a:ln>
        </p:spPr>
      </p:pic>
      <p:sp>
        <p:nvSpPr>
          <p:cNvPr id="21508" name="文本框 123908"/>
          <p:cNvSpPr txBox="1"/>
          <p:nvPr/>
        </p:nvSpPr>
        <p:spPr>
          <a:xfrm>
            <a:off x="1331913" y="5667375"/>
            <a:ext cx="6500812" cy="1190625"/>
          </a:xfrm>
          <a:prstGeom prst="rect">
            <a:avLst/>
          </a:prstGeom>
          <a:solidFill>
            <a:schemeClr val="bg1">
              <a:alpha val="77000"/>
            </a:schemeClr>
          </a:solidFill>
          <a:ln w="28575">
            <a:noFill/>
          </a:ln>
        </p:spPr>
        <p:txBody>
          <a:bodyPr anchor="t">
            <a:spAutoFit/>
          </a:bodyPr>
          <a:lstStyle/>
          <a:p>
            <a:pPr algn="ctr">
              <a:buClr>
                <a:schemeClr val="bg1"/>
              </a:buClr>
            </a:pPr>
            <a:r>
              <a:rPr lang="zh-CN" altLang="en-US" sz="3600" b="1" dirty="0">
                <a:solidFill>
                  <a:schemeClr val="tx1"/>
                </a:solidFill>
                <a:latin typeface="Times New Roman" panose="02020603050405020304" pitchFamily="18" charset="0"/>
                <a:ea typeface="楷体_GB2312" pitchFamily="49" charset="-122"/>
              </a:rPr>
              <a:t>我国在艰苦的年代于世界上率先合成了结晶牛胰岛素</a:t>
            </a:r>
          </a:p>
        </p:txBody>
      </p:sp>
      <p:sp>
        <p:nvSpPr>
          <p:cNvPr id="21509" name="灯片编号占位符 1"/>
          <p:cNvSpPr>
            <a:spLocks noGrp="1"/>
          </p:cNvSpPr>
          <p:nvPr>
            <p:ph type="sldNum" sz="quarter" idx="11"/>
          </p:nvPr>
        </p:nvSpPr>
        <p:spPr>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400" dirty="0"/>
              <a:pPr lvl="0" indent="0" algn="r"/>
              <a:t>20</a:t>
            </a:fld>
            <a:endParaRPr lang="zh-CN" altLang="en-US" sz="14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标题 414721"/>
          <p:cNvSpPr>
            <a:spLocks noGrp="1" noRot="1"/>
          </p:cNvSpPr>
          <p:nvPr>
            <p:ph type="title"/>
          </p:nvPr>
        </p:nvSpPr>
        <p:spPr>
          <a:ln/>
        </p:spPr>
        <p:txBody>
          <a:bodyPr anchor="ctr"/>
          <a:lstStyle/>
          <a:p>
            <a:r>
              <a:rPr lang="zh-CN" altLang="en-US" sz="4800" b="1" dirty="0">
                <a:solidFill>
                  <a:srgbClr val="0000FF"/>
                </a:solidFill>
                <a:ea typeface="楷体_GB2312" pitchFamily="49" charset="-122"/>
              </a:rPr>
              <a:t>蛋白质的用途</a:t>
            </a:r>
          </a:p>
        </p:txBody>
      </p:sp>
      <p:sp>
        <p:nvSpPr>
          <p:cNvPr id="414723" name="椭圆 414722"/>
          <p:cNvSpPr/>
          <p:nvPr/>
        </p:nvSpPr>
        <p:spPr>
          <a:xfrm>
            <a:off x="3275013" y="2708275"/>
            <a:ext cx="2017712" cy="1368425"/>
          </a:xfrm>
          <a:prstGeom prst="ellipse">
            <a:avLst/>
          </a:prstGeom>
          <a:solidFill>
            <a:srgbClr val="E892DC"/>
          </a:solidFill>
          <a:ln w="9525" cap="flat" cmpd="sng">
            <a:solidFill>
              <a:schemeClr val="tx1"/>
            </a:solidFill>
            <a:prstDash val="solid"/>
            <a:round/>
            <a:headEnd type="none" w="med" len="med"/>
            <a:tailEnd type="none" w="med" len="med"/>
          </a:ln>
        </p:spPr>
        <p:txBody>
          <a:bodyPr wrap="none" anchor="ctr"/>
          <a:lstStyle/>
          <a:p>
            <a:pPr algn="ctr"/>
            <a:r>
              <a:rPr lang="zh-CN" altLang="en-US" sz="3600" b="1" dirty="0">
                <a:latin typeface="Arial" panose="020B0604020202020204" pitchFamily="34" charset="0"/>
                <a:ea typeface="华文隶书" pitchFamily="2" charset="-122"/>
              </a:rPr>
              <a:t>蛋白质</a:t>
            </a:r>
          </a:p>
        </p:txBody>
      </p:sp>
      <p:grpSp>
        <p:nvGrpSpPr>
          <p:cNvPr id="414724" name="组合 414723"/>
          <p:cNvGrpSpPr/>
          <p:nvPr/>
        </p:nvGrpSpPr>
        <p:grpSpPr>
          <a:xfrm>
            <a:off x="468313" y="1844675"/>
            <a:ext cx="2879725" cy="1554163"/>
            <a:chOff x="295" y="1162"/>
            <a:chExt cx="1814" cy="979"/>
          </a:xfrm>
        </p:grpSpPr>
        <p:sp>
          <p:nvSpPr>
            <p:cNvPr id="22532" name="文本框 414724"/>
            <p:cNvSpPr txBox="1"/>
            <p:nvPr/>
          </p:nvSpPr>
          <p:spPr>
            <a:xfrm>
              <a:off x="295" y="1162"/>
              <a:ext cx="1451" cy="979"/>
            </a:xfrm>
            <a:prstGeom prst="rect">
              <a:avLst/>
            </a:prstGeom>
            <a:noFill/>
            <a:ln w="9525">
              <a:noFill/>
            </a:ln>
          </p:spPr>
          <p:txBody>
            <a:bodyPr anchor="t">
              <a:spAutoFit/>
            </a:bodyPr>
            <a:lstStyle/>
            <a:p>
              <a:r>
                <a:rPr lang="zh-CN" altLang="en-US" sz="3200" b="1" dirty="0">
                  <a:solidFill>
                    <a:schemeClr val="tx1"/>
                  </a:solidFill>
                  <a:latin typeface="楷体_GB2312" pitchFamily="49" charset="-122"/>
                  <a:ea typeface="楷体_GB2312" pitchFamily="49" charset="-122"/>
                </a:rPr>
                <a:t>动物的毛、蚕丝是很好的纺织原料</a:t>
              </a:r>
            </a:p>
          </p:txBody>
        </p:sp>
        <p:sp>
          <p:nvSpPr>
            <p:cNvPr id="22533" name="直接连接符 414725"/>
            <p:cNvSpPr/>
            <p:nvPr/>
          </p:nvSpPr>
          <p:spPr>
            <a:xfrm>
              <a:off x="1701" y="1616"/>
              <a:ext cx="408" cy="226"/>
            </a:xfrm>
            <a:prstGeom prst="line">
              <a:avLst/>
            </a:prstGeom>
            <a:ln w="76200" cap="flat" cmpd="sng">
              <a:solidFill>
                <a:schemeClr val="tx1"/>
              </a:solidFill>
              <a:prstDash val="solid"/>
              <a:round/>
              <a:headEnd type="none" w="med" len="med"/>
              <a:tailEnd type="triangle" w="med" len="med"/>
            </a:ln>
          </p:spPr>
        </p:sp>
      </p:grpSp>
      <p:grpSp>
        <p:nvGrpSpPr>
          <p:cNvPr id="414727" name="组合 414726"/>
          <p:cNvGrpSpPr/>
          <p:nvPr/>
        </p:nvGrpSpPr>
        <p:grpSpPr>
          <a:xfrm>
            <a:off x="539750" y="4076700"/>
            <a:ext cx="2663825" cy="1627188"/>
            <a:chOff x="340" y="2568"/>
            <a:chExt cx="1678" cy="1025"/>
          </a:xfrm>
        </p:grpSpPr>
        <p:sp>
          <p:nvSpPr>
            <p:cNvPr id="22535" name="文本框 414727"/>
            <p:cNvSpPr txBox="1"/>
            <p:nvPr/>
          </p:nvSpPr>
          <p:spPr>
            <a:xfrm>
              <a:off x="340" y="2614"/>
              <a:ext cx="1180" cy="979"/>
            </a:xfrm>
            <a:prstGeom prst="rect">
              <a:avLst/>
            </a:prstGeom>
            <a:noFill/>
            <a:ln w="9525">
              <a:noFill/>
            </a:ln>
          </p:spPr>
          <p:txBody>
            <a:bodyPr anchor="t">
              <a:spAutoFit/>
            </a:bodyPr>
            <a:lstStyle/>
            <a:p>
              <a:r>
                <a:rPr lang="zh-CN" altLang="en-US" sz="3200" b="1" dirty="0">
                  <a:solidFill>
                    <a:schemeClr val="tx1"/>
                  </a:solidFill>
                  <a:latin typeface="楷体_GB2312" pitchFamily="49" charset="-122"/>
                  <a:ea typeface="楷体_GB2312" pitchFamily="49" charset="-122"/>
                </a:rPr>
                <a:t>动物的皮革是衣服的原料</a:t>
              </a:r>
            </a:p>
          </p:txBody>
        </p:sp>
        <p:sp>
          <p:nvSpPr>
            <p:cNvPr id="22536" name="直接连接符 414728"/>
            <p:cNvSpPr/>
            <p:nvPr/>
          </p:nvSpPr>
          <p:spPr>
            <a:xfrm flipV="1">
              <a:off x="1519" y="2568"/>
              <a:ext cx="499" cy="363"/>
            </a:xfrm>
            <a:prstGeom prst="line">
              <a:avLst/>
            </a:prstGeom>
            <a:ln w="76200" cap="flat" cmpd="sng">
              <a:solidFill>
                <a:schemeClr val="tx1"/>
              </a:solidFill>
              <a:prstDash val="solid"/>
              <a:round/>
              <a:headEnd type="none" w="med" len="med"/>
              <a:tailEnd type="triangle" w="med" len="med"/>
            </a:ln>
          </p:spPr>
        </p:sp>
      </p:grpSp>
      <p:grpSp>
        <p:nvGrpSpPr>
          <p:cNvPr id="414730" name="组合 414729"/>
          <p:cNvGrpSpPr/>
          <p:nvPr/>
        </p:nvGrpSpPr>
        <p:grpSpPr>
          <a:xfrm>
            <a:off x="3203575" y="4322763"/>
            <a:ext cx="2447925" cy="2201862"/>
            <a:chOff x="2018" y="2614"/>
            <a:chExt cx="1542" cy="1387"/>
          </a:xfrm>
        </p:grpSpPr>
        <p:sp>
          <p:nvSpPr>
            <p:cNvPr id="22538" name="文本框 414730"/>
            <p:cNvSpPr txBox="1"/>
            <p:nvPr/>
          </p:nvSpPr>
          <p:spPr>
            <a:xfrm>
              <a:off x="2018" y="3022"/>
              <a:ext cx="1542" cy="979"/>
            </a:xfrm>
            <a:prstGeom prst="rect">
              <a:avLst/>
            </a:prstGeom>
            <a:noFill/>
            <a:ln w="9525">
              <a:noFill/>
            </a:ln>
          </p:spPr>
          <p:txBody>
            <a:bodyPr anchor="t">
              <a:spAutoFit/>
            </a:bodyPr>
            <a:lstStyle/>
            <a:p>
              <a:r>
                <a:rPr lang="zh-CN" altLang="en-US" sz="3200" b="1" dirty="0">
                  <a:solidFill>
                    <a:schemeClr val="tx1"/>
                  </a:solidFill>
                  <a:latin typeface="楷体_GB2312" pitchFamily="49" charset="-122"/>
                  <a:ea typeface="楷体_GB2312" pitchFamily="49" charset="-122"/>
                </a:rPr>
                <a:t>驴皮熬制的胶是一种药材</a:t>
              </a:r>
              <a:r>
                <a:rPr lang="en-US" altLang="zh-CN" sz="3200" b="1">
                  <a:solidFill>
                    <a:schemeClr val="tx1"/>
                  </a:solidFill>
                  <a:latin typeface="Arial" panose="020B0604020202020204" pitchFamily="34" charset="0"/>
                  <a:ea typeface="楷体_GB2312" pitchFamily="49" charset="-122"/>
                </a:rPr>
                <a:t>——</a:t>
              </a:r>
              <a:r>
                <a:rPr lang="zh-CN" altLang="en-US" sz="3200" b="1" dirty="0">
                  <a:solidFill>
                    <a:schemeClr val="tx1"/>
                  </a:solidFill>
                  <a:latin typeface="楷体_GB2312" pitchFamily="49" charset="-122"/>
                  <a:ea typeface="楷体_GB2312" pitchFamily="49" charset="-122"/>
                </a:rPr>
                <a:t>阿胶</a:t>
              </a:r>
            </a:p>
          </p:txBody>
        </p:sp>
        <p:sp>
          <p:nvSpPr>
            <p:cNvPr id="22539" name="直接连接符 414731"/>
            <p:cNvSpPr/>
            <p:nvPr/>
          </p:nvSpPr>
          <p:spPr>
            <a:xfrm flipV="1">
              <a:off x="2744" y="2614"/>
              <a:ext cx="0" cy="408"/>
            </a:xfrm>
            <a:prstGeom prst="line">
              <a:avLst/>
            </a:prstGeom>
            <a:ln w="76200" cap="flat" cmpd="sng">
              <a:solidFill>
                <a:schemeClr val="tx1"/>
              </a:solidFill>
              <a:prstDash val="solid"/>
              <a:round/>
              <a:headEnd type="none" w="med" len="med"/>
              <a:tailEnd type="triangle" w="med" len="med"/>
            </a:ln>
          </p:spPr>
        </p:sp>
      </p:grpSp>
      <p:grpSp>
        <p:nvGrpSpPr>
          <p:cNvPr id="414733" name="组合 414732"/>
          <p:cNvGrpSpPr/>
          <p:nvPr/>
        </p:nvGrpSpPr>
        <p:grpSpPr>
          <a:xfrm>
            <a:off x="5508625" y="3716338"/>
            <a:ext cx="3240088" cy="1944687"/>
            <a:chOff x="3470" y="2341"/>
            <a:chExt cx="2041" cy="1225"/>
          </a:xfrm>
        </p:grpSpPr>
        <p:sp>
          <p:nvSpPr>
            <p:cNvPr id="22541" name="文本框 414733"/>
            <p:cNvSpPr txBox="1"/>
            <p:nvPr/>
          </p:nvSpPr>
          <p:spPr>
            <a:xfrm>
              <a:off x="3969" y="2587"/>
              <a:ext cx="1542" cy="979"/>
            </a:xfrm>
            <a:prstGeom prst="rect">
              <a:avLst/>
            </a:prstGeom>
            <a:noFill/>
            <a:ln w="9525">
              <a:noFill/>
            </a:ln>
          </p:spPr>
          <p:txBody>
            <a:bodyPr anchor="t">
              <a:spAutoFit/>
            </a:bodyPr>
            <a:lstStyle/>
            <a:p>
              <a:r>
                <a:rPr lang="zh-CN" altLang="en-US" sz="3200" b="1" dirty="0">
                  <a:solidFill>
                    <a:schemeClr val="tx1"/>
                  </a:solidFill>
                  <a:latin typeface="楷体_GB2312" pitchFamily="49" charset="-122"/>
                  <a:ea typeface="楷体_GB2312" pitchFamily="49" charset="-122"/>
                </a:rPr>
                <a:t>牛奶中的蛋白质与甲醛制酪素塑料</a:t>
              </a:r>
            </a:p>
          </p:txBody>
        </p:sp>
        <p:sp>
          <p:nvSpPr>
            <p:cNvPr id="22542" name="直接连接符 414734"/>
            <p:cNvSpPr/>
            <p:nvPr/>
          </p:nvSpPr>
          <p:spPr>
            <a:xfrm flipH="1" flipV="1">
              <a:off x="3470" y="2341"/>
              <a:ext cx="544" cy="318"/>
            </a:xfrm>
            <a:prstGeom prst="line">
              <a:avLst/>
            </a:prstGeom>
            <a:ln w="76200" cap="flat" cmpd="sng">
              <a:solidFill>
                <a:schemeClr val="tx1"/>
              </a:solidFill>
              <a:prstDash val="solid"/>
              <a:round/>
              <a:headEnd type="none" w="med" len="med"/>
              <a:tailEnd type="triangle" w="med" len="med"/>
            </a:ln>
          </p:spPr>
        </p:sp>
      </p:grpSp>
      <p:grpSp>
        <p:nvGrpSpPr>
          <p:cNvPr id="414736" name="组合 414735"/>
          <p:cNvGrpSpPr/>
          <p:nvPr/>
        </p:nvGrpSpPr>
        <p:grpSpPr>
          <a:xfrm>
            <a:off x="5364163" y="2001838"/>
            <a:ext cx="3168650" cy="1066800"/>
            <a:chOff x="3424" y="1261"/>
            <a:chExt cx="1996" cy="672"/>
          </a:xfrm>
        </p:grpSpPr>
        <p:sp>
          <p:nvSpPr>
            <p:cNvPr id="22544" name="文本框 414736"/>
            <p:cNvSpPr txBox="1"/>
            <p:nvPr/>
          </p:nvSpPr>
          <p:spPr>
            <a:xfrm>
              <a:off x="3878" y="1261"/>
              <a:ext cx="1542" cy="672"/>
            </a:xfrm>
            <a:prstGeom prst="rect">
              <a:avLst/>
            </a:prstGeom>
            <a:noFill/>
            <a:ln w="9525">
              <a:noFill/>
            </a:ln>
          </p:spPr>
          <p:txBody>
            <a:bodyPr anchor="t">
              <a:spAutoFit/>
            </a:bodyPr>
            <a:lstStyle/>
            <a:p>
              <a:r>
                <a:rPr lang="zh-CN" altLang="en-US" sz="3200" b="1" dirty="0">
                  <a:solidFill>
                    <a:schemeClr val="hlink"/>
                  </a:solidFill>
                  <a:latin typeface="楷体_GB2312" pitchFamily="49" charset="-122"/>
                  <a:ea typeface="楷体_GB2312" pitchFamily="49" charset="-122"/>
                </a:rPr>
                <a:t>各种生物酶均是蛋白质</a:t>
              </a:r>
            </a:p>
          </p:txBody>
        </p:sp>
        <p:sp>
          <p:nvSpPr>
            <p:cNvPr id="22545" name="直接连接符 414737"/>
            <p:cNvSpPr/>
            <p:nvPr/>
          </p:nvSpPr>
          <p:spPr>
            <a:xfrm flipH="1">
              <a:off x="3424" y="1616"/>
              <a:ext cx="409" cy="181"/>
            </a:xfrm>
            <a:prstGeom prst="line">
              <a:avLst/>
            </a:prstGeom>
            <a:ln w="76200" cap="flat" cmpd="sng">
              <a:solidFill>
                <a:schemeClr val="tx1"/>
              </a:solidFill>
              <a:prstDash val="solid"/>
              <a:round/>
              <a:headEnd type="none" w="med" len="med"/>
              <a:tailEnd type="triangle" w="med" len="med"/>
            </a:ln>
          </p:spPr>
        </p:sp>
      </p:grpSp>
      <p:grpSp>
        <p:nvGrpSpPr>
          <p:cNvPr id="414739" name="组合 414738"/>
          <p:cNvGrpSpPr/>
          <p:nvPr/>
        </p:nvGrpSpPr>
        <p:grpSpPr>
          <a:xfrm>
            <a:off x="1295400" y="1143000"/>
            <a:ext cx="6781800" cy="1574800"/>
            <a:chOff x="816" y="720"/>
            <a:chExt cx="4272" cy="992"/>
          </a:xfrm>
        </p:grpSpPr>
        <p:sp>
          <p:nvSpPr>
            <p:cNvPr id="22547" name="文本框 414739"/>
            <p:cNvSpPr txBox="1"/>
            <p:nvPr/>
          </p:nvSpPr>
          <p:spPr>
            <a:xfrm>
              <a:off x="816" y="720"/>
              <a:ext cx="4272" cy="365"/>
            </a:xfrm>
            <a:prstGeom prst="rect">
              <a:avLst/>
            </a:prstGeom>
            <a:noFill/>
            <a:ln w="9525">
              <a:noFill/>
            </a:ln>
          </p:spPr>
          <p:txBody>
            <a:bodyPr anchor="t">
              <a:spAutoFit/>
            </a:bodyPr>
            <a:lstStyle/>
            <a:p>
              <a:pPr>
                <a:spcBef>
                  <a:spcPct val="50000"/>
                </a:spcBef>
              </a:pPr>
              <a:r>
                <a:rPr lang="zh-CN" altLang="en-US" sz="3200" b="1" dirty="0">
                  <a:solidFill>
                    <a:schemeClr val="tx1"/>
                  </a:solidFill>
                  <a:latin typeface="楷体_GB2312" pitchFamily="49" charset="-122"/>
                  <a:ea typeface="楷体_GB2312" pitchFamily="49" charset="-122"/>
                </a:rPr>
                <a:t>人类的主要食品（</a:t>
              </a:r>
              <a:r>
                <a:rPr lang="zh-CN" altLang="en-US" sz="3200" b="1" dirty="0">
                  <a:solidFill>
                    <a:schemeClr val="tx1"/>
                  </a:solidFill>
                  <a:latin typeface="Arial" panose="020B0604020202020204" pitchFamily="34" charset="0"/>
                  <a:ea typeface="楷体_GB2312" pitchFamily="49" charset="-122"/>
                </a:rPr>
                <a:t>生命的物质基础）</a:t>
              </a:r>
            </a:p>
          </p:txBody>
        </p:sp>
        <p:sp>
          <p:nvSpPr>
            <p:cNvPr id="22548" name="直接连接符 414740"/>
            <p:cNvSpPr/>
            <p:nvPr/>
          </p:nvSpPr>
          <p:spPr>
            <a:xfrm>
              <a:off x="2688" y="1152"/>
              <a:ext cx="4" cy="560"/>
            </a:xfrm>
            <a:prstGeom prst="line">
              <a:avLst/>
            </a:prstGeom>
            <a:ln w="76200" cap="flat" cmpd="sng">
              <a:solidFill>
                <a:schemeClr val="tx1"/>
              </a:solidFill>
              <a:prstDash val="solid"/>
              <a:round/>
              <a:headEnd type="none" w="med" len="med"/>
              <a:tailEnd type="triangle" w="med" len="med"/>
            </a:ln>
          </p:spPr>
        </p:sp>
      </p:grpSp>
      <p:sp>
        <p:nvSpPr>
          <p:cNvPr id="22549" name="灯片编号占位符 1"/>
          <p:cNvSpPr>
            <a:spLocks noGrp="1"/>
          </p:cNvSpPr>
          <p:nvPr>
            <p:ph type="sldNum" sz="quarter" idx="11"/>
          </p:nvPr>
        </p:nvSpPr>
        <p:spPr>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400" dirty="0"/>
              <a:pPr lvl="0" indent="0" algn="r"/>
              <a:t>21</a:t>
            </a:fld>
            <a:endParaRPr lang="zh-CN" altLang="en-US" sz="14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14723"/>
                                        </p:tgtEl>
                                        <p:attrNameLst>
                                          <p:attrName>style.visibility</p:attrName>
                                        </p:attrNameLst>
                                      </p:cBhvr>
                                      <p:to>
                                        <p:strVal val="visible"/>
                                      </p:to>
                                    </p:set>
                                    <p:animEffect transition="in" filter="blinds(horizontal)">
                                      <p:cBhvr>
                                        <p:cTn id="7" dur="1000"/>
                                        <p:tgtEl>
                                          <p:spTgt spid="414723"/>
                                        </p:tgtEl>
                                      </p:cBhvr>
                                    </p:animEffect>
                                  </p:childTnLst>
                                </p:cTn>
                              </p:par>
                            </p:childTnLst>
                          </p:cTn>
                        </p:par>
                        <p:par>
                          <p:cTn id="8" fill="hold">
                            <p:stCondLst>
                              <p:cond delay="1000"/>
                            </p:stCondLst>
                            <p:childTnLst>
                              <p:par>
                                <p:cTn id="9" presetID="2" presetClass="entr" presetSubtype="9" fill="hold" nodeType="afterEffect">
                                  <p:stCondLst>
                                    <p:cond delay="1000"/>
                                  </p:stCondLst>
                                  <p:childTnLst>
                                    <p:set>
                                      <p:cBhvr>
                                        <p:cTn id="10" dur="1" fill="hold">
                                          <p:stCondLst>
                                            <p:cond delay="0"/>
                                          </p:stCondLst>
                                        </p:cTn>
                                        <p:tgtEl>
                                          <p:spTgt spid="414724"/>
                                        </p:tgtEl>
                                        <p:attrNameLst>
                                          <p:attrName>style.visibility</p:attrName>
                                        </p:attrNameLst>
                                      </p:cBhvr>
                                      <p:to>
                                        <p:strVal val="visible"/>
                                      </p:to>
                                    </p:set>
                                    <p:anim calcmode="lin" valueType="num">
                                      <p:cBhvr additive="base">
                                        <p:cTn id="11" dur="2000" fill="hold"/>
                                        <p:tgtEl>
                                          <p:spTgt spid="414724"/>
                                        </p:tgtEl>
                                        <p:attrNameLst>
                                          <p:attrName>ppt_x</p:attrName>
                                        </p:attrNameLst>
                                      </p:cBhvr>
                                      <p:tavLst>
                                        <p:tav tm="0">
                                          <p:val>
                                            <p:strVal val="0-#ppt_w/2"/>
                                          </p:val>
                                        </p:tav>
                                        <p:tav tm="100000">
                                          <p:val>
                                            <p:strVal val="#ppt_x"/>
                                          </p:val>
                                        </p:tav>
                                      </p:tavLst>
                                    </p:anim>
                                    <p:anim calcmode="lin" valueType="num">
                                      <p:cBhvr additive="base">
                                        <p:cTn id="12" dur="2000" fill="hold"/>
                                        <p:tgtEl>
                                          <p:spTgt spid="414724"/>
                                        </p:tgtEl>
                                        <p:attrNameLst>
                                          <p:attrName>ppt_y</p:attrName>
                                        </p:attrNameLst>
                                      </p:cBhvr>
                                      <p:tavLst>
                                        <p:tav tm="0">
                                          <p:val>
                                            <p:strVal val="0-#ppt_h/2"/>
                                          </p:val>
                                        </p:tav>
                                        <p:tav tm="100000">
                                          <p:val>
                                            <p:strVal val="#ppt_y"/>
                                          </p:val>
                                        </p:tav>
                                      </p:tavLst>
                                    </p:anim>
                                  </p:childTnLst>
                                </p:cTn>
                              </p:par>
                            </p:childTnLst>
                          </p:cTn>
                        </p:par>
                        <p:par>
                          <p:cTn id="13" fill="hold">
                            <p:stCondLst>
                              <p:cond delay="4000"/>
                            </p:stCondLst>
                            <p:childTnLst>
                              <p:par>
                                <p:cTn id="14" presetID="2" presetClass="entr" presetSubtype="12" fill="hold" nodeType="afterEffect">
                                  <p:stCondLst>
                                    <p:cond delay="1000"/>
                                  </p:stCondLst>
                                  <p:childTnLst>
                                    <p:set>
                                      <p:cBhvr>
                                        <p:cTn id="15" dur="1" fill="hold">
                                          <p:stCondLst>
                                            <p:cond delay="0"/>
                                          </p:stCondLst>
                                        </p:cTn>
                                        <p:tgtEl>
                                          <p:spTgt spid="414727"/>
                                        </p:tgtEl>
                                        <p:attrNameLst>
                                          <p:attrName>style.visibility</p:attrName>
                                        </p:attrNameLst>
                                      </p:cBhvr>
                                      <p:to>
                                        <p:strVal val="visible"/>
                                      </p:to>
                                    </p:set>
                                    <p:anim calcmode="lin" valueType="num">
                                      <p:cBhvr additive="base">
                                        <p:cTn id="16" dur="2000" fill="hold"/>
                                        <p:tgtEl>
                                          <p:spTgt spid="414727"/>
                                        </p:tgtEl>
                                        <p:attrNameLst>
                                          <p:attrName>ppt_x</p:attrName>
                                        </p:attrNameLst>
                                      </p:cBhvr>
                                      <p:tavLst>
                                        <p:tav tm="0">
                                          <p:val>
                                            <p:strVal val="0-#ppt_w/2"/>
                                          </p:val>
                                        </p:tav>
                                        <p:tav tm="100000">
                                          <p:val>
                                            <p:strVal val="#ppt_x"/>
                                          </p:val>
                                        </p:tav>
                                      </p:tavLst>
                                    </p:anim>
                                    <p:anim calcmode="lin" valueType="num">
                                      <p:cBhvr additive="base">
                                        <p:cTn id="17" dur="2000" fill="hold"/>
                                        <p:tgtEl>
                                          <p:spTgt spid="414727"/>
                                        </p:tgtEl>
                                        <p:attrNameLst>
                                          <p:attrName>ppt_y</p:attrName>
                                        </p:attrNameLst>
                                      </p:cBhvr>
                                      <p:tavLst>
                                        <p:tav tm="0">
                                          <p:val>
                                            <p:strVal val="1+#ppt_h/2"/>
                                          </p:val>
                                        </p:tav>
                                        <p:tav tm="100000">
                                          <p:val>
                                            <p:strVal val="#ppt_y"/>
                                          </p:val>
                                        </p:tav>
                                      </p:tavLst>
                                    </p:anim>
                                  </p:childTnLst>
                                </p:cTn>
                              </p:par>
                            </p:childTnLst>
                          </p:cTn>
                        </p:par>
                        <p:par>
                          <p:cTn id="18" fill="hold">
                            <p:stCondLst>
                              <p:cond delay="7000"/>
                            </p:stCondLst>
                            <p:childTnLst>
                              <p:par>
                                <p:cTn id="19" presetID="2" presetClass="entr" presetSubtype="4" fill="hold" nodeType="afterEffect">
                                  <p:stCondLst>
                                    <p:cond delay="1000"/>
                                  </p:stCondLst>
                                  <p:childTnLst>
                                    <p:set>
                                      <p:cBhvr>
                                        <p:cTn id="20" dur="1" fill="hold">
                                          <p:stCondLst>
                                            <p:cond delay="0"/>
                                          </p:stCondLst>
                                        </p:cTn>
                                        <p:tgtEl>
                                          <p:spTgt spid="414730"/>
                                        </p:tgtEl>
                                        <p:attrNameLst>
                                          <p:attrName>style.visibility</p:attrName>
                                        </p:attrNameLst>
                                      </p:cBhvr>
                                      <p:to>
                                        <p:strVal val="visible"/>
                                      </p:to>
                                    </p:set>
                                    <p:anim calcmode="lin" valueType="num">
                                      <p:cBhvr additive="base">
                                        <p:cTn id="21" dur="2000" fill="hold"/>
                                        <p:tgtEl>
                                          <p:spTgt spid="414730"/>
                                        </p:tgtEl>
                                        <p:attrNameLst>
                                          <p:attrName>ppt_x</p:attrName>
                                        </p:attrNameLst>
                                      </p:cBhvr>
                                      <p:tavLst>
                                        <p:tav tm="0">
                                          <p:val>
                                            <p:strVal val="#ppt_x"/>
                                          </p:val>
                                        </p:tav>
                                        <p:tav tm="100000">
                                          <p:val>
                                            <p:strVal val="#ppt_x"/>
                                          </p:val>
                                        </p:tav>
                                      </p:tavLst>
                                    </p:anim>
                                    <p:anim calcmode="lin" valueType="num">
                                      <p:cBhvr additive="base">
                                        <p:cTn id="22" dur="2000" fill="hold"/>
                                        <p:tgtEl>
                                          <p:spTgt spid="414730"/>
                                        </p:tgtEl>
                                        <p:attrNameLst>
                                          <p:attrName>ppt_y</p:attrName>
                                        </p:attrNameLst>
                                      </p:cBhvr>
                                      <p:tavLst>
                                        <p:tav tm="0">
                                          <p:val>
                                            <p:strVal val="1+#ppt_h/2"/>
                                          </p:val>
                                        </p:tav>
                                        <p:tav tm="100000">
                                          <p:val>
                                            <p:strVal val="#ppt_y"/>
                                          </p:val>
                                        </p:tav>
                                      </p:tavLst>
                                    </p:anim>
                                  </p:childTnLst>
                                </p:cTn>
                              </p:par>
                            </p:childTnLst>
                          </p:cTn>
                        </p:par>
                        <p:par>
                          <p:cTn id="23" fill="hold">
                            <p:stCondLst>
                              <p:cond delay="10000"/>
                            </p:stCondLst>
                            <p:childTnLst>
                              <p:par>
                                <p:cTn id="24" presetID="2" presetClass="entr" presetSubtype="6" fill="hold" nodeType="afterEffect">
                                  <p:stCondLst>
                                    <p:cond delay="1000"/>
                                  </p:stCondLst>
                                  <p:childTnLst>
                                    <p:set>
                                      <p:cBhvr>
                                        <p:cTn id="25" dur="1" fill="hold">
                                          <p:stCondLst>
                                            <p:cond delay="0"/>
                                          </p:stCondLst>
                                        </p:cTn>
                                        <p:tgtEl>
                                          <p:spTgt spid="414733"/>
                                        </p:tgtEl>
                                        <p:attrNameLst>
                                          <p:attrName>style.visibility</p:attrName>
                                        </p:attrNameLst>
                                      </p:cBhvr>
                                      <p:to>
                                        <p:strVal val="visible"/>
                                      </p:to>
                                    </p:set>
                                    <p:anim calcmode="lin" valueType="num">
                                      <p:cBhvr additive="base">
                                        <p:cTn id="26" dur="2000" fill="hold"/>
                                        <p:tgtEl>
                                          <p:spTgt spid="414733"/>
                                        </p:tgtEl>
                                        <p:attrNameLst>
                                          <p:attrName>ppt_x</p:attrName>
                                        </p:attrNameLst>
                                      </p:cBhvr>
                                      <p:tavLst>
                                        <p:tav tm="0">
                                          <p:val>
                                            <p:strVal val="1+#ppt_w/2"/>
                                          </p:val>
                                        </p:tav>
                                        <p:tav tm="100000">
                                          <p:val>
                                            <p:strVal val="#ppt_x"/>
                                          </p:val>
                                        </p:tav>
                                      </p:tavLst>
                                    </p:anim>
                                    <p:anim calcmode="lin" valueType="num">
                                      <p:cBhvr additive="base">
                                        <p:cTn id="27" dur="2000" fill="hold"/>
                                        <p:tgtEl>
                                          <p:spTgt spid="414733"/>
                                        </p:tgtEl>
                                        <p:attrNameLst>
                                          <p:attrName>ppt_y</p:attrName>
                                        </p:attrNameLst>
                                      </p:cBhvr>
                                      <p:tavLst>
                                        <p:tav tm="0">
                                          <p:val>
                                            <p:strVal val="1+#ppt_h/2"/>
                                          </p:val>
                                        </p:tav>
                                        <p:tav tm="100000">
                                          <p:val>
                                            <p:strVal val="#ppt_y"/>
                                          </p:val>
                                        </p:tav>
                                      </p:tavLst>
                                    </p:anim>
                                  </p:childTnLst>
                                </p:cTn>
                              </p:par>
                            </p:childTnLst>
                          </p:cTn>
                        </p:par>
                        <p:par>
                          <p:cTn id="28" fill="hold">
                            <p:stCondLst>
                              <p:cond delay="13000"/>
                            </p:stCondLst>
                            <p:childTnLst>
                              <p:par>
                                <p:cTn id="29" presetID="2" presetClass="entr" presetSubtype="3" fill="hold" nodeType="afterEffect">
                                  <p:stCondLst>
                                    <p:cond delay="1000"/>
                                  </p:stCondLst>
                                  <p:childTnLst>
                                    <p:set>
                                      <p:cBhvr>
                                        <p:cTn id="30" dur="1" fill="hold">
                                          <p:stCondLst>
                                            <p:cond delay="0"/>
                                          </p:stCondLst>
                                        </p:cTn>
                                        <p:tgtEl>
                                          <p:spTgt spid="414736"/>
                                        </p:tgtEl>
                                        <p:attrNameLst>
                                          <p:attrName>style.visibility</p:attrName>
                                        </p:attrNameLst>
                                      </p:cBhvr>
                                      <p:to>
                                        <p:strVal val="visible"/>
                                      </p:to>
                                    </p:set>
                                    <p:anim calcmode="lin" valueType="num">
                                      <p:cBhvr additive="base">
                                        <p:cTn id="31" dur="2000" fill="hold"/>
                                        <p:tgtEl>
                                          <p:spTgt spid="414736"/>
                                        </p:tgtEl>
                                        <p:attrNameLst>
                                          <p:attrName>ppt_x</p:attrName>
                                        </p:attrNameLst>
                                      </p:cBhvr>
                                      <p:tavLst>
                                        <p:tav tm="0">
                                          <p:val>
                                            <p:strVal val="1+#ppt_w/2"/>
                                          </p:val>
                                        </p:tav>
                                        <p:tav tm="100000">
                                          <p:val>
                                            <p:strVal val="#ppt_x"/>
                                          </p:val>
                                        </p:tav>
                                      </p:tavLst>
                                    </p:anim>
                                    <p:anim calcmode="lin" valueType="num">
                                      <p:cBhvr additive="base">
                                        <p:cTn id="32" dur="2000" fill="hold"/>
                                        <p:tgtEl>
                                          <p:spTgt spid="414736"/>
                                        </p:tgtEl>
                                        <p:attrNameLst>
                                          <p:attrName>ppt_y</p:attrName>
                                        </p:attrNameLst>
                                      </p:cBhvr>
                                      <p:tavLst>
                                        <p:tav tm="0">
                                          <p:val>
                                            <p:strVal val="0-#ppt_h/2"/>
                                          </p:val>
                                        </p:tav>
                                        <p:tav tm="100000">
                                          <p:val>
                                            <p:strVal val="#ppt_y"/>
                                          </p:val>
                                        </p:tav>
                                      </p:tavLst>
                                    </p:anim>
                                  </p:childTnLst>
                                </p:cTn>
                              </p:par>
                            </p:childTnLst>
                          </p:cTn>
                        </p:par>
                        <p:par>
                          <p:cTn id="33" fill="hold">
                            <p:stCondLst>
                              <p:cond delay="16000"/>
                            </p:stCondLst>
                            <p:childTnLst>
                              <p:par>
                                <p:cTn id="34" presetID="1" presetClass="entr" presetSubtype="0" fill="hold" nodeType="afterEffect">
                                  <p:stCondLst>
                                    <p:cond delay="0"/>
                                  </p:stCondLst>
                                  <p:childTnLst>
                                    <p:set>
                                      <p:cBhvr>
                                        <p:cTn id="35" dur="1" fill="hold">
                                          <p:stCondLst>
                                            <p:cond delay="0"/>
                                          </p:stCondLst>
                                        </p:cTn>
                                        <p:tgtEl>
                                          <p:spTgt spid="4147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472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818" name="矩形 418817"/>
          <p:cNvSpPr/>
          <p:nvPr/>
        </p:nvSpPr>
        <p:spPr>
          <a:xfrm>
            <a:off x="685800" y="44450"/>
            <a:ext cx="2814630" cy="1143000"/>
          </a:xfrm>
          <a:prstGeom prst="rect">
            <a:avLst/>
          </a:prstGeom>
          <a:noFill/>
          <a:ln w="9525">
            <a:noFill/>
          </a:ln>
        </p:spPr>
        <p:txBody>
          <a:bodyPr anchor="ctr"/>
          <a:lstStyle/>
          <a:p>
            <a:pPr algn="ctr"/>
            <a:r>
              <a:rPr lang="en-US" altLang="zh-CN" sz="4400" b="1" dirty="0" smtClean="0">
                <a:solidFill>
                  <a:srgbClr val="C00000"/>
                </a:solidFill>
                <a:latin typeface="Arial" panose="020B0604020202020204" pitchFamily="34" charset="0"/>
              </a:rPr>
              <a:t>3.</a:t>
            </a:r>
            <a:r>
              <a:rPr lang="zh-CN" altLang="en-US" sz="4400" b="1" dirty="0" smtClean="0">
                <a:solidFill>
                  <a:srgbClr val="C00000"/>
                </a:solidFill>
                <a:latin typeface="Arial" panose="020B0604020202020204" pitchFamily="34" charset="0"/>
              </a:rPr>
              <a:t> </a:t>
            </a:r>
            <a:r>
              <a:rPr lang="zh-CN" altLang="en-US" sz="4400" b="1" dirty="0">
                <a:solidFill>
                  <a:srgbClr val="C00000"/>
                </a:solidFill>
                <a:latin typeface="Arial" panose="020B0604020202020204" pitchFamily="34" charset="0"/>
              </a:rPr>
              <a:t>酶</a:t>
            </a:r>
          </a:p>
        </p:txBody>
      </p:sp>
      <p:sp>
        <p:nvSpPr>
          <p:cNvPr id="418819" name="文本框 418818"/>
          <p:cNvSpPr txBox="1"/>
          <p:nvPr/>
        </p:nvSpPr>
        <p:spPr>
          <a:xfrm>
            <a:off x="323850" y="1196975"/>
            <a:ext cx="8497888" cy="584775"/>
          </a:xfrm>
          <a:prstGeom prst="rect">
            <a:avLst/>
          </a:prstGeom>
          <a:noFill/>
          <a:ln w="9525">
            <a:noFill/>
          </a:ln>
        </p:spPr>
        <p:txBody>
          <a:bodyPr anchor="t">
            <a:spAutoFit/>
          </a:bodyPr>
          <a:lstStyle/>
          <a:p>
            <a:pPr>
              <a:buClr>
                <a:schemeClr val="bg1"/>
              </a:buClr>
            </a:pPr>
            <a:r>
              <a:rPr lang="zh-CN" altLang="en-US" sz="3200" b="1" dirty="0">
                <a:solidFill>
                  <a:srgbClr val="0000FF"/>
                </a:solidFill>
                <a:latin typeface="Times New Roman" panose="02020603050405020304" pitchFamily="18" charset="0"/>
              </a:rPr>
              <a:t>酶</a:t>
            </a:r>
            <a:r>
              <a:rPr lang="en-US" altLang="zh-CN" sz="3200" b="1" dirty="0">
                <a:latin typeface="Times New Roman" panose="02020603050405020304" pitchFamily="18" charset="0"/>
              </a:rPr>
              <a:t>—</a:t>
            </a:r>
            <a:r>
              <a:rPr lang="en-US" altLang="zh-CN" sz="3200" b="1" dirty="0">
                <a:solidFill>
                  <a:schemeClr val="tx1"/>
                </a:solidFill>
                <a:latin typeface="Times New Roman" panose="02020603050405020304" pitchFamily="18" charset="0"/>
              </a:rPr>
              <a:t> </a:t>
            </a:r>
            <a:r>
              <a:rPr lang="zh-CN" altLang="en-US" sz="3200" b="1" dirty="0">
                <a:solidFill>
                  <a:schemeClr val="tx1"/>
                </a:solidFill>
                <a:latin typeface="Times New Roman" panose="02020603050405020304" pitchFamily="18" charset="0"/>
              </a:rPr>
              <a:t>特殊的蛋白质，生物制造的催化剂</a:t>
            </a:r>
          </a:p>
        </p:txBody>
      </p:sp>
      <p:sp>
        <p:nvSpPr>
          <p:cNvPr id="418820" name="文本框 418819"/>
          <p:cNvSpPr txBox="1"/>
          <p:nvPr/>
        </p:nvSpPr>
        <p:spPr>
          <a:xfrm>
            <a:off x="323850" y="1884363"/>
            <a:ext cx="8064500" cy="584775"/>
          </a:xfrm>
          <a:prstGeom prst="rect">
            <a:avLst/>
          </a:prstGeom>
          <a:noFill/>
          <a:ln w="9525">
            <a:noFill/>
          </a:ln>
        </p:spPr>
        <p:txBody>
          <a:bodyPr anchor="t">
            <a:spAutoFit/>
          </a:bodyPr>
          <a:lstStyle/>
          <a:p>
            <a:pPr>
              <a:buClr>
                <a:schemeClr val="bg1"/>
              </a:buClr>
            </a:pPr>
            <a:r>
              <a:rPr lang="zh-CN" altLang="en-US" sz="3200" b="1" dirty="0">
                <a:solidFill>
                  <a:srgbClr val="0000FF"/>
                </a:solidFill>
                <a:latin typeface="Times New Roman" panose="02020603050405020304" pitchFamily="18" charset="0"/>
              </a:rPr>
              <a:t>酶的特性</a:t>
            </a:r>
            <a:r>
              <a:rPr lang="en-US" altLang="zh-CN" sz="3200" b="1" dirty="0">
                <a:latin typeface="Times New Roman" panose="02020603050405020304" pitchFamily="18" charset="0"/>
              </a:rPr>
              <a:t>— </a:t>
            </a:r>
            <a:r>
              <a:rPr lang="zh-CN" altLang="en-US" sz="3200" b="1" dirty="0">
                <a:solidFill>
                  <a:schemeClr val="tx1"/>
                </a:solidFill>
                <a:latin typeface="Times New Roman" panose="02020603050405020304" pitchFamily="18" charset="0"/>
              </a:rPr>
              <a:t>离开生物机体后仍具活性</a:t>
            </a:r>
          </a:p>
        </p:txBody>
      </p:sp>
      <p:sp>
        <p:nvSpPr>
          <p:cNvPr id="418821" name="文本框 418820"/>
          <p:cNvSpPr txBox="1"/>
          <p:nvPr/>
        </p:nvSpPr>
        <p:spPr>
          <a:xfrm>
            <a:off x="250825" y="2617788"/>
            <a:ext cx="8785225" cy="1077218"/>
          </a:xfrm>
          <a:prstGeom prst="rect">
            <a:avLst/>
          </a:prstGeom>
          <a:noFill/>
          <a:ln w="9525">
            <a:noFill/>
          </a:ln>
        </p:spPr>
        <p:txBody>
          <a:bodyPr anchor="t">
            <a:spAutoFit/>
          </a:bodyPr>
          <a:lstStyle/>
          <a:p>
            <a:pPr>
              <a:buClr>
                <a:schemeClr val="bg1"/>
              </a:buClr>
            </a:pPr>
            <a:r>
              <a:rPr lang="zh-CN" altLang="en-US" sz="3200" b="1" dirty="0">
                <a:solidFill>
                  <a:srgbClr val="0000FF"/>
                </a:solidFill>
                <a:latin typeface="Times New Roman" panose="02020603050405020304" pitchFamily="18" charset="0"/>
              </a:rPr>
              <a:t>酶的作用</a:t>
            </a:r>
            <a:r>
              <a:rPr lang="en-US" altLang="zh-CN" sz="3200" b="1" dirty="0">
                <a:latin typeface="Times New Roman" panose="02020603050405020304" pitchFamily="18" charset="0"/>
              </a:rPr>
              <a:t>— </a:t>
            </a:r>
            <a:r>
              <a:rPr lang="zh-CN" altLang="en-US" sz="3200" b="1" dirty="0">
                <a:solidFill>
                  <a:schemeClr val="tx1"/>
                </a:solidFill>
                <a:latin typeface="Times New Roman" panose="02020603050405020304" pitchFamily="18" charset="0"/>
              </a:rPr>
              <a:t>催化许多有机化学反应和生物体内的复杂反应</a:t>
            </a:r>
          </a:p>
        </p:txBody>
      </p:sp>
      <p:sp>
        <p:nvSpPr>
          <p:cNvPr id="418822" name="文本框 418821"/>
          <p:cNvSpPr txBox="1"/>
          <p:nvPr/>
        </p:nvSpPr>
        <p:spPr>
          <a:xfrm>
            <a:off x="195580" y="4014470"/>
            <a:ext cx="8840470" cy="1077218"/>
          </a:xfrm>
          <a:prstGeom prst="rect">
            <a:avLst/>
          </a:prstGeom>
          <a:noFill/>
          <a:ln w="9525">
            <a:noFill/>
          </a:ln>
        </p:spPr>
        <p:txBody>
          <a:bodyPr wrap="square" anchor="t">
            <a:spAutoFit/>
          </a:bodyPr>
          <a:lstStyle/>
          <a:p>
            <a:pPr>
              <a:buClr>
                <a:schemeClr val="bg1"/>
              </a:buClr>
            </a:pPr>
            <a:r>
              <a:rPr lang="zh-CN" altLang="en-US" sz="3200" b="1" dirty="0">
                <a:solidFill>
                  <a:srgbClr val="0000FF"/>
                </a:solidFill>
                <a:latin typeface="Times New Roman" panose="02020603050405020304" pitchFamily="18" charset="0"/>
              </a:rPr>
              <a:t>酶作催化剂的特点</a:t>
            </a:r>
            <a:r>
              <a:rPr lang="en-US" altLang="zh-CN" sz="3200" b="1" dirty="0">
                <a:latin typeface="Times New Roman" panose="02020603050405020304" pitchFamily="18" charset="0"/>
              </a:rPr>
              <a:t>— </a:t>
            </a:r>
            <a:br>
              <a:rPr lang="en-US" altLang="zh-CN" sz="3200" b="1" dirty="0">
                <a:latin typeface="Times New Roman" panose="02020603050405020304" pitchFamily="18" charset="0"/>
              </a:rPr>
            </a:br>
            <a:r>
              <a:rPr lang="zh-CN" altLang="en-US" sz="3200" b="1" dirty="0">
                <a:solidFill>
                  <a:schemeClr val="tx1"/>
                </a:solidFill>
                <a:latin typeface="Times New Roman" panose="02020603050405020304" pitchFamily="18" charset="0"/>
              </a:rPr>
              <a:t>反应条件温和、反应快、效率高、专一性</a:t>
            </a:r>
          </a:p>
        </p:txBody>
      </p:sp>
      <p:sp>
        <p:nvSpPr>
          <p:cNvPr id="418823" name="文本框 418822"/>
          <p:cNvSpPr txBox="1"/>
          <p:nvPr/>
        </p:nvSpPr>
        <p:spPr>
          <a:xfrm>
            <a:off x="323850" y="5091688"/>
            <a:ext cx="7598555" cy="584775"/>
          </a:xfrm>
          <a:prstGeom prst="rect">
            <a:avLst/>
          </a:prstGeom>
          <a:noFill/>
          <a:ln w="9525">
            <a:noFill/>
          </a:ln>
        </p:spPr>
        <p:txBody>
          <a:bodyPr wrap="none" anchor="t">
            <a:spAutoFit/>
          </a:bodyPr>
          <a:lstStyle/>
          <a:p>
            <a:pPr>
              <a:buClr>
                <a:schemeClr val="bg1"/>
              </a:buClr>
            </a:pPr>
            <a:r>
              <a:rPr lang="zh-CN" altLang="en-US" sz="3200" b="1" dirty="0">
                <a:solidFill>
                  <a:srgbClr val="0000FF"/>
                </a:solidFill>
                <a:latin typeface="Times New Roman" panose="02020603050405020304" pitchFamily="18" charset="0"/>
              </a:rPr>
              <a:t>应用</a:t>
            </a:r>
            <a:r>
              <a:rPr lang="en-US" altLang="zh-CN" sz="3200" b="1" dirty="0">
                <a:latin typeface="Times New Roman" panose="02020603050405020304" pitchFamily="18" charset="0"/>
              </a:rPr>
              <a:t>—</a:t>
            </a:r>
            <a:r>
              <a:rPr lang="zh-CN" altLang="en-US" sz="3200" b="1" dirty="0">
                <a:solidFill>
                  <a:schemeClr val="tx1"/>
                </a:solidFill>
                <a:latin typeface="Times New Roman" panose="02020603050405020304" pitchFamily="18" charset="0"/>
              </a:rPr>
              <a:t>食品、发酵、纺织、制药、制革等</a:t>
            </a:r>
          </a:p>
        </p:txBody>
      </p:sp>
      <p:sp>
        <p:nvSpPr>
          <p:cNvPr id="23559" name="灯片编号占位符 1"/>
          <p:cNvSpPr>
            <a:spLocks noGrp="1"/>
          </p:cNvSpPr>
          <p:nvPr>
            <p:ph type="sldNum" sz="quarter" idx="11"/>
          </p:nvPr>
        </p:nvSpPr>
        <p:spPr>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400" dirty="0"/>
              <a:pPr lvl="0" indent="0" algn="r"/>
              <a:t>22</a:t>
            </a:fld>
            <a:endParaRPr lang="zh-CN" altLang="en-US" sz="14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418818">
                                            <p:txEl>
                                              <p:pRg st="0" end="0"/>
                                            </p:txEl>
                                          </p:spTgt>
                                        </p:tgtEl>
                                        <p:attrNameLst>
                                          <p:attrName>style.visibility</p:attrName>
                                        </p:attrNameLst>
                                      </p:cBhvr>
                                      <p:to>
                                        <p:strVal val="visible"/>
                                      </p:to>
                                    </p:set>
                                    <p:anim calcmode="lin" valueType="num">
                                      <p:cBhvr additive="base">
                                        <p:cTn id="7" dur="500" fill="hold"/>
                                        <p:tgtEl>
                                          <p:spTgt spid="41881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18818">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418819">
                                            <p:txEl>
                                              <p:pRg st="0" end="0"/>
                                            </p:txEl>
                                          </p:spTgt>
                                        </p:tgtEl>
                                        <p:attrNameLst>
                                          <p:attrName>style.visibility</p:attrName>
                                        </p:attrNameLst>
                                      </p:cBhvr>
                                      <p:to>
                                        <p:strVal val="visible"/>
                                      </p:to>
                                    </p:set>
                                    <p:animEffect transition="in" filter="wipe(left)">
                                      <p:cBhvr>
                                        <p:cTn id="13" dur="500"/>
                                        <p:tgtEl>
                                          <p:spTgt spid="418819">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1" fill="hold" grpId="0" nodeType="clickEffect">
                                  <p:stCondLst>
                                    <p:cond delay="0"/>
                                  </p:stCondLst>
                                  <p:childTnLst>
                                    <p:set>
                                      <p:cBhvr>
                                        <p:cTn id="17" dur="1" fill="hold">
                                          <p:stCondLst>
                                            <p:cond delay="0"/>
                                          </p:stCondLst>
                                        </p:cTn>
                                        <p:tgtEl>
                                          <p:spTgt spid="418820">
                                            <p:txEl>
                                              <p:pRg st="0" end="0"/>
                                            </p:txEl>
                                          </p:spTgt>
                                        </p:tgtEl>
                                        <p:attrNameLst>
                                          <p:attrName>style.visibility</p:attrName>
                                        </p:attrNameLst>
                                      </p:cBhvr>
                                      <p:to>
                                        <p:strVal val="visible"/>
                                      </p:to>
                                    </p:set>
                                    <p:anim calcmode="lin" valueType="num">
                                      <p:cBhvr additive="base">
                                        <p:cTn id="18" dur="500" fill="hold"/>
                                        <p:tgtEl>
                                          <p:spTgt spid="418820">
                                            <p:txEl>
                                              <p:pRg st="0" end="0"/>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418820">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418821">
                                            <p:txEl>
                                              <p:pRg st="0" end="0"/>
                                            </p:txEl>
                                          </p:spTgt>
                                        </p:tgtEl>
                                        <p:attrNameLst>
                                          <p:attrName>style.visibility</p:attrName>
                                        </p:attrNameLst>
                                      </p:cBhvr>
                                      <p:to>
                                        <p:strVal val="visible"/>
                                      </p:to>
                                    </p:set>
                                    <p:anim calcmode="lin" valueType="num">
                                      <p:cBhvr additive="base">
                                        <p:cTn id="24" dur="500" fill="hold"/>
                                        <p:tgtEl>
                                          <p:spTgt spid="418821">
                                            <p:txEl>
                                              <p:pRg st="0" end="0"/>
                                            </p:txEl>
                                          </p:spTgt>
                                        </p:tgtEl>
                                        <p:attrNameLst>
                                          <p:attrName>ppt_x</p:attrName>
                                        </p:attrNameLst>
                                      </p:cBhvr>
                                      <p:tavLst>
                                        <p:tav tm="0">
                                          <p:val>
                                            <p:strVal val="0-#ppt_w/2"/>
                                          </p:val>
                                        </p:tav>
                                        <p:tav tm="100000">
                                          <p:val>
                                            <p:strVal val="#ppt_x"/>
                                          </p:val>
                                        </p:tav>
                                      </p:tavLst>
                                    </p:anim>
                                    <p:anim calcmode="lin" valueType="num">
                                      <p:cBhvr additive="base">
                                        <p:cTn id="25" dur="500" fill="hold"/>
                                        <p:tgtEl>
                                          <p:spTgt spid="41882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418822">
                                            <p:txEl>
                                              <p:pRg st="0" end="0"/>
                                            </p:txEl>
                                          </p:spTgt>
                                        </p:tgtEl>
                                        <p:attrNameLst>
                                          <p:attrName>style.visibility</p:attrName>
                                        </p:attrNameLst>
                                      </p:cBhvr>
                                      <p:to>
                                        <p:strVal val="visible"/>
                                      </p:to>
                                    </p:set>
                                    <p:animEffect transition="in" filter="wipe(left)">
                                      <p:cBhvr>
                                        <p:cTn id="30" dur="500"/>
                                        <p:tgtEl>
                                          <p:spTgt spid="418822">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grpId="0" nodeType="clickEffect">
                                  <p:stCondLst>
                                    <p:cond delay="0"/>
                                  </p:stCondLst>
                                  <p:iterate type="lt">
                                    <p:tmPct val="100000"/>
                                  </p:iterate>
                                  <p:childTnLst>
                                    <p:set>
                                      <p:cBhvr>
                                        <p:cTn id="34" dur="1" fill="hold">
                                          <p:stCondLst>
                                            <p:cond delay="0"/>
                                          </p:stCondLst>
                                        </p:cTn>
                                        <p:tgtEl>
                                          <p:spTgt spid="418823">
                                            <p:txEl>
                                              <p:pRg st="0" end="0"/>
                                            </p:txEl>
                                          </p:spTgt>
                                        </p:tgtEl>
                                        <p:attrNameLst>
                                          <p:attrName>style.visibility</p:attrName>
                                        </p:attrNameLst>
                                      </p:cBhvr>
                                      <p:to>
                                        <p:strVal val="visible"/>
                                      </p:to>
                                    </p:set>
                                    <p:animEffect transition="in" filter="wipe(up)">
                                      <p:cBhvr>
                                        <p:cTn id="35" dur="75"/>
                                        <p:tgtEl>
                                          <p:spTgt spid="418823">
                                            <p:txEl>
                                              <p:pRg st="0" end="0"/>
                                            </p:txEl>
                                          </p:spTgt>
                                        </p:tgtEl>
                                      </p:cBhvr>
                                    </p:animEffect>
                                  </p:childTnLst>
                                  <p:subTnLst>
                                    <p:audio>
                                      <p:cMediaNode>
                                        <p:cTn display="0" masterRel="sameClick">
                                          <p:stCondLst>
                                            <p:cond evt="begin" delay="0">
                                              <p:tn val="33"/>
                                            </p:cond>
                                          </p:stCondLst>
                                          <p:endCondLst>
                                            <p:cond evt="onStopAudio" delay="0">
                                              <p:tgtEl>
                                                <p:sldTgt/>
                                              </p:tgtEl>
                                            </p:cond>
                                          </p:endCondLst>
                                        </p:cTn>
                                        <p:tgtEl>
                                          <p:sndTgt r:embed="rId2"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8818" grpId="0" build="p"/>
      <p:bldP spid="418819" grpId="0" build="p"/>
      <p:bldP spid="418820" grpId="0" build="p"/>
      <p:bldP spid="418821" grpId="0" build="p"/>
      <p:bldP spid="418822" grpId="0" build="p"/>
      <p:bldP spid="41882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文本占位符 512002"/>
          <p:cNvSpPr>
            <a:spLocks noGrp="1" noRot="1"/>
          </p:cNvSpPr>
          <p:nvPr>
            <p:ph idx="1"/>
          </p:nvPr>
        </p:nvSpPr>
        <p:spPr>
          <a:xfrm>
            <a:off x="373380" y="459740"/>
            <a:ext cx="8229600" cy="4525963"/>
          </a:xfrm>
          <a:ln/>
        </p:spPr>
        <p:txBody>
          <a:bodyPr anchor="t"/>
          <a:lstStyle/>
          <a:p>
            <a:pPr>
              <a:buNone/>
            </a:pPr>
            <a:r>
              <a:rPr lang="zh-CN" altLang="en-US" sz="2200" b="1" dirty="0"/>
              <a:t>            </a:t>
            </a:r>
            <a:r>
              <a:rPr lang="zh-CN" altLang="en-US" sz="2200" b="1" dirty="0">
                <a:solidFill>
                  <a:schemeClr val="tx1"/>
                </a:solidFill>
              </a:rPr>
              <a:t>在生物体内</a:t>
            </a:r>
            <a:r>
              <a:rPr lang="en-US" altLang="zh-CN" sz="2200" b="1">
                <a:solidFill>
                  <a:schemeClr val="tx1"/>
                </a:solidFill>
              </a:rPr>
              <a:t>,</a:t>
            </a:r>
            <a:r>
              <a:rPr lang="zh-CN" altLang="en-US" sz="2200" b="1" dirty="0">
                <a:solidFill>
                  <a:schemeClr val="tx1"/>
                </a:solidFill>
              </a:rPr>
              <a:t>存在着一类能推动新陈代谢、促使一切与生命有关的化学反应顺利进行的物质</a:t>
            </a:r>
            <a:r>
              <a:rPr lang="en-US" altLang="zh-CN" sz="2200" b="1">
                <a:solidFill>
                  <a:schemeClr val="tx1"/>
                </a:solidFill>
              </a:rPr>
              <a:t>,</a:t>
            </a:r>
            <a:r>
              <a:rPr lang="zh-CN" altLang="en-US" sz="2200" b="1" dirty="0">
                <a:solidFill>
                  <a:schemeClr val="tx1"/>
                </a:solidFill>
              </a:rPr>
              <a:t>这种物质就是酶。酶有一个十分庞大的家族</a:t>
            </a:r>
            <a:r>
              <a:rPr lang="en-US" altLang="zh-CN" sz="2200" b="1">
                <a:solidFill>
                  <a:schemeClr val="tx1"/>
                </a:solidFill>
              </a:rPr>
              <a:t>,</a:t>
            </a:r>
            <a:r>
              <a:rPr lang="zh-CN" altLang="en-US" sz="2200" b="1" dirty="0">
                <a:solidFill>
                  <a:schemeClr val="tx1"/>
                </a:solidFill>
              </a:rPr>
              <a:t>目前已知的酶约有</a:t>
            </a:r>
            <a:r>
              <a:rPr lang="en-US" altLang="zh-CN" sz="2200" b="1">
                <a:solidFill>
                  <a:schemeClr val="tx1"/>
                </a:solidFill>
              </a:rPr>
              <a:t>2000</a:t>
            </a:r>
            <a:r>
              <a:rPr lang="zh-CN" altLang="en-US" sz="2200" b="1" dirty="0">
                <a:solidFill>
                  <a:schemeClr val="tx1"/>
                </a:solidFill>
              </a:rPr>
              <a:t>多种</a:t>
            </a:r>
            <a:r>
              <a:rPr lang="en-US" altLang="zh-CN" sz="2200" b="1">
                <a:solidFill>
                  <a:schemeClr val="tx1"/>
                </a:solidFill>
              </a:rPr>
              <a:t>,</a:t>
            </a:r>
            <a:r>
              <a:rPr lang="zh-CN" altLang="en-US" sz="2200" b="1" dirty="0">
                <a:solidFill>
                  <a:schemeClr val="tx1"/>
                </a:solidFill>
              </a:rPr>
              <a:t>而人体中就含有</a:t>
            </a:r>
            <a:r>
              <a:rPr lang="en-US" altLang="zh-CN" sz="2200" b="1">
                <a:solidFill>
                  <a:schemeClr val="tx1"/>
                </a:solidFill>
              </a:rPr>
              <a:t>700</a:t>
            </a:r>
            <a:r>
              <a:rPr lang="zh-CN" altLang="en-US" sz="2200" b="1" dirty="0">
                <a:solidFill>
                  <a:schemeClr val="tx1"/>
                </a:solidFill>
              </a:rPr>
              <a:t>多种</a:t>
            </a:r>
            <a:r>
              <a:rPr lang="en-US" altLang="zh-CN" sz="2200" b="1">
                <a:solidFill>
                  <a:schemeClr val="tx1"/>
                </a:solidFill>
              </a:rPr>
              <a:t>,</a:t>
            </a:r>
            <a:r>
              <a:rPr lang="zh-CN" altLang="en-US" sz="2200" b="1" dirty="0">
                <a:solidFill>
                  <a:schemeClr val="tx1"/>
                </a:solidFill>
              </a:rPr>
              <a:t>遍布在人的口腔、胃肠道、胰腺、肝脏、肌肉和皮肤里。例如</a:t>
            </a:r>
            <a:r>
              <a:rPr lang="en-US" altLang="zh-CN" sz="2200" b="1">
                <a:solidFill>
                  <a:schemeClr val="tx1"/>
                </a:solidFill>
              </a:rPr>
              <a:t>,</a:t>
            </a:r>
            <a:r>
              <a:rPr lang="zh-CN" altLang="en-US" sz="2200" b="1" dirty="0">
                <a:solidFill>
                  <a:schemeClr val="tx1"/>
                </a:solidFill>
              </a:rPr>
              <a:t>淀粉酶能使淀粉分解</a:t>
            </a:r>
            <a:r>
              <a:rPr lang="en-US" altLang="zh-CN" sz="2200" b="1">
                <a:solidFill>
                  <a:schemeClr val="tx1"/>
                </a:solidFill>
              </a:rPr>
              <a:t>,</a:t>
            </a:r>
            <a:r>
              <a:rPr lang="zh-CN" altLang="en-US" sz="2200" b="1" dirty="0">
                <a:solidFill>
                  <a:schemeClr val="tx1"/>
                </a:solidFill>
              </a:rPr>
              <a:t>蛋白酶只能使蛋白质水解</a:t>
            </a:r>
            <a:r>
              <a:rPr lang="en-US" altLang="zh-CN" sz="2200" b="1">
                <a:solidFill>
                  <a:schemeClr val="tx1"/>
                </a:solidFill>
              </a:rPr>
              <a:t>,</a:t>
            </a:r>
            <a:r>
              <a:rPr lang="zh-CN" altLang="en-US" sz="2200" b="1" dirty="0">
                <a:solidFill>
                  <a:schemeClr val="tx1"/>
                </a:solidFill>
              </a:rPr>
              <a:t>脂肪酶能分解脂肪。胃分泌的胃液其主要功能是消化蛋白质</a:t>
            </a:r>
            <a:r>
              <a:rPr lang="en-US" altLang="zh-CN" sz="2200" b="1">
                <a:solidFill>
                  <a:schemeClr val="tx1"/>
                </a:solidFill>
              </a:rPr>
              <a:t>;</a:t>
            </a:r>
            <a:r>
              <a:rPr lang="zh-CN" altLang="en-US" sz="2200" b="1" dirty="0">
                <a:solidFill>
                  <a:schemeClr val="tx1"/>
                </a:solidFill>
              </a:rPr>
              <a:t>胰分泌的胰液中除含蛋白酶外</a:t>
            </a:r>
            <a:r>
              <a:rPr lang="en-US" altLang="zh-CN" sz="2200" b="1">
                <a:solidFill>
                  <a:schemeClr val="tx1"/>
                </a:solidFill>
              </a:rPr>
              <a:t>,</a:t>
            </a:r>
            <a:r>
              <a:rPr lang="zh-CN" altLang="en-US" sz="2200" b="1" dirty="0">
                <a:solidFill>
                  <a:schemeClr val="tx1"/>
                </a:solidFill>
              </a:rPr>
              <a:t>还含有淀粉酶、脂肪酶</a:t>
            </a:r>
            <a:r>
              <a:rPr lang="en-US" altLang="zh-CN" sz="2200" b="1">
                <a:solidFill>
                  <a:schemeClr val="tx1"/>
                </a:solidFill>
              </a:rPr>
              <a:t>,</a:t>
            </a:r>
            <a:r>
              <a:rPr lang="zh-CN" altLang="en-US" sz="2200" b="1" dirty="0">
                <a:solidFill>
                  <a:schemeClr val="tx1"/>
                </a:solidFill>
              </a:rPr>
              <a:t>故胰液既能消化蛋白质</a:t>
            </a:r>
            <a:r>
              <a:rPr lang="en-US" altLang="zh-CN" sz="2200" b="1">
                <a:solidFill>
                  <a:schemeClr val="tx1"/>
                </a:solidFill>
              </a:rPr>
              <a:t>,</a:t>
            </a:r>
            <a:r>
              <a:rPr lang="zh-CN" altLang="en-US" sz="2200" b="1" dirty="0">
                <a:solidFill>
                  <a:schemeClr val="tx1"/>
                </a:solidFill>
              </a:rPr>
              <a:t>又能消化淀粉和脂肪等等</a:t>
            </a:r>
          </a:p>
          <a:p>
            <a:pPr>
              <a:buNone/>
            </a:pPr>
            <a:r>
              <a:rPr lang="zh-CN" altLang="en-US" sz="2200" b="1" dirty="0">
                <a:solidFill>
                  <a:srgbClr val="FF0000"/>
                </a:solidFill>
              </a:rPr>
              <a:t>有的人可以喝很多酒，而有的人沾酒就醉，有的人连牛奶都不能喝，这是为什么呢？</a:t>
            </a:r>
            <a:r>
              <a:rPr lang="zh-CN" altLang="en-US" dirty="0">
                <a:solidFill>
                  <a:srgbClr val="FF0000"/>
                </a:solidFill>
              </a:rPr>
              <a:t> </a:t>
            </a:r>
            <a:endParaRPr lang="en-US" altLang="zh-CN" b="1">
              <a:solidFill>
                <a:srgbClr val="FF0000"/>
              </a:solidFill>
            </a:endParaRPr>
          </a:p>
          <a:p>
            <a:pPr>
              <a:buNone/>
            </a:pPr>
            <a:r>
              <a:rPr lang="en-US" altLang="zh-CN" sz="2200" b="1">
                <a:solidFill>
                  <a:schemeClr val="hlink"/>
                </a:solidFill>
              </a:rPr>
              <a:t>1</a:t>
            </a:r>
            <a:r>
              <a:rPr lang="zh-CN" altLang="en-US" sz="2200" b="1" dirty="0">
                <a:solidFill>
                  <a:schemeClr val="hlink"/>
                </a:solidFill>
              </a:rPr>
              <a:t>、</a:t>
            </a:r>
            <a:r>
              <a:rPr lang="zh-CN" altLang="en-US" sz="2200" b="1" dirty="0"/>
              <a:t>导致酒量差异的是乙醛脱氢酶，（乙醛脱氢酶参与酒精代谢，酒精在体内降解为乙醛后，由乙醛脱氢酶进行酸化，分解为二氧化碳和水。</a:t>
            </a:r>
            <a:r>
              <a:rPr lang="zh-CN" altLang="en-US" sz="2200" dirty="0"/>
              <a:t> </a:t>
            </a:r>
            <a:r>
              <a:rPr lang="zh-CN" altLang="en-US" sz="2200" b="1" dirty="0"/>
              <a:t>）</a:t>
            </a:r>
            <a:endParaRPr lang="zh-CN" altLang="en-US" sz="2200" b="1" dirty="0">
              <a:solidFill>
                <a:schemeClr val="hlink"/>
              </a:solidFill>
            </a:endParaRPr>
          </a:p>
          <a:p>
            <a:pPr>
              <a:buNone/>
            </a:pPr>
            <a:r>
              <a:rPr lang="en-US" altLang="zh-CN" sz="2200" b="1">
                <a:solidFill>
                  <a:schemeClr val="hlink"/>
                </a:solidFill>
              </a:rPr>
              <a:t>2</a:t>
            </a:r>
            <a:r>
              <a:rPr lang="zh-CN" altLang="en-US" sz="2200" b="1" dirty="0">
                <a:solidFill>
                  <a:schemeClr val="hlink"/>
                </a:solidFill>
              </a:rPr>
              <a:t>、</a:t>
            </a:r>
            <a:r>
              <a:rPr lang="zh-CN" altLang="en-US" sz="2200" b="1" dirty="0"/>
              <a:t>乳糖酶不足的人则不能喝牛奶。</a:t>
            </a:r>
            <a:r>
              <a:rPr lang="zh-CN" altLang="en-US" sz="2200" dirty="0"/>
              <a:t> </a:t>
            </a:r>
            <a:endParaRPr lang="zh-CN" altLang="en-US" sz="2200" b="1" dirty="0">
              <a:solidFill>
                <a:schemeClr val="hlink"/>
              </a:solidFill>
            </a:endParaRPr>
          </a:p>
          <a:p>
            <a:endParaRPr lang="zh-CN" altLang="en-US" dirty="0"/>
          </a:p>
        </p:txBody>
      </p:sp>
      <p:sp>
        <p:nvSpPr>
          <p:cNvPr id="24578" name="灯片编号占位符 1"/>
          <p:cNvSpPr>
            <a:spLocks noGrp="1"/>
          </p:cNvSpPr>
          <p:nvPr>
            <p:ph type="sldNum" sz="quarter" idx="11"/>
          </p:nvPr>
        </p:nvSpPr>
        <p:spPr>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400" dirty="0"/>
              <a:pPr lvl="0" indent="0" algn="r"/>
              <a:t>23</a:t>
            </a:fld>
            <a:endParaRPr lang="zh-CN" altLang="en-US" sz="1400"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5618" name="标题 495617"/>
          <p:cNvSpPr>
            <a:spLocks noGrp="1" noRot="1"/>
          </p:cNvSpPr>
          <p:nvPr>
            <p:ph type="title"/>
          </p:nvPr>
        </p:nvSpPr>
        <p:spPr>
          <a:xfrm>
            <a:off x="457200" y="0"/>
            <a:ext cx="8229600" cy="1143000"/>
          </a:xfrm>
          <a:ln/>
        </p:spPr>
        <p:txBody>
          <a:bodyPr anchor="ctr"/>
          <a:lstStyle/>
          <a:p>
            <a:r>
              <a:rPr lang="zh-CN" altLang="en-US" sz="3600" b="1" dirty="0">
                <a:solidFill>
                  <a:srgbClr val="0000FF"/>
                </a:solidFill>
              </a:rPr>
              <a:t>酶的一些应用</a:t>
            </a:r>
          </a:p>
        </p:txBody>
      </p:sp>
      <p:sp>
        <p:nvSpPr>
          <p:cNvPr id="495619" name="内容占位符 495618"/>
          <p:cNvSpPr>
            <a:spLocks noGrp="1" noRot="1"/>
          </p:cNvSpPr>
          <p:nvPr>
            <p:ph idx="1"/>
          </p:nvPr>
        </p:nvSpPr>
        <p:spPr>
          <a:xfrm>
            <a:off x="0" y="857232"/>
            <a:ext cx="8763000" cy="4525963"/>
          </a:xfrm>
          <a:ln/>
        </p:spPr>
        <p:txBody>
          <a:bodyPr anchor="t"/>
          <a:lstStyle/>
          <a:p>
            <a:pPr>
              <a:lnSpc>
                <a:spcPct val="150000"/>
              </a:lnSpc>
            </a:pPr>
            <a:r>
              <a:rPr lang="zh-CN" altLang="en-US" sz="2800" b="1" dirty="0" smtClean="0">
                <a:solidFill>
                  <a:srgbClr val="FF0000"/>
                </a:solidFill>
              </a:rPr>
              <a:t>        木瓜蛋白酶</a:t>
            </a:r>
            <a:r>
              <a:rPr lang="zh-CN" altLang="en-US" sz="2800" b="1" dirty="0"/>
              <a:t>：是利用未成熟的番木瓜果实中的乳汁，提炼而成的纯天然生物酶制品。</a:t>
            </a:r>
          </a:p>
          <a:p>
            <a:pPr>
              <a:lnSpc>
                <a:spcPct val="150000"/>
              </a:lnSpc>
              <a:buNone/>
            </a:pPr>
            <a:r>
              <a:rPr lang="zh-CN" altLang="en-US" sz="2800" b="1" dirty="0"/>
              <a:t>        可利用酶促反应，使食品大分子的蛋白质水解成小分子肽或氨基酸；具有独特的美白嫩肤、美颜保健、祛斑除污垢、促进血液循环、改善肌肤等功效 </a:t>
            </a:r>
          </a:p>
        </p:txBody>
      </p:sp>
      <p:sp>
        <p:nvSpPr>
          <p:cNvPr id="25604" name="灯片编号占位符 1"/>
          <p:cNvSpPr>
            <a:spLocks noGrp="1"/>
          </p:cNvSpPr>
          <p:nvPr>
            <p:ph type="sldNum" sz="quarter" idx="11"/>
          </p:nvPr>
        </p:nvSpPr>
        <p:spPr>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400" dirty="0"/>
              <a:pPr lvl="0" indent="0" algn="r"/>
              <a:t>24</a:t>
            </a:fld>
            <a:endParaRPr lang="zh-CN" altLang="en-US" sz="1400" dirty="0"/>
          </a:p>
        </p:txBody>
      </p:sp>
      <p:pic>
        <p:nvPicPr>
          <p:cNvPr id="43010" name="Picture 2" descr="http://img06.tooopen.com/images/20160812/tooopen_sy_175417726786.jpg"/>
          <p:cNvPicPr>
            <a:picLocks noChangeAspect="1" noChangeArrowheads="1"/>
          </p:cNvPicPr>
          <p:nvPr/>
        </p:nvPicPr>
        <p:blipFill>
          <a:blip r:embed="rId2"/>
          <a:srcRect/>
          <a:stretch>
            <a:fillRect/>
          </a:stretch>
        </p:blipFill>
        <p:spPr bwMode="auto">
          <a:xfrm>
            <a:off x="5329214" y="4239087"/>
            <a:ext cx="3357586" cy="2390313"/>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495618"/>
                                        </p:tgtEl>
                                        <p:attrNameLst>
                                          <p:attrName>style.visibility</p:attrName>
                                        </p:attrNameLst>
                                      </p:cBhvr>
                                      <p:to>
                                        <p:strVal val="visible"/>
                                      </p:to>
                                    </p:set>
                                    <p:anim calcmode="lin" valueType="num">
                                      <p:cBhvr>
                                        <p:cTn id="7" dur="1" fill="hold"/>
                                        <p:tgtEl>
                                          <p:spTgt spid="495618"/>
                                        </p:tgtEl>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495619">
                                            <p:txEl>
                                              <p:pRg st="0" end="0"/>
                                            </p:txEl>
                                          </p:spTgt>
                                        </p:tgtEl>
                                        <p:attrNameLst>
                                          <p:attrName>style.visibility</p:attrName>
                                        </p:attrNameLst>
                                      </p:cBhvr>
                                      <p:to>
                                        <p:strVal val="visible"/>
                                      </p:to>
                                    </p:set>
                                    <p:anim calcmode="lin" valueType="num">
                                      <p:cBhvr>
                                        <p:cTn id="12" dur="1" fill="hold"/>
                                        <p:tgtEl>
                                          <p:spTgt spid="495619">
                                            <p:txEl>
                                              <p:pRg st="0" end="0"/>
                                            </p:txEl>
                                          </p:spTgt>
                                        </p:tgtEl>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nodeType="clickEffect">
                                  <p:stCondLst>
                                    <p:cond delay="0"/>
                                  </p:stCondLst>
                                  <p:childTnLst>
                                    <p:set>
                                      <p:cBhvr>
                                        <p:cTn id="16" dur="1" fill="hold">
                                          <p:stCondLst>
                                            <p:cond delay="0"/>
                                          </p:stCondLst>
                                        </p:cTn>
                                        <p:tgtEl>
                                          <p:spTgt spid="495619">
                                            <p:txEl>
                                              <p:pRg st="1" end="1"/>
                                            </p:txEl>
                                          </p:spTgt>
                                        </p:tgtEl>
                                        <p:attrNameLst>
                                          <p:attrName>style.visibility</p:attrName>
                                        </p:attrNameLst>
                                      </p:cBhvr>
                                      <p:to>
                                        <p:strVal val="visible"/>
                                      </p:to>
                                    </p:set>
                                    <p:anim calcmode="lin" valueType="num">
                                      <p:cBhvr>
                                        <p:cTn id="17" dur="1" fill="hold"/>
                                        <p:tgtEl>
                                          <p:spTgt spid="495619">
                                            <p:txEl>
                                              <p:pRg st="1" end="1"/>
                                            </p:txEl>
                                          </p:spTgt>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561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643" name="内容占位符 496642"/>
          <p:cNvSpPr>
            <a:spLocks noGrp="1" noRot="1"/>
          </p:cNvSpPr>
          <p:nvPr>
            <p:ph idx="1"/>
          </p:nvPr>
        </p:nvSpPr>
        <p:spPr>
          <a:xfrm>
            <a:off x="214282" y="374649"/>
            <a:ext cx="8548718" cy="4525963"/>
          </a:xfrm>
          <a:ln/>
        </p:spPr>
        <p:txBody>
          <a:bodyPr anchor="t"/>
          <a:lstStyle/>
          <a:p>
            <a:pPr>
              <a:lnSpc>
                <a:spcPct val="150000"/>
              </a:lnSpc>
            </a:pPr>
            <a:r>
              <a:rPr lang="zh-CN" altLang="en-US" sz="2800" b="1" dirty="0" smtClean="0">
                <a:solidFill>
                  <a:srgbClr val="C00000"/>
                </a:solidFill>
              </a:rPr>
              <a:t>      加</a:t>
            </a:r>
            <a:r>
              <a:rPr lang="zh-CN" altLang="en-US" sz="2800" b="1" dirty="0">
                <a:solidFill>
                  <a:srgbClr val="C00000"/>
                </a:solidFill>
              </a:rPr>
              <a:t>酶洗衣粉</a:t>
            </a:r>
            <a:r>
              <a:rPr lang="zh-CN" altLang="en-US" sz="2800" b="1" dirty="0"/>
              <a:t>：这些酶制剂不仅可以有效地清除衣物上的污渍</a:t>
            </a:r>
            <a:r>
              <a:rPr lang="en-US" altLang="zh-CN" sz="2800" b="1" dirty="0"/>
              <a:t>,</a:t>
            </a:r>
            <a:r>
              <a:rPr lang="zh-CN" altLang="en-US" sz="2800" b="1" dirty="0"/>
              <a:t>而且对人体没有毒害作用</a:t>
            </a:r>
            <a:r>
              <a:rPr lang="en-US" altLang="zh-CN" sz="2800" b="1" dirty="0"/>
              <a:t>,</a:t>
            </a:r>
            <a:r>
              <a:rPr lang="zh-CN" altLang="en-US" sz="2800" b="1" dirty="0"/>
              <a:t>并且这些酶制剂及其分解产物能够被微生物分解</a:t>
            </a:r>
            <a:r>
              <a:rPr lang="en-US" altLang="zh-CN" sz="2800" b="1" dirty="0"/>
              <a:t>,</a:t>
            </a:r>
            <a:r>
              <a:rPr lang="zh-CN" altLang="en-US" sz="2800" b="1" dirty="0"/>
              <a:t>不会污染环境。</a:t>
            </a:r>
          </a:p>
          <a:p>
            <a:pPr>
              <a:lnSpc>
                <a:spcPct val="150000"/>
              </a:lnSpc>
              <a:spcBef>
                <a:spcPts val="0"/>
              </a:spcBef>
            </a:pPr>
            <a:r>
              <a:rPr lang="zh-CN" altLang="en-US" sz="2800" b="1" dirty="0" smtClean="0">
                <a:solidFill>
                  <a:srgbClr val="C00000"/>
                </a:solidFill>
              </a:rPr>
              <a:t>      溶</a:t>
            </a:r>
            <a:r>
              <a:rPr lang="zh-CN" altLang="en-US" sz="2800" b="1" dirty="0">
                <a:solidFill>
                  <a:srgbClr val="C00000"/>
                </a:solidFill>
              </a:rPr>
              <a:t>脂酶：</a:t>
            </a:r>
            <a:r>
              <a:rPr lang="zh-CN" altLang="en-US" sz="2800" b="1" dirty="0"/>
              <a:t>一种多肽类生物活性物质。促进储存脂肪的水解，使血中游离脂肪酸的</a:t>
            </a:r>
            <a:r>
              <a:rPr lang="zh-CN" altLang="en-US" sz="2800" b="1" dirty="0" smtClean="0"/>
              <a:t>浓度      </a:t>
            </a:r>
            <a:r>
              <a:rPr lang="en-US" altLang="zh-CN" sz="2800" b="1" dirty="0" smtClean="0"/>
              <a:t>   </a:t>
            </a:r>
            <a:r>
              <a:rPr lang="zh-CN" altLang="en-US" sz="2800" b="1" dirty="0" smtClean="0"/>
              <a:t>增加</a:t>
            </a:r>
            <a:r>
              <a:rPr lang="zh-CN" altLang="en-US" sz="2800" b="1" dirty="0"/>
              <a:t>，供机体能量消耗</a:t>
            </a:r>
          </a:p>
          <a:p>
            <a:pPr>
              <a:buNone/>
            </a:pPr>
            <a:endParaRPr lang="zh-CN" altLang="en-US" dirty="0"/>
          </a:p>
        </p:txBody>
      </p:sp>
      <p:sp>
        <p:nvSpPr>
          <p:cNvPr id="26627" name="灯片编号占位符 1"/>
          <p:cNvSpPr>
            <a:spLocks noGrp="1"/>
          </p:cNvSpPr>
          <p:nvPr>
            <p:ph type="sldNum" sz="quarter" idx="11"/>
          </p:nvPr>
        </p:nvSpPr>
        <p:spPr>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400" dirty="0"/>
              <a:pPr lvl="0" indent="0" algn="r"/>
              <a:t>25</a:t>
            </a:fld>
            <a:endParaRPr lang="zh-CN" altLang="en-US" sz="1400" dirty="0"/>
          </a:p>
        </p:txBody>
      </p:sp>
      <p:pic>
        <p:nvPicPr>
          <p:cNvPr id="41986" name="Picture 2" descr="http://img.178hui.com/upload/2016/1123/19355463870.jpg"/>
          <p:cNvPicPr>
            <a:picLocks noChangeAspect="1" noChangeArrowheads="1"/>
          </p:cNvPicPr>
          <p:nvPr/>
        </p:nvPicPr>
        <p:blipFill>
          <a:blip r:embed="rId2"/>
          <a:srcRect l="12857" r="12142" b="5999"/>
          <a:stretch>
            <a:fillRect/>
          </a:stretch>
        </p:blipFill>
        <p:spPr bwMode="auto">
          <a:xfrm>
            <a:off x="6500826" y="3724254"/>
            <a:ext cx="2500330" cy="3133746"/>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496643">
                                            <p:txEl>
                                              <p:pRg st="0" end="0"/>
                                            </p:txEl>
                                          </p:spTgt>
                                        </p:tgtEl>
                                        <p:attrNameLst>
                                          <p:attrName>style.visibility</p:attrName>
                                        </p:attrNameLst>
                                      </p:cBhvr>
                                      <p:to>
                                        <p:strVal val="visible"/>
                                      </p:to>
                                    </p:set>
                                    <p:anim calcmode="lin" valueType="num">
                                      <p:cBhvr>
                                        <p:cTn id="7" dur="1" fill="hold"/>
                                        <p:tgtEl>
                                          <p:spTgt spid="496643">
                                            <p:txEl>
                                              <p:pRg st="0" end="0"/>
                                            </p:txEl>
                                          </p:spTgt>
                                        </p:tgtEl>
                                      </p:cBhvr>
                                    </p:anim>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41986"/>
                                        </p:tgtEl>
                                        <p:attrNameLst>
                                          <p:attrName>style.visibility</p:attrName>
                                        </p:attrNameLst>
                                      </p:cBhvr>
                                      <p:to>
                                        <p:strVal val="visible"/>
                                      </p:to>
                                    </p:set>
                                    <p:animEffect transition="in" filter="checkerboard(across)">
                                      <p:cBhvr>
                                        <p:cTn id="12" dur="500"/>
                                        <p:tgtEl>
                                          <p:spTgt spid="41986"/>
                                        </p:tgtEl>
                                      </p:cBhvr>
                                    </p:animEffect>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nodeType="clickEffect">
                                  <p:stCondLst>
                                    <p:cond delay="0"/>
                                  </p:stCondLst>
                                  <p:childTnLst>
                                    <p:set>
                                      <p:cBhvr>
                                        <p:cTn id="16" dur="1" fill="hold">
                                          <p:stCondLst>
                                            <p:cond delay="0"/>
                                          </p:stCondLst>
                                        </p:cTn>
                                        <p:tgtEl>
                                          <p:spTgt spid="496643">
                                            <p:txEl>
                                              <p:pRg st="1" end="1"/>
                                            </p:txEl>
                                          </p:spTgt>
                                        </p:tgtEl>
                                        <p:attrNameLst>
                                          <p:attrName>style.visibility</p:attrName>
                                        </p:attrNameLst>
                                      </p:cBhvr>
                                      <p:to>
                                        <p:strVal val="visible"/>
                                      </p:to>
                                    </p:set>
                                    <p:anim calcmode="lin" valueType="num">
                                      <p:cBhvr>
                                        <p:cTn id="17" dur="1" fill="hold"/>
                                        <p:tgtEl>
                                          <p:spTgt spid="496643">
                                            <p:txEl>
                                              <p:pRg st="1" end="1"/>
                                            </p:txEl>
                                          </p:spTgt>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文本占位符 559106"/>
          <p:cNvSpPr>
            <a:spLocks noGrp="1" noRot="1"/>
          </p:cNvSpPr>
          <p:nvPr>
            <p:ph idx="1"/>
          </p:nvPr>
        </p:nvSpPr>
        <p:spPr>
          <a:ln/>
        </p:spPr>
        <p:txBody>
          <a:bodyPr anchor="t"/>
          <a:lstStyle/>
          <a:p>
            <a:pPr>
              <a:lnSpc>
                <a:spcPct val="150000"/>
              </a:lnSpc>
            </a:pPr>
            <a:r>
              <a:rPr lang="zh-CN" altLang="en-US" sz="2800" b="1" dirty="0">
                <a:latin typeface="Times New Roman" pitchFamily="18" charset="0"/>
                <a:cs typeface="Times New Roman" pitchFamily="18" charset="0"/>
              </a:rPr>
              <a:t>核酸是一类多聚核苷酸，是一类重要的生物大分子，核酸的相关知识是研究遗传规律、生物技术等的必需基础。</a:t>
            </a:r>
          </a:p>
          <a:p>
            <a:pPr algn="l">
              <a:lnSpc>
                <a:spcPct val="150000"/>
              </a:lnSpc>
            </a:pPr>
            <a:r>
              <a:rPr lang="zh-CN" altLang="en-US" sz="2800" b="1" dirty="0">
                <a:latin typeface="Times New Roman" pitchFamily="18" charset="0"/>
                <a:cs typeface="Times New Roman" pitchFamily="18" charset="0"/>
              </a:rPr>
              <a:t>核酸根据含糖的种类分为：</a:t>
            </a:r>
          </a:p>
          <a:p>
            <a:pPr algn="l">
              <a:lnSpc>
                <a:spcPct val="150000"/>
              </a:lnSpc>
            </a:pPr>
            <a:r>
              <a:rPr lang="zh-CN" altLang="en-US" sz="2800" b="1" dirty="0">
                <a:latin typeface="Times New Roman" pitchFamily="18" charset="0"/>
                <a:cs typeface="Times New Roman" pitchFamily="18" charset="0"/>
              </a:rPr>
              <a:t>核糖核酸（</a:t>
            </a:r>
            <a:r>
              <a:rPr lang="en-US" altLang="zh-CN" sz="2800" b="1" dirty="0">
                <a:latin typeface="Times New Roman" pitchFamily="18" charset="0"/>
                <a:cs typeface="Times New Roman" pitchFamily="18" charset="0"/>
              </a:rPr>
              <a:t>RNA)</a:t>
            </a:r>
          </a:p>
          <a:p>
            <a:pPr algn="l">
              <a:lnSpc>
                <a:spcPct val="150000"/>
              </a:lnSpc>
            </a:pPr>
            <a:r>
              <a:rPr lang="zh-CN" altLang="en-US" sz="2800" b="1" dirty="0">
                <a:latin typeface="Times New Roman" pitchFamily="18" charset="0"/>
                <a:cs typeface="Times New Roman" pitchFamily="18" charset="0"/>
              </a:rPr>
              <a:t>脱氧核糖核酸（</a:t>
            </a:r>
            <a:r>
              <a:rPr lang="en-US" altLang="zh-CN" sz="2800" b="1" dirty="0">
                <a:latin typeface="Times New Roman" pitchFamily="18" charset="0"/>
                <a:cs typeface="Times New Roman" pitchFamily="18" charset="0"/>
              </a:rPr>
              <a:t>DNA</a:t>
            </a:r>
            <a:r>
              <a:rPr lang="zh-CN" altLang="en-US" sz="2800" b="1" dirty="0">
                <a:latin typeface="Times New Roman" pitchFamily="18" charset="0"/>
                <a:cs typeface="Times New Roman" pitchFamily="18" charset="0"/>
              </a:rPr>
              <a:t>）</a:t>
            </a:r>
          </a:p>
        </p:txBody>
      </p:sp>
      <p:sp>
        <p:nvSpPr>
          <p:cNvPr id="27651" name="灯片编号占位符 1"/>
          <p:cNvSpPr>
            <a:spLocks noGrp="1"/>
          </p:cNvSpPr>
          <p:nvPr>
            <p:ph type="sldNum" sz="quarter" idx="11"/>
          </p:nvPr>
        </p:nvSpPr>
        <p:spPr>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400" dirty="0"/>
              <a:pPr lvl="0" indent="0" algn="r"/>
              <a:t>26</a:t>
            </a:fld>
            <a:endParaRPr lang="zh-CN" altLang="en-US" sz="1400" dirty="0"/>
          </a:p>
        </p:txBody>
      </p:sp>
      <p:sp>
        <p:nvSpPr>
          <p:cNvPr id="2" name="标题 1"/>
          <p:cNvSpPr>
            <a:spLocks noGrp="1"/>
          </p:cNvSpPr>
          <p:nvPr>
            <p:ph type="title"/>
          </p:nvPr>
        </p:nvSpPr>
        <p:spPr/>
        <p:txBody>
          <a:bodyPr/>
          <a:lstStyle/>
          <a:p>
            <a:endParaRPr lang="zh-CN" altLang="en-US"/>
          </a:p>
        </p:txBody>
      </p:sp>
      <p:sp>
        <p:nvSpPr>
          <p:cNvPr id="7170" name="Rectangle 2"/>
          <p:cNvSpPr>
            <a:spLocks noChangeArrowheads="1"/>
          </p:cNvSpPr>
          <p:nvPr/>
        </p:nvSpPr>
        <p:spPr bwMode="auto">
          <a:xfrm>
            <a:off x="0" y="418783"/>
            <a:ext cx="9144000" cy="720725"/>
          </a:xfrm>
          <a:prstGeom prst="rect">
            <a:avLst/>
          </a:prstGeom>
          <a:gradFill rotWithShape="1">
            <a:gsLst>
              <a:gs pos="0">
                <a:srgbClr val="0000FF">
                  <a:gamma/>
                  <a:shade val="46275"/>
                  <a:invGamma/>
                </a:srgbClr>
              </a:gs>
              <a:gs pos="50000">
                <a:srgbClr val="0000FF">
                  <a:alpha val="98999"/>
                </a:srgbClr>
              </a:gs>
              <a:gs pos="100000">
                <a:srgbClr val="0000FF">
                  <a:gamma/>
                  <a:shade val="46275"/>
                  <a:invGamma/>
                </a:srgbClr>
              </a:gs>
            </a:gsLst>
            <a:lin ang="5400000" scaled="1"/>
          </a:gradFill>
          <a:ln w="9525">
            <a:noFill/>
            <a:miter lim="800000"/>
          </a:ln>
        </p:spPr>
        <p:txBody>
          <a:bodyPr anchor="ctr"/>
          <a:lstStyle/>
          <a:p>
            <a:pPr marL="0" marR="0" lvl="0" indent="0" algn="ctr" defTabSz="914400" rtl="0" eaLnBrk="1" fontAlgn="base" latinLnBrk="0" hangingPunct="1">
              <a:lnSpc>
                <a:spcPct val="115000"/>
              </a:lnSpc>
              <a:spcBef>
                <a:spcPct val="0"/>
              </a:spcBef>
              <a:spcAft>
                <a:spcPct val="0"/>
              </a:spcAft>
              <a:buClrTx/>
              <a:buSzTx/>
              <a:buFont typeface="Arial" panose="020B0604020202020204" pitchFamily="34" charset="0"/>
              <a:buNone/>
              <a:defRPr/>
            </a:pPr>
            <a:r>
              <a:rPr kumimoji="0" lang="en-US" altLang="zh-CN" sz="3200" b="1" i="0" u="none" strike="noStrike" kern="1200" cap="none" spc="0" normalizeH="0" baseline="0" noProof="0">
                <a:ln>
                  <a:noFill/>
                </a:ln>
                <a:solidFill>
                  <a:schemeClr val="bg1"/>
                </a:solidFill>
                <a:effectLst/>
                <a:uLnTx/>
                <a:uFillTx/>
                <a:latin typeface="楷体_GB2312" pitchFamily="49" charset="-122"/>
                <a:ea typeface="楷体_GB2312" pitchFamily="49" charset="-122"/>
                <a:cs typeface="+mn-cs"/>
              </a:rPr>
              <a:t>§9</a:t>
            </a:r>
            <a:r>
              <a:rPr kumimoji="0" lang="en-US" altLang="zh-CN" sz="3200" b="1" i="0" u="none" strike="noStrike" kern="1200" cap="none" spc="0" normalizeH="0" baseline="0" noProof="0">
                <a:ln>
                  <a:noFill/>
                </a:ln>
                <a:solidFill>
                  <a:schemeClr val="bg1"/>
                </a:solidFill>
                <a:effectLst/>
                <a:uLnTx/>
                <a:uFillTx/>
                <a:latin typeface="Times New Roman" panose="02020603050405020304" pitchFamily="18" charset="0"/>
                <a:ea typeface="楷体_GB2312" pitchFamily="49" charset="-122"/>
                <a:cs typeface="+mn-cs"/>
              </a:rPr>
              <a:t>.2  </a:t>
            </a:r>
            <a:r>
              <a:rPr kumimoji="0" lang="zh-CN" altLang="en-US" sz="3200" b="1" i="0" u="none" strike="noStrike" kern="1200" cap="none" spc="0" normalizeH="0" baseline="0" noProof="0">
                <a:ln>
                  <a:noFill/>
                </a:ln>
                <a:solidFill>
                  <a:schemeClr val="bg1"/>
                </a:solidFill>
                <a:effectLst/>
                <a:uLnTx/>
                <a:uFillTx/>
                <a:latin typeface="Times New Roman" panose="02020603050405020304" pitchFamily="18" charset="0"/>
                <a:ea typeface="楷体_GB2312" pitchFamily="49" charset="-122"/>
                <a:cs typeface="+mn-cs"/>
              </a:rPr>
              <a:t>核酸</a:t>
            </a:r>
          </a:p>
        </p:txBody>
      </p:sp>
      <p:pic>
        <p:nvPicPr>
          <p:cNvPr id="40962" name="Picture 2" descr="http://pic.58pic.com/58pic/15/61/29/83M58PICB7W_1024.jpg"/>
          <p:cNvPicPr>
            <a:picLocks noChangeAspect="1" noChangeArrowheads="1"/>
          </p:cNvPicPr>
          <p:nvPr/>
        </p:nvPicPr>
        <p:blipFill>
          <a:blip r:embed="rId2" cstate="print"/>
          <a:srcRect/>
          <a:stretch>
            <a:fillRect/>
          </a:stretch>
        </p:blipFill>
        <p:spPr bwMode="auto">
          <a:xfrm>
            <a:off x="5076056" y="4242669"/>
            <a:ext cx="4032448" cy="2615331"/>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1" presetClass="entr" presetSubtype="0" fill="hold" nodeType="clickEffect">
                                  <p:stCondLst>
                                    <p:cond delay="0"/>
                                  </p:stCondLst>
                                  <p:iterate type="lt">
                                    <p:tmPct val="10000"/>
                                  </p:iterate>
                                  <p:childTnLst>
                                    <p:set>
                                      <p:cBhvr>
                                        <p:cTn id="6" dur="1" fill="hold">
                                          <p:stCondLst>
                                            <p:cond delay="0"/>
                                          </p:stCondLst>
                                        </p:cTn>
                                        <p:tgtEl>
                                          <p:spTgt spid="7170"/>
                                        </p:tgtEl>
                                        <p:attrNameLst>
                                          <p:attrName>style.visibility</p:attrName>
                                        </p:attrNameLst>
                                      </p:cBhvr>
                                      <p:to>
                                        <p:strVal val="visible"/>
                                      </p:to>
                                    </p:set>
                                    <p:anim calcmode="lin" valueType="num">
                                      <p:cBhvr>
                                        <p:cTn id="7" dur="500" fill="hold"/>
                                        <p:tgtEl>
                                          <p:spTgt spid="7170"/>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7170"/>
                                        </p:tgtEl>
                                        <p:attrNameLst>
                                          <p:attrName>ppt_y</p:attrName>
                                        </p:attrNameLst>
                                      </p:cBhvr>
                                      <p:tavLst>
                                        <p:tav tm="0">
                                          <p:val>
                                            <p:strVal val="#ppt_y"/>
                                          </p:val>
                                        </p:tav>
                                        <p:tav tm="100000">
                                          <p:val>
                                            <p:strVal val="#ppt_y"/>
                                          </p:val>
                                        </p:tav>
                                      </p:tavLst>
                                    </p:anim>
                                    <p:anim calcmode="lin" valueType="num">
                                      <p:cBhvr>
                                        <p:cTn id="9" dur="500" fill="hold"/>
                                        <p:tgtEl>
                                          <p:spTgt spid="7170"/>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7170"/>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7170"/>
                                        </p:tgtEl>
                                      </p:cBhvr>
                                    </p:animEffect>
                                  </p:childTnLst>
                                </p:cTn>
                              </p:par>
                            </p:childTnLst>
                          </p:cTn>
                        </p:par>
                      </p:childTnLst>
                    </p:cTn>
                  </p:par>
                  <p:par>
                    <p:cTn id="12" fill="hold">
                      <p:stCondLst>
                        <p:cond delay="indefinite"/>
                      </p:stCondLst>
                      <p:childTnLst>
                        <p:par>
                          <p:cTn id="13" fill="hold">
                            <p:stCondLst>
                              <p:cond delay="0"/>
                            </p:stCondLst>
                            <p:childTnLst>
                              <p:par>
                                <p:cTn id="14" presetID="5" presetClass="entr" presetSubtype="10" fill="hold" nodeType="clickEffect">
                                  <p:stCondLst>
                                    <p:cond delay="0"/>
                                  </p:stCondLst>
                                  <p:childTnLst>
                                    <p:set>
                                      <p:cBhvr>
                                        <p:cTn id="15" dur="1" fill="hold">
                                          <p:stCondLst>
                                            <p:cond delay="0"/>
                                          </p:stCondLst>
                                        </p:cTn>
                                        <p:tgtEl>
                                          <p:spTgt spid="27650">
                                            <p:txEl>
                                              <p:pRg st="0" end="0"/>
                                            </p:txEl>
                                          </p:spTgt>
                                        </p:tgtEl>
                                        <p:attrNameLst>
                                          <p:attrName>style.visibility</p:attrName>
                                        </p:attrNameLst>
                                      </p:cBhvr>
                                      <p:to>
                                        <p:strVal val="visible"/>
                                      </p:to>
                                    </p:set>
                                    <p:animEffect transition="in" filter="checkerboard(across)">
                                      <p:cBhvr>
                                        <p:cTn id="16" dur="500"/>
                                        <p:tgtEl>
                                          <p:spTgt spid="27650">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 presetClass="entr" presetSubtype="10" fill="hold" nodeType="clickEffect">
                                  <p:stCondLst>
                                    <p:cond delay="0"/>
                                  </p:stCondLst>
                                  <p:childTnLst>
                                    <p:set>
                                      <p:cBhvr>
                                        <p:cTn id="20" dur="1" fill="hold">
                                          <p:stCondLst>
                                            <p:cond delay="0"/>
                                          </p:stCondLst>
                                        </p:cTn>
                                        <p:tgtEl>
                                          <p:spTgt spid="27650">
                                            <p:txEl>
                                              <p:pRg st="1" end="1"/>
                                            </p:txEl>
                                          </p:spTgt>
                                        </p:tgtEl>
                                        <p:attrNameLst>
                                          <p:attrName>style.visibility</p:attrName>
                                        </p:attrNameLst>
                                      </p:cBhvr>
                                      <p:to>
                                        <p:strVal val="visible"/>
                                      </p:to>
                                    </p:set>
                                    <p:animEffect transition="in" filter="checkerboard(across)">
                                      <p:cBhvr>
                                        <p:cTn id="21" dur="500"/>
                                        <p:tgtEl>
                                          <p:spTgt spid="27650">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5" presetClass="entr" presetSubtype="10" fill="hold" nodeType="clickEffect">
                                  <p:stCondLst>
                                    <p:cond delay="0"/>
                                  </p:stCondLst>
                                  <p:childTnLst>
                                    <p:set>
                                      <p:cBhvr>
                                        <p:cTn id="25" dur="1" fill="hold">
                                          <p:stCondLst>
                                            <p:cond delay="0"/>
                                          </p:stCondLst>
                                        </p:cTn>
                                        <p:tgtEl>
                                          <p:spTgt spid="27650">
                                            <p:txEl>
                                              <p:pRg st="2" end="2"/>
                                            </p:txEl>
                                          </p:spTgt>
                                        </p:tgtEl>
                                        <p:attrNameLst>
                                          <p:attrName>style.visibility</p:attrName>
                                        </p:attrNameLst>
                                      </p:cBhvr>
                                      <p:to>
                                        <p:strVal val="visible"/>
                                      </p:to>
                                    </p:set>
                                    <p:animEffect transition="in" filter="checkerboard(across)">
                                      <p:cBhvr>
                                        <p:cTn id="26" dur="500"/>
                                        <p:tgtEl>
                                          <p:spTgt spid="27650">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5" presetClass="entr" presetSubtype="10" fill="hold" nodeType="clickEffect">
                                  <p:stCondLst>
                                    <p:cond delay="0"/>
                                  </p:stCondLst>
                                  <p:childTnLst>
                                    <p:set>
                                      <p:cBhvr>
                                        <p:cTn id="30" dur="1" fill="hold">
                                          <p:stCondLst>
                                            <p:cond delay="0"/>
                                          </p:stCondLst>
                                        </p:cTn>
                                        <p:tgtEl>
                                          <p:spTgt spid="27650">
                                            <p:txEl>
                                              <p:pRg st="3" end="3"/>
                                            </p:txEl>
                                          </p:spTgt>
                                        </p:tgtEl>
                                        <p:attrNameLst>
                                          <p:attrName>style.visibility</p:attrName>
                                        </p:attrNameLst>
                                      </p:cBhvr>
                                      <p:to>
                                        <p:strVal val="visible"/>
                                      </p:to>
                                    </p:set>
                                    <p:animEffect transition="in" filter="checkerboard(across)">
                                      <p:cBhvr>
                                        <p:cTn id="31" dur="500"/>
                                        <p:tgtEl>
                                          <p:spTgt spid="2765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标题 560129"/>
          <p:cNvSpPr>
            <a:spLocks noGrp="1" noRot="1"/>
          </p:cNvSpPr>
          <p:nvPr>
            <p:ph type="title"/>
          </p:nvPr>
        </p:nvSpPr>
        <p:spPr>
          <a:ln/>
        </p:spPr>
        <p:txBody>
          <a:bodyPr anchor="ctr"/>
          <a:lstStyle/>
          <a:p>
            <a:pPr algn="l"/>
            <a:r>
              <a:rPr lang="en-US" altLang="zh-CN" sz="3600" b="1" dirty="0">
                <a:solidFill>
                  <a:srgbClr val="0000FF"/>
                </a:solidFill>
              </a:rPr>
              <a:t>1.</a:t>
            </a:r>
            <a:r>
              <a:rPr lang="zh-CN" altLang="en-US" sz="3600" b="1" dirty="0">
                <a:solidFill>
                  <a:srgbClr val="0000FF"/>
                </a:solidFill>
              </a:rPr>
              <a:t>核酸的组成</a:t>
            </a:r>
          </a:p>
        </p:txBody>
      </p:sp>
      <p:sp>
        <p:nvSpPr>
          <p:cNvPr id="28674" name="文本占位符 560130"/>
          <p:cNvSpPr>
            <a:spLocks noGrp="1" noRot="1"/>
          </p:cNvSpPr>
          <p:nvPr>
            <p:ph idx="1"/>
          </p:nvPr>
        </p:nvSpPr>
        <p:spPr>
          <a:xfrm>
            <a:off x="457200" y="1600200"/>
            <a:ext cx="8507095" cy="4526280"/>
          </a:xfrm>
          <a:ln/>
        </p:spPr>
        <p:txBody>
          <a:bodyPr anchor="t"/>
          <a:lstStyle/>
          <a:p>
            <a:r>
              <a:rPr lang="zh-CN" altLang="en-US" sz="2800" b="1" dirty="0"/>
              <a:t>组成核酸的分子片（单元）：核苷酸；</a:t>
            </a:r>
          </a:p>
          <a:p>
            <a:r>
              <a:rPr lang="zh-CN" altLang="en-US" sz="2800" b="1" dirty="0"/>
              <a:t>核苷酸是由核苷和磷酸根组成；</a:t>
            </a:r>
          </a:p>
          <a:p>
            <a:r>
              <a:rPr lang="zh-CN" altLang="en-US" sz="2800" b="1" dirty="0"/>
              <a:t>核苷是由核糖（即戊糖）和含氮碱基构成。</a:t>
            </a:r>
          </a:p>
          <a:p>
            <a:r>
              <a:rPr lang="zh-CN" altLang="en-US" sz="2800" b="1" dirty="0"/>
              <a:t>核糖：</a:t>
            </a:r>
            <a:r>
              <a:rPr lang="en-US" altLang="zh-CN" sz="2800" b="1" dirty="0"/>
              <a:t>D-</a:t>
            </a:r>
            <a:r>
              <a:rPr lang="zh-CN" altLang="en-US" sz="2800" b="1" dirty="0"/>
              <a:t>核糖；</a:t>
            </a:r>
            <a:r>
              <a:rPr lang="en-US" altLang="zh-CN" sz="2800" b="1" dirty="0"/>
              <a:t>2’-D-</a:t>
            </a:r>
            <a:r>
              <a:rPr lang="zh-CN" altLang="en-US" sz="2800" b="1" dirty="0"/>
              <a:t>脱氧核糖。</a:t>
            </a:r>
          </a:p>
          <a:p>
            <a:r>
              <a:rPr lang="zh-CN" altLang="en-US" sz="2800" b="1" dirty="0"/>
              <a:t>碱基：腺嘌呤、鸟嘌呤、胸限嘧啶、胞嘧啶（</a:t>
            </a:r>
            <a:r>
              <a:rPr lang="en-US" altLang="zh-CN" sz="2800" b="1" dirty="0"/>
              <a:t>DNA</a:t>
            </a:r>
            <a:r>
              <a:rPr lang="zh-CN" altLang="en-US" sz="2800" b="1" dirty="0"/>
              <a:t>中）、尿嘧啶（</a:t>
            </a:r>
            <a:r>
              <a:rPr lang="en-US" altLang="zh-CN" sz="2800" b="1" dirty="0"/>
              <a:t>RNA</a:t>
            </a:r>
            <a:r>
              <a:rPr lang="zh-CN" altLang="en-US" sz="2800" b="1" dirty="0"/>
              <a:t>中）</a:t>
            </a:r>
          </a:p>
        </p:txBody>
      </p:sp>
      <p:sp>
        <p:nvSpPr>
          <p:cNvPr id="28675" name="灯片编号占位符 1"/>
          <p:cNvSpPr>
            <a:spLocks noGrp="1"/>
          </p:cNvSpPr>
          <p:nvPr>
            <p:ph type="sldNum" sz="quarter" idx="11"/>
          </p:nvPr>
        </p:nvSpPr>
        <p:spPr>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400" dirty="0"/>
              <a:pPr lvl="0" indent="0" algn="r"/>
              <a:t>27</a:t>
            </a:fld>
            <a:endParaRPr lang="zh-CN" altLang="en-US" sz="1400"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标题 561153"/>
          <p:cNvSpPr>
            <a:spLocks noGrp="1" noRot="1"/>
          </p:cNvSpPr>
          <p:nvPr>
            <p:ph type="title"/>
          </p:nvPr>
        </p:nvSpPr>
        <p:spPr>
          <a:xfrm>
            <a:off x="457200" y="457200"/>
            <a:ext cx="8229600" cy="1143000"/>
          </a:xfrm>
          <a:ln/>
        </p:spPr>
        <p:txBody>
          <a:bodyPr anchor="ctr"/>
          <a:lstStyle/>
          <a:p>
            <a:pPr algn="l"/>
            <a:r>
              <a:rPr lang="en-US" altLang="zh-CN" sz="3600" b="1" dirty="0">
                <a:solidFill>
                  <a:srgbClr val="0000FF"/>
                </a:solidFill>
              </a:rPr>
              <a:t>2.</a:t>
            </a:r>
            <a:r>
              <a:rPr lang="zh-CN" altLang="en-US" sz="3600" b="1" dirty="0">
                <a:solidFill>
                  <a:srgbClr val="0000FF"/>
                </a:solidFill>
              </a:rPr>
              <a:t>核酸及核苷酸的主要生理功能</a:t>
            </a:r>
          </a:p>
        </p:txBody>
      </p:sp>
      <p:sp>
        <p:nvSpPr>
          <p:cNvPr id="29698" name="文本占位符 561154"/>
          <p:cNvSpPr>
            <a:spLocks noGrp="1" noRot="1"/>
          </p:cNvSpPr>
          <p:nvPr>
            <p:ph idx="1"/>
          </p:nvPr>
        </p:nvSpPr>
        <p:spPr>
          <a:ln/>
        </p:spPr>
        <p:txBody>
          <a:bodyPr anchor="t"/>
          <a:lstStyle/>
          <a:p>
            <a:r>
              <a:rPr lang="en-US" altLang="zh-CN" sz="2800" b="1" dirty="0">
                <a:latin typeface="Times New Roman" pitchFamily="18" charset="0"/>
                <a:cs typeface="Times New Roman" pitchFamily="18" charset="0"/>
              </a:rPr>
              <a:t>a</a:t>
            </a:r>
            <a:r>
              <a:rPr lang="en-US" altLang="zh-CN" sz="2800" b="1" dirty="0" smtClean="0">
                <a:latin typeface="Times New Roman" pitchFamily="18" charset="0"/>
                <a:cs typeface="Times New Roman" pitchFamily="18" charset="0"/>
              </a:rPr>
              <a:t>. DNA</a:t>
            </a:r>
            <a:r>
              <a:rPr lang="zh-CN" altLang="en-US" sz="2800" b="1" dirty="0">
                <a:latin typeface="Times New Roman" pitchFamily="18" charset="0"/>
                <a:cs typeface="Times New Roman" pitchFamily="18" charset="0"/>
              </a:rPr>
              <a:t>是遗传信息的储存者和传递者。</a:t>
            </a:r>
          </a:p>
          <a:p>
            <a:r>
              <a:rPr lang="en-US" altLang="zh-CN" sz="2800" b="1" dirty="0">
                <a:latin typeface="Times New Roman" pitchFamily="18" charset="0"/>
                <a:cs typeface="Times New Roman" pitchFamily="18" charset="0"/>
              </a:rPr>
              <a:t>b</a:t>
            </a:r>
            <a:r>
              <a:rPr lang="en-US" altLang="zh-CN" sz="2800" b="1" dirty="0" smtClean="0">
                <a:latin typeface="Times New Roman" pitchFamily="18" charset="0"/>
                <a:cs typeface="Times New Roman" pitchFamily="18" charset="0"/>
              </a:rPr>
              <a:t>. </a:t>
            </a:r>
            <a:r>
              <a:rPr lang="zh-CN" altLang="en-US" sz="2800" b="1" dirty="0" smtClean="0">
                <a:latin typeface="Times New Roman" pitchFamily="18" charset="0"/>
                <a:cs typeface="Times New Roman" pitchFamily="18" charset="0"/>
              </a:rPr>
              <a:t>核酸</a:t>
            </a:r>
            <a:r>
              <a:rPr lang="zh-CN" altLang="en-US" sz="2800" b="1" dirty="0">
                <a:latin typeface="Times New Roman" pitchFamily="18" charset="0"/>
                <a:cs typeface="Times New Roman" pitchFamily="18" charset="0"/>
              </a:rPr>
              <a:t>与蛋白质的合成有关。</a:t>
            </a:r>
          </a:p>
          <a:p>
            <a:r>
              <a:rPr lang="en-US" altLang="zh-CN" sz="2800" b="1" dirty="0">
                <a:latin typeface="Times New Roman" pitchFamily="18" charset="0"/>
                <a:cs typeface="Times New Roman" pitchFamily="18" charset="0"/>
              </a:rPr>
              <a:t>c</a:t>
            </a:r>
            <a:r>
              <a:rPr lang="en-US" altLang="zh-CN" sz="2800" b="1" dirty="0" smtClean="0">
                <a:latin typeface="Times New Roman" pitchFamily="18" charset="0"/>
                <a:cs typeface="Times New Roman" pitchFamily="18" charset="0"/>
              </a:rPr>
              <a:t>. RNA</a:t>
            </a:r>
            <a:r>
              <a:rPr lang="zh-CN" altLang="en-US" sz="2800" b="1" dirty="0">
                <a:latin typeface="Times New Roman" pitchFamily="18" charset="0"/>
                <a:cs typeface="Times New Roman" pitchFamily="18" charset="0"/>
              </a:rPr>
              <a:t>是生物酶之一。某些核苷酸是酶的辅因子的结构成分。</a:t>
            </a:r>
          </a:p>
          <a:p>
            <a:r>
              <a:rPr lang="en-US" altLang="zh-CN" sz="2800" b="1" dirty="0">
                <a:latin typeface="Times New Roman" pitchFamily="18" charset="0"/>
                <a:cs typeface="Times New Roman" pitchFamily="18" charset="0"/>
              </a:rPr>
              <a:t>d</a:t>
            </a:r>
            <a:r>
              <a:rPr lang="en-US" altLang="zh-CN" sz="2800" b="1" dirty="0" smtClean="0">
                <a:latin typeface="Times New Roman" pitchFamily="18" charset="0"/>
                <a:cs typeface="Times New Roman" pitchFamily="18" charset="0"/>
              </a:rPr>
              <a:t>. </a:t>
            </a:r>
            <a:r>
              <a:rPr lang="zh-CN" altLang="en-US" sz="2800" b="1" dirty="0" smtClean="0">
                <a:latin typeface="Times New Roman" pitchFamily="18" charset="0"/>
                <a:cs typeface="Times New Roman" pitchFamily="18" charset="0"/>
              </a:rPr>
              <a:t>一些</a:t>
            </a:r>
            <a:r>
              <a:rPr lang="zh-CN" altLang="en-US" sz="2800" b="1" dirty="0">
                <a:latin typeface="Times New Roman" pitchFamily="18" charset="0"/>
                <a:cs typeface="Times New Roman" pitchFamily="18" charset="0"/>
              </a:rPr>
              <a:t>核苷酸是细胞通信的媒介（即第二信使）。</a:t>
            </a:r>
          </a:p>
          <a:p>
            <a:r>
              <a:rPr lang="en-US" altLang="zh-CN" sz="2800" b="1" dirty="0">
                <a:latin typeface="Times New Roman" pitchFamily="18" charset="0"/>
                <a:cs typeface="Times New Roman" pitchFamily="18" charset="0"/>
              </a:rPr>
              <a:t>f</a:t>
            </a:r>
            <a:r>
              <a:rPr lang="en-US" altLang="zh-CN" sz="2800" b="1" dirty="0" smtClean="0">
                <a:latin typeface="Times New Roman" pitchFamily="18" charset="0"/>
                <a:cs typeface="Times New Roman" pitchFamily="18" charset="0"/>
              </a:rPr>
              <a:t>. </a:t>
            </a:r>
            <a:r>
              <a:rPr lang="zh-CN" altLang="en-US" sz="2800" b="1" dirty="0" smtClean="0">
                <a:latin typeface="Times New Roman" pitchFamily="18" charset="0"/>
                <a:cs typeface="Times New Roman" pitchFamily="18" charset="0"/>
              </a:rPr>
              <a:t>核苷酸</a:t>
            </a:r>
            <a:r>
              <a:rPr lang="zh-CN" altLang="en-US" sz="2800" b="1" dirty="0">
                <a:latin typeface="Times New Roman" pitchFamily="18" charset="0"/>
                <a:cs typeface="Times New Roman" pitchFamily="18" charset="0"/>
              </a:rPr>
              <a:t>是生物体内进行生化反应能量交换的货币（如</a:t>
            </a:r>
            <a:r>
              <a:rPr lang="en-US" altLang="zh-CN" sz="2800" b="1" dirty="0">
                <a:latin typeface="Times New Roman" pitchFamily="18" charset="0"/>
                <a:cs typeface="Times New Roman" pitchFamily="18" charset="0"/>
              </a:rPr>
              <a:t>ATP</a:t>
            </a:r>
            <a:r>
              <a:rPr lang="zh-CN" altLang="en-US" sz="2800" b="1" dirty="0">
                <a:latin typeface="Times New Roman" pitchFamily="18" charset="0"/>
                <a:cs typeface="Times New Roman" pitchFamily="18" charset="0"/>
              </a:rPr>
              <a:t>）</a:t>
            </a:r>
            <a:r>
              <a:rPr lang="zh-CN" altLang="en-US" dirty="0"/>
              <a:t>。</a:t>
            </a:r>
          </a:p>
        </p:txBody>
      </p:sp>
      <p:sp>
        <p:nvSpPr>
          <p:cNvPr id="29699" name="灯片编号占位符 1"/>
          <p:cNvSpPr>
            <a:spLocks noGrp="1"/>
          </p:cNvSpPr>
          <p:nvPr>
            <p:ph type="sldNum" sz="quarter" idx="11"/>
          </p:nvPr>
        </p:nvSpPr>
        <p:spPr>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400" dirty="0"/>
              <a:pPr lvl="0" indent="0" algn="r"/>
              <a:t>28</a:t>
            </a:fld>
            <a:endParaRPr lang="zh-CN" alt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9698">
                                            <p:txEl>
                                              <p:pRg st="0" end="0"/>
                                            </p:txEl>
                                          </p:spTgt>
                                        </p:tgtEl>
                                        <p:attrNameLst>
                                          <p:attrName>style.visibility</p:attrName>
                                        </p:attrNameLst>
                                      </p:cBhvr>
                                      <p:to>
                                        <p:strVal val="visible"/>
                                      </p:to>
                                    </p:set>
                                    <p:animEffect transition="in" filter="checkerboard(across)">
                                      <p:cBhvr>
                                        <p:cTn id="7" dur="500"/>
                                        <p:tgtEl>
                                          <p:spTgt spid="2969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9698">
                                            <p:txEl>
                                              <p:pRg st="1" end="1"/>
                                            </p:txEl>
                                          </p:spTgt>
                                        </p:tgtEl>
                                        <p:attrNameLst>
                                          <p:attrName>style.visibility</p:attrName>
                                        </p:attrNameLst>
                                      </p:cBhvr>
                                      <p:to>
                                        <p:strVal val="visible"/>
                                      </p:to>
                                    </p:set>
                                    <p:animEffect transition="in" filter="checkerboard(across)">
                                      <p:cBhvr>
                                        <p:cTn id="12" dur="500"/>
                                        <p:tgtEl>
                                          <p:spTgt spid="2969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9698">
                                            <p:txEl>
                                              <p:pRg st="2" end="2"/>
                                            </p:txEl>
                                          </p:spTgt>
                                        </p:tgtEl>
                                        <p:attrNameLst>
                                          <p:attrName>style.visibility</p:attrName>
                                        </p:attrNameLst>
                                      </p:cBhvr>
                                      <p:to>
                                        <p:strVal val="visible"/>
                                      </p:to>
                                    </p:set>
                                    <p:animEffect transition="in" filter="checkerboard(across)">
                                      <p:cBhvr>
                                        <p:cTn id="17" dur="500"/>
                                        <p:tgtEl>
                                          <p:spTgt spid="2969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29698">
                                            <p:txEl>
                                              <p:pRg st="3" end="3"/>
                                            </p:txEl>
                                          </p:spTgt>
                                        </p:tgtEl>
                                        <p:attrNameLst>
                                          <p:attrName>style.visibility</p:attrName>
                                        </p:attrNameLst>
                                      </p:cBhvr>
                                      <p:to>
                                        <p:strVal val="visible"/>
                                      </p:to>
                                    </p:set>
                                    <p:animEffect transition="in" filter="checkerboard(across)">
                                      <p:cBhvr>
                                        <p:cTn id="22" dur="500"/>
                                        <p:tgtEl>
                                          <p:spTgt spid="2969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29698">
                                            <p:txEl>
                                              <p:pRg st="4" end="4"/>
                                            </p:txEl>
                                          </p:spTgt>
                                        </p:tgtEl>
                                        <p:attrNameLst>
                                          <p:attrName>style.visibility</p:attrName>
                                        </p:attrNameLst>
                                      </p:cBhvr>
                                      <p:to>
                                        <p:strVal val="visible"/>
                                      </p:to>
                                    </p:set>
                                    <p:animEffect transition="in" filter="checkerboard(across)">
                                      <p:cBhvr>
                                        <p:cTn id="27" dur="500"/>
                                        <p:tgtEl>
                                          <p:spTgt spid="2969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标题 562177"/>
          <p:cNvSpPr>
            <a:spLocks noGrp="1" noRot="1"/>
          </p:cNvSpPr>
          <p:nvPr>
            <p:ph type="title"/>
          </p:nvPr>
        </p:nvSpPr>
        <p:spPr>
          <a:ln/>
        </p:spPr>
        <p:txBody>
          <a:bodyPr anchor="ctr"/>
          <a:lstStyle/>
          <a:p>
            <a:pPr algn="l"/>
            <a:r>
              <a:rPr lang="en-US" altLang="zh-CN" sz="3600" b="1" dirty="0">
                <a:solidFill>
                  <a:srgbClr val="0000FF"/>
                </a:solidFill>
                <a:latin typeface="Times New Roman" pitchFamily="18" charset="0"/>
                <a:cs typeface="Times New Roman" pitchFamily="18" charset="0"/>
              </a:rPr>
              <a:t>3. DNA</a:t>
            </a:r>
            <a:r>
              <a:rPr lang="zh-CN" altLang="en-US" sz="3600" b="1" dirty="0">
                <a:solidFill>
                  <a:srgbClr val="0000FF"/>
                </a:solidFill>
                <a:latin typeface="Times New Roman" pitchFamily="18" charset="0"/>
                <a:cs typeface="Times New Roman" pitchFamily="18" charset="0"/>
              </a:rPr>
              <a:t>的结构</a:t>
            </a:r>
          </a:p>
        </p:txBody>
      </p:sp>
      <p:sp>
        <p:nvSpPr>
          <p:cNvPr id="30722" name="文本占位符 562178"/>
          <p:cNvSpPr>
            <a:spLocks noGrp="1" noRot="1"/>
          </p:cNvSpPr>
          <p:nvPr>
            <p:ph idx="1"/>
          </p:nvPr>
        </p:nvSpPr>
        <p:spPr>
          <a:ln/>
        </p:spPr>
        <p:txBody>
          <a:bodyPr anchor="t"/>
          <a:lstStyle/>
          <a:p>
            <a:r>
              <a:rPr lang="zh-CN" altLang="en-US" dirty="0"/>
              <a:t>       </a:t>
            </a:r>
            <a:r>
              <a:rPr lang="zh-CN" altLang="en-US" sz="2800" b="1" dirty="0"/>
              <a:t>与蛋白质相似，</a:t>
            </a:r>
            <a:r>
              <a:rPr lang="en-US" altLang="zh-CN" sz="2800" b="1" dirty="0"/>
              <a:t>DNA</a:t>
            </a:r>
            <a:r>
              <a:rPr lang="zh-CN" altLang="en-US" sz="2800" b="1" dirty="0"/>
              <a:t>分子的结构也分为不同的层次。</a:t>
            </a:r>
          </a:p>
        </p:txBody>
      </p:sp>
      <p:sp>
        <p:nvSpPr>
          <p:cNvPr id="30723" name="文本框 562179"/>
          <p:cNvSpPr txBox="1"/>
          <p:nvPr/>
        </p:nvSpPr>
        <p:spPr>
          <a:xfrm>
            <a:off x="684213" y="2924175"/>
            <a:ext cx="4464050" cy="892552"/>
          </a:xfrm>
          <a:prstGeom prst="rect">
            <a:avLst/>
          </a:prstGeom>
          <a:noFill/>
          <a:ln w="9525">
            <a:noFill/>
          </a:ln>
        </p:spPr>
        <p:txBody>
          <a:bodyPr anchor="t">
            <a:spAutoFit/>
          </a:bodyPr>
          <a:lstStyle/>
          <a:p>
            <a:pPr>
              <a:spcBef>
                <a:spcPct val="50000"/>
              </a:spcBef>
            </a:pPr>
            <a:r>
              <a:rPr lang="zh-CN" altLang="en-US" sz="2800" dirty="0">
                <a:latin typeface="Arial" panose="020B0604020202020204" pitchFamily="34" charset="0"/>
              </a:rPr>
              <a:t>        </a:t>
            </a:r>
            <a:r>
              <a:rPr lang="en-US" altLang="zh-CN" sz="2400" b="1" dirty="0">
                <a:latin typeface="Arial" panose="020B0604020202020204" pitchFamily="34" charset="0"/>
              </a:rPr>
              <a:t>DNA</a:t>
            </a:r>
            <a:r>
              <a:rPr lang="zh-CN" altLang="en-US" sz="2400" b="1" dirty="0">
                <a:latin typeface="Arial" panose="020B0604020202020204" pitchFamily="34" charset="0"/>
              </a:rPr>
              <a:t>的一级结构：分子内核苷酸的种类与连接顺序。</a:t>
            </a:r>
          </a:p>
        </p:txBody>
      </p:sp>
      <p:sp>
        <p:nvSpPr>
          <p:cNvPr id="30724" name="文本框 562180"/>
          <p:cNvSpPr txBox="1"/>
          <p:nvPr/>
        </p:nvSpPr>
        <p:spPr>
          <a:xfrm>
            <a:off x="755650" y="4149080"/>
            <a:ext cx="4608513" cy="1631216"/>
          </a:xfrm>
          <a:prstGeom prst="rect">
            <a:avLst/>
          </a:prstGeom>
          <a:noFill/>
          <a:ln w="9525">
            <a:noFill/>
          </a:ln>
        </p:spPr>
        <p:txBody>
          <a:bodyPr anchor="t">
            <a:spAutoFit/>
          </a:bodyPr>
          <a:lstStyle/>
          <a:p>
            <a:pPr>
              <a:spcBef>
                <a:spcPct val="50000"/>
              </a:spcBef>
            </a:pPr>
            <a:r>
              <a:rPr lang="zh-CN" altLang="en-US" sz="2800" dirty="0">
                <a:latin typeface="Arial" panose="020B0604020202020204" pitchFamily="34" charset="0"/>
              </a:rPr>
              <a:t>        </a:t>
            </a:r>
            <a:r>
              <a:rPr lang="en-US" altLang="zh-CN" sz="2400" b="1" dirty="0">
                <a:latin typeface="Arial" panose="020B0604020202020204" pitchFamily="34" charset="0"/>
              </a:rPr>
              <a:t>DNA</a:t>
            </a:r>
            <a:r>
              <a:rPr lang="zh-CN" altLang="en-US" sz="2400" b="1" dirty="0">
                <a:latin typeface="Arial" panose="020B0604020202020204" pitchFamily="34" charset="0"/>
              </a:rPr>
              <a:t>的二级结构：多聚核苷酸链内或链间通过氢键、碱基堆积等弱作用力折叠卷曲而成的构象。</a:t>
            </a:r>
            <a:endParaRPr lang="zh-CN" altLang="en-US" sz="2800" b="1" dirty="0">
              <a:latin typeface="Arial" panose="020B0604020202020204" pitchFamily="34" charset="0"/>
            </a:endParaRPr>
          </a:p>
        </p:txBody>
      </p:sp>
      <p:pic>
        <p:nvPicPr>
          <p:cNvPr id="30725" name="图片 562181"/>
          <p:cNvPicPr>
            <a:picLocks noChangeAspect="1"/>
          </p:cNvPicPr>
          <p:nvPr/>
        </p:nvPicPr>
        <p:blipFill>
          <a:blip r:embed="rId2" cstate="print"/>
          <a:stretch>
            <a:fillRect/>
          </a:stretch>
        </p:blipFill>
        <p:spPr>
          <a:xfrm>
            <a:off x="5530850" y="2420938"/>
            <a:ext cx="3254375" cy="3527425"/>
          </a:xfrm>
          <a:prstGeom prst="rect">
            <a:avLst/>
          </a:prstGeom>
          <a:noFill/>
          <a:ln w="9525">
            <a:noFill/>
          </a:ln>
        </p:spPr>
      </p:pic>
      <p:sp>
        <p:nvSpPr>
          <p:cNvPr id="30726" name="灯片编号占位符 1"/>
          <p:cNvSpPr>
            <a:spLocks noGrp="1"/>
          </p:cNvSpPr>
          <p:nvPr>
            <p:ph type="sldNum" sz="quarter" idx="11"/>
          </p:nvPr>
        </p:nvSpPr>
        <p:spPr>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400" dirty="0"/>
              <a:pPr lvl="0" indent="0" algn="r"/>
              <a:t>29</a:t>
            </a:fld>
            <a:endParaRPr lang="zh-CN" altLang="en-US" sz="1400"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标题 563201"/>
          <p:cNvSpPr>
            <a:spLocks noGrp="1" noRot="1"/>
          </p:cNvSpPr>
          <p:nvPr>
            <p:ph type="title"/>
          </p:nvPr>
        </p:nvSpPr>
        <p:spPr>
          <a:ln/>
        </p:spPr>
        <p:txBody>
          <a:bodyPr anchor="ctr"/>
          <a:lstStyle/>
          <a:p>
            <a:pPr algn="l"/>
            <a:r>
              <a:rPr lang="zh-CN" altLang="en-US" sz="3200" b="1" dirty="0">
                <a:solidFill>
                  <a:srgbClr val="C00000"/>
                </a:solidFill>
              </a:rPr>
              <a:t>（</a:t>
            </a:r>
            <a:r>
              <a:rPr lang="en-US" altLang="zh-CN" sz="3200" b="1" dirty="0">
                <a:solidFill>
                  <a:srgbClr val="C00000"/>
                </a:solidFill>
              </a:rPr>
              <a:t>1</a:t>
            </a:r>
            <a:r>
              <a:rPr lang="zh-CN" altLang="en-US" sz="3200" b="1" dirty="0">
                <a:solidFill>
                  <a:srgbClr val="C00000"/>
                </a:solidFill>
              </a:rPr>
              <a:t>）</a:t>
            </a:r>
            <a:r>
              <a:rPr lang="en-US" altLang="zh-CN" sz="3200" b="1" dirty="0">
                <a:solidFill>
                  <a:srgbClr val="C00000"/>
                </a:solidFill>
              </a:rPr>
              <a:t>DNA</a:t>
            </a:r>
            <a:r>
              <a:rPr lang="zh-CN" altLang="en-US" sz="3200" b="1" dirty="0">
                <a:solidFill>
                  <a:srgbClr val="C00000"/>
                </a:solidFill>
              </a:rPr>
              <a:t>二级结构的理论模型</a:t>
            </a:r>
          </a:p>
        </p:txBody>
      </p:sp>
      <p:sp>
        <p:nvSpPr>
          <p:cNvPr id="31746" name="文本占位符 563202"/>
          <p:cNvSpPr>
            <a:spLocks noGrp="1" noRot="1"/>
          </p:cNvSpPr>
          <p:nvPr>
            <p:ph type="body" sz="half" idx="4294967295"/>
          </p:nvPr>
        </p:nvSpPr>
        <p:spPr>
          <a:xfrm>
            <a:off x="781050" y="1341755"/>
            <a:ext cx="8362950" cy="1150620"/>
          </a:xfrm>
          <a:ln/>
        </p:spPr>
        <p:txBody>
          <a:bodyPr anchor="t"/>
          <a:lstStyle/>
          <a:p>
            <a:r>
              <a:rPr lang="en-US" altLang="zh-CN" sz="2800" b="1" dirty="0">
                <a:latin typeface="Times New Roman" pitchFamily="18" charset="0"/>
                <a:ea typeface="黑体" panose="02010609060101010101" pitchFamily="2" charset="-122"/>
                <a:cs typeface="Times New Roman" pitchFamily="18" charset="0"/>
              </a:rPr>
              <a:t>1953</a:t>
            </a:r>
            <a:r>
              <a:rPr lang="zh-CN" altLang="en-US" sz="2800" b="1" dirty="0">
                <a:latin typeface="Times New Roman" pitchFamily="18" charset="0"/>
                <a:ea typeface="黑体" panose="02010609060101010101" pitchFamily="2" charset="-122"/>
                <a:cs typeface="Times New Roman" pitchFamily="18" charset="0"/>
              </a:rPr>
              <a:t>年由</a:t>
            </a:r>
            <a:r>
              <a:rPr lang="en-US" altLang="zh-CN" sz="2800" b="1" dirty="0">
                <a:latin typeface="Times New Roman" pitchFamily="18" charset="0"/>
                <a:ea typeface="黑体" panose="02010609060101010101" pitchFamily="2" charset="-122"/>
                <a:cs typeface="Times New Roman" pitchFamily="18" charset="0"/>
              </a:rPr>
              <a:t>Watson</a:t>
            </a:r>
            <a:r>
              <a:rPr lang="zh-CN" altLang="en-US" sz="2800" b="1" dirty="0">
                <a:latin typeface="Times New Roman" pitchFamily="18" charset="0"/>
                <a:ea typeface="黑体" panose="02010609060101010101" pitchFamily="2" charset="-122"/>
                <a:cs typeface="Times New Roman" pitchFamily="18" charset="0"/>
              </a:rPr>
              <a:t>和</a:t>
            </a:r>
            <a:r>
              <a:rPr lang="en-US" altLang="zh-CN" sz="2800" b="1" dirty="0">
                <a:latin typeface="Times New Roman" pitchFamily="18" charset="0"/>
                <a:ea typeface="黑体" panose="02010609060101010101" pitchFamily="2" charset="-122"/>
                <a:cs typeface="Times New Roman" pitchFamily="18" charset="0"/>
              </a:rPr>
              <a:t>Crick</a:t>
            </a:r>
            <a:r>
              <a:rPr lang="zh-CN" altLang="en-US" sz="2800" b="1" dirty="0">
                <a:latin typeface="Times New Roman" pitchFamily="18" charset="0"/>
                <a:ea typeface="黑体" panose="02010609060101010101" pitchFamily="2" charset="-122"/>
                <a:cs typeface="Times New Roman" pitchFamily="18" charset="0"/>
              </a:rPr>
              <a:t>提出的</a:t>
            </a:r>
            <a:r>
              <a:rPr lang="en-US" altLang="zh-CN" sz="2800" b="1" dirty="0">
                <a:latin typeface="Times New Roman" pitchFamily="18" charset="0"/>
                <a:ea typeface="黑体" panose="02010609060101010101" pitchFamily="2" charset="-122"/>
                <a:cs typeface="Times New Roman" pitchFamily="18" charset="0"/>
              </a:rPr>
              <a:t>DNA</a:t>
            </a:r>
            <a:r>
              <a:rPr lang="zh-CN" altLang="en-US" sz="2800" b="1" dirty="0">
                <a:latin typeface="Times New Roman" pitchFamily="18" charset="0"/>
                <a:ea typeface="黑体" panose="02010609060101010101" pitchFamily="2" charset="-122"/>
                <a:cs typeface="Times New Roman" pitchFamily="18" charset="0"/>
              </a:rPr>
              <a:t>双螺旋结构</a:t>
            </a:r>
            <a:r>
              <a:rPr lang="zh-CN" altLang="en-US" sz="2800" b="1" dirty="0">
                <a:latin typeface="Times New Roman" pitchFamily="18" charset="0"/>
                <a:cs typeface="Times New Roman" pitchFamily="18" charset="0"/>
              </a:rPr>
              <a:t>。</a:t>
            </a:r>
          </a:p>
          <a:p>
            <a:r>
              <a:rPr lang="zh-CN" altLang="en-US" sz="2800" b="1" dirty="0">
                <a:latin typeface="Times New Roman" pitchFamily="18" charset="0"/>
                <a:cs typeface="Times New Roman" pitchFamily="18" charset="0"/>
              </a:rPr>
              <a:t>其基本要点如下：</a:t>
            </a:r>
          </a:p>
        </p:txBody>
      </p:sp>
      <p:sp>
        <p:nvSpPr>
          <p:cNvPr id="31747" name="文本框 563203"/>
          <p:cNvSpPr txBox="1"/>
          <p:nvPr/>
        </p:nvSpPr>
        <p:spPr>
          <a:xfrm>
            <a:off x="1116013" y="2492375"/>
            <a:ext cx="7646987" cy="3453253"/>
          </a:xfrm>
          <a:prstGeom prst="rect">
            <a:avLst/>
          </a:prstGeom>
          <a:noFill/>
          <a:ln w="9525" cap="flat" cmpd="sng">
            <a:solidFill>
              <a:schemeClr val="tx1"/>
            </a:solidFill>
            <a:prstDash val="solid"/>
            <a:miter/>
            <a:headEnd type="none" w="med" len="med"/>
            <a:tailEnd type="none" w="med" len="med"/>
          </a:ln>
        </p:spPr>
        <p:txBody>
          <a:bodyPr wrap="square" anchor="t">
            <a:spAutoFit/>
          </a:bodyPr>
          <a:lstStyle/>
          <a:p>
            <a:pPr>
              <a:lnSpc>
                <a:spcPct val="130000"/>
              </a:lnSpc>
            </a:pPr>
            <a:r>
              <a:rPr lang="en-US" altLang="zh-CN" sz="2400" dirty="0">
                <a:latin typeface="Times New Roman" panose="02020603050405020304" pitchFamily="18" charset="0"/>
              </a:rPr>
              <a:t>a.</a:t>
            </a:r>
            <a:r>
              <a:rPr lang="zh-CN" altLang="en-US" sz="2400" b="1" dirty="0">
                <a:latin typeface="Times New Roman" panose="02020603050405020304" pitchFamily="18" charset="0"/>
              </a:rPr>
              <a:t>两条反平行的核苷酸链构成右手螺旋结构，旋转形成大凹槽和小凹槽。</a:t>
            </a:r>
          </a:p>
          <a:p>
            <a:pPr>
              <a:lnSpc>
                <a:spcPct val="130000"/>
              </a:lnSpc>
            </a:pPr>
            <a:r>
              <a:rPr lang="en-US" altLang="zh-CN" sz="2400" b="1" dirty="0">
                <a:latin typeface="Times New Roman" panose="02020603050405020304" pitchFamily="18" charset="0"/>
              </a:rPr>
              <a:t>b.</a:t>
            </a:r>
            <a:r>
              <a:rPr lang="zh-CN" altLang="en-US" sz="2400" b="1" dirty="0">
                <a:latin typeface="Times New Roman" panose="02020603050405020304" pitchFamily="18" charset="0"/>
              </a:rPr>
              <a:t>两个相邻碱基的距离是</a:t>
            </a:r>
            <a:r>
              <a:rPr lang="en-US" altLang="zh-CN" sz="2400" b="1" dirty="0">
                <a:latin typeface="Times New Roman" panose="02020603050405020304" pitchFamily="18" charset="0"/>
              </a:rPr>
              <a:t>3.4</a:t>
            </a:r>
            <a:r>
              <a:rPr lang="zh-CN" altLang="en-US" sz="2400" b="1" dirty="0">
                <a:latin typeface="Times New Roman" panose="02020603050405020304" pitchFamily="18" charset="0"/>
              </a:rPr>
              <a:t>埃，每</a:t>
            </a:r>
            <a:r>
              <a:rPr lang="en-US" altLang="zh-CN" sz="2400" b="1" dirty="0">
                <a:latin typeface="Times New Roman" panose="02020603050405020304" pitchFamily="18" charset="0"/>
              </a:rPr>
              <a:t>10</a:t>
            </a:r>
            <a:r>
              <a:rPr lang="zh-CN" altLang="en-US" sz="2400" b="1" dirty="0">
                <a:latin typeface="Times New Roman" panose="02020603050405020304" pitchFamily="18" charset="0"/>
              </a:rPr>
              <a:t>个碱基构成完整的一段螺旋结构（一个周期）。螺距</a:t>
            </a:r>
            <a:r>
              <a:rPr lang="en-US" altLang="zh-CN" sz="2400" b="1" dirty="0">
                <a:latin typeface="Times New Roman" panose="02020603050405020304" pitchFamily="18" charset="0"/>
              </a:rPr>
              <a:t>3.4nm</a:t>
            </a:r>
            <a:r>
              <a:rPr lang="zh-CN" altLang="en-US" sz="2400" b="1" dirty="0">
                <a:latin typeface="Times New Roman" panose="02020603050405020304" pitchFamily="18" charset="0"/>
              </a:rPr>
              <a:t>，直径约</a:t>
            </a:r>
            <a:r>
              <a:rPr lang="en-US" altLang="zh-CN" sz="2400" b="1" dirty="0">
                <a:latin typeface="Times New Roman" panose="02020603050405020304" pitchFamily="18" charset="0"/>
              </a:rPr>
              <a:t>2nm</a:t>
            </a:r>
            <a:r>
              <a:rPr lang="zh-CN" altLang="en-US" sz="2400" b="1" dirty="0">
                <a:latin typeface="Times New Roman" panose="02020603050405020304" pitchFamily="18" charset="0"/>
              </a:rPr>
              <a:t>；</a:t>
            </a:r>
          </a:p>
          <a:p>
            <a:pPr>
              <a:lnSpc>
                <a:spcPct val="130000"/>
              </a:lnSpc>
            </a:pPr>
            <a:r>
              <a:rPr lang="en-US" altLang="zh-CN" sz="2400" b="1" dirty="0">
                <a:latin typeface="Times New Roman" panose="02020603050405020304" pitchFamily="18" charset="0"/>
              </a:rPr>
              <a:t>c.</a:t>
            </a:r>
            <a:r>
              <a:rPr lang="zh-CN" altLang="en-US" sz="2400" b="1" dirty="0">
                <a:latin typeface="Times New Roman" panose="02020603050405020304" pitchFamily="18" charset="0"/>
              </a:rPr>
              <a:t>互补的碱基通过特殊的氢键连接出现在螺旋结构的内部，碱基平面垂直于螺旋轴。磷酸根在链外；</a:t>
            </a:r>
          </a:p>
          <a:p>
            <a:pPr>
              <a:lnSpc>
                <a:spcPct val="130000"/>
              </a:lnSpc>
            </a:pPr>
            <a:r>
              <a:rPr lang="en-US" altLang="zh-CN" sz="2400" b="1" dirty="0" err="1">
                <a:latin typeface="Times New Roman" panose="02020603050405020304" pitchFamily="18" charset="0"/>
              </a:rPr>
              <a:t>d.DNA</a:t>
            </a:r>
            <a:r>
              <a:rPr lang="zh-CN" altLang="en-US" sz="2400" b="1" dirty="0">
                <a:latin typeface="Times New Roman" panose="02020603050405020304" pitchFamily="18" charset="0"/>
              </a:rPr>
              <a:t>分子内碱基配对为：</a:t>
            </a:r>
            <a:r>
              <a:rPr lang="en-US" altLang="zh-CN" sz="2400" b="1" dirty="0">
                <a:latin typeface="Times New Roman" panose="02020603050405020304" pitchFamily="18" charset="0"/>
              </a:rPr>
              <a:t>A-T</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G-C</a:t>
            </a:r>
          </a:p>
        </p:txBody>
      </p:sp>
      <p:sp>
        <p:nvSpPr>
          <p:cNvPr id="31748" name="灯片编号占位符 1"/>
          <p:cNvSpPr>
            <a:spLocks noGrp="1"/>
          </p:cNvSpPr>
          <p:nvPr>
            <p:ph type="sldNum" sz="quarter" idx="12"/>
          </p:nvPr>
        </p:nvSpPr>
        <p:spPr>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400" dirty="0"/>
              <a:pPr lvl="0" indent="0" algn="r"/>
              <a:t>30</a:t>
            </a:fld>
            <a:endParaRPr lang="zh-CN" altLang="en-US" sz="1400"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564225"/>
          <p:cNvSpPr>
            <a:spLocks noGrp="1" noRot="1"/>
          </p:cNvSpPr>
          <p:nvPr>
            <p:ph type="title"/>
          </p:nvPr>
        </p:nvSpPr>
        <p:spPr>
          <a:ln/>
        </p:spPr>
        <p:txBody>
          <a:bodyPr anchor="ctr"/>
          <a:lstStyle/>
          <a:p>
            <a:pPr algn="l"/>
            <a:r>
              <a:rPr lang="zh-CN" altLang="en-US" sz="3200" b="1" dirty="0">
                <a:solidFill>
                  <a:srgbClr val="C00000"/>
                </a:solidFill>
              </a:rPr>
              <a:t>（</a:t>
            </a:r>
            <a:r>
              <a:rPr lang="en-US" altLang="zh-CN" sz="3200" b="1" dirty="0">
                <a:solidFill>
                  <a:srgbClr val="C00000"/>
                </a:solidFill>
              </a:rPr>
              <a:t>2</a:t>
            </a:r>
            <a:r>
              <a:rPr lang="zh-CN" altLang="en-US" sz="3200" b="1" dirty="0">
                <a:solidFill>
                  <a:srgbClr val="C00000"/>
                </a:solidFill>
              </a:rPr>
              <a:t>）</a:t>
            </a:r>
            <a:r>
              <a:rPr lang="en-US" altLang="zh-CN" sz="3200" b="1" dirty="0">
                <a:solidFill>
                  <a:srgbClr val="C00000"/>
                </a:solidFill>
              </a:rPr>
              <a:t>DNA</a:t>
            </a:r>
            <a:r>
              <a:rPr lang="zh-CN" altLang="en-US" sz="3200" b="1" dirty="0">
                <a:solidFill>
                  <a:srgbClr val="C00000"/>
                </a:solidFill>
              </a:rPr>
              <a:t>二级结构图示</a:t>
            </a:r>
          </a:p>
        </p:txBody>
      </p:sp>
      <p:pic>
        <p:nvPicPr>
          <p:cNvPr id="32770" name="图片 564226"/>
          <p:cNvPicPr>
            <a:picLocks noChangeAspect="1"/>
          </p:cNvPicPr>
          <p:nvPr/>
        </p:nvPicPr>
        <p:blipFill>
          <a:blip r:embed="rId3" cstate="print"/>
          <a:stretch>
            <a:fillRect/>
          </a:stretch>
        </p:blipFill>
        <p:spPr>
          <a:xfrm>
            <a:off x="971550" y="1439863"/>
            <a:ext cx="4033838" cy="4225925"/>
          </a:xfrm>
          <a:prstGeom prst="rect">
            <a:avLst/>
          </a:prstGeom>
          <a:noFill/>
          <a:ln w="9525">
            <a:noFill/>
          </a:ln>
        </p:spPr>
      </p:pic>
      <p:graphicFrame>
        <p:nvGraphicFramePr>
          <p:cNvPr id="32771" name="内容占位符 564227"/>
          <p:cNvGraphicFramePr>
            <a:graphicFrameLocks/>
          </p:cNvGraphicFramePr>
          <p:nvPr>
            <p:ph idx="1"/>
          </p:nvPr>
        </p:nvGraphicFramePr>
        <p:xfrm>
          <a:off x="3929058" y="1417638"/>
          <a:ext cx="3311525" cy="4248150"/>
        </p:xfrm>
        <a:graphic>
          <a:graphicData uri="http://schemas.openxmlformats.org/presentationml/2006/ole">
            <p:oleObj spid="_x0000_s35841" r:id="rId4" imgW="3038095" imgH="5877745" progId="PBrush">
              <p:embed/>
            </p:oleObj>
          </a:graphicData>
        </a:graphic>
      </p:graphicFrame>
      <p:sp>
        <p:nvSpPr>
          <p:cNvPr id="32772" name="灯片编号占位符 1"/>
          <p:cNvSpPr>
            <a:spLocks noGrp="1"/>
          </p:cNvSpPr>
          <p:nvPr>
            <p:ph type="sldNum" sz="quarter" idx="11"/>
          </p:nvPr>
        </p:nvSpPr>
        <p:spPr>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400" dirty="0"/>
              <a:pPr lvl="0" indent="0" algn="r"/>
              <a:t>31</a:t>
            </a:fld>
            <a:endParaRPr lang="zh-CN" altLang="en-US" sz="1400"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标题 565249"/>
          <p:cNvSpPr>
            <a:spLocks noGrp="1" noRot="1"/>
          </p:cNvSpPr>
          <p:nvPr>
            <p:ph type="title"/>
          </p:nvPr>
        </p:nvSpPr>
        <p:spPr>
          <a:ln/>
        </p:spPr>
        <p:txBody>
          <a:bodyPr anchor="ctr"/>
          <a:lstStyle/>
          <a:p>
            <a:pPr algn="l"/>
            <a:r>
              <a:rPr lang="en-US" altLang="zh-CN" sz="3600" dirty="0">
                <a:solidFill>
                  <a:srgbClr val="0000FF"/>
                </a:solidFill>
              </a:rPr>
              <a:t>4.DNA</a:t>
            </a:r>
            <a:r>
              <a:rPr lang="zh-CN" altLang="en-US" sz="3600" dirty="0">
                <a:solidFill>
                  <a:srgbClr val="0000FF"/>
                </a:solidFill>
              </a:rPr>
              <a:t>与染色体</a:t>
            </a:r>
          </a:p>
        </p:txBody>
      </p:sp>
      <p:sp>
        <p:nvSpPr>
          <p:cNvPr id="33794" name="文本占位符 565250"/>
          <p:cNvSpPr>
            <a:spLocks noGrp="1" noRot="1"/>
          </p:cNvSpPr>
          <p:nvPr>
            <p:ph idx="1"/>
          </p:nvPr>
        </p:nvSpPr>
        <p:spPr>
          <a:ln/>
        </p:spPr>
        <p:txBody>
          <a:bodyPr anchor="t"/>
          <a:lstStyle/>
          <a:p>
            <a:r>
              <a:rPr lang="zh-CN" altLang="en-US" sz="2800" dirty="0">
                <a:latin typeface="黑体" panose="02010609060101010101" pitchFamily="2" charset="-122"/>
                <a:ea typeface="黑体" panose="02010609060101010101" pitchFamily="2" charset="-122"/>
              </a:rPr>
              <a:t>染色体的主要化学成份是脱氧核糖核酸（</a:t>
            </a:r>
            <a:r>
              <a:rPr lang="en-US" altLang="zh-CN" sz="2800">
                <a:latin typeface="黑体" panose="02010609060101010101" pitchFamily="2" charset="-122"/>
                <a:ea typeface="黑体" panose="02010609060101010101" pitchFamily="2" charset="-122"/>
              </a:rPr>
              <a:t>DNA</a:t>
            </a:r>
            <a:r>
              <a:rPr lang="zh-CN" altLang="en-US" sz="2800" dirty="0">
                <a:latin typeface="黑体" panose="02010609060101010101" pitchFamily="2" charset="-122"/>
                <a:ea typeface="黑体" panose="02010609060101010101" pitchFamily="2" charset="-122"/>
              </a:rPr>
              <a:t>）和</a:t>
            </a:r>
            <a:r>
              <a:rPr lang="en-US" altLang="zh-CN" sz="2800">
                <a:latin typeface="黑体" panose="02010609060101010101" pitchFamily="2" charset="-122"/>
                <a:ea typeface="黑体" panose="02010609060101010101" pitchFamily="2" charset="-122"/>
              </a:rPr>
              <a:t>5</a:t>
            </a:r>
            <a:r>
              <a:rPr lang="zh-CN" altLang="en-US" sz="2800" dirty="0">
                <a:latin typeface="黑体" panose="02010609060101010101" pitchFamily="2" charset="-122"/>
                <a:ea typeface="黑体" panose="02010609060101010101" pitchFamily="2" charset="-122"/>
              </a:rPr>
              <a:t>种称为组蛋白的蛋白质。</a:t>
            </a:r>
          </a:p>
          <a:p>
            <a:r>
              <a:rPr lang="zh-CN" altLang="en-US" sz="2800" dirty="0">
                <a:latin typeface="黑体" panose="02010609060101010101" pitchFamily="2" charset="-122"/>
                <a:ea typeface="黑体" panose="02010609060101010101" pitchFamily="2" charset="-122"/>
              </a:rPr>
              <a:t>即</a:t>
            </a:r>
            <a:r>
              <a:rPr lang="en-US" altLang="zh-CN" sz="2800">
                <a:latin typeface="黑体" panose="02010609060101010101" pitchFamily="2" charset="-122"/>
                <a:ea typeface="黑体" panose="02010609060101010101" pitchFamily="2" charset="-122"/>
              </a:rPr>
              <a:t>DNA</a:t>
            </a:r>
            <a:r>
              <a:rPr lang="zh-CN" altLang="en-US" sz="2800" dirty="0">
                <a:latin typeface="黑体" panose="02010609060101010101" pitchFamily="2" charset="-122"/>
                <a:ea typeface="黑体" panose="02010609060101010101" pitchFamily="2" charset="-122"/>
              </a:rPr>
              <a:t>通过高级组装可以形成染色体。</a:t>
            </a:r>
          </a:p>
        </p:txBody>
      </p:sp>
      <p:pic>
        <p:nvPicPr>
          <p:cNvPr id="33795" name="图片 565251" descr="未命名"/>
          <p:cNvPicPr>
            <a:picLocks noChangeAspect="1"/>
          </p:cNvPicPr>
          <p:nvPr/>
        </p:nvPicPr>
        <p:blipFill>
          <a:blip r:embed="rId2" cstate="print"/>
          <a:stretch>
            <a:fillRect/>
          </a:stretch>
        </p:blipFill>
        <p:spPr>
          <a:xfrm>
            <a:off x="1547813" y="3357563"/>
            <a:ext cx="5689600" cy="3238500"/>
          </a:xfrm>
          <a:prstGeom prst="rect">
            <a:avLst/>
          </a:prstGeom>
          <a:noFill/>
          <a:ln w="9525">
            <a:noFill/>
          </a:ln>
        </p:spPr>
      </p:pic>
      <p:sp>
        <p:nvSpPr>
          <p:cNvPr id="33796" name="灯片编号占位符 1"/>
          <p:cNvSpPr>
            <a:spLocks noGrp="1"/>
          </p:cNvSpPr>
          <p:nvPr>
            <p:ph type="sldNum" sz="quarter" idx="11"/>
          </p:nvPr>
        </p:nvSpPr>
        <p:spPr>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400" dirty="0"/>
              <a:pPr lvl="0" indent="0" algn="r"/>
              <a:t>32</a:t>
            </a:fld>
            <a:endParaRPr lang="zh-CN" altLang="en-US" sz="1400"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标题 566273"/>
          <p:cNvSpPr>
            <a:spLocks noGrp="1" noRot="1"/>
          </p:cNvSpPr>
          <p:nvPr>
            <p:ph type="title"/>
          </p:nvPr>
        </p:nvSpPr>
        <p:spPr>
          <a:ln/>
        </p:spPr>
        <p:txBody>
          <a:bodyPr anchor="ctr"/>
          <a:lstStyle/>
          <a:p>
            <a:pPr algn="l"/>
            <a:r>
              <a:rPr lang="en-US" altLang="zh-CN" sz="4000" dirty="0">
                <a:solidFill>
                  <a:srgbClr val="0000FF"/>
                </a:solidFill>
              </a:rPr>
              <a:t>5.</a:t>
            </a:r>
            <a:r>
              <a:rPr lang="en-US" altLang="zh-CN" sz="4000" dirty="0">
                <a:solidFill>
                  <a:srgbClr val="0000FF"/>
                </a:solidFill>
                <a:hlinkClick r:id="rId2" action="ppaction://hlinkfile"/>
              </a:rPr>
              <a:t>DNA</a:t>
            </a:r>
            <a:r>
              <a:rPr lang="zh-CN" altLang="en-US" sz="4000" dirty="0">
                <a:solidFill>
                  <a:srgbClr val="0000FF"/>
                </a:solidFill>
                <a:hlinkClick r:id="rId2" action="ppaction://hlinkfile"/>
              </a:rPr>
              <a:t>的复制</a:t>
            </a:r>
            <a:endParaRPr lang="zh-CN" altLang="en-US" sz="4000" dirty="0">
              <a:solidFill>
                <a:srgbClr val="0000FF"/>
              </a:solidFill>
            </a:endParaRPr>
          </a:p>
        </p:txBody>
      </p:sp>
      <p:sp>
        <p:nvSpPr>
          <p:cNvPr id="34818" name="文本占位符 566274"/>
          <p:cNvSpPr>
            <a:spLocks noGrp="1" noRot="1"/>
          </p:cNvSpPr>
          <p:nvPr>
            <p:ph idx="1"/>
          </p:nvPr>
        </p:nvSpPr>
        <p:spPr>
          <a:ln/>
        </p:spPr>
        <p:txBody>
          <a:bodyPr anchor="t"/>
          <a:lstStyle/>
          <a:p>
            <a:pPr>
              <a:lnSpc>
                <a:spcPct val="150000"/>
              </a:lnSpc>
            </a:pPr>
            <a:r>
              <a:rPr lang="zh-CN" altLang="en-US" sz="2800" b="1" dirty="0" smtClean="0"/>
              <a:t>     </a:t>
            </a:r>
            <a:r>
              <a:rPr lang="zh-CN" altLang="en-US" sz="2800" b="1" dirty="0" smtClean="0">
                <a:latin typeface="Times New Roman" pitchFamily="18" charset="0"/>
                <a:cs typeface="Times New Roman" pitchFamily="18" charset="0"/>
              </a:rPr>
              <a:t>生物体</a:t>
            </a:r>
            <a:r>
              <a:rPr lang="zh-CN" altLang="en-US" sz="2800" b="1" dirty="0">
                <a:latin typeface="Times New Roman" pitchFamily="18" charset="0"/>
                <a:cs typeface="Times New Roman" pitchFamily="18" charset="0"/>
              </a:rPr>
              <a:t>的遗传特性是通过</a:t>
            </a:r>
            <a:r>
              <a:rPr lang="en-US" altLang="zh-CN" sz="2800" b="1" dirty="0">
                <a:latin typeface="Times New Roman" pitchFamily="18" charset="0"/>
                <a:cs typeface="Times New Roman" pitchFamily="18" charset="0"/>
              </a:rPr>
              <a:t>DNA</a:t>
            </a:r>
            <a:r>
              <a:rPr lang="zh-CN" altLang="en-US" sz="2800" b="1" dirty="0">
                <a:latin typeface="Times New Roman" pitchFamily="18" charset="0"/>
                <a:cs typeface="Times New Roman" pitchFamily="18" charset="0"/>
              </a:rPr>
              <a:t>的复制由亲代传递给子代。</a:t>
            </a:r>
          </a:p>
          <a:p>
            <a:pPr>
              <a:lnSpc>
                <a:spcPct val="150000"/>
              </a:lnSpc>
            </a:pPr>
            <a:r>
              <a:rPr lang="zh-CN" altLang="en-US" sz="2800" b="1" dirty="0" smtClean="0">
                <a:latin typeface="Times New Roman" pitchFamily="18" charset="0"/>
                <a:cs typeface="Times New Roman" pitchFamily="18" charset="0"/>
              </a:rPr>
              <a:t>     复制</a:t>
            </a:r>
            <a:r>
              <a:rPr lang="zh-CN" altLang="en-US" sz="2800" b="1" dirty="0">
                <a:latin typeface="Times New Roman" pitchFamily="18" charset="0"/>
                <a:cs typeface="Times New Roman" pitchFamily="18" charset="0"/>
              </a:rPr>
              <a:t>的过程机制为半保留。即双螺旋链打开，然后根据碱基配对原则形成一条互补链，从而形成新的</a:t>
            </a:r>
            <a:r>
              <a:rPr lang="en-US" altLang="zh-CN" sz="2800" b="1" dirty="0">
                <a:latin typeface="Times New Roman" pitchFamily="18" charset="0"/>
                <a:cs typeface="Times New Roman" pitchFamily="18" charset="0"/>
              </a:rPr>
              <a:t>DNA</a:t>
            </a:r>
            <a:r>
              <a:rPr lang="zh-CN" altLang="en-US" sz="2800" b="1" dirty="0">
                <a:latin typeface="Times New Roman" pitchFamily="18" charset="0"/>
                <a:cs typeface="Times New Roman" pitchFamily="18" charset="0"/>
              </a:rPr>
              <a:t>分子。</a:t>
            </a:r>
          </a:p>
          <a:p>
            <a:pPr>
              <a:lnSpc>
                <a:spcPct val="150000"/>
              </a:lnSpc>
            </a:pPr>
            <a:r>
              <a:rPr lang="zh-CN" altLang="en-US" sz="2800" b="1" dirty="0" smtClean="0">
                <a:latin typeface="Times New Roman" pitchFamily="18" charset="0"/>
                <a:cs typeface="Times New Roman" pitchFamily="18" charset="0"/>
              </a:rPr>
              <a:t>    新</a:t>
            </a:r>
            <a:r>
              <a:rPr lang="en-US" altLang="zh-CN" sz="2800" b="1" dirty="0">
                <a:latin typeface="Times New Roman" pitchFamily="18" charset="0"/>
                <a:cs typeface="Times New Roman" pitchFamily="18" charset="0"/>
              </a:rPr>
              <a:t>DNA</a:t>
            </a:r>
            <a:r>
              <a:rPr lang="zh-CN" altLang="en-US" sz="2800" b="1" dirty="0">
                <a:latin typeface="Times New Roman" pitchFamily="18" charset="0"/>
                <a:cs typeface="Times New Roman" pitchFamily="18" charset="0"/>
              </a:rPr>
              <a:t>分子中有一半直接来源于亲代。</a:t>
            </a:r>
          </a:p>
        </p:txBody>
      </p:sp>
      <p:sp>
        <p:nvSpPr>
          <p:cNvPr id="34819" name="灯片编号占位符 1"/>
          <p:cNvSpPr>
            <a:spLocks noGrp="1"/>
          </p:cNvSpPr>
          <p:nvPr>
            <p:ph type="sldNum" sz="quarter" idx="11"/>
          </p:nvPr>
        </p:nvSpPr>
        <p:spPr>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400" dirty="0"/>
              <a:pPr lvl="0" indent="0" algn="r"/>
              <a:t>33</a:t>
            </a:fld>
            <a:endParaRPr lang="zh-CN" altLang="en-US" sz="1400"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1" name="图片 567297"/>
          <p:cNvPicPr>
            <a:picLocks noChangeAspect="1"/>
          </p:cNvPicPr>
          <p:nvPr/>
        </p:nvPicPr>
        <p:blipFill>
          <a:blip r:embed="rId2" cstate="print"/>
          <a:stretch>
            <a:fillRect/>
          </a:stretch>
        </p:blipFill>
        <p:spPr>
          <a:xfrm>
            <a:off x="1094423" y="627698"/>
            <a:ext cx="7488237" cy="3968750"/>
          </a:xfrm>
          <a:prstGeom prst="rect">
            <a:avLst/>
          </a:prstGeom>
          <a:noFill/>
          <a:ln w="9525">
            <a:noFill/>
          </a:ln>
        </p:spPr>
      </p:pic>
      <p:sp>
        <p:nvSpPr>
          <p:cNvPr id="35842" name="标题 567298"/>
          <p:cNvSpPr>
            <a:spLocks noGrp="1" noRot="1"/>
          </p:cNvSpPr>
          <p:nvPr>
            <p:ph type="title" idx="4294967295"/>
          </p:nvPr>
        </p:nvSpPr>
        <p:spPr>
          <a:xfrm rot="10800000" flipH="1" flipV="1">
            <a:off x="1546860" y="4293870"/>
            <a:ext cx="7035800" cy="2335530"/>
          </a:xfrm>
        </p:spPr>
        <p:txBody>
          <a:bodyPr anchor="ctr"/>
          <a:lstStyle/>
          <a:p>
            <a:pPr fontAlgn="base"/>
            <a:r>
              <a:rPr lang="en-US" altLang="zh-CN" strike="noStrike" noProof="1">
                <a:ln>
                  <a:solidFill>
                    <a:srgbClr val="FF0000"/>
                  </a:solidFill>
                </a:ln>
                <a:solidFill>
                  <a:srgbClr val="FF0000"/>
                </a:solidFill>
                <a:hlinkClick r:id="rId3" action="ppaction://hlinkfile"/>
              </a:rPr>
              <a:t>DNA</a:t>
            </a:r>
            <a:r>
              <a:rPr lang="zh-CN" altLang="en-US" strike="noStrike" noProof="1">
                <a:ln>
                  <a:solidFill>
                    <a:srgbClr val="FF0000"/>
                  </a:solidFill>
                </a:ln>
                <a:solidFill>
                  <a:srgbClr val="FF0000"/>
                </a:solidFill>
                <a:hlinkClick r:id="rId3" action="ppaction://hlinkfile"/>
              </a:rPr>
              <a:t>半保留复制</a:t>
            </a:r>
            <a:r>
              <a:rPr lang="zh-CN" altLang="en-US" strike="noStrike" noProof="1"/>
              <a:t>图示</a:t>
            </a:r>
          </a:p>
        </p:txBody>
      </p:sp>
      <p:sp>
        <p:nvSpPr>
          <p:cNvPr id="35843" name="灯片编号占位符 1"/>
          <p:cNvSpPr>
            <a:spLocks noGrp="1"/>
          </p:cNvSpPr>
          <p:nvPr>
            <p:ph type="sldNum" sz="quarter" idx="11"/>
          </p:nvPr>
        </p:nvSpPr>
        <p:spPr>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400" dirty="0"/>
              <a:pPr lvl="0" indent="0" algn="r"/>
              <a:t>34</a:t>
            </a:fld>
            <a:endParaRPr lang="zh-CN" altLang="en-US" sz="1400"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7" name="Picture 5" descr="http://img3.redocn.com/tupian/20150121/fensi_3628094.jpg"/>
          <p:cNvPicPr>
            <a:picLocks noChangeAspect="1" noChangeArrowheads="1"/>
          </p:cNvPicPr>
          <p:nvPr/>
        </p:nvPicPr>
        <p:blipFill>
          <a:blip r:embed="rId2" cstate="print"/>
          <a:srcRect l="4775" r="8944" b="10000"/>
          <a:stretch>
            <a:fillRect/>
          </a:stretch>
        </p:blipFill>
        <p:spPr bwMode="auto">
          <a:xfrm>
            <a:off x="2448025" y="4873626"/>
            <a:ext cx="2592288" cy="1944215"/>
          </a:xfrm>
          <a:prstGeom prst="rect">
            <a:avLst/>
          </a:prstGeom>
          <a:noFill/>
        </p:spPr>
      </p:pic>
      <p:sp>
        <p:nvSpPr>
          <p:cNvPr id="102402" name="文本框 102401"/>
          <p:cNvSpPr txBox="1"/>
          <p:nvPr/>
        </p:nvSpPr>
        <p:spPr>
          <a:xfrm>
            <a:off x="395288" y="1247775"/>
            <a:ext cx="2736850" cy="457200"/>
          </a:xfrm>
          <a:prstGeom prst="rect">
            <a:avLst/>
          </a:prstGeom>
          <a:noFill/>
          <a:ln w="9525">
            <a:noFill/>
          </a:ln>
        </p:spPr>
        <p:txBody>
          <a:bodyPr anchor="t">
            <a:spAutoFit/>
          </a:bodyPr>
          <a:lstStyle/>
          <a:p>
            <a:pPr>
              <a:spcBef>
                <a:spcPct val="50000"/>
              </a:spcBef>
            </a:pPr>
            <a:r>
              <a:rPr lang="zh-CN" altLang="en-US" sz="2400" b="1" dirty="0">
                <a:solidFill>
                  <a:srgbClr val="FF0066"/>
                </a:solidFill>
                <a:latin typeface="Verdana" panose="020B0604030504040204" pitchFamily="34" charset="0"/>
                <a:ea typeface="楷体_GB2312" pitchFamily="49" charset="-122"/>
              </a:rPr>
              <a:t>糖类的来源：</a:t>
            </a:r>
          </a:p>
        </p:txBody>
      </p:sp>
      <p:sp>
        <p:nvSpPr>
          <p:cNvPr id="102403" name="文本框 102402"/>
          <p:cNvSpPr txBox="1"/>
          <p:nvPr/>
        </p:nvSpPr>
        <p:spPr>
          <a:xfrm>
            <a:off x="2700338" y="1247775"/>
            <a:ext cx="6156325" cy="457200"/>
          </a:xfrm>
          <a:prstGeom prst="rect">
            <a:avLst/>
          </a:prstGeom>
          <a:noFill/>
          <a:ln w="9525">
            <a:noFill/>
          </a:ln>
        </p:spPr>
        <p:txBody>
          <a:bodyPr anchor="t">
            <a:spAutoFit/>
          </a:bodyPr>
          <a:lstStyle/>
          <a:p>
            <a:pPr>
              <a:spcBef>
                <a:spcPct val="50000"/>
              </a:spcBef>
            </a:pPr>
            <a:r>
              <a:rPr lang="zh-CN" altLang="en-US" sz="2400" b="1" dirty="0">
                <a:solidFill>
                  <a:srgbClr val="000099"/>
                </a:solidFill>
                <a:latin typeface="Verdana" panose="020B0604030504040204" pitchFamily="34" charset="0"/>
                <a:ea typeface="楷体_GB2312" pitchFamily="49" charset="-122"/>
              </a:rPr>
              <a:t>糖类是绿色植物光合作用的产物</a:t>
            </a:r>
          </a:p>
        </p:txBody>
      </p:sp>
      <p:sp>
        <p:nvSpPr>
          <p:cNvPr id="102404" name="文本框 102403"/>
          <p:cNvSpPr txBox="1"/>
          <p:nvPr/>
        </p:nvSpPr>
        <p:spPr>
          <a:xfrm>
            <a:off x="360363" y="1704975"/>
            <a:ext cx="4679950" cy="457200"/>
          </a:xfrm>
          <a:prstGeom prst="rect">
            <a:avLst/>
          </a:prstGeom>
          <a:noFill/>
          <a:ln w="9525">
            <a:noFill/>
          </a:ln>
        </p:spPr>
        <p:txBody>
          <a:bodyPr anchor="t">
            <a:spAutoFit/>
          </a:bodyPr>
          <a:lstStyle/>
          <a:p>
            <a:pPr>
              <a:spcBef>
                <a:spcPct val="50000"/>
              </a:spcBef>
            </a:pPr>
            <a:r>
              <a:rPr lang="zh-CN" altLang="en-US" sz="2400" b="1" dirty="0">
                <a:solidFill>
                  <a:srgbClr val="FF0066"/>
                </a:solidFill>
                <a:latin typeface="Verdana" panose="020B0604030504040204" pitchFamily="34" charset="0"/>
                <a:ea typeface="楷体_GB2312" pitchFamily="49" charset="-122"/>
              </a:rPr>
              <a:t>糖类在人体中的作用：</a:t>
            </a:r>
            <a:endParaRPr lang="zh-CN" altLang="en-US" sz="2400" b="1">
              <a:solidFill>
                <a:srgbClr val="FF0066"/>
              </a:solidFill>
              <a:latin typeface="Verdana" panose="020B0604030504040204" pitchFamily="34" charset="0"/>
              <a:ea typeface="楷体_GB2312" pitchFamily="49" charset="-122"/>
            </a:endParaRPr>
          </a:p>
        </p:txBody>
      </p:sp>
      <p:sp>
        <p:nvSpPr>
          <p:cNvPr id="102405" name="文本框 102404"/>
          <p:cNvSpPr txBox="1"/>
          <p:nvPr/>
        </p:nvSpPr>
        <p:spPr>
          <a:xfrm>
            <a:off x="395288" y="2162175"/>
            <a:ext cx="8280400" cy="457200"/>
          </a:xfrm>
          <a:prstGeom prst="rect">
            <a:avLst/>
          </a:prstGeom>
          <a:noFill/>
          <a:ln w="9525">
            <a:noFill/>
          </a:ln>
        </p:spPr>
        <p:txBody>
          <a:bodyPr anchor="t">
            <a:spAutoFit/>
          </a:bodyPr>
          <a:lstStyle/>
          <a:p>
            <a:pPr>
              <a:spcBef>
                <a:spcPct val="50000"/>
              </a:spcBef>
            </a:pPr>
            <a:r>
              <a:rPr lang="zh-CN" altLang="en-US" sz="2400" b="1" dirty="0">
                <a:solidFill>
                  <a:srgbClr val="000099"/>
                </a:solidFill>
                <a:latin typeface="楷体_GB2312" pitchFamily="49" charset="-122"/>
                <a:ea typeface="楷体_GB2312" pitchFamily="49" charset="-122"/>
              </a:rPr>
              <a:t>主要提供能量。人们每天摄取的热能中大约有</a:t>
            </a:r>
            <a:r>
              <a:rPr lang="en-US" altLang="zh-CN" sz="2400" b="1">
                <a:solidFill>
                  <a:srgbClr val="000099"/>
                </a:solidFill>
                <a:latin typeface="楷体_GB2312" pitchFamily="49" charset="-122"/>
                <a:ea typeface="楷体_GB2312" pitchFamily="49" charset="-122"/>
              </a:rPr>
              <a:t>75%</a:t>
            </a:r>
            <a:r>
              <a:rPr lang="zh-CN" altLang="en-US" sz="2400" b="1" dirty="0">
                <a:solidFill>
                  <a:srgbClr val="000099"/>
                </a:solidFill>
                <a:latin typeface="楷体_GB2312" pitchFamily="49" charset="-122"/>
                <a:ea typeface="楷体_GB2312" pitchFamily="49" charset="-122"/>
              </a:rPr>
              <a:t>来自糖类。</a:t>
            </a:r>
          </a:p>
        </p:txBody>
      </p:sp>
      <p:graphicFrame>
        <p:nvGraphicFramePr>
          <p:cNvPr id="102442" name="表格 102441"/>
          <p:cNvGraphicFramePr/>
          <p:nvPr/>
        </p:nvGraphicFramePr>
        <p:xfrm>
          <a:off x="107950" y="3357563"/>
          <a:ext cx="8750330" cy="1357321"/>
        </p:xfrm>
        <a:graphic>
          <a:graphicData uri="http://schemas.openxmlformats.org/drawingml/2006/table">
            <a:tbl>
              <a:tblPr/>
              <a:tblGrid>
                <a:gridCol w="1112838"/>
                <a:gridCol w="1185862"/>
                <a:gridCol w="2089150"/>
                <a:gridCol w="2160588"/>
                <a:gridCol w="2201892"/>
              </a:tblGrid>
              <a:tr h="820738">
                <a:tc>
                  <a:txBody>
                    <a:bodyPr/>
                    <a:lstStyle>
                      <a:lvl1pPr marL="342900" lvl="0" indent="-34290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5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9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sz="2400" b="1" dirty="0">
                          <a:solidFill>
                            <a:srgbClr val="000000"/>
                          </a:solidFill>
                        </a:rPr>
                        <a:t>食物</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5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9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sz="2400" b="1" dirty="0">
                          <a:solidFill>
                            <a:srgbClr val="000000"/>
                          </a:solidFill>
                        </a:rPr>
                        <a:t>蔗糖</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5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9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sz="2400" b="1" dirty="0">
                          <a:solidFill>
                            <a:srgbClr val="000000"/>
                          </a:solidFill>
                        </a:rPr>
                        <a:t>粉丝等</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5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9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sz="2400" b="1" dirty="0">
                          <a:solidFill>
                            <a:srgbClr val="000000"/>
                          </a:solidFill>
                        </a:rPr>
                        <a:t>大米、面粉、玉米等</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5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9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sz="2400" b="1" dirty="0">
                          <a:solidFill>
                            <a:srgbClr val="000000"/>
                          </a:solidFill>
                        </a:rPr>
                        <a:t>苹果、桃、葡萄等</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34361">
                <a:tc>
                  <a:txBody>
                    <a:bodyPr/>
                    <a:lstStyle>
                      <a:lvl1pPr marL="342900" lvl="0" indent="-34290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5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9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sz="2400" b="1" dirty="0">
                          <a:solidFill>
                            <a:srgbClr val="000000"/>
                          </a:solidFill>
                        </a:rPr>
                        <a:t>含糖量</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5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9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400" b="1" dirty="0">
                          <a:solidFill>
                            <a:srgbClr val="000000"/>
                          </a:solidFill>
                          <a:latin typeface="Times New Roman" pitchFamily="18" charset="0"/>
                          <a:cs typeface="Times New Roman" pitchFamily="18" charset="0"/>
                        </a:rPr>
                        <a:t>100%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5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9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400" b="1" dirty="0">
                          <a:solidFill>
                            <a:srgbClr val="000000"/>
                          </a:solidFill>
                          <a:latin typeface="Times New Roman" pitchFamily="18" charset="0"/>
                          <a:cs typeface="Times New Roman" pitchFamily="18" charset="0"/>
                        </a:rPr>
                        <a:t>85%~95%</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5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9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400" b="1" dirty="0">
                          <a:solidFill>
                            <a:srgbClr val="000000"/>
                          </a:solidFill>
                          <a:latin typeface="Times New Roman" pitchFamily="18" charset="0"/>
                          <a:cs typeface="Times New Roman" pitchFamily="18" charset="0"/>
                        </a:rPr>
                        <a:t>70%~80%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5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9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400" b="1" dirty="0">
                          <a:solidFill>
                            <a:srgbClr val="000000"/>
                          </a:solidFill>
                          <a:latin typeface="Times New Roman" pitchFamily="18" charset="0"/>
                          <a:cs typeface="Times New Roman" pitchFamily="18" charset="0"/>
                        </a:rPr>
                        <a:t>9%~12%</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102426" name="文本框 102425"/>
          <p:cNvSpPr txBox="1"/>
          <p:nvPr/>
        </p:nvSpPr>
        <p:spPr>
          <a:xfrm>
            <a:off x="1908175" y="2878138"/>
            <a:ext cx="4535488" cy="396875"/>
          </a:xfrm>
          <a:prstGeom prst="rect">
            <a:avLst/>
          </a:prstGeom>
          <a:noFill/>
          <a:ln w="9525">
            <a:noFill/>
          </a:ln>
        </p:spPr>
        <p:txBody>
          <a:bodyPr anchor="t">
            <a:spAutoFit/>
          </a:bodyPr>
          <a:lstStyle/>
          <a:p>
            <a:pPr algn="ctr">
              <a:spcBef>
                <a:spcPct val="50000"/>
              </a:spcBef>
            </a:pPr>
            <a:r>
              <a:rPr lang="zh-CN" altLang="en-US" sz="2000" b="1" dirty="0">
                <a:solidFill>
                  <a:srgbClr val="000000"/>
                </a:solidFill>
                <a:latin typeface="楷体_GB2312" pitchFamily="49" charset="-122"/>
                <a:ea typeface="楷体_GB2312" pitchFamily="49" charset="-122"/>
              </a:rPr>
              <a:t>表</a:t>
            </a:r>
            <a:r>
              <a:rPr lang="en-US" altLang="zh-CN" sz="2000" b="1">
                <a:solidFill>
                  <a:srgbClr val="000000"/>
                </a:solidFill>
                <a:latin typeface="楷体_GB2312" pitchFamily="49" charset="-122"/>
                <a:ea typeface="楷体_GB2312" pitchFamily="49" charset="-122"/>
              </a:rPr>
              <a:t>1-1  </a:t>
            </a:r>
            <a:r>
              <a:rPr lang="zh-CN" altLang="en-US" sz="2000" b="1" dirty="0">
                <a:solidFill>
                  <a:srgbClr val="000000"/>
                </a:solidFill>
                <a:latin typeface="楷体_GB2312" pitchFamily="49" charset="-122"/>
                <a:ea typeface="楷体_GB2312" pitchFamily="49" charset="-122"/>
              </a:rPr>
              <a:t>含糖食物与含糖量</a:t>
            </a:r>
          </a:p>
        </p:txBody>
      </p:sp>
      <p:pic>
        <p:nvPicPr>
          <p:cNvPr id="102427" name="图片 102426" descr="桃"/>
          <p:cNvPicPr>
            <a:picLocks noChangeAspect="1"/>
          </p:cNvPicPr>
          <p:nvPr/>
        </p:nvPicPr>
        <p:blipFill>
          <a:blip r:embed="rId3" cstate="print"/>
          <a:stretch>
            <a:fillRect/>
          </a:stretch>
        </p:blipFill>
        <p:spPr>
          <a:xfrm>
            <a:off x="6659563" y="4799013"/>
            <a:ext cx="2484437" cy="2058987"/>
          </a:xfrm>
          <a:prstGeom prst="rect">
            <a:avLst/>
          </a:prstGeom>
          <a:noFill/>
          <a:ln w="9525">
            <a:noFill/>
          </a:ln>
        </p:spPr>
      </p:pic>
      <p:sp>
        <p:nvSpPr>
          <p:cNvPr id="36895" name="灯片编号占位符 1"/>
          <p:cNvSpPr>
            <a:spLocks noGrp="1"/>
          </p:cNvSpPr>
          <p:nvPr>
            <p:ph type="sldNum" sz="quarter" idx="11"/>
          </p:nvPr>
        </p:nvSpPr>
        <p:spPr>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400" dirty="0"/>
              <a:pPr lvl="0" indent="0" algn="r"/>
              <a:t>35</a:t>
            </a:fld>
            <a:endParaRPr lang="zh-CN" altLang="en-US" sz="1400" dirty="0"/>
          </a:p>
        </p:txBody>
      </p:sp>
      <p:sp>
        <p:nvSpPr>
          <p:cNvPr id="7170" name="Rectangle 2"/>
          <p:cNvSpPr>
            <a:spLocks noChangeArrowheads="1"/>
          </p:cNvSpPr>
          <p:nvPr/>
        </p:nvSpPr>
        <p:spPr bwMode="auto">
          <a:xfrm>
            <a:off x="0" y="418783"/>
            <a:ext cx="9144000" cy="720725"/>
          </a:xfrm>
          <a:prstGeom prst="rect">
            <a:avLst/>
          </a:prstGeom>
          <a:gradFill rotWithShape="1">
            <a:gsLst>
              <a:gs pos="0">
                <a:srgbClr val="0000FF">
                  <a:gamma/>
                  <a:shade val="46275"/>
                  <a:invGamma/>
                </a:srgbClr>
              </a:gs>
              <a:gs pos="50000">
                <a:srgbClr val="0000FF">
                  <a:alpha val="98999"/>
                </a:srgbClr>
              </a:gs>
              <a:gs pos="100000">
                <a:srgbClr val="0000FF">
                  <a:gamma/>
                  <a:shade val="46275"/>
                  <a:invGamma/>
                </a:srgbClr>
              </a:gs>
            </a:gsLst>
            <a:lin ang="5400000" scaled="1"/>
          </a:gradFill>
          <a:ln w="9525">
            <a:noFill/>
            <a:miter lim="800000"/>
          </a:ln>
        </p:spPr>
        <p:txBody>
          <a:bodyPr anchor="ctr"/>
          <a:lstStyle/>
          <a:p>
            <a:pPr marL="0" marR="0" lvl="0" indent="0" algn="ctr" defTabSz="914400" rtl="0" eaLnBrk="1" fontAlgn="base" latinLnBrk="0" hangingPunct="1">
              <a:lnSpc>
                <a:spcPct val="115000"/>
              </a:lnSpc>
              <a:spcBef>
                <a:spcPct val="0"/>
              </a:spcBef>
              <a:spcAft>
                <a:spcPct val="0"/>
              </a:spcAft>
              <a:buClrTx/>
              <a:buSzTx/>
              <a:buFont typeface="Arial" panose="020B0604020202020204" pitchFamily="34" charset="0"/>
              <a:buNone/>
              <a:defRPr/>
            </a:pPr>
            <a:r>
              <a:rPr kumimoji="0" lang="en-US" altLang="zh-CN" sz="3200" b="1" i="0" u="none" strike="noStrike" kern="1200" cap="none" spc="0" normalizeH="0" baseline="0" noProof="0" dirty="0">
                <a:ln>
                  <a:noFill/>
                </a:ln>
                <a:solidFill>
                  <a:schemeClr val="bg1"/>
                </a:solidFill>
                <a:effectLst/>
                <a:uLnTx/>
                <a:uFillTx/>
                <a:latin typeface="楷体_GB2312" pitchFamily="49" charset="-122"/>
                <a:ea typeface="楷体_GB2312" pitchFamily="49" charset="-122"/>
                <a:cs typeface="+mn-cs"/>
              </a:rPr>
              <a:t>§9</a:t>
            </a:r>
            <a:r>
              <a:rPr kumimoji="0" lang="en-US" altLang="zh-CN" sz="3200" b="1" i="0" u="none" strike="noStrike" kern="1200" cap="none" spc="0" normalizeH="0" baseline="0" noProof="0" dirty="0">
                <a:ln>
                  <a:noFill/>
                </a:ln>
                <a:solidFill>
                  <a:schemeClr val="bg1"/>
                </a:solidFill>
                <a:effectLst/>
                <a:uLnTx/>
                <a:uFillTx/>
                <a:latin typeface="Times New Roman" panose="02020603050405020304" pitchFamily="18" charset="0"/>
                <a:ea typeface="楷体_GB2312" pitchFamily="49" charset="-122"/>
                <a:cs typeface="+mn-cs"/>
              </a:rPr>
              <a:t>.3 </a:t>
            </a:r>
            <a:r>
              <a:rPr kumimoji="0" lang="en-US" altLang="zh-CN" sz="3200" b="1" i="0" u="none" strike="noStrike" kern="1200" cap="none" spc="0" normalizeH="0" baseline="0" noProof="0" dirty="0" smtClean="0">
                <a:ln>
                  <a:noFill/>
                </a:ln>
                <a:solidFill>
                  <a:schemeClr val="bg1"/>
                </a:solidFill>
                <a:effectLst/>
                <a:uLnTx/>
                <a:uFillTx/>
                <a:latin typeface="Times New Roman" panose="02020603050405020304" pitchFamily="18" charset="0"/>
                <a:ea typeface="楷体_GB2312" pitchFamily="49" charset="-122"/>
                <a:cs typeface="+mn-cs"/>
              </a:rPr>
              <a:t>   </a:t>
            </a:r>
            <a:r>
              <a:rPr kumimoji="0" lang="zh-CN" altLang="en-US" sz="3200" b="1" i="0" u="none" strike="noStrike" kern="1200" cap="none" spc="0" normalizeH="0" baseline="0" noProof="0" dirty="0">
                <a:ln>
                  <a:noFill/>
                </a:ln>
                <a:solidFill>
                  <a:schemeClr val="bg1"/>
                </a:solidFill>
                <a:effectLst/>
                <a:uLnTx/>
                <a:uFillTx/>
                <a:latin typeface="Times New Roman" panose="02020603050405020304" pitchFamily="18" charset="0"/>
                <a:ea typeface="楷体_GB2312" pitchFamily="49" charset="-122"/>
                <a:cs typeface="+mn-cs"/>
              </a:rPr>
              <a:t>糖</a:t>
            </a:r>
          </a:p>
        </p:txBody>
      </p:sp>
      <p:pic>
        <p:nvPicPr>
          <p:cNvPr id="69634" name="Picture 2" descr="http://img2.99114.com/group1/M00/3A/7B/wKgGTFdIGJSAOZkZAAIaXQwOAkw586.jpg"/>
          <p:cNvPicPr>
            <a:picLocks noChangeAspect="1" noChangeArrowheads="1"/>
          </p:cNvPicPr>
          <p:nvPr/>
        </p:nvPicPr>
        <p:blipFill>
          <a:blip r:embed="rId4" cstate="print"/>
          <a:srcRect l="6725" t="21595"/>
          <a:stretch>
            <a:fillRect/>
          </a:stretch>
        </p:blipFill>
        <p:spPr bwMode="auto">
          <a:xfrm>
            <a:off x="4660764" y="4848698"/>
            <a:ext cx="2407368" cy="2023590"/>
          </a:xfrm>
          <a:prstGeom prst="rect">
            <a:avLst/>
          </a:prstGeom>
          <a:noFill/>
        </p:spPr>
      </p:pic>
      <p:pic>
        <p:nvPicPr>
          <p:cNvPr id="69635" name="Picture 3"/>
          <p:cNvPicPr>
            <a:picLocks noChangeAspect="1" noChangeArrowheads="1"/>
          </p:cNvPicPr>
          <p:nvPr/>
        </p:nvPicPr>
        <p:blipFill>
          <a:blip r:embed="rId5" cstate="print"/>
          <a:srcRect r="14218"/>
          <a:stretch>
            <a:fillRect/>
          </a:stretch>
        </p:blipFill>
        <p:spPr bwMode="auto">
          <a:xfrm>
            <a:off x="0" y="4873626"/>
            <a:ext cx="2700338" cy="1998662"/>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nodeType="withEffect">
                                  <p:stCondLst>
                                    <p:cond delay="0"/>
                                  </p:stCondLst>
                                  <p:iterate type="lt">
                                    <p:tmPct val="10000"/>
                                  </p:iterate>
                                  <p:childTnLst>
                                    <p:set>
                                      <p:cBhvr>
                                        <p:cTn id="6" dur="1" fill="hold">
                                          <p:stCondLst>
                                            <p:cond delay="0"/>
                                          </p:stCondLst>
                                        </p:cTn>
                                        <p:tgtEl>
                                          <p:spTgt spid="7170"/>
                                        </p:tgtEl>
                                        <p:attrNameLst>
                                          <p:attrName>style.visibility</p:attrName>
                                        </p:attrNameLst>
                                      </p:cBhvr>
                                      <p:to>
                                        <p:strVal val="visible"/>
                                      </p:to>
                                    </p:set>
                                    <p:anim calcmode="lin" valueType="num">
                                      <p:cBhvr>
                                        <p:cTn id="7" dur="500" fill="hold"/>
                                        <p:tgtEl>
                                          <p:spTgt spid="7170"/>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7170"/>
                                        </p:tgtEl>
                                        <p:attrNameLst>
                                          <p:attrName>ppt_y</p:attrName>
                                        </p:attrNameLst>
                                      </p:cBhvr>
                                      <p:tavLst>
                                        <p:tav tm="0">
                                          <p:val>
                                            <p:strVal val="#ppt_y"/>
                                          </p:val>
                                        </p:tav>
                                        <p:tav tm="100000">
                                          <p:val>
                                            <p:strVal val="#ppt_y"/>
                                          </p:val>
                                        </p:tav>
                                      </p:tavLst>
                                    </p:anim>
                                    <p:anim calcmode="lin" valueType="num">
                                      <p:cBhvr>
                                        <p:cTn id="9" dur="500" fill="hold"/>
                                        <p:tgtEl>
                                          <p:spTgt spid="7170"/>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7170"/>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7170"/>
                                        </p:tgtEl>
                                      </p:cBhvr>
                                    </p:animEffect>
                                  </p:childTnLst>
                                </p:cTn>
                              </p:par>
                            </p:childTnLst>
                          </p:cTn>
                        </p:par>
                        <p:par>
                          <p:cTn id="12" fill="hold">
                            <p:stCondLst>
                              <p:cond delay="700"/>
                            </p:stCondLst>
                            <p:childTnLst>
                              <p:par>
                                <p:cTn id="13" presetID="22" presetClass="entr" presetSubtype="8" fill="hold" grpId="0" nodeType="afterEffect">
                                  <p:stCondLst>
                                    <p:cond delay="0"/>
                                  </p:stCondLst>
                                  <p:childTnLst>
                                    <p:set>
                                      <p:cBhvr>
                                        <p:cTn id="14" dur="1" fill="hold">
                                          <p:stCondLst>
                                            <p:cond delay="0"/>
                                          </p:stCondLst>
                                        </p:cTn>
                                        <p:tgtEl>
                                          <p:spTgt spid="102402"/>
                                        </p:tgtEl>
                                        <p:attrNameLst>
                                          <p:attrName>style.visibility</p:attrName>
                                        </p:attrNameLst>
                                      </p:cBhvr>
                                      <p:to>
                                        <p:strVal val="visible"/>
                                      </p:to>
                                    </p:set>
                                    <p:animEffect transition="in" filter="wipe(left)">
                                      <p:cBhvr>
                                        <p:cTn id="15" dur="500"/>
                                        <p:tgtEl>
                                          <p:spTgt spid="102402"/>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02403"/>
                                        </p:tgtEl>
                                        <p:attrNameLst>
                                          <p:attrName>style.visibility</p:attrName>
                                        </p:attrNameLst>
                                      </p:cBhvr>
                                      <p:to>
                                        <p:strVal val="visible"/>
                                      </p:to>
                                    </p:set>
                                    <p:animEffect transition="in" filter="wipe(left)">
                                      <p:cBhvr>
                                        <p:cTn id="20" dur="500"/>
                                        <p:tgtEl>
                                          <p:spTgt spid="10240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02404"/>
                                        </p:tgtEl>
                                        <p:attrNameLst>
                                          <p:attrName>style.visibility</p:attrName>
                                        </p:attrNameLst>
                                      </p:cBhvr>
                                      <p:to>
                                        <p:strVal val="visible"/>
                                      </p:to>
                                    </p:set>
                                    <p:animEffect transition="in" filter="wipe(left)">
                                      <p:cBhvr>
                                        <p:cTn id="25" dur="500"/>
                                        <p:tgtEl>
                                          <p:spTgt spid="102404"/>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5" fill="hold" grpId="0" nodeType="clickEffect">
                                  <p:stCondLst>
                                    <p:cond delay="0"/>
                                  </p:stCondLst>
                                  <p:childTnLst>
                                    <p:set>
                                      <p:cBhvr>
                                        <p:cTn id="29" dur="1" fill="hold">
                                          <p:stCondLst>
                                            <p:cond delay="0"/>
                                          </p:stCondLst>
                                        </p:cTn>
                                        <p:tgtEl>
                                          <p:spTgt spid="102405"/>
                                        </p:tgtEl>
                                        <p:attrNameLst>
                                          <p:attrName>style.visibility</p:attrName>
                                        </p:attrNameLst>
                                      </p:cBhvr>
                                      <p:to>
                                        <p:strVal val="visible"/>
                                      </p:to>
                                    </p:set>
                                    <p:animEffect transition="in" filter="blinds(vertical)">
                                      <p:cBhvr>
                                        <p:cTn id="30" dur="500"/>
                                        <p:tgtEl>
                                          <p:spTgt spid="102405"/>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02426"/>
                                        </p:tgtEl>
                                        <p:attrNameLst>
                                          <p:attrName>style.visibility</p:attrName>
                                        </p:attrNameLst>
                                      </p:cBhvr>
                                      <p:to>
                                        <p:strVal val="visible"/>
                                      </p:to>
                                    </p:set>
                                    <p:animEffect transition="in" filter="wipe(left)">
                                      <p:cBhvr>
                                        <p:cTn id="35" dur="500"/>
                                        <p:tgtEl>
                                          <p:spTgt spid="102426"/>
                                        </p:tgtEl>
                                      </p:cBhvr>
                                    </p:animEffect>
                                  </p:childTnLst>
                                </p:cTn>
                              </p:par>
                            </p:childTnLst>
                          </p:cTn>
                        </p:par>
                        <p:par>
                          <p:cTn id="36" fill="hold">
                            <p:stCondLst>
                              <p:cond delay="500"/>
                            </p:stCondLst>
                            <p:childTnLst>
                              <p:par>
                                <p:cTn id="37" presetID="6" presetClass="entr" presetSubtype="32" fill="hold" nodeType="afterEffect">
                                  <p:stCondLst>
                                    <p:cond delay="0"/>
                                  </p:stCondLst>
                                  <p:childTnLst>
                                    <p:set>
                                      <p:cBhvr>
                                        <p:cTn id="38" dur="1" fill="hold">
                                          <p:stCondLst>
                                            <p:cond delay="0"/>
                                          </p:stCondLst>
                                        </p:cTn>
                                        <p:tgtEl>
                                          <p:spTgt spid="102442"/>
                                        </p:tgtEl>
                                        <p:attrNameLst>
                                          <p:attrName>style.visibility</p:attrName>
                                        </p:attrNameLst>
                                      </p:cBhvr>
                                      <p:to>
                                        <p:strVal val="visible"/>
                                      </p:to>
                                    </p:set>
                                    <p:animEffect transition="in" filter="circle(out)">
                                      <p:cBhvr>
                                        <p:cTn id="39" dur="500"/>
                                        <p:tgtEl>
                                          <p:spTgt spid="102442"/>
                                        </p:tgtEl>
                                      </p:cBhvr>
                                    </p:animEffect>
                                  </p:childTnLst>
                                </p:cTn>
                              </p:par>
                            </p:childTnLst>
                          </p:cTn>
                        </p:par>
                        <p:par>
                          <p:cTn id="40" fill="hold">
                            <p:stCondLst>
                              <p:cond delay="1000"/>
                            </p:stCondLst>
                            <p:childTnLst>
                              <p:par>
                                <p:cTn id="41" presetID="22" presetClass="entr" presetSubtype="8" fill="hold" nodeType="afterEffect">
                                  <p:stCondLst>
                                    <p:cond delay="0"/>
                                  </p:stCondLst>
                                  <p:childTnLst>
                                    <p:set>
                                      <p:cBhvr>
                                        <p:cTn id="42" dur="1" fill="hold">
                                          <p:stCondLst>
                                            <p:cond delay="0"/>
                                          </p:stCondLst>
                                        </p:cTn>
                                        <p:tgtEl>
                                          <p:spTgt spid="102427"/>
                                        </p:tgtEl>
                                        <p:attrNameLst>
                                          <p:attrName>style.visibility</p:attrName>
                                        </p:attrNameLst>
                                      </p:cBhvr>
                                      <p:to>
                                        <p:strVal val="visible"/>
                                      </p:to>
                                    </p:set>
                                    <p:animEffect transition="in" filter="wipe(left)">
                                      <p:cBhvr>
                                        <p:cTn id="43" dur="500"/>
                                        <p:tgtEl>
                                          <p:spTgt spid="1024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2" grpId="0"/>
      <p:bldP spid="102403" grpId="0"/>
      <p:bldP spid="102404" grpId="0"/>
      <p:bldP spid="102405" grpId="0"/>
      <p:bldP spid="10242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306" name="Picture 2" descr="http://p0.so.qhmsg.com/t012730b19bc015c02f.jpg"/>
          <p:cNvPicPr>
            <a:picLocks noChangeAspect="1" noChangeArrowheads="1"/>
          </p:cNvPicPr>
          <p:nvPr/>
        </p:nvPicPr>
        <p:blipFill>
          <a:blip r:embed="rId2" cstate="print"/>
          <a:srcRect/>
          <a:stretch>
            <a:fillRect/>
          </a:stretch>
        </p:blipFill>
        <p:spPr bwMode="auto">
          <a:xfrm>
            <a:off x="323527" y="620688"/>
            <a:ext cx="3917235" cy="2448272"/>
          </a:xfrm>
          <a:prstGeom prst="rect">
            <a:avLst/>
          </a:prstGeom>
          <a:noFill/>
        </p:spPr>
      </p:pic>
      <p:pic>
        <p:nvPicPr>
          <p:cNvPr id="98310" name="Picture 6" descr="http://img.hc360.com/gift/info/images/200909/200909091038546954.jpg"/>
          <p:cNvPicPr>
            <a:picLocks noChangeAspect="1" noChangeArrowheads="1"/>
          </p:cNvPicPr>
          <p:nvPr/>
        </p:nvPicPr>
        <p:blipFill>
          <a:blip r:embed="rId3" cstate="print"/>
          <a:srcRect r="3360" b="12589"/>
          <a:stretch>
            <a:fillRect/>
          </a:stretch>
        </p:blipFill>
        <p:spPr bwMode="auto">
          <a:xfrm>
            <a:off x="4240762" y="3501008"/>
            <a:ext cx="4142234" cy="2664296"/>
          </a:xfrm>
          <a:prstGeom prst="rect">
            <a:avLst/>
          </a:prstGeom>
          <a:noFill/>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文本框 106497"/>
          <p:cNvSpPr txBox="1"/>
          <p:nvPr/>
        </p:nvSpPr>
        <p:spPr>
          <a:xfrm>
            <a:off x="1835150" y="404812"/>
            <a:ext cx="5761038" cy="523220"/>
          </a:xfrm>
          <a:prstGeom prst="rect">
            <a:avLst/>
          </a:prstGeom>
          <a:gradFill rotWithShape="1">
            <a:gsLst>
              <a:gs pos="0">
                <a:srgbClr val="FF99FF">
                  <a:gamma/>
                  <a:tint val="0"/>
                  <a:invGamma/>
                </a:srgbClr>
              </a:gs>
              <a:gs pos="100000">
                <a:srgbClr val="FF99FF"/>
              </a:gs>
            </a:gsLst>
            <a:path path="shape">
              <a:fillToRect l="50000" t="50000" r="50000" b="50000"/>
            </a:path>
            <a:tileRect/>
          </a:gradFill>
          <a:ln w="57150" cap="flat" cmpd="thinThick">
            <a:solidFill>
              <a:srgbClr val="FF0066"/>
            </a:solidFill>
            <a:prstDash val="solid"/>
            <a:miter/>
            <a:headEnd type="none" w="med" len="med"/>
            <a:tailEnd type="none" w="med" len="med"/>
          </a:ln>
        </p:spPr>
        <p:txBody>
          <a:bodyPr>
            <a:spAutoFit/>
          </a:bodyPr>
          <a:lstStyle/>
          <a:p>
            <a:pPr algn="ctr">
              <a:spcBef>
                <a:spcPct val="50000"/>
              </a:spcBef>
            </a:pPr>
            <a:r>
              <a:rPr lang="zh-CN" altLang="en-US" sz="2800" b="1" noProof="1">
                <a:solidFill>
                  <a:srgbClr val="000099"/>
                </a:solidFill>
                <a:latin typeface="Verdana" panose="020B0604030504040204" pitchFamily="34" charset="0"/>
                <a:ea typeface="楷体_GB2312" pitchFamily="49" charset="-122"/>
                <a:cs typeface="+mn-cs"/>
              </a:rPr>
              <a:t>糖类的概念、结构和分类</a:t>
            </a:r>
            <a:endParaRPr lang="zh-CN" altLang="en-US" sz="2800" b="1" noProof="1">
              <a:solidFill>
                <a:srgbClr val="000099"/>
              </a:solidFill>
              <a:latin typeface="Verdana" panose="020B0604030504040204" pitchFamily="34" charset="0"/>
              <a:ea typeface="楷体_GB2312" pitchFamily="49" charset="-122"/>
            </a:endParaRPr>
          </a:p>
        </p:txBody>
      </p:sp>
      <p:sp>
        <p:nvSpPr>
          <p:cNvPr id="106499" name="文本框 106498"/>
          <p:cNvSpPr txBox="1"/>
          <p:nvPr/>
        </p:nvSpPr>
        <p:spPr>
          <a:xfrm>
            <a:off x="611188" y="981075"/>
            <a:ext cx="2232025" cy="457200"/>
          </a:xfrm>
          <a:prstGeom prst="rect">
            <a:avLst/>
          </a:prstGeom>
          <a:noFill/>
          <a:ln w="9525">
            <a:noFill/>
          </a:ln>
        </p:spPr>
        <p:txBody>
          <a:bodyPr>
            <a:spAutoFit/>
          </a:bodyPr>
          <a:lstStyle/>
          <a:p>
            <a:pPr>
              <a:spcBef>
                <a:spcPct val="50000"/>
              </a:spcBef>
            </a:pPr>
            <a:r>
              <a:rPr lang="en-US" altLang="zh-CN" sz="2400" b="1" noProof="1">
                <a:solidFill>
                  <a:srgbClr val="FF0066"/>
                </a:solidFill>
                <a:effectLst>
                  <a:outerShdw blurRad="38100" dist="38100" dir="2700000">
                    <a:srgbClr val="000000"/>
                  </a:outerShdw>
                </a:effectLst>
                <a:latin typeface="楷体_GB2312" pitchFamily="49" charset="-122"/>
                <a:ea typeface="楷体_GB2312" pitchFamily="49" charset="-122"/>
                <a:cs typeface="+mn-cs"/>
              </a:rPr>
              <a:t>1</a:t>
            </a:r>
            <a:r>
              <a:rPr lang="zh-CN" altLang="en-US" sz="2400" b="1" noProof="1">
                <a:solidFill>
                  <a:srgbClr val="FF0066"/>
                </a:solidFill>
                <a:effectLst>
                  <a:outerShdw blurRad="38100" dist="38100" dir="2700000">
                    <a:srgbClr val="000000"/>
                  </a:outerShdw>
                </a:effectLst>
                <a:latin typeface="楷体_GB2312" pitchFamily="49" charset="-122"/>
                <a:ea typeface="楷体_GB2312" pitchFamily="49" charset="-122"/>
                <a:cs typeface="+mn-cs"/>
              </a:rPr>
              <a:t>、糖类：</a:t>
            </a:r>
            <a:endParaRPr lang="zh-CN" altLang="en-US" sz="2400" b="1" noProof="1">
              <a:solidFill>
                <a:srgbClr val="FF0066"/>
              </a:solidFill>
              <a:effectLst>
                <a:outerShdw blurRad="38100" dist="38100" dir="2700000">
                  <a:srgbClr val="000000"/>
                </a:outerShdw>
              </a:effectLst>
              <a:latin typeface="楷体_GB2312" pitchFamily="49" charset="-122"/>
              <a:ea typeface="楷体_GB2312" pitchFamily="49" charset="-122"/>
            </a:endParaRPr>
          </a:p>
        </p:txBody>
      </p:sp>
      <p:sp>
        <p:nvSpPr>
          <p:cNvPr id="106500" name="文本框 106499"/>
          <p:cNvSpPr txBox="1"/>
          <p:nvPr/>
        </p:nvSpPr>
        <p:spPr>
          <a:xfrm>
            <a:off x="646113" y="1570038"/>
            <a:ext cx="7454900" cy="457200"/>
          </a:xfrm>
          <a:prstGeom prst="rect">
            <a:avLst/>
          </a:prstGeom>
          <a:noFill/>
          <a:ln w="9525">
            <a:noFill/>
          </a:ln>
        </p:spPr>
        <p:txBody>
          <a:bodyPr anchor="t">
            <a:spAutoFit/>
          </a:bodyPr>
          <a:lstStyle/>
          <a:p>
            <a:pPr>
              <a:spcBef>
                <a:spcPct val="50000"/>
              </a:spcBef>
            </a:pPr>
            <a:r>
              <a:rPr lang="zh-CN" altLang="en-US" sz="2400" b="1" dirty="0">
                <a:solidFill>
                  <a:schemeClr val="tx1"/>
                </a:solidFill>
                <a:latin typeface="Verdana" panose="020B0604030504040204" pitchFamily="34" charset="0"/>
              </a:rPr>
              <a:t>由</a:t>
            </a:r>
            <a:r>
              <a:rPr lang="en-US" altLang="zh-CN" sz="2400" b="1">
                <a:solidFill>
                  <a:schemeClr val="tx1"/>
                </a:solidFill>
                <a:latin typeface="Verdana" panose="020B0604030504040204" pitchFamily="34" charset="0"/>
              </a:rPr>
              <a:t>C</a:t>
            </a:r>
            <a:r>
              <a:rPr lang="zh-CN" altLang="en-US" sz="2400" b="1" dirty="0">
                <a:solidFill>
                  <a:schemeClr val="tx1"/>
                </a:solidFill>
                <a:latin typeface="Verdana" panose="020B0604030504040204" pitchFamily="34" charset="0"/>
              </a:rPr>
              <a:t>、</a:t>
            </a:r>
            <a:r>
              <a:rPr lang="en-US" altLang="zh-CN" sz="2400" b="1">
                <a:solidFill>
                  <a:schemeClr val="tx1"/>
                </a:solidFill>
                <a:latin typeface="Verdana" panose="020B0604030504040204" pitchFamily="34" charset="0"/>
              </a:rPr>
              <a:t>H</a:t>
            </a:r>
            <a:r>
              <a:rPr lang="zh-CN" altLang="en-US" sz="2400" b="1" dirty="0">
                <a:solidFill>
                  <a:schemeClr val="tx1"/>
                </a:solidFill>
                <a:latin typeface="Verdana" panose="020B0604030504040204" pitchFamily="34" charset="0"/>
              </a:rPr>
              <a:t>、</a:t>
            </a:r>
            <a:r>
              <a:rPr lang="en-US" altLang="zh-CN" sz="2400" b="1">
                <a:solidFill>
                  <a:schemeClr val="tx1"/>
                </a:solidFill>
                <a:latin typeface="Verdana" panose="020B0604030504040204" pitchFamily="34" charset="0"/>
              </a:rPr>
              <a:t>O</a:t>
            </a:r>
            <a:r>
              <a:rPr lang="zh-CN" altLang="en-US" sz="2400" b="1" dirty="0">
                <a:solidFill>
                  <a:schemeClr val="tx1"/>
                </a:solidFill>
                <a:latin typeface="Verdana" panose="020B0604030504040204" pitchFamily="34" charset="0"/>
              </a:rPr>
              <a:t>三种元素组成的一类有机化合物</a:t>
            </a:r>
          </a:p>
        </p:txBody>
      </p:sp>
      <p:sp>
        <p:nvSpPr>
          <p:cNvPr id="106501" name="文本框 106500"/>
          <p:cNvSpPr txBox="1"/>
          <p:nvPr/>
        </p:nvSpPr>
        <p:spPr>
          <a:xfrm>
            <a:off x="611188" y="2035175"/>
            <a:ext cx="2232025" cy="457200"/>
          </a:xfrm>
          <a:prstGeom prst="rect">
            <a:avLst/>
          </a:prstGeom>
          <a:noFill/>
          <a:ln w="9525">
            <a:noFill/>
          </a:ln>
        </p:spPr>
        <p:txBody>
          <a:bodyPr>
            <a:spAutoFit/>
          </a:bodyPr>
          <a:lstStyle/>
          <a:p>
            <a:pPr>
              <a:spcBef>
                <a:spcPct val="50000"/>
              </a:spcBef>
            </a:pPr>
            <a:r>
              <a:rPr lang="en-US" altLang="zh-CN" sz="2400" b="1" noProof="1">
                <a:solidFill>
                  <a:srgbClr val="FF0066"/>
                </a:solidFill>
                <a:effectLst>
                  <a:outerShdw blurRad="38100" dist="38100" dir="2700000">
                    <a:srgbClr val="000000"/>
                  </a:outerShdw>
                </a:effectLst>
                <a:latin typeface="楷体_GB2312" pitchFamily="49" charset="-122"/>
                <a:ea typeface="楷体_GB2312" pitchFamily="49" charset="-122"/>
                <a:cs typeface="+mn-cs"/>
              </a:rPr>
              <a:t>2</a:t>
            </a:r>
            <a:r>
              <a:rPr lang="zh-CN" altLang="en-US" sz="2400" b="1" noProof="1">
                <a:solidFill>
                  <a:srgbClr val="FF0066"/>
                </a:solidFill>
                <a:effectLst>
                  <a:outerShdw blurRad="38100" dist="38100" dir="2700000">
                    <a:srgbClr val="000000"/>
                  </a:outerShdw>
                </a:effectLst>
                <a:latin typeface="楷体_GB2312" pitchFamily="49" charset="-122"/>
                <a:ea typeface="楷体_GB2312" pitchFamily="49" charset="-122"/>
                <a:cs typeface="+mn-cs"/>
              </a:rPr>
              <a:t>、通式：</a:t>
            </a:r>
            <a:endParaRPr lang="zh-CN" altLang="en-US" sz="2400" b="1" noProof="1">
              <a:solidFill>
                <a:srgbClr val="FF0066"/>
              </a:solidFill>
              <a:effectLst>
                <a:outerShdw blurRad="38100" dist="38100" dir="2700000">
                  <a:srgbClr val="000000"/>
                </a:outerShdw>
              </a:effectLst>
              <a:latin typeface="楷体_GB2312" pitchFamily="49" charset="-122"/>
              <a:ea typeface="楷体_GB2312" pitchFamily="49" charset="-122"/>
            </a:endParaRPr>
          </a:p>
        </p:txBody>
      </p:sp>
      <p:sp>
        <p:nvSpPr>
          <p:cNvPr id="106502" name="文本框 106501"/>
          <p:cNvSpPr txBox="1"/>
          <p:nvPr/>
        </p:nvSpPr>
        <p:spPr>
          <a:xfrm>
            <a:off x="2843213" y="2035175"/>
            <a:ext cx="2592387" cy="457200"/>
          </a:xfrm>
          <a:prstGeom prst="rect">
            <a:avLst/>
          </a:prstGeom>
          <a:noFill/>
          <a:ln w="9525">
            <a:noFill/>
          </a:ln>
        </p:spPr>
        <p:txBody>
          <a:bodyPr anchor="t">
            <a:spAutoFit/>
          </a:bodyPr>
          <a:lstStyle/>
          <a:p>
            <a:pPr>
              <a:spcBef>
                <a:spcPct val="50000"/>
              </a:spcBef>
            </a:pPr>
            <a:r>
              <a:rPr lang="en-US" altLang="zh-CN" sz="2400" b="1">
                <a:solidFill>
                  <a:srgbClr val="FF0066"/>
                </a:solidFill>
                <a:latin typeface="Verdana" panose="020B0604030504040204" pitchFamily="34" charset="0"/>
              </a:rPr>
              <a:t>C</a:t>
            </a:r>
            <a:r>
              <a:rPr lang="en-US" altLang="zh-CN" sz="2400" b="1" baseline="-25000">
                <a:solidFill>
                  <a:srgbClr val="FF0066"/>
                </a:solidFill>
                <a:latin typeface="Verdana" panose="020B0604030504040204" pitchFamily="34" charset="0"/>
              </a:rPr>
              <a:t>m</a:t>
            </a:r>
            <a:r>
              <a:rPr lang="en-US" altLang="zh-CN" sz="2400" b="1">
                <a:solidFill>
                  <a:srgbClr val="FF0066"/>
                </a:solidFill>
                <a:latin typeface="Verdana" panose="020B0604030504040204" pitchFamily="34" charset="0"/>
              </a:rPr>
              <a:t>(H</a:t>
            </a:r>
            <a:r>
              <a:rPr lang="en-US" altLang="zh-CN" sz="2400" b="1" baseline="-25000">
                <a:solidFill>
                  <a:srgbClr val="FF0066"/>
                </a:solidFill>
                <a:latin typeface="Verdana" panose="020B0604030504040204" pitchFamily="34" charset="0"/>
              </a:rPr>
              <a:t>2</a:t>
            </a:r>
            <a:r>
              <a:rPr lang="en-US" altLang="zh-CN" sz="2400" b="1">
                <a:solidFill>
                  <a:srgbClr val="FF0066"/>
                </a:solidFill>
                <a:latin typeface="Verdana" panose="020B0604030504040204" pitchFamily="34" charset="0"/>
              </a:rPr>
              <a:t>O)</a:t>
            </a:r>
            <a:r>
              <a:rPr lang="en-US" altLang="zh-CN" sz="2400" b="1" baseline="-25000">
                <a:solidFill>
                  <a:srgbClr val="FF0066"/>
                </a:solidFill>
                <a:latin typeface="Verdana" panose="020B0604030504040204" pitchFamily="34" charset="0"/>
              </a:rPr>
              <a:t>n</a:t>
            </a:r>
          </a:p>
        </p:txBody>
      </p:sp>
      <p:sp>
        <p:nvSpPr>
          <p:cNvPr id="106503" name="文本框 106502"/>
          <p:cNvSpPr txBox="1"/>
          <p:nvPr/>
        </p:nvSpPr>
        <p:spPr>
          <a:xfrm>
            <a:off x="611188" y="2492375"/>
            <a:ext cx="7775575" cy="822325"/>
          </a:xfrm>
          <a:prstGeom prst="rect">
            <a:avLst/>
          </a:prstGeom>
          <a:noFill/>
          <a:ln w="9525">
            <a:noFill/>
          </a:ln>
        </p:spPr>
        <p:txBody>
          <a:bodyPr anchor="t">
            <a:spAutoFit/>
          </a:bodyPr>
          <a:lstStyle/>
          <a:p>
            <a:pPr>
              <a:spcBef>
                <a:spcPct val="50000"/>
              </a:spcBef>
            </a:pPr>
            <a:r>
              <a:rPr lang="zh-CN" altLang="en-US" sz="2400" b="1" dirty="0">
                <a:solidFill>
                  <a:schemeClr val="tx1"/>
                </a:solidFill>
                <a:latin typeface="Verdana" panose="020B0604030504040204" pitchFamily="34" charset="0"/>
                <a:ea typeface="楷体_GB2312" pitchFamily="49" charset="-122"/>
              </a:rPr>
              <a:t>因为糖类的组成大多数符合上述通式，所以糖类也称为碳水化合物。</a:t>
            </a:r>
          </a:p>
        </p:txBody>
      </p:sp>
      <p:sp>
        <p:nvSpPr>
          <p:cNvPr id="106504" name="文本框 106503"/>
          <p:cNvSpPr txBox="1"/>
          <p:nvPr/>
        </p:nvSpPr>
        <p:spPr>
          <a:xfrm>
            <a:off x="576263" y="3500438"/>
            <a:ext cx="8243888" cy="830997"/>
          </a:xfrm>
          <a:prstGeom prst="rect">
            <a:avLst/>
          </a:prstGeom>
          <a:noFill/>
          <a:ln w="9525">
            <a:noFill/>
          </a:ln>
        </p:spPr>
        <p:txBody>
          <a:bodyPr>
            <a:spAutoFit/>
          </a:bodyPr>
          <a:lstStyle/>
          <a:p>
            <a:pPr>
              <a:spcBef>
                <a:spcPct val="50000"/>
              </a:spcBef>
            </a:pPr>
            <a:r>
              <a:rPr lang="zh-CN" altLang="en-US" sz="2400" b="1" noProof="1">
                <a:solidFill>
                  <a:srgbClr val="003300"/>
                </a:solidFill>
                <a:latin typeface="楷体_GB2312" pitchFamily="49" charset="-122"/>
                <a:ea typeface="楷体_GB2312" pitchFamily="49" charset="-122"/>
                <a:cs typeface="+mn-cs"/>
              </a:rPr>
              <a:t>例如：葡萄糖</a:t>
            </a:r>
            <a:r>
              <a:rPr lang="en-US" altLang="zh-CN" sz="2400" b="1" noProof="1">
                <a:solidFill>
                  <a:srgbClr val="003300"/>
                </a:solidFill>
                <a:latin typeface="楷体_GB2312" pitchFamily="49" charset="-122"/>
                <a:ea typeface="楷体_GB2312" pitchFamily="49" charset="-122"/>
                <a:cs typeface="+mn-cs"/>
              </a:rPr>
              <a:t>(C</a:t>
            </a:r>
            <a:r>
              <a:rPr lang="en-US" altLang="zh-CN" sz="2400" b="1" baseline="-25000" noProof="1">
                <a:solidFill>
                  <a:srgbClr val="003300"/>
                </a:solidFill>
                <a:latin typeface="楷体_GB2312" pitchFamily="49" charset="-122"/>
                <a:ea typeface="楷体_GB2312" pitchFamily="49" charset="-122"/>
                <a:cs typeface="+mn-cs"/>
              </a:rPr>
              <a:t>6</a:t>
            </a:r>
            <a:r>
              <a:rPr lang="en-US" altLang="zh-CN" sz="2400" b="1" noProof="1">
                <a:solidFill>
                  <a:srgbClr val="003300"/>
                </a:solidFill>
                <a:latin typeface="楷体_GB2312" pitchFamily="49" charset="-122"/>
                <a:ea typeface="楷体_GB2312" pitchFamily="49" charset="-122"/>
                <a:cs typeface="+mn-cs"/>
              </a:rPr>
              <a:t>H</a:t>
            </a:r>
            <a:r>
              <a:rPr lang="en-US" altLang="zh-CN" sz="2400" b="1" baseline="-25000" noProof="1">
                <a:solidFill>
                  <a:srgbClr val="003300"/>
                </a:solidFill>
                <a:latin typeface="楷体_GB2312" pitchFamily="49" charset="-122"/>
                <a:ea typeface="楷体_GB2312" pitchFamily="49" charset="-122"/>
                <a:cs typeface="+mn-cs"/>
              </a:rPr>
              <a:t>12</a:t>
            </a:r>
            <a:r>
              <a:rPr lang="en-US" altLang="zh-CN" sz="2400" b="1" noProof="1">
                <a:solidFill>
                  <a:srgbClr val="003300"/>
                </a:solidFill>
                <a:latin typeface="楷体_GB2312" pitchFamily="49" charset="-122"/>
                <a:ea typeface="楷体_GB2312" pitchFamily="49" charset="-122"/>
                <a:cs typeface="+mn-cs"/>
              </a:rPr>
              <a:t>O</a:t>
            </a:r>
            <a:r>
              <a:rPr lang="en-US" altLang="zh-CN" sz="2400" b="1" baseline="-25000" noProof="1">
                <a:solidFill>
                  <a:srgbClr val="003300"/>
                </a:solidFill>
                <a:latin typeface="楷体_GB2312" pitchFamily="49" charset="-122"/>
                <a:ea typeface="楷体_GB2312" pitchFamily="49" charset="-122"/>
                <a:cs typeface="+mn-cs"/>
              </a:rPr>
              <a:t>6</a:t>
            </a:r>
            <a:r>
              <a:rPr lang="en-US" altLang="zh-CN" sz="2400" b="1" noProof="1">
                <a:solidFill>
                  <a:srgbClr val="003300"/>
                </a:solidFill>
                <a:latin typeface="楷体_GB2312" pitchFamily="49" charset="-122"/>
                <a:ea typeface="楷体_GB2312" pitchFamily="49" charset="-122"/>
                <a:cs typeface="+mn-cs"/>
              </a:rPr>
              <a:t>)</a:t>
            </a:r>
            <a:r>
              <a:rPr lang="zh-CN" altLang="en-US" sz="2400" b="1" noProof="1">
                <a:solidFill>
                  <a:srgbClr val="003300"/>
                </a:solidFill>
                <a:latin typeface="楷体_GB2312" pitchFamily="49" charset="-122"/>
                <a:ea typeface="楷体_GB2312" pitchFamily="49" charset="-122"/>
                <a:cs typeface="+mn-cs"/>
              </a:rPr>
              <a:t>、蔗糖</a:t>
            </a:r>
            <a:r>
              <a:rPr lang="en-US" altLang="zh-CN" sz="2400" b="1" noProof="1">
                <a:solidFill>
                  <a:srgbClr val="003300"/>
                </a:solidFill>
                <a:latin typeface="楷体_GB2312" pitchFamily="49" charset="-122"/>
                <a:ea typeface="楷体_GB2312" pitchFamily="49" charset="-122"/>
                <a:cs typeface="+mn-cs"/>
              </a:rPr>
              <a:t>(C</a:t>
            </a:r>
            <a:r>
              <a:rPr lang="en-US" altLang="zh-CN" sz="2400" b="1" baseline="-25000" noProof="1">
                <a:solidFill>
                  <a:srgbClr val="003300"/>
                </a:solidFill>
                <a:latin typeface="楷体_GB2312" pitchFamily="49" charset="-122"/>
                <a:ea typeface="楷体_GB2312" pitchFamily="49" charset="-122"/>
                <a:cs typeface="+mn-cs"/>
              </a:rPr>
              <a:t>12</a:t>
            </a:r>
            <a:r>
              <a:rPr lang="en-US" altLang="zh-CN" sz="2400" b="1" noProof="1">
                <a:solidFill>
                  <a:srgbClr val="003300"/>
                </a:solidFill>
                <a:latin typeface="楷体_GB2312" pitchFamily="49" charset="-122"/>
                <a:ea typeface="楷体_GB2312" pitchFamily="49" charset="-122"/>
                <a:cs typeface="+mn-cs"/>
              </a:rPr>
              <a:t>H</a:t>
            </a:r>
            <a:r>
              <a:rPr lang="en-US" altLang="zh-CN" sz="2400" b="1" baseline="-25000" noProof="1">
                <a:solidFill>
                  <a:srgbClr val="003300"/>
                </a:solidFill>
                <a:latin typeface="楷体_GB2312" pitchFamily="49" charset="-122"/>
                <a:ea typeface="楷体_GB2312" pitchFamily="49" charset="-122"/>
                <a:cs typeface="+mn-cs"/>
              </a:rPr>
              <a:t>22</a:t>
            </a:r>
            <a:r>
              <a:rPr lang="en-US" altLang="zh-CN" sz="2400" b="1" noProof="1">
                <a:solidFill>
                  <a:srgbClr val="003300"/>
                </a:solidFill>
                <a:latin typeface="楷体_GB2312" pitchFamily="49" charset="-122"/>
                <a:ea typeface="楷体_GB2312" pitchFamily="49" charset="-122"/>
                <a:cs typeface="+mn-cs"/>
              </a:rPr>
              <a:t>O</a:t>
            </a:r>
            <a:r>
              <a:rPr lang="en-US" altLang="zh-CN" sz="2400" b="1" baseline="-25000" noProof="1">
                <a:solidFill>
                  <a:srgbClr val="003300"/>
                </a:solidFill>
                <a:latin typeface="楷体_GB2312" pitchFamily="49" charset="-122"/>
                <a:ea typeface="楷体_GB2312" pitchFamily="49" charset="-122"/>
                <a:cs typeface="+mn-cs"/>
              </a:rPr>
              <a:t>11</a:t>
            </a:r>
            <a:r>
              <a:rPr lang="en-US" altLang="zh-CN" sz="2400" b="1" noProof="1">
                <a:solidFill>
                  <a:srgbClr val="003300"/>
                </a:solidFill>
                <a:latin typeface="楷体_GB2312" pitchFamily="49" charset="-122"/>
                <a:ea typeface="楷体_GB2312" pitchFamily="49" charset="-122"/>
                <a:cs typeface="+mn-cs"/>
              </a:rPr>
              <a:t>)</a:t>
            </a:r>
            <a:r>
              <a:rPr lang="zh-CN" altLang="en-US" sz="2400" b="1" noProof="1">
                <a:solidFill>
                  <a:srgbClr val="003300"/>
                </a:solidFill>
                <a:latin typeface="楷体_GB2312" pitchFamily="49" charset="-122"/>
                <a:ea typeface="楷体_GB2312" pitchFamily="49" charset="-122"/>
                <a:cs typeface="+mn-cs"/>
              </a:rPr>
              <a:t>、淀粉</a:t>
            </a:r>
            <a:r>
              <a:rPr lang="en-US" altLang="zh-CN" sz="2400" b="1" noProof="1">
                <a:solidFill>
                  <a:srgbClr val="003300"/>
                </a:solidFill>
                <a:latin typeface="楷体_GB2312" pitchFamily="49" charset="-122"/>
                <a:ea typeface="楷体_GB2312" pitchFamily="49" charset="-122"/>
                <a:cs typeface="+mn-cs"/>
              </a:rPr>
              <a:t>(C</a:t>
            </a:r>
            <a:r>
              <a:rPr lang="en-US" altLang="zh-CN" sz="2400" b="1" baseline="-25000" noProof="1">
                <a:solidFill>
                  <a:srgbClr val="003300"/>
                </a:solidFill>
                <a:latin typeface="楷体_GB2312" pitchFamily="49" charset="-122"/>
                <a:ea typeface="楷体_GB2312" pitchFamily="49" charset="-122"/>
                <a:cs typeface="+mn-cs"/>
              </a:rPr>
              <a:t>6</a:t>
            </a:r>
            <a:r>
              <a:rPr lang="en-US" altLang="zh-CN" sz="2400" b="1" noProof="1">
                <a:solidFill>
                  <a:srgbClr val="003300"/>
                </a:solidFill>
                <a:latin typeface="楷体_GB2312" pitchFamily="49" charset="-122"/>
                <a:ea typeface="楷体_GB2312" pitchFamily="49" charset="-122"/>
                <a:cs typeface="+mn-cs"/>
              </a:rPr>
              <a:t>H</a:t>
            </a:r>
            <a:r>
              <a:rPr lang="en-US" altLang="zh-CN" sz="2400" b="1" baseline="-25000" noProof="1">
                <a:solidFill>
                  <a:srgbClr val="003300"/>
                </a:solidFill>
                <a:latin typeface="楷体_GB2312" pitchFamily="49" charset="-122"/>
                <a:ea typeface="楷体_GB2312" pitchFamily="49" charset="-122"/>
                <a:cs typeface="+mn-cs"/>
              </a:rPr>
              <a:t>10</a:t>
            </a:r>
            <a:r>
              <a:rPr lang="en-US" altLang="zh-CN" sz="2400" b="1" noProof="1">
                <a:solidFill>
                  <a:srgbClr val="003300"/>
                </a:solidFill>
                <a:latin typeface="楷体_GB2312" pitchFamily="49" charset="-122"/>
                <a:ea typeface="楷体_GB2312" pitchFamily="49" charset="-122"/>
                <a:cs typeface="+mn-cs"/>
              </a:rPr>
              <a:t>O</a:t>
            </a:r>
            <a:r>
              <a:rPr lang="en-US" altLang="zh-CN" sz="2400" b="1" baseline="-25000" noProof="1">
                <a:solidFill>
                  <a:srgbClr val="003300"/>
                </a:solidFill>
                <a:latin typeface="楷体_GB2312" pitchFamily="49" charset="-122"/>
                <a:ea typeface="楷体_GB2312" pitchFamily="49" charset="-122"/>
                <a:cs typeface="+mn-cs"/>
              </a:rPr>
              <a:t>5</a:t>
            </a:r>
            <a:r>
              <a:rPr lang="en-US" altLang="zh-CN" sz="2400" b="1" noProof="1">
                <a:solidFill>
                  <a:srgbClr val="003300"/>
                </a:solidFill>
                <a:latin typeface="楷体_GB2312" pitchFamily="49" charset="-122"/>
                <a:ea typeface="楷体_GB2312" pitchFamily="49" charset="-122"/>
                <a:cs typeface="+mn-cs"/>
              </a:rPr>
              <a:t>)</a:t>
            </a:r>
            <a:r>
              <a:rPr lang="en-US" altLang="zh-CN" sz="2400" b="1" baseline="-25000" noProof="1">
                <a:solidFill>
                  <a:srgbClr val="003300"/>
                </a:solidFill>
                <a:latin typeface="楷体_GB2312" pitchFamily="49" charset="-122"/>
                <a:ea typeface="楷体_GB2312" pitchFamily="49" charset="-122"/>
                <a:cs typeface="+mn-cs"/>
              </a:rPr>
              <a:t>n</a:t>
            </a:r>
            <a:r>
              <a:rPr lang="zh-CN" altLang="en-US" sz="2400" b="1" noProof="1">
                <a:solidFill>
                  <a:srgbClr val="003300"/>
                </a:solidFill>
                <a:latin typeface="楷体_GB2312" pitchFamily="49" charset="-122"/>
                <a:ea typeface="楷体_GB2312" pitchFamily="49" charset="-122"/>
                <a:cs typeface="+mn-cs"/>
              </a:rPr>
              <a:t>和纤维素</a:t>
            </a:r>
            <a:r>
              <a:rPr lang="en-US" altLang="zh-CN" sz="2400" b="1" noProof="1">
                <a:solidFill>
                  <a:srgbClr val="003300"/>
                </a:solidFill>
                <a:latin typeface="楷体_GB2312" pitchFamily="49" charset="-122"/>
                <a:ea typeface="楷体_GB2312" pitchFamily="49" charset="-122"/>
                <a:cs typeface="+mn-cs"/>
              </a:rPr>
              <a:t>(C</a:t>
            </a:r>
            <a:r>
              <a:rPr lang="en-US" altLang="zh-CN" sz="2400" b="1" baseline="-25000" noProof="1">
                <a:solidFill>
                  <a:srgbClr val="003300"/>
                </a:solidFill>
                <a:latin typeface="楷体_GB2312" pitchFamily="49" charset="-122"/>
                <a:ea typeface="楷体_GB2312" pitchFamily="49" charset="-122"/>
                <a:cs typeface="+mn-cs"/>
              </a:rPr>
              <a:t>6</a:t>
            </a:r>
            <a:r>
              <a:rPr lang="en-US" altLang="zh-CN" sz="2400" b="1" noProof="1">
                <a:solidFill>
                  <a:srgbClr val="003300"/>
                </a:solidFill>
                <a:latin typeface="楷体_GB2312" pitchFamily="49" charset="-122"/>
                <a:ea typeface="楷体_GB2312" pitchFamily="49" charset="-122"/>
                <a:cs typeface="+mn-cs"/>
              </a:rPr>
              <a:t>H</a:t>
            </a:r>
            <a:r>
              <a:rPr lang="en-US" altLang="zh-CN" sz="2400" b="1" baseline="-25000" noProof="1">
                <a:solidFill>
                  <a:srgbClr val="003300"/>
                </a:solidFill>
                <a:latin typeface="楷体_GB2312" pitchFamily="49" charset="-122"/>
                <a:ea typeface="楷体_GB2312" pitchFamily="49" charset="-122"/>
                <a:cs typeface="+mn-cs"/>
              </a:rPr>
              <a:t>10</a:t>
            </a:r>
            <a:r>
              <a:rPr lang="en-US" altLang="zh-CN" sz="2400" b="1" noProof="1">
                <a:solidFill>
                  <a:srgbClr val="003300"/>
                </a:solidFill>
                <a:latin typeface="楷体_GB2312" pitchFamily="49" charset="-122"/>
                <a:ea typeface="楷体_GB2312" pitchFamily="49" charset="-122"/>
                <a:cs typeface="+mn-cs"/>
              </a:rPr>
              <a:t>O</a:t>
            </a:r>
            <a:r>
              <a:rPr lang="en-US" altLang="zh-CN" sz="2400" b="1" baseline="-25000" noProof="1">
                <a:solidFill>
                  <a:srgbClr val="003300"/>
                </a:solidFill>
                <a:latin typeface="楷体_GB2312" pitchFamily="49" charset="-122"/>
                <a:ea typeface="楷体_GB2312" pitchFamily="49" charset="-122"/>
                <a:cs typeface="+mn-cs"/>
              </a:rPr>
              <a:t>5</a:t>
            </a:r>
            <a:r>
              <a:rPr lang="en-US" altLang="zh-CN" sz="2400" b="1" noProof="1">
                <a:solidFill>
                  <a:srgbClr val="003300"/>
                </a:solidFill>
                <a:latin typeface="楷体_GB2312" pitchFamily="49" charset="-122"/>
                <a:ea typeface="楷体_GB2312" pitchFamily="49" charset="-122"/>
                <a:cs typeface="+mn-cs"/>
              </a:rPr>
              <a:t>)</a:t>
            </a:r>
            <a:r>
              <a:rPr lang="en-US" altLang="zh-CN" sz="2400" b="1" baseline="-25000" noProof="1">
                <a:solidFill>
                  <a:srgbClr val="003300"/>
                </a:solidFill>
                <a:latin typeface="楷体_GB2312" pitchFamily="49" charset="-122"/>
                <a:ea typeface="楷体_GB2312" pitchFamily="49" charset="-122"/>
                <a:cs typeface="+mn-cs"/>
              </a:rPr>
              <a:t>n</a:t>
            </a:r>
            <a:endParaRPr lang="en-US" altLang="zh-CN" sz="2400" b="1" baseline="-25000" noProof="1">
              <a:solidFill>
                <a:srgbClr val="003300"/>
              </a:solidFill>
              <a:latin typeface="楷体_GB2312" pitchFamily="49" charset="-122"/>
              <a:ea typeface="楷体_GB2312" pitchFamily="49" charset="-122"/>
            </a:endParaRPr>
          </a:p>
        </p:txBody>
      </p:sp>
      <p:sp>
        <p:nvSpPr>
          <p:cNvPr id="106505" name="文本框 106504"/>
          <p:cNvSpPr txBox="1"/>
          <p:nvPr/>
        </p:nvSpPr>
        <p:spPr>
          <a:xfrm>
            <a:off x="576263" y="4857750"/>
            <a:ext cx="576263" cy="1368425"/>
          </a:xfrm>
          <a:prstGeom prst="rect">
            <a:avLst/>
          </a:prstGeom>
          <a:gradFill rotWithShape="1">
            <a:gsLst>
              <a:gs pos="0">
                <a:srgbClr val="33CC33">
                  <a:gamma/>
                  <a:tint val="0"/>
                  <a:invGamma/>
                </a:srgbClr>
              </a:gs>
              <a:gs pos="100000">
                <a:srgbClr val="33CC33"/>
              </a:gs>
            </a:gsLst>
            <a:path path="shape">
              <a:fillToRect l="50000" t="50000" r="50000" b="50000"/>
            </a:path>
            <a:tileRect/>
          </a:gradFill>
          <a:ln w="57150" cap="flat" cmpd="thickThin">
            <a:solidFill>
              <a:srgbClr val="006600"/>
            </a:solidFill>
            <a:prstDash val="solid"/>
            <a:miter/>
            <a:headEnd type="none" w="med" len="med"/>
            <a:tailEnd type="none" w="med" len="med"/>
          </a:ln>
        </p:spPr>
        <p:txBody>
          <a:bodyPr>
            <a:spAutoFit/>
          </a:bodyPr>
          <a:lstStyle/>
          <a:p>
            <a:pPr>
              <a:spcBef>
                <a:spcPct val="50000"/>
              </a:spcBef>
            </a:pPr>
            <a:r>
              <a:rPr lang="zh-CN" altLang="en-US" sz="3200" b="1" noProof="1">
                <a:solidFill>
                  <a:srgbClr val="FF0066"/>
                </a:solidFill>
                <a:effectLst>
                  <a:outerShdw blurRad="38100" dist="38100" dir="2700000">
                    <a:srgbClr val="000000"/>
                  </a:outerShdw>
                </a:effectLst>
                <a:latin typeface="Verdana" panose="020B0604030504040204" pitchFamily="34" charset="0"/>
                <a:ea typeface="宋体" panose="02010600030101010101" pitchFamily="2" charset="-122"/>
                <a:cs typeface="+mn-cs"/>
              </a:rPr>
              <a:t>注</a:t>
            </a:r>
            <a:endParaRPr lang="zh-CN" altLang="en-US" sz="3200" b="1" noProof="1">
              <a:solidFill>
                <a:srgbClr val="FF0066"/>
              </a:solidFill>
              <a:effectLst>
                <a:outerShdw blurRad="38100" dist="38100" dir="2700000">
                  <a:srgbClr val="000000"/>
                </a:outerShdw>
              </a:effectLst>
              <a:latin typeface="Verdana" panose="020B0604030504040204" pitchFamily="34" charset="0"/>
              <a:ea typeface="宋体" panose="02010600030101010101" pitchFamily="2" charset="-122"/>
            </a:endParaRPr>
          </a:p>
          <a:p>
            <a:pPr>
              <a:spcBef>
                <a:spcPct val="50000"/>
              </a:spcBef>
            </a:pPr>
            <a:r>
              <a:rPr lang="zh-CN" altLang="en-US" sz="3200" b="1" noProof="1">
                <a:solidFill>
                  <a:srgbClr val="FF0066"/>
                </a:solidFill>
                <a:effectLst>
                  <a:outerShdw blurRad="38100" dist="38100" dir="2700000">
                    <a:srgbClr val="000000"/>
                  </a:outerShdw>
                </a:effectLst>
                <a:latin typeface="Verdana" panose="020B0604030504040204" pitchFamily="34" charset="0"/>
                <a:ea typeface="宋体" panose="02010600030101010101" pitchFamily="2" charset="-122"/>
                <a:cs typeface="+mn-cs"/>
              </a:rPr>
              <a:t>意</a:t>
            </a:r>
            <a:endParaRPr lang="zh-CN" altLang="en-US" sz="3200" b="1" noProof="1">
              <a:solidFill>
                <a:srgbClr val="FF0066"/>
              </a:solidFill>
              <a:effectLst>
                <a:outerShdw blurRad="38100" dist="38100" dir="2700000">
                  <a:srgbClr val="000000"/>
                </a:outerShdw>
              </a:effectLst>
              <a:latin typeface="Verdana" panose="020B0604030504040204" pitchFamily="34" charset="0"/>
              <a:ea typeface="宋体" panose="02010600030101010101" pitchFamily="2" charset="-122"/>
            </a:endParaRPr>
          </a:p>
        </p:txBody>
      </p:sp>
      <p:sp>
        <p:nvSpPr>
          <p:cNvPr id="106506" name="文本框 106505"/>
          <p:cNvSpPr txBox="1"/>
          <p:nvPr/>
        </p:nvSpPr>
        <p:spPr>
          <a:xfrm>
            <a:off x="1187450" y="4749800"/>
            <a:ext cx="6697663" cy="457200"/>
          </a:xfrm>
          <a:prstGeom prst="rect">
            <a:avLst/>
          </a:prstGeom>
          <a:noFill/>
          <a:ln w="9525">
            <a:noFill/>
          </a:ln>
        </p:spPr>
        <p:txBody>
          <a:bodyPr anchor="t">
            <a:spAutoFit/>
          </a:bodyPr>
          <a:lstStyle/>
          <a:p>
            <a:pPr>
              <a:spcBef>
                <a:spcPct val="50000"/>
              </a:spcBef>
            </a:pPr>
            <a:r>
              <a:rPr lang="en-US" altLang="zh-CN" sz="2400" b="1">
                <a:solidFill>
                  <a:schemeClr val="tx1"/>
                </a:solidFill>
                <a:latin typeface="楷体_GB2312" pitchFamily="49" charset="-122"/>
                <a:ea typeface="楷体_GB2312" pitchFamily="49" charset="-122"/>
              </a:rPr>
              <a:t>1</a:t>
            </a:r>
            <a:r>
              <a:rPr lang="zh-CN" altLang="en-US" sz="2400" b="1" dirty="0">
                <a:solidFill>
                  <a:schemeClr val="tx1"/>
                </a:solidFill>
                <a:latin typeface="楷体_GB2312" pitchFamily="49" charset="-122"/>
                <a:ea typeface="楷体_GB2312" pitchFamily="49" charset="-122"/>
              </a:rPr>
              <a:t>、有些糖不符合通式，如：鼠李（</a:t>
            </a:r>
            <a:r>
              <a:rPr lang="en-US" altLang="zh-CN" sz="2400" b="1">
                <a:solidFill>
                  <a:schemeClr val="tx1"/>
                </a:solidFill>
                <a:latin typeface="楷体_GB2312" pitchFamily="49" charset="-122"/>
                <a:ea typeface="楷体_GB2312" pitchFamily="49" charset="-122"/>
              </a:rPr>
              <a:t>C</a:t>
            </a:r>
            <a:r>
              <a:rPr lang="en-US" altLang="zh-CN" sz="2400" b="1" baseline="-25000">
                <a:solidFill>
                  <a:schemeClr val="tx1"/>
                </a:solidFill>
                <a:latin typeface="楷体_GB2312" pitchFamily="49" charset="-122"/>
                <a:ea typeface="楷体_GB2312" pitchFamily="49" charset="-122"/>
              </a:rPr>
              <a:t>6</a:t>
            </a:r>
            <a:r>
              <a:rPr lang="en-US" altLang="zh-CN" sz="2400" b="1">
                <a:solidFill>
                  <a:schemeClr val="tx1"/>
                </a:solidFill>
                <a:latin typeface="楷体_GB2312" pitchFamily="49" charset="-122"/>
                <a:ea typeface="楷体_GB2312" pitchFamily="49" charset="-122"/>
              </a:rPr>
              <a:t>H</a:t>
            </a:r>
            <a:r>
              <a:rPr lang="en-US" altLang="zh-CN" sz="2400" b="1" baseline="-25000">
                <a:solidFill>
                  <a:schemeClr val="tx1"/>
                </a:solidFill>
                <a:latin typeface="楷体_GB2312" pitchFamily="49" charset="-122"/>
                <a:ea typeface="楷体_GB2312" pitchFamily="49" charset="-122"/>
              </a:rPr>
              <a:t>12</a:t>
            </a:r>
            <a:r>
              <a:rPr lang="en-US" altLang="zh-CN" sz="2400" b="1">
                <a:solidFill>
                  <a:schemeClr val="tx1"/>
                </a:solidFill>
                <a:latin typeface="楷体_GB2312" pitchFamily="49" charset="-122"/>
                <a:ea typeface="楷体_GB2312" pitchFamily="49" charset="-122"/>
              </a:rPr>
              <a:t>O</a:t>
            </a:r>
            <a:r>
              <a:rPr lang="en-US" altLang="zh-CN" sz="2400" b="1" baseline="-25000">
                <a:solidFill>
                  <a:schemeClr val="tx1"/>
                </a:solidFill>
                <a:latin typeface="楷体_GB2312" pitchFamily="49" charset="-122"/>
                <a:ea typeface="楷体_GB2312" pitchFamily="49" charset="-122"/>
              </a:rPr>
              <a:t>5</a:t>
            </a:r>
            <a:r>
              <a:rPr lang="zh-CN" altLang="en-US" sz="2400" b="1" dirty="0">
                <a:solidFill>
                  <a:schemeClr val="tx1"/>
                </a:solidFill>
                <a:latin typeface="楷体_GB2312" pitchFamily="49" charset="-122"/>
                <a:ea typeface="楷体_GB2312" pitchFamily="49" charset="-122"/>
              </a:rPr>
              <a:t>）</a:t>
            </a:r>
          </a:p>
        </p:txBody>
      </p:sp>
      <p:sp>
        <p:nvSpPr>
          <p:cNvPr id="106507" name="文本框 106506"/>
          <p:cNvSpPr txBox="1"/>
          <p:nvPr/>
        </p:nvSpPr>
        <p:spPr>
          <a:xfrm>
            <a:off x="1187450" y="5589588"/>
            <a:ext cx="7056438" cy="822325"/>
          </a:xfrm>
          <a:prstGeom prst="rect">
            <a:avLst/>
          </a:prstGeom>
          <a:noFill/>
          <a:ln w="9525">
            <a:noFill/>
          </a:ln>
        </p:spPr>
        <p:txBody>
          <a:bodyPr anchor="t">
            <a:spAutoFit/>
          </a:bodyPr>
          <a:lstStyle/>
          <a:p>
            <a:pPr>
              <a:spcBef>
                <a:spcPct val="50000"/>
              </a:spcBef>
            </a:pPr>
            <a:r>
              <a:rPr lang="en-US" altLang="zh-CN" sz="2400" b="1">
                <a:solidFill>
                  <a:schemeClr val="tx1"/>
                </a:solidFill>
                <a:latin typeface="楷体_GB2312" pitchFamily="49" charset="-122"/>
                <a:ea typeface="楷体_GB2312" pitchFamily="49" charset="-122"/>
              </a:rPr>
              <a:t>2</a:t>
            </a:r>
            <a:r>
              <a:rPr lang="zh-CN" altLang="en-US" sz="2400" b="1" dirty="0">
                <a:solidFill>
                  <a:schemeClr val="tx1"/>
                </a:solidFill>
                <a:latin typeface="楷体_GB2312" pitchFamily="49" charset="-122"/>
                <a:ea typeface="楷体_GB2312" pitchFamily="49" charset="-122"/>
              </a:rPr>
              <a:t>、有些符合通式的却不属于糖类，例如：甲醛（</a:t>
            </a:r>
            <a:r>
              <a:rPr lang="en-US" altLang="zh-CN" sz="2400" b="1">
                <a:solidFill>
                  <a:schemeClr val="tx1"/>
                </a:solidFill>
                <a:latin typeface="楷体_GB2312" pitchFamily="49" charset="-122"/>
                <a:ea typeface="楷体_GB2312" pitchFamily="49" charset="-122"/>
              </a:rPr>
              <a:t>CH</a:t>
            </a:r>
            <a:r>
              <a:rPr lang="en-US" altLang="zh-CN" sz="2400" b="1" baseline="-25000">
                <a:solidFill>
                  <a:schemeClr val="tx1"/>
                </a:solidFill>
                <a:latin typeface="楷体_GB2312" pitchFamily="49" charset="-122"/>
                <a:ea typeface="楷体_GB2312" pitchFamily="49" charset="-122"/>
              </a:rPr>
              <a:t>2</a:t>
            </a:r>
            <a:r>
              <a:rPr lang="en-US" altLang="zh-CN" sz="2400" b="1">
                <a:solidFill>
                  <a:schemeClr val="tx1"/>
                </a:solidFill>
                <a:latin typeface="楷体_GB2312" pitchFamily="49" charset="-122"/>
                <a:ea typeface="楷体_GB2312" pitchFamily="49" charset="-122"/>
              </a:rPr>
              <a:t>O</a:t>
            </a:r>
            <a:r>
              <a:rPr lang="zh-CN" altLang="en-US" sz="2400" b="1" dirty="0">
                <a:solidFill>
                  <a:schemeClr val="tx1"/>
                </a:solidFill>
                <a:latin typeface="楷体_GB2312" pitchFamily="49" charset="-122"/>
                <a:ea typeface="楷体_GB2312" pitchFamily="49" charset="-122"/>
              </a:rPr>
              <a:t>）、乙酸（</a:t>
            </a:r>
            <a:r>
              <a:rPr lang="en-US" altLang="zh-CN" sz="2400" b="1">
                <a:solidFill>
                  <a:schemeClr val="tx1"/>
                </a:solidFill>
                <a:latin typeface="楷体_GB2312" pitchFamily="49" charset="-122"/>
                <a:ea typeface="楷体_GB2312" pitchFamily="49" charset="-122"/>
              </a:rPr>
              <a:t>C</a:t>
            </a:r>
            <a:r>
              <a:rPr lang="en-US" altLang="zh-CN" sz="2400" b="1" baseline="-25000">
                <a:solidFill>
                  <a:schemeClr val="tx1"/>
                </a:solidFill>
                <a:latin typeface="楷体_GB2312" pitchFamily="49" charset="-122"/>
                <a:ea typeface="楷体_GB2312" pitchFamily="49" charset="-122"/>
              </a:rPr>
              <a:t>2</a:t>
            </a:r>
            <a:r>
              <a:rPr lang="en-US" altLang="zh-CN" sz="2400" b="1">
                <a:solidFill>
                  <a:schemeClr val="tx1"/>
                </a:solidFill>
                <a:latin typeface="楷体_GB2312" pitchFamily="49" charset="-122"/>
                <a:ea typeface="楷体_GB2312" pitchFamily="49" charset="-122"/>
              </a:rPr>
              <a:t>H</a:t>
            </a:r>
            <a:r>
              <a:rPr lang="en-US" altLang="zh-CN" sz="2400" b="1" baseline="-25000">
                <a:solidFill>
                  <a:schemeClr val="tx1"/>
                </a:solidFill>
                <a:latin typeface="楷体_GB2312" pitchFamily="49" charset="-122"/>
                <a:ea typeface="楷体_GB2312" pitchFamily="49" charset="-122"/>
              </a:rPr>
              <a:t>4</a:t>
            </a:r>
            <a:r>
              <a:rPr lang="en-US" altLang="zh-CN" sz="2400" b="1">
                <a:solidFill>
                  <a:schemeClr val="tx1"/>
                </a:solidFill>
                <a:latin typeface="楷体_GB2312" pitchFamily="49" charset="-122"/>
                <a:ea typeface="楷体_GB2312" pitchFamily="49" charset="-122"/>
              </a:rPr>
              <a:t>O</a:t>
            </a:r>
            <a:r>
              <a:rPr lang="en-US" altLang="zh-CN" sz="2400" b="1" baseline="-25000">
                <a:solidFill>
                  <a:schemeClr val="tx1"/>
                </a:solidFill>
                <a:latin typeface="楷体_GB2312" pitchFamily="49" charset="-122"/>
                <a:ea typeface="楷体_GB2312" pitchFamily="49" charset="-122"/>
              </a:rPr>
              <a:t>2</a:t>
            </a:r>
            <a:r>
              <a:rPr lang="zh-CN" altLang="en-US" sz="2400" b="1" dirty="0">
                <a:solidFill>
                  <a:schemeClr val="tx1"/>
                </a:solidFill>
                <a:latin typeface="楷体_GB2312" pitchFamily="49" charset="-122"/>
                <a:ea typeface="楷体_GB2312" pitchFamily="49" charset="-122"/>
              </a:rPr>
              <a:t>）</a:t>
            </a:r>
          </a:p>
        </p:txBody>
      </p:sp>
      <p:sp>
        <p:nvSpPr>
          <p:cNvPr id="37899" name="灯片编号占位符 1"/>
          <p:cNvSpPr>
            <a:spLocks noGrp="1"/>
          </p:cNvSpPr>
          <p:nvPr>
            <p:ph type="sldNum" sz="quarter" idx="11"/>
          </p:nvPr>
        </p:nvSpPr>
        <p:spPr>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400" dirty="0"/>
              <a:pPr lvl="0" indent="0" algn="r"/>
              <a:t>37</a:t>
            </a:fld>
            <a:endParaRPr lang="zh-CN" alt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6498"/>
                                        </p:tgtEl>
                                        <p:attrNameLst>
                                          <p:attrName>style.visibility</p:attrName>
                                        </p:attrNameLst>
                                      </p:cBhvr>
                                      <p:to>
                                        <p:strVal val="visible"/>
                                      </p:to>
                                    </p:set>
                                    <p:animEffect transition="in" filter="wipe(left)">
                                      <p:cBhvr>
                                        <p:cTn id="7" dur="500"/>
                                        <p:tgtEl>
                                          <p:spTgt spid="10649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106499"/>
                                        </p:tgtEl>
                                        <p:attrNameLst>
                                          <p:attrName>style.visibility</p:attrName>
                                        </p:attrNameLst>
                                      </p:cBhvr>
                                      <p:to>
                                        <p:strVal val="visible"/>
                                      </p:to>
                                    </p:set>
                                    <p:animEffect transition="in" filter="blinds(vertical)">
                                      <p:cBhvr>
                                        <p:cTn id="12" dur="500"/>
                                        <p:tgtEl>
                                          <p:spTgt spid="106499"/>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06500"/>
                                        </p:tgtEl>
                                        <p:attrNameLst>
                                          <p:attrName>style.visibility</p:attrName>
                                        </p:attrNameLst>
                                      </p:cBhvr>
                                      <p:to>
                                        <p:strVal val="visible"/>
                                      </p:to>
                                    </p:set>
                                    <p:animEffect transition="in" filter="wipe(left)">
                                      <p:cBhvr>
                                        <p:cTn id="16" dur="500"/>
                                        <p:tgtEl>
                                          <p:spTgt spid="10650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06501"/>
                                        </p:tgtEl>
                                        <p:attrNameLst>
                                          <p:attrName>style.visibility</p:attrName>
                                        </p:attrNameLst>
                                      </p:cBhvr>
                                      <p:to>
                                        <p:strVal val="visible"/>
                                      </p:to>
                                    </p:set>
                                    <p:animEffect transition="in" filter="wipe(left)">
                                      <p:cBhvr>
                                        <p:cTn id="21" dur="500"/>
                                        <p:tgtEl>
                                          <p:spTgt spid="106501"/>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106502"/>
                                        </p:tgtEl>
                                        <p:attrNameLst>
                                          <p:attrName>style.visibility</p:attrName>
                                        </p:attrNameLst>
                                      </p:cBhvr>
                                      <p:to>
                                        <p:strVal val="visible"/>
                                      </p:to>
                                    </p:set>
                                    <p:animEffect transition="in" filter="wipe(left)">
                                      <p:cBhvr>
                                        <p:cTn id="25" dur="500"/>
                                        <p:tgtEl>
                                          <p:spTgt spid="106502"/>
                                        </p:tgtEl>
                                      </p:cBhvr>
                                    </p:animEffect>
                                  </p:childTnLst>
                                </p:cTn>
                              </p:par>
                            </p:childTnLst>
                          </p:cTn>
                        </p:par>
                        <p:par>
                          <p:cTn id="26" fill="hold">
                            <p:stCondLst>
                              <p:cond delay="1000"/>
                            </p:stCondLst>
                            <p:childTnLst>
                              <p:par>
                                <p:cTn id="27" presetID="22" presetClass="entr" presetSubtype="8" fill="hold" grpId="0" nodeType="afterEffect">
                                  <p:stCondLst>
                                    <p:cond delay="0"/>
                                  </p:stCondLst>
                                  <p:childTnLst>
                                    <p:set>
                                      <p:cBhvr>
                                        <p:cTn id="28" dur="1" fill="hold">
                                          <p:stCondLst>
                                            <p:cond delay="0"/>
                                          </p:stCondLst>
                                        </p:cTn>
                                        <p:tgtEl>
                                          <p:spTgt spid="106503"/>
                                        </p:tgtEl>
                                        <p:attrNameLst>
                                          <p:attrName>style.visibility</p:attrName>
                                        </p:attrNameLst>
                                      </p:cBhvr>
                                      <p:to>
                                        <p:strVal val="visible"/>
                                      </p:to>
                                    </p:set>
                                    <p:animEffect transition="in" filter="wipe(left)">
                                      <p:cBhvr>
                                        <p:cTn id="29" dur="500"/>
                                        <p:tgtEl>
                                          <p:spTgt spid="106503"/>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06504"/>
                                        </p:tgtEl>
                                        <p:attrNameLst>
                                          <p:attrName>style.visibility</p:attrName>
                                        </p:attrNameLst>
                                      </p:cBhvr>
                                      <p:to>
                                        <p:strVal val="visible"/>
                                      </p:to>
                                    </p:set>
                                    <p:animEffect transition="in" filter="wipe(left)">
                                      <p:cBhvr>
                                        <p:cTn id="34" dur="500"/>
                                        <p:tgtEl>
                                          <p:spTgt spid="106504"/>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106505"/>
                                        </p:tgtEl>
                                        <p:attrNameLst>
                                          <p:attrName>style.visibility</p:attrName>
                                        </p:attrNameLst>
                                      </p:cBhvr>
                                      <p:to>
                                        <p:strVal val="visible"/>
                                      </p:to>
                                    </p:set>
                                    <p:animEffect transition="in" filter="dissolve">
                                      <p:cBhvr>
                                        <p:cTn id="39" dur="500"/>
                                        <p:tgtEl>
                                          <p:spTgt spid="106505"/>
                                        </p:tgtEl>
                                      </p:cBhvr>
                                    </p:animEffect>
                                  </p:childTnLst>
                                </p:cTn>
                              </p:par>
                            </p:childTnLst>
                          </p:cTn>
                        </p:par>
                        <p:par>
                          <p:cTn id="40" fill="hold">
                            <p:stCondLst>
                              <p:cond delay="500"/>
                            </p:stCondLst>
                            <p:childTnLst>
                              <p:par>
                                <p:cTn id="41" presetID="3" presetClass="entr" presetSubtype="5" fill="hold" grpId="0" nodeType="afterEffect">
                                  <p:stCondLst>
                                    <p:cond delay="0"/>
                                  </p:stCondLst>
                                  <p:childTnLst>
                                    <p:set>
                                      <p:cBhvr>
                                        <p:cTn id="42" dur="1" fill="hold">
                                          <p:stCondLst>
                                            <p:cond delay="0"/>
                                          </p:stCondLst>
                                        </p:cTn>
                                        <p:tgtEl>
                                          <p:spTgt spid="106506"/>
                                        </p:tgtEl>
                                        <p:attrNameLst>
                                          <p:attrName>style.visibility</p:attrName>
                                        </p:attrNameLst>
                                      </p:cBhvr>
                                      <p:to>
                                        <p:strVal val="visible"/>
                                      </p:to>
                                    </p:set>
                                    <p:animEffect transition="in" filter="blinds(vertical)">
                                      <p:cBhvr>
                                        <p:cTn id="43" dur="500"/>
                                        <p:tgtEl>
                                          <p:spTgt spid="106506"/>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5" fill="hold" grpId="0" nodeType="clickEffect">
                                  <p:stCondLst>
                                    <p:cond delay="0"/>
                                  </p:stCondLst>
                                  <p:childTnLst>
                                    <p:set>
                                      <p:cBhvr>
                                        <p:cTn id="47" dur="1" fill="hold">
                                          <p:stCondLst>
                                            <p:cond delay="0"/>
                                          </p:stCondLst>
                                        </p:cTn>
                                        <p:tgtEl>
                                          <p:spTgt spid="106507"/>
                                        </p:tgtEl>
                                        <p:attrNameLst>
                                          <p:attrName>style.visibility</p:attrName>
                                        </p:attrNameLst>
                                      </p:cBhvr>
                                      <p:to>
                                        <p:strVal val="visible"/>
                                      </p:to>
                                    </p:set>
                                    <p:animEffect transition="in" filter="blinds(vertical)">
                                      <p:cBhvr>
                                        <p:cTn id="48" dur="500"/>
                                        <p:tgtEl>
                                          <p:spTgt spid="1065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498" grpId="0" animBg="1"/>
      <p:bldP spid="106499" grpId="0"/>
      <p:bldP spid="106500" grpId="0"/>
      <p:bldP spid="106501" grpId="0"/>
      <p:bldP spid="106502" grpId="0"/>
      <p:bldP spid="106503" grpId="0"/>
      <p:bldP spid="106504" grpId="0"/>
      <p:bldP spid="106505" grpId="0" animBg="1"/>
      <p:bldP spid="106506" grpId="0"/>
      <p:bldP spid="106507"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3" name="文本框 107522"/>
          <p:cNvSpPr txBox="1"/>
          <p:nvPr/>
        </p:nvSpPr>
        <p:spPr>
          <a:xfrm>
            <a:off x="684213" y="1049338"/>
            <a:ext cx="3382963" cy="519113"/>
          </a:xfrm>
          <a:prstGeom prst="rect">
            <a:avLst/>
          </a:prstGeom>
          <a:noFill/>
          <a:ln w="9525">
            <a:noFill/>
          </a:ln>
        </p:spPr>
        <p:txBody>
          <a:bodyPr>
            <a:spAutoFit/>
          </a:bodyPr>
          <a:lstStyle/>
          <a:p>
            <a:pPr>
              <a:spcBef>
                <a:spcPct val="50000"/>
              </a:spcBef>
            </a:pPr>
            <a:r>
              <a:rPr lang="en-US" altLang="zh-CN" sz="2800" b="1" noProof="1">
                <a:solidFill>
                  <a:srgbClr val="FF0066"/>
                </a:solidFill>
                <a:effectLst>
                  <a:outerShdw blurRad="38100" dist="38100" dir="2700000">
                    <a:srgbClr val="000000"/>
                  </a:outerShdw>
                </a:effectLst>
                <a:latin typeface="楷体_GB2312" pitchFamily="49" charset="-122"/>
                <a:ea typeface="楷体_GB2312" pitchFamily="49" charset="-122"/>
                <a:cs typeface="+mn-cs"/>
              </a:rPr>
              <a:t>3</a:t>
            </a:r>
            <a:r>
              <a:rPr lang="zh-CN" altLang="en-US" sz="2800" b="1" noProof="1">
                <a:solidFill>
                  <a:srgbClr val="FF0066"/>
                </a:solidFill>
                <a:effectLst>
                  <a:outerShdw blurRad="38100" dist="38100" dir="2700000">
                    <a:srgbClr val="000000"/>
                  </a:outerShdw>
                </a:effectLst>
                <a:latin typeface="楷体_GB2312" pitchFamily="49" charset="-122"/>
                <a:ea typeface="楷体_GB2312" pitchFamily="49" charset="-122"/>
                <a:cs typeface="+mn-cs"/>
              </a:rPr>
              <a:t>、糖的分类：</a:t>
            </a:r>
            <a:endParaRPr lang="zh-CN" altLang="en-US" sz="2800" b="1" noProof="1">
              <a:solidFill>
                <a:srgbClr val="FF0066"/>
              </a:solidFill>
              <a:effectLst>
                <a:outerShdw blurRad="38100" dist="38100" dir="2700000">
                  <a:srgbClr val="000000"/>
                </a:outerShdw>
              </a:effectLst>
              <a:latin typeface="楷体_GB2312" pitchFamily="49" charset="-122"/>
              <a:ea typeface="楷体_GB2312" pitchFamily="49" charset="-122"/>
            </a:endParaRPr>
          </a:p>
        </p:txBody>
      </p:sp>
      <p:sp>
        <p:nvSpPr>
          <p:cNvPr id="107524" name="文本框 107523"/>
          <p:cNvSpPr txBox="1"/>
          <p:nvPr/>
        </p:nvSpPr>
        <p:spPr>
          <a:xfrm>
            <a:off x="827088" y="3213100"/>
            <a:ext cx="792162" cy="579438"/>
          </a:xfrm>
          <a:prstGeom prst="rect">
            <a:avLst/>
          </a:prstGeom>
          <a:noFill/>
          <a:ln w="9525">
            <a:noFill/>
          </a:ln>
        </p:spPr>
        <p:txBody>
          <a:bodyPr anchor="t">
            <a:spAutoFit/>
          </a:bodyPr>
          <a:lstStyle/>
          <a:p>
            <a:pPr>
              <a:spcBef>
                <a:spcPct val="50000"/>
              </a:spcBef>
            </a:pPr>
            <a:r>
              <a:rPr lang="zh-CN" altLang="en-US" sz="3200" b="1" dirty="0">
                <a:solidFill>
                  <a:srgbClr val="000099"/>
                </a:solidFill>
                <a:latin typeface="Verdana" panose="020B0604030504040204" pitchFamily="34" charset="0"/>
                <a:ea typeface="楷体_GB2312" pitchFamily="49" charset="-122"/>
              </a:rPr>
              <a:t>糖</a:t>
            </a:r>
          </a:p>
        </p:txBody>
      </p:sp>
      <p:sp>
        <p:nvSpPr>
          <p:cNvPr id="107525" name="左大括号 107524"/>
          <p:cNvSpPr/>
          <p:nvPr/>
        </p:nvSpPr>
        <p:spPr>
          <a:xfrm>
            <a:off x="1476375" y="1844675"/>
            <a:ext cx="71438" cy="3600450"/>
          </a:xfrm>
          <a:prstGeom prst="leftBrace">
            <a:avLst>
              <a:gd name="adj1" fmla="val 419297"/>
              <a:gd name="adj2" fmla="val 50000"/>
            </a:avLst>
          </a:prstGeom>
          <a:noFill/>
          <a:ln w="38100" cap="flat" cmpd="sng">
            <a:solidFill>
              <a:srgbClr val="000099"/>
            </a:solidFill>
            <a:prstDash val="solid"/>
            <a:round/>
            <a:headEnd type="none" w="med" len="med"/>
            <a:tailEnd type="none" w="med" len="med"/>
          </a:ln>
        </p:spPr>
        <p:txBody>
          <a:bodyPr anchor="t"/>
          <a:lstStyle/>
          <a:p>
            <a:endParaRPr lang="zh-CN" altLang="en-US">
              <a:latin typeface="Arial" panose="020B0604020202020204" pitchFamily="34" charset="0"/>
            </a:endParaRPr>
          </a:p>
        </p:txBody>
      </p:sp>
      <p:sp>
        <p:nvSpPr>
          <p:cNvPr id="107526" name="文本框 107525"/>
          <p:cNvSpPr txBox="1"/>
          <p:nvPr/>
        </p:nvSpPr>
        <p:spPr>
          <a:xfrm>
            <a:off x="1619250" y="1773238"/>
            <a:ext cx="1584325" cy="579437"/>
          </a:xfrm>
          <a:prstGeom prst="rect">
            <a:avLst/>
          </a:prstGeom>
          <a:noFill/>
          <a:ln w="9525">
            <a:noFill/>
          </a:ln>
        </p:spPr>
        <p:txBody>
          <a:bodyPr anchor="t">
            <a:spAutoFit/>
          </a:bodyPr>
          <a:lstStyle/>
          <a:p>
            <a:pPr>
              <a:spcBef>
                <a:spcPct val="50000"/>
              </a:spcBef>
            </a:pPr>
            <a:r>
              <a:rPr lang="zh-CN" altLang="en-US" sz="3200" b="1" dirty="0">
                <a:solidFill>
                  <a:srgbClr val="000099"/>
                </a:solidFill>
                <a:latin typeface="Verdana" panose="020B0604030504040204" pitchFamily="34" charset="0"/>
                <a:ea typeface="楷体_GB2312" pitchFamily="49" charset="-122"/>
              </a:rPr>
              <a:t>单糖：</a:t>
            </a:r>
          </a:p>
        </p:txBody>
      </p:sp>
      <p:sp>
        <p:nvSpPr>
          <p:cNvPr id="107527" name="文本框 107526"/>
          <p:cNvSpPr txBox="1"/>
          <p:nvPr/>
        </p:nvSpPr>
        <p:spPr>
          <a:xfrm>
            <a:off x="1690688" y="3357563"/>
            <a:ext cx="1512887" cy="579437"/>
          </a:xfrm>
          <a:prstGeom prst="rect">
            <a:avLst/>
          </a:prstGeom>
          <a:noFill/>
          <a:ln w="9525">
            <a:noFill/>
          </a:ln>
        </p:spPr>
        <p:txBody>
          <a:bodyPr anchor="t">
            <a:spAutoFit/>
          </a:bodyPr>
          <a:lstStyle/>
          <a:p>
            <a:pPr>
              <a:spcBef>
                <a:spcPct val="50000"/>
              </a:spcBef>
            </a:pPr>
            <a:r>
              <a:rPr lang="zh-CN" altLang="en-US" sz="3200" b="1" dirty="0">
                <a:solidFill>
                  <a:srgbClr val="000099"/>
                </a:solidFill>
                <a:latin typeface="Verdana" panose="020B0604030504040204" pitchFamily="34" charset="0"/>
                <a:ea typeface="楷体_GB2312" pitchFamily="49" charset="-122"/>
              </a:rPr>
              <a:t>二糖：</a:t>
            </a:r>
          </a:p>
        </p:txBody>
      </p:sp>
      <p:sp>
        <p:nvSpPr>
          <p:cNvPr id="107528" name="文本框 107527"/>
          <p:cNvSpPr txBox="1"/>
          <p:nvPr/>
        </p:nvSpPr>
        <p:spPr>
          <a:xfrm>
            <a:off x="1692275" y="4868863"/>
            <a:ext cx="1441450" cy="579437"/>
          </a:xfrm>
          <a:prstGeom prst="rect">
            <a:avLst/>
          </a:prstGeom>
          <a:noFill/>
          <a:ln w="9525">
            <a:noFill/>
          </a:ln>
        </p:spPr>
        <p:txBody>
          <a:bodyPr anchor="t">
            <a:spAutoFit/>
          </a:bodyPr>
          <a:lstStyle/>
          <a:p>
            <a:pPr>
              <a:spcBef>
                <a:spcPct val="50000"/>
              </a:spcBef>
            </a:pPr>
            <a:r>
              <a:rPr lang="zh-CN" altLang="en-US" sz="3200" b="1" dirty="0">
                <a:solidFill>
                  <a:srgbClr val="000099"/>
                </a:solidFill>
                <a:latin typeface="Verdana" panose="020B0604030504040204" pitchFamily="34" charset="0"/>
                <a:ea typeface="楷体_GB2312" pitchFamily="49" charset="-122"/>
              </a:rPr>
              <a:t>多糖：</a:t>
            </a:r>
          </a:p>
        </p:txBody>
      </p:sp>
      <p:sp>
        <p:nvSpPr>
          <p:cNvPr id="107529" name="文本框 107528"/>
          <p:cNvSpPr txBox="1"/>
          <p:nvPr/>
        </p:nvSpPr>
        <p:spPr>
          <a:xfrm>
            <a:off x="2843213" y="1773238"/>
            <a:ext cx="5545137" cy="579437"/>
          </a:xfrm>
          <a:prstGeom prst="rect">
            <a:avLst/>
          </a:prstGeom>
          <a:noFill/>
          <a:ln w="9525">
            <a:noFill/>
          </a:ln>
        </p:spPr>
        <p:txBody>
          <a:bodyPr anchor="t">
            <a:spAutoFit/>
          </a:bodyPr>
          <a:lstStyle/>
          <a:p>
            <a:pPr>
              <a:spcBef>
                <a:spcPct val="50000"/>
              </a:spcBef>
            </a:pPr>
            <a:r>
              <a:rPr lang="zh-CN" altLang="en-US" sz="3200" b="1" dirty="0">
                <a:solidFill>
                  <a:srgbClr val="000099"/>
                </a:solidFill>
                <a:latin typeface="Verdana" panose="020B0604030504040204" pitchFamily="34" charset="0"/>
                <a:ea typeface="楷体_GB2312" pitchFamily="49" charset="-122"/>
              </a:rPr>
              <a:t>不能水解成更简单的糖</a:t>
            </a:r>
          </a:p>
        </p:txBody>
      </p:sp>
      <p:sp>
        <p:nvSpPr>
          <p:cNvPr id="107530" name="文本框 107529"/>
          <p:cNvSpPr txBox="1"/>
          <p:nvPr/>
        </p:nvSpPr>
        <p:spPr>
          <a:xfrm>
            <a:off x="2124075" y="2420938"/>
            <a:ext cx="6335713" cy="579438"/>
          </a:xfrm>
          <a:prstGeom prst="rect">
            <a:avLst/>
          </a:prstGeom>
          <a:noFill/>
          <a:ln w="9525">
            <a:noFill/>
          </a:ln>
        </p:spPr>
        <p:txBody>
          <a:bodyPr>
            <a:spAutoFit/>
          </a:bodyPr>
          <a:lstStyle/>
          <a:p>
            <a:pPr>
              <a:spcBef>
                <a:spcPct val="50000"/>
              </a:spcBef>
            </a:pPr>
            <a:r>
              <a:rPr lang="zh-CN" altLang="en-US" sz="3200" b="1" noProof="1">
                <a:solidFill>
                  <a:srgbClr val="006600"/>
                </a:solidFill>
                <a:latin typeface="Verdana" panose="020B0604030504040204" pitchFamily="34" charset="0"/>
                <a:ea typeface="楷体_GB2312" pitchFamily="49" charset="-122"/>
                <a:cs typeface="+mn-cs"/>
              </a:rPr>
              <a:t>例如：葡萄糖、果糖、鼠李糖等</a:t>
            </a:r>
            <a:endParaRPr lang="zh-CN" altLang="en-US" sz="3200" b="1" noProof="1">
              <a:solidFill>
                <a:srgbClr val="006600"/>
              </a:solidFill>
              <a:latin typeface="Verdana" panose="020B0604030504040204" pitchFamily="34" charset="0"/>
              <a:ea typeface="楷体_GB2312" pitchFamily="49" charset="-122"/>
            </a:endParaRPr>
          </a:p>
        </p:txBody>
      </p:sp>
      <p:sp>
        <p:nvSpPr>
          <p:cNvPr id="107531" name="文本框 107530"/>
          <p:cNvSpPr txBox="1"/>
          <p:nvPr/>
        </p:nvSpPr>
        <p:spPr>
          <a:xfrm>
            <a:off x="2843213" y="3357563"/>
            <a:ext cx="5688012" cy="579437"/>
          </a:xfrm>
          <a:prstGeom prst="rect">
            <a:avLst/>
          </a:prstGeom>
          <a:noFill/>
          <a:ln w="9525">
            <a:noFill/>
          </a:ln>
        </p:spPr>
        <p:txBody>
          <a:bodyPr anchor="t">
            <a:spAutoFit/>
          </a:bodyPr>
          <a:lstStyle/>
          <a:p>
            <a:pPr>
              <a:spcBef>
                <a:spcPct val="50000"/>
              </a:spcBef>
            </a:pPr>
            <a:r>
              <a:rPr lang="en-US" altLang="zh-CN" sz="3200" b="1">
                <a:solidFill>
                  <a:srgbClr val="000099"/>
                </a:solidFill>
                <a:latin typeface="楷体_GB2312" pitchFamily="49" charset="-122"/>
                <a:ea typeface="楷体_GB2312" pitchFamily="49" charset="-122"/>
              </a:rPr>
              <a:t>1mol</a:t>
            </a:r>
            <a:r>
              <a:rPr lang="zh-CN" altLang="en-US" sz="3200" b="1" dirty="0">
                <a:solidFill>
                  <a:srgbClr val="000099"/>
                </a:solidFill>
                <a:latin typeface="楷体_GB2312" pitchFamily="49" charset="-122"/>
                <a:ea typeface="楷体_GB2312" pitchFamily="49" charset="-122"/>
              </a:rPr>
              <a:t>糖能水解成</a:t>
            </a:r>
            <a:r>
              <a:rPr lang="en-US" altLang="zh-CN" sz="3200" b="1">
                <a:solidFill>
                  <a:srgbClr val="000099"/>
                </a:solidFill>
                <a:latin typeface="楷体_GB2312" pitchFamily="49" charset="-122"/>
                <a:ea typeface="楷体_GB2312" pitchFamily="49" charset="-122"/>
              </a:rPr>
              <a:t>2mol</a:t>
            </a:r>
            <a:r>
              <a:rPr lang="zh-CN" altLang="en-US" sz="3200" b="1" dirty="0">
                <a:solidFill>
                  <a:srgbClr val="000099"/>
                </a:solidFill>
                <a:latin typeface="楷体_GB2312" pitchFamily="49" charset="-122"/>
                <a:ea typeface="楷体_GB2312" pitchFamily="49" charset="-122"/>
              </a:rPr>
              <a:t>单糖</a:t>
            </a:r>
          </a:p>
        </p:txBody>
      </p:sp>
      <p:sp>
        <p:nvSpPr>
          <p:cNvPr id="107532" name="文本框 107531"/>
          <p:cNvSpPr txBox="1"/>
          <p:nvPr/>
        </p:nvSpPr>
        <p:spPr>
          <a:xfrm>
            <a:off x="2195513" y="4005263"/>
            <a:ext cx="5184775" cy="579438"/>
          </a:xfrm>
          <a:prstGeom prst="rect">
            <a:avLst/>
          </a:prstGeom>
          <a:noFill/>
          <a:ln w="9525">
            <a:noFill/>
          </a:ln>
        </p:spPr>
        <p:txBody>
          <a:bodyPr>
            <a:spAutoFit/>
          </a:bodyPr>
          <a:lstStyle/>
          <a:p>
            <a:pPr>
              <a:spcBef>
                <a:spcPct val="50000"/>
              </a:spcBef>
            </a:pPr>
            <a:r>
              <a:rPr lang="zh-CN" altLang="en-US" sz="3200" b="1" noProof="1">
                <a:solidFill>
                  <a:srgbClr val="006600"/>
                </a:solidFill>
                <a:latin typeface="Verdana" panose="020B0604030504040204" pitchFamily="34" charset="0"/>
                <a:ea typeface="楷体_GB2312" pitchFamily="49" charset="-122"/>
                <a:cs typeface="+mn-cs"/>
              </a:rPr>
              <a:t>例如：蔗糖、麦芽糖等</a:t>
            </a:r>
            <a:endParaRPr lang="zh-CN" altLang="en-US" sz="3200" b="1" noProof="1">
              <a:solidFill>
                <a:srgbClr val="006600"/>
              </a:solidFill>
              <a:latin typeface="Verdana" panose="020B0604030504040204" pitchFamily="34" charset="0"/>
              <a:ea typeface="楷体_GB2312" pitchFamily="49" charset="-122"/>
            </a:endParaRPr>
          </a:p>
        </p:txBody>
      </p:sp>
      <p:sp>
        <p:nvSpPr>
          <p:cNvPr id="107533" name="文本框 107532"/>
          <p:cNvSpPr txBox="1"/>
          <p:nvPr/>
        </p:nvSpPr>
        <p:spPr>
          <a:xfrm>
            <a:off x="2843213" y="4868863"/>
            <a:ext cx="5832475" cy="579437"/>
          </a:xfrm>
          <a:prstGeom prst="rect">
            <a:avLst/>
          </a:prstGeom>
          <a:noFill/>
          <a:ln w="9525">
            <a:noFill/>
          </a:ln>
        </p:spPr>
        <p:txBody>
          <a:bodyPr anchor="t">
            <a:spAutoFit/>
          </a:bodyPr>
          <a:lstStyle/>
          <a:p>
            <a:pPr>
              <a:spcBef>
                <a:spcPct val="50000"/>
              </a:spcBef>
            </a:pPr>
            <a:r>
              <a:rPr lang="en-US" altLang="zh-CN" sz="3200" b="1">
                <a:solidFill>
                  <a:srgbClr val="000099"/>
                </a:solidFill>
                <a:latin typeface="楷体_GB2312" pitchFamily="49" charset="-122"/>
                <a:ea typeface="楷体_GB2312" pitchFamily="49" charset="-122"/>
              </a:rPr>
              <a:t>1mol</a:t>
            </a:r>
            <a:r>
              <a:rPr lang="zh-CN" altLang="en-US" sz="3200" b="1" dirty="0">
                <a:solidFill>
                  <a:srgbClr val="000099"/>
                </a:solidFill>
                <a:latin typeface="楷体_GB2312" pitchFamily="49" charset="-122"/>
                <a:ea typeface="楷体_GB2312" pitchFamily="49" charset="-122"/>
              </a:rPr>
              <a:t>糖能水解成</a:t>
            </a:r>
            <a:r>
              <a:rPr lang="en-US" altLang="zh-CN" sz="3200" b="1">
                <a:solidFill>
                  <a:srgbClr val="000099"/>
                </a:solidFill>
                <a:latin typeface="楷体_GB2312" pitchFamily="49" charset="-122"/>
                <a:ea typeface="楷体_GB2312" pitchFamily="49" charset="-122"/>
              </a:rPr>
              <a:t>n mol</a:t>
            </a:r>
            <a:r>
              <a:rPr lang="zh-CN" altLang="en-US" sz="3200" b="1" dirty="0">
                <a:solidFill>
                  <a:srgbClr val="000099"/>
                </a:solidFill>
                <a:latin typeface="楷体_GB2312" pitchFamily="49" charset="-122"/>
                <a:ea typeface="楷体_GB2312" pitchFamily="49" charset="-122"/>
              </a:rPr>
              <a:t>单糖</a:t>
            </a:r>
          </a:p>
        </p:txBody>
      </p:sp>
      <p:sp>
        <p:nvSpPr>
          <p:cNvPr id="107534" name="文本框 107533"/>
          <p:cNvSpPr txBox="1"/>
          <p:nvPr/>
        </p:nvSpPr>
        <p:spPr>
          <a:xfrm>
            <a:off x="2195513" y="5445125"/>
            <a:ext cx="5040313" cy="579438"/>
          </a:xfrm>
          <a:prstGeom prst="rect">
            <a:avLst/>
          </a:prstGeom>
          <a:noFill/>
          <a:ln w="9525">
            <a:noFill/>
          </a:ln>
        </p:spPr>
        <p:txBody>
          <a:bodyPr>
            <a:spAutoFit/>
          </a:bodyPr>
          <a:lstStyle/>
          <a:p>
            <a:pPr>
              <a:spcBef>
                <a:spcPct val="50000"/>
              </a:spcBef>
            </a:pPr>
            <a:r>
              <a:rPr lang="zh-CN" altLang="en-US" sz="3200" b="1" noProof="1">
                <a:solidFill>
                  <a:srgbClr val="006600"/>
                </a:solidFill>
                <a:latin typeface="Verdana" panose="020B0604030504040204" pitchFamily="34" charset="0"/>
                <a:ea typeface="楷体_GB2312" pitchFamily="49" charset="-122"/>
                <a:cs typeface="+mn-cs"/>
              </a:rPr>
              <a:t>例如：淀粉、纤维素等</a:t>
            </a:r>
            <a:endParaRPr lang="zh-CN" altLang="en-US" sz="3200" b="1" noProof="1">
              <a:solidFill>
                <a:srgbClr val="006600"/>
              </a:solidFill>
              <a:latin typeface="Verdana" panose="020B0604030504040204" pitchFamily="34" charset="0"/>
              <a:ea typeface="楷体_GB2312" pitchFamily="49" charset="-122"/>
            </a:endParaRPr>
          </a:p>
        </p:txBody>
      </p:sp>
      <p:sp>
        <p:nvSpPr>
          <p:cNvPr id="38925" name="灯片编号占位符 1"/>
          <p:cNvSpPr>
            <a:spLocks noGrp="1"/>
          </p:cNvSpPr>
          <p:nvPr>
            <p:ph type="sldNum" sz="quarter" idx="11"/>
          </p:nvPr>
        </p:nvSpPr>
        <p:spPr>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400" dirty="0"/>
              <a:pPr lvl="0" indent="0" algn="r"/>
              <a:t>38</a:t>
            </a:fld>
            <a:endParaRPr lang="zh-CN" alt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7523"/>
                                        </p:tgtEl>
                                        <p:attrNameLst>
                                          <p:attrName>style.visibility</p:attrName>
                                        </p:attrNameLst>
                                      </p:cBhvr>
                                      <p:to>
                                        <p:strVal val="visible"/>
                                      </p:to>
                                    </p:set>
                                    <p:animEffect transition="in" filter="wipe(left)">
                                      <p:cBhvr>
                                        <p:cTn id="7" dur="500"/>
                                        <p:tgtEl>
                                          <p:spTgt spid="107523"/>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07524"/>
                                        </p:tgtEl>
                                        <p:attrNameLst>
                                          <p:attrName>style.visibility</p:attrName>
                                        </p:attrNameLst>
                                      </p:cBhvr>
                                      <p:to>
                                        <p:strVal val="visible"/>
                                      </p:to>
                                    </p:set>
                                    <p:animEffect transition="in" filter="wipe(up)">
                                      <p:cBhvr>
                                        <p:cTn id="11" dur="500"/>
                                        <p:tgtEl>
                                          <p:spTgt spid="107524"/>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07525"/>
                                        </p:tgtEl>
                                        <p:attrNameLst>
                                          <p:attrName>style.visibility</p:attrName>
                                        </p:attrNameLst>
                                      </p:cBhvr>
                                      <p:to>
                                        <p:strVal val="visible"/>
                                      </p:to>
                                    </p:set>
                                    <p:animEffect transition="in" filter="wipe(left)">
                                      <p:cBhvr>
                                        <p:cTn id="15" dur="500"/>
                                        <p:tgtEl>
                                          <p:spTgt spid="107525"/>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07526"/>
                                        </p:tgtEl>
                                        <p:attrNameLst>
                                          <p:attrName>style.visibility</p:attrName>
                                        </p:attrNameLst>
                                      </p:cBhvr>
                                      <p:to>
                                        <p:strVal val="visible"/>
                                      </p:to>
                                    </p:set>
                                    <p:animEffect transition="in" filter="wipe(left)">
                                      <p:cBhvr>
                                        <p:cTn id="20" dur="500"/>
                                        <p:tgtEl>
                                          <p:spTgt spid="107526"/>
                                        </p:tgtEl>
                                      </p:cBhvr>
                                    </p:animEffect>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107527"/>
                                        </p:tgtEl>
                                        <p:attrNameLst>
                                          <p:attrName>style.visibility</p:attrName>
                                        </p:attrNameLst>
                                      </p:cBhvr>
                                      <p:to>
                                        <p:strVal val="visible"/>
                                      </p:to>
                                    </p:set>
                                    <p:animEffect transition="in" filter="wipe(left)">
                                      <p:cBhvr>
                                        <p:cTn id="24" dur="500"/>
                                        <p:tgtEl>
                                          <p:spTgt spid="107527"/>
                                        </p:tgtEl>
                                      </p:cBhvr>
                                    </p:animEffect>
                                  </p:childTnLst>
                                </p:cTn>
                              </p:par>
                            </p:childTnLst>
                          </p:cTn>
                        </p:par>
                        <p:par>
                          <p:cTn id="25" fill="hold">
                            <p:stCondLst>
                              <p:cond delay="1000"/>
                            </p:stCondLst>
                            <p:childTnLst>
                              <p:par>
                                <p:cTn id="26" presetID="22" presetClass="entr" presetSubtype="8" fill="hold" grpId="0" nodeType="afterEffect">
                                  <p:stCondLst>
                                    <p:cond delay="0"/>
                                  </p:stCondLst>
                                  <p:childTnLst>
                                    <p:set>
                                      <p:cBhvr>
                                        <p:cTn id="27" dur="1" fill="hold">
                                          <p:stCondLst>
                                            <p:cond delay="0"/>
                                          </p:stCondLst>
                                        </p:cTn>
                                        <p:tgtEl>
                                          <p:spTgt spid="107528"/>
                                        </p:tgtEl>
                                        <p:attrNameLst>
                                          <p:attrName>style.visibility</p:attrName>
                                        </p:attrNameLst>
                                      </p:cBhvr>
                                      <p:to>
                                        <p:strVal val="visible"/>
                                      </p:to>
                                    </p:set>
                                    <p:animEffect transition="in" filter="wipe(left)">
                                      <p:cBhvr>
                                        <p:cTn id="28" dur="500"/>
                                        <p:tgtEl>
                                          <p:spTgt spid="107528"/>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07529"/>
                                        </p:tgtEl>
                                        <p:attrNameLst>
                                          <p:attrName>style.visibility</p:attrName>
                                        </p:attrNameLst>
                                      </p:cBhvr>
                                      <p:to>
                                        <p:strVal val="visible"/>
                                      </p:to>
                                    </p:set>
                                    <p:animEffect transition="in" filter="wipe(left)">
                                      <p:cBhvr>
                                        <p:cTn id="33" dur="500"/>
                                        <p:tgtEl>
                                          <p:spTgt spid="10752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07530"/>
                                        </p:tgtEl>
                                        <p:attrNameLst>
                                          <p:attrName>style.visibility</p:attrName>
                                        </p:attrNameLst>
                                      </p:cBhvr>
                                      <p:to>
                                        <p:strVal val="visible"/>
                                      </p:to>
                                    </p:set>
                                    <p:animEffect transition="in" filter="wipe(left)">
                                      <p:cBhvr>
                                        <p:cTn id="38" dur="500"/>
                                        <p:tgtEl>
                                          <p:spTgt spid="107530"/>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07531"/>
                                        </p:tgtEl>
                                        <p:attrNameLst>
                                          <p:attrName>style.visibility</p:attrName>
                                        </p:attrNameLst>
                                      </p:cBhvr>
                                      <p:to>
                                        <p:strVal val="visible"/>
                                      </p:to>
                                    </p:set>
                                    <p:animEffect transition="in" filter="wipe(left)">
                                      <p:cBhvr>
                                        <p:cTn id="43" dur="500"/>
                                        <p:tgtEl>
                                          <p:spTgt spid="107531"/>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07532"/>
                                        </p:tgtEl>
                                        <p:attrNameLst>
                                          <p:attrName>style.visibility</p:attrName>
                                        </p:attrNameLst>
                                      </p:cBhvr>
                                      <p:to>
                                        <p:strVal val="visible"/>
                                      </p:to>
                                    </p:set>
                                    <p:animEffect transition="in" filter="wipe(left)">
                                      <p:cBhvr>
                                        <p:cTn id="48" dur="500"/>
                                        <p:tgtEl>
                                          <p:spTgt spid="107532"/>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107533"/>
                                        </p:tgtEl>
                                        <p:attrNameLst>
                                          <p:attrName>style.visibility</p:attrName>
                                        </p:attrNameLst>
                                      </p:cBhvr>
                                      <p:to>
                                        <p:strVal val="visible"/>
                                      </p:to>
                                    </p:set>
                                    <p:animEffect transition="in" filter="wipe(left)">
                                      <p:cBhvr>
                                        <p:cTn id="53" dur="500"/>
                                        <p:tgtEl>
                                          <p:spTgt spid="107533"/>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107534"/>
                                        </p:tgtEl>
                                        <p:attrNameLst>
                                          <p:attrName>style.visibility</p:attrName>
                                        </p:attrNameLst>
                                      </p:cBhvr>
                                      <p:to>
                                        <p:strVal val="visible"/>
                                      </p:to>
                                    </p:set>
                                    <p:animEffect transition="in" filter="wipe(left)">
                                      <p:cBhvr>
                                        <p:cTn id="58" dur="500"/>
                                        <p:tgtEl>
                                          <p:spTgt spid="1075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3" grpId="0"/>
      <p:bldP spid="107524" grpId="0"/>
      <p:bldP spid="107526" grpId="0"/>
      <p:bldP spid="107527" grpId="0"/>
      <p:bldP spid="107528" grpId="0"/>
      <p:bldP spid="107529" grpId="0"/>
      <p:bldP spid="107530" grpId="0"/>
      <p:bldP spid="107531" grpId="0"/>
      <p:bldP spid="107532" grpId="0"/>
      <p:bldP spid="107533" grpId="0"/>
      <p:bldP spid="10753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9570" name="图片 109569" descr="葡萄1"/>
          <p:cNvPicPr>
            <a:picLocks noChangeAspect="1"/>
          </p:cNvPicPr>
          <p:nvPr/>
        </p:nvPicPr>
        <p:blipFill>
          <a:blip r:embed="rId2" cstate="print"/>
          <a:stretch>
            <a:fillRect/>
          </a:stretch>
        </p:blipFill>
        <p:spPr>
          <a:xfrm>
            <a:off x="1042988" y="2492375"/>
            <a:ext cx="5473700" cy="4105275"/>
          </a:xfrm>
          <a:prstGeom prst="rect">
            <a:avLst/>
          </a:prstGeom>
          <a:noFill/>
          <a:ln w="9525">
            <a:noFill/>
          </a:ln>
        </p:spPr>
      </p:pic>
      <p:sp>
        <p:nvSpPr>
          <p:cNvPr id="109571" name="文本框 109570"/>
          <p:cNvSpPr txBox="1"/>
          <p:nvPr/>
        </p:nvSpPr>
        <p:spPr>
          <a:xfrm>
            <a:off x="1763713" y="44450"/>
            <a:ext cx="5761038" cy="584775"/>
          </a:xfrm>
          <a:prstGeom prst="rect">
            <a:avLst/>
          </a:prstGeom>
          <a:gradFill rotWithShape="1">
            <a:gsLst>
              <a:gs pos="0">
                <a:srgbClr val="FF99FF">
                  <a:gamma/>
                  <a:tint val="0"/>
                  <a:invGamma/>
                </a:srgbClr>
              </a:gs>
              <a:gs pos="100000">
                <a:srgbClr val="FF99FF"/>
              </a:gs>
            </a:gsLst>
            <a:path path="shape">
              <a:fillToRect l="50000" t="50000" r="50000" b="50000"/>
            </a:path>
            <a:tileRect/>
          </a:gradFill>
          <a:ln w="57150" cap="flat" cmpd="thinThick">
            <a:solidFill>
              <a:srgbClr val="FF0066"/>
            </a:solidFill>
            <a:prstDash val="solid"/>
            <a:miter/>
            <a:headEnd type="none" w="med" len="med"/>
            <a:tailEnd type="none" w="med" len="med"/>
          </a:ln>
        </p:spPr>
        <p:txBody>
          <a:bodyPr>
            <a:spAutoFit/>
          </a:bodyPr>
          <a:lstStyle/>
          <a:p>
            <a:pPr>
              <a:spcBef>
                <a:spcPct val="50000"/>
              </a:spcBef>
            </a:pPr>
            <a:r>
              <a:rPr lang="zh-CN" altLang="en-US" sz="3200" b="1" noProof="1">
                <a:solidFill>
                  <a:srgbClr val="000099"/>
                </a:solidFill>
                <a:latin typeface="Verdana" panose="020B0604030504040204" pitchFamily="34" charset="0"/>
                <a:ea typeface="楷体_GB2312" pitchFamily="49" charset="-122"/>
                <a:cs typeface="+mn-cs"/>
              </a:rPr>
              <a:t>二、葡萄糖是怎样供给能量的</a:t>
            </a:r>
            <a:endParaRPr lang="zh-CN" altLang="en-US" sz="3200" b="1" noProof="1">
              <a:solidFill>
                <a:srgbClr val="000099"/>
              </a:solidFill>
              <a:latin typeface="Verdana" panose="020B0604030504040204" pitchFamily="34" charset="0"/>
              <a:ea typeface="楷体_GB2312" pitchFamily="49" charset="-122"/>
            </a:endParaRPr>
          </a:p>
        </p:txBody>
      </p:sp>
      <p:sp>
        <p:nvSpPr>
          <p:cNvPr id="109572" name="文本框 109571"/>
          <p:cNvSpPr txBox="1"/>
          <p:nvPr/>
        </p:nvSpPr>
        <p:spPr>
          <a:xfrm>
            <a:off x="395288" y="620713"/>
            <a:ext cx="8569325" cy="946150"/>
          </a:xfrm>
          <a:prstGeom prst="rect">
            <a:avLst/>
          </a:prstGeom>
          <a:noFill/>
          <a:ln w="9525">
            <a:noFill/>
          </a:ln>
        </p:spPr>
        <p:txBody>
          <a:bodyPr>
            <a:spAutoFit/>
          </a:bodyPr>
          <a:lstStyle/>
          <a:p>
            <a:pPr>
              <a:spcBef>
                <a:spcPct val="50000"/>
              </a:spcBef>
            </a:pPr>
            <a:r>
              <a:rPr lang="zh-CN" altLang="en-US" sz="2800" b="1" noProof="1">
                <a:solidFill>
                  <a:srgbClr val="000099"/>
                </a:solidFill>
                <a:effectLst>
                  <a:outerShdw blurRad="38100" dist="38100" dir="2700000">
                    <a:srgbClr val="000000"/>
                  </a:outerShdw>
                </a:effectLst>
                <a:latin typeface="Verdana" panose="020B0604030504040204" pitchFamily="34" charset="0"/>
                <a:ea typeface="宋体" panose="02010600030101010101" pitchFamily="2" charset="-122"/>
                <a:cs typeface="+mn-cs"/>
              </a:rPr>
              <a:t>      </a:t>
            </a:r>
            <a:r>
              <a:rPr lang="zh-CN" altLang="en-US" sz="2800" b="1" noProof="1">
                <a:solidFill>
                  <a:schemeClr val="tx1"/>
                </a:solidFill>
                <a:latin typeface="楷体_GB2312" pitchFamily="49" charset="-122"/>
                <a:ea typeface="楷体_GB2312" pitchFamily="49" charset="-122"/>
                <a:cs typeface="+mn-cs"/>
              </a:rPr>
              <a:t>葡萄糖的分子式是</a:t>
            </a:r>
            <a:r>
              <a:rPr lang="en-US" altLang="zh-CN" sz="2800" b="1" noProof="1">
                <a:solidFill>
                  <a:schemeClr val="tx1"/>
                </a:solidFill>
                <a:latin typeface="楷体_GB2312" pitchFamily="49" charset="-122"/>
                <a:ea typeface="楷体_GB2312" pitchFamily="49" charset="-122"/>
                <a:cs typeface="+mn-cs"/>
              </a:rPr>
              <a:t>C</a:t>
            </a:r>
            <a:r>
              <a:rPr lang="en-US" altLang="zh-CN" sz="2800" b="1" baseline="-25000" noProof="1">
                <a:solidFill>
                  <a:schemeClr val="tx1"/>
                </a:solidFill>
                <a:latin typeface="楷体_GB2312" pitchFamily="49" charset="-122"/>
                <a:ea typeface="楷体_GB2312" pitchFamily="49" charset="-122"/>
                <a:cs typeface="+mn-cs"/>
              </a:rPr>
              <a:t>6</a:t>
            </a:r>
            <a:r>
              <a:rPr lang="en-US" altLang="zh-CN" sz="2800" b="1" noProof="1">
                <a:solidFill>
                  <a:schemeClr val="tx1"/>
                </a:solidFill>
                <a:latin typeface="楷体_GB2312" pitchFamily="49" charset="-122"/>
                <a:ea typeface="楷体_GB2312" pitchFamily="49" charset="-122"/>
                <a:cs typeface="+mn-cs"/>
              </a:rPr>
              <a:t>H</a:t>
            </a:r>
            <a:r>
              <a:rPr lang="en-US" altLang="zh-CN" sz="2800" b="1" baseline="-25000" noProof="1">
                <a:solidFill>
                  <a:schemeClr val="tx1"/>
                </a:solidFill>
                <a:latin typeface="楷体_GB2312" pitchFamily="49" charset="-122"/>
                <a:ea typeface="楷体_GB2312" pitchFamily="49" charset="-122"/>
                <a:cs typeface="+mn-cs"/>
              </a:rPr>
              <a:t>12</a:t>
            </a:r>
            <a:r>
              <a:rPr lang="en-US" altLang="zh-CN" sz="2800" b="1" noProof="1">
                <a:solidFill>
                  <a:schemeClr val="tx1"/>
                </a:solidFill>
                <a:latin typeface="楷体_GB2312" pitchFamily="49" charset="-122"/>
                <a:ea typeface="楷体_GB2312" pitchFamily="49" charset="-122"/>
                <a:cs typeface="+mn-cs"/>
              </a:rPr>
              <a:t>O</a:t>
            </a:r>
            <a:r>
              <a:rPr lang="en-US" altLang="zh-CN" sz="2800" b="1" baseline="-25000" noProof="1">
                <a:solidFill>
                  <a:schemeClr val="tx1"/>
                </a:solidFill>
                <a:latin typeface="楷体_GB2312" pitchFamily="49" charset="-122"/>
                <a:ea typeface="楷体_GB2312" pitchFamily="49" charset="-122"/>
                <a:cs typeface="+mn-cs"/>
              </a:rPr>
              <a:t>6</a:t>
            </a:r>
            <a:r>
              <a:rPr lang="zh-CN" altLang="en-US" sz="2800" b="1" noProof="1">
                <a:solidFill>
                  <a:schemeClr val="tx1"/>
                </a:solidFill>
                <a:latin typeface="楷体_GB2312" pitchFamily="49" charset="-122"/>
                <a:ea typeface="楷体_GB2312" pitchFamily="49" charset="-122"/>
                <a:cs typeface="+mn-cs"/>
              </a:rPr>
              <a:t>，是一种白色晶体，有甜味，能溶于水。</a:t>
            </a:r>
          </a:p>
        </p:txBody>
      </p:sp>
      <p:sp>
        <p:nvSpPr>
          <p:cNvPr id="109573" name="文本框 109572"/>
          <p:cNvSpPr txBox="1"/>
          <p:nvPr/>
        </p:nvSpPr>
        <p:spPr>
          <a:xfrm>
            <a:off x="468313" y="1917700"/>
            <a:ext cx="5975350" cy="519113"/>
          </a:xfrm>
          <a:prstGeom prst="rect">
            <a:avLst/>
          </a:prstGeom>
          <a:noFill/>
          <a:ln w="9525">
            <a:noFill/>
          </a:ln>
        </p:spPr>
        <p:txBody>
          <a:bodyPr>
            <a:spAutoFit/>
          </a:bodyPr>
          <a:lstStyle/>
          <a:p>
            <a:pPr>
              <a:spcBef>
                <a:spcPct val="50000"/>
              </a:spcBef>
            </a:pPr>
            <a:r>
              <a:rPr lang="en-US" altLang="zh-CN" sz="2800" b="1" noProof="1">
                <a:solidFill>
                  <a:srgbClr val="FF0066"/>
                </a:solidFill>
                <a:effectLst>
                  <a:outerShdw blurRad="38100" dist="38100" dir="2700000">
                    <a:srgbClr val="000000"/>
                  </a:outerShdw>
                </a:effectLst>
                <a:latin typeface="楷体_GB2312" pitchFamily="49" charset="-122"/>
                <a:ea typeface="楷体_GB2312" pitchFamily="49" charset="-122"/>
                <a:cs typeface="+mn-cs"/>
              </a:rPr>
              <a:t>1</a:t>
            </a:r>
            <a:r>
              <a:rPr lang="zh-CN" altLang="en-US" sz="2800" b="1" noProof="1">
                <a:solidFill>
                  <a:srgbClr val="FF0066"/>
                </a:solidFill>
                <a:effectLst>
                  <a:outerShdw blurRad="38100" dist="38100" dir="2700000">
                    <a:srgbClr val="000000"/>
                  </a:outerShdw>
                </a:effectLst>
                <a:latin typeface="楷体_GB2312" pitchFamily="49" charset="-122"/>
                <a:ea typeface="楷体_GB2312" pitchFamily="49" charset="-122"/>
                <a:cs typeface="+mn-cs"/>
              </a:rPr>
              <a:t>、葡萄糖的性质</a:t>
            </a:r>
            <a:r>
              <a:rPr lang="en-US" altLang="zh-CN" sz="2800" b="1" noProof="1">
                <a:solidFill>
                  <a:srgbClr val="FF0066"/>
                </a:solidFill>
                <a:effectLst>
                  <a:outerShdw blurRad="38100" dist="38100" dir="2700000">
                    <a:srgbClr val="000000"/>
                  </a:outerShdw>
                </a:effectLst>
                <a:latin typeface="Verdana" panose="020B0604030504040204" pitchFamily="34" charset="0"/>
                <a:ea typeface="楷体_GB2312" pitchFamily="49" charset="-122"/>
                <a:cs typeface="+mn-cs"/>
              </a:rPr>
              <a:t>——</a:t>
            </a:r>
            <a:r>
              <a:rPr lang="zh-CN" altLang="en-US" sz="2800" b="1" noProof="1">
                <a:solidFill>
                  <a:srgbClr val="FF0066"/>
                </a:solidFill>
                <a:effectLst>
                  <a:outerShdw blurRad="38100" dist="38100" dir="2700000">
                    <a:srgbClr val="000000"/>
                  </a:outerShdw>
                </a:effectLst>
                <a:latin typeface="楷体_GB2312" pitchFamily="49" charset="-122"/>
                <a:ea typeface="楷体_GB2312" pitchFamily="49" charset="-122"/>
                <a:cs typeface="+mn-cs"/>
              </a:rPr>
              <a:t>还原性</a:t>
            </a:r>
            <a:endParaRPr lang="zh-CN" altLang="en-US" sz="2800" b="1" noProof="1">
              <a:solidFill>
                <a:srgbClr val="FF0066"/>
              </a:solidFill>
              <a:effectLst>
                <a:outerShdw blurRad="38100" dist="38100" dir="2700000">
                  <a:srgbClr val="000000"/>
                </a:outerShdw>
              </a:effectLst>
              <a:latin typeface="楷体_GB2312" pitchFamily="49" charset="-122"/>
              <a:ea typeface="楷体_GB2312" pitchFamily="49" charset="-122"/>
            </a:endParaRPr>
          </a:p>
        </p:txBody>
      </p:sp>
      <p:sp>
        <p:nvSpPr>
          <p:cNvPr id="109574" name="文本框 109573"/>
          <p:cNvSpPr txBox="1"/>
          <p:nvPr/>
        </p:nvSpPr>
        <p:spPr>
          <a:xfrm>
            <a:off x="684213" y="2351088"/>
            <a:ext cx="6335713" cy="946150"/>
          </a:xfrm>
          <a:prstGeom prst="rect">
            <a:avLst/>
          </a:prstGeom>
          <a:noFill/>
          <a:ln w="9525">
            <a:noFill/>
          </a:ln>
        </p:spPr>
        <p:txBody>
          <a:bodyPr>
            <a:spAutoFit/>
          </a:bodyPr>
          <a:lstStyle/>
          <a:p>
            <a:pPr>
              <a:spcBef>
                <a:spcPct val="50000"/>
              </a:spcBef>
            </a:pPr>
            <a:r>
              <a:rPr lang="zh-CN" altLang="en-US" sz="2800" b="1" noProof="1">
                <a:solidFill>
                  <a:srgbClr val="000099"/>
                </a:solidFill>
                <a:effectLst>
                  <a:outerShdw blurRad="38100" dist="38100" dir="2700000">
                    <a:srgbClr val="000000"/>
                  </a:outerShdw>
                </a:effectLst>
                <a:latin typeface="楷体_GB2312" pitchFamily="49" charset="-122"/>
                <a:ea typeface="楷体_GB2312" pitchFamily="49" charset="-122"/>
                <a:cs typeface="+mn-cs"/>
              </a:rPr>
              <a:t>能跟银氨溶液反应生成光亮的银镜；能使新制的</a:t>
            </a:r>
            <a:r>
              <a:rPr lang="en-US" altLang="zh-CN" sz="2800" b="1" noProof="1">
                <a:solidFill>
                  <a:srgbClr val="000099"/>
                </a:solidFill>
                <a:effectLst>
                  <a:outerShdw blurRad="38100" dist="38100" dir="2700000">
                    <a:srgbClr val="000000"/>
                  </a:outerShdw>
                </a:effectLst>
                <a:latin typeface="楷体_GB2312" pitchFamily="49" charset="-122"/>
                <a:ea typeface="楷体_GB2312" pitchFamily="49" charset="-122"/>
                <a:cs typeface="+mn-cs"/>
              </a:rPr>
              <a:t>Cu(OH)</a:t>
            </a:r>
            <a:r>
              <a:rPr lang="en-US" altLang="zh-CN" sz="2800" b="1" baseline="-25000" noProof="1">
                <a:solidFill>
                  <a:srgbClr val="000099"/>
                </a:solidFill>
                <a:effectLst>
                  <a:outerShdw blurRad="38100" dist="38100" dir="2700000">
                    <a:srgbClr val="000000"/>
                  </a:outerShdw>
                </a:effectLst>
                <a:latin typeface="楷体_GB2312" pitchFamily="49" charset="-122"/>
                <a:ea typeface="楷体_GB2312" pitchFamily="49" charset="-122"/>
                <a:cs typeface="+mn-cs"/>
              </a:rPr>
              <a:t>2</a:t>
            </a:r>
            <a:r>
              <a:rPr lang="zh-CN" altLang="en-US" sz="2800" b="1" noProof="1">
                <a:solidFill>
                  <a:srgbClr val="000099"/>
                </a:solidFill>
                <a:effectLst>
                  <a:outerShdw blurRad="38100" dist="38100" dir="2700000">
                    <a:srgbClr val="000000"/>
                  </a:outerShdw>
                </a:effectLst>
                <a:latin typeface="楷体_GB2312" pitchFamily="49" charset="-122"/>
                <a:ea typeface="楷体_GB2312" pitchFamily="49" charset="-122"/>
                <a:cs typeface="+mn-cs"/>
              </a:rPr>
              <a:t>生成砖红色沉淀。</a:t>
            </a:r>
            <a:endParaRPr lang="zh-CN" altLang="en-US" sz="2800" b="1" noProof="1">
              <a:solidFill>
                <a:srgbClr val="000099"/>
              </a:solidFill>
              <a:effectLst>
                <a:outerShdw blurRad="38100" dist="38100" dir="2700000">
                  <a:srgbClr val="000000"/>
                </a:outerShdw>
              </a:effectLst>
              <a:latin typeface="楷体_GB2312" pitchFamily="49" charset="-122"/>
              <a:ea typeface="楷体_GB2312" pitchFamily="49" charset="-122"/>
            </a:endParaRPr>
          </a:p>
        </p:txBody>
      </p:sp>
      <p:sp>
        <p:nvSpPr>
          <p:cNvPr id="109575" name="文本框 109574"/>
          <p:cNvSpPr txBox="1"/>
          <p:nvPr/>
        </p:nvSpPr>
        <p:spPr>
          <a:xfrm>
            <a:off x="179388" y="5373688"/>
            <a:ext cx="8604250" cy="1160463"/>
          </a:xfrm>
          <a:prstGeom prst="rect">
            <a:avLst/>
          </a:prstGeom>
          <a:noFill/>
          <a:ln w="9525">
            <a:noFill/>
          </a:ln>
        </p:spPr>
        <p:txBody>
          <a:bodyPr>
            <a:spAutoFit/>
          </a:bodyPr>
          <a:lstStyle/>
          <a:p>
            <a:pPr>
              <a:spcBef>
                <a:spcPct val="50000"/>
              </a:spcBef>
            </a:pPr>
            <a:r>
              <a:rPr lang="zh-CN" altLang="en-US" sz="2800" b="1" noProof="1">
                <a:solidFill>
                  <a:srgbClr val="FF0066"/>
                </a:solidFill>
                <a:effectLst>
                  <a:outerShdw blurRad="38100" dist="38100" dir="2700000">
                    <a:srgbClr val="000000"/>
                  </a:outerShdw>
                </a:effectLst>
                <a:latin typeface="Verdana" panose="020B0604030504040204" pitchFamily="34" charset="0"/>
                <a:ea typeface="楷体_GB2312" pitchFamily="49" charset="-122"/>
                <a:cs typeface="+mn-cs"/>
              </a:rPr>
              <a:t>结构简式：</a:t>
            </a:r>
            <a:endParaRPr lang="zh-CN" altLang="en-US" sz="2800" b="1" noProof="1">
              <a:solidFill>
                <a:srgbClr val="FF0066"/>
              </a:solidFill>
              <a:effectLst>
                <a:outerShdw blurRad="38100" dist="38100" dir="2700000">
                  <a:srgbClr val="000000"/>
                </a:outerShdw>
              </a:effectLst>
              <a:latin typeface="Verdana" panose="020B0604030504040204" pitchFamily="34" charset="0"/>
              <a:ea typeface="楷体_GB2312" pitchFamily="49" charset="-122"/>
            </a:endParaRPr>
          </a:p>
          <a:p>
            <a:pPr>
              <a:spcBef>
                <a:spcPct val="50000"/>
              </a:spcBef>
            </a:pPr>
            <a:r>
              <a:rPr lang="en-US" altLang="zh-CN" sz="2800" b="1" noProof="1">
                <a:solidFill>
                  <a:srgbClr val="000099"/>
                </a:solidFill>
                <a:latin typeface="Verdana" panose="020B0604030504040204" pitchFamily="34" charset="0"/>
                <a:ea typeface="宋体" panose="02010600030101010101" pitchFamily="2" charset="-122"/>
                <a:cs typeface="+mn-cs"/>
              </a:rPr>
              <a:t>CH</a:t>
            </a:r>
            <a:r>
              <a:rPr lang="en-US" altLang="zh-CN" sz="2800" b="1" baseline="-25000" noProof="1">
                <a:solidFill>
                  <a:srgbClr val="000099"/>
                </a:solidFill>
                <a:latin typeface="Verdana" panose="020B0604030504040204" pitchFamily="34" charset="0"/>
                <a:ea typeface="宋体" panose="02010600030101010101" pitchFamily="2" charset="-122"/>
                <a:cs typeface="+mn-cs"/>
              </a:rPr>
              <a:t>2</a:t>
            </a:r>
            <a:r>
              <a:rPr lang="en-US" altLang="zh-CN" sz="2800" b="1" noProof="1">
                <a:solidFill>
                  <a:srgbClr val="000099"/>
                </a:solidFill>
                <a:latin typeface="Verdana" panose="020B0604030504040204" pitchFamily="34" charset="0"/>
                <a:ea typeface="宋体" panose="02010600030101010101" pitchFamily="2" charset="-122"/>
                <a:cs typeface="+mn-cs"/>
              </a:rPr>
              <a:t>OH-CHOH-CHOH-CHOH-CHOH-</a:t>
            </a:r>
            <a:r>
              <a:rPr lang="en-US" altLang="zh-CN" sz="2800" b="1" noProof="1">
                <a:solidFill>
                  <a:srgbClr val="FF0066"/>
                </a:solidFill>
                <a:latin typeface="Verdana" panose="020B0604030504040204" pitchFamily="34" charset="0"/>
                <a:ea typeface="宋体" panose="02010600030101010101" pitchFamily="2" charset="-122"/>
                <a:cs typeface="+mn-cs"/>
              </a:rPr>
              <a:t>CHO</a:t>
            </a:r>
            <a:endParaRPr lang="en-US" altLang="zh-CN" sz="2800" b="1" noProof="1">
              <a:solidFill>
                <a:srgbClr val="FF0066"/>
              </a:solidFill>
              <a:latin typeface="Verdana" panose="020B0604030504040204" pitchFamily="34" charset="0"/>
              <a:ea typeface="宋体" panose="02010600030101010101" pitchFamily="2" charset="-122"/>
            </a:endParaRPr>
          </a:p>
        </p:txBody>
      </p:sp>
      <p:sp>
        <p:nvSpPr>
          <p:cNvPr id="109576" name="文本框 109575"/>
          <p:cNvSpPr txBox="1"/>
          <p:nvPr/>
        </p:nvSpPr>
        <p:spPr>
          <a:xfrm>
            <a:off x="4429125" y="5502275"/>
            <a:ext cx="1727200" cy="519113"/>
          </a:xfrm>
          <a:prstGeom prst="rect">
            <a:avLst/>
          </a:prstGeom>
          <a:noFill/>
          <a:ln w="9525">
            <a:noFill/>
          </a:ln>
        </p:spPr>
        <p:txBody>
          <a:bodyPr>
            <a:spAutoFit/>
          </a:bodyPr>
          <a:lstStyle/>
          <a:p>
            <a:pPr>
              <a:spcBef>
                <a:spcPct val="50000"/>
              </a:spcBef>
            </a:pPr>
            <a:r>
              <a:rPr lang="zh-CN" altLang="en-US" sz="2800" b="1" noProof="1">
                <a:solidFill>
                  <a:srgbClr val="FF0066"/>
                </a:solidFill>
                <a:effectLst>
                  <a:outerShdw blurRad="38100" dist="38100" dir="2700000">
                    <a:srgbClr val="000000"/>
                  </a:outerShdw>
                </a:effectLst>
                <a:latin typeface="Verdana" panose="020B0604030504040204" pitchFamily="34" charset="0"/>
                <a:ea typeface="楷体_GB2312" pitchFamily="49" charset="-122"/>
                <a:cs typeface="+mn-cs"/>
              </a:rPr>
              <a:t>多羟基醛</a:t>
            </a:r>
            <a:endParaRPr lang="zh-CN" altLang="en-US" sz="2800" b="1" noProof="1">
              <a:solidFill>
                <a:srgbClr val="FF0066"/>
              </a:solidFill>
              <a:effectLst>
                <a:outerShdw blurRad="38100" dist="38100" dir="2700000">
                  <a:srgbClr val="000000"/>
                </a:outerShdw>
              </a:effectLst>
              <a:latin typeface="Verdana" panose="020B0604030504040204" pitchFamily="34" charset="0"/>
              <a:ea typeface="楷体_GB2312" pitchFamily="49" charset="-122"/>
            </a:endParaRPr>
          </a:p>
        </p:txBody>
      </p:sp>
      <p:sp>
        <p:nvSpPr>
          <p:cNvPr id="109577" name="文本框 109576"/>
          <p:cNvSpPr txBox="1"/>
          <p:nvPr/>
        </p:nvSpPr>
        <p:spPr>
          <a:xfrm>
            <a:off x="34925" y="3203575"/>
            <a:ext cx="9001125" cy="946150"/>
          </a:xfrm>
          <a:prstGeom prst="rect">
            <a:avLst/>
          </a:prstGeom>
          <a:noFill/>
          <a:ln w="9525">
            <a:noFill/>
          </a:ln>
        </p:spPr>
        <p:txBody>
          <a:bodyPr>
            <a:spAutoFit/>
          </a:bodyPr>
          <a:lstStyle/>
          <a:p>
            <a:pPr>
              <a:spcBef>
                <a:spcPct val="50000"/>
              </a:spcBef>
            </a:pPr>
            <a:r>
              <a:rPr lang="zh-CN" altLang="en-US" sz="2800" b="1" noProof="1">
                <a:solidFill>
                  <a:srgbClr val="A50021"/>
                </a:solidFill>
                <a:latin typeface="Verdana" panose="020B0604030504040204" pitchFamily="34" charset="0"/>
                <a:ea typeface="楷体_GB2312" pitchFamily="49" charset="-122"/>
                <a:cs typeface="+mn-cs"/>
              </a:rPr>
              <a:t>银氨溶液的制备：</a:t>
            </a:r>
            <a:r>
              <a:rPr lang="en-US" altLang="zh-CN" sz="2800" b="1" noProof="1">
                <a:solidFill>
                  <a:srgbClr val="A50021"/>
                </a:solidFill>
                <a:latin typeface="Verdana" panose="020B0604030504040204" pitchFamily="34" charset="0"/>
                <a:ea typeface="宋体" panose="02010600030101010101" pitchFamily="2" charset="-122"/>
                <a:cs typeface="+mn-cs"/>
              </a:rPr>
              <a:t>AgNO</a:t>
            </a:r>
            <a:r>
              <a:rPr lang="en-US" altLang="zh-CN" sz="2800" b="1" baseline="-25000" noProof="1">
                <a:solidFill>
                  <a:srgbClr val="A50021"/>
                </a:solidFill>
                <a:latin typeface="Verdana" panose="020B0604030504040204" pitchFamily="34" charset="0"/>
                <a:ea typeface="宋体" panose="02010600030101010101" pitchFamily="2" charset="-122"/>
                <a:cs typeface="+mn-cs"/>
              </a:rPr>
              <a:t>3</a:t>
            </a:r>
            <a:r>
              <a:rPr lang="en-US" altLang="zh-CN" sz="2800" b="1" noProof="1">
                <a:solidFill>
                  <a:srgbClr val="A50021"/>
                </a:solidFill>
                <a:latin typeface="Verdana" panose="020B0604030504040204" pitchFamily="34" charset="0"/>
                <a:ea typeface="宋体" panose="02010600030101010101" pitchFamily="2" charset="-122"/>
                <a:cs typeface="+mn-cs"/>
              </a:rPr>
              <a:t>+2NH</a:t>
            </a:r>
            <a:r>
              <a:rPr lang="en-US" altLang="zh-CN" sz="2800" b="1" baseline="-25000" noProof="1">
                <a:solidFill>
                  <a:srgbClr val="A50021"/>
                </a:solidFill>
                <a:latin typeface="Verdana" panose="020B0604030504040204" pitchFamily="34" charset="0"/>
                <a:ea typeface="宋体" panose="02010600030101010101" pitchFamily="2" charset="-122"/>
                <a:cs typeface="+mn-cs"/>
              </a:rPr>
              <a:t>3</a:t>
            </a:r>
            <a:r>
              <a:rPr lang="en-US" altLang="zh-CN" sz="2800" b="1" noProof="1">
                <a:solidFill>
                  <a:srgbClr val="A50021"/>
                </a:solidFill>
                <a:latin typeface="Verdana" panose="020B0604030504040204" pitchFamily="34" charset="0"/>
                <a:ea typeface="宋体" panose="02010600030101010101" pitchFamily="2" charset="-122"/>
                <a:cs typeface="+mn-cs"/>
              </a:rPr>
              <a:t>·H</a:t>
            </a:r>
            <a:r>
              <a:rPr lang="en-US" altLang="zh-CN" sz="2800" b="1" baseline="-25000" noProof="1">
                <a:solidFill>
                  <a:srgbClr val="A50021"/>
                </a:solidFill>
                <a:latin typeface="Verdana" panose="020B0604030504040204" pitchFamily="34" charset="0"/>
                <a:ea typeface="宋体" panose="02010600030101010101" pitchFamily="2" charset="-122"/>
                <a:cs typeface="+mn-cs"/>
              </a:rPr>
              <a:t>2</a:t>
            </a:r>
            <a:r>
              <a:rPr lang="en-US" altLang="zh-CN" sz="2800" b="1" noProof="1">
                <a:solidFill>
                  <a:srgbClr val="A50021"/>
                </a:solidFill>
                <a:latin typeface="Verdana" panose="020B0604030504040204" pitchFamily="34" charset="0"/>
                <a:ea typeface="宋体" panose="02010600030101010101" pitchFamily="2" charset="-122"/>
                <a:cs typeface="+mn-cs"/>
              </a:rPr>
              <a:t>O=Ag(NH</a:t>
            </a:r>
            <a:r>
              <a:rPr lang="en-US" altLang="zh-CN" sz="2800" b="1" baseline="-25000" noProof="1">
                <a:solidFill>
                  <a:srgbClr val="A50021"/>
                </a:solidFill>
                <a:latin typeface="Verdana" panose="020B0604030504040204" pitchFamily="34" charset="0"/>
                <a:ea typeface="宋体" panose="02010600030101010101" pitchFamily="2" charset="-122"/>
                <a:cs typeface="+mn-cs"/>
              </a:rPr>
              <a:t>3</a:t>
            </a:r>
            <a:r>
              <a:rPr lang="en-US" altLang="zh-CN" sz="2800" b="1" noProof="1">
                <a:solidFill>
                  <a:srgbClr val="A50021"/>
                </a:solidFill>
                <a:latin typeface="Verdana" panose="020B0604030504040204" pitchFamily="34" charset="0"/>
                <a:ea typeface="宋体" panose="02010600030101010101" pitchFamily="2" charset="-122"/>
                <a:cs typeface="+mn-cs"/>
              </a:rPr>
              <a:t>)</a:t>
            </a:r>
            <a:r>
              <a:rPr lang="en-US" altLang="zh-CN" sz="2800" b="1" baseline="-25000" noProof="1">
                <a:solidFill>
                  <a:srgbClr val="A50021"/>
                </a:solidFill>
                <a:latin typeface="Verdana" panose="020B0604030504040204" pitchFamily="34" charset="0"/>
                <a:ea typeface="宋体" panose="02010600030101010101" pitchFamily="2" charset="-122"/>
                <a:cs typeface="+mn-cs"/>
              </a:rPr>
              <a:t>2</a:t>
            </a:r>
            <a:r>
              <a:rPr lang="en-US" altLang="zh-CN" sz="2800" b="1" noProof="1">
                <a:solidFill>
                  <a:srgbClr val="A50021"/>
                </a:solidFill>
                <a:latin typeface="Verdana" panose="020B0604030504040204" pitchFamily="34" charset="0"/>
                <a:ea typeface="宋体" panose="02010600030101010101" pitchFamily="2" charset="-122"/>
                <a:cs typeface="+mn-cs"/>
              </a:rPr>
              <a:t>OH+H</a:t>
            </a:r>
            <a:r>
              <a:rPr lang="en-US" altLang="zh-CN" sz="2800" b="1" baseline="-25000" noProof="1">
                <a:solidFill>
                  <a:srgbClr val="A50021"/>
                </a:solidFill>
                <a:latin typeface="Verdana" panose="020B0604030504040204" pitchFamily="34" charset="0"/>
                <a:ea typeface="宋体" panose="02010600030101010101" pitchFamily="2" charset="-122"/>
                <a:cs typeface="+mn-cs"/>
              </a:rPr>
              <a:t>2</a:t>
            </a:r>
            <a:r>
              <a:rPr lang="en-US" altLang="zh-CN" sz="2800" b="1" noProof="1">
                <a:solidFill>
                  <a:srgbClr val="A50021"/>
                </a:solidFill>
                <a:latin typeface="Verdana" panose="020B0604030504040204" pitchFamily="34" charset="0"/>
                <a:ea typeface="宋体" panose="02010600030101010101" pitchFamily="2" charset="-122"/>
                <a:cs typeface="+mn-cs"/>
              </a:rPr>
              <a:t>O+HNO</a:t>
            </a:r>
            <a:r>
              <a:rPr lang="en-US" altLang="zh-CN" sz="2800" b="1" baseline="-25000" noProof="1">
                <a:solidFill>
                  <a:srgbClr val="A50021"/>
                </a:solidFill>
                <a:latin typeface="Verdana" panose="020B0604030504040204" pitchFamily="34" charset="0"/>
                <a:ea typeface="宋体" panose="02010600030101010101" pitchFamily="2" charset="-122"/>
                <a:cs typeface="+mn-cs"/>
              </a:rPr>
              <a:t>3</a:t>
            </a:r>
            <a:endParaRPr lang="en-US" altLang="zh-CN" sz="2800" b="1" baseline="-25000" noProof="1">
              <a:solidFill>
                <a:srgbClr val="A50021"/>
              </a:solidFill>
              <a:latin typeface="Verdana" panose="020B0604030504040204" pitchFamily="34" charset="0"/>
              <a:ea typeface="宋体" panose="02010600030101010101" pitchFamily="2" charset="-122"/>
            </a:endParaRPr>
          </a:p>
        </p:txBody>
      </p:sp>
      <p:grpSp>
        <p:nvGrpSpPr>
          <p:cNvPr id="109578" name="组合 109577"/>
          <p:cNvGrpSpPr/>
          <p:nvPr/>
        </p:nvGrpSpPr>
        <p:grpSpPr>
          <a:xfrm>
            <a:off x="250825" y="4149725"/>
            <a:ext cx="8642350" cy="1382713"/>
            <a:chOff x="158" y="2523"/>
            <a:chExt cx="5444" cy="871"/>
          </a:xfrm>
        </p:grpSpPr>
        <p:sp>
          <p:nvSpPr>
            <p:cNvPr id="109579" name="文本框 109578"/>
            <p:cNvSpPr txBox="1"/>
            <p:nvPr/>
          </p:nvSpPr>
          <p:spPr>
            <a:xfrm>
              <a:off x="158" y="2523"/>
              <a:ext cx="5444" cy="596"/>
            </a:xfrm>
            <a:prstGeom prst="rect">
              <a:avLst/>
            </a:prstGeom>
            <a:noFill/>
            <a:ln w="9525">
              <a:noFill/>
            </a:ln>
          </p:spPr>
          <p:txBody>
            <a:bodyPr>
              <a:spAutoFit/>
            </a:bodyPr>
            <a:lstStyle/>
            <a:p>
              <a:pPr>
                <a:spcBef>
                  <a:spcPct val="50000"/>
                </a:spcBef>
              </a:pPr>
              <a:r>
                <a:rPr lang="en-US" altLang="zh-CN" sz="2800" b="1" noProof="1">
                  <a:solidFill>
                    <a:srgbClr val="000000"/>
                  </a:solidFill>
                  <a:latin typeface="Verdana" panose="020B0604030504040204" pitchFamily="34" charset="0"/>
                  <a:ea typeface="宋体" panose="02010600030101010101" pitchFamily="2" charset="-122"/>
                  <a:cs typeface="+mn-cs"/>
                </a:rPr>
                <a:t>2Ag(NH</a:t>
              </a:r>
              <a:r>
                <a:rPr lang="en-US" altLang="zh-CN" sz="2800" b="1" baseline="-25000" noProof="1">
                  <a:solidFill>
                    <a:srgbClr val="000000"/>
                  </a:solidFill>
                  <a:latin typeface="Verdana" panose="020B0604030504040204" pitchFamily="34" charset="0"/>
                  <a:ea typeface="宋体" panose="02010600030101010101" pitchFamily="2" charset="-122"/>
                  <a:cs typeface="+mn-cs"/>
                </a:rPr>
                <a:t>3</a:t>
              </a:r>
              <a:r>
                <a:rPr lang="en-US" altLang="zh-CN" sz="2800" b="1" noProof="1">
                  <a:solidFill>
                    <a:srgbClr val="000000"/>
                  </a:solidFill>
                  <a:latin typeface="Verdana" panose="020B0604030504040204" pitchFamily="34" charset="0"/>
                  <a:ea typeface="宋体" panose="02010600030101010101" pitchFamily="2" charset="-122"/>
                  <a:cs typeface="+mn-cs"/>
                </a:rPr>
                <a:t>)</a:t>
              </a:r>
              <a:r>
                <a:rPr lang="en-US" altLang="zh-CN" sz="2800" b="1" baseline="-25000" noProof="1">
                  <a:solidFill>
                    <a:srgbClr val="000000"/>
                  </a:solidFill>
                  <a:latin typeface="Verdana" panose="020B0604030504040204" pitchFamily="34" charset="0"/>
                  <a:ea typeface="宋体" panose="02010600030101010101" pitchFamily="2" charset="-122"/>
                  <a:cs typeface="+mn-cs"/>
                </a:rPr>
                <a:t>2</a:t>
              </a:r>
              <a:r>
                <a:rPr lang="en-US" altLang="zh-CN" sz="2800" b="1" noProof="1">
                  <a:solidFill>
                    <a:srgbClr val="000000"/>
                  </a:solidFill>
                  <a:latin typeface="Verdana" panose="020B0604030504040204" pitchFamily="34" charset="0"/>
                  <a:ea typeface="宋体" panose="02010600030101010101" pitchFamily="2" charset="-122"/>
                  <a:cs typeface="+mn-cs"/>
                </a:rPr>
                <a:t>OH</a:t>
              </a:r>
              <a:r>
                <a:rPr lang="en-US" altLang="zh-CN" sz="2800" b="1" noProof="1">
                  <a:solidFill>
                    <a:srgbClr val="000099"/>
                  </a:solidFill>
                  <a:effectLst>
                    <a:outerShdw blurRad="38100" dist="38100" dir="2700000">
                      <a:srgbClr val="000000"/>
                    </a:outerShdw>
                  </a:effectLst>
                  <a:latin typeface="Verdana" panose="020B0604030504040204" pitchFamily="34" charset="0"/>
                  <a:ea typeface="宋体" panose="02010600030101010101" pitchFamily="2" charset="-122"/>
                  <a:cs typeface="+mn-cs"/>
                </a:rPr>
                <a:t>+CH</a:t>
              </a:r>
              <a:r>
                <a:rPr lang="en-US" altLang="zh-CN" sz="2800" b="1" baseline="-25000" noProof="1">
                  <a:solidFill>
                    <a:srgbClr val="000099"/>
                  </a:solidFill>
                  <a:effectLst>
                    <a:outerShdw blurRad="38100" dist="38100" dir="2700000">
                      <a:srgbClr val="000000"/>
                    </a:outerShdw>
                  </a:effectLst>
                  <a:latin typeface="Verdana" panose="020B0604030504040204" pitchFamily="34" charset="0"/>
                  <a:ea typeface="宋体" panose="02010600030101010101" pitchFamily="2" charset="-122"/>
                  <a:cs typeface="+mn-cs"/>
                </a:rPr>
                <a:t>2</a:t>
              </a:r>
              <a:r>
                <a:rPr lang="en-US" altLang="zh-CN" sz="2800" b="1" noProof="1">
                  <a:solidFill>
                    <a:srgbClr val="000099"/>
                  </a:solidFill>
                  <a:effectLst>
                    <a:outerShdw blurRad="38100" dist="38100" dir="2700000">
                      <a:srgbClr val="000000"/>
                    </a:outerShdw>
                  </a:effectLst>
                  <a:latin typeface="Verdana" panose="020B0604030504040204" pitchFamily="34" charset="0"/>
                  <a:ea typeface="宋体" panose="02010600030101010101" pitchFamily="2" charset="-122"/>
                  <a:cs typeface="+mn-cs"/>
                </a:rPr>
                <a:t>OH(CHOH)</a:t>
              </a:r>
              <a:r>
                <a:rPr lang="en-US" altLang="zh-CN" sz="2800" b="1" baseline="-25000" noProof="1">
                  <a:solidFill>
                    <a:srgbClr val="000099"/>
                  </a:solidFill>
                  <a:effectLst>
                    <a:outerShdw blurRad="38100" dist="38100" dir="2700000">
                      <a:srgbClr val="000000"/>
                    </a:outerShdw>
                  </a:effectLst>
                  <a:latin typeface="Verdana" panose="020B0604030504040204" pitchFamily="34" charset="0"/>
                  <a:ea typeface="宋体" panose="02010600030101010101" pitchFamily="2" charset="-122"/>
                  <a:cs typeface="+mn-cs"/>
                </a:rPr>
                <a:t>4</a:t>
              </a:r>
              <a:r>
                <a:rPr lang="en-US" altLang="zh-CN" sz="2800" b="1" noProof="1">
                  <a:solidFill>
                    <a:srgbClr val="000099"/>
                  </a:solidFill>
                  <a:effectLst>
                    <a:outerShdw blurRad="38100" dist="38100" dir="2700000">
                      <a:srgbClr val="000000"/>
                    </a:outerShdw>
                  </a:effectLst>
                  <a:latin typeface="Verdana" panose="020B0604030504040204" pitchFamily="34" charset="0"/>
                  <a:ea typeface="宋体" panose="02010600030101010101" pitchFamily="2" charset="-122"/>
                  <a:cs typeface="+mn-cs"/>
                </a:rPr>
                <a:t>CHO→</a:t>
              </a:r>
              <a:r>
                <a:rPr lang="en-US" altLang="zh-CN" sz="2800" b="1" noProof="1">
                  <a:solidFill>
                    <a:srgbClr val="000000"/>
                  </a:solidFill>
                  <a:effectLst>
                    <a:outerShdw blurRad="38100" dist="38100" dir="2700000">
                      <a:srgbClr val="FFFFFF"/>
                    </a:outerShdw>
                  </a:effectLst>
                  <a:latin typeface="Verdana" panose="020B0604030504040204" pitchFamily="34" charset="0"/>
                  <a:ea typeface="宋体" panose="02010600030101010101" pitchFamily="2" charset="-122"/>
                  <a:cs typeface="+mn-cs"/>
                </a:rPr>
                <a:t>2Ag↓</a:t>
              </a:r>
              <a:r>
                <a:rPr lang="en-US" altLang="zh-CN" sz="2800" b="1" noProof="1">
                  <a:solidFill>
                    <a:srgbClr val="000099"/>
                  </a:solidFill>
                  <a:latin typeface="Verdana" panose="020B0604030504040204" pitchFamily="34" charset="0"/>
                  <a:ea typeface="宋体" panose="02010600030101010101" pitchFamily="2" charset="-122"/>
                  <a:cs typeface="+mn-cs"/>
                </a:rPr>
                <a:t>+CH</a:t>
              </a:r>
              <a:r>
                <a:rPr lang="en-US" altLang="zh-CN" sz="2800" b="1" baseline="-25000" noProof="1">
                  <a:solidFill>
                    <a:srgbClr val="000099"/>
                  </a:solidFill>
                  <a:latin typeface="Verdana" panose="020B0604030504040204" pitchFamily="34" charset="0"/>
                  <a:ea typeface="宋体" panose="02010600030101010101" pitchFamily="2" charset="-122"/>
                  <a:cs typeface="+mn-cs"/>
                </a:rPr>
                <a:t>2</a:t>
              </a:r>
              <a:r>
                <a:rPr lang="en-US" altLang="zh-CN" sz="2800" b="1" noProof="1">
                  <a:solidFill>
                    <a:srgbClr val="000099"/>
                  </a:solidFill>
                  <a:latin typeface="Verdana" panose="020B0604030504040204" pitchFamily="34" charset="0"/>
                  <a:ea typeface="宋体" panose="02010600030101010101" pitchFamily="2" charset="-122"/>
                  <a:cs typeface="+mn-cs"/>
                </a:rPr>
                <a:t>OH(CHOH)</a:t>
              </a:r>
              <a:r>
                <a:rPr lang="en-US" altLang="zh-CN" sz="2800" b="1" baseline="-25000" noProof="1">
                  <a:solidFill>
                    <a:srgbClr val="000099"/>
                  </a:solidFill>
                  <a:latin typeface="Verdana" panose="020B0604030504040204" pitchFamily="34" charset="0"/>
                  <a:ea typeface="宋体" panose="02010600030101010101" pitchFamily="2" charset="-122"/>
                  <a:cs typeface="+mn-cs"/>
                </a:rPr>
                <a:t>4</a:t>
              </a:r>
              <a:r>
                <a:rPr lang="en-US" altLang="zh-CN" sz="2800" b="1" noProof="1">
                  <a:solidFill>
                    <a:srgbClr val="000099"/>
                  </a:solidFill>
                  <a:latin typeface="Verdana" panose="020B0604030504040204" pitchFamily="34" charset="0"/>
                  <a:ea typeface="宋体" panose="02010600030101010101" pitchFamily="2" charset="-122"/>
                  <a:cs typeface="+mn-cs"/>
                </a:rPr>
                <a:t>COONH</a:t>
              </a:r>
              <a:r>
                <a:rPr lang="en-US" altLang="zh-CN" sz="2800" b="1" baseline="-25000" noProof="1">
                  <a:solidFill>
                    <a:srgbClr val="000099"/>
                  </a:solidFill>
                  <a:latin typeface="Verdana" panose="020B0604030504040204" pitchFamily="34" charset="0"/>
                  <a:ea typeface="宋体" panose="02010600030101010101" pitchFamily="2" charset="-122"/>
                  <a:cs typeface="+mn-cs"/>
                </a:rPr>
                <a:t>4</a:t>
              </a:r>
              <a:r>
                <a:rPr lang="en-US" altLang="zh-CN" sz="2800" b="1" noProof="1">
                  <a:solidFill>
                    <a:srgbClr val="000099"/>
                  </a:solidFill>
                  <a:latin typeface="Verdana" panose="020B0604030504040204" pitchFamily="34" charset="0"/>
                  <a:ea typeface="宋体" panose="02010600030101010101" pitchFamily="2" charset="-122"/>
                  <a:cs typeface="+mn-cs"/>
                </a:rPr>
                <a:t>+3NH</a:t>
              </a:r>
              <a:r>
                <a:rPr lang="en-US" altLang="zh-CN" sz="2800" b="1" baseline="-25000" noProof="1">
                  <a:solidFill>
                    <a:srgbClr val="000099"/>
                  </a:solidFill>
                  <a:latin typeface="Verdana" panose="020B0604030504040204" pitchFamily="34" charset="0"/>
                  <a:ea typeface="宋体" panose="02010600030101010101" pitchFamily="2" charset="-122"/>
                  <a:cs typeface="+mn-cs"/>
                </a:rPr>
                <a:t>3</a:t>
              </a:r>
              <a:r>
                <a:rPr lang="en-US" altLang="zh-CN" sz="2800" b="1" noProof="1">
                  <a:solidFill>
                    <a:srgbClr val="000099"/>
                  </a:solidFill>
                  <a:latin typeface="Verdana" panose="020B0604030504040204" pitchFamily="34" charset="0"/>
                  <a:ea typeface="宋体" panose="02010600030101010101" pitchFamily="2" charset="-122"/>
                  <a:cs typeface="+mn-cs"/>
                </a:rPr>
                <a:t>↑+H</a:t>
              </a:r>
              <a:r>
                <a:rPr lang="en-US" altLang="zh-CN" sz="2800" b="1" baseline="-25000" noProof="1">
                  <a:solidFill>
                    <a:srgbClr val="000099"/>
                  </a:solidFill>
                  <a:latin typeface="Verdana" panose="020B0604030504040204" pitchFamily="34" charset="0"/>
                  <a:ea typeface="宋体" panose="02010600030101010101" pitchFamily="2" charset="-122"/>
                  <a:cs typeface="+mn-cs"/>
                </a:rPr>
                <a:t>2</a:t>
              </a:r>
              <a:r>
                <a:rPr lang="en-US" altLang="zh-CN" sz="2800" b="1" noProof="1">
                  <a:solidFill>
                    <a:srgbClr val="000099"/>
                  </a:solidFill>
                  <a:latin typeface="Verdana" panose="020B0604030504040204" pitchFamily="34" charset="0"/>
                  <a:ea typeface="宋体" panose="02010600030101010101" pitchFamily="2" charset="-122"/>
                  <a:cs typeface="+mn-cs"/>
                </a:rPr>
                <a:t>O</a:t>
              </a:r>
              <a:endParaRPr lang="en-US" altLang="zh-CN" sz="2800" b="1" noProof="1">
                <a:solidFill>
                  <a:srgbClr val="000099"/>
                </a:solidFill>
                <a:latin typeface="Verdana" panose="020B0604030504040204" pitchFamily="34" charset="0"/>
                <a:ea typeface="宋体" panose="02010600030101010101" pitchFamily="2" charset="-122"/>
              </a:endParaRPr>
            </a:p>
          </p:txBody>
        </p:sp>
        <p:sp>
          <p:nvSpPr>
            <p:cNvPr id="109580" name="文本框 109579"/>
            <p:cNvSpPr txBox="1"/>
            <p:nvPr/>
          </p:nvSpPr>
          <p:spPr>
            <a:xfrm>
              <a:off x="1156" y="3067"/>
              <a:ext cx="1406" cy="327"/>
            </a:xfrm>
            <a:prstGeom prst="rect">
              <a:avLst/>
            </a:prstGeom>
            <a:noFill/>
            <a:ln w="9525">
              <a:noFill/>
            </a:ln>
          </p:spPr>
          <p:txBody>
            <a:bodyPr>
              <a:spAutoFit/>
            </a:bodyPr>
            <a:lstStyle/>
            <a:p>
              <a:pPr>
                <a:spcBef>
                  <a:spcPct val="50000"/>
                </a:spcBef>
              </a:pPr>
              <a:r>
                <a:rPr lang="zh-CN" altLang="en-US" sz="2800" b="1" noProof="1">
                  <a:solidFill>
                    <a:srgbClr val="000099"/>
                  </a:solidFill>
                  <a:effectLst>
                    <a:outerShdw blurRad="38100" dist="38100" dir="2700000">
                      <a:srgbClr val="000000"/>
                    </a:outerShdw>
                  </a:effectLst>
                  <a:latin typeface="Verdana" panose="020B0604030504040204" pitchFamily="34" charset="0"/>
                  <a:ea typeface="楷体_GB2312" pitchFamily="49" charset="-122"/>
                  <a:cs typeface="+mn-cs"/>
                </a:rPr>
                <a:t>葡萄糖酸铵</a:t>
              </a:r>
              <a:endParaRPr lang="zh-CN" altLang="en-US" sz="2800" b="1" noProof="1">
                <a:solidFill>
                  <a:srgbClr val="000099"/>
                </a:solidFill>
                <a:effectLst>
                  <a:outerShdw blurRad="38100" dist="38100" dir="2700000">
                    <a:srgbClr val="000000"/>
                  </a:outerShdw>
                </a:effectLst>
                <a:latin typeface="Verdana" panose="020B0604030504040204" pitchFamily="34" charset="0"/>
                <a:ea typeface="楷体_GB2312" pitchFamily="49" charset="-122"/>
              </a:endParaRPr>
            </a:p>
          </p:txBody>
        </p:sp>
      </p:grpSp>
      <p:sp>
        <p:nvSpPr>
          <p:cNvPr id="109581" name="文本框 109580"/>
          <p:cNvSpPr txBox="1"/>
          <p:nvPr/>
        </p:nvSpPr>
        <p:spPr>
          <a:xfrm>
            <a:off x="611188" y="1484313"/>
            <a:ext cx="8208963" cy="519113"/>
          </a:xfrm>
          <a:prstGeom prst="rect">
            <a:avLst/>
          </a:prstGeom>
          <a:noFill/>
          <a:ln w="9525">
            <a:noFill/>
          </a:ln>
        </p:spPr>
        <p:txBody>
          <a:bodyPr>
            <a:spAutoFit/>
          </a:bodyPr>
          <a:lstStyle/>
          <a:p>
            <a:pPr>
              <a:spcBef>
                <a:spcPct val="50000"/>
              </a:spcBef>
            </a:pPr>
            <a:r>
              <a:rPr lang="zh-CN" altLang="en-US" sz="2800" b="1" noProof="1">
                <a:solidFill>
                  <a:srgbClr val="000099"/>
                </a:solidFill>
                <a:latin typeface="Verdana" panose="020B0604030504040204" pitchFamily="34" charset="0"/>
                <a:ea typeface="楷体_GB2312" pitchFamily="49" charset="-122"/>
                <a:cs typeface="+mn-cs"/>
              </a:rPr>
              <a:t>自然界中哪些物质富含葡萄糖？怎样用实验证明？</a:t>
            </a:r>
            <a:endParaRPr lang="zh-CN" altLang="en-US" sz="2800" b="1" noProof="1">
              <a:solidFill>
                <a:srgbClr val="000099"/>
              </a:solidFill>
              <a:latin typeface="Verdana" panose="020B0604030504040204" pitchFamily="34" charset="0"/>
              <a:ea typeface="楷体_GB2312" pitchFamily="49" charset="-122"/>
            </a:endParaRPr>
          </a:p>
        </p:txBody>
      </p:sp>
      <p:sp>
        <p:nvSpPr>
          <p:cNvPr id="39949" name="灯片编号占位符 1"/>
          <p:cNvSpPr>
            <a:spLocks noGrp="1"/>
          </p:cNvSpPr>
          <p:nvPr>
            <p:ph type="sldNum" sz="quarter" idx="11"/>
          </p:nvPr>
        </p:nvSpPr>
        <p:spPr>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400" dirty="0"/>
              <a:pPr lvl="0" indent="0" algn="r"/>
              <a:t>39</a:t>
            </a:fld>
            <a:endParaRPr lang="zh-CN" alt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9571"/>
                                        </p:tgtEl>
                                        <p:attrNameLst>
                                          <p:attrName>style.visibility</p:attrName>
                                        </p:attrNameLst>
                                      </p:cBhvr>
                                      <p:to>
                                        <p:strVal val="visible"/>
                                      </p:to>
                                    </p:set>
                                    <p:animEffect transition="in" filter="wipe(left)">
                                      <p:cBhvr>
                                        <p:cTn id="7" dur="500"/>
                                        <p:tgtEl>
                                          <p:spTgt spid="10957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109572"/>
                                        </p:tgtEl>
                                        <p:attrNameLst>
                                          <p:attrName>style.visibility</p:attrName>
                                        </p:attrNameLst>
                                      </p:cBhvr>
                                      <p:to>
                                        <p:strVal val="visible"/>
                                      </p:to>
                                    </p:set>
                                    <p:animEffect transition="in" filter="blinds(vertical)">
                                      <p:cBhvr>
                                        <p:cTn id="12" dur="500"/>
                                        <p:tgtEl>
                                          <p:spTgt spid="10957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9581"/>
                                        </p:tgtEl>
                                        <p:attrNameLst>
                                          <p:attrName>style.visibility</p:attrName>
                                        </p:attrNameLst>
                                      </p:cBhvr>
                                      <p:to>
                                        <p:strVal val="visible"/>
                                      </p:to>
                                    </p:set>
                                    <p:animEffect transition="in" filter="wipe(left)">
                                      <p:cBhvr>
                                        <p:cTn id="17" dur="500"/>
                                        <p:tgtEl>
                                          <p:spTgt spid="109581"/>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4" fill="hold" nodeType="clickEffect">
                                  <p:stCondLst>
                                    <p:cond delay="0"/>
                                  </p:stCondLst>
                                  <p:childTnLst>
                                    <p:set>
                                      <p:cBhvr>
                                        <p:cTn id="21" dur="1" fill="hold">
                                          <p:stCondLst>
                                            <p:cond delay="0"/>
                                          </p:stCondLst>
                                        </p:cTn>
                                        <p:tgtEl>
                                          <p:spTgt spid="109570"/>
                                        </p:tgtEl>
                                        <p:attrNameLst>
                                          <p:attrName>style.visibility</p:attrName>
                                        </p:attrNameLst>
                                      </p:cBhvr>
                                      <p:to>
                                        <p:strVal val="visible"/>
                                      </p:to>
                                    </p:set>
                                    <p:animEffect transition="in" filter="wheel(4)">
                                      <p:cBhvr>
                                        <p:cTn id="22" dur="2000"/>
                                        <p:tgtEl>
                                          <p:spTgt spid="109570"/>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xit" presetSubtype="16" fill="hold" nodeType="clickEffect">
                                  <p:stCondLst>
                                    <p:cond delay="0"/>
                                  </p:stCondLst>
                                  <p:childTnLst>
                                    <p:animEffect transition="out" filter="circle(in)">
                                      <p:cBhvr>
                                        <p:cTn id="26" dur="2000"/>
                                        <p:tgtEl>
                                          <p:spTgt spid="109570"/>
                                        </p:tgtEl>
                                      </p:cBhvr>
                                    </p:animEffect>
                                    <p:set>
                                      <p:cBhvr>
                                        <p:cTn id="27" dur="1" fill="hold">
                                          <p:stCondLst>
                                            <p:cond delay="1999"/>
                                          </p:stCondLst>
                                        </p:cTn>
                                        <p:tgtEl>
                                          <p:spTgt spid="109570"/>
                                        </p:tgtEl>
                                        <p:attrNameLst>
                                          <p:attrName>style.visibility</p:attrName>
                                        </p:attrNameLst>
                                      </p:cBhvr>
                                      <p:to>
                                        <p:strVal val="hidden"/>
                                      </p:to>
                                    </p:set>
                                  </p:childTnLst>
                                </p:cTn>
                              </p:par>
                            </p:childTnLst>
                          </p:cTn>
                        </p:par>
                        <p:par>
                          <p:cTn id="28" fill="hold">
                            <p:stCondLst>
                              <p:cond delay="2000"/>
                            </p:stCondLst>
                            <p:childTnLst>
                              <p:par>
                                <p:cTn id="29" presetID="22" presetClass="entr" presetSubtype="8" fill="hold" grpId="0" nodeType="afterEffect">
                                  <p:stCondLst>
                                    <p:cond delay="0"/>
                                  </p:stCondLst>
                                  <p:childTnLst>
                                    <p:set>
                                      <p:cBhvr>
                                        <p:cTn id="30" dur="1" fill="hold">
                                          <p:stCondLst>
                                            <p:cond delay="0"/>
                                          </p:stCondLst>
                                        </p:cTn>
                                        <p:tgtEl>
                                          <p:spTgt spid="109573"/>
                                        </p:tgtEl>
                                        <p:attrNameLst>
                                          <p:attrName>style.visibility</p:attrName>
                                        </p:attrNameLst>
                                      </p:cBhvr>
                                      <p:to>
                                        <p:strVal val="visible"/>
                                      </p:to>
                                    </p:set>
                                    <p:animEffect transition="in" filter="wipe(left)">
                                      <p:cBhvr>
                                        <p:cTn id="31" dur="500"/>
                                        <p:tgtEl>
                                          <p:spTgt spid="109573"/>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5" fill="hold" grpId="0" nodeType="clickEffect">
                                  <p:stCondLst>
                                    <p:cond delay="0"/>
                                  </p:stCondLst>
                                  <p:childTnLst>
                                    <p:set>
                                      <p:cBhvr>
                                        <p:cTn id="35" dur="1" fill="hold">
                                          <p:stCondLst>
                                            <p:cond delay="0"/>
                                          </p:stCondLst>
                                        </p:cTn>
                                        <p:tgtEl>
                                          <p:spTgt spid="109574"/>
                                        </p:tgtEl>
                                        <p:attrNameLst>
                                          <p:attrName>style.visibility</p:attrName>
                                        </p:attrNameLst>
                                      </p:cBhvr>
                                      <p:to>
                                        <p:strVal val="visible"/>
                                      </p:to>
                                    </p:set>
                                    <p:animEffect transition="in" filter="blinds(vertical)">
                                      <p:cBhvr>
                                        <p:cTn id="36" dur="500"/>
                                        <p:tgtEl>
                                          <p:spTgt spid="109574"/>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09577"/>
                                        </p:tgtEl>
                                        <p:attrNameLst>
                                          <p:attrName>style.visibility</p:attrName>
                                        </p:attrNameLst>
                                      </p:cBhvr>
                                      <p:to>
                                        <p:strVal val="visible"/>
                                      </p:to>
                                    </p:set>
                                    <p:animEffect transition="in" filter="wipe(left)">
                                      <p:cBhvr>
                                        <p:cTn id="41" dur="500"/>
                                        <p:tgtEl>
                                          <p:spTgt spid="109577"/>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109578"/>
                                        </p:tgtEl>
                                        <p:attrNameLst>
                                          <p:attrName>style.visibility</p:attrName>
                                        </p:attrNameLst>
                                      </p:cBhvr>
                                      <p:to>
                                        <p:strVal val="visible"/>
                                      </p:to>
                                    </p:set>
                                    <p:animEffect transition="in" filter="wipe(left)">
                                      <p:cBhvr>
                                        <p:cTn id="46" dur="500"/>
                                        <p:tgtEl>
                                          <p:spTgt spid="109578"/>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09575"/>
                                        </p:tgtEl>
                                        <p:attrNameLst>
                                          <p:attrName>style.visibility</p:attrName>
                                        </p:attrNameLst>
                                      </p:cBhvr>
                                      <p:to>
                                        <p:strVal val="visible"/>
                                      </p:to>
                                    </p:set>
                                    <p:animEffect transition="in" filter="wipe(left)">
                                      <p:cBhvr>
                                        <p:cTn id="51" dur="500"/>
                                        <p:tgtEl>
                                          <p:spTgt spid="109575"/>
                                        </p:tgtEl>
                                      </p:cBhvr>
                                    </p:animEffect>
                                  </p:childTnLst>
                                </p:cTn>
                              </p:par>
                            </p:childTnLst>
                          </p:cTn>
                        </p:par>
                      </p:childTnLst>
                    </p:cTn>
                  </p:par>
                  <p:par>
                    <p:cTn id="52" fill="hold">
                      <p:stCondLst>
                        <p:cond delay="indefinite"/>
                      </p:stCondLst>
                      <p:childTnLst>
                        <p:par>
                          <p:cTn id="53" fill="hold">
                            <p:stCondLst>
                              <p:cond delay="0"/>
                            </p:stCondLst>
                            <p:childTnLst>
                              <p:par>
                                <p:cTn id="54" presetID="12" presetClass="entr" presetSubtype="8" fill="hold" grpId="0" nodeType="clickEffect">
                                  <p:stCondLst>
                                    <p:cond delay="0"/>
                                  </p:stCondLst>
                                  <p:childTnLst>
                                    <p:set>
                                      <p:cBhvr>
                                        <p:cTn id="55" dur="1" fill="hold">
                                          <p:stCondLst>
                                            <p:cond delay="0"/>
                                          </p:stCondLst>
                                        </p:cTn>
                                        <p:tgtEl>
                                          <p:spTgt spid="109576"/>
                                        </p:tgtEl>
                                        <p:attrNameLst>
                                          <p:attrName>style.visibility</p:attrName>
                                        </p:attrNameLst>
                                      </p:cBhvr>
                                      <p:to>
                                        <p:strVal val="visible"/>
                                      </p:to>
                                    </p:set>
                                    <p:animEffect transition="in" filter="slide(fromLeft)">
                                      <p:cBhvr>
                                        <p:cTn id="56" dur="500"/>
                                        <p:tgtEl>
                                          <p:spTgt spid="1095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1" grpId="0" animBg="1"/>
      <p:bldP spid="109572" grpId="0"/>
      <p:bldP spid="109573" grpId="0"/>
      <p:bldP spid="109574" grpId="0"/>
      <p:bldP spid="109575" grpId="0"/>
      <p:bldP spid="109576" grpId="0"/>
      <p:bldP spid="109577" grpId="0"/>
      <p:bldP spid="109581"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文本框 110593"/>
          <p:cNvSpPr txBox="1"/>
          <p:nvPr/>
        </p:nvSpPr>
        <p:spPr>
          <a:xfrm>
            <a:off x="1763713" y="55563"/>
            <a:ext cx="5761038" cy="584775"/>
          </a:xfrm>
          <a:prstGeom prst="rect">
            <a:avLst/>
          </a:prstGeom>
          <a:gradFill rotWithShape="1">
            <a:gsLst>
              <a:gs pos="0">
                <a:srgbClr val="FF99FF">
                  <a:gamma/>
                  <a:tint val="0"/>
                  <a:invGamma/>
                </a:srgbClr>
              </a:gs>
              <a:gs pos="100000">
                <a:srgbClr val="FF99FF"/>
              </a:gs>
            </a:gsLst>
            <a:path path="shape">
              <a:fillToRect l="50000" t="50000" r="50000" b="50000"/>
            </a:path>
            <a:tileRect/>
          </a:gradFill>
          <a:ln w="57150" cap="flat" cmpd="thinThick">
            <a:solidFill>
              <a:srgbClr val="FF0066"/>
            </a:solidFill>
            <a:prstDash val="solid"/>
            <a:miter/>
            <a:headEnd type="none" w="med" len="med"/>
            <a:tailEnd type="none" w="med" len="med"/>
          </a:ln>
        </p:spPr>
        <p:txBody>
          <a:bodyPr>
            <a:spAutoFit/>
          </a:bodyPr>
          <a:lstStyle/>
          <a:p>
            <a:pPr>
              <a:spcBef>
                <a:spcPct val="50000"/>
              </a:spcBef>
            </a:pPr>
            <a:r>
              <a:rPr lang="zh-CN" altLang="en-US" sz="3200" b="1" noProof="1">
                <a:solidFill>
                  <a:srgbClr val="000099"/>
                </a:solidFill>
                <a:latin typeface="Verdana" panose="020B0604030504040204" pitchFamily="34" charset="0"/>
                <a:ea typeface="楷体_GB2312" pitchFamily="49" charset="-122"/>
                <a:cs typeface="+mn-cs"/>
              </a:rPr>
              <a:t>二、葡萄糖是怎样供给能量的</a:t>
            </a:r>
            <a:endParaRPr lang="zh-CN" altLang="en-US" sz="3200" b="1" noProof="1">
              <a:solidFill>
                <a:srgbClr val="000099"/>
              </a:solidFill>
              <a:latin typeface="Verdana" panose="020B0604030504040204" pitchFamily="34" charset="0"/>
              <a:ea typeface="楷体_GB2312" pitchFamily="49" charset="-122"/>
            </a:endParaRPr>
          </a:p>
        </p:txBody>
      </p:sp>
      <p:sp>
        <p:nvSpPr>
          <p:cNvPr id="110595" name="文本框 110594"/>
          <p:cNvSpPr txBox="1"/>
          <p:nvPr/>
        </p:nvSpPr>
        <p:spPr>
          <a:xfrm>
            <a:off x="395288" y="836613"/>
            <a:ext cx="6769100" cy="519113"/>
          </a:xfrm>
          <a:prstGeom prst="rect">
            <a:avLst/>
          </a:prstGeom>
          <a:noFill/>
          <a:ln w="9525">
            <a:noFill/>
          </a:ln>
        </p:spPr>
        <p:txBody>
          <a:bodyPr>
            <a:spAutoFit/>
          </a:bodyPr>
          <a:lstStyle/>
          <a:p>
            <a:pPr>
              <a:spcBef>
                <a:spcPct val="50000"/>
              </a:spcBef>
            </a:pPr>
            <a:r>
              <a:rPr lang="en-US" altLang="zh-CN" sz="2800" b="1" noProof="1">
                <a:solidFill>
                  <a:srgbClr val="FF0066"/>
                </a:solidFill>
                <a:effectLst>
                  <a:outerShdw blurRad="38100" dist="38100" dir="2700000">
                    <a:srgbClr val="000000"/>
                  </a:outerShdw>
                </a:effectLst>
                <a:latin typeface="楷体_GB2312" pitchFamily="49" charset="-122"/>
                <a:ea typeface="楷体_GB2312" pitchFamily="49" charset="-122"/>
                <a:cs typeface="+mn-cs"/>
              </a:rPr>
              <a:t>2</a:t>
            </a:r>
            <a:r>
              <a:rPr lang="zh-CN" altLang="en-US" sz="2800" b="1" noProof="1">
                <a:solidFill>
                  <a:srgbClr val="FF0066"/>
                </a:solidFill>
                <a:effectLst>
                  <a:outerShdw blurRad="38100" dist="38100" dir="2700000">
                    <a:srgbClr val="000000"/>
                  </a:outerShdw>
                </a:effectLst>
                <a:latin typeface="楷体_GB2312" pitchFamily="49" charset="-122"/>
                <a:ea typeface="楷体_GB2312" pitchFamily="49" charset="-122"/>
                <a:cs typeface="+mn-cs"/>
              </a:rPr>
              <a:t>、葡萄糖是人体内最重要的供能物质</a:t>
            </a:r>
            <a:endParaRPr lang="zh-CN" altLang="en-US" sz="2800" b="1" noProof="1">
              <a:solidFill>
                <a:srgbClr val="FF0066"/>
              </a:solidFill>
              <a:effectLst>
                <a:outerShdw blurRad="38100" dist="38100" dir="2700000">
                  <a:srgbClr val="000000"/>
                </a:outerShdw>
              </a:effectLst>
              <a:latin typeface="楷体_GB2312" pitchFamily="49" charset="-122"/>
              <a:ea typeface="楷体_GB2312" pitchFamily="49" charset="-122"/>
            </a:endParaRPr>
          </a:p>
        </p:txBody>
      </p:sp>
      <p:sp>
        <p:nvSpPr>
          <p:cNvPr id="110596" name="文本框 110595"/>
          <p:cNvSpPr txBox="1"/>
          <p:nvPr/>
        </p:nvSpPr>
        <p:spPr>
          <a:xfrm>
            <a:off x="611188" y="1412875"/>
            <a:ext cx="8281988" cy="519113"/>
          </a:xfrm>
          <a:prstGeom prst="rect">
            <a:avLst/>
          </a:prstGeom>
          <a:noFill/>
          <a:ln w="9525">
            <a:noFill/>
          </a:ln>
        </p:spPr>
        <p:txBody>
          <a:bodyPr>
            <a:spAutoFit/>
          </a:bodyPr>
          <a:lstStyle/>
          <a:p>
            <a:pPr>
              <a:spcBef>
                <a:spcPct val="50000"/>
              </a:spcBef>
            </a:pPr>
            <a:r>
              <a:rPr lang="en-US" altLang="zh-CN" sz="2800" b="1" noProof="1">
                <a:solidFill>
                  <a:srgbClr val="000099"/>
                </a:solidFill>
                <a:latin typeface="楷体_GB2312" pitchFamily="49" charset="-122"/>
                <a:ea typeface="楷体_GB2312" pitchFamily="49" charset="-122"/>
                <a:cs typeface="+mn-cs"/>
              </a:rPr>
              <a:t>1g</a:t>
            </a:r>
            <a:r>
              <a:rPr lang="zh-CN" altLang="en-US" sz="2800" b="1" noProof="1">
                <a:solidFill>
                  <a:srgbClr val="000099"/>
                </a:solidFill>
                <a:latin typeface="楷体_GB2312" pitchFamily="49" charset="-122"/>
                <a:ea typeface="楷体_GB2312" pitchFamily="49" charset="-122"/>
                <a:cs typeface="+mn-cs"/>
              </a:rPr>
              <a:t>葡萄糖完全氧化，放出约</a:t>
            </a:r>
            <a:r>
              <a:rPr lang="en-US" altLang="zh-CN" sz="2800" b="1" noProof="1">
                <a:solidFill>
                  <a:srgbClr val="000099"/>
                </a:solidFill>
                <a:latin typeface="楷体_GB2312" pitchFamily="49" charset="-122"/>
                <a:ea typeface="楷体_GB2312" pitchFamily="49" charset="-122"/>
                <a:cs typeface="+mn-cs"/>
              </a:rPr>
              <a:t>15.6kJ</a:t>
            </a:r>
            <a:r>
              <a:rPr lang="zh-CN" altLang="en-US" sz="2800" b="1" noProof="1">
                <a:solidFill>
                  <a:srgbClr val="000099"/>
                </a:solidFill>
                <a:latin typeface="楷体_GB2312" pitchFamily="49" charset="-122"/>
                <a:ea typeface="楷体_GB2312" pitchFamily="49" charset="-122"/>
                <a:cs typeface="+mn-cs"/>
              </a:rPr>
              <a:t>的能量。</a:t>
            </a:r>
            <a:endParaRPr lang="zh-CN" altLang="en-US" noProof="1">
              <a:latin typeface="Arial" panose="020B0604020202020204" pitchFamily="34" charset="0"/>
              <a:ea typeface="宋体" panose="02010600030101010101" pitchFamily="2" charset="-122"/>
            </a:endParaRPr>
          </a:p>
        </p:txBody>
      </p:sp>
      <p:sp>
        <p:nvSpPr>
          <p:cNvPr id="110597" name="文本框 110596"/>
          <p:cNvSpPr txBox="1"/>
          <p:nvPr/>
        </p:nvSpPr>
        <p:spPr>
          <a:xfrm>
            <a:off x="611188" y="1989138"/>
            <a:ext cx="8281988" cy="519113"/>
          </a:xfrm>
          <a:prstGeom prst="rect">
            <a:avLst/>
          </a:prstGeom>
          <a:noFill/>
          <a:ln w="9525">
            <a:noFill/>
          </a:ln>
        </p:spPr>
        <p:txBody>
          <a:bodyPr>
            <a:spAutoFit/>
          </a:bodyPr>
          <a:lstStyle/>
          <a:p>
            <a:pPr>
              <a:spcBef>
                <a:spcPct val="50000"/>
              </a:spcBef>
            </a:pPr>
            <a:r>
              <a:rPr lang="en-US" altLang="zh-CN" sz="2800" b="1" noProof="1">
                <a:solidFill>
                  <a:srgbClr val="000099"/>
                </a:solidFill>
                <a:latin typeface="Verdana" panose="020B0604030504040204" pitchFamily="34" charset="0"/>
                <a:ea typeface="宋体" panose="02010600030101010101" pitchFamily="2" charset="-122"/>
                <a:cs typeface="+mn-cs"/>
              </a:rPr>
              <a:t>C</a:t>
            </a:r>
            <a:r>
              <a:rPr lang="en-US" altLang="zh-CN" sz="2800" b="1" baseline="-25000" noProof="1">
                <a:solidFill>
                  <a:srgbClr val="000099"/>
                </a:solidFill>
                <a:latin typeface="Verdana" panose="020B0604030504040204" pitchFamily="34" charset="0"/>
                <a:ea typeface="宋体" panose="02010600030101010101" pitchFamily="2" charset="-122"/>
                <a:cs typeface="+mn-cs"/>
              </a:rPr>
              <a:t>6</a:t>
            </a:r>
            <a:r>
              <a:rPr lang="en-US" altLang="zh-CN" sz="2800" b="1" noProof="1">
                <a:solidFill>
                  <a:srgbClr val="000099"/>
                </a:solidFill>
                <a:latin typeface="Verdana" panose="020B0604030504040204" pitchFamily="34" charset="0"/>
                <a:ea typeface="宋体" panose="02010600030101010101" pitchFamily="2" charset="-122"/>
                <a:cs typeface="+mn-cs"/>
              </a:rPr>
              <a:t>H</a:t>
            </a:r>
            <a:r>
              <a:rPr lang="en-US" altLang="zh-CN" sz="2800" b="1" baseline="-25000" noProof="1">
                <a:solidFill>
                  <a:srgbClr val="000099"/>
                </a:solidFill>
                <a:latin typeface="Verdana" panose="020B0604030504040204" pitchFamily="34" charset="0"/>
                <a:ea typeface="宋体" panose="02010600030101010101" pitchFamily="2" charset="-122"/>
                <a:cs typeface="+mn-cs"/>
              </a:rPr>
              <a:t>12</a:t>
            </a:r>
            <a:r>
              <a:rPr lang="en-US" altLang="zh-CN" sz="2800" b="1" noProof="1">
                <a:solidFill>
                  <a:srgbClr val="000099"/>
                </a:solidFill>
                <a:latin typeface="Verdana" panose="020B0604030504040204" pitchFamily="34" charset="0"/>
                <a:ea typeface="宋体" panose="02010600030101010101" pitchFamily="2" charset="-122"/>
                <a:cs typeface="+mn-cs"/>
              </a:rPr>
              <a:t>O</a:t>
            </a:r>
            <a:r>
              <a:rPr lang="en-US" altLang="zh-CN" sz="2800" b="1" baseline="-25000" noProof="1">
                <a:solidFill>
                  <a:srgbClr val="000099"/>
                </a:solidFill>
                <a:latin typeface="Verdana" panose="020B0604030504040204" pitchFamily="34" charset="0"/>
                <a:ea typeface="宋体" panose="02010600030101010101" pitchFamily="2" charset="-122"/>
                <a:cs typeface="+mn-cs"/>
              </a:rPr>
              <a:t>6</a:t>
            </a:r>
            <a:r>
              <a:rPr lang="zh-CN" altLang="en-US" sz="2800" b="1" baseline="-25000" noProof="1">
                <a:solidFill>
                  <a:srgbClr val="000099"/>
                </a:solidFill>
                <a:latin typeface="Verdana" panose="020B0604030504040204" pitchFamily="34" charset="0"/>
                <a:ea typeface="宋体" panose="02010600030101010101" pitchFamily="2" charset="-122"/>
                <a:cs typeface="+mn-cs"/>
              </a:rPr>
              <a:t>（</a:t>
            </a:r>
            <a:r>
              <a:rPr lang="en-US" altLang="zh-CN" sz="2800" b="1" baseline="-25000" noProof="1">
                <a:solidFill>
                  <a:srgbClr val="000099"/>
                </a:solidFill>
                <a:latin typeface="Verdana" panose="020B0604030504040204" pitchFamily="34" charset="0"/>
                <a:ea typeface="宋体" panose="02010600030101010101" pitchFamily="2" charset="-122"/>
                <a:cs typeface="+mn-cs"/>
              </a:rPr>
              <a:t>s</a:t>
            </a:r>
            <a:r>
              <a:rPr lang="zh-CN" altLang="en-US" sz="2800" b="1" baseline="-25000" noProof="1">
                <a:solidFill>
                  <a:srgbClr val="000099"/>
                </a:solidFill>
                <a:latin typeface="Verdana" panose="020B0604030504040204" pitchFamily="34" charset="0"/>
                <a:ea typeface="宋体" panose="02010600030101010101" pitchFamily="2" charset="-122"/>
                <a:cs typeface="+mn-cs"/>
              </a:rPr>
              <a:t>）</a:t>
            </a:r>
            <a:r>
              <a:rPr lang="en-US" altLang="zh-CN" sz="2800" b="1" noProof="1">
                <a:solidFill>
                  <a:srgbClr val="000099"/>
                </a:solidFill>
                <a:latin typeface="Verdana" panose="020B0604030504040204" pitchFamily="34" charset="0"/>
                <a:ea typeface="宋体" panose="02010600030101010101" pitchFamily="2" charset="-122"/>
                <a:cs typeface="+mn-cs"/>
              </a:rPr>
              <a:t>+6O</a:t>
            </a:r>
            <a:r>
              <a:rPr lang="en-US" altLang="zh-CN" sz="2800" b="1" baseline="-25000" noProof="1">
                <a:solidFill>
                  <a:srgbClr val="000099"/>
                </a:solidFill>
                <a:latin typeface="Verdana" panose="020B0604030504040204" pitchFamily="34" charset="0"/>
                <a:ea typeface="宋体" panose="02010600030101010101" pitchFamily="2" charset="-122"/>
                <a:cs typeface="+mn-cs"/>
              </a:rPr>
              <a:t>2</a:t>
            </a:r>
            <a:r>
              <a:rPr lang="zh-CN" altLang="en-US" sz="2800" b="1" baseline="-25000" noProof="1">
                <a:solidFill>
                  <a:srgbClr val="000099"/>
                </a:solidFill>
                <a:latin typeface="Verdana" panose="020B0604030504040204" pitchFamily="34" charset="0"/>
                <a:ea typeface="宋体" panose="02010600030101010101" pitchFamily="2" charset="-122"/>
                <a:cs typeface="+mn-cs"/>
              </a:rPr>
              <a:t>（</a:t>
            </a:r>
            <a:r>
              <a:rPr lang="en-US" altLang="zh-CN" sz="2800" b="1" baseline="-25000" noProof="1">
                <a:solidFill>
                  <a:srgbClr val="000099"/>
                </a:solidFill>
                <a:latin typeface="Verdana" panose="020B0604030504040204" pitchFamily="34" charset="0"/>
                <a:ea typeface="宋体" panose="02010600030101010101" pitchFamily="2" charset="-122"/>
                <a:cs typeface="+mn-cs"/>
              </a:rPr>
              <a:t>g</a:t>
            </a:r>
            <a:r>
              <a:rPr lang="zh-CN" altLang="en-US" sz="2800" b="1" baseline="-25000" noProof="1">
                <a:solidFill>
                  <a:srgbClr val="000099"/>
                </a:solidFill>
                <a:latin typeface="Verdana" panose="020B0604030504040204" pitchFamily="34" charset="0"/>
                <a:ea typeface="宋体" panose="02010600030101010101" pitchFamily="2" charset="-122"/>
                <a:cs typeface="+mn-cs"/>
              </a:rPr>
              <a:t>）</a:t>
            </a:r>
            <a:r>
              <a:rPr lang="zh-CN" altLang="en-US" sz="2800" b="1" noProof="1">
                <a:solidFill>
                  <a:srgbClr val="000099"/>
                </a:solidFill>
                <a:latin typeface="Verdana" panose="020B0604030504040204" pitchFamily="34" charset="0"/>
                <a:ea typeface="宋体" panose="02010600030101010101" pitchFamily="2" charset="-122"/>
                <a:cs typeface="+mn-cs"/>
              </a:rPr>
              <a:t>→</a:t>
            </a:r>
            <a:r>
              <a:rPr lang="en-US" altLang="zh-CN" sz="2800" b="1" noProof="1">
                <a:solidFill>
                  <a:srgbClr val="000099"/>
                </a:solidFill>
                <a:latin typeface="Verdana" panose="020B0604030504040204" pitchFamily="34" charset="0"/>
                <a:ea typeface="宋体" panose="02010600030101010101" pitchFamily="2" charset="-122"/>
                <a:cs typeface="+mn-cs"/>
              </a:rPr>
              <a:t>6CO</a:t>
            </a:r>
            <a:r>
              <a:rPr lang="en-US" altLang="zh-CN" sz="2800" b="1" baseline="-25000" noProof="1">
                <a:solidFill>
                  <a:srgbClr val="000099"/>
                </a:solidFill>
                <a:latin typeface="Verdana" panose="020B0604030504040204" pitchFamily="34" charset="0"/>
                <a:ea typeface="宋体" panose="02010600030101010101" pitchFamily="2" charset="-122"/>
                <a:cs typeface="+mn-cs"/>
              </a:rPr>
              <a:t>2</a:t>
            </a:r>
            <a:r>
              <a:rPr lang="zh-CN" altLang="en-US" sz="2800" b="1" baseline="-25000" noProof="1">
                <a:solidFill>
                  <a:srgbClr val="000099"/>
                </a:solidFill>
                <a:latin typeface="Verdana" panose="020B0604030504040204" pitchFamily="34" charset="0"/>
                <a:ea typeface="宋体" panose="02010600030101010101" pitchFamily="2" charset="-122"/>
                <a:cs typeface="+mn-cs"/>
              </a:rPr>
              <a:t>（</a:t>
            </a:r>
            <a:r>
              <a:rPr lang="en-US" altLang="zh-CN" sz="2800" b="1" baseline="-25000" noProof="1">
                <a:solidFill>
                  <a:srgbClr val="000099"/>
                </a:solidFill>
                <a:latin typeface="Verdana" panose="020B0604030504040204" pitchFamily="34" charset="0"/>
                <a:ea typeface="宋体" panose="02010600030101010101" pitchFamily="2" charset="-122"/>
                <a:cs typeface="+mn-cs"/>
              </a:rPr>
              <a:t>g</a:t>
            </a:r>
            <a:r>
              <a:rPr lang="zh-CN" altLang="en-US" sz="2800" b="1" baseline="-25000" noProof="1">
                <a:solidFill>
                  <a:srgbClr val="000099"/>
                </a:solidFill>
                <a:latin typeface="Verdana" panose="020B0604030504040204" pitchFamily="34" charset="0"/>
                <a:ea typeface="宋体" panose="02010600030101010101" pitchFamily="2" charset="-122"/>
                <a:cs typeface="+mn-cs"/>
              </a:rPr>
              <a:t>）</a:t>
            </a:r>
            <a:r>
              <a:rPr lang="en-US" altLang="zh-CN" sz="2800" b="1" noProof="1">
                <a:solidFill>
                  <a:srgbClr val="000099"/>
                </a:solidFill>
                <a:latin typeface="Verdana" panose="020B0604030504040204" pitchFamily="34" charset="0"/>
                <a:ea typeface="宋体" panose="02010600030101010101" pitchFamily="2" charset="-122"/>
                <a:cs typeface="+mn-cs"/>
              </a:rPr>
              <a:t>+6H</a:t>
            </a:r>
            <a:r>
              <a:rPr lang="en-US" altLang="zh-CN" sz="2800" b="1" baseline="-25000" noProof="1">
                <a:solidFill>
                  <a:srgbClr val="000099"/>
                </a:solidFill>
                <a:latin typeface="Verdana" panose="020B0604030504040204" pitchFamily="34" charset="0"/>
                <a:ea typeface="宋体" panose="02010600030101010101" pitchFamily="2" charset="-122"/>
                <a:cs typeface="+mn-cs"/>
              </a:rPr>
              <a:t>2</a:t>
            </a:r>
            <a:r>
              <a:rPr lang="en-US" altLang="zh-CN" sz="2800" b="1" noProof="1">
                <a:solidFill>
                  <a:srgbClr val="000099"/>
                </a:solidFill>
                <a:latin typeface="Verdana" panose="020B0604030504040204" pitchFamily="34" charset="0"/>
                <a:ea typeface="宋体" panose="02010600030101010101" pitchFamily="2" charset="-122"/>
                <a:cs typeface="+mn-cs"/>
              </a:rPr>
              <a:t>O</a:t>
            </a:r>
            <a:r>
              <a:rPr lang="zh-CN" altLang="en-US" sz="2800" b="1" baseline="-25000" noProof="1">
                <a:solidFill>
                  <a:srgbClr val="000099"/>
                </a:solidFill>
                <a:latin typeface="Verdana" panose="020B0604030504040204" pitchFamily="34" charset="0"/>
                <a:ea typeface="宋体" panose="02010600030101010101" pitchFamily="2" charset="-122"/>
                <a:cs typeface="+mn-cs"/>
              </a:rPr>
              <a:t>（</a:t>
            </a:r>
            <a:r>
              <a:rPr lang="en-US" altLang="zh-CN" sz="2800" b="1" baseline="-25000" noProof="1">
                <a:solidFill>
                  <a:srgbClr val="000099"/>
                </a:solidFill>
                <a:latin typeface="Verdana" panose="020B0604030504040204" pitchFamily="34" charset="0"/>
                <a:ea typeface="宋体" panose="02010600030101010101" pitchFamily="2" charset="-122"/>
                <a:cs typeface="+mn-cs"/>
              </a:rPr>
              <a:t>l</a:t>
            </a:r>
            <a:r>
              <a:rPr lang="zh-CN" altLang="en-US" sz="2800" b="1" baseline="-25000" noProof="1">
                <a:solidFill>
                  <a:srgbClr val="000099"/>
                </a:solidFill>
                <a:latin typeface="Verdana" panose="020B0604030504040204" pitchFamily="34" charset="0"/>
                <a:ea typeface="宋体" panose="02010600030101010101" pitchFamily="2" charset="-122"/>
                <a:cs typeface="+mn-cs"/>
              </a:rPr>
              <a:t>）</a:t>
            </a:r>
            <a:endParaRPr lang="zh-CN" altLang="en-US" sz="2800" b="1" baseline="-25000" noProof="1">
              <a:solidFill>
                <a:srgbClr val="000099"/>
              </a:solidFill>
              <a:latin typeface="Verdana" panose="020B0604030504040204" pitchFamily="34" charset="0"/>
              <a:ea typeface="宋体" panose="02010600030101010101" pitchFamily="2" charset="-122"/>
            </a:endParaRPr>
          </a:p>
        </p:txBody>
      </p:sp>
      <p:sp>
        <p:nvSpPr>
          <p:cNvPr id="110598" name="文本框 110597"/>
          <p:cNvSpPr txBox="1"/>
          <p:nvPr/>
        </p:nvSpPr>
        <p:spPr>
          <a:xfrm>
            <a:off x="468313" y="5661025"/>
            <a:ext cx="8064500" cy="946150"/>
          </a:xfrm>
          <a:prstGeom prst="rect">
            <a:avLst/>
          </a:prstGeom>
          <a:noFill/>
          <a:ln w="9525">
            <a:noFill/>
          </a:ln>
        </p:spPr>
        <p:txBody>
          <a:bodyPr>
            <a:spAutoFit/>
          </a:bodyPr>
          <a:lstStyle/>
          <a:p>
            <a:pPr>
              <a:spcBef>
                <a:spcPct val="50000"/>
              </a:spcBef>
            </a:pPr>
            <a:r>
              <a:rPr lang="zh-CN" altLang="en-US" sz="2800" b="1" noProof="1">
                <a:solidFill>
                  <a:srgbClr val="660033"/>
                </a:solidFill>
                <a:latin typeface="楷体_GB2312" pitchFamily="49" charset="-122"/>
                <a:ea typeface="楷体_GB2312" pitchFamily="49" charset="-122"/>
                <a:cs typeface="+mn-cs"/>
              </a:rPr>
              <a:t>常识：血液中的葡萄糖称为血糖，正常人的血液中血糖的质量分数约为</a:t>
            </a:r>
            <a:r>
              <a:rPr lang="en-US" altLang="zh-CN" sz="2800" b="1" noProof="1">
                <a:solidFill>
                  <a:srgbClr val="660033"/>
                </a:solidFill>
                <a:latin typeface="楷体_GB2312" pitchFamily="49" charset="-122"/>
                <a:ea typeface="楷体_GB2312" pitchFamily="49" charset="-122"/>
                <a:cs typeface="+mn-cs"/>
              </a:rPr>
              <a:t>80-120mg/dl</a:t>
            </a:r>
            <a:endParaRPr lang="en-US" altLang="zh-CN" sz="2800" b="1" noProof="1">
              <a:solidFill>
                <a:srgbClr val="660033"/>
              </a:solidFill>
              <a:latin typeface="楷体_GB2312" pitchFamily="49" charset="-122"/>
              <a:ea typeface="楷体_GB2312" pitchFamily="49" charset="-122"/>
            </a:endParaRPr>
          </a:p>
        </p:txBody>
      </p:sp>
      <p:sp>
        <p:nvSpPr>
          <p:cNvPr id="110599" name="文本框 110598"/>
          <p:cNvSpPr txBox="1"/>
          <p:nvPr/>
        </p:nvSpPr>
        <p:spPr>
          <a:xfrm>
            <a:off x="1763713" y="2492375"/>
            <a:ext cx="4679950" cy="519113"/>
          </a:xfrm>
          <a:prstGeom prst="rect">
            <a:avLst/>
          </a:prstGeom>
          <a:noFill/>
          <a:ln w="9525">
            <a:noFill/>
          </a:ln>
        </p:spPr>
        <p:txBody>
          <a:bodyPr>
            <a:spAutoFit/>
          </a:bodyPr>
          <a:lstStyle/>
          <a:p>
            <a:pPr>
              <a:spcBef>
                <a:spcPct val="50000"/>
              </a:spcBef>
            </a:pPr>
            <a:r>
              <a:rPr lang="zh-CN" altLang="en-US" sz="2800" b="1" noProof="1">
                <a:solidFill>
                  <a:srgbClr val="660033"/>
                </a:solidFill>
                <a:latin typeface="Verdana" panose="020B0604030504040204" pitchFamily="34" charset="0"/>
                <a:ea typeface="宋体" panose="02010600030101010101" pitchFamily="2" charset="-122"/>
                <a:cs typeface="+mn-cs"/>
              </a:rPr>
              <a:t>葡萄糖在人体内的代谢过程</a:t>
            </a:r>
            <a:endParaRPr lang="zh-CN" altLang="en-US" sz="2800" b="1" noProof="1">
              <a:solidFill>
                <a:srgbClr val="660033"/>
              </a:solidFill>
              <a:latin typeface="Verdana" panose="020B0604030504040204" pitchFamily="34" charset="0"/>
              <a:ea typeface="宋体" panose="02010600030101010101" pitchFamily="2" charset="-122"/>
            </a:endParaRPr>
          </a:p>
        </p:txBody>
      </p:sp>
      <p:sp>
        <p:nvSpPr>
          <p:cNvPr id="110600" name="文本框 110599"/>
          <p:cNvSpPr txBox="1"/>
          <p:nvPr/>
        </p:nvSpPr>
        <p:spPr>
          <a:xfrm>
            <a:off x="323850" y="3989388"/>
            <a:ext cx="1295400" cy="519113"/>
          </a:xfrm>
          <a:prstGeom prst="rect">
            <a:avLst/>
          </a:prstGeom>
          <a:noFill/>
          <a:ln w="9525">
            <a:noFill/>
          </a:ln>
        </p:spPr>
        <p:txBody>
          <a:bodyPr>
            <a:spAutoFit/>
          </a:bodyPr>
          <a:lstStyle/>
          <a:p>
            <a:pPr>
              <a:spcBef>
                <a:spcPct val="50000"/>
              </a:spcBef>
            </a:pPr>
            <a:r>
              <a:rPr lang="zh-CN" altLang="en-US" sz="2800" b="1" noProof="1">
                <a:solidFill>
                  <a:srgbClr val="000099"/>
                </a:solidFill>
                <a:effectLst>
                  <a:outerShdw blurRad="38100" dist="38100" dir="2700000">
                    <a:srgbClr val="000000"/>
                  </a:outerShdw>
                </a:effectLst>
                <a:latin typeface="Verdana" panose="020B0604030504040204" pitchFamily="34" charset="0"/>
                <a:ea typeface="宋体" panose="02010600030101010101" pitchFamily="2" charset="-122"/>
                <a:cs typeface="+mn-cs"/>
              </a:rPr>
              <a:t>葡萄糖</a:t>
            </a:r>
            <a:endParaRPr lang="zh-CN" altLang="en-US" sz="2800" b="1" noProof="1">
              <a:solidFill>
                <a:srgbClr val="000099"/>
              </a:solidFill>
              <a:effectLst>
                <a:outerShdw blurRad="38100" dist="38100" dir="2700000">
                  <a:srgbClr val="000000"/>
                </a:outerShdw>
              </a:effectLst>
              <a:latin typeface="Verdana" panose="020B0604030504040204" pitchFamily="34" charset="0"/>
              <a:ea typeface="宋体" panose="02010600030101010101" pitchFamily="2" charset="-122"/>
            </a:endParaRPr>
          </a:p>
        </p:txBody>
      </p:sp>
      <p:sp>
        <p:nvSpPr>
          <p:cNvPr id="110601" name="文本框 110600"/>
          <p:cNvSpPr txBox="1"/>
          <p:nvPr/>
        </p:nvSpPr>
        <p:spPr>
          <a:xfrm>
            <a:off x="4284663" y="3052763"/>
            <a:ext cx="3457575" cy="519113"/>
          </a:xfrm>
          <a:prstGeom prst="rect">
            <a:avLst/>
          </a:prstGeom>
          <a:noFill/>
          <a:ln w="9525">
            <a:noFill/>
          </a:ln>
        </p:spPr>
        <p:txBody>
          <a:bodyPr>
            <a:spAutoFit/>
          </a:bodyPr>
          <a:lstStyle/>
          <a:p>
            <a:pPr>
              <a:spcBef>
                <a:spcPct val="50000"/>
              </a:spcBef>
            </a:pPr>
            <a:r>
              <a:rPr lang="en-US" altLang="zh-CN" sz="2800" b="1" noProof="1">
                <a:solidFill>
                  <a:srgbClr val="000099"/>
                </a:solidFill>
                <a:latin typeface="Verdana" panose="020B0604030504040204" pitchFamily="34" charset="0"/>
                <a:ea typeface="宋体" panose="02010600030101010101" pitchFamily="2" charset="-122"/>
                <a:cs typeface="+mn-cs"/>
              </a:rPr>
              <a:t>CO</a:t>
            </a:r>
            <a:r>
              <a:rPr lang="en-US" altLang="zh-CN" sz="2800" b="1" baseline="-25000" noProof="1">
                <a:solidFill>
                  <a:srgbClr val="000099"/>
                </a:solidFill>
                <a:latin typeface="Verdana" panose="020B0604030504040204" pitchFamily="34" charset="0"/>
                <a:ea typeface="宋体" panose="02010600030101010101" pitchFamily="2" charset="-122"/>
                <a:cs typeface="+mn-cs"/>
              </a:rPr>
              <a:t>2</a:t>
            </a:r>
            <a:r>
              <a:rPr lang="en-US" altLang="zh-CN" sz="2800" b="1" noProof="1">
                <a:solidFill>
                  <a:srgbClr val="000099"/>
                </a:solidFill>
                <a:latin typeface="Verdana" panose="020B0604030504040204" pitchFamily="34" charset="0"/>
                <a:ea typeface="宋体" panose="02010600030101010101" pitchFamily="2" charset="-122"/>
                <a:cs typeface="+mn-cs"/>
              </a:rPr>
              <a:t>+H</a:t>
            </a:r>
            <a:r>
              <a:rPr lang="en-US" altLang="zh-CN" sz="2800" b="1" baseline="-25000" noProof="1">
                <a:solidFill>
                  <a:srgbClr val="000099"/>
                </a:solidFill>
                <a:latin typeface="Verdana" panose="020B0604030504040204" pitchFamily="34" charset="0"/>
                <a:ea typeface="宋体" panose="02010600030101010101" pitchFamily="2" charset="-122"/>
                <a:cs typeface="+mn-cs"/>
              </a:rPr>
              <a:t>2</a:t>
            </a:r>
            <a:r>
              <a:rPr lang="en-US" altLang="zh-CN" sz="2800" b="1" noProof="1">
                <a:solidFill>
                  <a:srgbClr val="000099"/>
                </a:solidFill>
                <a:latin typeface="Verdana" panose="020B0604030504040204" pitchFamily="34" charset="0"/>
                <a:ea typeface="宋体" panose="02010600030101010101" pitchFamily="2" charset="-122"/>
                <a:cs typeface="+mn-cs"/>
              </a:rPr>
              <a:t>O+</a:t>
            </a:r>
            <a:r>
              <a:rPr lang="zh-CN" altLang="en-US" sz="2800" b="1" noProof="1">
                <a:solidFill>
                  <a:srgbClr val="000099"/>
                </a:solidFill>
                <a:latin typeface="Verdana" panose="020B0604030504040204" pitchFamily="34" charset="0"/>
                <a:ea typeface="宋体" panose="02010600030101010101" pitchFamily="2" charset="-122"/>
                <a:cs typeface="+mn-cs"/>
              </a:rPr>
              <a:t>能量</a:t>
            </a:r>
            <a:endParaRPr lang="zh-CN" altLang="en-US" sz="2800" b="1" noProof="1">
              <a:solidFill>
                <a:srgbClr val="000099"/>
              </a:solidFill>
              <a:latin typeface="Verdana" panose="020B0604030504040204" pitchFamily="34" charset="0"/>
              <a:ea typeface="宋体" panose="02010600030101010101" pitchFamily="2" charset="-122"/>
            </a:endParaRPr>
          </a:p>
        </p:txBody>
      </p:sp>
      <p:sp>
        <p:nvSpPr>
          <p:cNvPr id="110602" name="文本框 110601"/>
          <p:cNvSpPr txBox="1"/>
          <p:nvPr/>
        </p:nvSpPr>
        <p:spPr>
          <a:xfrm>
            <a:off x="4140200" y="3844925"/>
            <a:ext cx="1368425" cy="519113"/>
          </a:xfrm>
          <a:prstGeom prst="rect">
            <a:avLst/>
          </a:prstGeom>
          <a:noFill/>
          <a:ln w="9525">
            <a:noFill/>
          </a:ln>
        </p:spPr>
        <p:txBody>
          <a:bodyPr>
            <a:spAutoFit/>
          </a:bodyPr>
          <a:lstStyle/>
          <a:p>
            <a:pPr>
              <a:spcBef>
                <a:spcPct val="50000"/>
              </a:spcBef>
            </a:pPr>
            <a:r>
              <a:rPr lang="zh-CN" altLang="en-US" sz="2800" b="1" noProof="1">
                <a:solidFill>
                  <a:srgbClr val="000099"/>
                </a:solidFill>
                <a:effectLst>
                  <a:outerShdw blurRad="38100" dist="38100" dir="2700000">
                    <a:srgbClr val="000000"/>
                  </a:outerShdw>
                </a:effectLst>
                <a:latin typeface="Verdana" panose="020B0604030504040204" pitchFamily="34" charset="0"/>
                <a:ea typeface="宋体" panose="02010600030101010101" pitchFamily="2" charset="-122"/>
                <a:cs typeface="+mn-cs"/>
              </a:rPr>
              <a:t>肝糖元</a:t>
            </a:r>
            <a:endParaRPr lang="zh-CN" altLang="en-US" sz="2800" b="1" noProof="1">
              <a:solidFill>
                <a:srgbClr val="000099"/>
              </a:solidFill>
              <a:effectLst>
                <a:outerShdw blurRad="38100" dist="38100" dir="2700000">
                  <a:srgbClr val="000000"/>
                </a:outerShdw>
              </a:effectLst>
              <a:latin typeface="Verdana" panose="020B0604030504040204" pitchFamily="34" charset="0"/>
              <a:ea typeface="宋体" panose="02010600030101010101" pitchFamily="2" charset="-122"/>
            </a:endParaRPr>
          </a:p>
        </p:txBody>
      </p:sp>
      <p:sp>
        <p:nvSpPr>
          <p:cNvPr id="110603" name="文本框 110602"/>
          <p:cNvSpPr txBox="1"/>
          <p:nvPr/>
        </p:nvSpPr>
        <p:spPr>
          <a:xfrm>
            <a:off x="4140200" y="4724400"/>
            <a:ext cx="1439863" cy="519113"/>
          </a:xfrm>
          <a:prstGeom prst="rect">
            <a:avLst/>
          </a:prstGeom>
          <a:noFill/>
          <a:ln w="9525">
            <a:noFill/>
          </a:ln>
        </p:spPr>
        <p:txBody>
          <a:bodyPr>
            <a:spAutoFit/>
          </a:bodyPr>
          <a:lstStyle/>
          <a:p>
            <a:pPr>
              <a:spcBef>
                <a:spcPct val="50000"/>
              </a:spcBef>
            </a:pPr>
            <a:r>
              <a:rPr lang="zh-CN" altLang="en-US" sz="2800" b="1" noProof="1">
                <a:solidFill>
                  <a:srgbClr val="000099"/>
                </a:solidFill>
                <a:effectLst>
                  <a:outerShdw blurRad="38100" dist="38100" dir="2700000">
                    <a:srgbClr val="000000"/>
                  </a:outerShdw>
                </a:effectLst>
                <a:latin typeface="Verdana" panose="020B0604030504040204" pitchFamily="34" charset="0"/>
                <a:ea typeface="宋体" panose="02010600030101010101" pitchFamily="2" charset="-122"/>
                <a:cs typeface="+mn-cs"/>
              </a:rPr>
              <a:t>肌糖元</a:t>
            </a:r>
            <a:endParaRPr lang="zh-CN" altLang="en-US" sz="2800" b="1" noProof="1">
              <a:solidFill>
                <a:srgbClr val="000099"/>
              </a:solidFill>
              <a:effectLst>
                <a:outerShdw blurRad="38100" dist="38100" dir="2700000">
                  <a:srgbClr val="000000"/>
                </a:outerShdw>
              </a:effectLst>
              <a:latin typeface="Verdana" panose="020B0604030504040204" pitchFamily="34" charset="0"/>
              <a:ea typeface="宋体" panose="02010600030101010101" pitchFamily="2" charset="-122"/>
            </a:endParaRPr>
          </a:p>
        </p:txBody>
      </p:sp>
      <p:sp>
        <p:nvSpPr>
          <p:cNvPr id="110604" name="文本框 110603"/>
          <p:cNvSpPr txBox="1"/>
          <p:nvPr/>
        </p:nvSpPr>
        <p:spPr>
          <a:xfrm>
            <a:off x="4211638" y="5286375"/>
            <a:ext cx="1296988" cy="519113"/>
          </a:xfrm>
          <a:prstGeom prst="rect">
            <a:avLst/>
          </a:prstGeom>
          <a:noFill/>
          <a:ln w="9525">
            <a:noFill/>
          </a:ln>
        </p:spPr>
        <p:txBody>
          <a:bodyPr>
            <a:spAutoFit/>
          </a:bodyPr>
          <a:lstStyle/>
          <a:p>
            <a:pPr>
              <a:spcBef>
                <a:spcPct val="50000"/>
              </a:spcBef>
            </a:pPr>
            <a:r>
              <a:rPr lang="zh-CN" altLang="en-US" sz="2800" b="1" noProof="1">
                <a:solidFill>
                  <a:srgbClr val="000099"/>
                </a:solidFill>
                <a:effectLst>
                  <a:outerShdw blurRad="38100" dist="38100" dir="2700000">
                    <a:srgbClr val="000000"/>
                  </a:outerShdw>
                </a:effectLst>
                <a:latin typeface="Verdana" panose="020B0604030504040204" pitchFamily="34" charset="0"/>
                <a:ea typeface="宋体" panose="02010600030101010101" pitchFamily="2" charset="-122"/>
                <a:cs typeface="+mn-cs"/>
              </a:rPr>
              <a:t>脂肪</a:t>
            </a:r>
            <a:endParaRPr lang="zh-CN" altLang="en-US" sz="2800" b="1" noProof="1">
              <a:solidFill>
                <a:srgbClr val="000099"/>
              </a:solidFill>
              <a:effectLst>
                <a:outerShdw blurRad="38100" dist="38100" dir="2700000">
                  <a:srgbClr val="000000"/>
                </a:outerShdw>
              </a:effectLst>
              <a:latin typeface="Verdana" panose="020B0604030504040204" pitchFamily="34" charset="0"/>
              <a:ea typeface="宋体" panose="02010600030101010101" pitchFamily="2" charset="-122"/>
            </a:endParaRPr>
          </a:p>
        </p:txBody>
      </p:sp>
      <p:grpSp>
        <p:nvGrpSpPr>
          <p:cNvPr id="110605" name="组合 110604"/>
          <p:cNvGrpSpPr/>
          <p:nvPr/>
        </p:nvGrpSpPr>
        <p:grpSpPr>
          <a:xfrm>
            <a:off x="1547813" y="2924175"/>
            <a:ext cx="2808287" cy="2663825"/>
            <a:chOff x="975" y="1797"/>
            <a:chExt cx="1769" cy="1678"/>
          </a:xfrm>
        </p:grpSpPr>
        <p:sp>
          <p:nvSpPr>
            <p:cNvPr id="40973" name="直接连接符 110605"/>
            <p:cNvSpPr/>
            <p:nvPr/>
          </p:nvSpPr>
          <p:spPr>
            <a:xfrm>
              <a:off x="975" y="2704"/>
              <a:ext cx="363" cy="0"/>
            </a:xfrm>
            <a:prstGeom prst="line">
              <a:avLst/>
            </a:prstGeom>
            <a:ln w="38100" cap="flat" cmpd="sng">
              <a:solidFill>
                <a:srgbClr val="000099"/>
              </a:solidFill>
              <a:prstDash val="solid"/>
              <a:round/>
              <a:headEnd type="none" w="med" len="med"/>
              <a:tailEnd type="none" w="med" len="med"/>
            </a:ln>
          </p:spPr>
        </p:sp>
        <p:sp>
          <p:nvSpPr>
            <p:cNvPr id="40974" name="直接连接符 110606"/>
            <p:cNvSpPr/>
            <p:nvPr/>
          </p:nvSpPr>
          <p:spPr>
            <a:xfrm>
              <a:off x="1338" y="2069"/>
              <a:ext cx="0" cy="1406"/>
            </a:xfrm>
            <a:prstGeom prst="line">
              <a:avLst/>
            </a:prstGeom>
            <a:ln w="38100" cap="flat" cmpd="sng">
              <a:solidFill>
                <a:srgbClr val="000099"/>
              </a:solidFill>
              <a:prstDash val="solid"/>
              <a:round/>
              <a:headEnd type="none" w="med" len="med"/>
              <a:tailEnd type="none" w="med" len="med"/>
            </a:ln>
          </p:spPr>
        </p:sp>
        <p:sp>
          <p:nvSpPr>
            <p:cNvPr id="110608" name="文本框 110607"/>
            <p:cNvSpPr txBox="1"/>
            <p:nvPr/>
          </p:nvSpPr>
          <p:spPr>
            <a:xfrm>
              <a:off x="1474" y="1797"/>
              <a:ext cx="1270" cy="288"/>
            </a:xfrm>
            <a:prstGeom prst="rect">
              <a:avLst/>
            </a:prstGeom>
            <a:noFill/>
            <a:ln w="9525">
              <a:noFill/>
            </a:ln>
          </p:spPr>
          <p:txBody>
            <a:bodyPr>
              <a:spAutoFit/>
            </a:bodyPr>
            <a:lstStyle/>
            <a:p>
              <a:pPr>
                <a:spcBef>
                  <a:spcPct val="50000"/>
                </a:spcBef>
              </a:pPr>
              <a:r>
                <a:rPr lang="en-US" altLang="zh-CN" sz="2400" b="1" noProof="1">
                  <a:solidFill>
                    <a:srgbClr val="000099"/>
                  </a:solidFill>
                  <a:latin typeface="Verdana" panose="020B0604030504040204" pitchFamily="34" charset="0"/>
                  <a:ea typeface="宋体" panose="02010600030101010101" pitchFamily="2" charset="-122"/>
                  <a:cs typeface="+mn-cs"/>
                </a:rPr>
                <a:t>+O</a:t>
              </a:r>
              <a:r>
                <a:rPr lang="en-US" altLang="zh-CN" sz="2400" b="1" baseline="-25000" noProof="1">
                  <a:solidFill>
                    <a:srgbClr val="000099"/>
                  </a:solidFill>
                  <a:latin typeface="Verdana" panose="020B0604030504040204" pitchFamily="34" charset="0"/>
                  <a:ea typeface="宋体" panose="02010600030101010101" pitchFamily="2" charset="-122"/>
                  <a:cs typeface="+mn-cs"/>
                </a:rPr>
                <a:t>2</a:t>
              </a:r>
              <a:r>
                <a:rPr lang="en-US" altLang="zh-CN" sz="2400" b="1" noProof="1">
                  <a:solidFill>
                    <a:srgbClr val="000099"/>
                  </a:solidFill>
                  <a:latin typeface="Verdana" panose="020B0604030504040204" pitchFamily="34" charset="0"/>
                  <a:ea typeface="宋体" panose="02010600030101010101" pitchFamily="2" charset="-122"/>
                  <a:cs typeface="+mn-cs"/>
                </a:rPr>
                <a:t>(</a:t>
              </a:r>
              <a:r>
                <a:rPr lang="zh-CN" altLang="en-US" sz="2400" b="1" noProof="1">
                  <a:solidFill>
                    <a:srgbClr val="000099"/>
                  </a:solidFill>
                  <a:latin typeface="Verdana" panose="020B0604030504040204" pitchFamily="34" charset="0"/>
                  <a:ea typeface="宋体" panose="02010600030101010101" pitchFamily="2" charset="-122"/>
                  <a:cs typeface="+mn-cs"/>
                </a:rPr>
                <a:t>氧化</a:t>
              </a:r>
              <a:r>
                <a:rPr lang="en-US" altLang="zh-CN" sz="2400" b="1" noProof="1">
                  <a:solidFill>
                    <a:srgbClr val="000099"/>
                  </a:solidFill>
                  <a:latin typeface="Verdana" panose="020B0604030504040204" pitchFamily="34" charset="0"/>
                  <a:ea typeface="宋体" panose="02010600030101010101" pitchFamily="2" charset="-122"/>
                  <a:cs typeface="+mn-cs"/>
                </a:rPr>
                <a:t>)</a:t>
              </a:r>
              <a:endParaRPr lang="en-US" altLang="zh-CN" sz="2400" b="1" noProof="1">
                <a:solidFill>
                  <a:srgbClr val="000099"/>
                </a:solidFill>
                <a:latin typeface="Verdana" panose="020B0604030504040204" pitchFamily="34" charset="0"/>
                <a:ea typeface="宋体" panose="02010600030101010101" pitchFamily="2" charset="-122"/>
              </a:endParaRPr>
            </a:p>
          </p:txBody>
        </p:sp>
        <p:sp>
          <p:nvSpPr>
            <p:cNvPr id="40976" name="直接连接符 110608"/>
            <p:cNvSpPr/>
            <p:nvPr/>
          </p:nvSpPr>
          <p:spPr>
            <a:xfrm>
              <a:off x="1338" y="2069"/>
              <a:ext cx="1361" cy="0"/>
            </a:xfrm>
            <a:prstGeom prst="line">
              <a:avLst/>
            </a:prstGeom>
            <a:ln w="38100" cap="flat" cmpd="sng">
              <a:solidFill>
                <a:srgbClr val="000099"/>
              </a:solidFill>
              <a:prstDash val="solid"/>
              <a:round/>
              <a:headEnd type="none" w="med" len="med"/>
              <a:tailEnd type="triangle" w="med" len="med"/>
            </a:ln>
          </p:spPr>
        </p:sp>
      </p:grpSp>
      <p:grpSp>
        <p:nvGrpSpPr>
          <p:cNvPr id="110610" name="组合 110609"/>
          <p:cNvGrpSpPr/>
          <p:nvPr/>
        </p:nvGrpSpPr>
        <p:grpSpPr>
          <a:xfrm>
            <a:off x="2124075" y="3571875"/>
            <a:ext cx="2087563" cy="457200"/>
            <a:chOff x="1338" y="2205"/>
            <a:chExt cx="1315" cy="288"/>
          </a:xfrm>
        </p:grpSpPr>
        <p:sp>
          <p:nvSpPr>
            <p:cNvPr id="110611" name="文本框 110610"/>
            <p:cNvSpPr txBox="1"/>
            <p:nvPr/>
          </p:nvSpPr>
          <p:spPr>
            <a:xfrm>
              <a:off x="1474" y="2205"/>
              <a:ext cx="635" cy="288"/>
            </a:xfrm>
            <a:prstGeom prst="rect">
              <a:avLst/>
            </a:prstGeom>
            <a:noFill/>
            <a:ln w="9525">
              <a:noFill/>
            </a:ln>
          </p:spPr>
          <p:txBody>
            <a:bodyPr>
              <a:spAutoFit/>
            </a:bodyPr>
            <a:lstStyle/>
            <a:p>
              <a:pPr>
                <a:spcBef>
                  <a:spcPct val="50000"/>
                </a:spcBef>
              </a:pPr>
              <a:r>
                <a:rPr lang="zh-CN" altLang="en-US" sz="2400" b="1" noProof="1">
                  <a:solidFill>
                    <a:srgbClr val="000099"/>
                  </a:solidFill>
                  <a:effectLst>
                    <a:outerShdw blurRad="38100" dist="38100" dir="2700000">
                      <a:srgbClr val="000000"/>
                    </a:outerShdw>
                  </a:effectLst>
                  <a:latin typeface="Verdana" panose="020B0604030504040204" pitchFamily="34" charset="0"/>
                  <a:ea typeface="宋体" panose="02010600030101010101" pitchFamily="2" charset="-122"/>
                  <a:cs typeface="+mn-cs"/>
                </a:rPr>
                <a:t>合成</a:t>
              </a:r>
              <a:endParaRPr lang="zh-CN" altLang="en-US" sz="2400" b="1" noProof="1">
                <a:solidFill>
                  <a:srgbClr val="000099"/>
                </a:solidFill>
                <a:effectLst>
                  <a:outerShdw blurRad="38100" dist="38100" dir="2700000">
                    <a:srgbClr val="000000"/>
                  </a:outerShdw>
                </a:effectLst>
                <a:latin typeface="Verdana" panose="020B0604030504040204" pitchFamily="34" charset="0"/>
                <a:ea typeface="宋体" panose="02010600030101010101" pitchFamily="2" charset="-122"/>
              </a:endParaRPr>
            </a:p>
          </p:txBody>
        </p:sp>
        <p:sp>
          <p:nvSpPr>
            <p:cNvPr id="40979" name="直接连接符 110611"/>
            <p:cNvSpPr/>
            <p:nvPr/>
          </p:nvSpPr>
          <p:spPr>
            <a:xfrm>
              <a:off x="1338" y="2478"/>
              <a:ext cx="1315" cy="0"/>
            </a:xfrm>
            <a:prstGeom prst="line">
              <a:avLst/>
            </a:prstGeom>
            <a:ln w="38100" cap="flat" cmpd="sng">
              <a:solidFill>
                <a:srgbClr val="000099"/>
              </a:solidFill>
              <a:prstDash val="solid"/>
              <a:round/>
              <a:headEnd type="none" w="med" len="med"/>
              <a:tailEnd type="triangle" w="med" len="med"/>
            </a:ln>
          </p:spPr>
        </p:sp>
      </p:grpSp>
      <p:grpSp>
        <p:nvGrpSpPr>
          <p:cNvPr id="110613" name="组合 110612"/>
          <p:cNvGrpSpPr/>
          <p:nvPr/>
        </p:nvGrpSpPr>
        <p:grpSpPr>
          <a:xfrm>
            <a:off x="2124075" y="4221163"/>
            <a:ext cx="2016125" cy="457200"/>
            <a:chOff x="1338" y="2614"/>
            <a:chExt cx="1270" cy="288"/>
          </a:xfrm>
        </p:grpSpPr>
        <p:sp>
          <p:nvSpPr>
            <p:cNvPr id="110614" name="文本框 110613"/>
            <p:cNvSpPr txBox="1"/>
            <p:nvPr/>
          </p:nvSpPr>
          <p:spPr>
            <a:xfrm>
              <a:off x="1519" y="2614"/>
              <a:ext cx="681" cy="288"/>
            </a:xfrm>
            <a:prstGeom prst="rect">
              <a:avLst/>
            </a:prstGeom>
            <a:noFill/>
            <a:ln w="9525">
              <a:noFill/>
            </a:ln>
          </p:spPr>
          <p:txBody>
            <a:bodyPr>
              <a:spAutoFit/>
            </a:bodyPr>
            <a:lstStyle/>
            <a:p>
              <a:pPr>
                <a:spcBef>
                  <a:spcPct val="50000"/>
                </a:spcBef>
              </a:pPr>
              <a:r>
                <a:rPr lang="zh-CN" altLang="en-US" sz="2400" b="1" noProof="1">
                  <a:solidFill>
                    <a:srgbClr val="000099"/>
                  </a:solidFill>
                  <a:effectLst>
                    <a:outerShdw blurRad="38100" dist="38100" dir="2700000">
                      <a:srgbClr val="000000"/>
                    </a:outerShdw>
                  </a:effectLst>
                  <a:latin typeface="Verdana" panose="020B0604030504040204" pitchFamily="34" charset="0"/>
                  <a:ea typeface="宋体" panose="02010600030101010101" pitchFamily="2" charset="-122"/>
                  <a:cs typeface="+mn-cs"/>
                </a:rPr>
                <a:t>分解</a:t>
              </a:r>
              <a:endParaRPr lang="zh-CN" altLang="en-US" sz="2400" b="1" noProof="1">
                <a:solidFill>
                  <a:srgbClr val="000099"/>
                </a:solidFill>
                <a:effectLst>
                  <a:outerShdw blurRad="38100" dist="38100" dir="2700000">
                    <a:srgbClr val="000000"/>
                  </a:outerShdw>
                </a:effectLst>
                <a:latin typeface="Verdana" panose="020B0604030504040204" pitchFamily="34" charset="0"/>
                <a:ea typeface="宋体" panose="02010600030101010101" pitchFamily="2" charset="-122"/>
              </a:endParaRPr>
            </a:p>
          </p:txBody>
        </p:sp>
        <p:sp>
          <p:nvSpPr>
            <p:cNvPr id="40982" name="直接连接符 110614"/>
            <p:cNvSpPr/>
            <p:nvPr/>
          </p:nvSpPr>
          <p:spPr>
            <a:xfrm flipH="1">
              <a:off x="1338" y="2659"/>
              <a:ext cx="1270" cy="0"/>
            </a:xfrm>
            <a:prstGeom prst="line">
              <a:avLst/>
            </a:prstGeom>
            <a:ln w="38100" cap="flat" cmpd="sng">
              <a:solidFill>
                <a:srgbClr val="000099"/>
              </a:solidFill>
              <a:prstDash val="solid"/>
              <a:round/>
              <a:headEnd type="none" w="med" len="med"/>
              <a:tailEnd type="triangle" w="med" len="med"/>
            </a:ln>
          </p:spPr>
        </p:sp>
      </p:grpSp>
      <p:grpSp>
        <p:nvGrpSpPr>
          <p:cNvPr id="110616" name="组合 110615"/>
          <p:cNvGrpSpPr/>
          <p:nvPr/>
        </p:nvGrpSpPr>
        <p:grpSpPr>
          <a:xfrm>
            <a:off x="2124075" y="4579938"/>
            <a:ext cx="2087563" cy="457200"/>
            <a:chOff x="1338" y="2840"/>
            <a:chExt cx="1315" cy="288"/>
          </a:xfrm>
        </p:grpSpPr>
        <p:sp>
          <p:nvSpPr>
            <p:cNvPr id="110617" name="文本框 110616"/>
            <p:cNvSpPr txBox="1"/>
            <p:nvPr/>
          </p:nvSpPr>
          <p:spPr>
            <a:xfrm>
              <a:off x="1519" y="2840"/>
              <a:ext cx="635" cy="288"/>
            </a:xfrm>
            <a:prstGeom prst="rect">
              <a:avLst/>
            </a:prstGeom>
            <a:noFill/>
            <a:ln w="9525">
              <a:noFill/>
            </a:ln>
          </p:spPr>
          <p:txBody>
            <a:bodyPr>
              <a:spAutoFit/>
            </a:bodyPr>
            <a:lstStyle/>
            <a:p>
              <a:pPr>
                <a:spcBef>
                  <a:spcPct val="50000"/>
                </a:spcBef>
              </a:pPr>
              <a:r>
                <a:rPr lang="zh-CN" altLang="en-US" sz="2400" b="1" noProof="1">
                  <a:solidFill>
                    <a:srgbClr val="000099"/>
                  </a:solidFill>
                  <a:effectLst>
                    <a:outerShdw blurRad="38100" dist="38100" dir="2700000">
                      <a:srgbClr val="000000"/>
                    </a:outerShdw>
                  </a:effectLst>
                  <a:latin typeface="Verdana" panose="020B0604030504040204" pitchFamily="34" charset="0"/>
                  <a:ea typeface="宋体" panose="02010600030101010101" pitchFamily="2" charset="-122"/>
                  <a:cs typeface="+mn-cs"/>
                </a:rPr>
                <a:t>合成</a:t>
              </a:r>
              <a:endParaRPr lang="zh-CN" altLang="en-US" sz="2400" b="1" noProof="1">
                <a:solidFill>
                  <a:srgbClr val="000099"/>
                </a:solidFill>
                <a:effectLst>
                  <a:outerShdw blurRad="38100" dist="38100" dir="2700000">
                    <a:srgbClr val="000000"/>
                  </a:outerShdw>
                </a:effectLst>
                <a:latin typeface="Verdana" panose="020B0604030504040204" pitchFamily="34" charset="0"/>
                <a:ea typeface="宋体" panose="02010600030101010101" pitchFamily="2" charset="-122"/>
              </a:endParaRPr>
            </a:p>
          </p:txBody>
        </p:sp>
        <p:sp>
          <p:nvSpPr>
            <p:cNvPr id="40985" name="直接连接符 110617"/>
            <p:cNvSpPr/>
            <p:nvPr/>
          </p:nvSpPr>
          <p:spPr>
            <a:xfrm>
              <a:off x="1338" y="3113"/>
              <a:ext cx="1315" cy="0"/>
            </a:xfrm>
            <a:prstGeom prst="line">
              <a:avLst/>
            </a:prstGeom>
            <a:ln w="38100" cap="flat" cmpd="sng">
              <a:solidFill>
                <a:srgbClr val="000099"/>
              </a:solidFill>
              <a:prstDash val="solid"/>
              <a:round/>
              <a:headEnd type="none" w="med" len="med"/>
              <a:tailEnd type="triangle" w="med" len="med"/>
            </a:ln>
          </p:spPr>
        </p:sp>
      </p:grpSp>
      <p:grpSp>
        <p:nvGrpSpPr>
          <p:cNvPr id="110619" name="组合 110618"/>
          <p:cNvGrpSpPr/>
          <p:nvPr/>
        </p:nvGrpSpPr>
        <p:grpSpPr>
          <a:xfrm>
            <a:off x="2124075" y="5156200"/>
            <a:ext cx="2160588" cy="457200"/>
            <a:chOff x="1338" y="3203"/>
            <a:chExt cx="1361" cy="288"/>
          </a:xfrm>
        </p:grpSpPr>
        <p:sp>
          <p:nvSpPr>
            <p:cNvPr id="110620" name="文本框 110619"/>
            <p:cNvSpPr txBox="1"/>
            <p:nvPr/>
          </p:nvSpPr>
          <p:spPr>
            <a:xfrm>
              <a:off x="1519" y="3203"/>
              <a:ext cx="726" cy="288"/>
            </a:xfrm>
            <a:prstGeom prst="rect">
              <a:avLst/>
            </a:prstGeom>
            <a:noFill/>
            <a:ln w="9525">
              <a:noFill/>
            </a:ln>
          </p:spPr>
          <p:txBody>
            <a:bodyPr>
              <a:spAutoFit/>
            </a:bodyPr>
            <a:lstStyle/>
            <a:p>
              <a:pPr>
                <a:spcBef>
                  <a:spcPct val="50000"/>
                </a:spcBef>
              </a:pPr>
              <a:r>
                <a:rPr lang="zh-CN" altLang="en-US" sz="2400" b="1" noProof="1">
                  <a:solidFill>
                    <a:srgbClr val="000099"/>
                  </a:solidFill>
                  <a:effectLst>
                    <a:outerShdw blurRad="38100" dist="38100" dir="2700000">
                      <a:srgbClr val="000000"/>
                    </a:outerShdw>
                  </a:effectLst>
                  <a:latin typeface="Verdana" panose="020B0604030504040204" pitchFamily="34" charset="0"/>
                  <a:ea typeface="宋体" panose="02010600030101010101" pitchFamily="2" charset="-122"/>
                  <a:cs typeface="+mn-cs"/>
                </a:rPr>
                <a:t>转变</a:t>
              </a:r>
              <a:endParaRPr lang="zh-CN" altLang="en-US" sz="2400" b="1" noProof="1">
                <a:solidFill>
                  <a:srgbClr val="000099"/>
                </a:solidFill>
                <a:effectLst>
                  <a:outerShdw blurRad="38100" dist="38100" dir="2700000">
                    <a:srgbClr val="000000"/>
                  </a:outerShdw>
                </a:effectLst>
                <a:latin typeface="Verdana" panose="020B0604030504040204" pitchFamily="34" charset="0"/>
                <a:ea typeface="宋体" panose="02010600030101010101" pitchFamily="2" charset="-122"/>
              </a:endParaRPr>
            </a:p>
          </p:txBody>
        </p:sp>
        <p:sp>
          <p:nvSpPr>
            <p:cNvPr id="40988" name="直接连接符 110620"/>
            <p:cNvSpPr/>
            <p:nvPr/>
          </p:nvSpPr>
          <p:spPr>
            <a:xfrm>
              <a:off x="1338" y="3475"/>
              <a:ext cx="1361" cy="0"/>
            </a:xfrm>
            <a:prstGeom prst="line">
              <a:avLst/>
            </a:prstGeom>
            <a:ln w="38100" cap="flat" cmpd="sng">
              <a:solidFill>
                <a:srgbClr val="000099"/>
              </a:solidFill>
              <a:prstDash val="solid"/>
              <a:round/>
              <a:headEnd type="none" w="med" len="med"/>
              <a:tailEnd type="triangle" w="med" len="med"/>
            </a:ln>
          </p:spPr>
        </p:sp>
      </p:grpSp>
      <p:sp>
        <p:nvSpPr>
          <p:cNvPr id="40989" name="灯片编号占位符 1"/>
          <p:cNvSpPr>
            <a:spLocks noGrp="1"/>
          </p:cNvSpPr>
          <p:nvPr>
            <p:ph type="sldNum" sz="quarter" idx="11"/>
          </p:nvPr>
        </p:nvSpPr>
        <p:spPr>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400" dirty="0"/>
              <a:pPr lvl="0" indent="0" algn="r"/>
              <a:t>40</a:t>
            </a:fld>
            <a:endParaRPr lang="zh-CN" alt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0595"/>
                                        </p:tgtEl>
                                        <p:attrNameLst>
                                          <p:attrName>style.visibility</p:attrName>
                                        </p:attrNameLst>
                                      </p:cBhvr>
                                      <p:to>
                                        <p:strVal val="visible"/>
                                      </p:to>
                                    </p:set>
                                    <p:animEffect transition="in" filter="wipe(left)">
                                      <p:cBhvr>
                                        <p:cTn id="7" dur="500"/>
                                        <p:tgtEl>
                                          <p:spTgt spid="11059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0596"/>
                                        </p:tgtEl>
                                        <p:attrNameLst>
                                          <p:attrName>style.visibility</p:attrName>
                                        </p:attrNameLst>
                                      </p:cBhvr>
                                      <p:to>
                                        <p:strVal val="visible"/>
                                      </p:to>
                                    </p:set>
                                    <p:animEffect transition="in" filter="wipe(left)">
                                      <p:cBhvr>
                                        <p:cTn id="12" dur="500"/>
                                        <p:tgtEl>
                                          <p:spTgt spid="11059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0597"/>
                                        </p:tgtEl>
                                        <p:attrNameLst>
                                          <p:attrName>style.visibility</p:attrName>
                                        </p:attrNameLst>
                                      </p:cBhvr>
                                      <p:to>
                                        <p:strVal val="visible"/>
                                      </p:to>
                                    </p:set>
                                    <p:animEffect transition="in" filter="wipe(left)">
                                      <p:cBhvr>
                                        <p:cTn id="17" dur="500"/>
                                        <p:tgtEl>
                                          <p:spTgt spid="11059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0599"/>
                                        </p:tgtEl>
                                        <p:attrNameLst>
                                          <p:attrName>style.visibility</p:attrName>
                                        </p:attrNameLst>
                                      </p:cBhvr>
                                      <p:to>
                                        <p:strVal val="visible"/>
                                      </p:to>
                                    </p:set>
                                    <p:animEffect transition="in" filter="wipe(left)">
                                      <p:cBhvr>
                                        <p:cTn id="22" dur="500"/>
                                        <p:tgtEl>
                                          <p:spTgt spid="11059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0600"/>
                                        </p:tgtEl>
                                        <p:attrNameLst>
                                          <p:attrName>style.visibility</p:attrName>
                                        </p:attrNameLst>
                                      </p:cBhvr>
                                      <p:to>
                                        <p:strVal val="visible"/>
                                      </p:to>
                                    </p:set>
                                    <p:animEffect transition="in" filter="wipe(left)">
                                      <p:cBhvr>
                                        <p:cTn id="27" dur="500"/>
                                        <p:tgtEl>
                                          <p:spTgt spid="110600"/>
                                        </p:tgtEl>
                                      </p:cBhvr>
                                    </p:animEffect>
                                  </p:childTnLst>
                                </p:cTn>
                              </p:par>
                            </p:childTnLst>
                          </p:cTn>
                        </p:par>
                        <p:par>
                          <p:cTn id="28" fill="hold">
                            <p:stCondLst>
                              <p:cond delay="500"/>
                            </p:stCondLst>
                            <p:childTnLst>
                              <p:par>
                                <p:cTn id="29" presetID="22" presetClass="entr" presetSubtype="8" fill="hold" nodeType="afterEffect">
                                  <p:stCondLst>
                                    <p:cond delay="0"/>
                                  </p:stCondLst>
                                  <p:childTnLst>
                                    <p:set>
                                      <p:cBhvr>
                                        <p:cTn id="30" dur="1" fill="hold">
                                          <p:stCondLst>
                                            <p:cond delay="0"/>
                                          </p:stCondLst>
                                        </p:cTn>
                                        <p:tgtEl>
                                          <p:spTgt spid="110605"/>
                                        </p:tgtEl>
                                        <p:attrNameLst>
                                          <p:attrName>style.visibility</p:attrName>
                                        </p:attrNameLst>
                                      </p:cBhvr>
                                      <p:to>
                                        <p:strVal val="visible"/>
                                      </p:to>
                                    </p:set>
                                    <p:animEffect transition="in" filter="wipe(left)">
                                      <p:cBhvr>
                                        <p:cTn id="31" dur="500"/>
                                        <p:tgtEl>
                                          <p:spTgt spid="110605"/>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10601"/>
                                        </p:tgtEl>
                                        <p:attrNameLst>
                                          <p:attrName>style.visibility</p:attrName>
                                        </p:attrNameLst>
                                      </p:cBhvr>
                                      <p:to>
                                        <p:strVal val="visible"/>
                                      </p:to>
                                    </p:set>
                                    <p:animEffect transition="in" filter="wipe(left)">
                                      <p:cBhvr>
                                        <p:cTn id="36" dur="500"/>
                                        <p:tgtEl>
                                          <p:spTgt spid="110601"/>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110610"/>
                                        </p:tgtEl>
                                        <p:attrNameLst>
                                          <p:attrName>style.visibility</p:attrName>
                                        </p:attrNameLst>
                                      </p:cBhvr>
                                      <p:to>
                                        <p:strVal val="visible"/>
                                      </p:to>
                                    </p:set>
                                    <p:animEffect transition="in" filter="wipe(left)">
                                      <p:cBhvr>
                                        <p:cTn id="41" dur="500"/>
                                        <p:tgtEl>
                                          <p:spTgt spid="110610"/>
                                        </p:tgtEl>
                                      </p:cBhvr>
                                    </p:animEffect>
                                  </p:childTnLst>
                                </p:cTn>
                              </p:par>
                            </p:childTnLst>
                          </p:cTn>
                        </p:par>
                        <p:par>
                          <p:cTn id="42" fill="hold">
                            <p:stCondLst>
                              <p:cond delay="500"/>
                            </p:stCondLst>
                            <p:childTnLst>
                              <p:par>
                                <p:cTn id="43" presetID="22" presetClass="entr" presetSubtype="8" fill="hold" grpId="0" nodeType="afterEffect">
                                  <p:stCondLst>
                                    <p:cond delay="0"/>
                                  </p:stCondLst>
                                  <p:childTnLst>
                                    <p:set>
                                      <p:cBhvr>
                                        <p:cTn id="44" dur="1" fill="hold">
                                          <p:stCondLst>
                                            <p:cond delay="0"/>
                                          </p:stCondLst>
                                        </p:cTn>
                                        <p:tgtEl>
                                          <p:spTgt spid="110602"/>
                                        </p:tgtEl>
                                        <p:attrNameLst>
                                          <p:attrName>style.visibility</p:attrName>
                                        </p:attrNameLst>
                                      </p:cBhvr>
                                      <p:to>
                                        <p:strVal val="visible"/>
                                      </p:to>
                                    </p:set>
                                    <p:animEffect transition="in" filter="wipe(left)">
                                      <p:cBhvr>
                                        <p:cTn id="45" dur="500"/>
                                        <p:tgtEl>
                                          <p:spTgt spid="110602"/>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2" fill="hold" nodeType="clickEffect">
                                  <p:stCondLst>
                                    <p:cond delay="0"/>
                                  </p:stCondLst>
                                  <p:childTnLst>
                                    <p:set>
                                      <p:cBhvr>
                                        <p:cTn id="49" dur="1" fill="hold">
                                          <p:stCondLst>
                                            <p:cond delay="0"/>
                                          </p:stCondLst>
                                        </p:cTn>
                                        <p:tgtEl>
                                          <p:spTgt spid="110613"/>
                                        </p:tgtEl>
                                        <p:attrNameLst>
                                          <p:attrName>style.visibility</p:attrName>
                                        </p:attrNameLst>
                                      </p:cBhvr>
                                      <p:to>
                                        <p:strVal val="visible"/>
                                      </p:to>
                                    </p:set>
                                    <p:animEffect transition="in" filter="wipe(right)">
                                      <p:cBhvr>
                                        <p:cTn id="50" dur="500"/>
                                        <p:tgtEl>
                                          <p:spTgt spid="110613"/>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110616"/>
                                        </p:tgtEl>
                                        <p:attrNameLst>
                                          <p:attrName>style.visibility</p:attrName>
                                        </p:attrNameLst>
                                      </p:cBhvr>
                                      <p:to>
                                        <p:strVal val="visible"/>
                                      </p:to>
                                    </p:set>
                                    <p:animEffect transition="in" filter="wipe(left)">
                                      <p:cBhvr>
                                        <p:cTn id="55" dur="500"/>
                                        <p:tgtEl>
                                          <p:spTgt spid="110616"/>
                                        </p:tgtEl>
                                      </p:cBhvr>
                                    </p:animEffect>
                                  </p:childTnLst>
                                </p:cTn>
                              </p:par>
                            </p:childTnLst>
                          </p:cTn>
                        </p:par>
                        <p:par>
                          <p:cTn id="56" fill="hold">
                            <p:stCondLst>
                              <p:cond delay="500"/>
                            </p:stCondLst>
                            <p:childTnLst>
                              <p:par>
                                <p:cTn id="57" presetID="22" presetClass="entr" presetSubtype="8" fill="hold" grpId="0" nodeType="afterEffect">
                                  <p:stCondLst>
                                    <p:cond delay="0"/>
                                  </p:stCondLst>
                                  <p:childTnLst>
                                    <p:set>
                                      <p:cBhvr>
                                        <p:cTn id="58" dur="1" fill="hold">
                                          <p:stCondLst>
                                            <p:cond delay="0"/>
                                          </p:stCondLst>
                                        </p:cTn>
                                        <p:tgtEl>
                                          <p:spTgt spid="110603"/>
                                        </p:tgtEl>
                                        <p:attrNameLst>
                                          <p:attrName>style.visibility</p:attrName>
                                        </p:attrNameLst>
                                      </p:cBhvr>
                                      <p:to>
                                        <p:strVal val="visible"/>
                                      </p:to>
                                    </p:set>
                                    <p:animEffect transition="in" filter="wipe(left)">
                                      <p:cBhvr>
                                        <p:cTn id="59" dur="500"/>
                                        <p:tgtEl>
                                          <p:spTgt spid="110603"/>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nodeType="clickEffect">
                                  <p:stCondLst>
                                    <p:cond delay="0"/>
                                  </p:stCondLst>
                                  <p:childTnLst>
                                    <p:set>
                                      <p:cBhvr>
                                        <p:cTn id="63" dur="1" fill="hold">
                                          <p:stCondLst>
                                            <p:cond delay="0"/>
                                          </p:stCondLst>
                                        </p:cTn>
                                        <p:tgtEl>
                                          <p:spTgt spid="110619"/>
                                        </p:tgtEl>
                                        <p:attrNameLst>
                                          <p:attrName>style.visibility</p:attrName>
                                        </p:attrNameLst>
                                      </p:cBhvr>
                                      <p:to>
                                        <p:strVal val="visible"/>
                                      </p:to>
                                    </p:set>
                                    <p:animEffect transition="in" filter="wipe(left)">
                                      <p:cBhvr>
                                        <p:cTn id="64" dur="500"/>
                                        <p:tgtEl>
                                          <p:spTgt spid="110619"/>
                                        </p:tgtEl>
                                      </p:cBhvr>
                                    </p:animEffect>
                                  </p:childTnLst>
                                </p:cTn>
                              </p:par>
                            </p:childTnLst>
                          </p:cTn>
                        </p:par>
                        <p:par>
                          <p:cTn id="65" fill="hold">
                            <p:stCondLst>
                              <p:cond delay="500"/>
                            </p:stCondLst>
                            <p:childTnLst>
                              <p:par>
                                <p:cTn id="66" presetID="22" presetClass="entr" presetSubtype="8" fill="hold" grpId="0" nodeType="afterEffect">
                                  <p:stCondLst>
                                    <p:cond delay="0"/>
                                  </p:stCondLst>
                                  <p:childTnLst>
                                    <p:set>
                                      <p:cBhvr>
                                        <p:cTn id="67" dur="1" fill="hold">
                                          <p:stCondLst>
                                            <p:cond delay="0"/>
                                          </p:stCondLst>
                                        </p:cTn>
                                        <p:tgtEl>
                                          <p:spTgt spid="110604"/>
                                        </p:tgtEl>
                                        <p:attrNameLst>
                                          <p:attrName>style.visibility</p:attrName>
                                        </p:attrNameLst>
                                      </p:cBhvr>
                                      <p:to>
                                        <p:strVal val="visible"/>
                                      </p:to>
                                    </p:set>
                                    <p:animEffect transition="in" filter="wipe(left)">
                                      <p:cBhvr>
                                        <p:cTn id="68" dur="500"/>
                                        <p:tgtEl>
                                          <p:spTgt spid="110604"/>
                                        </p:tgtEl>
                                      </p:cBhvr>
                                    </p:animEffect>
                                  </p:childTnLst>
                                </p:cTn>
                              </p:par>
                            </p:childTnLst>
                          </p:cTn>
                        </p:par>
                      </p:childTnLst>
                    </p:cTn>
                  </p:par>
                  <p:par>
                    <p:cTn id="69" fill="hold">
                      <p:stCondLst>
                        <p:cond delay="indefinite"/>
                      </p:stCondLst>
                      <p:childTnLst>
                        <p:par>
                          <p:cTn id="70" fill="hold">
                            <p:stCondLst>
                              <p:cond delay="0"/>
                            </p:stCondLst>
                            <p:childTnLst>
                              <p:par>
                                <p:cTn id="71" presetID="3" presetClass="entr" presetSubtype="5" fill="hold" grpId="0" nodeType="clickEffect">
                                  <p:stCondLst>
                                    <p:cond delay="0"/>
                                  </p:stCondLst>
                                  <p:childTnLst>
                                    <p:set>
                                      <p:cBhvr>
                                        <p:cTn id="72" dur="1" fill="hold">
                                          <p:stCondLst>
                                            <p:cond delay="0"/>
                                          </p:stCondLst>
                                        </p:cTn>
                                        <p:tgtEl>
                                          <p:spTgt spid="110598"/>
                                        </p:tgtEl>
                                        <p:attrNameLst>
                                          <p:attrName>style.visibility</p:attrName>
                                        </p:attrNameLst>
                                      </p:cBhvr>
                                      <p:to>
                                        <p:strVal val="visible"/>
                                      </p:to>
                                    </p:set>
                                    <p:animEffect transition="in" filter="blinds(vertical)">
                                      <p:cBhvr>
                                        <p:cTn id="73" dur="500"/>
                                        <p:tgtEl>
                                          <p:spTgt spid="1105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5" grpId="0"/>
      <p:bldP spid="110596" grpId="0"/>
      <p:bldP spid="110597" grpId="0"/>
      <p:bldP spid="110598" grpId="0"/>
      <p:bldP spid="110599" grpId="0"/>
      <p:bldP spid="110600" grpId="0"/>
      <p:bldP spid="110601" grpId="0"/>
      <p:bldP spid="110602" grpId="0"/>
      <p:bldP spid="110603" grpId="0"/>
      <p:bldP spid="110604"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786" name="标题 502785"/>
          <p:cNvSpPr>
            <a:spLocks noGrp="1" noRot="1"/>
          </p:cNvSpPr>
          <p:nvPr>
            <p:ph type="title"/>
          </p:nvPr>
        </p:nvSpPr>
        <p:spPr>
          <a:xfrm>
            <a:off x="533400" y="692696"/>
            <a:ext cx="8229600" cy="1143000"/>
          </a:xfrm>
          <a:solidFill>
            <a:srgbClr val="92D050"/>
          </a:solidFill>
          <a:ln/>
        </p:spPr>
        <p:txBody>
          <a:bodyPr anchor="ctr"/>
          <a:lstStyle/>
          <a:p>
            <a:r>
              <a:rPr lang="zh-CN" altLang="en-US" sz="4000" b="1" dirty="0">
                <a:solidFill>
                  <a:srgbClr val="000000"/>
                </a:solidFill>
              </a:rPr>
              <a:t>    </a:t>
            </a:r>
            <a:r>
              <a:rPr lang="zh-CN" altLang="en-US" sz="3200" b="1" dirty="0">
                <a:solidFill>
                  <a:schemeClr val="tx1"/>
                </a:solidFill>
              </a:rPr>
              <a:t>当血液和尿液中含有过量的葡萄糖时就患有糖尿病，含糖量越高，</a:t>
            </a:r>
            <a:r>
              <a:rPr lang="zh-CN" altLang="en-US" sz="2800" b="1" dirty="0">
                <a:solidFill>
                  <a:schemeClr val="tx1"/>
                </a:solidFill>
              </a:rPr>
              <a:t>病情</a:t>
            </a:r>
            <a:r>
              <a:rPr lang="zh-CN" altLang="en-US" sz="3200" b="1" dirty="0">
                <a:solidFill>
                  <a:schemeClr val="tx1"/>
                </a:solidFill>
              </a:rPr>
              <a:t>越重！</a:t>
            </a:r>
            <a:endParaRPr lang="zh-CN" altLang="en-US" sz="3400" b="1" dirty="0">
              <a:solidFill>
                <a:schemeClr val="tx1"/>
              </a:solidFill>
            </a:endParaRPr>
          </a:p>
        </p:txBody>
      </p:sp>
      <p:sp>
        <p:nvSpPr>
          <p:cNvPr id="502787" name="内容占位符 502786"/>
          <p:cNvSpPr>
            <a:spLocks noGrp="1" noRot="1"/>
          </p:cNvSpPr>
          <p:nvPr>
            <p:ph idx="1"/>
          </p:nvPr>
        </p:nvSpPr>
        <p:spPr>
          <a:xfrm>
            <a:off x="533400" y="1962150"/>
            <a:ext cx="8229600" cy="4525963"/>
          </a:xfrm>
          <a:ln/>
        </p:spPr>
        <p:txBody>
          <a:bodyPr anchor="t"/>
          <a:lstStyle/>
          <a:p>
            <a:pPr>
              <a:lnSpc>
                <a:spcPct val="150000"/>
              </a:lnSpc>
            </a:pPr>
            <a:r>
              <a:rPr lang="zh-CN" altLang="en-US" b="1" dirty="0" smtClean="0">
                <a:solidFill>
                  <a:schemeClr val="tx1"/>
                </a:solidFill>
              </a:rPr>
              <a:t>     </a:t>
            </a:r>
            <a:r>
              <a:rPr lang="zh-CN" altLang="en-US" b="1" dirty="0" smtClean="0">
                <a:solidFill>
                  <a:srgbClr val="0000FF"/>
                </a:solidFill>
              </a:rPr>
              <a:t>高血糖</a:t>
            </a:r>
            <a:r>
              <a:rPr lang="zh-CN" altLang="en-US" sz="2400" b="1" dirty="0">
                <a:solidFill>
                  <a:schemeClr val="tx1"/>
                </a:solidFill>
              </a:rPr>
              <a:t>：空腹时血糖浓度高于</a:t>
            </a:r>
            <a:r>
              <a:rPr lang="en-US" altLang="zh-CN" sz="2400" b="1" dirty="0">
                <a:solidFill>
                  <a:schemeClr val="tx1"/>
                </a:solidFill>
              </a:rPr>
              <a:t>120mg/dl</a:t>
            </a:r>
            <a:r>
              <a:rPr lang="zh-CN" altLang="en-US" sz="2400" b="1" dirty="0">
                <a:solidFill>
                  <a:schemeClr val="tx1"/>
                </a:solidFill>
              </a:rPr>
              <a:t>血液（正常范围为</a:t>
            </a:r>
            <a:r>
              <a:rPr lang="en-US" altLang="zh-CN" sz="2400" b="1" dirty="0">
                <a:solidFill>
                  <a:schemeClr val="tx1"/>
                </a:solidFill>
              </a:rPr>
              <a:t>80</a:t>
            </a:r>
            <a:r>
              <a:rPr lang="zh-CN" altLang="en-US" sz="2400" b="1" dirty="0">
                <a:solidFill>
                  <a:schemeClr val="tx1"/>
                </a:solidFill>
              </a:rPr>
              <a:t>－</a:t>
            </a:r>
            <a:r>
              <a:rPr lang="en-US" altLang="zh-CN" sz="2400" b="1" dirty="0">
                <a:solidFill>
                  <a:schemeClr val="tx1"/>
                </a:solidFill>
              </a:rPr>
              <a:t>120mg/dl</a:t>
            </a:r>
            <a:r>
              <a:rPr lang="zh-CN" altLang="en-US" sz="2400" b="1" dirty="0">
                <a:solidFill>
                  <a:schemeClr val="tx1"/>
                </a:solidFill>
              </a:rPr>
              <a:t>血液）</a:t>
            </a:r>
          </a:p>
          <a:p>
            <a:pPr>
              <a:lnSpc>
                <a:spcPct val="150000"/>
              </a:lnSpc>
            </a:pPr>
            <a:r>
              <a:rPr lang="zh-CN" altLang="en-US" sz="2400" b="1" dirty="0">
                <a:solidFill>
                  <a:schemeClr val="tx1"/>
                </a:solidFill>
              </a:rPr>
              <a:t>糖尿病：血糖超过肾糖阀值，</a:t>
            </a:r>
            <a:r>
              <a:rPr lang="en-US" altLang="zh-CN" sz="2400" b="1" dirty="0">
                <a:solidFill>
                  <a:schemeClr val="tx1"/>
                </a:solidFill>
              </a:rPr>
              <a:t>160</a:t>
            </a:r>
            <a:r>
              <a:rPr lang="zh-CN" altLang="en-US" sz="2400" b="1" dirty="0">
                <a:solidFill>
                  <a:schemeClr val="tx1"/>
                </a:solidFill>
              </a:rPr>
              <a:t>－</a:t>
            </a:r>
            <a:r>
              <a:rPr lang="en-US" altLang="zh-CN" sz="2400" b="1" dirty="0">
                <a:solidFill>
                  <a:schemeClr val="tx1"/>
                </a:solidFill>
              </a:rPr>
              <a:t>180mg/dl</a:t>
            </a:r>
            <a:r>
              <a:rPr lang="zh-CN" altLang="en-US" sz="2400" b="1" dirty="0">
                <a:solidFill>
                  <a:schemeClr val="tx1"/>
                </a:solidFill>
              </a:rPr>
              <a:t>血液。症状高血糖、糖尿、多尿，表现为三多一少，即多饮、多食、多尿、体重减少。</a:t>
            </a:r>
            <a:r>
              <a:rPr lang="zh-CN" altLang="en-US" dirty="0">
                <a:solidFill>
                  <a:schemeClr val="tx1"/>
                </a:solidFill>
              </a:rPr>
              <a:t/>
            </a:r>
            <a:br>
              <a:rPr lang="zh-CN" altLang="en-US" dirty="0">
                <a:solidFill>
                  <a:schemeClr val="tx1"/>
                </a:solidFill>
              </a:rPr>
            </a:br>
            <a:endParaRPr lang="zh-CN" altLang="en-US" dirty="0">
              <a:solidFill>
                <a:schemeClr val="tx1"/>
              </a:solidFill>
            </a:endParaRPr>
          </a:p>
        </p:txBody>
      </p:sp>
      <p:sp>
        <p:nvSpPr>
          <p:cNvPr id="41987" name="灯片编号占位符 1"/>
          <p:cNvSpPr>
            <a:spLocks noGrp="1"/>
          </p:cNvSpPr>
          <p:nvPr>
            <p:ph type="sldNum" sz="quarter" idx="11"/>
          </p:nvPr>
        </p:nvSpPr>
        <p:spPr>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400" dirty="0"/>
              <a:pPr lvl="0" indent="0" algn="r"/>
              <a:t>41</a:t>
            </a:fld>
            <a:endParaRPr lang="zh-CN" alt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502786"/>
                                        </p:tgtEl>
                                        <p:attrNameLst>
                                          <p:attrName>style.visibility</p:attrName>
                                        </p:attrNameLst>
                                      </p:cBhvr>
                                      <p:to>
                                        <p:strVal val="visible"/>
                                      </p:to>
                                    </p:set>
                                    <p:animEffect transition="in" filter="randombar(horizontal)">
                                      <p:cBhvr>
                                        <p:cTn id="7" dur="600">
                                          <p:stCondLst>
                                            <p:cond delay="0"/>
                                          </p:stCondLst>
                                        </p:cTn>
                                        <p:tgtEl>
                                          <p:spTgt spid="50278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02787">
                                            <p:txEl>
                                              <p:pRg st="0" end="0"/>
                                            </p:txEl>
                                          </p:spTgt>
                                        </p:tgtEl>
                                        <p:attrNameLst>
                                          <p:attrName>style.visibility</p:attrName>
                                        </p:attrNameLst>
                                      </p:cBhvr>
                                      <p:to>
                                        <p:strVal val="visible"/>
                                      </p:to>
                                    </p:set>
                                    <p:animEffect transition="in" filter="randombar(horizontal)">
                                      <p:cBhvr>
                                        <p:cTn id="12" dur="500"/>
                                        <p:tgtEl>
                                          <p:spTgt spid="50278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502787">
                                            <p:txEl>
                                              <p:pRg st="1" end="1"/>
                                            </p:txEl>
                                          </p:spTgt>
                                        </p:tgtEl>
                                        <p:attrNameLst>
                                          <p:attrName>style.visibility</p:attrName>
                                        </p:attrNameLst>
                                      </p:cBhvr>
                                      <p:to>
                                        <p:strVal val="visible"/>
                                      </p:to>
                                    </p:set>
                                    <p:animEffect transition="in" filter="randombar(horizontal)">
                                      <p:cBhvr>
                                        <p:cTn id="17" dur="500"/>
                                        <p:tgtEl>
                                          <p:spTgt spid="50278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2786" grpId="0" animBg="1"/>
      <p:bldP spid="502787"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0195" name="内容占位符 520194"/>
          <p:cNvSpPr>
            <a:spLocks noGrp="1" noRot="1"/>
          </p:cNvSpPr>
          <p:nvPr>
            <p:ph idx="1"/>
          </p:nvPr>
        </p:nvSpPr>
        <p:spPr>
          <a:xfrm>
            <a:off x="533400" y="1196752"/>
            <a:ext cx="8229600" cy="4525963"/>
          </a:xfrm>
          <a:ln/>
        </p:spPr>
        <p:txBody>
          <a:bodyPr anchor="t"/>
          <a:lstStyle/>
          <a:p>
            <a:pPr>
              <a:lnSpc>
                <a:spcPct val="150000"/>
              </a:lnSpc>
            </a:pPr>
            <a:r>
              <a:rPr lang="zh-CN" altLang="en-US" sz="2800" b="1" dirty="0" smtClean="0">
                <a:solidFill>
                  <a:schemeClr val="tx1"/>
                </a:solidFill>
              </a:rPr>
              <a:t>     </a:t>
            </a:r>
            <a:r>
              <a:rPr lang="zh-CN" altLang="en-US" b="1" dirty="0" smtClean="0">
                <a:solidFill>
                  <a:srgbClr val="0000FF"/>
                </a:solidFill>
              </a:rPr>
              <a:t>低血糖</a:t>
            </a:r>
            <a:r>
              <a:rPr lang="zh-CN" altLang="en-US" sz="2800" b="1" dirty="0">
                <a:solidFill>
                  <a:schemeClr val="tx1"/>
                </a:solidFill>
              </a:rPr>
              <a:t>：血糖低于</a:t>
            </a:r>
            <a:r>
              <a:rPr lang="en-US" altLang="zh-CN" sz="2800" b="1" dirty="0">
                <a:solidFill>
                  <a:schemeClr val="tx1"/>
                </a:solidFill>
              </a:rPr>
              <a:t>60</a:t>
            </a:r>
            <a:r>
              <a:rPr lang="zh-CN" altLang="en-US" sz="2800" b="1" dirty="0">
                <a:solidFill>
                  <a:schemeClr val="tx1"/>
                </a:solidFill>
              </a:rPr>
              <a:t>－</a:t>
            </a:r>
            <a:r>
              <a:rPr lang="en-US" altLang="zh-CN" sz="2800" b="1" dirty="0">
                <a:solidFill>
                  <a:schemeClr val="tx1"/>
                </a:solidFill>
              </a:rPr>
              <a:t>70</a:t>
            </a:r>
            <a:r>
              <a:rPr lang="zh-CN" altLang="en-US" sz="2800" b="1" dirty="0">
                <a:solidFill>
                  <a:schemeClr val="tx1"/>
                </a:solidFill>
              </a:rPr>
              <a:t>毫克。症状，饥饿、四肢无力、面色苍白、心慌、多汗等症状。若下降至</a:t>
            </a:r>
            <a:r>
              <a:rPr lang="en-US" altLang="zh-CN" sz="2800" b="1" dirty="0">
                <a:solidFill>
                  <a:schemeClr val="tx1"/>
                </a:solidFill>
              </a:rPr>
              <a:t>45</a:t>
            </a:r>
            <a:r>
              <a:rPr lang="zh-CN" altLang="en-US" sz="2800" b="1" dirty="0">
                <a:solidFill>
                  <a:schemeClr val="tx1"/>
                </a:solidFill>
              </a:rPr>
              <a:t>毫克以下，因脑组织缺乏能量而发生功能性障碍，严重影响脑部功能，出现头晕、昏迷、休克，甚至死亡</a:t>
            </a:r>
            <a:r>
              <a:rPr lang="zh-CN" altLang="en-US" dirty="0">
                <a:solidFill>
                  <a:schemeClr val="tx1"/>
                </a:solidFill>
              </a:rPr>
              <a:t>。</a:t>
            </a:r>
          </a:p>
          <a:p>
            <a:endParaRPr lang="zh-CN" altLang="en-US" dirty="0">
              <a:solidFill>
                <a:schemeClr val="tx1"/>
              </a:solidFill>
            </a:endParaRPr>
          </a:p>
        </p:txBody>
      </p:sp>
      <p:sp>
        <p:nvSpPr>
          <p:cNvPr id="43011" name="灯片编号占位符 1"/>
          <p:cNvSpPr>
            <a:spLocks noGrp="1"/>
          </p:cNvSpPr>
          <p:nvPr>
            <p:ph type="sldNum" sz="quarter" idx="11"/>
          </p:nvPr>
        </p:nvSpPr>
        <p:spPr>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400" dirty="0"/>
              <a:pPr lvl="0" indent="0" algn="r"/>
              <a:t>42</a:t>
            </a:fld>
            <a:endParaRPr lang="zh-CN" alt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20195">
                                            <p:txEl>
                                              <p:pRg st="0" end="0"/>
                                            </p:txEl>
                                          </p:spTgt>
                                        </p:tgtEl>
                                        <p:attrNameLst>
                                          <p:attrName>style.visibility</p:attrName>
                                        </p:attrNameLst>
                                      </p:cBhvr>
                                      <p:to>
                                        <p:strVal val="visible"/>
                                      </p:to>
                                    </p:set>
                                    <p:animEffect transition="in" filter="fade">
                                      <p:cBhvr>
                                        <p:cTn id="7" dur="2000"/>
                                        <p:tgtEl>
                                          <p:spTgt spid="520195">
                                            <p:txEl>
                                              <p:pRg st="0" end="0"/>
                                            </p:txEl>
                                          </p:spTgt>
                                        </p:tgtEl>
                                      </p:cBhvr>
                                    </p:animEffect>
                                  </p:childTnLst>
                                  <p:subTnLst>
                                    <p:animClr clrSpc="rgb" dir="cw">
                                      <p:cBhvr override="childStyle">
                                        <p:cTn dur="1" fill="hold" display="0" masterRel="nextClick" afterEffect="1"/>
                                        <p:tgtEl>
                                          <p:spTgt spid="520195">
                                            <p:txEl>
                                              <p:pRg st="0" end="0"/>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0195"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1" name="内容占位符 503810"/>
          <p:cNvSpPr>
            <a:spLocks noGrp="1" noRot="1"/>
          </p:cNvSpPr>
          <p:nvPr>
            <p:ph idx="1"/>
          </p:nvPr>
        </p:nvSpPr>
        <p:spPr>
          <a:xfrm>
            <a:off x="346074" y="357166"/>
            <a:ext cx="8416925" cy="4525963"/>
          </a:xfrm>
          <a:ln/>
        </p:spPr>
        <p:txBody>
          <a:bodyPr anchor="t"/>
          <a:lstStyle/>
          <a:p>
            <a:pPr>
              <a:lnSpc>
                <a:spcPct val="130000"/>
              </a:lnSpc>
              <a:spcBef>
                <a:spcPts val="0"/>
              </a:spcBef>
            </a:pPr>
            <a:r>
              <a:rPr lang="zh-CN" altLang="en-US" b="1" dirty="0">
                <a:solidFill>
                  <a:srgbClr val="0000FF"/>
                </a:solidFill>
                <a:latin typeface="Times New Roman" pitchFamily="18" charset="0"/>
                <a:cs typeface="Times New Roman" pitchFamily="18" charset="0"/>
              </a:rPr>
              <a:t>甜味剂</a:t>
            </a:r>
            <a:r>
              <a:rPr lang="zh-CN" altLang="en-US" sz="3000" b="1" dirty="0">
                <a:solidFill>
                  <a:schemeClr val="tx1"/>
                </a:solidFill>
                <a:latin typeface="Times New Roman" pitchFamily="18" charset="0"/>
                <a:cs typeface="Times New Roman" pitchFamily="18" charset="0"/>
              </a:rPr>
              <a:t>：</a:t>
            </a:r>
            <a:r>
              <a:rPr lang="zh-CN" altLang="en-US" sz="2400" b="1" dirty="0">
                <a:solidFill>
                  <a:schemeClr val="tx1"/>
                </a:solidFill>
                <a:latin typeface="Times New Roman" pitchFamily="18" charset="0"/>
                <a:cs typeface="Times New Roman" pitchFamily="18" charset="0"/>
              </a:rPr>
              <a:t>一般的糖都有甜味。果糖、蔗糖与葡萄糖的甜味的比例，根据实验测定是</a:t>
            </a:r>
            <a:r>
              <a:rPr lang="en-US" altLang="zh-CN" sz="2400" b="1" dirty="0">
                <a:solidFill>
                  <a:schemeClr val="tx1"/>
                </a:solidFill>
                <a:latin typeface="Times New Roman" pitchFamily="18" charset="0"/>
                <a:cs typeface="Times New Roman" pitchFamily="18" charset="0"/>
              </a:rPr>
              <a:t>9</a:t>
            </a:r>
            <a:r>
              <a:rPr lang="zh-CN" altLang="en-US" sz="2400" b="1" dirty="0">
                <a:solidFill>
                  <a:schemeClr val="tx1"/>
                </a:solidFill>
                <a:latin typeface="Times New Roman" pitchFamily="18" charset="0"/>
                <a:cs typeface="Times New Roman" pitchFamily="18" charset="0"/>
              </a:rPr>
              <a:t>：</a:t>
            </a:r>
            <a:r>
              <a:rPr lang="en-US" altLang="zh-CN" sz="2400" b="1" dirty="0">
                <a:solidFill>
                  <a:schemeClr val="tx1"/>
                </a:solidFill>
                <a:latin typeface="Times New Roman" pitchFamily="18" charset="0"/>
                <a:cs typeface="Times New Roman" pitchFamily="18" charset="0"/>
              </a:rPr>
              <a:t>5</a:t>
            </a:r>
            <a:r>
              <a:rPr lang="zh-CN" altLang="en-US" sz="2400" b="1" dirty="0">
                <a:solidFill>
                  <a:schemeClr val="tx1"/>
                </a:solidFill>
                <a:latin typeface="Times New Roman" pitchFamily="18" charset="0"/>
                <a:cs typeface="Times New Roman" pitchFamily="18" charset="0"/>
              </a:rPr>
              <a:t>：</a:t>
            </a:r>
            <a:r>
              <a:rPr lang="en-US" altLang="zh-CN" sz="2400" b="1" dirty="0">
                <a:solidFill>
                  <a:schemeClr val="tx1"/>
                </a:solidFill>
                <a:latin typeface="Times New Roman" pitchFamily="18" charset="0"/>
                <a:cs typeface="Times New Roman" pitchFamily="18" charset="0"/>
              </a:rPr>
              <a:t>4</a:t>
            </a:r>
            <a:r>
              <a:rPr lang="zh-CN" altLang="en-US" sz="2400" b="1" dirty="0">
                <a:solidFill>
                  <a:schemeClr val="tx1"/>
                </a:solidFill>
                <a:latin typeface="Times New Roman" pitchFamily="18" charset="0"/>
                <a:cs typeface="Times New Roman" pitchFamily="18" charset="0"/>
              </a:rPr>
              <a:t>。蜂蜜中含有果糖和葡萄糖。</a:t>
            </a:r>
          </a:p>
          <a:p>
            <a:pPr>
              <a:lnSpc>
                <a:spcPct val="130000"/>
              </a:lnSpc>
              <a:spcBef>
                <a:spcPts val="0"/>
              </a:spcBef>
              <a:buNone/>
            </a:pPr>
            <a:r>
              <a:rPr lang="zh-CN" altLang="en-US" sz="2400" b="1" dirty="0">
                <a:latin typeface="Times New Roman" pitchFamily="18" charset="0"/>
                <a:cs typeface="Times New Roman" pitchFamily="18" charset="0"/>
              </a:rPr>
              <a:t>        </a:t>
            </a:r>
            <a:r>
              <a:rPr lang="zh-CN" altLang="en-US" sz="2400" b="1" dirty="0">
                <a:solidFill>
                  <a:srgbClr val="FF0000"/>
                </a:solidFill>
                <a:latin typeface="Times New Roman" pitchFamily="18" charset="0"/>
                <a:cs typeface="Times New Roman" pitchFamily="18" charset="0"/>
              </a:rPr>
              <a:t>是不是所有的糖都有甜味呢？</a:t>
            </a:r>
            <a:r>
              <a:rPr lang="zh-CN" altLang="en-US" sz="2400" b="1" dirty="0">
                <a:solidFill>
                  <a:schemeClr val="tx1"/>
                </a:solidFill>
                <a:latin typeface="Times New Roman" pitchFamily="18" charset="0"/>
                <a:cs typeface="Times New Roman" pitchFamily="18" charset="0"/>
              </a:rPr>
              <a:t>不是。例如，牛奶中有</a:t>
            </a:r>
            <a:r>
              <a:rPr lang="en-US" altLang="zh-CN" sz="2400" b="1" dirty="0">
                <a:solidFill>
                  <a:schemeClr val="tx1"/>
                </a:solidFill>
                <a:latin typeface="Times New Roman" pitchFamily="18" charset="0"/>
                <a:cs typeface="Times New Roman" pitchFamily="18" charset="0"/>
              </a:rPr>
              <a:t>4%</a:t>
            </a:r>
            <a:r>
              <a:rPr lang="zh-CN" altLang="en-US" sz="2400" b="1" dirty="0">
                <a:solidFill>
                  <a:schemeClr val="tx1"/>
                </a:solidFill>
                <a:latin typeface="Times New Roman" pitchFamily="18" charset="0"/>
                <a:cs typeface="Times New Roman" pitchFamily="18" charset="0"/>
              </a:rPr>
              <a:t>的乳糖，乳糖是没有甜味的糖。最常见的无味糖就是米饭中的淀粉。 </a:t>
            </a:r>
            <a:r>
              <a:rPr lang="zh-CN" altLang="en-US" sz="2400" b="1" dirty="0" smtClean="0">
                <a:solidFill>
                  <a:srgbClr val="0000FF"/>
                </a:solidFill>
                <a:latin typeface="Times New Roman" pitchFamily="18" charset="0"/>
                <a:cs typeface="Times New Roman" pitchFamily="18" charset="0"/>
              </a:rPr>
              <a:t> </a:t>
            </a:r>
            <a:r>
              <a:rPr lang="zh-CN" altLang="en-US" sz="2400" b="1" dirty="0">
                <a:solidFill>
                  <a:schemeClr val="tx1"/>
                </a:solidFill>
                <a:latin typeface="Times New Roman" pitchFamily="18" charset="0"/>
                <a:cs typeface="Times New Roman" pitchFamily="18" charset="0"/>
              </a:rPr>
              <a:t>反过来说，是不是有甜味的都是糖呢？也不能这样说。例如乙二醇、甘油虽有甜味，但都不是糖。</a:t>
            </a:r>
          </a:p>
          <a:p>
            <a:pPr>
              <a:lnSpc>
                <a:spcPct val="130000"/>
              </a:lnSpc>
              <a:spcBef>
                <a:spcPts val="0"/>
              </a:spcBef>
            </a:pPr>
            <a:r>
              <a:rPr lang="zh-CN" altLang="en-US" sz="3000" b="1" dirty="0">
                <a:solidFill>
                  <a:srgbClr val="0000FF"/>
                </a:solidFill>
                <a:latin typeface="Times New Roman" pitchFamily="18" charset="0"/>
                <a:cs typeface="Times New Roman" pitchFamily="18" charset="0"/>
              </a:rPr>
              <a:t>高效甜味剂</a:t>
            </a:r>
            <a:r>
              <a:rPr lang="zh-CN" altLang="en-US" sz="2400" b="1" dirty="0">
                <a:solidFill>
                  <a:schemeClr val="tx1"/>
                </a:solidFill>
                <a:latin typeface="Times New Roman" pitchFamily="18" charset="0"/>
                <a:cs typeface="Times New Roman" pitchFamily="18" charset="0"/>
              </a:rPr>
              <a:t>：</a:t>
            </a:r>
            <a:r>
              <a:rPr lang="en-US" altLang="zh-CN" sz="2400" b="1" dirty="0">
                <a:solidFill>
                  <a:schemeClr val="tx1"/>
                </a:solidFill>
                <a:latin typeface="Times New Roman" pitchFamily="18" charset="0"/>
                <a:cs typeface="Times New Roman" pitchFamily="18" charset="0"/>
              </a:rPr>
              <a:t>A, </a:t>
            </a:r>
            <a:r>
              <a:rPr lang="zh-CN" altLang="en-US" sz="2400" b="1" dirty="0">
                <a:solidFill>
                  <a:schemeClr val="tx1"/>
                </a:solidFill>
                <a:latin typeface="Times New Roman" pitchFamily="18" charset="0"/>
                <a:cs typeface="Times New Roman" pitchFamily="18" charset="0"/>
              </a:rPr>
              <a:t>合成甜味剂，比如安塞蜜（</a:t>
            </a:r>
            <a:r>
              <a:rPr lang="en-US" altLang="zh-CN" sz="2400" b="1" dirty="0">
                <a:solidFill>
                  <a:schemeClr val="tx1"/>
                </a:solidFill>
                <a:latin typeface="Times New Roman" pitchFamily="18" charset="0"/>
                <a:cs typeface="Times New Roman" pitchFamily="18" charset="0"/>
              </a:rPr>
              <a:t>200</a:t>
            </a:r>
            <a:r>
              <a:rPr lang="zh-CN" altLang="en-US" sz="2400" b="1" dirty="0">
                <a:solidFill>
                  <a:schemeClr val="tx1"/>
                </a:solidFill>
                <a:latin typeface="Times New Roman" pitchFamily="18" charset="0"/>
                <a:cs typeface="Times New Roman" pitchFamily="18" charset="0"/>
              </a:rPr>
              <a:t>－</a:t>
            </a:r>
            <a:r>
              <a:rPr lang="en-US" altLang="zh-CN" sz="2400" b="1" dirty="0">
                <a:solidFill>
                  <a:schemeClr val="tx1"/>
                </a:solidFill>
                <a:latin typeface="Times New Roman" pitchFamily="18" charset="0"/>
                <a:cs typeface="Times New Roman" pitchFamily="18" charset="0"/>
              </a:rPr>
              <a:t>250</a:t>
            </a:r>
            <a:r>
              <a:rPr lang="zh-CN" altLang="en-US" sz="2400" b="1" dirty="0">
                <a:solidFill>
                  <a:schemeClr val="tx1"/>
                </a:solidFill>
                <a:latin typeface="Times New Roman" pitchFamily="18" charset="0"/>
                <a:cs typeface="Times New Roman" pitchFamily="18" charset="0"/>
              </a:rPr>
              <a:t>） 、甜蜜素（</a:t>
            </a:r>
            <a:r>
              <a:rPr lang="en-US" altLang="zh-CN" sz="2400" b="1" dirty="0">
                <a:solidFill>
                  <a:schemeClr val="tx1"/>
                </a:solidFill>
                <a:latin typeface="Times New Roman" pitchFamily="18" charset="0"/>
                <a:cs typeface="Times New Roman" pitchFamily="18" charset="0"/>
              </a:rPr>
              <a:t>30 </a:t>
            </a:r>
            <a:r>
              <a:rPr lang="zh-CN" altLang="en-US" sz="2400" b="1" dirty="0">
                <a:solidFill>
                  <a:schemeClr val="tx1"/>
                </a:solidFill>
                <a:latin typeface="Times New Roman" pitchFamily="18" charset="0"/>
                <a:cs typeface="Times New Roman" pitchFamily="18" charset="0"/>
              </a:rPr>
              <a:t>） 、糖精（</a:t>
            </a:r>
            <a:r>
              <a:rPr lang="en-US" altLang="zh-CN" sz="2400" b="1" dirty="0">
                <a:solidFill>
                  <a:schemeClr val="tx1"/>
                </a:solidFill>
                <a:latin typeface="Times New Roman" pitchFamily="18" charset="0"/>
                <a:cs typeface="Times New Roman" pitchFamily="18" charset="0"/>
              </a:rPr>
              <a:t>200</a:t>
            </a:r>
            <a:r>
              <a:rPr lang="zh-CN" altLang="en-US" sz="2400" b="1" dirty="0">
                <a:solidFill>
                  <a:schemeClr val="tx1"/>
                </a:solidFill>
                <a:latin typeface="Times New Roman" pitchFamily="18" charset="0"/>
                <a:cs typeface="Times New Roman" pitchFamily="18" charset="0"/>
              </a:rPr>
              <a:t>－</a:t>
            </a:r>
            <a:r>
              <a:rPr lang="en-US" altLang="zh-CN" sz="2400" b="1" dirty="0">
                <a:solidFill>
                  <a:schemeClr val="tx1"/>
                </a:solidFill>
                <a:latin typeface="Times New Roman" pitchFamily="18" charset="0"/>
                <a:cs typeface="Times New Roman" pitchFamily="18" charset="0"/>
              </a:rPr>
              <a:t>700</a:t>
            </a:r>
            <a:r>
              <a:rPr lang="zh-CN" altLang="en-US" sz="2400" b="1" dirty="0">
                <a:solidFill>
                  <a:schemeClr val="tx1"/>
                </a:solidFill>
                <a:latin typeface="Times New Roman" pitchFamily="18" charset="0"/>
                <a:cs typeface="Times New Roman" pitchFamily="18" charset="0"/>
              </a:rPr>
              <a:t>）、阿斯巴甜（</a:t>
            </a:r>
            <a:r>
              <a:rPr lang="en-US" altLang="zh-CN" sz="2400" b="1" dirty="0">
                <a:solidFill>
                  <a:schemeClr val="tx1"/>
                </a:solidFill>
                <a:latin typeface="Times New Roman" pitchFamily="18" charset="0"/>
                <a:cs typeface="Times New Roman" pitchFamily="18" charset="0"/>
              </a:rPr>
              <a:t>200</a:t>
            </a:r>
            <a:r>
              <a:rPr lang="zh-CN" altLang="en-US" sz="2400" b="1" dirty="0">
                <a:solidFill>
                  <a:schemeClr val="tx1"/>
                </a:solidFill>
                <a:latin typeface="Times New Roman" pitchFamily="18" charset="0"/>
                <a:cs typeface="Times New Roman" pitchFamily="18" charset="0"/>
              </a:rPr>
              <a:t>）等。糖精是以煤焦油为基本原料制成的，糖精没有营养价值。结构式如下：</a:t>
            </a:r>
          </a:p>
        </p:txBody>
      </p:sp>
      <p:pic>
        <p:nvPicPr>
          <p:cNvPr id="503815" name="图片 503814" descr="200863161712"/>
          <p:cNvPicPr>
            <a:picLocks noChangeAspect="1"/>
          </p:cNvPicPr>
          <p:nvPr/>
        </p:nvPicPr>
        <p:blipFill>
          <a:blip r:embed="rId2" cstate="print"/>
          <a:stretch>
            <a:fillRect/>
          </a:stretch>
        </p:blipFill>
        <p:spPr>
          <a:xfrm>
            <a:off x="5074285" y="5560695"/>
            <a:ext cx="1828800" cy="1296988"/>
          </a:xfrm>
          <a:prstGeom prst="rect">
            <a:avLst/>
          </a:prstGeom>
          <a:noFill/>
          <a:ln w="9525">
            <a:noFill/>
          </a:ln>
        </p:spPr>
      </p:pic>
      <p:sp>
        <p:nvSpPr>
          <p:cNvPr id="44035" name="灯片编号占位符 1"/>
          <p:cNvSpPr>
            <a:spLocks noGrp="1"/>
          </p:cNvSpPr>
          <p:nvPr>
            <p:ph type="sldNum" sz="quarter" idx="11"/>
          </p:nvPr>
        </p:nvSpPr>
        <p:spPr>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400" dirty="0"/>
              <a:pPr lvl="0" indent="0" algn="r"/>
              <a:t>43</a:t>
            </a:fld>
            <a:endParaRPr lang="zh-CN" alt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03811">
                                            <p:txEl>
                                              <p:pRg st="0" end="0"/>
                                            </p:txEl>
                                          </p:spTgt>
                                        </p:tgtEl>
                                        <p:attrNameLst>
                                          <p:attrName>style.visibility</p:attrName>
                                        </p:attrNameLst>
                                      </p:cBhvr>
                                      <p:to>
                                        <p:strVal val="visible"/>
                                      </p:to>
                                    </p:set>
                                    <p:animEffect transition="in" filter="fade">
                                      <p:cBhvr>
                                        <p:cTn id="7" dur="1000">
                                          <p:stCondLst>
                                            <p:cond delay="0"/>
                                          </p:stCondLst>
                                        </p:cTn>
                                        <p:tgtEl>
                                          <p:spTgt spid="5038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03811">
                                            <p:txEl>
                                              <p:pRg st="1" end="1"/>
                                            </p:txEl>
                                          </p:spTgt>
                                        </p:tgtEl>
                                        <p:attrNameLst>
                                          <p:attrName>style.visibility</p:attrName>
                                        </p:attrNameLst>
                                      </p:cBhvr>
                                      <p:to>
                                        <p:strVal val="visible"/>
                                      </p:to>
                                    </p:set>
                                    <p:animEffect transition="in" filter="fade">
                                      <p:cBhvr>
                                        <p:cTn id="12" dur="1000">
                                          <p:stCondLst>
                                            <p:cond delay="0"/>
                                          </p:stCondLst>
                                        </p:cTn>
                                        <p:tgtEl>
                                          <p:spTgt spid="5038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03811">
                                            <p:txEl>
                                              <p:pRg st="2" end="2"/>
                                            </p:txEl>
                                          </p:spTgt>
                                        </p:tgtEl>
                                        <p:attrNameLst>
                                          <p:attrName>style.visibility</p:attrName>
                                        </p:attrNameLst>
                                      </p:cBhvr>
                                      <p:to>
                                        <p:strVal val="visible"/>
                                      </p:to>
                                    </p:set>
                                    <p:animEffect transition="in" filter="fade">
                                      <p:cBhvr>
                                        <p:cTn id="17" dur="1000">
                                          <p:stCondLst>
                                            <p:cond delay="0"/>
                                          </p:stCondLst>
                                        </p:cTn>
                                        <p:tgtEl>
                                          <p:spTgt spid="5038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503815"/>
                                        </p:tgtEl>
                                        <p:attrNameLst>
                                          <p:attrName>style.visibility</p:attrName>
                                        </p:attrNameLst>
                                      </p:cBhvr>
                                      <p:to>
                                        <p:strVal val="visible"/>
                                      </p:to>
                                    </p:set>
                                    <p:anim calcmode="lin" valueType="num">
                                      <p:cBhvr additive="base">
                                        <p:cTn id="22" dur="500" fill="hold"/>
                                        <p:tgtEl>
                                          <p:spTgt spid="503815"/>
                                        </p:tgtEl>
                                        <p:attrNameLst>
                                          <p:attrName>ppt_x</p:attrName>
                                        </p:attrNameLst>
                                      </p:cBhvr>
                                      <p:tavLst>
                                        <p:tav tm="0">
                                          <p:val>
                                            <p:strVal val="#ppt_x"/>
                                          </p:val>
                                        </p:tav>
                                        <p:tav tm="100000">
                                          <p:val>
                                            <p:strVal val="#ppt_x"/>
                                          </p:val>
                                        </p:tav>
                                      </p:tavLst>
                                    </p:anim>
                                    <p:anim calcmode="lin" valueType="num">
                                      <p:cBhvr additive="base">
                                        <p:cTn id="23" dur="500" fill="hold"/>
                                        <p:tgtEl>
                                          <p:spTgt spid="5038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3811"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63" name="内容占位符 501762"/>
          <p:cNvSpPr>
            <a:spLocks noGrp="1" noRot="1"/>
          </p:cNvSpPr>
          <p:nvPr>
            <p:ph idx="1"/>
          </p:nvPr>
        </p:nvSpPr>
        <p:spPr>
          <a:xfrm>
            <a:off x="395536" y="476672"/>
            <a:ext cx="8229600" cy="4525963"/>
          </a:xfrm>
          <a:ln/>
        </p:spPr>
        <p:txBody>
          <a:bodyPr anchor="t"/>
          <a:lstStyle/>
          <a:p>
            <a:r>
              <a:rPr lang="en-US" altLang="zh-CN" sz="2600" dirty="0" smtClean="0">
                <a:solidFill>
                  <a:schemeClr val="tx1"/>
                </a:solidFill>
              </a:rPr>
              <a:t>B </a:t>
            </a:r>
            <a:r>
              <a:rPr lang="zh-CN" altLang="en-US" sz="2800" b="1" dirty="0" smtClean="0">
                <a:solidFill>
                  <a:srgbClr val="0000FF"/>
                </a:solidFill>
              </a:rPr>
              <a:t>天然</a:t>
            </a:r>
            <a:r>
              <a:rPr lang="zh-CN" altLang="en-US" sz="2800" b="1" dirty="0">
                <a:solidFill>
                  <a:srgbClr val="0000FF"/>
                </a:solidFill>
              </a:rPr>
              <a:t>甜味剂</a:t>
            </a:r>
            <a:endParaRPr lang="zh-CN" altLang="en-US" sz="2600" b="1" dirty="0">
              <a:solidFill>
                <a:srgbClr val="0000FF"/>
              </a:solidFill>
            </a:endParaRPr>
          </a:p>
          <a:p>
            <a:r>
              <a:rPr lang="zh-CN" altLang="en-US" sz="2600" b="1" dirty="0">
                <a:solidFill>
                  <a:schemeClr val="tx1"/>
                </a:solidFill>
              </a:rPr>
              <a:t>甜菊糖：从甜叶菊中精提，甜味纯正，清凉绵长，味感近似白糖、甜度却为蔗糖的</a:t>
            </a:r>
            <a:r>
              <a:rPr lang="en-US" altLang="zh-CN" sz="2600" b="1" dirty="0">
                <a:solidFill>
                  <a:schemeClr val="tx1"/>
                </a:solidFill>
              </a:rPr>
              <a:t>150</a:t>
            </a:r>
            <a:r>
              <a:rPr lang="zh-CN" altLang="en-US" sz="2600" b="1" dirty="0">
                <a:solidFill>
                  <a:schemeClr val="tx1"/>
                </a:solidFill>
              </a:rPr>
              <a:t>～</a:t>
            </a:r>
            <a:r>
              <a:rPr lang="en-US" altLang="zh-CN" sz="2600" b="1" dirty="0">
                <a:solidFill>
                  <a:schemeClr val="tx1"/>
                </a:solidFill>
              </a:rPr>
              <a:t>300</a:t>
            </a:r>
            <a:r>
              <a:rPr lang="zh-CN" altLang="en-US" sz="2600" b="1" dirty="0">
                <a:solidFill>
                  <a:schemeClr val="tx1"/>
                </a:solidFill>
              </a:rPr>
              <a:t>倍 </a:t>
            </a:r>
          </a:p>
          <a:p>
            <a:r>
              <a:rPr lang="zh-CN" altLang="en-US" sz="2600" b="1" dirty="0">
                <a:solidFill>
                  <a:schemeClr val="tx1"/>
                </a:solidFill>
              </a:rPr>
              <a:t>罗汉果甜甙：从罗汉果中提取，这种糖甙的甜度是蔗糖甜度的</a:t>
            </a:r>
            <a:r>
              <a:rPr lang="en-US" altLang="zh-CN" sz="2600" b="1" dirty="0">
                <a:solidFill>
                  <a:schemeClr val="tx1"/>
                </a:solidFill>
              </a:rPr>
              <a:t>300</a:t>
            </a:r>
            <a:r>
              <a:rPr lang="zh-CN" altLang="en-US" sz="2600" b="1" dirty="0">
                <a:solidFill>
                  <a:schemeClr val="tx1"/>
                </a:solidFill>
              </a:rPr>
              <a:t>倍，具有降血糖作用，可以用来辅助治疗糖尿病</a:t>
            </a:r>
            <a:r>
              <a:rPr lang="zh-CN" altLang="en-US" sz="2600" dirty="0">
                <a:solidFill>
                  <a:schemeClr val="tx1"/>
                </a:solidFill>
              </a:rPr>
              <a:t>；</a:t>
            </a:r>
            <a:r>
              <a:rPr lang="zh-CN" altLang="en-US" dirty="0">
                <a:solidFill>
                  <a:schemeClr val="tx1"/>
                </a:solidFill>
              </a:rPr>
              <a:t> </a:t>
            </a:r>
          </a:p>
        </p:txBody>
      </p:sp>
      <p:sp>
        <p:nvSpPr>
          <p:cNvPr id="45061" name="灯片编号占位符 1"/>
          <p:cNvSpPr>
            <a:spLocks noGrp="1"/>
          </p:cNvSpPr>
          <p:nvPr>
            <p:ph type="sldNum" sz="quarter" idx="11"/>
          </p:nvPr>
        </p:nvSpPr>
        <p:spPr>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400" dirty="0"/>
              <a:pPr lvl="0" indent="0" algn="r"/>
              <a:t>44</a:t>
            </a:fld>
            <a:endParaRPr lang="zh-CN" altLang="en-US" sz="1400" dirty="0"/>
          </a:p>
        </p:txBody>
      </p:sp>
      <p:pic>
        <p:nvPicPr>
          <p:cNvPr id="61448" name="Picture 8" descr="http://img03.taobaocdn.com/bao/uploaded/i3/18301025250801344/T1uoVEFmJeXXXXXXXX_!!0-item_pic.jpg"/>
          <p:cNvPicPr>
            <a:picLocks noChangeAspect="1" noChangeArrowheads="1"/>
          </p:cNvPicPr>
          <p:nvPr/>
        </p:nvPicPr>
        <p:blipFill>
          <a:blip r:embed="rId2" cstate="print"/>
          <a:srcRect/>
          <a:stretch>
            <a:fillRect/>
          </a:stretch>
        </p:blipFill>
        <p:spPr bwMode="auto">
          <a:xfrm>
            <a:off x="2987824" y="2638866"/>
            <a:ext cx="3625151" cy="2363769"/>
          </a:xfrm>
          <a:prstGeom prst="rect">
            <a:avLst/>
          </a:prstGeom>
          <a:noFill/>
        </p:spPr>
      </p:pic>
      <p:pic>
        <p:nvPicPr>
          <p:cNvPr id="61452" name="Picture 12" descr="http://img3.21food.cn/img/album/2015/10/24/jufengyuan6881540025.jpg"/>
          <p:cNvPicPr>
            <a:picLocks noChangeAspect="1" noChangeArrowheads="1"/>
          </p:cNvPicPr>
          <p:nvPr/>
        </p:nvPicPr>
        <p:blipFill>
          <a:blip r:embed="rId3" cstate="print"/>
          <a:srcRect l="9821" t="10909" r="4152" b="10909"/>
          <a:stretch>
            <a:fillRect/>
          </a:stretch>
        </p:blipFill>
        <p:spPr bwMode="auto">
          <a:xfrm>
            <a:off x="0" y="4494231"/>
            <a:ext cx="3902968" cy="2363769"/>
          </a:xfrm>
          <a:prstGeom prst="rect">
            <a:avLst/>
          </a:prstGeom>
          <a:noFill/>
        </p:spPr>
      </p:pic>
      <p:pic>
        <p:nvPicPr>
          <p:cNvPr id="61456" name="Picture 16" descr="http://img.zcool.cn/community/017d7c5948733ba8012193a348a246.jpg"/>
          <p:cNvPicPr>
            <a:picLocks noChangeAspect="1" noChangeArrowheads="1"/>
          </p:cNvPicPr>
          <p:nvPr/>
        </p:nvPicPr>
        <p:blipFill>
          <a:blip r:embed="rId4" cstate="print"/>
          <a:srcRect/>
          <a:stretch>
            <a:fillRect/>
          </a:stretch>
        </p:blipFill>
        <p:spPr bwMode="auto">
          <a:xfrm>
            <a:off x="5845337" y="4384119"/>
            <a:ext cx="3298663" cy="2473881"/>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01763">
                                            <p:txEl>
                                              <p:pRg st="0" end="0"/>
                                            </p:txEl>
                                          </p:spTgt>
                                        </p:tgtEl>
                                        <p:attrNameLst>
                                          <p:attrName>style.visibility</p:attrName>
                                        </p:attrNameLst>
                                      </p:cBhvr>
                                      <p:to>
                                        <p:strVal val="visible"/>
                                      </p:to>
                                    </p:set>
                                    <p:animEffect transition="in" filter="blinds(horizontal)">
                                      <p:cBhvr>
                                        <p:cTn id="7" dur="500"/>
                                        <p:tgtEl>
                                          <p:spTgt spid="5017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501763">
                                            <p:txEl>
                                              <p:pRg st="1" end="1"/>
                                            </p:txEl>
                                          </p:spTgt>
                                        </p:tgtEl>
                                        <p:attrNameLst>
                                          <p:attrName>style.visibility</p:attrName>
                                        </p:attrNameLst>
                                      </p:cBhvr>
                                      <p:to>
                                        <p:strVal val="visible"/>
                                      </p:to>
                                    </p:set>
                                    <p:animEffect transition="in" filter="diamond(in)">
                                      <p:cBhvr>
                                        <p:cTn id="12" dur="2000"/>
                                        <p:tgtEl>
                                          <p:spTgt spid="50176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501763">
                                            <p:txEl>
                                              <p:pRg st="2" end="2"/>
                                            </p:txEl>
                                          </p:spTgt>
                                        </p:tgtEl>
                                        <p:attrNameLst>
                                          <p:attrName>style.visibility</p:attrName>
                                        </p:attrNameLst>
                                      </p:cBhvr>
                                      <p:to>
                                        <p:strVal val="visible"/>
                                      </p:to>
                                    </p:set>
                                    <p:animEffect transition="in" filter="checkerboard(across)">
                                      <p:cBhvr>
                                        <p:cTn id="17" dur="500"/>
                                        <p:tgtEl>
                                          <p:spTgt spid="50176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18" name="Picture 2" descr="http://xs3.op.xywy.com/api.iu1.xywy.com/cms/20160305/5d8ed68670744c0e3384f184edbffceb6834.jpg"/>
          <p:cNvPicPr>
            <a:picLocks noChangeAspect="1" noChangeArrowheads="1"/>
          </p:cNvPicPr>
          <p:nvPr/>
        </p:nvPicPr>
        <p:blipFill>
          <a:blip r:embed="rId2" cstate="print"/>
          <a:srcRect l="15835" t="5985" r="14610"/>
          <a:stretch>
            <a:fillRect/>
          </a:stretch>
        </p:blipFill>
        <p:spPr bwMode="auto">
          <a:xfrm>
            <a:off x="5976417" y="3140075"/>
            <a:ext cx="3167583" cy="3313113"/>
          </a:xfrm>
          <a:prstGeom prst="rect">
            <a:avLst/>
          </a:prstGeom>
          <a:noFill/>
        </p:spPr>
      </p:pic>
      <p:sp>
        <p:nvSpPr>
          <p:cNvPr id="111618" name="文本框 111617"/>
          <p:cNvSpPr txBox="1"/>
          <p:nvPr/>
        </p:nvSpPr>
        <p:spPr>
          <a:xfrm>
            <a:off x="2051050" y="128588"/>
            <a:ext cx="4537075" cy="636588"/>
          </a:xfrm>
          <a:prstGeom prst="rect">
            <a:avLst/>
          </a:prstGeom>
          <a:gradFill rotWithShape="1">
            <a:gsLst>
              <a:gs pos="0">
                <a:srgbClr val="FF99FF">
                  <a:gamma/>
                  <a:tint val="0"/>
                  <a:invGamma/>
                </a:srgbClr>
              </a:gs>
              <a:gs pos="100000">
                <a:srgbClr val="FF99FF"/>
              </a:gs>
            </a:gsLst>
            <a:path path="shape">
              <a:fillToRect l="50000" t="50000" r="50000" b="50000"/>
            </a:path>
            <a:tileRect/>
          </a:gradFill>
          <a:ln w="57150" cap="flat" cmpd="thinThick">
            <a:solidFill>
              <a:srgbClr val="FF0066"/>
            </a:solidFill>
            <a:prstDash val="solid"/>
            <a:miter/>
            <a:headEnd type="none" w="med" len="med"/>
            <a:tailEnd type="none" w="med" len="med"/>
          </a:ln>
        </p:spPr>
        <p:txBody>
          <a:bodyPr>
            <a:spAutoFit/>
          </a:bodyPr>
          <a:lstStyle/>
          <a:p>
            <a:pPr algn="ctr">
              <a:spcBef>
                <a:spcPct val="50000"/>
              </a:spcBef>
            </a:pPr>
            <a:r>
              <a:rPr lang="zh-CN" altLang="en-US" sz="3200" b="1" noProof="1">
                <a:solidFill>
                  <a:srgbClr val="000099"/>
                </a:solidFill>
                <a:effectLst>
                  <a:outerShdw blurRad="38100" dist="38100" dir="2700000">
                    <a:srgbClr val="000000"/>
                  </a:outerShdw>
                </a:effectLst>
                <a:latin typeface="Verdana" panose="020B0604030504040204" pitchFamily="34" charset="0"/>
                <a:ea typeface="楷体_GB2312" pitchFamily="49" charset="-122"/>
                <a:cs typeface="+mn-cs"/>
              </a:rPr>
              <a:t>三、蔗糖和麦芽糖</a:t>
            </a:r>
            <a:endParaRPr lang="zh-CN" altLang="en-US" sz="3200" b="1" noProof="1">
              <a:solidFill>
                <a:srgbClr val="000099"/>
              </a:solidFill>
              <a:effectLst>
                <a:outerShdw blurRad="38100" dist="38100" dir="2700000">
                  <a:srgbClr val="000000"/>
                </a:outerShdw>
              </a:effectLst>
              <a:latin typeface="Verdana" panose="020B0604030504040204" pitchFamily="34" charset="0"/>
              <a:ea typeface="楷体_GB2312" pitchFamily="49" charset="-122"/>
            </a:endParaRPr>
          </a:p>
        </p:txBody>
      </p:sp>
      <p:sp>
        <p:nvSpPr>
          <p:cNvPr id="111619" name="文本框 111618"/>
          <p:cNvSpPr txBox="1"/>
          <p:nvPr/>
        </p:nvSpPr>
        <p:spPr>
          <a:xfrm>
            <a:off x="611188" y="836613"/>
            <a:ext cx="8137525" cy="1373188"/>
          </a:xfrm>
          <a:prstGeom prst="rect">
            <a:avLst/>
          </a:prstGeom>
          <a:noFill/>
          <a:ln w="9525">
            <a:noFill/>
          </a:ln>
        </p:spPr>
        <p:txBody>
          <a:bodyPr>
            <a:spAutoFit/>
          </a:bodyPr>
          <a:lstStyle/>
          <a:p>
            <a:pPr>
              <a:spcBef>
                <a:spcPct val="50000"/>
              </a:spcBef>
            </a:pPr>
            <a:r>
              <a:rPr lang="zh-CN" altLang="en-US" sz="2800" b="1" noProof="1">
                <a:solidFill>
                  <a:srgbClr val="000099"/>
                </a:solidFill>
                <a:effectLst>
                  <a:outerShdw blurRad="38100" dist="38100" dir="2700000">
                    <a:srgbClr val="000000"/>
                  </a:outerShdw>
                </a:effectLst>
                <a:latin typeface="Verdana" panose="020B0604030504040204" pitchFamily="34" charset="0"/>
                <a:ea typeface="宋体" panose="02010600030101010101" pitchFamily="2" charset="-122"/>
                <a:cs typeface="+mn-cs"/>
              </a:rPr>
              <a:t>      </a:t>
            </a:r>
            <a:r>
              <a:rPr lang="zh-CN" altLang="en-US" sz="2800" b="1" noProof="1">
                <a:solidFill>
                  <a:srgbClr val="000099"/>
                </a:solidFill>
                <a:latin typeface="楷体_GB2312" pitchFamily="49" charset="-122"/>
                <a:ea typeface="楷体_GB2312" pitchFamily="49" charset="-122"/>
                <a:cs typeface="+mn-cs"/>
              </a:rPr>
              <a:t>蔗糖（分子式为</a:t>
            </a:r>
            <a:r>
              <a:rPr lang="en-US" altLang="zh-CN" sz="2800" b="1" noProof="1">
                <a:solidFill>
                  <a:srgbClr val="000099"/>
                </a:solidFill>
                <a:latin typeface="楷体_GB2312" pitchFamily="49" charset="-122"/>
                <a:ea typeface="楷体_GB2312" pitchFamily="49" charset="-122"/>
                <a:cs typeface="+mn-cs"/>
              </a:rPr>
              <a:t>C</a:t>
            </a:r>
            <a:r>
              <a:rPr lang="en-US" altLang="zh-CN" sz="2800" b="1" baseline="-25000" noProof="1">
                <a:solidFill>
                  <a:srgbClr val="000099"/>
                </a:solidFill>
                <a:latin typeface="楷体_GB2312" pitchFamily="49" charset="-122"/>
                <a:ea typeface="楷体_GB2312" pitchFamily="49" charset="-122"/>
                <a:cs typeface="+mn-cs"/>
              </a:rPr>
              <a:t>12</a:t>
            </a:r>
            <a:r>
              <a:rPr lang="en-US" altLang="zh-CN" sz="2800" b="1" noProof="1">
                <a:solidFill>
                  <a:srgbClr val="000099"/>
                </a:solidFill>
                <a:latin typeface="楷体_GB2312" pitchFamily="49" charset="-122"/>
                <a:ea typeface="楷体_GB2312" pitchFamily="49" charset="-122"/>
                <a:cs typeface="+mn-cs"/>
              </a:rPr>
              <a:t>H</a:t>
            </a:r>
            <a:r>
              <a:rPr lang="en-US" altLang="zh-CN" sz="2800" b="1" baseline="-25000" noProof="1">
                <a:solidFill>
                  <a:srgbClr val="000099"/>
                </a:solidFill>
                <a:latin typeface="楷体_GB2312" pitchFamily="49" charset="-122"/>
                <a:ea typeface="楷体_GB2312" pitchFamily="49" charset="-122"/>
                <a:cs typeface="+mn-cs"/>
              </a:rPr>
              <a:t>22</a:t>
            </a:r>
            <a:r>
              <a:rPr lang="en-US" altLang="zh-CN" sz="2800" b="1" noProof="1">
                <a:solidFill>
                  <a:srgbClr val="000099"/>
                </a:solidFill>
                <a:latin typeface="楷体_GB2312" pitchFamily="49" charset="-122"/>
                <a:ea typeface="楷体_GB2312" pitchFamily="49" charset="-122"/>
                <a:cs typeface="+mn-cs"/>
              </a:rPr>
              <a:t>O</a:t>
            </a:r>
            <a:r>
              <a:rPr lang="en-US" altLang="zh-CN" sz="2800" b="1" baseline="-25000" noProof="1">
                <a:solidFill>
                  <a:srgbClr val="000099"/>
                </a:solidFill>
                <a:latin typeface="楷体_GB2312" pitchFamily="49" charset="-122"/>
                <a:ea typeface="楷体_GB2312" pitchFamily="49" charset="-122"/>
                <a:cs typeface="+mn-cs"/>
              </a:rPr>
              <a:t>11</a:t>
            </a:r>
            <a:r>
              <a:rPr lang="zh-CN" altLang="en-US" sz="2800" b="1" noProof="1">
                <a:solidFill>
                  <a:srgbClr val="000099"/>
                </a:solidFill>
                <a:latin typeface="楷体_GB2312" pitchFamily="49" charset="-122"/>
                <a:ea typeface="楷体_GB2312" pitchFamily="49" charset="-122"/>
                <a:cs typeface="+mn-cs"/>
              </a:rPr>
              <a:t>）是一种白色晶体，溶于水，是重要的甜味食品，主要存在于甘蔗、甜菜等植物中。</a:t>
            </a:r>
            <a:endParaRPr lang="zh-CN" altLang="en-US" sz="2800" b="1" noProof="1">
              <a:solidFill>
                <a:srgbClr val="000099"/>
              </a:solidFill>
              <a:latin typeface="楷体_GB2312" pitchFamily="49" charset="-122"/>
              <a:ea typeface="楷体_GB2312" pitchFamily="49" charset="-122"/>
            </a:endParaRPr>
          </a:p>
        </p:txBody>
      </p:sp>
      <p:grpSp>
        <p:nvGrpSpPr>
          <p:cNvPr id="111620" name="组合 111619"/>
          <p:cNvGrpSpPr/>
          <p:nvPr/>
        </p:nvGrpSpPr>
        <p:grpSpPr>
          <a:xfrm>
            <a:off x="34925" y="3140075"/>
            <a:ext cx="3384550" cy="3313113"/>
            <a:chOff x="113" y="1162"/>
            <a:chExt cx="2676" cy="2472"/>
          </a:xfrm>
        </p:grpSpPr>
        <p:pic>
          <p:nvPicPr>
            <p:cNvPr id="46084" name="图片 111620" descr="甘蔗"/>
            <p:cNvPicPr>
              <a:picLocks noChangeAspect="1"/>
            </p:cNvPicPr>
            <p:nvPr/>
          </p:nvPicPr>
          <p:blipFill>
            <a:blip r:embed="rId3" cstate="print"/>
            <a:stretch>
              <a:fillRect/>
            </a:stretch>
          </p:blipFill>
          <p:spPr>
            <a:xfrm>
              <a:off x="113" y="1162"/>
              <a:ext cx="2676" cy="2472"/>
            </a:xfrm>
            <a:prstGeom prst="rect">
              <a:avLst/>
            </a:prstGeom>
            <a:noFill/>
            <a:ln w="9525">
              <a:noFill/>
            </a:ln>
          </p:spPr>
        </p:pic>
        <p:sp>
          <p:nvSpPr>
            <p:cNvPr id="111622" name="文本框 111621"/>
            <p:cNvSpPr txBox="1"/>
            <p:nvPr/>
          </p:nvSpPr>
          <p:spPr>
            <a:xfrm>
              <a:off x="295" y="1292"/>
              <a:ext cx="1905" cy="706"/>
            </a:xfrm>
            <a:prstGeom prst="rect">
              <a:avLst/>
            </a:prstGeom>
            <a:noFill/>
            <a:ln w="9525">
              <a:noFill/>
            </a:ln>
          </p:spPr>
          <p:txBody>
            <a:bodyPr>
              <a:spAutoFit/>
            </a:bodyPr>
            <a:lstStyle/>
            <a:p>
              <a:pPr>
                <a:spcBef>
                  <a:spcPct val="50000"/>
                </a:spcBef>
              </a:pPr>
              <a:r>
                <a:rPr lang="zh-CN" altLang="en-US" sz="2800" b="1" noProof="1">
                  <a:solidFill>
                    <a:srgbClr val="FF0066"/>
                  </a:solidFill>
                  <a:effectLst>
                    <a:outerShdw blurRad="38100" dist="38100" dir="2700000">
                      <a:srgbClr val="000000"/>
                    </a:outerShdw>
                  </a:effectLst>
                  <a:latin typeface="楷体_GB2312" pitchFamily="49" charset="-122"/>
                  <a:ea typeface="楷体_GB2312" pitchFamily="49" charset="-122"/>
                  <a:cs typeface="+mn-cs"/>
                </a:rPr>
                <a:t>甘蔗含糖量为</a:t>
              </a:r>
              <a:r>
                <a:rPr lang="en-US" altLang="zh-CN" sz="2800" b="1" noProof="1">
                  <a:solidFill>
                    <a:srgbClr val="FF0066"/>
                  </a:solidFill>
                  <a:effectLst>
                    <a:outerShdw blurRad="38100" dist="38100" dir="2700000">
                      <a:srgbClr val="000000"/>
                    </a:outerShdw>
                  </a:effectLst>
                  <a:latin typeface="楷体_GB2312" pitchFamily="49" charset="-122"/>
                  <a:ea typeface="楷体_GB2312" pitchFamily="49" charset="-122"/>
                  <a:cs typeface="+mn-cs"/>
                </a:rPr>
                <a:t>11%~17%</a:t>
              </a:r>
              <a:endParaRPr lang="en-US" altLang="zh-CN" sz="2800" b="1" noProof="1">
                <a:solidFill>
                  <a:srgbClr val="FF0066"/>
                </a:solidFill>
                <a:effectLst>
                  <a:outerShdw blurRad="38100" dist="38100" dir="2700000">
                    <a:srgbClr val="000000"/>
                  </a:outerShdw>
                </a:effectLst>
                <a:latin typeface="楷体_GB2312" pitchFamily="49" charset="-122"/>
                <a:ea typeface="楷体_GB2312" pitchFamily="49" charset="-122"/>
              </a:endParaRPr>
            </a:p>
          </p:txBody>
        </p:sp>
      </p:grpSp>
      <p:grpSp>
        <p:nvGrpSpPr>
          <p:cNvPr id="111623" name="组合 111622"/>
          <p:cNvGrpSpPr/>
          <p:nvPr/>
        </p:nvGrpSpPr>
        <p:grpSpPr>
          <a:xfrm>
            <a:off x="2627313" y="3140075"/>
            <a:ext cx="3384550" cy="3313113"/>
            <a:chOff x="2880" y="1117"/>
            <a:chExt cx="2080" cy="2767"/>
          </a:xfrm>
        </p:grpSpPr>
        <p:pic>
          <p:nvPicPr>
            <p:cNvPr id="46087" name="图片 111623" descr="甜菜"/>
            <p:cNvPicPr>
              <a:picLocks noChangeAspect="1"/>
            </p:cNvPicPr>
            <p:nvPr/>
          </p:nvPicPr>
          <p:blipFill>
            <a:blip r:embed="rId4" cstate="print"/>
            <a:stretch>
              <a:fillRect/>
            </a:stretch>
          </p:blipFill>
          <p:spPr>
            <a:xfrm>
              <a:off x="2880" y="1117"/>
              <a:ext cx="2080" cy="2767"/>
            </a:xfrm>
            <a:prstGeom prst="rect">
              <a:avLst/>
            </a:prstGeom>
            <a:noFill/>
            <a:ln w="9525">
              <a:noFill/>
            </a:ln>
          </p:spPr>
        </p:pic>
        <p:sp>
          <p:nvSpPr>
            <p:cNvPr id="111625" name="文本框 111624"/>
            <p:cNvSpPr txBox="1"/>
            <p:nvPr/>
          </p:nvSpPr>
          <p:spPr>
            <a:xfrm>
              <a:off x="3062" y="1254"/>
              <a:ext cx="1814" cy="790"/>
            </a:xfrm>
            <a:prstGeom prst="rect">
              <a:avLst/>
            </a:prstGeom>
            <a:noFill/>
            <a:ln w="9525">
              <a:noFill/>
            </a:ln>
          </p:spPr>
          <p:txBody>
            <a:bodyPr>
              <a:spAutoFit/>
            </a:bodyPr>
            <a:lstStyle/>
            <a:p>
              <a:pPr>
                <a:spcBef>
                  <a:spcPct val="50000"/>
                </a:spcBef>
              </a:pPr>
              <a:r>
                <a:rPr lang="zh-CN" altLang="en-US" sz="2800" b="1" noProof="1">
                  <a:solidFill>
                    <a:srgbClr val="FF0066"/>
                  </a:solidFill>
                  <a:effectLst>
                    <a:outerShdw blurRad="38100" dist="38100" dir="2700000">
                      <a:srgbClr val="000000"/>
                    </a:outerShdw>
                  </a:effectLst>
                  <a:latin typeface="楷体_GB2312" pitchFamily="49" charset="-122"/>
                  <a:ea typeface="楷体_GB2312" pitchFamily="49" charset="-122"/>
                  <a:cs typeface="+mn-cs"/>
                </a:rPr>
                <a:t>甜菜含糖量为</a:t>
              </a:r>
              <a:r>
                <a:rPr lang="en-US" altLang="zh-CN" sz="2800" b="1" noProof="1">
                  <a:solidFill>
                    <a:srgbClr val="FF0066"/>
                  </a:solidFill>
                  <a:effectLst>
                    <a:outerShdw blurRad="38100" dist="38100" dir="2700000">
                      <a:srgbClr val="000000"/>
                    </a:outerShdw>
                  </a:effectLst>
                  <a:latin typeface="楷体_GB2312" pitchFamily="49" charset="-122"/>
                  <a:ea typeface="楷体_GB2312" pitchFamily="49" charset="-122"/>
                  <a:cs typeface="+mn-cs"/>
                </a:rPr>
                <a:t>14%~26%</a:t>
              </a:r>
              <a:endParaRPr lang="en-US" altLang="zh-CN" sz="2800" b="1" noProof="1">
                <a:solidFill>
                  <a:srgbClr val="FF0066"/>
                </a:solidFill>
                <a:effectLst>
                  <a:outerShdw blurRad="38100" dist="38100" dir="2700000">
                    <a:srgbClr val="000000"/>
                  </a:outerShdw>
                </a:effectLst>
                <a:latin typeface="楷体_GB2312" pitchFamily="49" charset="-122"/>
                <a:ea typeface="楷体_GB2312" pitchFamily="49" charset="-122"/>
              </a:endParaRPr>
            </a:p>
          </p:txBody>
        </p:sp>
      </p:grpSp>
      <p:sp>
        <p:nvSpPr>
          <p:cNvPr id="111626" name="文本框 111625"/>
          <p:cNvSpPr txBox="1"/>
          <p:nvPr/>
        </p:nvSpPr>
        <p:spPr>
          <a:xfrm>
            <a:off x="468313" y="2122488"/>
            <a:ext cx="8424863" cy="946150"/>
          </a:xfrm>
          <a:prstGeom prst="rect">
            <a:avLst/>
          </a:prstGeom>
          <a:noFill/>
          <a:ln w="9525">
            <a:noFill/>
          </a:ln>
        </p:spPr>
        <p:txBody>
          <a:bodyPr>
            <a:spAutoFit/>
          </a:bodyPr>
          <a:lstStyle/>
          <a:p>
            <a:pPr>
              <a:spcBef>
                <a:spcPct val="50000"/>
              </a:spcBef>
            </a:pPr>
            <a:r>
              <a:rPr lang="zh-CN" altLang="en-US" sz="2800" b="1" noProof="1">
                <a:solidFill>
                  <a:srgbClr val="000099"/>
                </a:solidFill>
                <a:effectLst>
                  <a:outerShdw blurRad="38100" dist="38100" dir="2700000">
                    <a:srgbClr val="000000"/>
                  </a:outerShdw>
                </a:effectLst>
                <a:latin typeface="Verdana" panose="020B0604030504040204" pitchFamily="34" charset="0"/>
                <a:ea typeface="宋体" panose="02010600030101010101" pitchFamily="2" charset="-122"/>
                <a:cs typeface="+mn-cs"/>
              </a:rPr>
              <a:t>      </a:t>
            </a:r>
            <a:r>
              <a:rPr lang="zh-CN" altLang="en-US" sz="2800" b="1" noProof="1">
                <a:solidFill>
                  <a:srgbClr val="000099"/>
                </a:solidFill>
                <a:latin typeface="楷体_GB2312" pitchFamily="49" charset="-122"/>
                <a:ea typeface="楷体_GB2312" pitchFamily="49" charset="-122"/>
                <a:cs typeface="+mn-cs"/>
              </a:rPr>
              <a:t>麦芽糖（分子式为</a:t>
            </a:r>
            <a:r>
              <a:rPr lang="en-US" altLang="zh-CN" sz="2800" b="1" noProof="1">
                <a:solidFill>
                  <a:srgbClr val="000099"/>
                </a:solidFill>
                <a:latin typeface="楷体_GB2312" pitchFamily="49" charset="-122"/>
                <a:ea typeface="楷体_GB2312" pitchFamily="49" charset="-122"/>
                <a:cs typeface="+mn-cs"/>
              </a:rPr>
              <a:t>C</a:t>
            </a:r>
            <a:r>
              <a:rPr lang="en-US" altLang="zh-CN" sz="2800" b="1" baseline="-25000" noProof="1">
                <a:solidFill>
                  <a:srgbClr val="000099"/>
                </a:solidFill>
                <a:latin typeface="楷体_GB2312" pitchFamily="49" charset="-122"/>
                <a:ea typeface="楷体_GB2312" pitchFamily="49" charset="-122"/>
                <a:cs typeface="+mn-cs"/>
              </a:rPr>
              <a:t>12</a:t>
            </a:r>
            <a:r>
              <a:rPr lang="en-US" altLang="zh-CN" sz="2800" b="1" noProof="1">
                <a:solidFill>
                  <a:srgbClr val="000099"/>
                </a:solidFill>
                <a:latin typeface="楷体_GB2312" pitchFamily="49" charset="-122"/>
                <a:ea typeface="楷体_GB2312" pitchFamily="49" charset="-122"/>
                <a:cs typeface="+mn-cs"/>
              </a:rPr>
              <a:t>H</a:t>
            </a:r>
            <a:r>
              <a:rPr lang="en-US" altLang="zh-CN" sz="2800" b="1" baseline="-25000" noProof="1">
                <a:solidFill>
                  <a:srgbClr val="000099"/>
                </a:solidFill>
                <a:latin typeface="楷体_GB2312" pitchFamily="49" charset="-122"/>
                <a:ea typeface="楷体_GB2312" pitchFamily="49" charset="-122"/>
                <a:cs typeface="+mn-cs"/>
              </a:rPr>
              <a:t>22</a:t>
            </a:r>
            <a:r>
              <a:rPr lang="en-US" altLang="zh-CN" sz="2800" b="1" noProof="1">
                <a:solidFill>
                  <a:srgbClr val="000099"/>
                </a:solidFill>
                <a:latin typeface="楷体_GB2312" pitchFamily="49" charset="-122"/>
                <a:ea typeface="楷体_GB2312" pitchFamily="49" charset="-122"/>
                <a:cs typeface="+mn-cs"/>
              </a:rPr>
              <a:t>O</a:t>
            </a:r>
            <a:r>
              <a:rPr lang="en-US" altLang="zh-CN" sz="2800" b="1" baseline="-25000" noProof="1">
                <a:solidFill>
                  <a:srgbClr val="000099"/>
                </a:solidFill>
                <a:latin typeface="楷体_GB2312" pitchFamily="49" charset="-122"/>
                <a:ea typeface="楷体_GB2312" pitchFamily="49" charset="-122"/>
                <a:cs typeface="+mn-cs"/>
              </a:rPr>
              <a:t>11</a:t>
            </a:r>
            <a:r>
              <a:rPr lang="zh-CN" altLang="en-US" sz="2800" b="1" noProof="1">
                <a:solidFill>
                  <a:srgbClr val="000099"/>
                </a:solidFill>
                <a:latin typeface="楷体_GB2312" pitchFamily="49" charset="-122"/>
                <a:ea typeface="楷体_GB2312" pitchFamily="49" charset="-122"/>
                <a:cs typeface="+mn-cs"/>
              </a:rPr>
              <a:t>），在麦芽中可以提取出麦芽糖。</a:t>
            </a:r>
            <a:endParaRPr lang="zh-CN" altLang="en-US" sz="2800" b="1" noProof="1">
              <a:solidFill>
                <a:srgbClr val="000099"/>
              </a:solidFill>
              <a:latin typeface="楷体_GB2312" pitchFamily="49" charset="-122"/>
              <a:ea typeface="楷体_GB2312" pitchFamily="49" charset="-122"/>
            </a:endParaRPr>
          </a:p>
        </p:txBody>
      </p:sp>
      <p:sp>
        <p:nvSpPr>
          <p:cNvPr id="111629" name="文本框 111628"/>
          <p:cNvSpPr txBox="1"/>
          <p:nvPr/>
        </p:nvSpPr>
        <p:spPr>
          <a:xfrm>
            <a:off x="7667626" y="5892800"/>
            <a:ext cx="1225550" cy="519113"/>
          </a:xfrm>
          <a:prstGeom prst="rect">
            <a:avLst/>
          </a:prstGeom>
          <a:noFill/>
          <a:ln w="9525">
            <a:noFill/>
          </a:ln>
        </p:spPr>
        <p:txBody>
          <a:bodyPr>
            <a:spAutoFit/>
          </a:bodyPr>
          <a:lstStyle/>
          <a:p>
            <a:pPr>
              <a:spcBef>
                <a:spcPct val="50000"/>
              </a:spcBef>
            </a:pPr>
            <a:r>
              <a:rPr lang="zh-CN" altLang="en-US" sz="2800" b="1" noProof="1">
                <a:solidFill>
                  <a:srgbClr val="000099"/>
                </a:solidFill>
                <a:effectLst>
                  <a:outerShdw blurRad="38100" dist="38100" dir="2700000">
                    <a:srgbClr val="000000"/>
                  </a:outerShdw>
                </a:effectLst>
                <a:latin typeface="Verdana" panose="020B0604030504040204" pitchFamily="34" charset="0"/>
                <a:ea typeface="楷体_GB2312" pitchFamily="49" charset="-122"/>
                <a:cs typeface="+mn-cs"/>
              </a:rPr>
              <a:t>麦芽</a:t>
            </a:r>
            <a:endParaRPr lang="zh-CN" altLang="en-US" sz="2800" b="1" noProof="1">
              <a:solidFill>
                <a:srgbClr val="000099"/>
              </a:solidFill>
              <a:effectLst>
                <a:outerShdw blurRad="38100" dist="38100" dir="2700000">
                  <a:srgbClr val="000000"/>
                </a:outerShdw>
              </a:effectLst>
              <a:latin typeface="Verdana" panose="020B0604030504040204" pitchFamily="34" charset="0"/>
              <a:ea typeface="楷体_GB2312" pitchFamily="49" charset="-122"/>
            </a:endParaRPr>
          </a:p>
        </p:txBody>
      </p:sp>
      <p:sp>
        <p:nvSpPr>
          <p:cNvPr id="111630" name="文本框 111629"/>
          <p:cNvSpPr txBox="1"/>
          <p:nvPr/>
        </p:nvSpPr>
        <p:spPr>
          <a:xfrm>
            <a:off x="611188" y="3068638"/>
            <a:ext cx="6048375" cy="519113"/>
          </a:xfrm>
          <a:prstGeom prst="rect">
            <a:avLst/>
          </a:prstGeom>
          <a:noFill/>
          <a:ln w="9525">
            <a:noFill/>
          </a:ln>
        </p:spPr>
        <p:txBody>
          <a:bodyPr>
            <a:spAutoFit/>
          </a:bodyPr>
          <a:lstStyle/>
          <a:p>
            <a:pPr>
              <a:spcBef>
                <a:spcPct val="50000"/>
              </a:spcBef>
            </a:pPr>
            <a:r>
              <a:rPr lang="zh-CN" altLang="en-US" sz="2800" b="1" noProof="1">
                <a:solidFill>
                  <a:srgbClr val="FF0066"/>
                </a:solidFill>
                <a:effectLst>
                  <a:outerShdw blurRad="38100" dist="38100" dir="2700000">
                    <a:srgbClr val="000000"/>
                  </a:outerShdw>
                </a:effectLst>
                <a:latin typeface="Verdana" panose="020B0604030504040204" pitchFamily="34" charset="0"/>
                <a:ea typeface="楷体_GB2312" pitchFamily="49" charset="-122"/>
                <a:cs typeface="+mn-cs"/>
              </a:rPr>
              <a:t>蔗糖和麦芽糖都能水解生成单糖</a:t>
            </a:r>
            <a:endParaRPr lang="zh-CN" altLang="en-US" sz="2800" b="1" noProof="1">
              <a:solidFill>
                <a:srgbClr val="FF0066"/>
              </a:solidFill>
              <a:effectLst>
                <a:outerShdw blurRad="38100" dist="38100" dir="2700000">
                  <a:srgbClr val="000000"/>
                </a:outerShdw>
              </a:effectLst>
              <a:latin typeface="Verdana" panose="020B0604030504040204" pitchFamily="34" charset="0"/>
              <a:ea typeface="楷体_GB2312" pitchFamily="49" charset="-122"/>
            </a:endParaRPr>
          </a:p>
        </p:txBody>
      </p:sp>
      <p:grpSp>
        <p:nvGrpSpPr>
          <p:cNvPr id="111631" name="组合 111630"/>
          <p:cNvGrpSpPr/>
          <p:nvPr/>
        </p:nvGrpSpPr>
        <p:grpSpPr>
          <a:xfrm>
            <a:off x="539750" y="3573463"/>
            <a:ext cx="8353425" cy="1095375"/>
            <a:chOff x="340" y="2024"/>
            <a:chExt cx="5262" cy="690"/>
          </a:xfrm>
        </p:grpSpPr>
        <p:sp>
          <p:nvSpPr>
            <p:cNvPr id="111632" name="文本框 111631"/>
            <p:cNvSpPr txBox="1"/>
            <p:nvPr/>
          </p:nvSpPr>
          <p:spPr>
            <a:xfrm>
              <a:off x="340" y="2115"/>
              <a:ext cx="5262" cy="327"/>
            </a:xfrm>
            <a:prstGeom prst="rect">
              <a:avLst/>
            </a:prstGeom>
            <a:noFill/>
            <a:ln w="9525">
              <a:noFill/>
            </a:ln>
          </p:spPr>
          <p:txBody>
            <a:bodyPr>
              <a:spAutoFit/>
            </a:bodyPr>
            <a:lstStyle/>
            <a:p>
              <a:pPr>
                <a:spcBef>
                  <a:spcPct val="50000"/>
                </a:spcBef>
              </a:pPr>
              <a:r>
                <a:rPr lang="en-US" altLang="zh-CN" sz="2800" b="1" noProof="1">
                  <a:solidFill>
                    <a:srgbClr val="000099"/>
                  </a:solidFill>
                  <a:latin typeface="Verdana" panose="020B0604030504040204" pitchFamily="34" charset="0"/>
                  <a:ea typeface="宋体" panose="02010600030101010101" pitchFamily="2" charset="-122"/>
                  <a:cs typeface="+mn-cs"/>
                </a:rPr>
                <a:t>C</a:t>
              </a:r>
              <a:r>
                <a:rPr lang="en-US" altLang="zh-CN" sz="2800" b="1" baseline="-25000" noProof="1">
                  <a:solidFill>
                    <a:srgbClr val="000099"/>
                  </a:solidFill>
                  <a:latin typeface="Verdana" panose="020B0604030504040204" pitchFamily="34" charset="0"/>
                  <a:ea typeface="宋体" panose="02010600030101010101" pitchFamily="2" charset="-122"/>
                  <a:cs typeface="+mn-cs"/>
                </a:rPr>
                <a:t>12</a:t>
              </a:r>
              <a:r>
                <a:rPr lang="en-US" altLang="zh-CN" sz="2800" b="1" noProof="1">
                  <a:solidFill>
                    <a:srgbClr val="000099"/>
                  </a:solidFill>
                  <a:latin typeface="Verdana" panose="020B0604030504040204" pitchFamily="34" charset="0"/>
                  <a:ea typeface="宋体" panose="02010600030101010101" pitchFamily="2" charset="-122"/>
                  <a:cs typeface="+mn-cs"/>
                </a:rPr>
                <a:t>H</a:t>
              </a:r>
              <a:r>
                <a:rPr lang="en-US" altLang="zh-CN" sz="2800" b="1" baseline="-25000" noProof="1">
                  <a:solidFill>
                    <a:srgbClr val="000099"/>
                  </a:solidFill>
                  <a:latin typeface="Verdana" panose="020B0604030504040204" pitchFamily="34" charset="0"/>
                  <a:ea typeface="宋体" panose="02010600030101010101" pitchFamily="2" charset="-122"/>
                  <a:cs typeface="+mn-cs"/>
                </a:rPr>
                <a:t>22</a:t>
              </a:r>
              <a:r>
                <a:rPr lang="en-US" altLang="zh-CN" sz="2800" b="1" noProof="1">
                  <a:solidFill>
                    <a:srgbClr val="000099"/>
                  </a:solidFill>
                  <a:latin typeface="Verdana" panose="020B0604030504040204" pitchFamily="34" charset="0"/>
                  <a:ea typeface="宋体" panose="02010600030101010101" pitchFamily="2" charset="-122"/>
                  <a:cs typeface="+mn-cs"/>
                </a:rPr>
                <a:t>O</a:t>
              </a:r>
              <a:r>
                <a:rPr lang="en-US" altLang="zh-CN" sz="2800" b="1" baseline="-25000" noProof="1">
                  <a:solidFill>
                    <a:srgbClr val="000099"/>
                  </a:solidFill>
                  <a:latin typeface="Verdana" panose="020B0604030504040204" pitchFamily="34" charset="0"/>
                  <a:ea typeface="宋体" panose="02010600030101010101" pitchFamily="2" charset="-122"/>
                  <a:cs typeface="+mn-cs"/>
                </a:rPr>
                <a:t>11</a:t>
              </a:r>
              <a:r>
                <a:rPr lang="en-US" altLang="zh-CN" sz="2800" b="1" noProof="1">
                  <a:solidFill>
                    <a:srgbClr val="000099"/>
                  </a:solidFill>
                  <a:latin typeface="Verdana" panose="020B0604030504040204" pitchFamily="34" charset="0"/>
                  <a:ea typeface="宋体" panose="02010600030101010101" pitchFamily="2" charset="-122"/>
                  <a:cs typeface="+mn-cs"/>
                </a:rPr>
                <a:t>+H</a:t>
              </a:r>
              <a:r>
                <a:rPr lang="en-US" altLang="zh-CN" sz="2800" b="1" baseline="-25000" noProof="1">
                  <a:solidFill>
                    <a:srgbClr val="000099"/>
                  </a:solidFill>
                  <a:latin typeface="Verdana" panose="020B0604030504040204" pitchFamily="34" charset="0"/>
                  <a:ea typeface="宋体" panose="02010600030101010101" pitchFamily="2" charset="-122"/>
                  <a:cs typeface="+mn-cs"/>
                </a:rPr>
                <a:t>2</a:t>
              </a:r>
              <a:r>
                <a:rPr lang="en-US" altLang="zh-CN" sz="2800" b="1" noProof="1">
                  <a:solidFill>
                    <a:srgbClr val="000099"/>
                  </a:solidFill>
                  <a:latin typeface="Verdana" panose="020B0604030504040204" pitchFamily="34" charset="0"/>
                  <a:ea typeface="宋体" panose="02010600030101010101" pitchFamily="2" charset="-122"/>
                  <a:cs typeface="+mn-cs"/>
                </a:rPr>
                <a:t>O           C</a:t>
              </a:r>
              <a:r>
                <a:rPr lang="en-US" altLang="zh-CN" sz="2800" b="1" baseline="-25000" noProof="1">
                  <a:solidFill>
                    <a:srgbClr val="000099"/>
                  </a:solidFill>
                  <a:latin typeface="Verdana" panose="020B0604030504040204" pitchFamily="34" charset="0"/>
                  <a:ea typeface="宋体" panose="02010600030101010101" pitchFamily="2" charset="-122"/>
                  <a:cs typeface="+mn-cs"/>
                </a:rPr>
                <a:t>6</a:t>
              </a:r>
              <a:r>
                <a:rPr lang="en-US" altLang="zh-CN" sz="2800" b="1" noProof="1">
                  <a:solidFill>
                    <a:srgbClr val="000099"/>
                  </a:solidFill>
                  <a:latin typeface="Verdana" panose="020B0604030504040204" pitchFamily="34" charset="0"/>
                  <a:ea typeface="宋体" panose="02010600030101010101" pitchFamily="2" charset="-122"/>
                  <a:cs typeface="+mn-cs"/>
                </a:rPr>
                <a:t>H</a:t>
              </a:r>
              <a:r>
                <a:rPr lang="en-US" altLang="zh-CN" sz="2800" b="1" baseline="-25000" noProof="1">
                  <a:solidFill>
                    <a:srgbClr val="000099"/>
                  </a:solidFill>
                  <a:latin typeface="Verdana" panose="020B0604030504040204" pitchFamily="34" charset="0"/>
                  <a:ea typeface="宋体" panose="02010600030101010101" pitchFamily="2" charset="-122"/>
                  <a:cs typeface="+mn-cs"/>
                </a:rPr>
                <a:t>12</a:t>
              </a:r>
              <a:r>
                <a:rPr lang="en-US" altLang="zh-CN" sz="2800" b="1" noProof="1">
                  <a:solidFill>
                    <a:srgbClr val="000099"/>
                  </a:solidFill>
                  <a:latin typeface="Verdana" panose="020B0604030504040204" pitchFamily="34" charset="0"/>
                  <a:ea typeface="宋体" panose="02010600030101010101" pitchFamily="2" charset="-122"/>
                  <a:cs typeface="+mn-cs"/>
                </a:rPr>
                <a:t>O</a:t>
              </a:r>
              <a:r>
                <a:rPr lang="en-US" altLang="zh-CN" sz="2800" b="1" baseline="-25000" noProof="1">
                  <a:solidFill>
                    <a:srgbClr val="000099"/>
                  </a:solidFill>
                  <a:latin typeface="Verdana" panose="020B0604030504040204" pitchFamily="34" charset="0"/>
                  <a:ea typeface="宋体" panose="02010600030101010101" pitchFamily="2" charset="-122"/>
                  <a:cs typeface="+mn-cs"/>
                </a:rPr>
                <a:t>6</a:t>
              </a:r>
              <a:r>
                <a:rPr lang="en-US" altLang="zh-CN" sz="2800" b="1" noProof="1">
                  <a:solidFill>
                    <a:srgbClr val="000099"/>
                  </a:solidFill>
                  <a:latin typeface="Verdana" panose="020B0604030504040204" pitchFamily="34" charset="0"/>
                  <a:ea typeface="宋体" panose="02010600030101010101" pitchFamily="2" charset="-122"/>
                  <a:cs typeface="+mn-cs"/>
                </a:rPr>
                <a:t>+C</a:t>
              </a:r>
              <a:r>
                <a:rPr lang="en-US" altLang="zh-CN" sz="2800" b="1" baseline="-25000" noProof="1">
                  <a:solidFill>
                    <a:srgbClr val="000099"/>
                  </a:solidFill>
                  <a:latin typeface="Verdana" panose="020B0604030504040204" pitchFamily="34" charset="0"/>
                  <a:ea typeface="宋体" panose="02010600030101010101" pitchFamily="2" charset="-122"/>
                  <a:cs typeface="+mn-cs"/>
                </a:rPr>
                <a:t>6</a:t>
              </a:r>
              <a:r>
                <a:rPr lang="en-US" altLang="zh-CN" sz="2800" b="1" noProof="1">
                  <a:solidFill>
                    <a:srgbClr val="000099"/>
                  </a:solidFill>
                  <a:latin typeface="Verdana" panose="020B0604030504040204" pitchFamily="34" charset="0"/>
                  <a:ea typeface="宋体" panose="02010600030101010101" pitchFamily="2" charset="-122"/>
                  <a:cs typeface="+mn-cs"/>
                </a:rPr>
                <a:t>H</a:t>
              </a:r>
              <a:r>
                <a:rPr lang="en-US" altLang="zh-CN" sz="2800" b="1" baseline="-25000" noProof="1">
                  <a:solidFill>
                    <a:srgbClr val="000099"/>
                  </a:solidFill>
                  <a:latin typeface="Verdana" panose="020B0604030504040204" pitchFamily="34" charset="0"/>
                  <a:ea typeface="宋体" panose="02010600030101010101" pitchFamily="2" charset="-122"/>
                  <a:cs typeface="+mn-cs"/>
                </a:rPr>
                <a:t>12</a:t>
              </a:r>
              <a:r>
                <a:rPr lang="en-US" altLang="zh-CN" sz="2800" b="1" noProof="1">
                  <a:solidFill>
                    <a:srgbClr val="000099"/>
                  </a:solidFill>
                  <a:latin typeface="Verdana" panose="020B0604030504040204" pitchFamily="34" charset="0"/>
                  <a:ea typeface="宋体" panose="02010600030101010101" pitchFamily="2" charset="-122"/>
                  <a:cs typeface="+mn-cs"/>
                </a:rPr>
                <a:t>O</a:t>
              </a:r>
              <a:r>
                <a:rPr lang="en-US" altLang="zh-CN" sz="2800" b="1" baseline="-25000" noProof="1">
                  <a:solidFill>
                    <a:srgbClr val="000099"/>
                  </a:solidFill>
                  <a:latin typeface="Verdana" panose="020B0604030504040204" pitchFamily="34" charset="0"/>
                  <a:ea typeface="宋体" panose="02010600030101010101" pitchFamily="2" charset="-122"/>
                  <a:cs typeface="+mn-cs"/>
                </a:rPr>
                <a:t>6</a:t>
              </a:r>
              <a:endParaRPr lang="en-US" altLang="zh-CN" sz="2800" b="1" baseline="-25000" noProof="1">
                <a:solidFill>
                  <a:srgbClr val="000099"/>
                </a:solidFill>
                <a:latin typeface="Verdana" panose="020B0604030504040204" pitchFamily="34" charset="0"/>
                <a:ea typeface="宋体" panose="02010600030101010101" pitchFamily="2" charset="-122"/>
              </a:endParaRPr>
            </a:p>
          </p:txBody>
        </p:sp>
        <p:sp>
          <p:nvSpPr>
            <p:cNvPr id="111633" name="文本框 111632"/>
            <p:cNvSpPr txBox="1"/>
            <p:nvPr/>
          </p:nvSpPr>
          <p:spPr>
            <a:xfrm>
              <a:off x="522" y="2387"/>
              <a:ext cx="4762" cy="327"/>
            </a:xfrm>
            <a:prstGeom prst="rect">
              <a:avLst/>
            </a:prstGeom>
            <a:noFill/>
            <a:ln w="9525">
              <a:noFill/>
            </a:ln>
          </p:spPr>
          <p:txBody>
            <a:bodyPr>
              <a:spAutoFit/>
            </a:bodyPr>
            <a:lstStyle/>
            <a:p>
              <a:pPr>
                <a:spcBef>
                  <a:spcPct val="50000"/>
                </a:spcBef>
              </a:pPr>
              <a:r>
                <a:rPr lang="zh-CN" altLang="en-US" sz="2800" b="1" noProof="1">
                  <a:solidFill>
                    <a:srgbClr val="000099"/>
                  </a:solidFill>
                  <a:effectLst>
                    <a:outerShdw blurRad="38100" dist="38100" dir="2700000">
                      <a:srgbClr val="000000"/>
                    </a:outerShdw>
                  </a:effectLst>
                  <a:latin typeface="Verdana" panose="020B0604030504040204" pitchFamily="34" charset="0"/>
                  <a:ea typeface="宋体" panose="02010600030101010101" pitchFamily="2" charset="-122"/>
                  <a:cs typeface="+mn-cs"/>
                </a:rPr>
                <a:t>蔗糖                             葡萄糖       果糖</a:t>
              </a:r>
              <a:endParaRPr lang="zh-CN" altLang="en-US" sz="2800" b="1" noProof="1">
                <a:solidFill>
                  <a:srgbClr val="000099"/>
                </a:solidFill>
                <a:effectLst>
                  <a:outerShdw blurRad="38100" dist="38100" dir="2700000">
                    <a:srgbClr val="000000"/>
                  </a:outerShdw>
                </a:effectLst>
                <a:latin typeface="Verdana" panose="020B0604030504040204" pitchFamily="34" charset="0"/>
                <a:ea typeface="宋体" panose="02010600030101010101" pitchFamily="2" charset="-122"/>
              </a:endParaRPr>
            </a:p>
          </p:txBody>
        </p:sp>
        <p:sp>
          <p:nvSpPr>
            <p:cNvPr id="46097" name="直接连接符 111633"/>
            <p:cNvSpPr/>
            <p:nvPr/>
          </p:nvSpPr>
          <p:spPr>
            <a:xfrm>
              <a:off x="2290" y="2296"/>
              <a:ext cx="771" cy="0"/>
            </a:xfrm>
            <a:prstGeom prst="line">
              <a:avLst/>
            </a:prstGeom>
            <a:ln w="38100" cap="flat" cmpd="sng">
              <a:solidFill>
                <a:srgbClr val="000099"/>
              </a:solidFill>
              <a:prstDash val="solid"/>
              <a:round/>
              <a:headEnd type="none" w="med" len="med"/>
              <a:tailEnd type="triangle" w="med" len="med"/>
            </a:ln>
          </p:spPr>
        </p:sp>
        <p:sp>
          <p:nvSpPr>
            <p:cNvPr id="111635" name="文本框 111634"/>
            <p:cNvSpPr txBox="1"/>
            <p:nvPr/>
          </p:nvSpPr>
          <p:spPr>
            <a:xfrm>
              <a:off x="2290" y="2024"/>
              <a:ext cx="770" cy="288"/>
            </a:xfrm>
            <a:prstGeom prst="rect">
              <a:avLst/>
            </a:prstGeom>
            <a:noFill/>
            <a:ln w="9525">
              <a:noFill/>
            </a:ln>
          </p:spPr>
          <p:txBody>
            <a:bodyPr>
              <a:spAutoFit/>
            </a:bodyPr>
            <a:lstStyle/>
            <a:p>
              <a:pPr>
                <a:spcBef>
                  <a:spcPct val="50000"/>
                </a:spcBef>
              </a:pPr>
              <a:r>
                <a:rPr lang="zh-CN" altLang="en-US" sz="2400" b="1" noProof="1">
                  <a:solidFill>
                    <a:srgbClr val="000099"/>
                  </a:solidFill>
                  <a:effectLst>
                    <a:outerShdw blurRad="38100" dist="38100" dir="2700000">
                      <a:srgbClr val="000000"/>
                    </a:outerShdw>
                  </a:effectLst>
                  <a:latin typeface="Verdana" panose="020B0604030504040204" pitchFamily="34" charset="0"/>
                  <a:ea typeface="宋体" panose="02010600030101010101" pitchFamily="2" charset="-122"/>
                  <a:cs typeface="+mn-cs"/>
                </a:rPr>
                <a:t>催化剂</a:t>
              </a:r>
              <a:endParaRPr lang="zh-CN" altLang="en-US" sz="2400" b="1" noProof="1">
                <a:solidFill>
                  <a:srgbClr val="000099"/>
                </a:solidFill>
                <a:effectLst>
                  <a:outerShdw blurRad="38100" dist="38100" dir="2700000">
                    <a:srgbClr val="000000"/>
                  </a:outerShdw>
                </a:effectLst>
                <a:latin typeface="Verdana" panose="020B0604030504040204" pitchFamily="34" charset="0"/>
                <a:ea typeface="宋体" panose="02010600030101010101" pitchFamily="2" charset="-122"/>
              </a:endParaRPr>
            </a:p>
          </p:txBody>
        </p:sp>
      </p:grpSp>
      <p:grpSp>
        <p:nvGrpSpPr>
          <p:cNvPr id="111636" name="组合 111635"/>
          <p:cNvGrpSpPr/>
          <p:nvPr/>
        </p:nvGrpSpPr>
        <p:grpSpPr>
          <a:xfrm>
            <a:off x="539750" y="4700588"/>
            <a:ext cx="6408738" cy="1192212"/>
            <a:chOff x="340" y="2734"/>
            <a:chExt cx="4037" cy="751"/>
          </a:xfrm>
        </p:grpSpPr>
        <p:grpSp>
          <p:nvGrpSpPr>
            <p:cNvPr id="46100" name="组合 111636"/>
            <p:cNvGrpSpPr/>
            <p:nvPr/>
          </p:nvGrpSpPr>
          <p:grpSpPr>
            <a:xfrm>
              <a:off x="340" y="2734"/>
              <a:ext cx="4037" cy="424"/>
              <a:chOff x="340" y="2734"/>
              <a:chExt cx="4037" cy="424"/>
            </a:xfrm>
          </p:grpSpPr>
          <p:sp>
            <p:nvSpPr>
              <p:cNvPr id="111638" name="文本框 111637"/>
              <p:cNvSpPr txBox="1"/>
              <p:nvPr/>
            </p:nvSpPr>
            <p:spPr>
              <a:xfrm>
                <a:off x="340" y="2831"/>
                <a:ext cx="4037" cy="327"/>
              </a:xfrm>
              <a:prstGeom prst="rect">
                <a:avLst/>
              </a:prstGeom>
              <a:noFill/>
              <a:ln w="9525">
                <a:noFill/>
              </a:ln>
            </p:spPr>
            <p:txBody>
              <a:bodyPr>
                <a:spAutoFit/>
              </a:bodyPr>
              <a:lstStyle/>
              <a:p>
                <a:pPr>
                  <a:spcBef>
                    <a:spcPct val="50000"/>
                  </a:spcBef>
                </a:pPr>
                <a:r>
                  <a:rPr lang="en-US" altLang="zh-CN" sz="2800" b="1" noProof="1">
                    <a:solidFill>
                      <a:srgbClr val="000099"/>
                    </a:solidFill>
                    <a:latin typeface="Verdana" panose="020B0604030504040204" pitchFamily="34" charset="0"/>
                    <a:ea typeface="宋体" panose="02010600030101010101" pitchFamily="2" charset="-122"/>
                    <a:cs typeface="+mn-cs"/>
                  </a:rPr>
                  <a:t>C</a:t>
                </a:r>
                <a:r>
                  <a:rPr lang="en-US" altLang="zh-CN" sz="2800" b="1" baseline="-25000" noProof="1">
                    <a:solidFill>
                      <a:srgbClr val="000099"/>
                    </a:solidFill>
                    <a:latin typeface="Verdana" panose="020B0604030504040204" pitchFamily="34" charset="0"/>
                    <a:ea typeface="宋体" panose="02010600030101010101" pitchFamily="2" charset="-122"/>
                    <a:cs typeface="+mn-cs"/>
                  </a:rPr>
                  <a:t>12</a:t>
                </a:r>
                <a:r>
                  <a:rPr lang="en-US" altLang="zh-CN" sz="2800" b="1" noProof="1">
                    <a:solidFill>
                      <a:srgbClr val="000099"/>
                    </a:solidFill>
                    <a:latin typeface="Verdana" panose="020B0604030504040204" pitchFamily="34" charset="0"/>
                    <a:ea typeface="宋体" panose="02010600030101010101" pitchFamily="2" charset="-122"/>
                    <a:cs typeface="+mn-cs"/>
                  </a:rPr>
                  <a:t>H</a:t>
                </a:r>
                <a:r>
                  <a:rPr lang="en-US" altLang="zh-CN" sz="2800" b="1" baseline="-25000" noProof="1">
                    <a:solidFill>
                      <a:srgbClr val="000099"/>
                    </a:solidFill>
                    <a:latin typeface="Verdana" panose="020B0604030504040204" pitchFamily="34" charset="0"/>
                    <a:ea typeface="宋体" panose="02010600030101010101" pitchFamily="2" charset="-122"/>
                    <a:cs typeface="+mn-cs"/>
                  </a:rPr>
                  <a:t>22</a:t>
                </a:r>
                <a:r>
                  <a:rPr lang="en-US" altLang="zh-CN" sz="2800" b="1" noProof="1">
                    <a:solidFill>
                      <a:srgbClr val="000099"/>
                    </a:solidFill>
                    <a:latin typeface="Verdana" panose="020B0604030504040204" pitchFamily="34" charset="0"/>
                    <a:ea typeface="宋体" panose="02010600030101010101" pitchFamily="2" charset="-122"/>
                    <a:cs typeface="+mn-cs"/>
                  </a:rPr>
                  <a:t>O</a:t>
                </a:r>
                <a:r>
                  <a:rPr lang="en-US" altLang="zh-CN" sz="2800" b="1" baseline="-25000" noProof="1">
                    <a:solidFill>
                      <a:srgbClr val="000099"/>
                    </a:solidFill>
                    <a:latin typeface="Verdana" panose="020B0604030504040204" pitchFamily="34" charset="0"/>
                    <a:ea typeface="宋体" panose="02010600030101010101" pitchFamily="2" charset="-122"/>
                    <a:cs typeface="+mn-cs"/>
                  </a:rPr>
                  <a:t>11</a:t>
                </a:r>
                <a:r>
                  <a:rPr lang="en-US" altLang="zh-CN" sz="2800" b="1" noProof="1">
                    <a:solidFill>
                      <a:srgbClr val="000099"/>
                    </a:solidFill>
                    <a:latin typeface="Verdana" panose="020B0604030504040204" pitchFamily="34" charset="0"/>
                    <a:ea typeface="宋体" panose="02010600030101010101" pitchFamily="2" charset="-122"/>
                    <a:cs typeface="+mn-cs"/>
                  </a:rPr>
                  <a:t>+H</a:t>
                </a:r>
                <a:r>
                  <a:rPr lang="en-US" altLang="zh-CN" sz="2800" b="1" baseline="-25000" noProof="1">
                    <a:solidFill>
                      <a:srgbClr val="000099"/>
                    </a:solidFill>
                    <a:latin typeface="Verdana" panose="020B0604030504040204" pitchFamily="34" charset="0"/>
                    <a:ea typeface="宋体" panose="02010600030101010101" pitchFamily="2" charset="-122"/>
                    <a:cs typeface="+mn-cs"/>
                  </a:rPr>
                  <a:t>2</a:t>
                </a:r>
                <a:r>
                  <a:rPr lang="en-US" altLang="zh-CN" sz="2800" b="1" noProof="1">
                    <a:solidFill>
                      <a:srgbClr val="000099"/>
                    </a:solidFill>
                    <a:latin typeface="Verdana" panose="020B0604030504040204" pitchFamily="34" charset="0"/>
                    <a:ea typeface="宋体" panose="02010600030101010101" pitchFamily="2" charset="-122"/>
                    <a:cs typeface="+mn-cs"/>
                  </a:rPr>
                  <a:t>O           2C</a:t>
                </a:r>
                <a:r>
                  <a:rPr lang="en-US" altLang="zh-CN" sz="2800" b="1" baseline="-25000" noProof="1">
                    <a:solidFill>
                      <a:srgbClr val="000099"/>
                    </a:solidFill>
                    <a:latin typeface="Verdana" panose="020B0604030504040204" pitchFamily="34" charset="0"/>
                    <a:ea typeface="宋体" panose="02010600030101010101" pitchFamily="2" charset="-122"/>
                    <a:cs typeface="+mn-cs"/>
                  </a:rPr>
                  <a:t>6</a:t>
                </a:r>
                <a:r>
                  <a:rPr lang="en-US" altLang="zh-CN" sz="2800" b="1" noProof="1">
                    <a:solidFill>
                      <a:srgbClr val="000099"/>
                    </a:solidFill>
                    <a:latin typeface="Verdana" panose="020B0604030504040204" pitchFamily="34" charset="0"/>
                    <a:ea typeface="宋体" panose="02010600030101010101" pitchFamily="2" charset="-122"/>
                    <a:cs typeface="+mn-cs"/>
                  </a:rPr>
                  <a:t>H</a:t>
                </a:r>
                <a:r>
                  <a:rPr lang="en-US" altLang="zh-CN" sz="2800" b="1" baseline="-25000" noProof="1">
                    <a:solidFill>
                      <a:srgbClr val="000099"/>
                    </a:solidFill>
                    <a:latin typeface="Verdana" panose="020B0604030504040204" pitchFamily="34" charset="0"/>
                    <a:ea typeface="宋体" panose="02010600030101010101" pitchFamily="2" charset="-122"/>
                    <a:cs typeface="+mn-cs"/>
                  </a:rPr>
                  <a:t>12</a:t>
                </a:r>
                <a:r>
                  <a:rPr lang="en-US" altLang="zh-CN" sz="2800" b="1" noProof="1">
                    <a:solidFill>
                      <a:srgbClr val="000099"/>
                    </a:solidFill>
                    <a:latin typeface="Verdana" panose="020B0604030504040204" pitchFamily="34" charset="0"/>
                    <a:ea typeface="宋体" panose="02010600030101010101" pitchFamily="2" charset="-122"/>
                    <a:cs typeface="+mn-cs"/>
                  </a:rPr>
                  <a:t>O</a:t>
                </a:r>
                <a:r>
                  <a:rPr lang="en-US" altLang="zh-CN" sz="2800" b="1" baseline="-25000" noProof="1">
                    <a:solidFill>
                      <a:srgbClr val="000099"/>
                    </a:solidFill>
                    <a:latin typeface="Verdana" panose="020B0604030504040204" pitchFamily="34" charset="0"/>
                    <a:ea typeface="宋体" panose="02010600030101010101" pitchFamily="2" charset="-122"/>
                    <a:cs typeface="+mn-cs"/>
                  </a:rPr>
                  <a:t>6</a:t>
                </a:r>
                <a:endParaRPr lang="en-US" altLang="zh-CN" sz="2800" b="1" baseline="-25000" noProof="1">
                  <a:solidFill>
                    <a:srgbClr val="000099"/>
                  </a:solidFill>
                  <a:latin typeface="Verdana" panose="020B0604030504040204" pitchFamily="34" charset="0"/>
                  <a:ea typeface="宋体" panose="02010600030101010101" pitchFamily="2" charset="-122"/>
                </a:endParaRPr>
              </a:p>
            </p:txBody>
          </p:sp>
          <p:sp>
            <p:nvSpPr>
              <p:cNvPr id="46102" name="直接连接符 111638"/>
              <p:cNvSpPr/>
              <p:nvPr/>
            </p:nvSpPr>
            <p:spPr>
              <a:xfrm>
                <a:off x="2290" y="3022"/>
                <a:ext cx="771" cy="0"/>
              </a:xfrm>
              <a:prstGeom prst="line">
                <a:avLst/>
              </a:prstGeom>
              <a:ln w="38100" cap="flat" cmpd="sng">
                <a:solidFill>
                  <a:srgbClr val="000099"/>
                </a:solidFill>
                <a:prstDash val="solid"/>
                <a:round/>
                <a:headEnd type="none" w="med" len="med"/>
                <a:tailEnd type="triangle" w="med" len="med"/>
              </a:ln>
            </p:spPr>
          </p:sp>
          <p:sp>
            <p:nvSpPr>
              <p:cNvPr id="111640" name="文本框 111639"/>
              <p:cNvSpPr txBox="1"/>
              <p:nvPr/>
            </p:nvSpPr>
            <p:spPr>
              <a:xfrm>
                <a:off x="2337" y="2734"/>
                <a:ext cx="770" cy="288"/>
              </a:xfrm>
              <a:prstGeom prst="rect">
                <a:avLst/>
              </a:prstGeom>
              <a:noFill/>
              <a:ln w="9525">
                <a:noFill/>
              </a:ln>
            </p:spPr>
            <p:txBody>
              <a:bodyPr>
                <a:spAutoFit/>
              </a:bodyPr>
              <a:lstStyle/>
              <a:p>
                <a:pPr>
                  <a:spcBef>
                    <a:spcPct val="50000"/>
                  </a:spcBef>
                </a:pPr>
                <a:r>
                  <a:rPr lang="zh-CN" altLang="en-US" sz="2400" b="1" noProof="1">
                    <a:solidFill>
                      <a:srgbClr val="000099"/>
                    </a:solidFill>
                    <a:effectLst>
                      <a:outerShdw blurRad="38100" dist="38100" dir="2700000">
                        <a:srgbClr val="000000"/>
                      </a:outerShdw>
                    </a:effectLst>
                    <a:latin typeface="Verdana" panose="020B0604030504040204" pitchFamily="34" charset="0"/>
                    <a:ea typeface="宋体" panose="02010600030101010101" pitchFamily="2" charset="-122"/>
                    <a:cs typeface="+mn-cs"/>
                  </a:rPr>
                  <a:t>催化剂</a:t>
                </a:r>
                <a:endParaRPr lang="zh-CN" altLang="en-US" sz="2400" b="1" noProof="1">
                  <a:solidFill>
                    <a:srgbClr val="000099"/>
                  </a:solidFill>
                  <a:effectLst>
                    <a:outerShdw blurRad="38100" dist="38100" dir="2700000">
                      <a:srgbClr val="000000"/>
                    </a:outerShdw>
                  </a:effectLst>
                  <a:latin typeface="Verdana" panose="020B0604030504040204" pitchFamily="34" charset="0"/>
                  <a:ea typeface="宋体" panose="02010600030101010101" pitchFamily="2" charset="-122"/>
                </a:endParaRPr>
              </a:p>
            </p:txBody>
          </p:sp>
        </p:grpSp>
        <p:sp>
          <p:nvSpPr>
            <p:cNvPr id="111641" name="文本框 111640"/>
            <p:cNvSpPr txBox="1"/>
            <p:nvPr/>
          </p:nvSpPr>
          <p:spPr>
            <a:xfrm>
              <a:off x="612" y="3158"/>
              <a:ext cx="3493" cy="327"/>
            </a:xfrm>
            <a:prstGeom prst="rect">
              <a:avLst/>
            </a:prstGeom>
            <a:noFill/>
            <a:ln w="9525">
              <a:noFill/>
            </a:ln>
          </p:spPr>
          <p:txBody>
            <a:bodyPr>
              <a:spAutoFit/>
            </a:bodyPr>
            <a:lstStyle/>
            <a:p>
              <a:pPr>
                <a:spcBef>
                  <a:spcPct val="50000"/>
                </a:spcBef>
              </a:pPr>
              <a:r>
                <a:rPr lang="zh-CN" altLang="en-US" sz="2800" b="1" noProof="1">
                  <a:solidFill>
                    <a:srgbClr val="000099"/>
                  </a:solidFill>
                  <a:effectLst>
                    <a:outerShdw blurRad="38100" dist="38100" dir="2700000">
                      <a:srgbClr val="000000"/>
                    </a:outerShdw>
                  </a:effectLst>
                  <a:latin typeface="Verdana" panose="020B0604030504040204" pitchFamily="34" charset="0"/>
                  <a:ea typeface="宋体" panose="02010600030101010101" pitchFamily="2" charset="-122"/>
                  <a:cs typeface="+mn-cs"/>
                </a:rPr>
                <a:t>麦芽糖                        葡萄糖</a:t>
              </a:r>
              <a:endParaRPr lang="zh-CN" altLang="en-US" sz="2800" b="1" noProof="1">
                <a:solidFill>
                  <a:srgbClr val="000099"/>
                </a:solidFill>
                <a:effectLst>
                  <a:outerShdw blurRad="38100" dist="38100" dir="2700000">
                    <a:srgbClr val="000000"/>
                  </a:outerShdw>
                </a:effectLst>
                <a:latin typeface="Verdana" panose="020B0604030504040204" pitchFamily="34" charset="0"/>
                <a:ea typeface="宋体" panose="02010600030101010101" pitchFamily="2" charset="-122"/>
              </a:endParaRPr>
            </a:p>
          </p:txBody>
        </p:sp>
      </p:grpSp>
      <p:sp>
        <p:nvSpPr>
          <p:cNvPr id="46105" name="灯片编号占位符 1"/>
          <p:cNvSpPr>
            <a:spLocks noGrp="1"/>
          </p:cNvSpPr>
          <p:nvPr>
            <p:ph type="sldNum" sz="quarter" idx="11"/>
          </p:nvPr>
        </p:nvSpPr>
        <p:spPr>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400" dirty="0"/>
              <a:pPr lvl="0" indent="0" algn="r"/>
              <a:t>45</a:t>
            </a:fld>
            <a:endParaRPr lang="zh-CN" alt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1618"/>
                                        </p:tgtEl>
                                        <p:attrNameLst>
                                          <p:attrName>style.visibility</p:attrName>
                                        </p:attrNameLst>
                                      </p:cBhvr>
                                      <p:to>
                                        <p:strVal val="visible"/>
                                      </p:to>
                                    </p:set>
                                    <p:animEffect transition="in" filter="wipe(left)">
                                      <p:cBhvr>
                                        <p:cTn id="7" dur="500"/>
                                        <p:tgtEl>
                                          <p:spTgt spid="11161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111619"/>
                                        </p:tgtEl>
                                        <p:attrNameLst>
                                          <p:attrName>style.visibility</p:attrName>
                                        </p:attrNameLst>
                                      </p:cBhvr>
                                      <p:to>
                                        <p:strVal val="visible"/>
                                      </p:to>
                                    </p:set>
                                    <p:animEffect transition="in" filter="blinds(vertical)">
                                      <p:cBhvr>
                                        <p:cTn id="12" dur="500"/>
                                        <p:tgtEl>
                                          <p:spTgt spid="11161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grpId="0" nodeType="clickEffect">
                                  <p:stCondLst>
                                    <p:cond delay="0"/>
                                  </p:stCondLst>
                                  <p:childTnLst>
                                    <p:set>
                                      <p:cBhvr>
                                        <p:cTn id="16" dur="1" fill="hold">
                                          <p:stCondLst>
                                            <p:cond delay="0"/>
                                          </p:stCondLst>
                                        </p:cTn>
                                        <p:tgtEl>
                                          <p:spTgt spid="111626"/>
                                        </p:tgtEl>
                                        <p:attrNameLst>
                                          <p:attrName>style.visibility</p:attrName>
                                        </p:attrNameLst>
                                      </p:cBhvr>
                                      <p:to>
                                        <p:strVal val="visible"/>
                                      </p:to>
                                    </p:set>
                                    <p:animEffect transition="in" filter="blinds(vertical)">
                                      <p:cBhvr>
                                        <p:cTn id="17" dur="500"/>
                                        <p:tgtEl>
                                          <p:spTgt spid="111626"/>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60418"/>
                                        </p:tgtEl>
                                        <p:attrNameLst>
                                          <p:attrName>style.visibility</p:attrName>
                                        </p:attrNameLst>
                                      </p:cBhvr>
                                      <p:to>
                                        <p:strVal val="visible"/>
                                      </p:to>
                                    </p:set>
                                    <p:animEffect transition="in" filter="checkerboard(across)">
                                      <p:cBhvr>
                                        <p:cTn id="22" dur="500"/>
                                        <p:tgtEl>
                                          <p:spTgt spid="6041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11620"/>
                                        </p:tgtEl>
                                        <p:attrNameLst>
                                          <p:attrName>style.visibility</p:attrName>
                                        </p:attrNameLst>
                                      </p:cBhvr>
                                      <p:to>
                                        <p:strVal val="visible"/>
                                      </p:to>
                                    </p:set>
                                    <p:animEffect transition="in" filter="wipe(left)">
                                      <p:cBhvr>
                                        <p:cTn id="27" dur="500"/>
                                        <p:tgtEl>
                                          <p:spTgt spid="111620"/>
                                        </p:tgtEl>
                                      </p:cBhvr>
                                    </p:animEffect>
                                  </p:childTnLst>
                                </p:cTn>
                              </p:par>
                            </p:childTnLst>
                          </p:cTn>
                        </p:par>
                        <p:par>
                          <p:cTn id="28" fill="hold">
                            <p:stCondLst>
                              <p:cond delay="500"/>
                            </p:stCondLst>
                            <p:childTnLst>
                              <p:par>
                                <p:cTn id="29" presetID="22" presetClass="entr" presetSubtype="8" fill="hold" nodeType="afterEffect">
                                  <p:stCondLst>
                                    <p:cond delay="0"/>
                                  </p:stCondLst>
                                  <p:childTnLst>
                                    <p:set>
                                      <p:cBhvr>
                                        <p:cTn id="30" dur="1" fill="hold">
                                          <p:stCondLst>
                                            <p:cond delay="0"/>
                                          </p:stCondLst>
                                        </p:cTn>
                                        <p:tgtEl>
                                          <p:spTgt spid="111623"/>
                                        </p:tgtEl>
                                        <p:attrNameLst>
                                          <p:attrName>style.visibility</p:attrName>
                                        </p:attrNameLst>
                                      </p:cBhvr>
                                      <p:to>
                                        <p:strVal val="visible"/>
                                      </p:to>
                                    </p:set>
                                    <p:animEffect transition="in" filter="wipe(left)">
                                      <p:cBhvr>
                                        <p:cTn id="31" dur="500"/>
                                        <p:tgtEl>
                                          <p:spTgt spid="111623"/>
                                        </p:tgtEl>
                                      </p:cBhvr>
                                    </p:animEffect>
                                  </p:childTnLst>
                                </p:cTn>
                              </p:par>
                            </p:childTnLst>
                          </p:cTn>
                        </p:par>
                        <p:par>
                          <p:cTn id="32" fill="hold">
                            <p:stCondLst>
                              <p:cond delay="1000"/>
                            </p:stCondLst>
                            <p:childTnLst>
                              <p:par>
                                <p:cTn id="33" presetID="22" presetClass="entr" presetSubtype="8" fill="hold" grpId="0" nodeType="afterEffect">
                                  <p:stCondLst>
                                    <p:cond delay="0"/>
                                  </p:stCondLst>
                                  <p:childTnLst>
                                    <p:set>
                                      <p:cBhvr>
                                        <p:cTn id="34" dur="1" fill="hold">
                                          <p:stCondLst>
                                            <p:cond delay="0"/>
                                          </p:stCondLst>
                                        </p:cTn>
                                        <p:tgtEl>
                                          <p:spTgt spid="111630"/>
                                        </p:tgtEl>
                                        <p:attrNameLst>
                                          <p:attrName>style.visibility</p:attrName>
                                        </p:attrNameLst>
                                      </p:cBhvr>
                                      <p:to>
                                        <p:strVal val="visible"/>
                                      </p:to>
                                    </p:set>
                                    <p:animEffect transition="in" filter="wipe(left)">
                                      <p:cBhvr>
                                        <p:cTn id="35" dur="500"/>
                                        <p:tgtEl>
                                          <p:spTgt spid="111630"/>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111631"/>
                                        </p:tgtEl>
                                        <p:attrNameLst>
                                          <p:attrName>style.visibility</p:attrName>
                                        </p:attrNameLst>
                                      </p:cBhvr>
                                      <p:to>
                                        <p:strVal val="visible"/>
                                      </p:to>
                                    </p:set>
                                    <p:animEffect transition="in" filter="wipe(left)">
                                      <p:cBhvr>
                                        <p:cTn id="40" dur="500"/>
                                        <p:tgtEl>
                                          <p:spTgt spid="111631"/>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111636"/>
                                        </p:tgtEl>
                                        <p:attrNameLst>
                                          <p:attrName>style.visibility</p:attrName>
                                        </p:attrNameLst>
                                      </p:cBhvr>
                                      <p:to>
                                        <p:strVal val="visible"/>
                                      </p:to>
                                    </p:set>
                                    <p:animEffect transition="in" filter="wipe(left)">
                                      <p:cBhvr>
                                        <p:cTn id="45" dur="500"/>
                                        <p:tgtEl>
                                          <p:spTgt spid="1116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18" grpId="0" animBg="1"/>
      <p:bldP spid="111619" grpId="0"/>
      <p:bldP spid="111626" grpId="0"/>
      <p:bldP spid="111630"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8275" name="文本框 438274"/>
          <p:cNvSpPr txBox="1"/>
          <p:nvPr/>
        </p:nvSpPr>
        <p:spPr>
          <a:xfrm>
            <a:off x="533400" y="2209800"/>
            <a:ext cx="1219200" cy="457200"/>
          </a:xfrm>
          <a:prstGeom prst="rect">
            <a:avLst/>
          </a:prstGeom>
          <a:noFill/>
          <a:ln w="9525">
            <a:noFill/>
          </a:ln>
        </p:spPr>
        <p:txBody>
          <a:bodyPr anchor="t">
            <a:spAutoFit/>
          </a:bodyPr>
          <a:lstStyle/>
          <a:p>
            <a:pPr>
              <a:spcBef>
                <a:spcPct val="50000"/>
              </a:spcBef>
            </a:pPr>
            <a:r>
              <a:rPr lang="zh-CN" altLang="en-US" sz="2400" b="1" dirty="0">
                <a:latin typeface="Arial" panose="020B0604020202020204" pitchFamily="34" charset="0"/>
              </a:rPr>
              <a:t>维生素</a:t>
            </a:r>
            <a:endParaRPr lang="zh-CN" altLang="en-US" sz="2400" b="1">
              <a:latin typeface="Arial" panose="020B0604020202020204" pitchFamily="34" charset="0"/>
            </a:endParaRPr>
          </a:p>
        </p:txBody>
      </p:sp>
      <p:sp>
        <p:nvSpPr>
          <p:cNvPr id="438276" name="左大括号 438275"/>
          <p:cNvSpPr/>
          <p:nvPr/>
        </p:nvSpPr>
        <p:spPr>
          <a:xfrm>
            <a:off x="1676400" y="1752600"/>
            <a:ext cx="76200" cy="1295400"/>
          </a:xfrm>
          <a:prstGeom prst="leftBrace">
            <a:avLst>
              <a:gd name="adj1" fmla="val 141430"/>
              <a:gd name="adj2" fmla="val 50000"/>
            </a:avLst>
          </a:prstGeom>
          <a:noFill/>
          <a:ln w="9525" cap="flat" cmpd="sng">
            <a:solidFill>
              <a:schemeClr val="tx1"/>
            </a:solidFill>
            <a:prstDash val="solid"/>
            <a:miter/>
            <a:headEnd type="none" w="med" len="med"/>
            <a:tailEnd type="none" w="med" len="med"/>
          </a:ln>
        </p:spPr>
        <p:txBody>
          <a:bodyPr anchor="t"/>
          <a:lstStyle/>
          <a:p>
            <a:endParaRPr lang="zh-CN" altLang="en-US">
              <a:latin typeface="Arial" panose="020B0604020202020204" pitchFamily="34" charset="0"/>
            </a:endParaRPr>
          </a:p>
        </p:txBody>
      </p:sp>
      <p:sp>
        <p:nvSpPr>
          <p:cNvPr id="438277" name="文本框 438276"/>
          <p:cNvSpPr txBox="1"/>
          <p:nvPr/>
        </p:nvSpPr>
        <p:spPr>
          <a:xfrm>
            <a:off x="1905000" y="1676400"/>
            <a:ext cx="3276600" cy="457200"/>
          </a:xfrm>
          <a:prstGeom prst="rect">
            <a:avLst/>
          </a:prstGeom>
          <a:noFill/>
          <a:ln w="9525">
            <a:noFill/>
          </a:ln>
        </p:spPr>
        <p:txBody>
          <a:bodyPr anchor="t">
            <a:spAutoFit/>
          </a:bodyPr>
          <a:lstStyle/>
          <a:p>
            <a:pPr>
              <a:spcBef>
                <a:spcPct val="50000"/>
              </a:spcBef>
            </a:pPr>
            <a:r>
              <a:rPr lang="zh-CN" altLang="en-US" sz="2400" b="1" dirty="0">
                <a:latin typeface="Arial" panose="020B0604020202020204" pitchFamily="34" charset="0"/>
              </a:rPr>
              <a:t>维生素在人体中的作用</a:t>
            </a:r>
            <a:endParaRPr lang="zh-CN" altLang="en-US" sz="2400" b="1">
              <a:latin typeface="Arial" panose="020B0604020202020204" pitchFamily="34" charset="0"/>
            </a:endParaRPr>
          </a:p>
        </p:txBody>
      </p:sp>
      <p:sp>
        <p:nvSpPr>
          <p:cNvPr id="438278" name="文本框 438277"/>
          <p:cNvSpPr txBox="1"/>
          <p:nvPr/>
        </p:nvSpPr>
        <p:spPr>
          <a:xfrm>
            <a:off x="1981200" y="2514600"/>
            <a:ext cx="1752600" cy="457200"/>
          </a:xfrm>
          <a:prstGeom prst="rect">
            <a:avLst/>
          </a:prstGeom>
          <a:noFill/>
          <a:ln w="9525">
            <a:noFill/>
          </a:ln>
        </p:spPr>
        <p:txBody>
          <a:bodyPr anchor="t">
            <a:spAutoFit/>
          </a:bodyPr>
          <a:lstStyle/>
          <a:p>
            <a:pPr>
              <a:spcBef>
                <a:spcPct val="50000"/>
              </a:spcBef>
            </a:pPr>
            <a:r>
              <a:rPr lang="zh-CN" altLang="en-US" sz="2400" b="1" dirty="0">
                <a:latin typeface="Arial" panose="020B0604020202020204" pitchFamily="34" charset="0"/>
              </a:rPr>
              <a:t>维生素</a:t>
            </a:r>
            <a:r>
              <a:rPr lang="en-US" altLang="zh-CN" sz="2400" b="1">
                <a:latin typeface="Arial" panose="020B0604020202020204" pitchFamily="34" charset="0"/>
              </a:rPr>
              <a:t>C</a:t>
            </a:r>
          </a:p>
        </p:txBody>
      </p:sp>
      <p:sp>
        <p:nvSpPr>
          <p:cNvPr id="438279" name="文本框 438278"/>
          <p:cNvSpPr txBox="1"/>
          <p:nvPr/>
        </p:nvSpPr>
        <p:spPr>
          <a:xfrm>
            <a:off x="609600" y="4267200"/>
            <a:ext cx="1524000" cy="457200"/>
          </a:xfrm>
          <a:prstGeom prst="rect">
            <a:avLst/>
          </a:prstGeom>
          <a:noFill/>
          <a:ln w="9525">
            <a:noFill/>
          </a:ln>
        </p:spPr>
        <p:txBody>
          <a:bodyPr anchor="t">
            <a:spAutoFit/>
          </a:bodyPr>
          <a:lstStyle/>
          <a:p>
            <a:pPr>
              <a:spcBef>
                <a:spcPct val="50000"/>
              </a:spcBef>
            </a:pPr>
            <a:r>
              <a:rPr lang="zh-CN" altLang="en-US" sz="2400" b="1" dirty="0">
                <a:latin typeface="Arial" panose="020B0604020202020204" pitchFamily="34" charset="0"/>
              </a:rPr>
              <a:t>微量元素</a:t>
            </a:r>
            <a:endParaRPr lang="zh-CN" altLang="en-US" sz="2400" b="1">
              <a:latin typeface="Arial" panose="020B0604020202020204" pitchFamily="34" charset="0"/>
            </a:endParaRPr>
          </a:p>
        </p:txBody>
      </p:sp>
      <p:sp>
        <p:nvSpPr>
          <p:cNvPr id="438280" name="左大括号 438279"/>
          <p:cNvSpPr/>
          <p:nvPr/>
        </p:nvSpPr>
        <p:spPr>
          <a:xfrm>
            <a:off x="2133600" y="3429000"/>
            <a:ext cx="76200" cy="2057400"/>
          </a:xfrm>
          <a:prstGeom prst="leftBrace">
            <a:avLst>
              <a:gd name="adj1" fmla="val 225000"/>
              <a:gd name="adj2" fmla="val 50000"/>
            </a:avLst>
          </a:prstGeom>
          <a:noFill/>
          <a:ln w="9525" cap="flat" cmpd="sng">
            <a:solidFill>
              <a:schemeClr val="tx1"/>
            </a:solidFill>
            <a:prstDash val="solid"/>
            <a:miter/>
            <a:headEnd type="none" w="med" len="med"/>
            <a:tailEnd type="none" w="med" len="med"/>
          </a:ln>
        </p:spPr>
        <p:txBody>
          <a:bodyPr anchor="t"/>
          <a:lstStyle/>
          <a:p>
            <a:endParaRPr lang="zh-CN" altLang="en-US">
              <a:latin typeface="Arial" panose="020B0604020202020204" pitchFamily="34" charset="0"/>
            </a:endParaRPr>
          </a:p>
        </p:txBody>
      </p:sp>
      <p:sp>
        <p:nvSpPr>
          <p:cNvPr id="438281" name="文本框 438280"/>
          <p:cNvSpPr txBox="1"/>
          <p:nvPr/>
        </p:nvSpPr>
        <p:spPr>
          <a:xfrm>
            <a:off x="2362200" y="3200400"/>
            <a:ext cx="3962400" cy="457200"/>
          </a:xfrm>
          <a:prstGeom prst="rect">
            <a:avLst/>
          </a:prstGeom>
          <a:noFill/>
          <a:ln w="9525">
            <a:noFill/>
          </a:ln>
        </p:spPr>
        <p:txBody>
          <a:bodyPr anchor="t">
            <a:spAutoFit/>
          </a:bodyPr>
          <a:lstStyle/>
          <a:p>
            <a:pPr>
              <a:spcBef>
                <a:spcPct val="50000"/>
              </a:spcBef>
            </a:pPr>
            <a:r>
              <a:rPr lang="zh-CN" altLang="en-US" sz="2400" b="1" dirty="0">
                <a:latin typeface="Arial" panose="020B0604020202020204" pitchFamily="34" charset="0"/>
              </a:rPr>
              <a:t>微量元素在人体中的作用</a:t>
            </a:r>
            <a:endParaRPr lang="zh-CN" altLang="en-US" sz="2400" b="1">
              <a:latin typeface="Arial" panose="020B0604020202020204" pitchFamily="34" charset="0"/>
            </a:endParaRPr>
          </a:p>
        </p:txBody>
      </p:sp>
      <p:sp>
        <p:nvSpPr>
          <p:cNvPr id="438282" name="文本框 438281"/>
          <p:cNvSpPr txBox="1"/>
          <p:nvPr/>
        </p:nvSpPr>
        <p:spPr>
          <a:xfrm>
            <a:off x="2438400" y="4114800"/>
            <a:ext cx="5562600" cy="457200"/>
          </a:xfrm>
          <a:prstGeom prst="rect">
            <a:avLst/>
          </a:prstGeom>
          <a:noFill/>
          <a:ln w="9525">
            <a:noFill/>
          </a:ln>
        </p:spPr>
        <p:txBody>
          <a:bodyPr anchor="t">
            <a:spAutoFit/>
          </a:bodyPr>
          <a:lstStyle/>
          <a:p>
            <a:pPr>
              <a:spcBef>
                <a:spcPct val="50000"/>
              </a:spcBef>
            </a:pPr>
            <a:r>
              <a:rPr lang="zh-CN" altLang="en-US" sz="2400" b="1">
                <a:latin typeface="Arial" panose="020B0604020202020204" pitchFamily="34" charset="0"/>
              </a:rPr>
              <a:t>碘在</a:t>
            </a:r>
            <a:r>
              <a:rPr lang="zh-CN" altLang="en-US" sz="2400" b="1" dirty="0">
                <a:latin typeface="Arial" panose="020B0604020202020204" pitchFamily="34" charset="0"/>
              </a:rPr>
              <a:t>人体中的作用及食用加碘盐</a:t>
            </a:r>
            <a:endParaRPr lang="zh-CN" altLang="en-US" sz="2400" b="1">
              <a:latin typeface="Arial" panose="020B0604020202020204" pitchFamily="34" charset="0"/>
            </a:endParaRPr>
          </a:p>
        </p:txBody>
      </p:sp>
      <p:sp>
        <p:nvSpPr>
          <p:cNvPr id="438283" name="文本框 438282"/>
          <p:cNvSpPr txBox="1"/>
          <p:nvPr/>
        </p:nvSpPr>
        <p:spPr>
          <a:xfrm>
            <a:off x="2438400" y="5105400"/>
            <a:ext cx="4724400" cy="457200"/>
          </a:xfrm>
          <a:prstGeom prst="rect">
            <a:avLst/>
          </a:prstGeom>
          <a:noFill/>
          <a:ln w="9525">
            <a:noFill/>
          </a:ln>
        </p:spPr>
        <p:txBody>
          <a:bodyPr anchor="t">
            <a:spAutoFit/>
          </a:bodyPr>
          <a:lstStyle/>
          <a:p>
            <a:pPr>
              <a:spcBef>
                <a:spcPct val="50000"/>
              </a:spcBef>
            </a:pPr>
            <a:r>
              <a:rPr lang="zh-CN" altLang="en-US" sz="2400" b="1">
                <a:latin typeface="Arial" panose="020B0604020202020204" pitchFamily="34" charset="0"/>
              </a:rPr>
              <a:t>铁在</a:t>
            </a:r>
            <a:r>
              <a:rPr lang="zh-CN" altLang="en-US" sz="2400" b="1" dirty="0">
                <a:latin typeface="Arial" panose="020B0604020202020204" pitchFamily="34" charset="0"/>
              </a:rPr>
              <a:t>人体中的作用及饮食补铁</a:t>
            </a:r>
            <a:endParaRPr lang="zh-CN" altLang="en-US" sz="2400" b="1">
              <a:latin typeface="Arial" panose="020B0604020202020204" pitchFamily="34" charset="0"/>
            </a:endParaRPr>
          </a:p>
        </p:txBody>
      </p:sp>
      <p:sp>
        <p:nvSpPr>
          <p:cNvPr id="47115" name="灯片编号占位符 1"/>
          <p:cNvSpPr>
            <a:spLocks noGrp="1"/>
          </p:cNvSpPr>
          <p:nvPr>
            <p:ph type="sldNum" sz="quarter" idx="11"/>
          </p:nvPr>
        </p:nvSpPr>
        <p:spPr>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400" dirty="0"/>
              <a:pPr lvl="0" indent="0" algn="r"/>
              <a:t>46</a:t>
            </a:fld>
            <a:endParaRPr lang="zh-CN" altLang="en-US" sz="1400" dirty="0"/>
          </a:p>
        </p:txBody>
      </p:sp>
      <p:sp>
        <p:nvSpPr>
          <p:cNvPr id="7170" name="Rectangle 2"/>
          <p:cNvSpPr>
            <a:spLocks noChangeArrowheads="1"/>
          </p:cNvSpPr>
          <p:nvPr/>
        </p:nvSpPr>
        <p:spPr bwMode="auto">
          <a:xfrm>
            <a:off x="0" y="418783"/>
            <a:ext cx="9144000" cy="720725"/>
          </a:xfrm>
          <a:prstGeom prst="rect">
            <a:avLst/>
          </a:prstGeom>
          <a:gradFill rotWithShape="1">
            <a:gsLst>
              <a:gs pos="0">
                <a:srgbClr val="0000FF">
                  <a:gamma/>
                  <a:shade val="46275"/>
                  <a:invGamma/>
                </a:srgbClr>
              </a:gs>
              <a:gs pos="50000">
                <a:srgbClr val="0000FF">
                  <a:alpha val="98999"/>
                </a:srgbClr>
              </a:gs>
              <a:gs pos="100000">
                <a:srgbClr val="0000FF">
                  <a:gamma/>
                  <a:shade val="46275"/>
                  <a:invGamma/>
                </a:srgbClr>
              </a:gs>
            </a:gsLst>
            <a:lin ang="5400000" scaled="1"/>
          </a:gradFill>
          <a:ln w="9525">
            <a:noFill/>
            <a:miter lim="800000"/>
          </a:ln>
        </p:spPr>
        <p:txBody>
          <a:bodyPr anchor="ctr"/>
          <a:lstStyle/>
          <a:p>
            <a:pPr marL="0" marR="0" lvl="0" indent="0" algn="ctr" defTabSz="914400" rtl="0" eaLnBrk="1" fontAlgn="base" latinLnBrk="0" hangingPunct="1">
              <a:lnSpc>
                <a:spcPct val="115000"/>
              </a:lnSpc>
              <a:spcBef>
                <a:spcPct val="0"/>
              </a:spcBef>
              <a:spcAft>
                <a:spcPct val="0"/>
              </a:spcAft>
              <a:buClrTx/>
              <a:buSzTx/>
              <a:buFont typeface="Arial" panose="020B0604020202020204" pitchFamily="34" charset="0"/>
              <a:buNone/>
              <a:defRPr/>
            </a:pPr>
            <a:r>
              <a:rPr kumimoji="0" lang="en-US" altLang="zh-CN" sz="3200" b="1" i="0" u="none" strike="noStrike" kern="1200" cap="none" spc="0" normalizeH="0" baseline="0" noProof="0">
                <a:ln>
                  <a:noFill/>
                </a:ln>
                <a:solidFill>
                  <a:schemeClr val="bg1"/>
                </a:solidFill>
                <a:effectLst/>
                <a:uLnTx/>
                <a:uFillTx/>
                <a:latin typeface="楷体_GB2312" pitchFamily="49" charset="-122"/>
                <a:ea typeface="楷体_GB2312" pitchFamily="49" charset="-122"/>
                <a:cs typeface="+mn-cs"/>
              </a:rPr>
              <a:t>§9</a:t>
            </a:r>
            <a:r>
              <a:rPr kumimoji="0" lang="en-US" altLang="zh-CN" sz="3200" b="1" i="0" u="none" strike="noStrike" kern="1200" cap="none" spc="0" normalizeH="0" baseline="0" noProof="0">
                <a:ln>
                  <a:noFill/>
                </a:ln>
                <a:solidFill>
                  <a:schemeClr val="bg1"/>
                </a:solidFill>
                <a:effectLst/>
                <a:uLnTx/>
                <a:uFillTx/>
                <a:latin typeface="Times New Roman" panose="02020603050405020304" pitchFamily="18" charset="0"/>
                <a:ea typeface="楷体_GB2312" pitchFamily="49" charset="-122"/>
                <a:cs typeface="+mn-cs"/>
              </a:rPr>
              <a:t>.4  </a:t>
            </a:r>
            <a:r>
              <a:rPr kumimoji="0" lang="zh-CN" altLang="en-US" sz="3200" b="1" i="0" u="none" strike="noStrike" kern="1200" cap="none" spc="0" normalizeH="0" baseline="0" noProof="0">
                <a:ln>
                  <a:noFill/>
                </a:ln>
                <a:solidFill>
                  <a:schemeClr val="bg1"/>
                </a:solidFill>
                <a:effectLst/>
                <a:uLnTx/>
                <a:uFillTx/>
                <a:latin typeface="Times New Roman" panose="02020603050405020304" pitchFamily="18" charset="0"/>
                <a:ea typeface="楷体_GB2312" pitchFamily="49" charset="-122"/>
                <a:cs typeface="+mn-cs"/>
              </a:rPr>
              <a:t>维生素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1" presetClass="entr" presetSubtype="0" fill="hold" nodeType="clickEffect">
                                  <p:stCondLst>
                                    <p:cond delay="0"/>
                                  </p:stCondLst>
                                  <p:iterate type="lt">
                                    <p:tmPct val="10000"/>
                                  </p:iterate>
                                  <p:childTnLst>
                                    <p:set>
                                      <p:cBhvr>
                                        <p:cTn id="6" dur="1" fill="hold">
                                          <p:stCondLst>
                                            <p:cond delay="0"/>
                                          </p:stCondLst>
                                        </p:cTn>
                                        <p:tgtEl>
                                          <p:spTgt spid="7170"/>
                                        </p:tgtEl>
                                        <p:attrNameLst>
                                          <p:attrName>style.visibility</p:attrName>
                                        </p:attrNameLst>
                                      </p:cBhvr>
                                      <p:to>
                                        <p:strVal val="visible"/>
                                      </p:to>
                                    </p:set>
                                    <p:anim calcmode="lin" valueType="num">
                                      <p:cBhvr>
                                        <p:cTn id="7" dur="500" fill="hold"/>
                                        <p:tgtEl>
                                          <p:spTgt spid="7170"/>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7170"/>
                                        </p:tgtEl>
                                        <p:attrNameLst>
                                          <p:attrName>ppt_y</p:attrName>
                                        </p:attrNameLst>
                                      </p:cBhvr>
                                      <p:tavLst>
                                        <p:tav tm="0">
                                          <p:val>
                                            <p:strVal val="#ppt_y"/>
                                          </p:val>
                                        </p:tav>
                                        <p:tav tm="100000">
                                          <p:val>
                                            <p:strVal val="#ppt_y"/>
                                          </p:val>
                                        </p:tav>
                                      </p:tavLst>
                                    </p:anim>
                                    <p:anim calcmode="lin" valueType="num">
                                      <p:cBhvr>
                                        <p:cTn id="9" dur="500" fill="hold"/>
                                        <p:tgtEl>
                                          <p:spTgt spid="7170"/>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7170"/>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7170"/>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8" fill="hold" grpId="0" nodeType="clickEffect">
                                  <p:stCondLst>
                                    <p:cond delay="0"/>
                                  </p:stCondLst>
                                  <p:childTnLst>
                                    <p:set>
                                      <p:cBhvr>
                                        <p:cTn id="15" dur="1" fill="hold">
                                          <p:stCondLst>
                                            <p:cond delay="0"/>
                                          </p:stCondLst>
                                        </p:cTn>
                                        <p:tgtEl>
                                          <p:spTgt spid="438275"/>
                                        </p:tgtEl>
                                        <p:attrNameLst>
                                          <p:attrName>style.visibility</p:attrName>
                                        </p:attrNameLst>
                                      </p:cBhvr>
                                      <p:to>
                                        <p:strVal val="visible"/>
                                      </p:to>
                                    </p:set>
                                    <p:anim calcmode="lin" valueType="num">
                                      <p:cBhvr additive="base">
                                        <p:cTn id="16" dur="500" fill="hold"/>
                                        <p:tgtEl>
                                          <p:spTgt spid="438275"/>
                                        </p:tgtEl>
                                        <p:attrNameLst>
                                          <p:attrName>ppt_x</p:attrName>
                                        </p:attrNameLst>
                                      </p:cBhvr>
                                      <p:tavLst>
                                        <p:tav tm="0">
                                          <p:val>
                                            <p:strVal val="0-#ppt_w/2"/>
                                          </p:val>
                                        </p:tav>
                                        <p:tav tm="100000">
                                          <p:val>
                                            <p:strVal val="#ppt_x"/>
                                          </p:val>
                                        </p:tav>
                                      </p:tavLst>
                                    </p:anim>
                                    <p:anim calcmode="lin" valueType="num">
                                      <p:cBhvr additive="base">
                                        <p:cTn id="17" dur="500" fill="hold"/>
                                        <p:tgtEl>
                                          <p:spTgt spid="438275"/>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438276"/>
                                        </p:tgtEl>
                                        <p:attrNameLst>
                                          <p:attrName>style.visibility</p:attrName>
                                        </p:attrNameLst>
                                      </p:cBhvr>
                                      <p:to>
                                        <p:strVal val="visible"/>
                                      </p:to>
                                    </p:set>
                                    <p:anim calcmode="lin" valueType="num">
                                      <p:cBhvr additive="base">
                                        <p:cTn id="22" dur="500" fill="hold"/>
                                        <p:tgtEl>
                                          <p:spTgt spid="438276"/>
                                        </p:tgtEl>
                                        <p:attrNameLst>
                                          <p:attrName>ppt_x</p:attrName>
                                        </p:attrNameLst>
                                      </p:cBhvr>
                                      <p:tavLst>
                                        <p:tav tm="0">
                                          <p:val>
                                            <p:strVal val="0-#ppt_w/2"/>
                                          </p:val>
                                        </p:tav>
                                        <p:tav tm="100000">
                                          <p:val>
                                            <p:strVal val="#ppt_x"/>
                                          </p:val>
                                        </p:tav>
                                      </p:tavLst>
                                    </p:anim>
                                    <p:anim calcmode="lin" valueType="num">
                                      <p:cBhvr additive="base">
                                        <p:cTn id="23" dur="500" fill="hold"/>
                                        <p:tgtEl>
                                          <p:spTgt spid="438276"/>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8" fill="hold" grpId="0" nodeType="clickEffect">
                                  <p:stCondLst>
                                    <p:cond delay="0"/>
                                  </p:stCondLst>
                                  <p:childTnLst>
                                    <p:set>
                                      <p:cBhvr>
                                        <p:cTn id="27" dur="1" fill="hold">
                                          <p:stCondLst>
                                            <p:cond delay="0"/>
                                          </p:stCondLst>
                                        </p:cTn>
                                        <p:tgtEl>
                                          <p:spTgt spid="438277"/>
                                        </p:tgtEl>
                                        <p:attrNameLst>
                                          <p:attrName>style.visibility</p:attrName>
                                        </p:attrNameLst>
                                      </p:cBhvr>
                                      <p:to>
                                        <p:strVal val="visible"/>
                                      </p:to>
                                    </p:set>
                                    <p:anim calcmode="lin" valueType="num">
                                      <p:cBhvr additive="base">
                                        <p:cTn id="28" dur="500" fill="hold"/>
                                        <p:tgtEl>
                                          <p:spTgt spid="438277"/>
                                        </p:tgtEl>
                                        <p:attrNameLst>
                                          <p:attrName>ppt_x</p:attrName>
                                        </p:attrNameLst>
                                      </p:cBhvr>
                                      <p:tavLst>
                                        <p:tav tm="0">
                                          <p:val>
                                            <p:strVal val="0-#ppt_w/2"/>
                                          </p:val>
                                        </p:tav>
                                        <p:tav tm="100000">
                                          <p:val>
                                            <p:strVal val="#ppt_x"/>
                                          </p:val>
                                        </p:tav>
                                      </p:tavLst>
                                    </p:anim>
                                    <p:anim calcmode="lin" valueType="num">
                                      <p:cBhvr additive="base">
                                        <p:cTn id="29" dur="500" fill="hold"/>
                                        <p:tgtEl>
                                          <p:spTgt spid="438277"/>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8" fill="hold" grpId="0" nodeType="clickEffect">
                                  <p:stCondLst>
                                    <p:cond delay="0"/>
                                  </p:stCondLst>
                                  <p:childTnLst>
                                    <p:set>
                                      <p:cBhvr>
                                        <p:cTn id="33" dur="1" fill="hold">
                                          <p:stCondLst>
                                            <p:cond delay="0"/>
                                          </p:stCondLst>
                                        </p:cTn>
                                        <p:tgtEl>
                                          <p:spTgt spid="438278"/>
                                        </p:tgtEl>
                                        <p:attrNameLst>
                                          <p:attrName>style.visibility</p:attrName>
                                        </p:attrNameLst>
                                      </p:cBhvr>
                                      <p:to>
                                        <p:strVal val="visible"/>
                                      </p:to>
                                    </p:set>
                                    <p:anim calcmode="lin" valueType="num">
                                      <p:cBhvr additive="base">
                                        <p:cTn id="34" dur="500" fill="hold"/>
                                        <p:tgtEl>
                                          <p:spTgt spid="438278"/>
                                        </p:tgtEl>
                                        <p:attrNameLst>
                                          <p:attrName>ppt_x</p:attrName>
                                        </p:attrNameLst>
                                      </p:cBhvr>
                                      <p:tavLst>
                                        <p:tav tm="0">
                                          <p:val>
                                            <p:strVal val="0-#ppt_w/2"/>
                                          </p:val>
                                        </p:tav>
                                        <p:tav tm="100000">
                                          <p:val>
                                            <p:strVal val="#ppt_x"/>
                                          </p:val>
                                        </p:tav>
                                      </p:tavLst>
                                    </p:anim>
                                    <p:anim calcmode="lin" valueType="num">
                                      <p:cBhvr additive="base">
                                        <p:cTn id="35" dur="500" fill="hold"/>
                                        <p:tgtEl>
                                          <p:spTgt spid="438278"/>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8" fill="hold" grpId="0" nodeType="clickEffect">
                                  <p:stCondLst>
                                    <p:cond delay="0"/>
                                  </p:stCondLst>
                                  <p:childTnLst>
                                    <p:set>
                                      <p:cBhvr>
                                        <p:cTn id="39" dur="1" fill="hold">
                                          <p:stCondLst>
                                            <p:cond delay="0"/>
                                          </p:stCondLst>
                                        </p:cTn>
                                        <p:tgtEl>
                                          <p:spTgt spid="438279"/>
                                        </p:tgtEl>
                                        <p:attrNameLst>
                                          <p:attrName>style.visibility</p:attrName>
                                        </p:attrNameLst>
                                      </p:cBhvr>
                                      <p:to>
                                        <p:strVal val="visible"/>
                                      </p:to>
                                    </p:set>
                                    <p:anim calcmode="lin" valueType="num">
                                      <p:cBhvr additive="base">
                                        <p:cTn id="40" dur="500" fill="hold"/>
                                        <p:tgtEl>
                                          <p:spTgt spid="438279"/>
                                        </p:tgtEl>
                                        <p:attrNameLst>
                                          <p:attrName>ppt_x</p:attrName>
                                        </p:attrNameLst>
                                      </p:cBhvr>
                                      <p:tavLst>
                                        <p:tav tm="0">
                                          <p:val>
                                            <p:strVal val="0-#ppt_w/2"/>
                                          </p:val>
                                        </p:tav>
                                        <p:tav tm="100000">
                                          <p:val>
                                            <p:strVal val="#ppt_x"/>
                                          </p:val>
                                        </p:tav>
                                      </p:tavLst>
                                    </p:anim>
                                    <p:anim calcmode="lin" valueType="num">
                                      <p:cBhvr additive="base">
                                        <p:cTn id="41" dur="500" fill="hold"/>
                                        <p:tgtEl>
                                          <p:spTgt spid="438279"/>
                                        </p:tgtEl>
                                        <p:attrNameLst>
                                          <p:attrName>ppt_y</p:attrName>
                                        </p:attrNameLst>
                                      </p:cBhvr>
                                      <p:tavLst>
                                        <p:tav tm="0">
                                          <p:val>
                                            <p:strVal val="#ppt_y"/>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8" fill="hold" nodeType="clickEffect">
                                  <p:stCondLst>
                                    <p:cond delay="0"/>
                                  </p:stCondLst>
                                  <p:childTnLst>
                                    <p:set>
                                      <p:cBhvr>
                                        <p:cTn id="45" dur="1" fill="hold">
                                          <p:stCondLst>
                                            <p:cond delay="0"/>
                                          </p:stCondLst>
                                        </p:cTn>
                                        <p:tgtEl>
                                          <p:spTgt spid="438280"/>
                                        </p:tgtEl>
                                        <p:attrNameLst>
                                          <p:attrName>style.visibility</p:attrName>
                                        </p:attrNameLst>
                                      </p:cBhvr>
                                      <p:to>
                                        <p:strVal val="visible"/>
                                      </p:to>
                                    </p:set>
                                    <p:anim calcmode="lin" valueType="num">
                                      <p:cBhvr additive="base">
                                        <p:cTn id="46" dur="500" fill="hold"/>
                                        <p:tgtEl>
                                          <p:spTgt spid="438280"/>
                                        </p:tgtEl>
                                        <p:attrNameLst>
                                          <p:attrName>ppt_x</p:attrName>
                                        </p:attrNameLst>
                                      </p:cBhvr>
                                      <p:tavLst>
                                        <p:tav tm="0">
                                          <p:val>
                                            <p:strVal val="0-#ppt_w/2"/>
                                          </p:val>
                                        </p:tav>
                                        <p:tav tm="100000">
                                          <p:val>
                                            <p:strVal val="#ppt_x"/>
                                          </p:val>
                                        </p:tav>
                                      </p:tavLst>
                                    </p:anim>
                                    <p:anim calcmode="lin" valueType="num">
                                      <p:cBhvr additive="base">
                                        <p:cTn id="47" dur="500" fill="hold"/>
                                        <p:tgtEl>
                                          <p:spTgt spid="438280"/>
                                        </p:tgtEl>
                                        <p:attrNameLst>
                                          <p:attrName>ppt_y</p:attrName>
                                        </p:attrNameLst>
                                      </p:cBhvr>
                                      <p:tavLst>
                                        <p:tav tm="0">
                                          <p:val>
                                            <p:strVal val="#ppt_y"/>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8" fill="hold" grpId="0" nodeType="clickEffect">
                                  <p:stCondLst>
                                    <p:cond delay="0"/>
                                  </p:stCondLst>
                                  <p:childTnLst>
                                    <p:set>
                                      <p:cBhvr>
                                        <p:cTn id="51" dur="1" fill="hold">
                                          <p:stCondLst>
                                            <p:cond delay="0"/>
                                          </p:stCondLst>
                                        </p:cTn>
                                        <p:tgtEl>
                                          <p:spTgt spid="438281"/>
                                        </p:tgtEl>
                                        <p:attrNameLst>
                                          <p:attrName>style.visibility</p:attrName>
                                        </p:attrNameLst>
                                      </p:cBhvr>
                                      <p:to>
                                        <p:strVal val="visible"/>
                                      </p:to>
                                    </p:set>
                                    <p:anim calcmode="lin" valueType="num">
                                      <p:cBhvr additive="base">
                                        <p:cTn id="52" dur="500" fill="hold"/>
                                        <p:tgtEl>
                                          <p:spTgt spid="438281"/>
                                        </p:tgtEl>
                                        <p:attrNameLst>
                                          <p:attrName>ppt_x</p:attrName>
                                        </p:attrNameLst>
                                      </p:cBhvr>
                                      <p:tavLst>
                                        <p:tav tm="0">
                                          <p:val>
                                            <p:strVal val="0-#ppt_w/2"/>
                                          </p:val>
                                        </p:tav>
                                        <p:tav tm="100000">
                                          <p:val>
                                            <p:strVal val="#ppt_x"/>
                                          </p:val>
                                        </p:tav>
                                      </p:tavLst>
                                    </p:anim>
                                    <p:anim calcmode="lin" valueType="num">
                                      <p:cBhvr additive="base">
                                        <p:cTn id="53" dur="500" fill="hold"/>
                                        <p:tgtEl>
                                          <p:spTgt spid="438281"/>
                                        </p:tgtEl>
                                        <p:attrNameLst>
                                          <p:attrName>ppt_y</p:attrName>
                                        </p:attrNameLst>
                                      </p:cBhvr>
                                      <p:tavLst>
                                        <p:tav tm="0">
                                          <p:val>
                                            <p:strVal val="#ppt_y"/>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 presetClass="entr" presetSubtype="8" fill="hold" grpId="0" nodeType="clickEffect">
                                  <p:stCondLst>
                                    <p:cond delay="0"/>
                                  </p:stCondLst>
                                  <p:childTnLst>
                                    <p:set>
                                      <p:cBhvr>
                                        <p:cTn id="57" dur="1" fill="hold">
                                          <p:stCondLst>
                                            <p:cond delay="0"/>
                                          </p:stCondLst>
                                        </p:cTn>
                                        <p:tgtEl>
                                          <p:spTgt spid="438282"/>
                                        </p:tgtEl>
                                        <p:attrNameLst>
                                          <p:attrName>style.visibility</p:attrName>
                                        </p:attrNameLst>
                                      </p:cBhvr>
                                      <p:to>
                                        <p:strVal val="visible"/>
                                      </p:to>
                                    </p:set>
                                    <p:anim calcmode="lin" valueType="num">
                                      <p:cBhvr additive="base">
                                        <p:cTn id="58" dur="500" fill="hold"/>
                                        <p:tgtEl>
                                          <p:spTgt spid="438282"/>
                                        </p:tgtEl>
                                        <p:attrNameLst>
                                          <p:attrName>ppt_x</p:attrName>
                                        </p:attrNameLst>
                                      </p:cBhvr>
                                      <p:tavLst>
                                        <p:tav tm="0">
                                          <p:val>
                                            <p:strVal val="0-#ppt_w/2"/>
                                          </p:val>
                                        </p:tav>
                                        <p:tav tm="100000">
                                          <p:val>
                                            <p:strVal val="#ppt_x"/>
                                          </p:val>
                                        </p:tav>
                                      </p:tavLst>
                                    </p:anim>
                                    <p:anim calcmode="lin" valueType="num">
                                      <p:cBhvr additive="base">
                                        <p:cTn id="59" dur="500" fill="hold"/>
                                        <p:tgtEl>
                                          <p:spTgt spid="438282"/>
                                        </p:tgtEl>
                                        <p:attrNameLst>
                                          <p:attrName>ppt_y</p:attrName>
                                        </p:attrNameLst>
                                      </p:cBhvr>
                                      <p:tavLst>
                                        <p:tav tm="0">
                                          <p:val>
                                            <p:strVal val="#ppt_y"/>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 presetClass="entr" presetSubtype="8" fill="hold" grpId="0" nodeType="clickEffect">
                                  <p:stCondLst>
                                    <p:cond delay="0"/>
                                  </p:stCondLst>
                                  <p:childTnLst>
                                    <p:set>
                                      <p:cBhvr>
                                        <p:cTn id="63" dur="1" fill="hold">
                                          <p:stCondLst>
                                            <p:cond delay="0"/>
                                          </p:stCondLst>
                                        </p:cTn>
                                        <p:tgtEl>
                                          <p:spTgt spid="438283"/>
                                        </p:tgtEl>
                                        <p:attrNameLst>
                                          <p:attrName>style.visibility</p:attrName>
                                        </p:attrNameLst>
                                      </p:cBhvr>
                                      <p:to>
                                        <p:strVal val="visible"/>
                                      </p:to>
                                    </p:set>
                                    <p:anim calcmode="lin" valueType="num">
                                      <p:cBhvr additive="base">
                                        <p:cTn id="64" dur="500" fill="hold"/>
                                        <p:tgtEl>
                                          <p:spTgt spid="438283"/>
                                        </p:tgtEl>
                                        <p:attrNameLst>
                                          <p:attrName>ppt_x</p:attrName>
                                        </p:attrNameLst>
                                      </p:cBhvr>
                                      <p:tavLst>
                                        <p:tav tm="0">
                                          <p:val>
                                            <p:strVal val="0-#ppt_w/2"/>
                                          </p:val>
                                        </p:tav>
                                        <p:tav tm="100000">
                                          <p:val>
                                            <p:strVal val="#ppt_x"/>
                                          </p:val>
                                        </p:tav>
                                      </p:tavLst>
                                    </p:anim>
                                    <p:anim calcmode="lin" valueType="num">
                                      <p:cBhvr additive="base">
                                        <p:cTn id="65" dur="500" fill="hold"/>
                                        <p:tgtEl>
                                          <p:spTgt spid="43828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8275" grpId="0"/>
      <p:bldP spid="438277" grpId="0"/>
      <p:bldP spid="438278" grpId="0"/>
      <p:bldP spid="438279" grpId="0"/>
      <p:bldP spid="438281" grpId="0"/>
      <p:bldP spid="438282" grpId="0"/>
      <p:bldP spid="438283"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9299" name="文本框 439298"/>
          <p:cNvSpPr txBox="1"/>
          <p:nvPr/>
        </p:nvSpPr>
        <p:spPr>
          <a:xfrm>
            <a:off x="304800" y="635635"/>
            <a:ext cx="3048000" cy="519113"/>
          </a:xfrm>
          <a:prstGeom prst="rect">
            <a:avLst/>
          </a:prstGeom>
          <a:noFill/>
          <a:ln w="9525">
            <a:noFill/>
          </a:ln>
        </p:spPr>
        <p:txBody>
          <a:bodyPr anchor="t">
            <a:spAutoFit/>
          </a:bodyPr>
          <a:lstStyle/>
          <a:p>
            <a:pPr>
              <a:spcBef>
                <a:spcPct val="50000"/>
              </a:spcBef>
            </a:pPr>
            <a:r>
              <a:rPr lang="en-US" altLang="zh-CN" sz="2800" b="1" dirty="0">
                <a:solidFill>
                  <a:srgbClr val="CC3300"/>
                </a:solidFill>
                <a:latin typeface="Arial" panose="020B0604020202020204" pitchFamily="34" charset="0"/>
              </a:rPr>
              <a:t>1.  </a:t>
            </a:r>
            <a:r>
              <a:rPr lang="zh-CN" altLang="en-US" sz="2800" b="1" dirty="0">
                <a:solidFill>
                  <a:srgbClr val="CC3300"/>
                </a:solidFill>
                <a:latin typeface="Arial" panose="020B0604020202020204" pitchFamily="34" charset="0"/>
              </a:rPr>
              <a:t>维生素的作用</a:t>
            </a:r>
          </a:p>
        </p:txBody>
      </p:sp>
      <p:sp>
        <p:nvSpPr>
          <p:cNvPr id="439300" name="文本框 439299"/>
          <p:cNvSpPr txBox="1"/>
          <p:nvPr/>
        </p:nvSpPr>
        <p:spPr>
          <a:xfrm>
            <a:off x="381000" y="1412776"/>
            <a:ext cx="3886200" cy="1552575"/>
          </a:xfrm>
          <a:prstGeom prst="rect">
            <a:avLst/>
          </a:prstGeom>
          <a:noFill/>
          <a:ln w="9525">
            <a:noFill/>
          </a:ln>
        </p:spPr>
        <p:txBody>
          <a:bodyPr anchor="t">
            <a:spAutoFit/>
          </a:bodyPr>
          <a:lstStyle/>
          <a:p>
            <a:pPr>
              <a:spcBef>
                <a:spcPct val="50000"/>
              </a:spcBef>
            </a:pPr>
            <a:r>
              <a:rPr lang="zh-CN" altLang="en-US" sz="2400" b="1" dirty="0">
                <a:latin typeface="Arial" panose="020B0604020202020204" pitchFamily="34" charset="0"/>
              </a:rPr>
              <a:t>       维生素是参与生物生</a:t>
            </a:r>
          </a:p>
          <a:p>
            <a:pPr>
              <a:spcBef>
                <a:spcPct val="50000"/>
              </a:spcBef>
            </a:pPr>
            <a:r>
              <a:rPr lang="zh-CN" altLang="en-US" sz="2400" b="1" dirty="0">
                <a:latin typeface="Arial" panose="020B0604020202020204" pitchFamily="34" charset="0"/>
              </a:rPr>
              <a:t>长发育和新陈代谢所必需</a:t>
            </a:r>
          </a:p>
          <a:p>
            <a:pPr>
              <a:spcBef>
                <a:spcPct val="50000"/>
              </a:spcBef>
            </a:pPr>
            <a:r>
              <a:rPr lang="zh-CN" altLang="en-US" sz="2400" b="1" dirty="0">
                <a:latin typeface="Arial" panose="020B0604020202020204" pitchFamily="34" charset="0"/>
              </a:rPr>
              <a:t>的一类小分子有机化合物。</a:t>
            </a:r>
          </a:p>
        </p:txBody>
      </p:sp>
      <p:sp>
        <p:nvSpPr>
          <p:cNvPr id="439301" name="文本框 439300"/>
          <p:cNvSpPr txBox="1"/>
          <p:nvPr/>
        </p:nvSpPr>
        <p:spPr>
          <a:xfrm>
            <a:off x="4038600" y="3733800"/>
            <a:ext cx="4800600" cy="1187450"/>
          </a:xfrm>
          <a:prstGeom prst="rect">
            <a:avLst/>
          </a:prstGeom>
          <a:noFill/>
          <a:ln w="9525">
            <a:noFill/>
          </a:ln>
        </p:spPr>
        <p:txBody>
          <a:bodyPr anchor="t">
            <a:spAutoFit/>
          </a:bodyPr>
          <a:lstStyle/>
          <a:p>
            <a:pPr>
              <a:spcBef>
                <a:spcPct val="50000"/>
              </a:spcBef>
            </a:pPr>
            <a:r>
              <a:rPr lang="zh-CN" altLang="en-US" sz="2400" b="1" dirty="0">
                <a:latin typeface="Arial" panose="020B0604020202020204" pitchFamily="34" charset="0"/>
              </a:rPr>
              <a:t>       维生素在人体内有特殊的生理功能或作为酶催化某些特殊的化学反应。</a:t>
            </a:r>
          </a:p>
        </p:txBody>
      </p:sp>
      <p:sp>
        <p:nvSpPr>
          <p:cNvPr id="439302" name="文本框 439301"/>
          <p:cNvSpPr txBox="1"/>
          <p:nvPr/>
        </p:nvSpPr>
        <p:spPr>
          <a:xfrm>
            <a:off x="4038600" y="5029200"/>
            <a:ext cx="4724400" cy="1187450"/>
          </a:xfrm>
          <a:prstGeom prst="rect">
            <a:avLst/>
          </a:prstGeom>
          <a:noFill/>
          <a:ln w="9525">
            <a:noFill/>
          </a:ln>
        </p:spPr>
        <p:txBody>
          <a:bodyPr anchor="t">
            <a:spAutoFit/>
          </a:bodyPr>
          <a:lstStyle/>
          <a:p>
            <a:pPr>
              <a:spcBef>
                <a:spcPct val="50000"/>
              </a:spcBef>
            </a:pPr>
            <a:r>
              <a:rPr lang="zh-CN" altLang="en-US" sz="2400" b="1" dirty="0">
                <a:latin typeface="Arial" panose="020B0604020202020204" pitchFamily="34" charset="0"/>
              </a:rPr>
              <a:t>       维生素能调节各种器官的机能并维持各种细胞的特性，对人体的生长和健康至关重要。</a:t>
            </a:r>
          </a:p>
        </p:txBody>
      </p:sp>
      <p:sp>
        <p:nvSpPr>
          <p:cNvPr id="48136" name="灯片编号占位符 1"/>
          <p:cNvSpPr>
            <a:spLocks noGrp="1"/>
          </p:cNvSpPr>
          <p:nvPr>
            <p:ph type="sldNum" sz="quarter" idx="11"/>
          </p:nvPr>
        </p:nvSpPr>
        <p:spPr>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400" dirty="0"/>
              <a:pPr lvl="0" indent="0" algn="r"/>
              <a:t>47</a:t>
            </a:fld>
            <a:endParaRPr lang="zh-CN" altLang="en-US" sz="1400" dirty="0"/>
          </a:p>
        </p:txBody>
      </p:sp>
      <p:pic>
        <p:nvPicPr>
          <p:cNvPr id="58370" name="Picture 2" descr="http://img8.3lian.com/ychatu/20/03/2009101410132248.jpg"/>
          <p:cNvPicPr>
            <a:picLocks noChangeAspect="1" noChangeArrowheads="1"/>
          </p:cNvPicPr>
          <p:nvPr/>
        </p:nvPicPr>
        <p:blipFill>
          <a:blip r:embed="rId2" cstate="print"/>
          <a:srcRect/>
          <a:stretch>
            <a:fillRect/>
          </a:stretch>
        </p:blipFill>
        <p:spPr bwMode="auto">
          <a:xfrm>
            <a:off x="4427984" y="635635"/>
            <a:ext cx="3974976" cy="2818196"/>
          </a:xfrm>
          <a:prstGeom prst="rect">
            <a:avLst/>
          </a:prstGeom>
          <a:noFill/>
        </p:spPr>
      </p:pic>
      <p:pic>
        <p:nvPicPr>
          <p:cNvPr id="58372" name="Picture 4" descr="http://p0.so.qhimgs1.com/bdr/_240_/t01c77203562c6c6280.jpg"/>
          <p:cNvPicPr>
            <a:picLocks noChangeAspect="1" noChangeArrowheads="1"/>
          </p:cNvPicPr>
          <p:nvPr/>
        </p:nvPicPr>
        <p:blipFill>
          <a:blip r:embed="rId3"/>
          <a:srcRect/>
          <a:stretch>
            <a:fillRect/>
          </a:stretch>
        </p:blipFill>
        <p:spPr bwMode="auto">
          <a:xfrm>
            <a:off x="155575" y="3733800"/>
            <a:ext cx="3686175" cy="2286001"/>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3929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3930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nodeType="clickEffect">
                                  <p:stCondLst>
                                    <p:cond delay="0"/>
                                  </p:stCondLst>
                                  <p:childTnLst>
                                    <p:set>
                                      <p:cBhvr>
                                        <p:cTn id="14" dur="1" fill="hold">
                                          <p:stCondLst>
                                            <p:cond delay="0"/>
                                          </p:stCondLst>
                                        </p:cTn>
                                        <p:tgtEl>
                                          <p:spTgt spid="58370"/>
                                        </p:tgtEl>
                                        <p:attrNameLst>
                                          <p:attrName>style.visibility</p:attrName>
                                        </p:attrNameLst>
                                      </p:cBhvr>
                                      <p:to>
                                        <p:strVal val="visible"/>
                                      </p:to>
                                    </p:set>
                                    <p:animEffect transition="in" filter="checkerboard(across)">
                                      <p:cBhvr>
                                        <p:cTn id="15" dur="500"/>
                                        <p:tgtEl>
                                          <p:spTgt spid="58370"/>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439301"/>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499"/>
                                          </p:stCondLst>
                                        </p:cTn>
                                        <p:tgtEl>
                                          <p:spTgt spid="439302"/>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5" presetClass="entr" presetSubtype="10" fill="hold" nodeType="clickEffect">
                                  <p:stCondLst>
                                    <p:cond delay="0"/>
                                  </p:stCondLst>
                                  <p:childTnLst>
                                    <p:set>
                                      <p:cBhvr>
                                        <p:cTn id="27" dur="1" fill="hold">
                                          <p:stCondLst>
                                            <p:cond delay="0"/>
                                          </p:stCondLst>
                                        </p:cTn>
                                        <p:tgtEl>
                                          <p:spTgt spid="58372"/>
                                        </p:tgtEl>
                                        <p:attrNameLst>
                                          <p:attrName>style.visibility</p:attrName>
                                        </p:attrNameLst>
                                      </p:cBhvr>
                                      <p:to>
                                        <p:strVal val="visible"/>
                                      </p:to>
                                    </p:set>
                                    <p:animEffect transition="in" filter="checkerboard(across)">
                                      <p:cBhvr>
                                        <p:cTn id="28" dur="500"/>
                                        <p:tgtEl>
                                          <p:spTgt spid="583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9299" grpId="0"/>
      <p:bldP spid="439300" grpId="0"/>
      <p:bldP spid="439301" grpId="0"/>
      <p:bldP spid="439302"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矩形 440321"/>
          <p:cNvSpPr/>
          <p:nvPr/>
        </p:nvSpPr>
        <p:spPr>
          <a:xfrm>
            <a:off x="554355" y="684848"/>
            <a:ext cx="2882900" cy="519112"/>
          </a:xfrm>
          <a:prstGeom prst="rect">
            <a:avLst/>
          </a:prstGeom>
          <a:noFill/>
          <a:ln w="9525">
            <a:noFill/>
          </a:ln>
        </p:spPr>
        <p:txBody>
          <a:bodyPr wrap="none" anchor="t">
            <a:spAutoFit/>
          </a:bodyPr>
          <a:lstStyle/>
          <a:p>
            <a:pPr>
              <a:spcBef>
                <a:spcPct val="50000"/>
              </a:spcBef>
            </a:pPr>
            <a:r>
              <a:rPr lang="en-US" altLang="zh-CN" sz="2800" b="1" dirty="0">
                <a:solidFill>
                  <a:srgbClr val="CC3300"/>
                </a:solidFill>
                <a:latin typeface="Arial" panose="020B0604020202020204" pitchFamily="34" charset="0"/>
              </a:rPr>
              <a:t>2</a:t>
            </a:r>
            <a:r>
              <a:rPr lang="zh-CN" altLang="en-US" sz="2800" b="1" dirty="0">
                <a:solidFill>
                  <a:srgbClr val="CC3300"/>
                </a:solidFill>
                <a:latin typeface="Arial" panose="020B0604020202020204" pitchFamily="34" charset="0"/>
              </a:rPr>
              <a:t>、维生素分类：</a:t>
            </a:r>
          </a:p>
        </p:txBody>
      </p:sp>
      <p:sp>
        <p:nvSpPr>
          <p:cNvPr id="440323" name="矩形 440322"/>
          <p:cNvSpPr/>
          <p:nvPr/>
        </p:nvSpPr>
        <p:spPr>
          <a:xfrm>
            <a:off x="3631565" y="684530"/>
            <a:ext cx="4572000" cy="519113"/>
          </a:xfrm>
          <a:prstGeom prst="rect">
            <a:avLst/>
          </a:prstGeom>
          <a:noFill/>
          <a:ln w="9525">
            <a:noFill/>
          </a:ln>
        </p:spPr>
        <p:txBody>
          <a:bodyPr anchor="t">
            <a:spAutoFit/>
          </a:bodyPr>
          <a:lstStyle/>
          <a:p>
            <a:pPr>
              <a:spcBef>
                <a:spcPct val="50000"/>
              </a:spcBef>
            </a:pPr>
            <a:r>
              <a:rPr lang="zh-CN" altLang="en-US" sz="2800" b="1" dirty="0">
                <a:latin typeface="Arial" panose="020B0604020202020204" pitchFamily="34" charset="0"/>
              </a:rPr>
              <a:t>依据</a:t>
            </a:r>
            <a:r>
              <a:rPr lang="en-US" altLang="zh-CN" sz="2800" b="1">
                <a:latin typeface="Arial" panose="020B0604020202020204" pitchFamily="34" charset="0"/>
              </a:rPr>
              <a:t>——</a:t>
            </a:r>
            <a:r>
              <a:rPr lang="zh-CN" altLang="en-US" sz="2800" b="1" dirty="0">
                <a:latin typeface="Arial" panose="020B0604020202020204" pitchFamily="34" charset="0"/>
              </a:rPr>
              <a:t>不同的溶解性</a:t>
            </a:r>
          </a:p>
        </p:txBody>
      </p:sp>
      <p:sp>
        <p:nvSpPr>
          <p:cNvPr id="440324" name="文本框 440323"/>
          <p:cNvSpPr txBox="1"/>
          <p:nvPr/>
        </p:nvSpPr>
        <p:spPr>
          <a:xfrm>
            <a:off x="1143000" y="2209800"/>
            <a:ext cx="620713" cy="1219200"/>
          </a:xfrm>
          <a:prstGeom prst="rect">
            <a:avLst/>
          </a:prstGeom>
          <a:solidFill>
            <a:srgbClr val="FF99CC"/>
          </a:solidFill>
          <a:ln w="9525" cap="flat" cmpd="sng">
            <a:solidFill>
              <a:srgbClr val="800000"/>
            </a:solidFill>
            <a:prstDash val="solid"/>
            <a:miter/>
            <a:headEnd type="none" w="med" len="med"/>
            <a:tailEnd type="none" w="med" len="med"/>
          </a:ln>
        </p:spPr>
        <p:txBody>
          <a:bodyPr vert="eaVert" anchor="t">
            <a:spAutoFit/>
          </a:bodyPr>
          <a:lstStyle/>
          <a:p>
            <a:pPr>
              <a:spcBef>
                <a:spcPct val="50000"/>
              </a:spcBef>
            </a:pPr>
            <a:r>
              <a:rPr lang="zh-CN" altLang="en-US" sz="2800" b="1" dirty="0">
                <a:latin typeface="Arial" panose="020B0604020202020204" pitchFamily="34" charset="0"/>
              </a:rPr>
              <a:t>维生素</a:t>
            </a:r>
          </a:p>
        </p:txBody>
      </p:sp>
      <p:sp>
        <p:nvSpPr>
          <p:cNvPr id="440325" name="文本框 440324"/>
          <p:cNvSpPr txBox="1"/>
          <p:nvPr/>
        </p:nvSpPr>
        <p:spPr>
          <a:xfrm>
            <a:off x="2590800" y="1447800"/>
            <a:ext cx="2362200" cy="528638"/>
          </a:xfrm>
          <a:prstGeom prst="rect">
            <a:avLst/>
          </a:prstGeom>
          <a:solidFill>
            <a:srgbClr val="00FFFF"/>
          </a:solidFill>
          <a:ln w="9525" cap="flat" cmpd="sng">
            <a:solidFill>
              <a:srgbClr val="FF0000"/>
            </a:solidFill>
            <a:prstDash val="solid"/>
            <a:miter/>
            <a:headEnd type="none" w="med" len="med"/>
            <a:tailEnd type="none" w="med" len="med"/>
          </a:ln>
        </p:spPr>
        <p:txBody>
          <a:bodyPr anchor="t">
            <a:spAutoFit/>
          </a:bodyPr>
          <a:lstStyle/>
          <a:p>
            <a:pPr>
              <a:spcBef>
                <a:spcPct val="50000"/>
              </a:spcBef>
            </a:pPr>
            <a:r>
              <a:rPr lang="zh-CN" altLang="en-US" sz="2800" b="1" dirty="0">
                <a:latin typeface="Arial" panose="020B0604020202020204" pitchFamily="34" charset="0"/>
              </a:rPr>
              <a:t>脂溶性维生素</a:t>
            </a:r>
          </a:p>
        </p:txBody>
      </p:sp>
      <p:sp>
        <p:nvSpPr>
          <p:cNvPr id="440326" name="文本框 440325"/>
          <p:cNvSpPr txBox="1"/>
          <p:nvPr/>
        </p:nvSpPr>
        <p:spPr>
          <a:xfrm>
            <a:off x="2667000" y="3200400"/>
            <a:ext cx="2362200" cy="528638"/>
          </a:xfrm>
          <a:prstGeom prst="rect">
            <a:avLst/>
          </a:prstGeom>
          <a:solidFill>
            <a:srgbClr val="00FFFF"/>
          </a:solidFill>
          <a:ln w="9525" cap="flat" cmpd="sng">
            <a:solidFill>
              <a:srgbClr val="FF0000"/>
            </a:solidFill>
            <a:prstDash val="solid"/>
            <a:miter/>
            <a:headEnd type="none" w="med" len="med"/>
            <a:tailEnd type="none" w="med" len="med"/>
          </a:ln>
        </p:spPr>
        <p:txBody>
          <a:bodyPr anchor="t">
            <a:spAutoFit/>
          </a:bodyPr>
          <a:lstStyle/>
          <a:p>
            <a:pPr>
              <a:spcBef>
                <a:spcPct val="50000"/>
              </a:spcBef>
            </a:pPr>
            <a:r>
              <a:rPr lang="zh-CN" altLang="en-US" sz="2800" b="1" dirty="0">
                <a:latin typeface="Arial" panose="020B0604020202020204" pitchFamily="34" charset="0"/>
              </a:rPr>
              <a:t>水溶性维生素</a:t>
            </a:r>
          </a:p>
        </p:txBody>
      </p:sp>
      <p:grpSp>
        <p:nvGrpSpPr>
          <p:cNvPr id="440327" name="组合 440326"/>
          <p:cNvGrpSpPr/>
          <p:nvPr/>
        </p:nvGrpSpPr>
        <p:grpSpPr>
          <a:xfrm>
            <a:off x="1752600" y="1828800"/>
            <a:ext cx="838200" cy="1524000"/>
            <a:chOff x="528" y="1296"/>
            <a:chExt cx="960" cy="960"/>
          </a:xfrm>
        </p:grpSpPr>
        <p:sp>
          <p:nvSpPr>
            <p:cNvPr id="49159" name="直接连接符 440327"/>
            <p:cNvSpPr/>
            <p:nvPr/>
          </p:nvSpPr>
          <p:spPr>
            <a:xfrm>
              <a:off x="528" y="1776"/>
              <a:ext cx="192" cy="0"/>
            </a:xfrm>
            <a:prstGeom prst="line">
              <a:avLst/>
            </a:prstGeom>
            <a:ln w="38100" cap="flat" cmpd="sng">
              <a:solidFill>
                <a:schemeClr val="tx1"/>
              </a:solidFill>
              <a:prstDash val="solid"/>
              <a:round/>
              <a:headEnd type="none" w="med" len="med"/>
              <a:tailEnd type="none" w="med" len="med"/>
            </a:ln>
          </p:spPr>
        </p:sp>
        <p:sp>
          <p:nvSpPr>
            <p:cNvPr id="49160" name="直接连接符 440328"/>
            <p:cNvSpPr/>
            <p:nvPr/>
          </p:nvSpPr>
          <p:spPr>
            <a:xfrm flipV="1">
              <a:off x="720" y="1296"/>
              <a:ext cx="768" cy="480"/>
            </a:xfrm>
            <a:prstGeom prst="line">
              <a:avLst/>
            </a:prstGeom>
            <a:ln w="38100" cap="flat" cmpd="sng">
              <a:solidFill>
                <a:schemeClr val="tx1"/>
              </a:solidFill>
              <a:prstDash val="solid"/>
              <a:round/>
              <a:headEnd type="none" w="med" len="med"/>
              <a:tailEnd type="triangle" w="med" len="med"/>
            </a:ln>
          </p:spPr>
        </p:sp>
        <p:sp>
          <p:nvSpPr>
            <p:cNvPr id="49161" name="直接连接符 440329"/>
            <p:cNvSpPr/>
            <p:nvPr/>
          </p:nvSpPr>
          <p:spPr>
            <a:xfrm>
              <a:off x="720" y="1776"/>
              <a:ext cx="768" cy="480"/>
            </a:xfrm>
            <a:prstGeom prst="line">
              <a:avLst/>
            </a:prstGeom>
            <a:ln w="38100" cap="flat" cmpd="sng">
              <a:solidFill>
                <a:schemeClr val="tx1"/>
              </a:solidFill>
              <a:prstDash val="solid"/>
              <a:round/>
              <a:headEnd type="none" w="med" len="med"/>
              <a:tailEnd type="triangle" w="med" len="med"/>
            </a:ln>
          </p:spPr>
        </p:sp>
      </p:grpSp>
      <p:sp>
        <p:nvSpPr>
          <p:cNvPr id="440331" name="文本框 440330"/>
          <p:cNvSpPr txBox="1"/>
          <p:nvPr/>
        </p:nvSpPr>
        <p:spPr>
          <a:xfrm>
            <a:off x="2209800" y="2057400"/>
            <a:ext cx="6934200" cy="701675"/>
          </a:xfrm>
          <a:prstGeom prst="rect">
            <a:avLst/>
          </a:prstGeom>
          <a:noFill/>
          <a:ln w="9525">
            <a:noFill/>
          </a:ln>
        </p:spPr>
        <p:txBody>
          <a:bodyPr anchor="t">
            <a:spAutoFit/>
          </a:bodyPr>
          <a:lstStyle/>
          <a:p>
            <a:pPr>
              <a:spcBef>
                <a:spcPct val="50000"/>
              </a:spcBef>
            </a:pPr>
            <a:r>
              <a:rPr lang="zh-CN" altLang="en-US" sz="2000" b="1" dirty="0">
                <a:solidFill>
                  <a:srgbClr val="FF3300"/>
                </a:solidFill>
                <a:latin typeface="Arial" panose="020B0604020202020204" pitchFamily="34" charset="0"/>
              </a:rPr>
              <a:t>      （脂溶性维生素难溶于水，易溶于脂肪和有机溶剂。脂溶性维生素不易排泄，易在体内积存，主要积存在肝脏。） </a:t>
            </a:r>
          </a:p>
        </p:txBody>
      </p:sp>
      <p:sp>
        <p:nvSpPr>
          <p:cNvPr id="440332" name="文本框 440331"/>
          <p:cNvSpPr txBox="1"/>
          <p:nvPr/>
        </p:nvSpPr>
        <p:spPr>
          <a:xfrm>
            <a:off x="2286000" y="3886200"/>
            <a:ext cx="6858000" cy="701675"/>
          </a:xfrm>
          <a:prstGeom prst="rect">
            <a:avLst/>
          </a:prstGeom>
          <a:noFill/>
          <a:ln w="9525">
            <a:noFill/>
          </a:ln>
        </p:spPr>
        <p:txBody>
          <a:bodyPr anchor="t">
            <a:spAutoFit/>
          </a:bodyPr>
          <a:lstStyle/>
          <a:p>
            <a:pPr>
              <a:spcBef>
                <a:spcPct val="50000"/>
              </a:spcBef>
            </a:pPr>
            <a:r>
              <a:rPr lang="zh-CN" altLang="en-US" sz="2000" b="1" dirty="0">
                <a:solidFill>
                  <a:srgbClr val="FF3300"/>
                </a:solidFill>
                <a:latin typeface="Arial" panose="020B0604020202020204" pitchFamily="34" charset="0"/>
              </a:rPr>
              <a:t>      （水溶性维生素易溶于水，容易被人体吸收，多余的会随尿排出体外，一般不易在体内积存，所以容易缺乏。） </a:t>
            </a:r>
          </a:p>
        </p:txBody>
      </p:sp>
      <p:sp>
        <p:nvSpPr>
          <p:cNvPr id="440333" name="文本框 440332"/>
          <p:cNvSpPr txBox="1"/>
          <p:nvPr/>
        </p:nvSpPr>
        <p:spPr>
          <a:xfrm>
            <a:off x="2667000" y="4495800"/>
            <a:ext cx="6172200" cy="1200329"/>
          </a:xfrm>
          <a:prstGeom prst="rect">
            <a:avLst/>
          </a:prstGeom>
          <a:noFill/>
          <a:ln w="9525">
            <a:noFill/>
          </a:ln>
        </p:spPr>
        <p:txBody>
          <a:bodyPr wrap="square" anchor="t">
            <a:spAutoFit/>
          </a:bodyPr>
          <a:lstStyle/>
          <a:p>
            <a:pPr>
              <a:spcBef>
                <a:spcPct val="50000"/>
              </a:spcBef>
            </a:pPr>
            <a:r>
              <a:rPr lang="zh-CN" altLang="en-US" sz="2400" b="1" dirty="0">
                <a:solidFill>
                  <a:srgbClr val="660066"/>
                </a:solidFill>
                <a:latin typeface="Arial" panose="020B0604020202020204" pitchFamily="34" charset="0"/>
              </a:rPr>
              <a:t>        水溶性维生素包括维生素</a:t>
            </a:r>
            <a:r>
              <a:rPr lang="en-US" altLang="zh-CN" sz="2400" b="1" dirty="0">
                <a:solidFill>
                  <a:srgbClr val="660066"/>
                </a:solidFill>
                <a:latin typeface="Arial" panose="020B0604020202020204" pitchFamily="34" charset="0"/>
              </a:rPr>
              <a:t>C</a:t>
            </a:r>
            <a:r>
              <a:rPr lang="zh-CN" altLang="en-US" sz="2400" b="1" dirty="0">
                <a:solidFill>
                  <a:srgbClr val="660066"/>
                </a:solidFill>
                <a:latin typeface="Arial" panose="020B0604020202020204" pitchFamily="34" charset="0"/>
              </a:rPr>
              <a:t>和维生素</a:t>
            </a:r>
            <a:r>
              <a:rPr lang="en-US" altLang="zh-CN" sz="2400" b="1" dirty="0">
                <a:solidFill>
                  <a:srgbClr val="660066"/>
                </a:solidFill>
                <a:latin typeface="Arial" panose="020B0604020202020204" pitchFamily="34" charset="0"/>
              </a:rPr>
              <a:t>B</a:t>
            </a:r>
            <a:r>
              <a:rPr lang="zh-CN" altLang="en-US" sz="2400" b="1" dirty="0">
                <a:solidFill>
                  <a:srgbClr val="660066"/>
                </a:solidFill>
                <a:latin typeface="Arial" panose="020B0604020202020204" pitchFamily="34" charset="0"/>
              </a:rPr>
              <a:t>族（</a:t>
            </a:r>
            <a:r>
              <a:rPr lang="en-US" altLang="zh-CN" sz="2400" b="1" dirty="0">
                <a:solidFill>
                  <a:srgbClr val="660066"/>
                </a:solidFill>
                <a:latin typeface="Arial" panose="020B0604020202020204" pitchFamily="34" charset="0"/>
              </a:rPr>
              <a:t>B</a:t>
            </a:r>
            <a:r>
              <a:rPr lang="en-US" altLang="zh-CN" sz="2400" b="1" baseline="-25000" dirty="0">
                <a:solidFill>
                  <a:srgbClr val="660066"/>
                </a:solidFill>
                <a:latin typeface="Arial" panose="020B0604020202020204" pitchFamily="34" charset="0"/>
              </a:rPr>
              <a:t>1</a:t>
            </a:r>
            <a:r>
              <a:rPr lang="zh-CN" altLang="en-US" sz="2400" b="1" dirty="0">
                <a:solidFill>
                  <a:srgbClr val="660066"/>
                </a:solidFill>
                <a:latin typeface="Arial" panose="020B0604020202020204" pitchFamily="34" charset="0"/>
              </a:rPr>
              <a:t>、</a:t>
            </a:r>
            <a:r>
              <a:rPr lang="en-US" altLang="zh-CN" sz="2400" b="1" dirty="0">
                <a:solidFill>
                  <a:srgbClr val="660066"/>
                </a:solidFill>
                <a:latin typeface="Arial" panose="020B0604020202020204" pitchFamily="34" charset="0"/>
              </a:rPr>
              <a:t>B</a:t>
            </a:r>
            <a:r>
              <a:rPr lang="en-US" altLang="zh-CN" sz="2400" b="1" baseline="-25000" dirty="0">
                <a:solidFill>
                  <a:srgbClr val="660066"/>
                </a:solidFill>
                <a:latin typeface="Arial" panose="020B0604020202020204" pitchFamily="34" charset="0"/>
              </a:rPr>
              <a:t>2</a:t>
            </a:r>
            <a:r>
              <a:rPr lang="zh-CN" altLang="en-US" sz="2400" b="1" dirty="0">
                <a:solidFill>
                  <a:srgbClr val="660066"/>
                </a:solidFill>
                <a:latin typeface="Arial" panose="020B0604020202020204" pitchFamily="34" charset="0"/>
              </a:rPr>
              <a:t>、烟酸和烟酰胺、</a:t>
            </a:r>
            <a:r>
              <a:rPr lang="en-US" altLang="zh-CN" sz="2400" b="1" dirty="0">
                <a:solidFill>
                  <a:srgbClr val="660066"/>
                </a:solidFill>
                <a:latin typeface="Arial" panose="020B0604020202020204" pitchFamily="34" charset="0"/>
              </a:rPr>
              <a:t>B</a:t>
            </a:r>
            <a:r>
              <a:rPr lang="en-US" altLang="zh-CN" sz="2400" b="1" baseline="-25000" dirty="0">
                <a:solidFill>
                  <a:srgbClr val="660066"/>
                </a:solidFill>
                <a:latin typeface="Arial" panose="020B0604020202020204" pitchFamily="34" charset="0"/>
              </a:rPr>
              <a:t>6</a:t>
            </a:r>
            <a:r>
              <a:rPr lang="zh-CN" altLang="en-US" sz="2400" b="1" dirty="0">
                <a:solidFill>
                  <a:srgbClr val="660066"/>
                </a:solidFill>
                <a:latin typeface="Arial" panose="020B0604020202020204" pitchFamily="34" charset="0"/>
              </a:rPr>
              <a:t>、生物素、泛酸、叶酸和</a:t>
            </a:r>
            <a:r>
              <a:rPr lang="en-US" altLang="zh-CN" sz="2400" b="1" dirty="0">
                <a:solidFill>
                  <a:srgbClr val="660066"/>
                </a:solidFill>
                <a:latin typeface="Arial" panose="020B0604020202020204" pitchFamily="34" charset="0"/>
              </a:rPr>
              <a:t>B</a:t>
            </a:r>
            <a:r>
              <a:rPr lang="en-US" altLang="zh-CN" sz="2400" b="1" baseline="-25000" dirty="0">
                <a:solidFill>
                  <a:srgbClr val="660066"/>
                </a:solidFill>
                <a:latin typeface="Arial" panose="020B0604020202020204" pitchFamily="34" charset="0"/>
              </a:rPr>
              <a:t>12</a:t>
            </a:r>
            <a:r>
              <a:rPr lang="zh-CN" altLang="en-US" sz="2400" b="1" dirty="0">
                <a:solidFill>
                  <a:srgbClr val="660066"/>
                </a:solidFill>
                <a:latin typeface="Arial" panose="020B0604020202020204" pitchFamily="34" charset="0"/>
              </a:rPr>
              <a:t>等）。</a:t>
            </a:r>
          </a:p>
        </p:txBody>
      </p:sp>
      <p:sp>
        <p:nvSpPr>
          <p:cNvPr id="440334" name="文本框 440333"/>
          <p:cNvSpPr txBox="1"/>
          <p:nvPr/>
        </p:nvSpPr>
        <p:spPr>
          <a:xfrm>
            <a:off x="2362200" y="2743200"/>
            <a:ext cx="6477000" cy="457200"/>
          </a:xfrm>
          <a:prstGeom prst="rect">
            <a:avLst/>
          </a:prstGeom>
          <a:noFill/>
          <a:ln w="9525">
            <a:noFill/>
          </a:ln>
        </p:spPr>
        <p:txBody>
          <a:bodyPr anchor="t">
            <a:spAutoFit/>
          </a:bodyPr>
          <a:lstStyle/>
          <a:p>
            <a:pPr>
              <a:spcBef>
                <a:spcPct val="50000"/>
              </a:spcBef>
            </a:pPr>
            <a:r>
              <a:rPr lang="zh-CN" altLang="en-US" sz="2400" b="1" dirty="0">
                <a:solidFill>
                  <a:srgbClr val="660066"/>
                </a:solidFill>
                <a:latin typeface="Arial" panose="020B0604020202020204" pitchFamily="34" charset="0"/>
              </a:rPr>
              <a:t>      脂溶性维生素包括维生素</a:t>
            </a:r>
            <a:r>
              <a:rPr lang="en-US" altLang="zh-CN" sz="2400" b="1">
                <a:solidFill>
                  <a:srgbClr val="660066"/>
                </a:solidFill>
                <a:latin typeface="Arial" panose="020B0604020202020204" pitchFamily="34" charset="0"/>
              </a:rPr>
              <a:t>A</a:t>
            </a:r>
            <a:r>
              <a:rPr lang="zh-CN" altLang="en-US" sz="2400" b="1">
                <a:solidFill>
                  <a:srgbClr val="660066"/>
                </a:solidFill>
                <a:latin typeface="Arial" panose="020B0604020202020204" pitchFamily="34" charset="0"/>
              </a:rPr>
              <a:t>、</a:t>
            </a:r>
            <a:r>
              <a:rPr lang="en-US" altLang="zh-CN" sz="2400" b="1">
                <a:solidFill>
                  <a:srgbClr val="660066"/>
                </a:solidFill>
                <a:latin typeface="Arial" panose="020B0604020202020204" pitchFamily="34" charset="0"/>
              </a:rPr>
              <a:t>D</a:t>
            </a:r>
            <a:r>
              <a:rPr lang="zh-CN" altLang="en-US" sz="2400" b="1">
                <a:solidFill>
                  <a:srgbClr val="660066"/>
                </a:solidFill>
                <a:latin typeface="Arial" panose="020B0604020202020204" pitchFamily="34" charset="0"/>
              </a:rPr>
              <a:t>、</a:t>
            </a:r>
            <a:r>
              <a:rPr lang="en-US" altLang="zh-CN" sz="2400" b="1">
                <a:solidFill>
                  <a:srgbClr val="660066"/>
                </a:solidFill>
                <a:latin typeface="Arial" panose="020B0604020202020204" pitchFamily="34" charset="0"/>
              </a:rPr>
              <a:t>E</a:t>
            </a:r>
            <a:r>
              <a:rPr lang="zh-CN" altLang="en-US" sz="2400" b="1">
                <a:solidFill>
                  <a:srgbClr val="660066"/>
                </a:solidFill>
                <a:latin typeface="Arial" panose="020B0604020202020204" pitchFamily="34" charset="0"/>
              </a:rPr>
              <a:t>、</a:t>
            </a:r>
            <a:r>
              <a:rPr lang="en-US" altLang="zh-CN" sz="2400" b="1">
                <a:solidFill>
                  <a:srgbClr val="660066"/>
                </a:solidFill>
                <a:latin typeface="Arial" panose="020B0604020202020204" pitchFamily="34" charset="0"/>
              </a:rPr>
              <a:t>K</a:t>
            </a:r>
            <a:r>
              <a:rPr lang="zh-CN" altLang="en-US" sz="2400" b="1" dirty="0">
                <a:solidFill>
                  <a:srgbClr val="660066"/>
                </a:solidFill>
                <a:latin typeface="Arial" panose="020B0604020202020204" pitchFamily="34" charset="0"/>
              </a:rPr>
              <a:t>等。</a:t>
            </a:r>
            <a:endParaRPr lang="zh-CN" altLang="en-US" sz="2400" b="1">
              <a:solidFill>
                <a:srgbClr val="660066"/>
              </a:solidFill>
              <a:latin typeface="Arial" panose="020B0604020202020204" pitchFamily="34" charset="0"/>
            </a:endParaRPr>
          </a:p>
        </p:txBody>
      </p:sp>
      <p:sp>
        <p:nvSpPr>
          <p:cNvPr id="49167" name="灯片编号占位符 1"/>
          <p:cNvSpPr>
            <a:spLocks noGrp="1"/>
          </p:cNvSpPr>
          <p:nvPr>
            <p:ph type="sldNum" sz="quarter" idx="11"/>
          </p:nvPr>
        </p:nvSpPr>
        <p:spPr>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400" dirty="0"/>
              <a:pPr lvl="0" indent="0" algn="r"/>
              <a:t>48</a:t>
            </a:fld>
            <a:endParaRPr lang="zh-CN" altLang="en-US" sz="1400" dirty="0"/>
          </a:p>
        </p:txBody>
      </p:sp>
      <p:pic>
        <p:nvPicPr>
          <p:cNvPr id="57346" name="Picture 2" descr="http://img.mp.sohu.com/upload/20170802/8cf2233957ef49dcb9f0ad3ef46966bf_th.png"/>
          <p:cNvPicPr>
            <a:picLocks noChangeAspect="1" noChangeArrowheads="1"/>
          </p:cNvPicPr>
          <p:nvPr/>
        </p:nvPicPr>
        <p:blipFill>
          <a:blip r:embed="rId2" cstate="print"/>
          <a:srcRect/>
          <a:stretch>
            <a:fillRect/>
          </a:stretch>
        </p:blipFill>
        <p:spPr bwMode="auto">
          <a:xfrm>
            <a:off x="62136" y="4253136"/>
            <a:ext cx="2604864" cy="2604864"/>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40323"/>
                                        </p:tgtEl>
                                        <p:attrNameLst>
                                          <p:attrName>style.visibility</p:attrName>
                                        </p:attrNameLst>
                                      </p:cBhvr>
                                      <p:to>
                                        <p:strVal val="visible"/>
                                      </p:to>
                                    </p:set>
                                    <p:anim calcmode="lin" valueType="num">
                                      <p:cBhvr additive="base">
                                        <p:cTn id="7" dur="500" fill="hold"/>
                                        <p:tgtEl>
                                          <p:spTgt spid="440323"/>
                                        </p:tgtEl>
                                        <p:attrNameLst>
                                          <p:attrName>ppt_x</p:attrName>
                                        </p:attrNameLst>
                                      </p:cBhvr>
                                      <p:tavLst>
                                        <p:tav tm="0">
                                          <p:val>
                                            <p:strVal val="0-#ppt_w/2"/>
                                          </p:val>
                                        </p:tav>
                                        <p:tav tm="100000">
                                          <p:val>
                                            <p:strVal val="#ppt_x"/>
                                          </p:val>
                                        </p:tav>
                                      </p:tavLst>
                                    </p:anim>
                                    <p:anim calcmode="lin" valueType="num">
                                      <p:cBhvr additive="base">
                                        <p:cTn id="8" dur="500" fill="hold"/>
                                        <p:tgtEl>
                                          <p:spTgt spid="44032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40324"/>
                                        </p:tgtEl>
                                        <p:attrNameLst>
                                          <p:attrName>style.visibility</p:attrName>
                                        </p:attrNameLst>
                                      </p:cBhvr>
                                      <p:to>
                                        <p:strVal val="visible"/>
                                      </p:to>
                                    </p:set>
                                    <p:anim calcmode="lin" valueType="num">
                                      <p:cBhvr additive="base">
                                        <p:cTn id="13" dur="500" fill="hold"/>
                                        <p:tgtEl>
                                          <p:spTgt spid="440324"/>
                                        </p:tgtEl>
                                        <p:attrNameLst>
                                          <p:attrName>ppt_x</p:attrName>
                                        </p:attrNameLst>
                                      </p:cBhvr>
                                      <p:tavLst>
                                        <p:tav tm="0">
                                          <p:val>
                                            <p:strVal val="0-#ppt_w/2"/>
                                          </p:val>
                                        </p:tav>
                                        <p:tav tm="100000">
                                          <p:val>
                                            <p:strVal val="#ppt_x"/>
                                          </p:val>
                                        </p:tav>
                                      </p:tavLst>
                                    </p:anim>
                                    <p:anim calcmode="lin" valueType="num">
                                      <p:cBhvr additive="base">
                                        <p:cTn id="14" dur="500" fill="hold"/>
                                        <p:tgtEl>
                                          <p:spTgt spid="44032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440327"/>
                                        </p:tgtEl>
                                        <p:attrNameLst>
                                          <p:attrName>style.visibility</p:attrName>
                                        </p:attrNameLst>
                                      </p:cBhvr>
                                      <p:to>
                                        <p:strVal val="visible"/>
                                      </p:to>
                                    </p:set>
                                    <p:anim calcmode="lin" valueType="num">
                                      <p:cBhvr additive="base">
                                        <p:cTn id="19" dur="500" fill="hold"/>
                                        <p:tgtEl>
                                          <p:spTgt spid="440327"/>
                                        </p:tgtEl>
                                        <p:attrNameLst>
                                          <p:attrName>ppt_x</p:attrName>
                                        </p:attrNameLst>
                                      </p:cBhvr>
                                      <p:tavLst>
                                        <p:tav tm="0">
                                          <p:val>
                                            <p:strVal val="0-#ppt_w/2"/>
                                          </p:val>
                                        </p:tav>
                                        <p:tav tm="100000">
                                          <p:val>
                                            <p:strVal val="#ppt_x"/>
                                          </p:val>
                                        </p:tav>
                                      </p:tavLst>
                                    </p:anim>
                                    <p:anim calcmode="lin" valueType="num">
                                      <p:cBhvr additive="base">
                                        <p:cTn id="20" dur="500" fill="hold"/>
                                        <p:tgtEl>
                                          <p:spTgt spid="44032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40325"/>
                                        </p:tgtEl>
                                        <p:attrNameLst>
                                          <p:attrName>style.visibility</p:attrName>
                                        </p:attrNameLst>
                                      </p:cBhvr>
                                      <p:to>
                                        <p:strVal val="visible"/>
                                      </p:to>
                                    </p:set>
                                    <p:anim calcmode="lin" valueType="num">
                                      <p:cBhvr additive="base">
                                        <p:cTn id="25" dur="500" fill="hold"/>
                                        <p:tgtEl>
                                          <p:spTgt spid="440325"/>
                                        </p:tgtEl>
                                        <p:attrNameLst>
                                          <p:attrName>ppt_x</p:attrName>
                                        </p:attrNameLst>
                                      </p:cBhvr>
                                      <p:tavLst>
                                        <p:tav tm="0">
                                          <p:val>
                                            <p:strVal val="0-#ppt_w/2"/>
                                          </p:val>
                                        </p:tav>
                                        <p:tav tm="100000">
                                          <p:val>
                                            <p:strVal val="#ppt_x"/>
                                          </p:val>
                                        </p:tav>
                                      </p:tavLst>
                                    </p:anim>
                                    <p:anim calcmode="lin" valueType="num">
                                      <p:cBhvr additive="base">
                                        <p:cTn id="26" dur="500" fill="hold"/>
                                        <p:tgtEl>
                                          <p:spTgt spid="440325"/>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40326"/>
                                        </p:tgtEl>
                                        <p:attrNameLst>
                                          <p:attrName>style.visibility</p:attrName>
                                        </p:attrNameLst>
                                      </p:cBhvr>
                                      <p:to>
                                        <p:strVal val="visible"/>
                                      </p:to>
                                    </p:set>
                                    <p:anim calcmode="lin" valueType="num">
                                      <p:cBhvr additive="base">
                                        <p:cTn id="31" dur="500" fill="hold"/>
                                        <p:tgtEl>
                                          <p:spTgt spid="440326"/>
                                        </p:tgtEl>
                                        <p:attrNameLst>
                                          <p:attrName>ppt_x</p:attrName>
                                        </p:attrNameLst>
                                      </p:cBhvr>
                                      <p:tavLst>
                                        <p:tav tm="0">
                                          <p:val>
                                            <p:strVal val="0-#ppt_w/2"/>
                                          </p:val>
                                        </p:tav>
                                        <p:tav tm="100000">
                                          <p:val>
                                            <p:strVal val="#ppt_x"/>
                                          </p:val>
                                        </p:tav>
                                      </p:tavLst>
                                    </p:anim>
                                    <p:anim calcmode="lin" valueType="num">
                                      <p:cBhvr additive="base">
                                        <p:cTn id="32" dur="500" fill="hold"/>
                                        <p:tgtEl>
                                          <p:spTgt spid="440326"/>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440331"/>
                                        </p:tgtEl>
                                        <p:attrNameLst>
                                          <p:attrName>style.visibility</p:attrName>
                                        </p:attrNameLst>
                                      </p:cBhvr>
                                      <p:to>
                                        <p:strVal val="visible"/>
                                      </p:to>
                                    </p:set>
                                    <p:anim calcmode="lin" valueType="num">
                                      <p:cBhvr additive="base">
                                        <p:cTn id="37" dur="500" fill="hold"/>
                                        <p:tgtEl>
                                          <p:spTgt spid="440331"/>
                                        </p:tgtEl>
                                        <p:attrNameLst>
                                          <p:attrName>ppt_x</p:attrName>
                                        </p:attrNameLst>
                                      </p:cBhvr>
                                      <p:tavLst>
                                        <p:tav tm="0">
                                          <p:val>
                                            <p:strVal val="0-#ppt_w/2"/>
                                          </p:val>
                                        </p:tav>
                                        <p:tav tm="100000">
                                          <p:val>
                                            <p:strVal val="#ppt_x"/>
                                          </p:val>
                                        </p:tav>
                                      </p:tavLst>
                                    </p:anim>
                                    <p:anim calcmode="lin" valueType="num">
                                      <p:cBhvr additive="base">
                                        <p:cTn id="38" dur="500" fill="hold"/>
                                        <p:tgtEl>
                                          <p:spTgt spid="440331"/>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440334"/>
                                        </p:tgtEl>
                                        <p:attrNameLst>
                                          <p:attrName>style.visibility</p:attrName>
                                        </p:attrNameLst>
                                      </p:cBhvr>
                                      <p:to>
                                        <p:strVal val="visible"/>
                                      </p:to>
                                    </p:set>
                                    <p:anim calcmode="lin" valueType="num">
                                      <p:cBhvr additive="base">
                                        <p:cTn id="43" dur="500" fill="hold"/>
                                        <p:tgtEl>
                                          <p:spTgt spid="440334"/>
                                        </p:tgtEl>
                                        <p:attrNameLst>
                                          <p:attrName>ppt_x</p:attrName>
                                        </p:attrNameLst>
                                      </p:cBhvr>
                                      <p:tavLst>
                                        <p:tav tm="0">
                                          <p:val>
                                            <p:strVal val="0-#ppt_w/2"/>
                                          </p:val>
                                        </p:tav>
                                        <p:tav tm="100000">
                                          <p:val>
                                            <p:strVal val="#ppt_x"/>
                                          </p:val>
                                        </p:tav>
                                      </p:tavLst>
                                    </p:anim>
                                    <p:anim calcmode="lin" valueType="num">
                                      <p:cBhvr additive="base">
                                        <p:cTn id="44" dur="500" fill="hold"/>
                                        <p:tgtEl>
                                          <p:spTgt spid="440334"/>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440332"/>
                                        </p:tgtEl>
                                        <p:attrNameLst>
                                          <p:attrName>style.visibility</p:attrName>
                                        </p:attrNameLst>
                                      </p:cBhvr>
                                      <p:to>
                                        <p:strVal val="visible"/>
                                      </p:to>
                                    </p:set>
                                    <p:anim calcmode="lin" valueType="num">
                                      <p:cBhvr additive="base">
                                        <p:cTn id="49" dur="500" fill="hold"/>
                                        <p:tgtEl>
                                          <p:spTgt spid="440332"/>
                                        </p:tgtEl>
                                        <p:attrNameLst>
                                          <p:attrName>ppt_x</p:attrName>
                                        </p:attrNameLst>
                                      </p:cBhvr>
                                      <p:tavLst>
                                        <p:tav tm="0">
                                          <p:val>
                                            <p:strVal val="0-#ppt_w/2"/>
                                          </p:val>
                                        </p:tav>
                                        <p:tav tm="100000">
                                          <p:val>
                                            <p:strVal val="#ppt_x"/>
                                          </p:val>
                                        </p:tav>
                                      </p:tavLst>
                                    </p:anim>
                                    <p:anim calcmode="lin" valueType="num">
                                      <p:cBhvr additive="base">
                                        <p:cTn id="50" dur="500" fill="hold"/>
                                        <p:tgtEl>
                                          <p:spTgt spid="440332"/>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440333"/>
                                        </p:tgtEl>
                                        <p:attrNameLst>
                                          <p:attrName>style.visibility</p:attrName>
                                        </p:attrNameLst>
                                      </p:cBhvr>
                                      <p:to>
                                        <p:strVal val="visible"/>
                                      </p:to>
                                    </p:set>
                                    <p:anim calcmode="lin" valueType="num">
                                      <p:cBhvr additive="base">
                                        <p:cTn id="55" dur="500" fill="hold"/>
                                        <p:tgtEl>
                                          <p:spTgt spid="440333"/>
                                        </p:tgtEl>
                                        <p:attrNameLst>
                                          <p:attrName>ppt_x</p:attrName>
                                        </p:attrNameLst>
                                      </p:cBhvr>
                                      <p:tavLst>
                                        <p:tav tm="0">
                                          <p:val>
                                            <p:strVal val="0-#ppt_w/2"/>
                                          </p:val>
                                        </p:tav>
                                        <p:tav tm="100000">
                                          <p:val>
                                            <p:strVal val="#ppt_x"/>
                                          </p:val>
                                        </p:tav>
                                      </p:tavLst>
                                    </p:anim>
                                    <p:anim calcmode="lin" valueType="num">
                                      <p:cBhvr additive="base">
                                        <p:cTn id="56" dur="500" fill="hold"/>
                                        <p:tgtEl>
                                          <p:spTgt spid="44033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23" grpId="0"/>
      <p:bldP spid="440324" grpId="0" animBg="1"/>
      <p:bldP spid="440325" grpId="0" animBg="1"/>
      <p:bldP spid="440326" grpId="0" animBg="1"/>
      <p:bldP spid="440331" grpId="0"/>
      <p:bldP spid="440332" grpId="0"/>
      <p:bldP spid="440333" grpId="0"/>
      <p:bldP spid="440334"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文本占位符 445441"/>
          <p:cNvSpPr>
            <a:spLocks noGrp="1" noRot="1"/>
          </p:cNvSpPr>
          <p:nvPr>
            <p:ph idx="1"/>
          </p:nvPr>
        </p:nvSpPr>
        <p:spPr>
          <a:xfrm>
            <a:off x="533400" y="426720"/>
            <a:ext cx="8229600" cy="4525963"/>
          </a:xfrm>
          <a:ln/>
        </p:spPr>
        <p:txBody>
          <a:bodyPr anchor="t"/>
          <a:lstStyle/>
          <a:p>
            <a:pPr>
              <a:buNone/>
            </a:pPr>
            <a:r>
              <a:rPr lang="en-US" altLang="zh-CN" sz="2800" b="1" dirty="0">
                <a:solidFill>
                  <a:srgbClr val="CC3300"/>
                </a:solidFill>
              </a:rPr>
              <a:t>3</a:t>
            </a:r>
            <a:r>
              <a:rPr lang="zh-CN" altLang="en-US" sz="2800" b="1" dirty="0">
                <a:solidFill>
                  <a:srgbClr val="CC3300"/>
                </a:solidFill>
              </a:rPr>
              <a:t>、维生素</a:t>
            </a:r>
            <a:r>
              <a:rPr lang="en-US" altLang="zh-CN" sz="2800" b="1" dirty="0">
                <a:solidFill>
                  <a:srgbClr val="CC3300"/>
                </a:solidFill>
              </a:rPr>
              <a:t>C</a:t>
            </a:r>
          </a:p>
        </p:txBody>
      </p:sp>
      <p:sp>
        <p:nvSpPr>
          <p:cNvPr id="445443" name="矩形 445442"/>
          <p:cNvSpPr/>
          <p:nvPr/>
        </p:nvSpPr>
        <p:spPr>
          <a:xfrm>
            <a:off x="304800" y="1371600"/>
            <a:ext cx="2498725" cy="457200"/>
          </a:xfrm>
          <a:prstGeom prst="rect">
            <a:avLst/>
          </a:prstGeom>
          <a:noFill/>
          <a:ln w="9525">
            <a:noFill/>
          </a:ln>
        </p:spPr>
        <p:txBody>
          <a:bodyPr wrap="none" anchor="t">
            <a:spAutoFit/>
          </a:bodyPr>
          <a:lstStyle/>
          <a:p>
            <a:pPr>
              <a:buClr>
                <a:schemeClr val="bg1"/>
              </a:buClr>
            </a:pPr>
            <a:r>
              <a:rPr lang="zh-CN" altLang="en-US" sz="2400" b="1" dirty="0">
                <a:solidFill>
                  <a:srgbClr val="660066"/>
                </a:solidFill>
                <a:latin typeface="Arial" panose="020B0604020202020204" pitchFamily="34" charset="0"/>
              </a:rPr>
              <a:t>（</a:t>
            </a:r>
            <a:r>
              <a:rPr lang="en-US" altLang="zh-CN" sz="2400" b="1" dirty="0">
                <a:solidFill>
                  <a:srgbClr val="660066"/>
                </a:solidFill>
                <a:latin typeface="Arial" panose="020B0604020202020204" pitchFamily="34" charset="0"/>
              </a:rPr>
              <a:t>1</a:t>
            </a:r>
            <a:r>
              <a:rPr lang="zh-CN" altLang="en-US" sz="2400" b="1" dirty="0">
                <a:solidFill>
                  <a:srgbClr val="660066"/>
                </a:solidFill>
                <a:latin typeface="Arial" panose="020B0604020202020204" pitchFamily="34" charset="0"/>
              </a:rPr>
              <a:t>）物理性质：</a:t>
            </a:r>
          </a:p>
        </p:txBody>
      </p:sp>
      <p:sp>
        <p:nvSpPr>
          <p:cNvPr id="445444" name="矩形 445443"/>
          <p:cNvSpPr/>
          <p:nvPr/>
        </p:nvSpPr>
        <p:spPr>
          <a:xfrm>
            <a:off x="2667000" y="1295400"/>
            <a:ext cx="6172200" cy="822325"/>
          </a:xfrm>
          <a:prstGeom prst="rect">
            <a:avLst/>
          </a:prstGeom>
          <a:noFill/>
          <a:ln w="9525">
            <a:noFill/>
          </a:ln>
        </p:spPr>
        <p:txBody>
          <a:bodyPr anchor="t">
            <a:spAutoFit/>
          </a:bodyPr>
          <a:lstStyle/>
          <a:p>
            <a:pPr>
              <a:buClr>
                <a:schemeClr val="bg1"/>
              </a:buClr>
            </a:pPr>
            <a:r>
              <a:rPr lang="zh-CN" altLang="en-US" sz="2400" b="1" dirty="0">
                <a:solidFill>
                  <a:srgbClr val="0C0B0A"/>
                </a:solidFill>
                <a:latin typeface="Arial" panose="020B0604020202020204" pitchFamily="34" charset="0"/>
              </a:rPr>
              <a:t>维生素</a:t>
            </a:r>
            <a:r>
              <a:rPr lang="en-US" altLang="zh-CN" sz="2400" b="1">
                <a:solidFill>
                  <a:srgbClr val="0C0B0A"/>
                </a:solidFill>
                <a:latin typeface="Arial" panose="020B0604020202020204" pitchFamily="34" charset="0"/>
              </a:rPr>
              <a:t>C</a:t>
            </a:r>
            <a:r>
              <a:rPr lang="zh-CN" altLang="en-US" sz="2400" b="1" dirty="0">
                <a:solidFill>
                  <a:srgbClr val="0C0B0A"/>
                </a:solidFill>
                <a:latin typeface="Arial" panose="020B0604020202020204" pitchFamily="34" charset="0"/>
              </a:rPr>
              <a:t>是一种无色晶体，熔点</a:t>
            </a:r>
            <a:r>
              <a:rPr lang="en-US" altLang="zh-CN" sz="2400" b="1">
                <a:solidFill>
                  <a:srgbClr val="0C0B0A"/>
                </a:solidFill>
                <a:latin typeface="Arial" panose="020B0604020202020204" pitchFamily="34" charset="0"/>
              </a:rPr>
              <a:t>190</a:t>
            </a:r>
            <a:r>
              <a:rPr lang="zh-CN" altLang="en-US" sz="2400" b="1" dirty="0">
                <a:solidFill>
                  <a:srgbClr val="0C0B0A"/>
                </a:solidFill>
                <a:latin typeface="Arial" panose="020B0604020202020204" pitchFamily="34" charset="0"/>
              </a:rPr>
              <a:t>－</a:t>
            </a:r>
            <a:r>
              <a:rPr lang="en-US" altLang="zh-CN" sz="2400" b="1">
                <a:solidFill>
                  <a:srgbClr val="0C0B0A"/>
                </a:solidFill>
                <a:latin typeface="Arial" panose="020B0604020202020204" pitchFamily="34" charset="0"/>
              </a:rPr>
              <a:t>192℃</a:t>
            </a:r>
            <a:r>
              <a:rPr lang="zh-CN" altLang="en-US" sz="2400" b="1" dirty="0">
                <a:solidFill>
                  <a:srgbClr val="0C0B0A"/>
                </a:solidFill>
                <a:latin typeface="Arial" panose="020B0604020202020204" pitchFamily="34" charset="0"/>
              </a:rPr>
              <a:t>，易溶于水。（属于水溶性维生素）</a:t>
            </a:r>
          </a:p>
        </p:txBody>
      </p:sp>
      <p:sp>
        <p:nvSpPr>
          <p:cNvPr id="445445" name="矩形 445444"/>
          <p:cNvSpPr/>
          <p:nvPr/>
        </p:nvSpPr>
        <p:spPr>
          <a:xfrm>
            <a:off x="304800" y="2209800"/>
            <a:ext cx="2124075" cy="457200"/>
          </a:xfrm>
          <a:prstGeom prst="rect">
            <a:avLst/>
          </a:prstGeom>
          <a:noFill/>
          <a:ln w="9525">
            <a:noFill/>
          </a:ln>
        </p:spPr>
        <p:txBody>
          <a:bodyPr anchor="t">
            <a:spAutoFit/>
          </a:bodyPr>
          <a:lstStyle/>
          <a:p>
            <a:pPr>
              <a:buClr>
                <a:schemeClr val="bg1"/>
              </a:buClr>
            </a:pPr>
            <a:r>
              <a:rPr lang="zh-CN" altLang="en-US" sz="2400" b="1" dirty="0">
                <a:solidFill>
                  <a:srgbClr val="660066"/>
                </a:solidFill>
                <a:latin typeface="Arial" panose="020B0604020202020204" pitchFamily="34" charset="0"/>
              </a:rPr>
              <a:t>（</a:t>
            </a:r>
            <a:r>
              <a:rPr lang="en-US" altLang="zh-CN" sz="2400" b="1">
                <a:solidFill>
                  <a:srgbClr val="660066"/>
                </a:solidFill>
                <a:latin typeface="Arial" panose="020B0604020202020204" pitchFamily="34" charset="0"/>
              </a:rPr>
              <a:t>2</a:t>
            </a:r>
            <a:r>
              <a:rPr lang="zh-CN" altLang="en-US" sz="2400" b="1" dirty="0">
                <a:solidFill>
                  <a:srgbClr val="660066"/>
                </a:solidFill>
                <a:latin typeface="Arial" panose="020B0604020202020204" pitchFamily="34" charset="0"/>
              </a:rPr>
              <a:t>）存在：</a:t>
            </a:r>
          </a:p>
        </p:txBody>
      </p:sp>
      <p:sp>
        <p:nvSpPr>
          <p:cNvPr id="445446" name="矩形 445445"/>
          <p:cNvSpPr/>
          <p:nvPr/>
        </p:nvSpPr>
        <p:spPr>
          <a:xfrm>
            <a:off x="2428875" y="2117725"/>
            <a:ext cx="6400800" cy="822325"/>
          </a:xfrm>
          <a:prstGeom prst="rect">
            <a:avLst/>
          </a:prstGeom>
          <a:noFill/>
          <a:ln w="9525">
            <a:noFill/>
          </a:ln>
        </p:spPr>
        <p:txBody>
          <a:bodyPr anchor="t">
            <a:spAutoFit/>
          </a:bodyPr>
          <a:lstStyle/>
          <a:p>
            <a:pPr>
              <a:spcBef>
                <a:spcPct val="50000"/>
              </a:spcBef>
            </a:pPr>
            <a:r>
              <a:rPr lang="zh-CN" altLang="en-US" sz="2400" b="1" dirty="0">
                <a:solidFill>
                  <a:srgbClr val="0C0B0A"/>
                </a:solidFill>
                <a:latin typeface="Arial" panose="020B0604020202020204" pitchFamily="34" charset="0"/>
              </a:rPr>
              <a:t>存在于新鲜水果和绿色蔬菜中。人体不能合成维生素</a:t>
            </a:r>
            <a:r>
              <a:rPr lang="en-US" altLang="zh-CN" sz="2400" b="1">
                <a:solidFill>
                  <a:srgbClr val="0C0B0A"/>
                </a:solidFill>
                <a:latin typeface="Arial" panose="020B0604020202020204" pitchFamily="34" charset="0"/>
              </a:rPr>
              <a:t>C</a:t>
            </a:r>
            <a:r>
              <a:rPr lang="zh-CN" altLang="en-US" sz="2400" b="1">
                <a:solidFill>
                  <a:srgbClr val="0C0B0A"/>
                </a:solidFill>
                <a:latin typeface="Arial" panose="020B0604020202020204" pitchFamily="34" charset="0"/>
              </a:rPr>
              <a:t>，</a:t>
            </a:r>
            <a:r>
              <a:rPr lang="zh-CN" altLang="en-US" sz="2400" b="1" dirty="0">
                <a:solidFill>
                  <a:srgbClr val="0C0B0A"/>
                </a:solidFill>
                <a:latin typeface="Arial" panose="020B0604020202020204" pitchFamily="34" charset="0"/>
              </a:rPr>
              <a:t>必须从食物中获得。</a:t>
            </a:r>
          </a:p>
        </p:txBody>
      </p:sp>
      <p:sp>
        <p:nvSpPr>
          <p:cNvPr id="445447" name="矩形 445446"/>
          <p:cNvSpPr/>
          <p:nvPr/>
        </p:nvSpPr>
        <p:spPr>
          <a:xfrm>
            <a:off x="304800" y="3048000"/>
            <a:ext cx="2514600" cy="457200"/>
          </a:xfrm>
          <a:prstGeom prst="rect">
            <a:avLst/>
          </a:prstGeom>
          <a:noFill/>
          <a:ln w="9525">
            <a:noFill/>
          </a:ln>
        </p:spPr>
        <p:txBody>
          <a:bodyPr anchor="t">
            <a:spAutoFit/>
          </a:bodyPr>
          <a:lstStyle/>
          <a:p>
            <a:pPr>
              <a:spcBef>
                <a:spcPct val="50000"/>
              </a:spcBef>
            </a:pPr>
            <a:r>
              <a:rPr lang="zh-CN" altLang="en-US" sz="2400" b="1" dirty="0">
                <a:solidFill>
                  <a:srgbClr val="660066"/>
                </a:solidFill>
                <a:latin typeface="Arial" panose="020B0604020202020204" pitchFamily="34" charset="0"/>
              </a:rPr>
              <a:t>（</a:t>
            </a:r>
            <a:r>
              <a:rPr lang="en-US" altLang="zh-CN" sz="2400" b="1">
                <a:solidFill>
                  <a:srgbClr val="660066"/>
                </a:solidFill>
                <a:latin typeface="Arial" panose="020B0604020202020204" pitchFamily="34" charset="0"/>
              </a:rPr>
              <a:t>3</a:t>
            </a:r>
            <a:r>
              <a:rPr lang="zh-CN" altLang="en-US" sz="2400" b="1" dirty="0">
                <a:solidFill>
                  <a:srgbClr val="660066"/>
                </a:solidFill>
                <a:latin typeface="Arial" panose="020B0604020202020204" pitchFamily="34" charset="0"/>
              </a:rPr>
              <a:t>）化学性质：</a:t>
            </a:r>
            <a:endParaRPr lang="zh-CN" altLang="en-US" sz="2400" b="1">
              <a:solidFill>
                <a:srgbClr val="660066"/>
              </a:solidFill>
              <a:latin typeface="Arial" panose="020B0604020202020204" pitchFamily="34" charset="0"/>
            </a:endParaRPr>
          </a:p>
        </p:txBody>
      </p:sp>
      <p:sp>
        <p:nvSpPr>
          <p:cNvPr id="445448" name="矩形 445447"/>
          <p:cNvSpPr/>
          <p:nvPr/>
        </p:nvSpPr>
        <p:spPr>
          <a:xfrm>
            <a:off x="914400" y="3657600"/>
            <a:ext cx="2438400" cy="822325"/>
          </a:xfrm>
          <a:prstGeom prst="rect">
            <a:avLst/>
          </a:prstGeom>
          <a:noFill/>
          <a:ln w="9525">
            <a:noFill/>
          </a:ln>
        </p:spPr>
        <p:txBody>
          <a:bodyPr anchor="t">
            <a:spAutoFit/>
          </a:bodyPr>
          <a:lstStyle/>
          <a:p>
            <a:pPr>
              <a:spcBef>
                <a:spcPct val="50000"/>
              </a:spcBef>
            </a:pPr>
            <a:r>
              <a:rPr lang="zh-CN" altLang="en-US" sz="2400" b="1" dirty="0">
                <a:solidFill>
                  <a:srgbClr val="3920EE"/>
                </a:solidFill>
                <a:latin typeface="Arial" panose="020B0604020202020204" pitchFamily="34" charset="0"/>
              </a:rPr>
              <a:t>分子式为</a:t>
            </a:r>
            <a:r>
              <a:rPr lang="en-US" altLang="zh-CN" sz="2400" b="1">
                <a:solidFill>
                  <a:srgbClr val="3920EE"/>
                </a:solidFill>
                <a:latin typeface="Arial" panose="020B0604020202020204" pitchFamily="34" charset="0"/>
              </a:rPr>
              <a:t>C</a:t>
            </a:r>
            <a:r>
              <a:rPr lang="en-US" altLang="zh-CN" sz="2400" b="1" baseline="-25000">
                <a:solidFill>
                  <a:srgbClr val="3920EE"/>
                </a:solidFill>
                <a:latin typeface="Arial" panose="020B0604020202020204" pitchFamily="34" charset="0"/>
              </a:rPr>
              <a:t>6</a:t>
            </a:r>
            <a:r>
              <a:rPr lang="en-US" altLang="zh-CN" sz="2400" b="1">
                <a:solidFill>
                  <a:srgbClr val="3920EE"/>
                </a:solidFill>
                <a:latin typeface="Arial" panose="020B0604020202020204" pitchFamily="34" charset="0"/>
              </a:rPr>
              <a:t>H</a:t>
            </a:r>
            <a:r>
              <a:rPr lang="en-US" altLang="zh-CN" sz="2400" b="1" baseline="-25000">
                <a:solidFill>
                  <a:srgbClr val="3920EE"/>
                </a:solidFill>
                <a:latin typeface="Arial" panose="020B0604020202020204" pitchFamily="34" charset="0"/>
              </a:rPr>
              <a:t>8</a:t>
            </a:r>
            <a:r>
              <a:rPr lang="en-US" altLang="zh-CN" sz="2400" b="1">
                <a:solidFill>
                  <a:srgbClr val="3920EE"/>
                </a:solidFill>
                <a:latin typeface="Arial" panose="020B0604020202020204" pitchFamily="34" charset="0"/>
              </a:rPr>
              <a:t>O</a:t>
            </a:r>
            <a:r>
              <a:rPr lang="en-US" altLang="zh-CN" sz="2400" b="1" baseline="-25000">
                <a:solidFill>
                  <a:srgbClr val="3920EE"/>
                </a:solidFill>
                <a:latin typeface="Arial" panose="020B0604020202020204" pitchFamily="34" charset="0"/>
              </a:rPr>
              <a:t>6</a:t>
            </a:r>
            <a:r>
              <a:rPr lang="zh-CN" altLang="en-US" sz="2400" b="1">
                <a:solidFill>
                  <a:srgbClr val="3920EE"/>
                </a:solidFill>
                <a:latin typeface="Arial" panose="020B0604020202020204" pitchFamily="34" charset="0"/>
              </a:rPr>
              <a:t>，</a:t>
            </a:r>
            <a:r>
              <a:rPr lang="zh-CN" altLang="en-US" sz="2400" b="1" dirty="0">
                <a:solidFill>
                  <a:srgbClr val="3920EE"/>
                </a:solidFill>
                <a:latin typeface="Arial" panose="020B0604020202020204" pitchFamily="34" charset="0"/>
              </a:rPr>
              <a:t>结构式如右：</a:t>
            </a:r>
          </a:p>
        </p:txBody>
      </p:sp>
      <p:grpSp>
        <p:nvGrpSpPr>
          <p:cNvPr id="445449" name="组合 445448"/>
          <p:cNvGrpSpPr/>
          <p:nvPr/>
        </p:nvGrpSpPr>
        <p:grpSpPr>
          <a:xfrm>
            <a:off x="3886200" y="2934891"/>
            <a:ext cx="4267200" cy="2100263"/>
            <a:chOff x="2256" y="1968"/>
            <a:chExt cx="2688" cy="1323"/>
          </a:xfrm>
        </p:grpSpPr>
        <p:sp>
          <p:nvSpPr>
            <p:cNvPr id="50185" name="文本框 445449"/>
            <p:cNvSpPr txBox="1"/>
            <p:nvPr/>
          </p:nvSpPr>
          <p:spPr>
            <a:xfrm>
              <a:off x="2256" y="1968"/>
              <a:ext cx="2688" cy="1323"/>
            </a:xfrm>
            <a:prstGeom prst="rect">
              <a:avLst/>
            </a:prstGeom>
            <a:noFill/>
            <a:ln w="9525">
              <a:noFill/>
            </a:ln>
          </p:spPr>
          <p:txBody>
            <a:bodyPr anchor="t">
              <a:spAutoFit/>
            </a:bodyPr>
            <a:lstStyle/>
            <a:p>
              <a:pPr>
                <a:spcBef>
                  <a:spcPct val="50000"/>
                </a:spcBef>
              </a:pPr>
              <a:r>
                <a:rPr lang="zh-CN" altLang="en-US" sz="2400" b="1" dirty="0">
                  <a:solidFill>
                    <a:srgbClr val="0C0B0A"/>
                  </a:solidFill>
                  <a:latin typeface="Arial" panose="020B0604020202020204" pitchFamily="34" charset="0"/>
                </a:rPr>
                <a:t>                           </a:t>
              </a:r>
              <a:r>
                <a:rPr lang="en-US" altLang="zh-CN" sz="2400" b="1" dirty="0">
                  <a:solidFill>
                    <a:srgbClr val="0C0B0A"/>
                  </a:solidFill>
                  <a:latin typeface="Arial" panose="020B0604020202020204" pitchFamily="34" charset="0"/>
                </a:rPr>
                <a:t>O</a:t>
              </a:r>
            </a:p>
            <a:p>
              <a:pPr>
                <a:spcBef>
                  <a:spcPct val="50000"/>
                </a:spcBef>
              </a:pPr>
              <a:r>
                <a:rPr lang="en-US" altLang="zh-CN" sz="2400" b="1" dirty="0">
                  <a:solidFill>
                    <a:srgbClr val="0C0B0A"/>
                  </a:solidFill>
                  <a:latin typeface="Arial" panose="020B0604020202020204" pitchFamily="34" charset="0"/>
                </a:rPr>
                <a:t>CH</a:t>
              </a:r>
              <a:r>
                <a:rPr lang="en-US" altLang="zh-CN" sz="2400" b="1" baseline="-25000" dirty="0">
                  <a:solidFill>
                    <a:srgbClr val="0C0B0A"/>
                  </a:solidFill>
                  <a:latin typeface="Arial" panose="020B0604020202020204" pitchFamily="34" charset="0"/>
                </a:rPr>
                <a:t>2</a:t>
              </a:r>
              <a:r>
                <a:rPr lang="en-US" altLang="zh-CN" sz="2400" b="1" dirty="0">
                  <a:solidFill>
                    <a:srgbClr val="0C0B0A"/>
                  </a:solidFill>
                  <a:latin typeface="Arial" panose="020B0604020202020204" pitchFamily="34" charset="0"/>
                </a:rPr>
                <a:t>   CH    </a:t>
              </a:r>
              <a:r>
                <a:rPr lang="en-US" altLang="zh-CN" sz="2400" b="1" dirty="0" err="1">
                  <a:solidFill>
                    <a:srgbClr val="0C0B0A"/>
                  </a:solidFill>
                  <a:latin typeface="Arial" panose="020B0604020202020204" pitchFamily="34" charset="0"/>
                </a:rPr>
                <a:t>CH</a:t>
              </a:r>
              <a:r>
                <a:rPr lang="en-US" altLang="zh-CN" sz="2400" b="1" dirty="0">
                  <a:solidFill>
                    <a:srgbClr val="0C0B0A"/>
                  </a:solidFill>
                  <a:latin typeface="Arial" panose="020B0604020202020204" pitchFamily="34" charset="0"/>
                </a:rPr>
                <a:t>          C = O</a:t>
              </a:r>
            </a:p>
            <a:p>
              <a:pPr>
                <a:spcBef>
                  <a:spcPct val="50000"/>
                </a:spcBef>
              </a:pPr>
              <a:r>
                <a:rPr lang="en-US" altLang="zh-CN" sz="2400" b="1" dirty="0">
                  <a:solidFill>
                    <a:srgbClr val="0C0B0A"/>
                  </a:solidFill>
                  <a:latin typeface="Arial" panose="020B0604020202020204" pitchFamily="34" charset="0"/>
                </a:rPr>
                <a:t>OH    </a:t>
              </a:r>
              <a:r>
                <a:rPr lang="en-US" altLang="zh-CN" sz="2400" b="1" dirty="0" err="1">
                  <a:solidFill>
                    <a:srgbClr val="0C0B0A"/>
                  </a:solidFill>
                  <a:latin typeface="Arial" panose="020B0604020202020204" pitchFamily="34" charset="0"/>
                </a:rPr>
                <a:t>OH</a:t>
              </a:r>
              <a:r>
                <a:rPr lang="en-US" altLang="zh-CN" sz="2400" b="1" dirty="0">
                  <a:solidFill>
                    <a:srgbClr val="0C0B0A"/>
                  </a:solidFill>
                  <a:latin typeface="Arial" panose="020B0604020202020204" pitchFamily="34" charset="0"/>
                </a:rPr>
                <a:t>         C = C</a:t>
              </a:r>
            </a:p>
            <a:p>
              <a:pPr>
                <a:spcBef>
                  <a:spcPct val="50000"/>
                </a:spcBef>
              </a:pPr>
              <a:r>
                <a:rPr lang="en-US" altLang="zh-CN" sz="2400" b="1" dirty="0">
                  <a:solidFill>
                    <a:srgbClr val="0C0B0A"/>
                  </a:solidFill>
                  <a:latin typeface="Arial" panose="020B0604020202020204" pitchFamily="34" charset="0"/>
                </a:rPr>
                <a:t>                   OH           </a:t>
              </a:r>
              <a:r>
                <a:rPr lang="en-US" altLang="zh-CN" sz="2400" b="1" dirty="0" err="1">
                  <a:solidFill>
                    <a:srgbClr val="0C0B0A"/>
                  </a:solidFill>
                  <a:latin typeface="Arial" panose="020B0604020202020204" pitchFamily="34" charset="0"/>
                </a:rPr>
                <a:t>OH</a:t>
              </a:r>
              <a:endParaRPr lang="en-US" altLang="zh-CN" sz="2400" b="1" dirty="0">
                <a:solidFill>
                  <a:srgbClr val="0C0B0A"/>
                </a:solidFill>
                <a:latin typeface="Arial" panose="020B0604020202020204" pitchFamily="34" charset="0"/>
              </a:endParaRPr>
            </a:p>
          </p:txBody>
        </p:sp>
        <p:sp>
          <p:nvSpPr>
            <p:cNvPr id="50186" name="直接连接符 445450"/>
            <p:cNvSpPr/>
            <p:nvPr/>
          </p:nvSpPr>
          <p:spPr>
            <a:xfrm>
              <a:off x="2631" y="2455"/>
              <a:ext cx="144" cy="0"/>
            </a:xfrm>
            <a:prstGeom prst="line">
              <a:avLst/>
            </a:prstGeom>
            <a:ln w="38100" cap="flat" cmpd="sng">
              <a:solidFill>
                <a:schemeClr val="tx1"/>
              </a:solidFill>
              <a:prstDash val="solid"/>
              <a:round/>
              <a:headEnd type="none" w="med" len="med"/>
              <a:tailEnd type="none" w="med" len="med"/>
            </a:ln>
          </p:spPr>
        </p:sp>
        <p:sp>
          <p:nvSpPr>
            <p:cNvPr id="50187" name="直接连接符 445451"/>
            <p:cNvSpPr/>
            <p:nvPr/>
          </p:nvSpPr>
          <p:spPr>
            <a:xfrm>
              <a:off x="3120" y="2455"/>
              <a:ext cx="144" cy="0"/>
            </a:xfrm>
            <a:prstGeom prst="line">
              <a:avLst/>
            </a:prstGeom>
            <a:ln w="38100" cap="flat" cmpd="sng">
              <a:solidFill>
                <a:schemeClr val="tx1"/>
              </a:solidFill>
              <a:prstDash val="solid"/>
              <a:round/>
              <a:headEnd type="none" w="med" len="med"/>
              <a:tailEnd type="none" w="med" len="med"/>
            </a:ln>
          </p:spPr>
        </p:sp>
        <p:sp>
          <p:nvSpPr>
            <p:cNvPr id="50188" name="直接连接符 445452"/>
            <p:cNvSpPr/>
            <p:nvPr/>
          </p:nvSpPr>
          <p:spPr>
            <a:xfrm>
              <a:off x="2381" y="2546"/>
              <a:ext cx="0" cy="159"/>
            </a:xfrm>
            <a:prstGeom prst="line">
              <a:avLst/>
            </a:prstGeom>
            <a:ln w="38100" cap="flat" cmpd="sng">
              <a:solidFill>
                <a:schemeClr val="tx1"/>
              </a:solidFill>
              <a:prstDash val="solid"/>
              <a:round/>
              <a:headEnd type="none" w="med" len="med"/>
              <a:tailEnd type="none" w="med" len="med"/>
            </a:ln>
          </p:spPr>
        </p:sp>
        <p:sp>
          <p:nvSpPr>
            <p:cNvPr id="50189" name="直接连接符 445453"/>
            <p:cNvSpPr/>
            <p:nvPr/>
          </p:nvSpPr>
          <p:spPr>
            <a:xfrm>
              <a:off x="2880" y="2546"/>
              <a:ext cx="0" cy="159"/>
            </a:xfrm>
            <a:prstGeom prst="line">
              <a:avLst/>
            </a:prstGeom>
            <a:ln w="38100" cap="flat" cmpd="sng">
              <a:solidFill>
                <a:schemeClr val="tx1"/>
              </a:solidFill>
              <a:prstDash val="solid"/>
              <a:round/>
              <a:headEnd type="none" w="med" len="med"/>
              <a:tailEnd type="none" w="med" len="med"/>
            </a:ln>
          </p:spPr>
        </p:sp>
        <p:sp>
          <p:nvSpPr>
            <p:cNvPr id="50190" name="直接连接符 445454"/>
            <p:cNvSpPr/>
            <p:nvPr/>
          </p:nvSpPr>
          <p:spPr>
            <a:xfrm flipH="1">
              <a:off x="3424" y="2160"/>
              <a:ext cx="272" cy="204"/>
            </a:xfrm>
            <a:prstGeom prst="line">
              <a:avLst/>
            </a:prstGeom>
            <a:ln w="38100" cap="flat" cmpd="sng">
              <a:solidFill>
                <a:schemeClr val="tx1"/>
              </a:solidFill>
              <a:prstDash val="solid"/>
              <a:round/>
              <a:headEnd type="none" w="med" len="med"/>
              <a:tailEnd type="none" w="med" len="med"/>
            </a:ln>
          </p:spPr>
        </p:sp>
        <p:sp>
          <p:nvSpPr>
            <p:cNvPr id="50191" name="直接连接符 445455"/>
            <p:cNvSpPr/>
            <p:nvPr/>
          </p:nvSpPr>
          <p:spPr>
            <a:xfrm>
              <a:off x="3901" y="2160"/>
              <a:ext cx="249" cy="204"/>
            </a:xfrm>
            <a:prstGeom prst="line">
              <a:avLst/>
            </a:prstGeom>
            <a:ln w="38100" cap="flat" cmpd="sng">
              <a:solidFill>
                <a:schemeClr val="tx1"/>
              </a:solidFill>
              <a:prstDash val="solid"/>
              <a:round/>
              <a:headEnd type="none" w="med" len="med"/>
              <a:tailEnd type="none" w="med" len="med"/>
            </a:ln>
          </p:spPr>
        </p:sp>
        <p:sp>
          <p:nvSpPr>
            <p:cNvPr id="50192" name="直接连接符 445456"/>
            <p:cNvSpPr/>
            <p:nvPr/>
          </p:nvSpPr>
          <p:spPr>
            <a:xfrm>
              <a:off x="3402" y="2568"/>
              <a:ext cx="158" cy="182"/>
            </a:xfrm>
            <a:prstGeom prst="line">
              <a:avLst/>
            </a:prstGeom>
            <a:ln w="38100" cap="flat" cmpd="sng">
              <a:solidFill>
                <a:schemeClr val="tx1"/>
              </a:solidFill>
              <a:prstDash val="solid"/>
              <a:round/>
              <a:headEnd type="none" w="med" len="med"/>
              <a:tailEnd type="none" w="med" len="med"/>
            </a:ln>
          </p:spPr>
        </p:sp>
        <p:sp>
          <p:nvSpPr>
            <p:cNvPr id="50193" name="直接连接符 445457"/>
            <p:cNvSpPr/>
            <p:nvPr/>
          </p:nvSpPr>
          <p:spPr>
            <a:xfrm flipH="1">
              <a:off x="4037" y="2546"/>
              <a:ext cx="158" cy="182"/>
            </a:xfrm>
            <a:prstGeom prst="line">
              <a:avLst/>
            </a:prstGeom>
            <a:ln w="38100" cap="flat" cmpd="sng">
              <a:solidFill>
                <a:schemeClr val="tx1"/>
              </a:solidFill>
              <a:prstDash val="solid"/>
              <a:round/>
              <a:headEnd type="none" w="med" len="med"/>
              <a:tailEnd type="none" w="med" len="med"/>
            </a:ln>
          </p:spPr>
        </p:sp>
        <p:sp>
          <p:nvSpPr>
            <p:cNvPr id="50194" name="直接连接符 445458"/>
            <p:cNvSpPr/>
            <p:nvPr/>
          </p:nvSpPr>
          <p:spPr>
            <a:xfrm>
              <a:off x="4037" y="2908"/>
              <a:ext cx="158" cy="182"/>
            </a:xfrm>
            <a:prstGeom prst="line">
              <a:avLst/>
            </a:prstGeom>
            <a:ln w="38100" cap="flat" cmpd="sng">
              <a:solidFill>
                <a:schemeClr val="tx1"/>
              </a:solidFill>
              <a:prstDash val="solid"/>
              <a:round/>
              <a:headEnd type="none" w="med" len="med"/>
              <a:tailEnd type="none" w="med" len="med"/>
            </a:ln>
          </p:spPr>
        </p:sp>
        <p:sp>
          <p:nvSpPr>
            <p:cNvPr id="50195" name="直接连接符 445459"/>
            <p:cNvSpPr/>
            <p:nvPr/>
          </p:nvSpPr>
          <p:spPr>
            <a:xfrm flipH="1">
              <a:off x="3424" y="2886"/>
              <a:ext cx="158" cy="182"/>
            </a:xfrm>
            <a:prstGeom prst="line">
              <a:avLst/>
            </a:prstGeom>
            <a:ln w="38100" cap="flat" cmpd="sng">
              <a:solidFill>
                <a:schemeClr val="tx1"/>
              </a:solidFill>
              <a:prstDash val="solid"/>
              <a:round/>
              <a:headEnd type="none" w="med" len="med"/>
              <a:tailEnd type="none" w="med" len="med"/>
            </a:ln>
          </p:spPr>
        </p:sp>
      </p:grpSp>
      <p:sp>
        <p:nvSpPr>
          <p:cNvPr id="445461" name="矩形 445460"/>
          <p:cNvSpPr/>
          <p:nvPr/>
        </p:nvSpPr>
        <p:spPr>
          <a:xfrm>
            <a:off x="5749926" y="4104879"/>
            <a:ext cx="1143000" cy="533400"/>
          </a:xfrm>
          <a:prstGeom prst="rect">
            <a:avLst/>
          </a:prstGeom>
          <a:noFill/>
          <a:ln w="9525" cap="flat" cmpd="sng">
            <a:solidFill>
              <a:srgbClr val="CC3300"/>
            </a:solidFill>
            <a:prstDash val="solid"/>
            <a:miter/>
            <a:headEnd type="none" w="med" len="med"/>
            <a:tailEnd type="none" w="med" len="med"/>
          </a:ln>
        </p:spPr>
        <p:txBody>
          <a:bodyPr anchor="t"/>
          <a:lstStyle/>
          <a:p>
            <a:endParaRPr lang="zh-CN" altLang="en-US">
              <a:latin typeface="Arial" panose="020B0604020202020204" pitchFamily="34" charset="0"/>
            </a:endParaRPr>
          </a:p>
        </p:txBody>
      </p:sp>
      <p:sp>
        <p:nvSpPr>
          <p:cNvPr id="445462" name="矩形 445461"/>
          <p:cNvSpPr/>
          <p:nvPr/>
        </p:nvSpPr>
        <p:spPr>
          <a:xfrm>
            <a:off x="3795713" y="4104879"/>
            <a:ext cx="685800" cy="457200"/>
          </a:xfrm>
          <a:prstGeom prst="rect">
            <a:avLst/>
          </a:prstGeom>
          <a:noFill/>
          <a:ln w="9525" cap="flat" cmpd="sng">
            <a:solidFill>
              <a:srgbClr val="CC3300"/>
            </a:solidFill>
            <a:prstDash val="solid"/>
            <a:miter/>
            <a:headEnd type="none" w="med" len="med"/>
            <a:tailEnd type="none" w="med" len="med"/>
          </a:ln>
        </p:spPr>
        <p:txBody>
          <a:bodyPr anchor="t"/>
          <a:lstStyle/>
          <a:p>
            <a:endParaRPr lang="zh-CN" altLang="en-US">
              <a:latin typeface="Arial" panose="020B0604020202020204" pitchFamily="34" charset="0"/>
            </a:endParaRPr>
          </a:p>
        </p:txBody>
      </p:sp>
      <p:sp>
        <p:nvSpPr>
          <p:cNvPr id="445463" name="矩形 445462"/>
          <p:cNvSpPr/>
          <p:nvPr/>
        </p:nvSpPr>
        <p:spPr>
          <a:xfrm>
            <a:off x="6126163" y="2820591"/>
            <a:ext cx="1676400" cy="1066800"/>
          </a:xfrm>
          <a:prstGeom prst="rect">
            <a:avLst/>
          </a:prstGeom>
          <a:noFill/>
          <a:ln w="9525" cap="flat" cmpd="sng">
            <a:solidFill>
              <a:srgbClr val="CC3300"/>
            </a:solidFill>
            <a:prstDash val="solid"/>
            <a:miter/>
            <a:headEnd type="none" w="med" len="med"/>
            <a:tailEnd type="none" w="med" len="med"/>
          </a:ln>
        </p:spPr>
        <p:txBody>
          <a:bodyPr anchor="t"/>
          <a:lstStyle/>
          <a:p>
            <a:endParaRPr lang="zh-CN" altLang="en-US">
              <a:latin typeface="Arial" panose="020B0604020202020204" pitchFamily="34" charset="0"/>
            </a:endParaRPr>
          </a:p>
        </p:txBody>
      </p:sp>
      <p:sp>
        <p:nvSpPr>
          <p:cNvPr id="445464" name="矩形 445463"/>
          <p:cNvSpPr/>
          <p:nvPr/>
        </p:nvSpPr>
        <p:spPr>
          <a:xfrm>
            <a:off x="762000" y="4648200"/>
            <a:ext cx="3048000" cy="822325"/>
          </a:xfrm>
          <a:prstGeom prst="rect">
            <a:avLst/>
          </a:prstGeom>
          <a:noFill/>
          <a:ln w="9525">
            <a:noFill/>
          </a:ln>
        </p:spPr>
        <p:txBody>
          <a:bodyPr anchor="t">
            <a:spAutoFit/>
          </a:bodyPr>
          <a:lstStyle/>
          <a:p>
            <a:pPr>
              <a:spcBef>
                <a:spcPct val="50000"/>
              </a:spcBef>
            </a:pPr>
            <a:r>
              <a:rPr lang="en-US" altLang="zh-CN" sz="2400" b="1">
                <a:solidFill>
                  <a:srgbClr val="0C0B0A"/>
                </a:solidFill>
                <a:latin typeface="Arial" panose="020B0604020202020204" pitchFamily="34" charset="0"/>
              </a:rPr>
              <a:t>A</a:t>
            </a:r>
            <a:r>
              <a:rPr lang="zh-CN" altLang="en-US" sz="2400" b="1">
                <a:solidFill>
                  <a:srgbClr val="0C0B0A"/>
                </a:solidFill>
                <a:latin typeface="Arial" panose="020B0604020202020204" pitchFamily="34" charset="0"/>
              </a:rPr>
              <a:t>、</a:t>
            </a:r>
            <a:r>
              <a:rPr lang="zh-CN" altLang="en-US" sz="2400" b="1" dirty="0">
                <a:solidFill>
                  <a:srgbClr val="0C0B0A"/>
                </a:solidFill>
                <a:latin typeface="Arial" panose="020B0604020202020204" pitchFamily="34" charset="0"/>
              </a:rPr>
              <a:t>容易失去电子，是一种</a:t>
            </a:r>
            <a:r>
              <a:rPr lang="zh-CN" altLang="en-US" sz="2400" b="1" dirty="0">
                <a:solidFill>
                  <a:srgbClr val="990099"/>
                </a:solidFill>
                <a:latin typeface="Arial" panose="020B0604020202020204" pitchFamily="34" charset="0"/>
              </a:rPr>
              <a:t>较强的还原剂</a:t>
            </a:r>
            <a:r>
              <a:rPr lang="zh-CN" altLang="en-US" sz="2400" b="1" dirty="0">
                <a:solidFill>
                  <a:srgbClr val="0C0B0A"/>
                </a:solidFill>
                <a:latin typeface="Arial" panose="020B0604020202020204" pitchFamily="34" charset="0"/>
              </a:rPr>
              <a:t>，</a:t>
            </a:r>
            <a:endParaRPr lang="zh-CN" altLang="en-US" sz="2400" b="1">
              <a:solidFill>
                <a:srgbClr val="0C0B0A"/>
              </a:solidFill>
              <a:latin typeface="Arial" panose="020B0604020202020204" pitchFamily="34" charset="0"/>
            </a:endParaRPr>
          </a:p>
        </p:txBody>
      </p:sp>
      <p:sp>
        <p:nvSpPr>
          <p:cNvPr id="445465" name="矩形 445464"/>
          <p:cNvSpPr/>
          <p:nvPr/>
        </p:nvSpPr>
        <p:spPr>
          <a:xfrm>
            <a:off x="762000" y="6172200"/>
            <a:ext cx="6096000" cy="457200"/>
          </a:xfrm>
          <a:prstGeom prst="rect">
            <a:avLst/>
          </a:prstGeom>
          <a:noFill/>
          <a:ln w="9525">
            <a:noFill/>
          </a:ln>
        </p:spPr>
        <p:txBody>
          <a:bodyPr anchor="t">
            <a:spAutoFit/>
          </a:bodyPr>
          <a:lstStyle/>
          <a:p>
            <a:pPr>
              <a:spcBef>
                <a:spcPct val="50000"/>
              </a:spcBef>
            </a:pPr>
            <a:r>
              <a:rPr lang="en-US" altLang="zh-CN" sz="2400" b="1">
                <a:solidFill>
                  <a:srgbClr val="0C0B0A"/>
                </a:solidFill>
                <a:latin typeface="Arial" panose="020B0604020202020204" pitchFamily="34" charset="0"/>
              </a:rPr>
              <a:t>B</a:t>
            </a:r>
            <a:r>
              <a:rPr lang="zh-CN" altLang="en-US" sz="2400" b="1">
                <a:solidFill>
                  <a:srgbClr val="0C0B0A"/>
                </a:solidFill>
                <a:latin typeface="Arial" panose="020B0604020202020204" pitchFamily="34" charset="0"/>
              </a:rPr>
              <a:t>、</a:t>
            </a:r>
            <a:r>
              <a:rPr lang="zh-CN" altLang="en-US" sz="2400" b="1" dirty="0">
                <a:solidFill>
                  <a:srgbClr val="0C0B0A"/>
                </a:solidFill>
                <a:latin typeface="Arial" panose="020B0604020202020204" pitchFamily="34" charset="0"/>
              </a:rPr>
              <a:t>水溶液显酸性，有可口的酸味。</a:t>
            </a:r>
            <a:endParaRPr lang="zh-CN" altLang="en-US" sz="2400" b="1">
              <a:solidFill>
                <a:srgbClr val="0C0B0A"/>
              </a:solidFill>
              <a:latin typeface="Arial" panose="020B0604020202020204" pitchFamily="34" charset="0"/>
            </a:endParaRPr>
          </a:p>
        </p:txBody>
      </p:sp>
      <p:sp>
        <p:nvSpPr>
          <p:cNvPr id="445466" name="矩形 445465"/>
          <p:cNvSpPr/>
          <p:nvPr/>
        </p:nvSpPr>
        <p:spPr>
          <a:xfrm>
            <a:off x="1200150" y="5391150"/>
            <a:ext cx="8077200" cy="830997"/>
          </a:xfrm>
          <a:prstGeom prst="rect">
            <a:avLst/>
          </a:prstGeom>
          <a:noFill/>
          <a:ln w="9525">
            <a:noFill/>
          </a:ln>
        </p:spPr>
        <p:txBody>
          <a:bodyPr anchor="t">
            <a:spAutoFit/>
          </a:bodyPr>
          <a:lstStyle/>
          <a:p>
            <a:pPr>
              <a:spcBef>
                <a:spcPts val="0"/>
              </a:spcBef>
            </a:pPr>
            <a:r>
              <a:rPr lang="zh-CN" altLang="en-US" sz="2400" b="1" dirty="0">
                <a:solidFill>
                  <a:srgbClr val="0C0B0A"/>
                </a:solidFill>
                <a:latin typeface="Arial" panose="020B0604020202020204" pitchFamily="34" charset="0"/>
              </a:rPr>
              <a:t>在水溶液中或受热时很容易被氧化</a:t>
            </a:r>
            <a:r>
              <a:rPr lang="zh-CN" altLang="en-US" sz="2400" b="1" dirty="0" smtClean="0">
                <a:solidFill>
                  <a:srgbClr val="0C0B0A"/>
                </a:solidFill>
                <a:latin typeface="Arial" panose="020B0604020202020204" pitchFamily="34" charset="0"/>
              </a:rPr>
              <a:t>，</a:t>
            </a:r>
            <a:endParaRPr lang="en-US" altLang="zh-CN" sz="2400" b="1" dirty="0" smtClean="0">
              <a:solidFill>
                <a:srgbClr val="0C0B0A"/>
              </a:solidFill>
              <a:latin typeface="Arial" panose="020B0604020202020204" pitchFamily="34" charset="0"/>
            </a:endParaRPr>
          </a:p>
          <a:p>
            <a:pPr>
              <a:spcBef>
                <a:spcPts val="0"/>
              </a:spcBef>
            </a:pPr>
            <a:r>
              <a:rPr lang="zh-CN" altLang="en-US" sz="2400" b="1" dirty="0" smtClean="0">
                <a:solidFill>
                  <a:srgbClr val="0C0B0A"/>
                </a:solidFill>
                <a:latin typeface="Arial" panose="020B0604020202020204" pitchFamily="34" charset="0"/>
              </a:rPr>
              <a:t>在</a:t>
            </a:r>
            <a:r>
              <a:rPr lang="zh-CN" altLang="en-US" sz="2400" b="1" dirty="0">
                <a:solidFill>
                  <a:srgbClr val="660066"/>
                </a:solidFill>
                <a:latin typeface="Arial" panose="020B0604020202020204" pitchFamily="34" charset="0"/>
              </a:rPr>
              <a:t>碱溶液中更容易被氧化。</a:t>
            </a:r>
          </a:p>
        </p:txBody>
      </p:sp>
      <p:sp>
        <p:nvSpPr>
          <p:cNvPr id="50202" name="灯片编号占位符 1"/>
          <p:cNvSpPr>
            <a:spLocks noGrp="1"/>
          </p:cNvSpPr>
          <p:nvPr>
            <p:ph type="sldNum" sz="quarter" idx="11"/>
          </p:nvPr>
        </p:nvSpPr>
        <p:spPr>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400" dirty="0"/>
              <a:pPr lvl="0" indent="0" algn="r"/>
              <a:t>49</a:t>
            </a:fld>
            <a:endParaRPr lang="zh-CN" altLang="en-US" sz="1400" dirty="0"/>
          </a:p>
        </p:txBody>
      </p:sp>
      <p:pic>
        <p:nvPicPr>
          <p:cNvPr id="56322" name="Picture 2" descr="http://p.jianke.net/article/201602/20160220214734868.gif"/>
          <p:cNvPicPr>
            <a:picLocks noChangeAspect="1" noChangeArrowheads="1"/>
          </p:cNvPicPr>
          <p:nvPr/>
        </p:nvPicPr>
        <p:blipFill>
          <a:blip r:embed="rId2" cstate="print"/>
          <a:srcRect/>
          <a:stretch>
            <a:fillRect/>
          </a:stretch>
        </p:blipFill>
        <p:spPr bwMode="auto">
          <a:xfrm>
            <a:off x="6713539" y="5035154"/>
            <a:ext cx="2430462" cy="1822846"/>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45443"/>
                                        </p:tgtEl>
                                        <p:attrNameLst>
                                          <p:attrName>style.visibility</p:attrName>
                                        </p:attrNameLst>
                                      </p:cBhvr>
                                      <p:to>
                                        <p:strVal val="visible"/>
                                      </p:to>
                                    </p:set>
                                    <p:anim calcmode="lin" valueType="num">
                                      <p:cBhvr additive="base">
                                        <p:cTn id="7" dur="500" fill="hold"/>
                                        <p:tgtEl>
                                          <p:spTgt spid="445443"/>
                                        </p:tgtEl>
                                        <p:attrNameLst>
                                          <p:attrName>ppt_x</p:attrName>
                                        </p:attrNameLst>
                                      </p:cBhvr>
                                      <p:tavLst>
                                        <p:tav tm="0">
                                          <p:val>
                                            <p:strVal val="0-#ppt_w/2"/>
                                          </p:val>
                                        </p:tav>
                                        <p:tav tm="100000">
                                          <p:val>
                                            <p:strVal val="#ppt_x"/>
                                          </p:val>
                                        </p:tav>
                                      </p:tavLst>
                                    </p:anim>
                                    <p:anim calcmode="lin" valueType="num">
                                      <p:cBhvr additive="base">
                                        <p:cTn id="8" dur="500" fill="hold"/>
                                        <p:tgtEl>
                                          <p:spTgt spid="44544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45444"/>
                                        </p:tgtEl>
                                        <p:attrNameLst>
                                          <p:attrName>style.visibility</p:attrName>
                                        </p:attrNameLst>
                                      </p:cBhvr>
                                      <p:to>
                                        <p:strVal val="visible"/>
                                      </p:to>
                                    </p:set>
                                    <p:anim calcmode="lin" valueType="num">
                                      <p:cBhvr additive="base">
                                        <p:cTn id="13" dur="500" fill="hold"/>
                                        <p:tgtEl>
                                          <p:spTgt spid="445444"/>
                                        </p:tgtEl>
                                        <p:attrNameLst>
                                          <p:attrName>ppt_x</p:attrName>
                                        </p:attrNameLst>
                                      </p:cBhvr>
                                      <p:tavLst>
                                        <p:tav tm="0">
                                          <p:val>
                                            <p:strVal val="0-#ppt_w/2"/>
                                          </p:val>
                                        </p:tav>
                                        <p:tav tm="100000">
                                          <p:val>
                                            <p:strVal val="#ppt_x"/>
                                          </p:val>
                                        </p:tav>
                                      </p:tavLst>
                                    </p:anim>
                                    <p:anim calcmode="lin" valueType="num">
                                      <p:cBhvr additive="base">
                                        <p:cTn id="14" dur="500" fill="hold"/>
                                        <p:tgtEl>
                                          <p:spTgt spid="44544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45445"/>
                                        </p:tgtEl>
                                        <p:attrNameLst>
                                          <p:attrName>style.visibility</p:attrName>
                                        </p:attrNameLst>
                                      </p:cBhvr>
                                      <p:to>
                                        <p:strVal val="visible"/>
                                      </p:to>
                                    </p:set>
                                    <p:anim calcmode="lin" valueType="num">
                                      <p:cBhvr additive="base">
                                        <p:cTn id="19" dur="500" fill="hold"/>
                                        <p:tgtEl>
                                          <p:spTgt spid="445445"/>
                                        </p:tgtEl>
                                        <p:attrNameLst>
                                          <p:attrName>ppt_x</p:attrName>
                                        </p:attrNameLst>
                                      </p:cBhvr>
                                      <p:tavLst>
                                        <p:tav tm="0">
                                          <p:val>
                                            <p:strVal val="0-#ppt_w/2"/>
                                          </p:val>
                                        </p:tav>
                                        <p:tav tm="100000">
                                          <p:val>
                                            <p:strVal val="#ppt_x"/>
                                          </p:val>
                                        </p:tav>
                                      </p:tavLst>
                                    </p:anim>
                                    <p:anim calcmode="lin" valueType="num">
                                      <p:cBhvr additive="base">
                                        <p:cTn id="20" dur="500" fill="hold"/>
                                        <p:tgtEl>
                                          <p:spTgt spid="445445"/>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45446"/>
                                        </p:tgtEl>
                                        <p:attrNameLst>
                                          <p:attrName>style.visibility</p:attrName>
                                        </p:attrNameLst>
                                      </p:cBhvr>
                                      <p:to>
                                        <p:strVal val="visible"/>
                                      </p:to>
                                    </p:set>
                                    <p:anim calcmode="lin" valueType="num">
                                      <p:cBhvr additive="base">
                                        <p:cTn id="25" dur="500" fill="hold"/>
                                        <p:tgtEl>
                                          <p:spTgt spid="445446"/>
                                        </p:tgtEl>
                                        <p:attrNameLst>
                                          <p:attrName>ppt_x</p:attrName>
                                        </p:attrNameLst>
                                      </p:cBhvr>
                                      <p:tavLst>
                                        <p:tav tm="0">
                                          <p:val>
                                            <p:strVal val="0-#ppt_w/2"/>
                                          </p:val>
                                        </p:tav>
                                        <p:tav tm="100000">
                                          <p:val>
                                            <p:strVal val="#ppt_x"/>
                                          </p:val>
                                        </p:tav>
                                      </p:tavLst>
                                    </p:anim>
                                    <p:anim calcmode="lin" valueType="num">
                                      <p:cBhvr additive="base">
                                        <p:cTn id="26" dur="500" fill="hold"/>
                                        <p:tgtEl>
                                          <p:spTgt spid="445446"/>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45447"/>
                                        </p:tgtEl>
                                        <p:attrNameLst>
                                          <p:attrName>style.visibility</p:attrName>
                                        </p:attrNameLst>
                                      </p:cBhvr>
                                      <p:to>
                                        <p:strVal val="visible"/>
                                      </p:to>
                                    </p:set>
                                    <p:anim calcmode="lin" valueType="num">
                                      <p:cBhvr additive="base">
                                        <p:cTn id="31" dur="500" fill="hold"/>
                                        <p:tgtEl>
                                          <p:spTgt spid="445447"/>
                                        </p:tgtEl>
                                        <p:attrNameLst>
                                          <p:attrName>ppt_x</p:attrName>
                                        </p:attrNameLst>
                                      </p:cBhvr>
                                      <p:tavLst>
                                        <p:tav tm="0">
                                          <p:val>
                                            <p:strVal val="0-#ppt_w/2"/>
                                          </p:val>
                                        </p:tav>
                                        <p:tav tm="100000">
                                          <p:val>
                                            <p:strVal val="#ppt_x"/>
                                          </p:val>
                                        </p:tav>
                                      </p:tavLst>
                                    </p:anim>
                                    <p:anim calcmode="lin" valueType="num">
                                      <p:cBhvr additive="base">
                                        <p:cTn id="32" dur="500" fill="hold"/>
                                        <p:tgtEl>
                                          <p:spTgt spid="445447"/>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445448"/>
                                        </p:tgtEl>
                                        <p:attrNameLst>
                                          <p:attrName>style.visibility</p:attrName>
                                        </p:attrNameLst>
                                      </p:cBhvr>
                                      <p:to>
                                        <p:strVal val="visible"/>
                                      </p:to>
                                    </p:set>
                                    <p:anim calcmode="lin" valueType="num">
                                      <p:cBhvr additive="base">
                                        <p:cTn id="37" dur="500" fill="hold"/>
                                        <p:tgtEl>
                                          <p:spTgt spid="445448"/>
                                        </p:tgtEl>
                                        <p:attrNameLst>
                                          <p:attrName>ppt_x</p:attrName>
                                        </p:attrNameLst>
                                      </p:cBhvr>
                                      <p:tavLst>
                                        <p:tav tm="0">
                                          <p:val>
                                            <p:strVal val="0-#ppt_w/2"/>
                                          </p:val>
                                        </p:tav>
                                        <p:tav tm="100000">
                                          <p:val>
                                            <p:strVal val="#ppt_x"/>
                                          </p:val>
                                        </p:tav>
                                      </p:tavLst>
                                    </p:anim>
                                    <p:anim calcmode="lin" valueType="num">
                                      <p:cBhvr additive="base">
                                        <p:cTn id="38" dur="500" fill="hold"/>
                                        <p:tgtEl>
                                          <p:spTgt spid="445448"/>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445449"/>
                                        </p:tgtEl>
                                        <p:attrNameLst>
                                          <p:attrName>style.visibility</p:attrName>
                                        </p:attrNameLst>
                                      </p:cBhvr>
                                      <p:to>
                                        <p:strVal val="visible"/>
                                      </p:to>
                                    </p:set>
                                    <p:anim calcmode="lin" valueType="num">
                                      <p:cBhvr additive="base">
                                        <p:cTn id="43" dur="500" fill="hold"/>
                                        <p:tgtEl>
                                          <p:spTgt spid="445449"/>
                                        </p:tgtEl>
                                        <p:attrNameLst>
                                          <p:attrName>ppt_x</p:attrName>
                                        </p:attrNameLst>
                                      </p:cBhvr>
                                      <p:tavLst>
                                        <p:tav tm="0">
                                          <p:val>
                                            <p:strVal val="0-#ppt_w/2"/>
                                          </p:val>
                                        </p:tav>
                                        <p:tav tm="100000">
                                          <p:val>
                                            <p:strVal val="#ppt_x"/>
                                          </p:val>
                                        </p:tav>
                                      </p:tavLst>
                                    </p:anim>
                                    <p:anim calcmode="lin" valueType="num">
                                      <p:cBhvr additive="base">
                                        <p:cTn id="44" dur="500" fill="hold"/>
                                        <p:tgtEl>
                                          <p:spTgt spid="445449"/>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nodeType="clickEffect">
                                  <p:stCondLst>
                                    <p:cond delay="0"/>
                                  </p:stCondLst>
                                  <p:childTnLst>
                                    <p:set>
                                      <p:cBhvr>
                                        <p:cTn id="48" dur="1" fill="hold">
                                          <p:stCondLst>
                                            <p:cond delay="0"/>
                                          </p:stCondLst>
                                        </p:cTn>
                                        <p:tgtEl>
                                          <p:spTgt spid="445461"/>
                                        </p:tgtEl>
                                        <p:attrNameLst>
                                          <p:attrName>style.visibility</p:attrName>
                                        </p:attrNameLst>
                                      </p:cBhvr>
                                      <p:to>
                                        <p:strVal val="visible"/>
                                      </p:to>
                                    </p:set>
                                    <p:anim calcmode="lin" valueType="num">
                                      <p:cBhvr additive="base">
                                        <p:cTn id="49" dur="500" fill="hold"/>
                                        <p:tgtEl>
                                          <p:spTgt spid="445461"/>
                                        </p:tgtEl>
                                        <p:attrNameLst>
                                          <p:attrName>ppt_x</p:attrName>
                                        </p:attrNameLst>
                                      </p:cBhvr>
                                      <p:tavLst>
                                        <p:tav tm="0">
                                          <p:val>
                                            <p:strVal val="0-#ppt_w/2"/>
                                          </p:val>
                                        </p:tav>
                                        <p:tav tm="100000">
                                          <p:val>
                                            <p:strVal val="#ppt_x"/>
                                          </p:val>
                                        </p:tav>
                                      </p:tavLst>
                                    </p:anim>
                                    <p:anim calcmode="lin" valueType="num">
                                      <p:cBhvr additive="base">
                                        <p:cTn id="50" dur="500" fill="hold"/>
                                        <p:tgtEl>
                                          <p:spTgt spid="445461"/>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nodeType="clickEffect">
                                  <p:stCondLst>
                                    <p:cond delay="0"/>
                                  </p:stCondLst>
                                  <p:childTnLst>
                                    <p:set>
                                      <p:cBhvr>
                                        <p:cTn id="54" dur="1" fill="hold">
                                          <p:stCondLst>
                                            <p:cond delay="0"/>
                                          </p:stCondLst>
                                        </p:cTn>
                                        <p:tgtEl>
                                          <p:spTgt spid="445462"/>
                                        </p:tgtEl>
                                        <p:attrNameLst>
                                          <p:attrName>style.visibility</p:attrName>
                                        </p:attrNameLst>
                                      </p:cBhvr>
                                      <p:to>
                                        <p:strVal val="visible"/>
                                      </p:to>
                                    </p:set>
                                    <p:anim calcmode="lin" valueType="num">
                                      <p:cBhvr additive="base">
                                        <p:cTn id="55" dur="500" fill="hold"/>
                                        <p:tgtEl>
                                          <p:spTgt spid="445462"/>
                                        </p:tgtEl>
                                        <p:attrNameLst>
                                          <p:attrName>ppt_x</p:attrName>
                                        </p:attrNameLst>
                                      </p:cBhvr>
                                      <p:tavLst>
                                        <p:tav tm="0">
                                          <p:val>
                                            <p:strVal val="0-#ppt_w/2"/>
                                          </p:val>
                                        </p:tav>
                                        <p:tav tm="100000">
                                          <p:val>
                                            <p:strVal val="#ppt_x"/>
                                          </p:val>
                                        </p:tav>
                                      </p:tavLst>
                                    </p:anim>
                                    <p:anim calcmode="lin" valueType="num">
                                      <p:cBhvr additive="base">
                                        <p:cTn id="56" dur="500" fill="hold"/>
                                        <p:tgtEl>
                                          <p:spTgt spid="445462"/>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nodeType="clickEffect">
                                  <p:stCondLst>
                                    <p:cond delay="0"/>
                                  </p:stCondLst>
                                  <p:childTnLst>
                                    <p:set>
                                      <p:cBhvr>
                                        <p:cTn id="60" dur="1" fill="hold">
                                          <p:stCondLst>
                                            <p:cond delay="0"/>
                                          </p:stCondLst>
                                        </p:cTn>
                                        <p:tgtEl>
                                          <p:spTgt spid="445463"/>
                                        </p:tgtEl>
                                        <p:attrNameLst>
                                          <p:attrName>style.visibility</p:attrName>
                                        </p:attrNameLst>
                                      </p:cBhvr>
                                      <p:to>
                                        <p:strVal val="visible"/>
                                      </p:to>
                                    </p:set>
                                    <p:anim calcmode="lin" valueType="num">
                                      <p:cBhvr additive="base">
                                        <p:cTn id="61" dur="500" fill="hold"/>
                                        <p:tgtEl>
                                          <p:spTgt spid="445463"/>
                                        </p:tgtEl>
                                        <p:attrNameLst>
                                          <p:attrName>ppt_x</p:attrName>
                                        </p:attrNameLst>
                                      </p:cBhvr>
                                      <p:tavLst>
                                        <p:tav tm="0">
                                          <p:val>
                                            <p:strVal val="0-#ppt_w/2"/>
                                          </p:val>
                                        </p:tav>
                                        <p:tav tm="100000">
                                          <p:val>
                                            <p:strVal val="#ppt_x"/>
                                          </p:val>
                                        </p:tav>
                                      </p:tavLst>
                                    </p:anim>
                                    <p:anim calcmode="lin" valueType="num">
                                      <p:cBhvr additive="base">
                                        <p:cTn id="62" dur="500" fill="hold"/>
                                        <p:tgtEl>
                                          <p:spTgt spid="445463"/>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445464"/>
                                        </p:tgtEl>
                                        <p:attrNameLst>
                                          <p:attrName>style.visibility</p:attrName>
                                        </p:attrNameLst>
                                      </p:cBhvr>
                                      <p:to>
                                        <p:strVal val="visible"/>
                                      </p:to>
                                    </p:set>
                                    <p:anim calcmode="lin" valueType="num">
                                      <p:cBhvr additive="base">
                                        <p:cTn id="67" dur="500" fill="hold"/>
                                        <p:tgtEl>
                                          <p:spTgt spid="445464"/>
                                        </p:tgtEl>
                                        <p:attrNameLst>
                                          <p:attrName>ppt_x</p:attrName>
                                        </p:attrNameLst>
                                      </p:cBhvr>
                                      <p:tavLst>
                                        <p:tav tm="0">
                                          <p:val>
                                            <p:strVal val="0-#ppt_w/2"/>
                                          </p:val>
                                        </p:tav>
                                        <p:tav tm="100000">
                                          <p:val>
                                            <p:strVal val="#ppt_x"/>
                                          </p:val>
                                        </p:tav>
                                      </p:tavLst>
                                    </p:anim>
                                    <p:anim calcmode="lin" valueType="num">
                                      <p:cBhvr additive="base">
                                        <p:cTn id="68" dur="500" fill="hold"/>
                                        <p:tgtEl>
                                          <p:spTgt spid="445464"/>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445466"/>
                                        </p:tgtEl>
                                        <p:attrNameLst>
                                          <p:attrName>style.visibility</p:attrName>
                                        </p:attrNameLst>
                                      </p:cBhvr>
                                      <p:to>
                                        <p:strVal val="visible"/>
                                      </p:to>
                                    </p:set>
                                    <p:anim calcmode="lin" valueType="num">
                                      <p:cBhvr additive="base">
                                        <p:cTn id="73" dur="500" fill="hold"/>
                                        <p:tgtEl>
                                          <p:spTgt spid="445466"/>
                                        </p:tgtEl>
                                        <p:attrNameLst>
                                          <p:attrName>ppt_x</p:attrName>
                                        </p:attrNameLst>
                                      </p:cBhvr>
                                      <p:tavLst>
                                        <p:tav tm="0">
                                          <p:val>
                                            <p:strVal val="0-#ppt_w/2"/>
                                          </p:val>
                                        </p:tav>
                                        <p:tav tm="100000">
                                          <p:val>
                                            <p:strVal val="#ppt_x"/>
                                          </p:val>
                                        </p:tav>
                                      </p:tavLst>
                                    </p:anim>
                                    <p:anim calcmode="lin" valueType="num">
                                      <p:cBhvr additive="base">
                                        <p:cTn id="74" dur="500" fill="hold"/>
                                        <p:tgtEl>
                                          <p:spTgt spid="445466"/>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8" fill="hold" grpId="0" nodeType="clickEffect">
                                  <p:stCondLst>
                                    <p:cond delay="0"/>
                                  </p:stCondLst>
                                  <p:childTnLst>
                                    <p:set>
                                      <p:cBhvr>
                                        <p:cTn id="78" dur="1" fill="hold">
                                          <p:stCondLst>
                                            <p:cond delay="0"/>
                                          </p:stCondLst>
                                        </p:cTn>
                                        <p:tgtEl>
                                          <p:spTgt spid="445465"/>
                                        </p:tgtEl>
                                        <p:attrNameLst>
                                          <p:attrName>style.visibility</p:attrName>
                                        </p:attrNameLst>
                                      </p:cBhvr>
                                      <p:to>
                                        <p:strVal val="visible"/>
                                      </p:to>
                                    </p:set>
                                    <p:anim calcmode="lin" valueType="num">
                                      <p:cBhvr additive="base">
                                        <p:cTn id="79" dur="500" fill="hold"/>
                                        <p:tgtEl>
                                          <p:spTgt spid="445465"/>
                                        </p:tgtEl>
                                        <p:attrNameLst>
                                          <p:attrName>ppt_x</p:attrName>
                                        </p:attrNameLst>
                                      </p:cBhvr>
                                      <p:tavLst>
                                        <p:tav tm="0">
                                          <p:val>
                                            <p:strVal val="0-#ppt_w/2"/>
                                          </p:val>
                                        </p:tav>
                                        <p:tav tm="100000">
                                          <p:val>
                                            <p:strVal val="#ppt_x"/>
                                          </p:val>
                                        </p:tav>
                                      </p:tavLst>
                                    </p:anim>
                                    <p:anim calcmode="lin" valueType="num">
                                      <p:cBhvr additive="base">
                                        <p:cTn id="80" dur="500" fill="hold"/>
                                        <p:tgtEl>
                                          <p:spTgt spid="44546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5443" grpId="0"/>
      <p:bldP spid="445444" grpId="0"/>
      <p:bldP spid="445445" grpId="0"/>
      <p:bldP spid="445446" grpId="0"/>
      <p:bldP spid="445447" grpId="0"/>
      <p:bldP spid="445448" grpId="0"/>
      <p:bldP spid="445464" grpId="0"/>
      <p:bldP spid="445465" grpId="0"/>
      <p:bldP spid="445466"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标题 446465"/>
          <p:cNvSpPr>
            <a:spLocks noGrp="1" noRot="1"/>
          </p:cNvSpPr>
          <p:nvPr>
            <p:ph type="title"/>
          </p:nvPr>
        </p:nvSpPr>
        <p:spPr>
          <a:ln/>
        </p:spPr>
        <p:txBody>
          <a:bodyPr anchor="ctr"/>
          <a:lstStyle/>
          <a:p>
            <a:r>
              <a:rPr lang="en-US" altLang="zh-CN" sz="3200" b="1" dirty="0"/>
              <a:t>[</a:t>
            </a:r>
            <a:r>
              <a:rPr lang="zh-CN" altLang="en-US" sz="3200" b="1" dirty="0">
                <a:solidFill>
                  <a:srgbClr val="0000FF"/>
                </a:solidFill>
              </a:rPr>
              <a:t>生活常识</a:t>
            </a:r>
            <a:r>
              <a:rPr lang="en-US" altLang="zh-CN" sz="3200" b="1" dirty="0"/>
              <a:t>]</a:t>
            </a:r>
          </a:p>
        </p:txBody>
      </p:sp>
      <p:sp>
        <p:nvSpPr>
          <p:cNvPr id="51202" name="矩形 446466"/>
          <p:cNvSpPr/>
          <p:nvPr/>
        </p:nvSpPr>
        <p:spPr>
          <a:xfrm>
            <a:off x="2362200" y="762000"/>
            <a:ext cx="6242050" cy="838200"/>
          </a:xfrm>
          <a:prstGeom prst="rect">
            <a:avLst/>
          </a:prstGeom>
          <a:noFill/>
          <a:ln w="9525">
            <a:noFill/>
          </a:ln>
        </p:spPr>
        <p:txBody>
          <a:bodyPr anchor="b"/>
          <a:lstStyle/>
          <a:p>
            <a:pPr>
              <a:buClr>
                <a:schemeClr val="bg1"/>
              </a:buClr>
            </a:pPr>
            <a:endParaRPr lang="en-US" altLang="zh-CN" sz="2400" b="1" dirty="0" smtClean="0">
              <a:solidFill>
                <a:srgbClr val="040404"/>
              </a:solidFill>
              <a:latin typeface="Times New Roman" panose="02020603050405020304" pitchFamily="18" charset="0"/>
            </a:endParaRPr>
          </a:p>
          <a:p>
            <a:pPr>
              <a:buClr>
                <a:schemeClr val="bg1"/>
              </a:buClr>
            </a:pPr>
            <a:r>
              <a:rPr lang="zh-CN" altLang="en-US" sz="2400" b="1" dirty="0" smtClean="0">
                <a:solidFill>
                  <a:srgbClr val="040404"/>
                </a:solidFill>
                <a:latin typeface="Times New Roman" panose="02020603050405020304" pitchFamily="18" charset="0"/>
              </a:rPr>
              <a:t>根据</a:t>
            </a:r>
            <a:r>
              <a:rPr lang="zh-CN" altLang="en-US" sz="2400" b="1" dirty="0">
                <a:solidFill>
                  <a:srgbClr val="040404"/>
                </a:solidFill>
                <a:latin typeface="Times New Roman" panose="02020603050405020304" pitchFamily="18" charset="0"/>
              </a:rPr>
              <a:t>维生素的性质，想想，平时炒菜时应怎样做才能保存维生素？</a:t>
            </a:r>
          </a:p>
        </p:txBody>
      </p:sp>
      <p:sp>
        <p:nvSpPr>
          <p:cNvPr id="446468" name="矩形 446467"/>
          <p:cNvSpPr/>
          <p:nvPr/>
        </p:nvSpPr>
        <p:spPr>
          <a:xfrm>
            <a:off x="533400" y="1600200"/>
            <a:ext cx="3111500" cy="457200"/>
          </a:xfrm>
          <a:prstGeom prst="rect">
            <a:avLst/>
          </a:prstGeom>
          <a:noFill/>
          <a:ln w="9525">
            <a:noFill/>
          </a:ln>
        </p:spPr>
        <p:txBody>
          <a:bodyPr wrap="none" anchor="t">
            <a:spAutoFit/>
          </a:bodyPr>
          <a:lstStyle/>
          <a:p>
            <a:pPr>
              <a:buClr>
                <a:schemeClr val="bg1"/>
              </a:buClr>
            </a:pPr>
            <a:r>
              <a:rPr lang="en-US" altLang="zh-CN" sz="2400" b="1">
                <a:solidFill>
                  <a:srgbClr val="003333"/>
                </a:solidFill>
                <a:latin typeface="Arial" panose="020B0604020202020204" pitchFamily="34" charset="0"/>
              </a:rPr>
              <a:t>1</a:t>
            </a:r>
            <a:r>
              <a:rPr lang="zh-CN" altLang="en-US" sz="2400" b="1" dirty="0">
                <a:solidFill>
                  <a:srgbClr val="003333"/>
                </a:solidFill>
                <a:latin typeface="Arial" panose="020B0604020202020204" pitchFamily="34" charset="0"/>
              </a:rPr>
              <a:t>、择菜尽量保留老叶</a:t>
            </a:r>
          </a:p>
        </p:txBody>
      </p:sp>
      <p:sp>
        <p:nvSpPr>
          <p:cNvPr id="446469" name="矩形 446468"/>
          <p:cNvSpPr/>
          <p:nvPr/>
        </p:nvSpPr>
        <p:spPr>
          <a:xfrm>
            <a:off x="457200" y="2057400"/>
            <a:ext cx="4876800" cy="457200"/>
          </a:xfrm>
          <a:prstGeom prst="rect">
            <a:avLst/>
          </a:prstGeom>
          <a:noFill/>
          <a:ln w="9525">
            <a:noFill/>
          </a:ln>
        </p:spPr>
        <p:txBody>
          <a:bodyPr anchor="t">
            <a:spAutoFit/>
          </a:bodyPr>
          <a:lstStyle/>
          <a:p>
            <a:r>
              <a:rPr lang="zh-CN" altLang="en-US" sz="2400" b="1" dirty="0">
                <a:solidFill>
                  <a:srgbClr val="003333"/>
                </a:solidFill>
                <a:latin typeface="Arial" panose="020B0604020202020204" pitchFamily="34" charset="0"/>
              </a:rPr>
              <a:t> </a:t>
            </a:r>
            <a:r>
              <a:rPr lang="en-US" altLang="zh-CN" sz="2400" b="1">
                <a:solidFill>
                  <a:srgbClr val="003333"/>
                </a:solidFill>
                <a:latin typeface="Arial" panose="020B0604020202020204" pitchFamily="34" charset="0"/>
              </a:rPr>
              <a:t>2</a:t>
            </a:r>
            <a:r>
              <a:rPr lang="zh-CN" altLang="en-US" sz="2400" b="1" dirty="0">
                <a:solidFill>
                  <a:srgbClr val="003333"/>
                </a:solidFill>
                <a:latin typeface="Arial" panose="020B0604020202020204" pitchFamily="34" charset="0"/>
              </a:rPr>
              <a:t>、</a:t>
            </a:r>
            <a:r>
              <a:rPr lang="zh-CN" altLang="en-US" sz="2400" b="1" dirty="0">
                <a:solidFill>
                  <a:srgbClr val="003333"/>
                </a:solidFill>
                <a:latin typeface="宋体" panose="02010600030101010101" pitchFamily="2" charset="-122"/>
              </a:rPr>
              <a:t>洗菜要先洗后切</a:t>
            </a:r>
            <a:r>
              <a:rPr lang="zh-CN" altLang="en-US" sz="2400" b="1" dirty="0">
                <a:latin typeface="Times New Roman" panose="02020603050405020304" pitchFamily="18" charset="0"/>
              </a:rPr>
              <a:t> </a:t>
            </a:r>
            <a:endParaRPr lang="zh-CN" altLang="en-US" sz="2400" b="1" dirty="0">
              <a:latin typeface="Arial" panose="020B0604020202020204" pitchFamily="34" charset="0"/>
            </a:endParaRPr>
          </a:p>
        </p:txBody>
      </p:sp>
      <p:sp>
        <p:nvSpPr>
          <p:cNvPr id="446470" name="矩形 446469"/>
          <p:cNvSpPr/>
          <p:nvPr/>
        </p:nvSpPr>
        <p:spPr>
          <a:xfrm>
            <a:off x="533400" y="2590800"/>
            <a:ext cx="3657600" cy="457200"/>
          </a:xfrm>
          <a:prstGeom prst="rect">
            <a:avLst/>
          </a:prstGeom>
          <a:noFill/>
          <a:ln w="9525">
            <a:noFill/>
          </a:ln>
        </p:spPr>
        <p:txBody>
          <a:bodyPr anchor="t">
            <a:spAutoFit/>
          </a:bodyPr>
          <a:lstStyle/>
          <a:p>
            <a:r>
              <a:rPr lang="en-US" altLang="zh-CN" sz="2400" b="1">
                <a:solidFill>
                  <a:srgbClr val="003333"/>
                </a:solidFill>
                <a:latin typeface="Arial" panose="020B0604020202020204" pitchFamily="34" charset="0"/>
              </a:rPr>
              <a:t>3</a:t>
            </a:r>
            <a:r>
              <a:rPr lang="zh-CN" altLang="en-US" sz="2400" b="1" dirty="0">
                <a:solidFill>
                  <a:srgbClr val="003333"/>
                </a:solidFill>
                <a:latin typeface="Arial" panose="020B0604020202020204" pitchFamily="34" charset="0"/>
              </a:rPr>
              <a:t>、</a:t>
            </a:r>
            <a:r>
              <a:rPr lang="zh-CN" altLang="en-US" sz="2400" b="1" dirty="0">
                <a:solidFill>
                  <a:srgbClr val="003333"/>
                </a:solidFill>
                <a:latin typeface="宋体" panose="02010600030101010101" pitchFamily="2" charset="-122"/>
              </a:rPr>
              <a:t>切菜要随切随炒</a:t>
            </a:r>
            <a:r>
              <a:rPr lang="zh-CN" altLang="en-US" sz="2400" b="1" dirty="0">
                <a:latin typeface="Times New Roman" panose="02020603050405020304" pitchFamily="18" charset="0"/>
              </a:rPr>
              <a:t> </a:t>
            </a:r>
            <a:endParaRPr lang="zh-CN" altLang="en-US" sz="2400" b="1" dirty="0">
              <a:latin typeface="Arial" panose="020B0604020202020204" pitchFamily="34" charset="0"/>
            </a:endParaRPr>
          </a:p>
        </p:txBody>
      </p:sp>
      <p:sp>
        <p:nvSpPr>
          <p:cNvPr id="446471" name="矩形 446470"/>
          <p:cNvSpPr/>
          <p:nvPr/>
        </p:nvSpPr>
        <p:spPr>
          <a:xfrm>
            <a:off x="457200" y="3124200"/>
            <a:ext cx="5257800" cy="457200"/>
          </a:xfrm>
          <a:prstGeom prst="rect">
            <a:avLst/>
          </a:prstGeom>
          <a:noFill/>
          <a:ln w="9525">
            <a:noFill/>
          </a:ln>
        </p:spPr>
        <p:txBody>
          <a:bodyPr anchor="t">
            <a:spAutoFit/>
          </a:bodyPr>
          <a:lstStyle/>
          <a:p>
            <a:r>
              <a:rPr lang="zh-CN" altLang="en-US" sz="2400" b="1" dirty="0">
                <a:solidFill>
                  <a:srgbClr val="003333"/>
                </a:solidFill>
                <a:latin typeface="Arial" panose="020B0604020202020204" pitchFamily="34" charset="0"/>
              </a:rPr>
              <a:t> </a:t>
            </a:r>
            <a:r>
              <a:rPr lang="en-US" altLang="zh-CN" sz="2400" b="1">
                <a:solidFill>
                  <a:srgbClr val="003333"/>
                </a:solidFill>
                <a:latin typeface="Arial" panose="020B0604020202020204" pitchFamily="34" charset="0"/>
              </a:rPr>
              <a:t>4</a:t>
            </a:r>
            <a:r>
              <a:rPr lang="zh-CN" altLang="en-US" sz="2400" b="1" dirty="0">
                <a:solidFill>
                  <a:srgbClr val="003333"/>
                </a:solidFill>
                <a:latin typeface="Arial" panose="020B0604020202020204" pitchFamily="34" charset="0"/>
              </a:rPr>
              <a:t>、</a:t>
            </a:r>
            <a:r>
              <a:rPr lang="zh-CN" altLang="en-US" sz="2400" b="1" dirty="0">
                <a:solidFill>
                  <a:srgbClr val="003333"/>
                </a:solidFill>
                <a:latin typeface="宋体" panose="02010600030101010101" pitchFamily="2" charset="-122"/>
              </a:rPr>
              <a:t>烹调蔬菜时适当加点醋</a:t>
            </a:r>
            <a:r>
              <a:rPr lang="zh-CN" altLang="en-US" sz="2400" b="1" dirty="0">
                <a:latin typeface="Times New Roman" panose="02020603050405020304" pitchFamily="18" charset="0"/>
              </a:rPr>
              <a:t> </a:t>
            </a:r>
            <a:endParaRPr lang="zh-CN" altLang="en-US" sz="2400" b="1" dirty="0">
              <a:latin typeface="Arial" panose="020B0604020202020204" pitchFamily="34" charset="0"/>
            </a:endParaRPr>
          </a:p>
        </p:txBody>
      </p:sp>
      <p:sp>
        <p:nvSpPr>
          <p:cNvPr id="446472" name="矩形 446471"/>
          <p:cNvSpPr/>
          <p:nvPr/>
        </p:nvSpPr>
        <p:spPr>
          <a:xfrm>
            <a:off x="457200" y="3733800"/>
            <a:ext cx="6477000" cy="457200"/>
          </a:xfrm>
          <a:prstGeom prst="rect">
            <a:avLst/>
          </a:prstGeom>
          <a:noFill/>
          <a:ln w="9525">
            <a:noFill/>
          </a:ln>
        </p:spPr>
        <p:txBody>
          <a:bodyPr anchor="t">
            <a:spAutoFit/>
          </a:bodyPr>
          <a:lstStyle/>
          <a:p>
            <a:r>
              <a:rPr lang="zh-CN" altLang="en-US" sz="2400" b="1" dirty="0">
                <a:solidFill>
                  <a:srgbClr val="003333"/>
                </a:solidFill>
                <a:latin typeface="Arial" panose="020B0604020202020204" pitchFamily="34" charset="0"/>
              </a:rPr>
              <a:t> </a:t>
            </a:r>
            <a:r>
              <a:rPr lang="en-US" altLang="zh-CN" sz="2400" b="1">
                <a:solidFill>
                  <a:srgbClr val="003333"/>
                </a:solidFill>
                <a:latin typeface="Arial" panose="020B0604020202020204" pitchFamily="34" charset="0"/>
              </a:rPr>
              <a:t>5</a:t>
            </a:r>
            <a:r>
              <a:rPr lang="zh-CN" altLang="en-US" sz="2400" b="1" dirty="0">
                <a:solidFill>
                  <a:srgbClr val="003333"/>
                </a:solidFill>
                <a:latin typeface="Arial" panose="020B0604020202020204" pitchFamily="34" charset="0"/>
              </a:rPr>
              <a:t>、 </a:t>
            </a:r>
            <a:r>
              <a:rPr lang="zh-CN" altLang="en-US" sz="2400" b="1" dirty="0">
                <a:solidFill>
                  <a:srgbClr val="003333"/>
                </a:solidFill>
                <a:latin typeface="宋体" panose="02010600030101010101" pitchFamily="2" charset="-122"/>
              </a:rPr>
              <a:t>炒菜一定要快</a:t>
            </a:r>
            <a:r>
              <a:rPr lang="zh-CN" altLang="en-US" sz="2400" b="1" dirty="0">
                <a:latin typeface="Times New Roman" panose="02020603050405020304" pitchFamily="18" charset="0"/>
              </a:rPr>
              <a:t> </a:t>
            </a:r>
            <a:endParaRPr lang="zh-CN" altLang="en-US" sz="2400" b="1" dirty="0">
              <a:latin typeface="Arial" panose="020B0604020202020204" pitchFamily="34" charset="0"/>
            </a:endParaRPr>
          </a:p>
        </p:txBody>
      </p:sp>
      <p:sp>
        <p:nvSpPr>
          <p:cNvPr id="51209" name="灯片编号占位符 1"/>
          <p:cNvSpPr>
            <a:spLocks noGrp="1"/>
          </p:cNvSpPr>
          <p:nvPr>
            <p:ph type="sldNum" sz="quarter" idx="11"/>
          </p:nvPr>
        </p:nvSpPr>
        <p:spPr>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400" dirty="0"/>
              <a:pPr lvl="0" indent="0" algn="r"/>
              <a:t>50</a:t>
            </a:fld>
            <a:endParaRPr lang="zh-CN" altLang="en-US" sz="1400" dirty="0"/>
          </a:p>
        </p:txBody>
      </p:sp>
      <p:pic>
        <p:nvPicPr>
          <p:cNvPr id="55298" name="Picture 2" descr="http://upload.vodjk.com/2016/0122/1453455797859.jpg"/>
          <p:cNvPicPr>
            <a:picLocks noChangeAspect="1" noChangeArrowheads="1"/>
          </p:cNvPicPr>
          <p:nvPr/>
        </p:nvPicPr>
        <p:blipFill>
          <a:blip r:embed="rId2" cstate="print"/>
          <a:srcRect/>
          <a:stretch>
            <a:fillRect/>
          </a:stretch>
        </p:blipFill>
        <p:spPr bwMode="auto">
          <a:xfrm>
            <a:off x="4467225" y="3962400"/>
            <a:ext cx="4295775" cy="2667000"/>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46468"/>
                                        </p:tgtEl>
                                        <p:attrNameLst>
                                          <p:attrName>style.visibility</p:attrName>
                                        </p:attrNameLst>
                                      </p:cBhvr>
                                      <p:to>
                                        <p:strVal val="visible"/>
                                      </p:to>
                                    </p:set>
                                    <p:anim calcmode="lin" valueType="num">
                                      <p:cBhvr additive="base">
                                        <p:cTn id="7" dur="500" fill="hold"/>
                                        <p:tgtEl>
                                          <p:spTgt spid="446468"/>
                                        </p:tgtEl>
                                        <p:attrNameLst>
                                          <p:attrName>ppt_x</p:attrName>
                                        </p:attrNameLst>
                                      </p:cBhvr>
                                      <p:tavLst>
                                        <p:tav tm="0">
                                          <p:val>
                                            <p:strVal val="0-#ppt_w/2"/>
                                          </p:val>
                                        </p:tav>
                                        <p:tav tm="100000">
                                          <p:val>
                                            <p:strVal val="#ppt_x"/>
                                          </p:val>
                                        </p:tav>
                                      </p:tavLst>
                                    </p:anim>
                                    <p:anim calcmode="lin" valueType="num">
                                      <p:cBhvr additive="base">
                                        <p:cTn id="8" dur="500" fill="hold"/>
                                        <p:tgtEl>
                                          <p:spTgt spid="44646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46469"/>
                                        </p:tgtEl>
                                        <p:attrNameLst>
                                          <p:attrName>style.visibility</p:attrName>
                                        </p:attrNameLst>
                                      </p:cBhvr>
                                      <p:to>
                                        <p:strVal val="visible"/>
                                      </p:to>
                                    </p:set>
                                    <p:anim calcmode="lin" valueType="num">
                                      <p:cBhvr additive="base">
                                        <p:cTn id="13" dur="500" fill="hold"/>
                                        <p:tgtEl>
                                          <p:spTgt spid="446469"/>
                                        </p:tgtEl>
                                        <p:attrNameLst>
                                          <p:attrName>ppt_x</p:attrName>
                                        </p:attrNameLst>
                                      </p:cBhvr>
                                      <p:tavLst>
                                        <p:tav tm="0">
                                          <p:val>
                                            <p:strVal val="0-#ppt_w/2"/>
                                          </p:val>
                                        </p:tav>
                                        <p:tav tm="100000">
                                          <p:val>
                                            <p:strVal val="#ppt_x"/>
                                          </p:val>
                                        </p:tav>
                                      </p:tavLst>
                                    </p:anim>
                                    <p:anim calcmode="lin" valueType="num">
                                      <p:cBhvr additive="base">
                                        <p:cTn id="14" dur="500" fill="hold"/>
                                        <p:tgtEl>
                                          <p:spTgt spid="44646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46470"/>
                                        </p:tgtEl>
                                        <p:attrNameLst>
                                          <p:attrName>style.visibility</p:attrName>
                                        </p:attrNameLst>
                                      </p:cBhvr>
                                      <p:to>
                                        <p:strVal val="visible"/>
                                      </p:to>
                                    </p:set>
                                    <p:anim calcmode="lin" valueType="num">
                                      <p:cBhvr additive="base">
                                        <p:cTn id="19" dur="500" fill="hold"/>
                                        <p:tgtEl>
                                          <p:spTgt spid="446470"/>
                                        </p:tgtEl>
                                        <p:attrNameLst>
                                          <p:attrName>ppt_x</p:attrName>
                                        </p:attrNameLst>
                                      </p:cBhvr>
                                      <p:tavLst>
                                        <p:tav tm="0">
                                          <p:val>
                                            <p:strVal val="0-#ppt_w/2"/>
                                          </p:val>
                                        </p:tav>
                                        <p:tav tm="100000">
                                          <p:val>
                                            <p:strVal val="#ppt_x"/>
                                          </p:val>
                                        </p:tav>
                                      </p:tavLst>
                                    </p:anim>
                                    <p:anim calcmode="lin" valueType="num">
                                      <p:cBhvr additive="base">
                                        <p:cTn id="20" dur="500" fill="hold"/>
                                        <p:tgtEl>
                                          <p:spTgt spid="446470"/>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46471"/>
                                        </p:tgtEl>
                                        <p:attrNameLst>
                                          <p:attrName>style.visibility</p:attrName>
                                        </p:attrNameLst>
                                      </p:cBhvr>
                                      <p:to>
                                        <p:strVal val="visible"/>
                                      </p:to>
                                    </p:set>
                                    <p:anim calcmode="lin" valueType="num">
                                      <p:cBhvr additive="base">
                                        <p:cTn id="25" dur="500" fill="hold"/>
                                        <p:tgtEl>
                                          <p:spTgt spid="446471"/>
                                        </p:tgtEl>
                                        <p:attrNameLst>
                                          <p:attrName>ppt_x</p:attrName>
                                        </p:attrNameLst>
                                      </p:cBhvr>
                                      <p:tavLst>
                                        <p:tav tm="0">
                                          <p:val>
                                            <p:strVal val="0-#ppt_w/2"/>
                                          </p:val>
                                        </p:tav>
                                        <p:tav tm="100000">
                                          <p:val>
                                            <p:strVal val="#ppt_x"/>
                                          </p:val>
                                        </p:tav>
                                      </p:tavLst>
                                    </p:anim>
                                    <p:anim calcmode="lin" valueType="num">
                                      <p:cBhvr additive="base">
                                        <p:cTn id="26" dur="500" fill="hold"/>
                                        <p:tgtEl>
                                          <p:spTgt spid="446471"/>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46472"/>
                                        </p:tgtEl>
                                        <p:attrNameLst>
                                          <p:attrName>style.visibility</p:attrName>
                                        </p:attrNameLst>
                                      </p:cBhvr>
                                      <p:to>
                                        <p:strVal val="visible"/>
                                      </p:to>
                                    </p:set>
                                    <p:anim calcmode="lin" valueType="num">
                                      <p:cBhvr additive="base">
                                        <p:cTn id="31" dur="500" fill="hold"/>
                                        <p:tgtEl>
                                          <p:spTgt spid="446472"/>
                                        </p:tgtEl>
                                        <p:attrNameLst>
                                          <p:attrName>ppt_x</p:attrName>
                                        </p:attrNameLst>
                                      </p:cBhvr>
                                      <p:tavLst>
                                        <p:tav tm="0">
                                          <p:val>
                                            <p:strVal val="0-#ppt_w/2"/>
                                          </p:val>
                                        </p:tav>
                                        <p:tav tm="100000">
                                          <p:val>
                                            <p:strVal val="#ppt_x"/>
                                          </p:val>
                                        </p:tav>
                                      </p:tavLst>
                                    </p:anim>
                                    <p:anim calcmode="lin" valueType="num">
                                      <p:cBhvr additive="base">
                                        <p:cTn id="32" dur="500" fill="hold"/>
                                        <p:tgtEl>
                                          <p:spTgt spid="44647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6468" grpId="0"/>
      <p:bldP spid="446469" grpId="0"/>
      <p:bldP spid="446470" grpId="0"/>
      <p:bldP spid="446471" grpId="0"/>
      <p:bldP spid="446472"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文本占位符 447489"/>
          <p:cNvSpPr>
            <a:spLocks noGrp="1" noRot="1"/>
          </p:cNvSpPr>
          <p:nvPr>
            <p:ph idx="1"/>
          </p:nvPr>
        </p:nvSpPr>
        <p:spPr>
          <a:xfrm>
            <a:off x="457200" y="600710"/>
            <a:ext cx="8229600" cy="4525963"/>
          </a:xfrm>
          <a:ln/>
        </p:spPr>
        <p:txBody>
          <a:bodyPr anchor="t"/>
          <a:lstStyle/>
          <a:p>
            <a:pPr>
              <a:lnSpc>
                <a:spcPct val="90000"/>
              </a:lnSpc>
              <a:buNone/>
            </a:pPr>
            <a:r>
              <a:rPr lang="zh-CN" altLang="en-US" sz="2800" b="1" dirty="0">
                <a:solidFill>
                  <a:srgbClr val="CC3300"/>
                </a:solidFill>
              </a:rPr>
              <a:t>（</a:t>
            </a:r>
            <a:r>
              <a:rPr lang="en-US" altLang="zh-CN" sz="2800" b="1">
                <a:solidFill>
                  <a:srgbClr val="CC3300"/>
                </a:solidFill>
              </a:rPr>
              <a:t>4</a:t>
            </a:r>
            <a:r>
              <a:rPr lang="zh-CN" altLang="en-US" sz="2800" b="1" dirty="0">
                <a:solidFill>
                  <a:srgbClr val="CC3300"/>
                </a:solidFill>
              </a:rPr>
              <a:t>）维生素</a:t>
            </a:r>
            <a:r>
              <a:rPr lang="en-US" altLang="zh-CN" sz="2800" b="1">
                <a:solidFill>
                  <a:srgbClr val="CC3300"/>
                </a:solidFill>
              </a:rPr>
              <a:t>C</a:t>
            </a:r>
            <a:r>
              <a:rPr lang="zh-CN" altLang="en-US" sz="2800" b="1">
                <a:solidFill>
                  <a:srgbClr val="CC3300"/>
                </a:solidFill>
              </a:rPr>
              <a:t>在</a:t>
            </a:r>
            <a:r>
              <a:rPr lang="zh-CN" altLang="en-US" sz="2800" b="1" dirty="0">
                <a:solidFill>
                  <a:srgbClr val="CC3300"/>
                </a:solidFill>
              </a:rPr>
              <a:t>人体中的功能</a:t>
            </a:r>
            <a:endParaRPr lang="zh-CN" altLang="en-US" sz="2800" b="1">
              <a:solidFill>
                <a:srgbClr val="CC3300"/>
              </a:solidFill>
            </a:endParaRPr>
          </a:p>
        </p:txBody>
      </p:sp>
      <p:sp>
        <p:nvSpPr>
          <p:cNvPr id="447491" name="矩形 447490"/>
          <p:cNvSpPr/>
          <p:nvPr/>
        </p:nvSpPr>
        <p:spPr>
          <a:xfrm>
            <a:off x="685800" y="1905000"/>
            <a:ext cx="8077200" cy="457200"/>
          </a:xfrm>
          <a:prstGeom prst="rect">
            <a:avLst/>
          </a:prstGeom>
          <a:noFill/>
          <a:ln w="9525">
            <a:noFill/>
          </a:ln>
        </p:spPr>
        <p:txBody>
          <a:bodyPr anchor="t">
            <a:spAutoFit/>
          </a:bodyPr>
          <a:lstStyle/>
          <a:p>
            <a:pPr>
              <a:buClr>
                <a:schemeClr val="bg1"/>
              </a:buClr>
            </a:pPr>
            <a:r>
              <a:rPr lang="en-US" altLang="zh-CN" sz="2400" b="1">
                <a:solidFill>
                  <a:srgbClr val="0C0B0A"/>
                </a:solidFill>
                <a:latin typeface="Arial" panose="020B0604020202020204" pitchFamily="34" charset="0"/>
              </a:rPr>
              <a:t>A</a:t>
            </a:r>
            <a:r>
              <a:rPr lang="zh-CN" altLang="en-US" sz="2400" b="1">
                <a:solidFill>
                  <a:srgbClr val="0C0B0A"/>
                </a:solidFill>
                <a:latin typeface="Arial" panose="020B0604020202020204" pitchFamily="34" charset="0"/>
              </a:rPr>
              <a:t>、</a:t>
            </a:r>
            <a:r>
              <a:rPr lang="zh-CN" altLang="en-US" sz="2400" b="1" dirty="0">
                <a:solidFill>
                  <a:srgbClr val="0C0B0A"/>
                </a:solidFill>
                <a:latin typeface="Arial" panose="020B0604020202020204" pitchFamily="34" charset="0"/>
              </a:rPr>
              <a:t>参与体内的氧化还原反应，维持细胞间质的正常结构；</a:t>
            </a:r>
          </a:p>
        </p:txBody>
      </p:sp>
      <p:sp>
        <p:nvSpPr>
          <p:cNvPr id="447492" name="矩形 447491"/>
          <p:cNvSpPr/>
          <p:nvPr/>
        </p:nvSpPr>
        <p:spPr>
          <a:xfrm>
            <a:off x="685800" y="2438400"/>
            <a:ext cx="8064500" cy="457200"/>
          </a:xfrm>
          <a:prstGeom prst="rect">
            <a:avLst/>
          </a:prstGeom>
          <a:noFill/>
          <a:ln w="9525">
            <a:noFill/>
          </a:ln>
        </p:spPr>
        <p:txBody>
          <a:bodyPr wrap="none" anchor="t">
            <a:spAutoFit/>
          </a:bodyPr>
          <a:lstStyle/>
          <a:p>
            <a:pPr>
              <a:buClr>
                <a:schemeClr val="bg1"/>
              </a:buClr>
            </a:pPr>
            <a:r>
              <a:rPr lang="en-US" altLang="zh-CN" sz="2400" b="1">
                <a:solidFill>
                  <a:srgbClr val="0C0B0A"/>
                </a:solidFill>
                <a:latin typeface="Arial" panose="020B0604020202020204" pitchFamily="34" charset="0"/>
              </a:rPr>
              <a:t>B</a:t>
            </a:r>
            <a:r>
              <a:rPr lang="zh-CN" altLang="en-US" sz="2400" b="1">
                <a:solidFill>
                  <a:srgbClr val="0C0B0A"/>
                </a:solidFill>
                <a:latin typeface="Arial" panose="020B0604020202020204" pitchFamily="34" charset="0"/>
              </a:rPr>
              <a:t>、</a:t>
            </a:r>
            <a:r>
              <a:rPr lang="zh-CN" altLang="en-US" sz="2400" b="1" dirty="0">
                <a:solidFill>
                  <a:srgbClr val="0C0B0A"/>
                </a:solidFill>
                <a:latin typeface="Arial" panose="020B0604020202020204" pitchFamily="34" charset="0"/>
              </a:rPr>
              <a:t>促进伤口愈合，维持牙齿、骨骼、血管和肌肉的组成；</a:t>
            </a:r>
          </a:p>
        </p:txBody>
      </p:sp>
      <p:sp>
        <p:nvSpPr>
          <p:cNvPr id="447493" name="矩形 447492"/>
          <p:cNvSpPr/>
          <p:nvPr/>
        </p:nvSpPr>
        <p:spPr>
          <a:xfrm>
            <a:off x="685800" y="2971800"/>
            <a:ext cx="5307013" cy="457200"/>
          </a:xfrm>
          <a:prstGeom prst="rect">
            <a:avLst/>
          </a:prstGeom>
          <a:noFill/>
          <a:ln w="9525">
            <a:noFill/>
          </a:ln>
        </p:spPr>
        <p:txBody>
          <a:bodyPr wrap="none" anchor="t">
            <a:spAutoFit/>
          </a:bodyPr>
          <a:lstStyle/>
          <a:p>
            <a:pPr>
              <a:buClr>
                <a:schemeClr val="bg1"/>
              </a:buClr>
            </a:pPr>
            <a:r>
              <a:rPr lang="en-US" altLang="zh-CN" sz="2400" b="1">
                <a:solidFill>
                  <a:srgbClr val="0C0B0A"/>
                </a:solidFill>
                <a:latin typeface="Arial" panose="020B0604020202020204" pitchFamily="34" charset="0"/>
              </a:rPr>
              <a:t>C</a:t>
            </a:r>
            <a:r>
              <a:rPr lang="zh-CN" altLang="en-US" sz="2400" b="1">
                <a:solidFill>
                  <a:srgbClr val="0C0B0A"/>
                </a:solidFill>
                <a:latin typeface="Arial" panose="020B0604020202020204" pitchFamily="34" charset="0"/>
              </a:rPr>
              <a:t>、</a:t>
            </a:r>
            <a:r>
              <a:rPr lang="zh-CN" altLang="en-US" sz="2400" b="1" dirty="0">
                <a:solidFill>
                  <a:srgbClr val="0C0B0A"/>
                </a:solidFill>
                <a:latin typeface="Arial" panose="020B0604020202020204" pitchFamily="34" charset="0"/>
              </a:rPr>
              <a:t>帮助无机盐和某些氨基酸的吸收；</a:t>
            </a:r>
          </a:p>
        </p:txBody>
      </p:sp>
      <p:sp>
        <p:nvSpPr>
          <p:cNvPr id="447494" name="矩形 447493"/>
          <p:cNvSpPr/>
          <p:nvPr/>
        </p:nvSpPr>
        <p:spPr>
          <a:xfrm>
            <a:off x="685800" y="3505200"/>
            <a:ext cx="5919788" cy="457200"/>
          </a:xfrm>
          <a:prstGeom prst="rect">
            <a:avLst/>
          </a:prstGeom>
          <a:noFill/>
          <a:ln w="9525">
            <a:noFill/>
          </a:ln>
        </p:spPr>
        <p:txBody>
          <a:bodyPr wrap="none" anchor="t">
            <a:spAutoFit/>
          </a:bodyPr>
          <a:lstStyle/>
          <a:p>
            <a:pPr>
              <a:buClr>
                <a:schemeClr val="bg1"/>
              </a:buClr>
            </a:pPr>
            <a:r>
              <a:rPr lang="en-US" altLang="zh-CN" sz="2400" b="1">
                <a:solidFill>
                  <a:srgbClr val="0C0B0A"/>
                </a:solidFill>
                <a:latin typeface="Arial" panose="020B0604020202020204" pitchFamily="34" charset="0"/>
              </a:rPr>
              <a:t>D</a:t>
            </a:r>
            <a:r>
              <a:rPr lang="zh-CN" altLang="en-US" sz="2400" b="1">
                <a:solidFill>
                  <a:srgbClr val="0C0B0A"/>
                </a:solidFill>
                <a:latin typeface="Arial" panose="020B0604020202020204" pitchFamily="34" charset="0"/>
              </a:rPr>
              <a:t>、</a:t>
            </a:r>
            <a:r>
              <a:rPr lang="zh-CN" altLang="en-US" sz="2400" b="1" dirty="0">
                <a:solidFill>
                  <a:srgbClr val="0C0B0A"/>
                </a:solidFill>
                <a:latin typeface="Arial" panose="020B0604020202020204" pitchFamily="34" charset="0"/>
              </a:rPr>
              <a:t>增强对传染病的抵抗力，有解毒作用；</a:t>
            </a:r>
          </a:p>
        </p:txBody>
      </p:sp>
      <p:sp>
        <p:nvSpPr>
          <p:cNvPr id="447495" name="矩形 447494"/>
          <p:cNvSpPr/>
          <p:nvPr/>
        </p:nvSpPr>
        <p:spPr>
          <a:xfrm>
            <a:off x="1031240" y="1350645"/>
            <a:ext cx="3162300" cy="457200"/>
          </a:xfrm>
          <a:prstGeom prst="rect">
            <a:avLst/>
          </a:prstGeom>
          <a:noFill/>
          <a:ln w="9525">
            <a:noFill/>
          </a:ln>
        </p:spPr>
        <p:txBody>
          <a:bodyPr wrap="none" anchor="t">
            <a:spAutoFit/>
          </a:bodyPr>
          <a:lstStyle/>
          <a:p>
            <a:pPr>
              <a:buClr>
                <a:schemeClr val="bg1"/>
              </a:buClr>
            </a:pPr>
            <a:r>
              <a:rPr lang="zh-CN" altLang="en-US" sz="2400" b="1" dirty="0">
                <a:solidFill>
                  <a:srgbClr val="CC0066"/>
                </a:solidFill>
                <a:latin typeface="Arial" panose="020B0604020202020204" pitchFamily="34" charset="0"/>
              </a:rPr>
              <a:t>维生素</a:t>
            </a:r>
            <a:r>
              <a:rPr lang="en-US" altLang="zh-CN" sz="2400" b="1">
                <a:solidFill>
                  <a:srgbClr val="CC0066"/>
                </a:solidFill>
                <a:latin typeface="Arial" panose="020B0604020202020204" pitchFamily="34" charset="0"/>
              </a:rPr>
              <a:t>C</a:t>
            </a:r>
            <a:r>
              <a:rPr lang="zh-CN" altLang="en-US" sz="2400" b="1" dirty="0">
                <a:solidFill>
                  <a:srgbClr val="0C0B0A"/>
                </a:solidFill>
                <a:latin typeface="Arial" panose="020B0604020202020204" pitchFamily="34" charset="0"/>
              </a:rPr>
              <a:t>又称</a:t>
            </a:r>
            <a:r>
              <a:rPr lang="zh-CN" altLang="en-US" sz="2400" b="1" dirty="0">
                <a:solidFill>
                  <a:srgbClr val="FF3300"/>
                </a:solidFill>
                <a:latin typeface="Arial" panose="020B0604020202020204" pitchFamily="34" charset="0"/>
              </a:rPr>
              <a:t>抗坏血酸</a:t>
            </a:r>
          </a:p>
        </p:txBody>
      </p:sp>
      <p:sp>
        <p:nvSpPr>
          <p:cNvPr id="447496" name="矩形 447495"/>
          <p:cNvSpPr/>
          <p:nvPr/>
        </p:nvSpPr>
        <p:spPr>
          <a:xfrm>
            <a:off x="685800" y="4038600"/>
            <a:ext cx="6515100" cy="457200"/>
          </a:xfrm>
          <a:prstGeom prst="rect">
            <a:avLst/>
          </a:prstGeom>
          <a:noFill/>
          <a:ln w="9525">
            <a:noFill/>
          </a:ln>
        </p:spPr>
        <p:txBody>
          <a:bodyPr wrap="none" anchor="t">
            <a:spAutoFit/>
          </a:bodyPr>
          <a:lstStyle/>
          <a:p>
            <a:pPr>
              <a:buClr>
                <a:schemeClr val="bg1"/>
              </a:buClr>
            </a:pPr>
            <a:r>
              <a:rPr lang="en-US" altLang="zh-CN" sz="2400" b="1">
                <a:solidFill>
                  <a:srgbClr val="0C0B0A"/>
                </a:solidFill>
                <a:latin typeface="Arial" panose="020B0604020202020204" pitchFamily="34" charset="0"/>
              </a:rPr>
              <a:t>E</a:t>
            </a:r>
            <a:r>
              <a:rPr lang="zh-CN" altLang="en-US" sz="2400" b="1">
                <a:solidFill>
                  <a:srgbClr val="0C0B0A"/>
                </a:solidFill>
                <a:latin typeface="Arial" panose="020B0604020202020204" pitchFamily="34" charset="0"/>
              </a:rPr>
              <a:t>、</a:t>
            </a:r>
            <a:r>
              <a:rPr lang="zh-CN" altLang="en-US" sz="2400" b="1" dirty="0">
                <a:solidFill>
                  <a:srgbClr val="0C0B0A"/>
                </a:solidFill>
                <a:latin typeface="Arial" panose="020B0604020202020204" pitchFamily="34" charset="0"/>
              </a:rPr>
              <a:t>有助于防癌，降低胆固醇，防止坏血病等。</a:t>
            </a:r>
          </a:p>
        </p:txBody>
      </p:sp>
      <p:sp>
        <p:nvSpPr>
          <p:cNvPr id="52232" name="灯片编号占位符 1"/>
          <p:cNvSpPr>
            <a:spLocks noGrp="1"/>
          </p:cNvSpPr>
          <p:nvPr>
            <p:ph type="sldNum" sz="quarter" idx="11"/>
          </p:nvPr>
        </p:nvSpPr>
        <p:spPr>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400" dirty="0"/>
              <a:pPr lvl="0" indent="0" algn="r"/>
              <a:t>51</a:t>
            </a:fld>
            <a:endParaRPr lang="zh-CN" altLang="en-US" sz="1400" dirty="0"/>
          </a:p>
        </p:txBody>
      </p:sp>
      <p:pic>
        <p:nvPicPr>
          <p:cNvPr id="54276" name="Picture 4" descr="http://xs3.op.xywy.com/api.iu1.xywy.com/cms/20170729/db0f6caacf5da8f1420e319c2f754b346003.jpg"/>
          <p:cNvPicPr>
            <a:picLocks noChangeAspect="1" noChangeArrowheads="1"/>
          </p:cNvPicPr>
          <p:nvPr/>
        </p:nvPicPr>
        <p:blipFill>
          <a:blip r:embed="rId2" cstate="print"/>
          <a:srcRect l="18873" r="15955"/>
          <a:stretch>
            <a:fillRect/>
          </a:stretch>
        </p:blipFill>
        <p:spPr bwMode="auto">
          <a:xfrm>
            <a:off x="6730760" y="4495800"/>
            <a:ext cx="2413240" cy="2362200"/>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47495"/>
                                        </p:tgtEl>
                                        <p:attrNameLst>
                                          <p:attrName>style.visibility</p:attrName>
                                        </p:attrNameLst>
                                      </p:cBhvr>
                                      <p:to>
                                        <p:strVal val="visible"/>
                                      </p:to>
                                    </p:set>
                                    <p:anim calcmode="lin" valueType="num">
                                      <p:cBhvr additive="base">
                                        <p:cTn id="7" dur="500" fill="hold"/>
                                        <p:tgtEl>
                                          <p:spTgt spid="447495"/>
                                        </p:tgtEl>
                                        <p:attrNameLst>
                                          <p:attrName>ppt_x</p:attrName>
                                        </p:attrNameLst>
                                      </p:cBhvr>
                                      <p:tavLst>
                                        <p:tav tm="0">
                                          <p:val>
                                            <p:strVal val="0-#ppt_w/2"/>
                                          </p:val>
                                        </p:tav>
                                        <p:tav tm="100000">
                                          <p:val>
                                            <p:strVal val="#ppt_x"/>
                                          </p:val>
                                        </p:tav>
                                      </p:tavLst>
                                    </p:anim>
                                    <p:anim calcmode="lin" valueType="num">
                                      <p:cBhvr additive="base">
                                        <p:cTn id="8" dur="500" fill="hold"/>
                                        <p:tgtEl>
                                          <p:spTgt spid="44749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47491"/>
                                        </p:tgtEl>
                                        <p:attrNameLst>
                                          <p:attrName>style.visibility</p:attrName>
                                        </p:attrNameLst>
                                      </p:cBhvr>
                                      <p:to>
                                        <p:strVal val="visible"/>
                                      </p:to>
                                    </p:set>
                                    <p:anim calcmode="lin" valueType="num">
                                      <p:cBhvr additive="base">
                                        <p:cTn id="13" dur="500" fill="hold"/>
                                        <p:tgtEl>
                                          <p:spTgt spid="447491"/>
                                        </p:tgtEl>
                                        <p:attrNameLst>
                                          <p:attrName>ppt_x</p:attrName>
                                        </p:attrNameLst>
                                      </p:cBhvr>
                                      <p:tavLst>
                                        <p:tav tm="0">
                                          <p:val>
                                            <p:strVal val="0-#ppt_w/2"/>
                                          </p:val>
                                        </p:tav>
                                        <p:tav tm="100000">
                                          <p:val>
                                            <p:strVal val="#ppt_x"/>
                                          </p:val>
                                        </p:tav>
                                      </p:tavLst>
                                    </p:anim>
                                    <p:anim calcmode="lin" valueType="num">
                                      <p:cBhvr additive="base">
                                        <p:cTn id="14" dur="500" fill="hold"/>
                                        <p:tgtEl>
                                          <p:spTgt spid="44749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47492"/>
                                        </p:tgtEl>
                                        <p:attrNameLst>
                                          <p:attrName>style.visibility</p:attrName>
                                        </p:attrNameLst>
                                      </p:cBhvr>
                                      <p:to>
                                        <p:strVal val="visible"/>
                                      </p:to>
                                    </p:set>
                                    <p:anim calcmode="lin" valueType="num">
                                      <p:cBhvr additive="base">
                                        <p:cTn id="19" dur="500" fill="hold"/>
                                        <p:tgtEl>
                                          <p:spTgt spid="447492"/>
                                        </p:tgtEl>
                                        <p:attrNameLst>
                                          <p:attrName>ppt_x</p:attrName>
                                        </p:attrNameLst>
                                      </p:cBhvr>
                                      <p:tavLst>
                                        <p:tav tm="0">
                                          <p:val>
                                            <p:strVal val="0-#ppt_w/2"/>
                                          </p:val>
                                        </p:tav>
                                        <p:tav tm="100000">
                                          <p:val>
                                            <p:strVal val="#ppt_x"/>
                                          </p:val>
                                        </p:tav>
                                      </p:tavLst>
                                    </p:anim>
                                    <p:anim calcmode="lin" valueType="num">
                                      <p:cBhvr additive="base">
                                        <p:cTn id="20" dur="500" fill="hold"/>
                                        <p:tgtEl>
                                          <p:spTgt spid="447492"/>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47493"/>
                                        </p:tgtEl>
                                        <p:attrNameLst>
                                          <p:attrName>style.visibility</p:attrName>
                                        </p:attrNameLst>
                                      </p:cBhvr>
                                      <p:to>
                                        <p:strVal val="visible"/>
                                      </p:to>
                                    </p:set>
                                    <p:anim calcmode="lin" valueType="num">
                                      <p:cBhvr additive="base">
                                        <p:cTn id="25" dur="500" fill="hold"/>
                                        <p:tgtEl>
                                          <p:spTgt spid="447493"/>
                                        </p:tgtEl>
                                        <p:attrNameLst>
                                          <p:attrName>ppt_x</p:attrName>
                                        </p:attrNameLst>
                                      </p:cBhvr>
                                      <p:tavLst>
                                        <p:tav tm="0">
                                          <p:val>
                                            <p:strVal val="0-#ppt_w/2"/>
                                          </p:val>
                                        </p:tav>
                                        <p:tav tm="100000">
                                          <p:val>
                                            <p:strVal val="#ppt_x"/>
                                          </p:val>
                                        </p:tav>
                                      </p:tavLst>
                                    </p:anim>
                                    <p:anim calcmode="lin" valueType="num">
                                      <p:cBhvr additive="base">
                                        <p:cTn id="26" dur="500" fill="hold"/>
                                        <p:tgtEl>
                                          <p:spTgt spid="447493"/>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47494"/>
                                        </p:tgtEl>
                                        <p:attrNameLst>
                                          <p:attrName>style.visibility</p:attrName>
                                        </p:attrNameLst>
                                      </p:cBhvr>
                                      <p:to>
                                        <p:strVal val="visible"/>
                                      </p:to>
                                    </p:set>
                                    <p:anim calcmode="lin" valueType="num">
                                      <p:cBhvr additive="base">
                                        <p:cTn id="31" dur="500" fill="hold"/>
                                        <p:tgtEl>
                                          <p:spTgt spid="447494"/>
                                        </p:tgtEl>
                                        <p:attrNameLst>
                                          <p:attrName>ppt_x</p:attrName>
                                        </p:attrNameLst>
                                      </p:cBhvr>
                                      <p:tavLst>
                                        <p:tav tm="0">
                                          <p:val>
                                            <p:strVal val="0-#ppt_w/2"/>
                                          </p:val>
                                        </p:tav>
                                        <p:tav tm="100000">
                                          <p:val>
                                            <p:strVal val="#ppt_x"/>
                                          </p:val>
                                        </p:tav>
                                      </p:tavLst>
                                    </p:anim>
                                    <p:anim calcmode="lin" valueType="num">
                                      <p:cBhvr additive="base">
                                        <p:cTn id="32" dur="500" fill="hold"/>
                                        <p:tgtEl>
                                          <p:spTgt spid="447494"/>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447496"/>
                                        </p:tgtEl>
                                        <p:attrNameLst>
                                          <p:attrName>style.visibility</p:attrName>
                                        </p:attrNameLst>
                                      </p:cBhvr>
                                      <p:to>
                                        <p:strVal val="visible"/>
                                      </p:to>
                                    </p:set>
                                    <p:anim calcmode="lin" valueType="num">
                                      <p:cBhvr additive="base">
                                        <p:cTn id="37" dur="500" fill="hold"/>
                                        <p:tgtEl>
                                          <p:spTgt spid="447496"/>
                                        </p:tgtEl>
                                        <p:attrNameLst>
                                          <p:attrName>ppt_x</p:attrName>
                                        </p:attrNameLst>
                                      </p:cBhvr>
                                      <p:tavLst>
                                        <p:tav tm="0">
                                          <p:val>
                                            <p:strVal val="0-#ppt_w/2"/>
                                          </p:val>
                                        </p:tav>
                                        <p:tav tm="100000">
                                          <p:val>
                                            <p:strVal val="#ppt_x"/>
                                          </p:val>
                                        </p:tav>
                                      </p:tavLst>
                                    </p:anim>
                                    <p:anim calcmode="lin" valueType="num">
                                      <p:cBhvr additive="base">
                                        <p:cTn id="38" dur="500" fill="hold"/>
                                        <p:tgtEl>
                                          <p:spTgt spid="44749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7491" grpId="0"/>
      <p:bldP spid="447492" grpId="0"/>
      <p:bldP spid="447493" grpId="0"/>
      <p:bldP spid="447494" grpId="0"/>
      <p:bldP spid="447495" grpId="0"/>
      <p:bldP spid="447496"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endParaRPr lang="zh-CN" altLang="en-US"/>
          </a:p>
        </p:txBody>
      </p:sp>
      <p:sp>
        <p:nvSpPr>
          <p:cNvPr id="53249" name="矩形 448513"/>
          <p:cNvSpPr/>
          <p:nvPr/>
        </p:nvSpPr>
        <p:spPr>
          <a:xfrm>
            <a:off x="1447800" y="457200"/>
            <a:ext cx="5562600" cy="457200"/>
          </a:xfrm>
          <a:prstGeom prst="rect">
            <a:avLst/>
          </a:prstGeom>
          <a:noFill/>
          <a:ln w="9525">
            <a:noFill/>
          </a:ln>
        </p:spPr>
        <p:txBody>
          <a:bodyPr anchor="t">
            <a:spAutoFit/>
          </a:bodyPr>
          <a:lstStyle/>
          <a:p>
            <a:r>
              <a:rPr lang="zh-CN" altLang="en-US" sz="2400" b="1" dirty="0">
                <a:solidFill>
                  <a:srgbClr val="990099"/>
                </a:solidFill>
                <a:latin typeface="Times New Roman" panose="02020603050405020304" pitchFamily="18" charset="0"/>
              </a:rPr>
              <a:t>常见食物中维生素</a:t>
            </a:r>
            <a:r>
              <a:rPr lang="en-US" altLang="zh-CN" sz="2400" b="1">
                <a:solidFill>
                  <a:srgbClr val="990099"/>
                </a:solidFill>
                <a:latin typeface="Times New Roman" panose="02020603050405020304" pitchFamily="18" charset="0"/>
              </a:rPr>
              <a:t>C</a:t>
            </a:r>
            <a:r>
              <a:rPr lang="zh-CN" altLang="en-US" sz="2400" b="1" dirty="0">
                <a:solidFill>
                  <a:srgbClr val="990099"/>
                </a:solidFill>
                <a:latin typeface="Times New Roman" panose="02020603050405020304" pitchFamily="18" charset="0"/>
              </a:rPr>
              <a:t>的含量（</a:t>
            </a:r>
            <a:r>
              <a:rPr lang="en-US" altLang="zh-CN" sz="2400" b="1">
                <a:solidFill>
                  <a:srgbClr val="990099"/>
                </a:solidFill>
                <a:latin typeface="Times New Roman" panose="02020603050405020304" pitchFamily="18" charset="0"/>
              </a:rPr>
              <a:t>mg/100 g</a:t>
            </a:r>
            <a:r>
              <a:rPr lang="zh-CN" altLang="en-US" sz="2400" b="1">
                <a:solidFill>
                  <a:srgbClr val="990099"/>
                </a:solidFill>
                <a:latin typeface="Times New Roman" panose="02020603050405020304" pitchFamily="18" charset="0"/>
              </a:rPr>
              <a:t>） </a:t>
            </a:r>
            <a:endParaRPr lang="zh-CN" altLang="en-US" sz="2400" b="1">
              <a:solidFill>
                <a:srgbClr val="990099"/>
              </a:solidFill>
              <a:latin typeface="Arial" panose="020B0604020202020204" pitchFamily="34" charset="0"/>
            </a:endParaRPr>
          </a:p>
        </p:txBody>
      </p:sp>
      <p:grpSp>
        <p:nvGrpSpPr>
          <p:cNvPr id="53250" name="组合 448514"/>
          <p:cNvGrpSpPr/>
          <p:nvPr/>
        </p:nvGrpSpPr>
        <p:grpSpPr>
          <a:xfrm>
            <a:off x="609600" y="990600"/>
            <a:ext cx="8534400" cy="5867400"/>
            <a:chOff x="-3" y="-3"/>
            <a:chExt cx="2884" cy="3550"/>
          </a:xfrm>
        </p:grpSpPr>
        <p:grpSp>
          <p:nvGrpSpPr>
            <p:cNvPr id="53251" name="组合 448515"/>
            <p:cNvGrpSpPr/>
            <p:nvPr/>
          </p:nvGrpSpPr>
          <p:grpSpPr>
            <a:xfrm>
              <a:off x="0" y="0"/>
              <a:ext cx="2878" cy="3544"/>
              <a:chOff x="0" y="0"/>
              <a:chExt cx="2878" cy="3544"/>
            </a:xfrm>
          </p:grpSpPr>
          <p:grpSp>
            <p:nvGrpSpPr>
              <p:cNvPr id="53252" name="组合 448516"/>
              <p:cNvGrpSpPr/>
              <p:nvPr/>
            </p:nvGrpSpPr>
            <p:grpSpPr>
              <a:xfrm>
                <a:off x="0" y="0"/>
                <a:ext cx="770" cy="262"/>
                <a:chOff x="0" y="0"/>
                <a:chExt cx="770" cy="262"/>
              </a:xfrm>
            </p:grpSpPr>
            <p:sp>
              <p:nvSpPr>
                <p:cNvPr id="53253" name="矩形 448517"/>
                <p:cNvSpPr/>
                <p:nvPr/>
              </p:nvSpPr>
              <p:spPr>
                <a:xfrm>
                  <a:off x="42" y="42"/>
                  <a:ext cx="686" cy="178"/>
                </a:xfrm>
                <a:prstGeom prst="rect">
                  <a:avLst/>
                </a:prstGeom>
                <a:noFill/>
                <a:ln w="9525">
                  <a:noFill/>
                </a:ln>
              </p:spPr>
              <p:txBody>
                <a:bodyPr anchor="t"/>
                <a:lstStyle/>
                <a:p>
                  <a:r>
                    <a:rPr lang="zh-CN" altLang="en-US" sz="2400" b="1" dirty="0">
                      <a:solidFill>
                        <a:srgbClr val="FF0000"/>
                      </a:solidFill>
                      <a:latin typeface="宋体" panose="02010600030101010101" pitchFamily="2" charset="-122"/>
                    </a:rPr>
                    <a:t>食品名称</a:t>
                  </a:r>
                  <a:endParaRPr lang="zh-CN" altLang="en-US" sz="2400" b="1" dirty="0">
                    <a:solidFill>
                      <a:srgbClr val="000000"/>
                    </a:solidFill>
                    <a:latin typeface="宋体" panose="02010600030101010101" pitchFamily="2" charset="-122"/>
                  </a:endParaRPr>
                </a:p>
                <a:p>
                  <a:pPr eaLnBrk="0" hangingPunct="0">
                    <a:buClr>
                      <a:schemeClr val="bg1"/>
                    </a:buClr>
                  </a:pPr>
                  <a:endParaRPr lang="zh-CN" altLang="en-US" sz="2400" b="1" dirty="0">
                    <a:latin typeface="Arial" panose="020B0604020202020204" pitchFamily="34" charset="0"/>
                  </a:endParaRPr>
                </a:p>
              </p:txBody>
            </p:sp>
            <p:sp>
              <p:nvSpPr>
                <p:cNvPr id="53254" name="矩形 448518"/>
                <p:cNvSpPr/>
                <p:nvPr/>
              </p:nvSpPr>
              <p:spPr>
                <a:xfrm>
                  <a:off x="0" y="0"/>
                  <a:ext cx="770" cy="262"/>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latin typeface="Arial" panose="020B0604020202020204" pitchFamily="34" charset="0"/>
                  </a:endParaRPr>
                </a:p>
              </p:txBody>
            </p:sp>
          </p:grpSp>
          <p:grpSp>
            <p:nvGrpSpPr>
              <p:cNvPr id="53255" name="组合 448519"/>
              <p:cNvGrpSpPr/>
              <p:nvPr/>
            </p:nvGrpSpPr>
            <p:grpSpPr>
              <a:xfrm>
                <a:off x="770" y="0"/>
                <a:ext cx="782" cy="262"/>
                <a:chOff x="770" y="0"/>
                <a:chExt cx="782" cy="262"/>
              </a:xfrm>
            </p:grpSpPr>
            <p:sp>
              <p:nvSpPr>
                <p:cNvPr id="53256" name="矩形 448520"/>
                <p:cNvSpPr/>
                <p:nvPr/>
              </p:nvSpPr>
              <p:spPr>
                <a:xfrm>
                  <a:off x="812" y="42"/>
                  <a:ext cx="698" cy="178"/>
                </a:xfrm>
                <a:prstGeom prst="rect">
                  <a:avLst/>
                </a:prstGeom>
                <a:noFill/>
                <a:ln w="9525">
                  <a:noFill/>
                </a:ln>
              </p:spPr>
              <p:txBody>
                <a:bodyPr anchor="t"/>
                <a:lstStyle/>
                <a:p>
                  <a:r>
                    <a:rPr lang="zh-CN" altLang="en-US" sz="2400" b="1" dirty="0">
                      <a:solidFill>
                        <a:srgbClr val="FF0000"/>
                      </a:solidFill>
                      <a:latin typeface="宋体" panose="02010600030101010101" pitchFamily="2" charset="-122"/>
                    </a:rPr>
                    <a:t>含量</a:t>
                  </a:r>
                  <a:endParaRPr lang="zh-CN" altLang="en-US" sz="2400" b="1" dirty="0">
                    <a:solidFill>
                      <a:srgbClr val="000000"/>
                    </a:solidFill>
                    <a:latin typeface="宋体" panose="02010600030101010101" pitchFamily="2" charset="-122"/>
                  </a:endParaRPr>
                </a:p>
                <a:p>
                  <a:pPr eaLnBrk="0" hangingPunct="0">
                    <a:buClr>
                      <a:schemeClr val="bg1"/>
                    </a:buClr>
                  </a:pPr>
                  <a:endParaRPr lang="zh-CN" altLang="en-US" sz="2400" b="1" dirty="0">
                    <a:latin typeface="Arial" panose="020B0604020202020204" pitchFamily="34" charset="0"/>
                  </a:endParaRPr>
                </a:p>
              </p:txBody>
            </p:sp>
            <p:sp>
              <p:nvSpPr>
                <p:cNvPr id="53257" name="矩形 448521"/>
                <p:cNvSpPr/>
                <p:nvPr/>
              </p:nvSpPr>
              <p:spPr>
                <a:xfrm>
                  <a:off x="770" y="0"/>
                  <a:ext cx="782" cy="262"/>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latin typeface="Arial" panose="020B0604020202020204" pitchFamily="34" charset="0"/>
                  </a:endParaRPr>
                </a:p>
              </p:txBody>
            </p:sp>
          </p:grpSp>
          <p:grpSp>
            <p:nvGrpSpPr>
              <p:cNvPr id="53258" name="组合 448522"/>
              <p:cNvGrpSpPr/>
              <p:nvPr/>
            </p:nvGrpSpPr>
            <p:grpSpPr>
              <a:xfrm>
                <a:off x="1552" y="0"/>
                <a:ext cx="695" cy="262"/>
                <a:chOff x="1552" y="0"/>
                <a:chExt cx="695" cy="262"/>
              </a:xfrm>
            </p:grpSpPr>
            <p:sp>
              <p:nvSpPr>
                <p:cNvPr id="53259" name="矩形 448523"/>
                <p:cNvSpPr/>
                <p:nvPr/>
              </p:nvSpPr>
              <p:spPr>
                <a:xfrm>
                  <a:off x="1594" y="42"/>
                  <a:ext cx="611" cy="178"/>
                </a:xfrm>
                <a:prstGeom prst="rect">
                  <a:avLst/>
                </a:prstGeom>
                <a:noFill/>
                <a:ln w="9525">
                  <a:noFill/>
                </a:ln>
              </p:spPr>
              <p:txBody>
                <a:bodyPr anchor="t"/>
                <a:lstStyle/>
                <a:p>
                  <a:r>
                    <a:rPr lang="zh-CN" altLang="en-US" sz="2400" b="1" dirty="0">
                      <a:solidFill>
                        <a:srgbClr val="FF0000"/>
                      </a:solidFill>
                      <a:latin typeface="宋体" panose="02010600030101010101" pitchFamily="2" charset="-122"/>
                    </a:rPr>
                    <a:t>食品名称</a:t>
                  </a:r>
                  <a:endParaRPr lang="zh-CN" altLang="en-US" sz="2400" b="1" dirty="0">
                    <a:solidFill>
                      <a:srgbClr val="000000"/>
                    </a:solidFill>
                    <a:latin typeface="宋体" panose="02010600030101010101" pitchFamily="2" charset="-122"/>
                  </a:endParaRPr>
                </a:p>
                <a:p>
                  <a:pPr eaLnBrk="0" hangingPunct="0">
                    <a:buClr>
                      <a:schemeClr val="bg1"/>
                    </a:buClr>
                  </a:pPr>
                  <a:endParaRPr lang="zh-CN" altLang="en-US" sz="2400" b="1" dirty="0">
                    <a:latin typeface="Arial" panose="020B0604020202020204" pitchFamily="34" charset="0"/>
                  </a:endParaRPr>
                </a:p>
              </p:txBody>
            </p:sp>
            <p:sp>
              <p:nvSpPr>
                <p:cNvPr id="53260" name="矩形 448524"/>
                <p:cNvSpPr/>
                <p:nvPr/>
              </p:nvSpPr>
              <p:spPr>
                <a:xfrm>
                  <a:off x="1552" y="0"/>
                  <a:ext cx="695" cy="262"/>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latin typeface="Arial" panose="020B0604020202020204" pitchFamily="34" charset="0"/>
                  </a:endParaRPr>
                </a:p>
              </p:txBody>
            </p:sp>
          </p:grpSp>
          <p:grpSp>
            <p:nvGrpSpPr>
              <p:cNvPr id="53261" name="组合 448525"/>
              <p:cNvGrpSpPr/>
              <p:nvPr/>
            </p:nvGrpSpPr>
            <p:grpSpPr>
              <a:xfrm>
                <a:off x="2247" y="0"/>
                <a:ext cx="631" cy="262"/>
                <a:chOff x="2247" y="0"/>
                <a:chExt cx="631" cy="262"/>
              </a:xfrm>
            </p:grpSpPr>
            <p:sp>
              <p:nvSpPr>
                <p:cNvPr id="53262" name="矩形 448526"/>
                <p:cNvSpPr/>
                <p:nvPr/>
              </p:nvSpPr>
              <p:spPr>
                <a:xfrm>
                  <a:off x="2289" y="42"/>
                  <a:ext cx="547" cy="178"/>
                </a:xfrm>
                <a:prstGeom prst="rect">
                  <a:avLst/>
                </a:prstGeom>
                <a:noFill/>
                <a:ln w="9525">
                  <a:noFill/>
                </a:ln>
              </p:spPr>
              <p:txBody>
                <a:bodyPr anchor="t"/>
                <a:lstStyle/>
                <a:p>
                  <a:pPr algn="ctr"/>
                  <a:r>
                    <a:rPr lang="zh-CN" altLang="en-US" sz="2400" b="1" dirty="0">
                      <a:solidFill>
                        <a:srgbClr val="FF0000"/>
                      </a:solidFill>
                      <a:latin typeface="宋体" panose="02010600030101010101" pitchFamily="2" charset="-122"/>
                    </a:rPr>
                    <a:t>含量</a:t>
                  </a:r>
                  <a:endParaRPr lang="zh-CN" altLang="en-US" sz="2400" b="1" dirty="0">
                    <a:solidFill>
                      <a:srgbClr val="000000"/>
                    </a:solidFill>
                    <a:latin typeface="宋体" panose="02010600030101010101" pitchFamily="2" charset="-122"/>
                  </a:endParaRPr>
                </a:p>
                <a:p>
                  <a:pPr algn="ctr" eaLnBrk="0" hangingPunct="0">
                    <a:buClr>
                      <a:schemeClr val="bg1"/>
                    </a:buClr>
                  </a:pPr>
                  <a:endParaRPr lang="zh-CN" altLang="en-US" sz="2400" b="1" dirty="0">
                    <a:latin typeface="Arial" panose="020B0604020202020204" pitchFamily="34" charset="0"/>
                  </a:endParaRPr>
                </a:p>
              </p:txBody>
            </p:sp>
            <p:sp>
              <p:nvSpPr>
                <p:cNvPr id="53263" name="矩形 448527"/>
                <p:cNvSpPr/>
                <p:nvPr/>
              </p:nvSpPr>
              <p:spPr>
                <a:xfrm>
                  <a:off x="2247" y="0"/>
                  <a:ext cx="631" cy="262"/>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latin typeface="Arial" panose="020B0604020202020204" pitchFamily="34" charset="0"/>
                  </a:endParaRPr>
                </a:p>
              </p:txBody>
            </p:sp>
          </p:grpSp>
          <p:grpSp>
            <p:nvGrpSpPr>
              <p:cNvPr id="53264" name="组合 448528"/>
              <p:cNvGrpSpPr/>
              <p:nvPr/>
            </p:nvGrpSpPr>
            <p:grpSpPr>
              <a:xfrm>
                <a:off x="0" y="346"/>
                <a:ext cx="770" cy="430"/>
                <a:chOff x="0" y="346"/>
                <a:chExt cx="770" cy="430"/>
              </a:xfrm>
            </p:grpSpPr>
            <p:sp>
              <p:nvSpPr>
                <p:cNvPr id="53265" name="矩形 448529"/>
                <p:cNvSpPr/>
                <p:nvPr/>
              </p:nvSpPr>
              <p:spPr>
                <a:xfrm>
                  <a:off x="0" y="346"/>
                  <a:ext cx="770" cy="430"/>
                </a:xfrm>
                <a:prstGeom prst="rect">
                  <a:avLst/>
                </a:prstGeom>
                <a:solidFill>
                  <a:srgbClr val="CECFFF"/>
                </a:solidFill>
                <a:ln w="9525">
                  <a:noFill/>
                </a:ln>
              </p:spPr>
              <p:txBody>
                <a:bodyPr anchor="t"/>
                <a:lstStyle/>
                <a:p>
                  <a:endParaRPr lang="zh-CN" altLang="en-US">
                    <a:latin typeface="Arial" panose="020B0604020202020204" pitchFamily="34" charset="0"/>
                  </a:endParaRPr>
                </a:p>
              </p:txBody>
            </p:sp>
            <p:grpSp>
              <p:nvGrpSpPr>
                <p:cNvPr id="53266" name="组合 448530"/>
                <p:cNvGrpSpPr/>
                <p:nvPr/>
              </p:nvGrpSpPr>
              <p:grpSpPr>
                <a:xfrm>
                  <a:off x="0" y="346"/>
                  <a:ext cx="770" cy="262"/>
                  <a:chOff x="0" y="346"/>
                  <a:chExt cx="770" cy="262"/>
                </a:xfrm>
              </p:grpSpPr>
              <p:sp>
                <p:nvSpPr>
                  <p:cNvPr id="53267" name="矩形 448531"/>
                  <p:cNvSpPr/>
                  <p:nvPr/>
                </p:nvSpPr>
                <p:spPr>
                  <a:xfrm>
                    <a:off x="42" y="388"/>
                    <a:ext cx="686" cy="178"/>
                  </a:xfrm>
                  <a:prstGeom prst="rect">
                    <a:avLst/>
                  </a:prstGeom>
                  <a:solidFill>
                    <a:srgbClr val="CECFFF"/>
                  </a:solidFill>
                  <a:ln w="9525">
                    <a:noFill/>
                  </a:ln>
                </p:spPr>
                <p:txBody>
                  <a:bodyPr anchor="t"/>
                  <a:lstStyle/>
                  <a:p>
                    <a:r>
                      <a:rPr lang="zh-CN" altLang="en-US" sz="2400" b="1" dirty="0">
                        <a:solidFill>
                          <a:srgbClr val="000000"/>
                        </a:solidFill>
                        <a:latin typeface="宋体" panose="02010600030101010101" pitchFamily="2" charset="-122"/>
                      </a:rPr>
                      <a:t>猕猴桃（汁）</a:t>
                    </a:r>
                  </a:p>
                  <a:p>
                    <a:pPr eaLnBrk="0" hangingPunct="0">
                      <a:buClr>
                        <a:schemeClr val="bg1"/>
                      </a:buClr>
                    </a:pPr>
                    <a:endParaRPr lang="zh-CN" altLang="en-US" sz="2400" b="1" dirty="0">
                      <a:latin typeface="Arial" panose="020B0604020202020204" pitchFamily="34" charset="0"/>
                    </a:endParaRPr>
                  </a:p>
                </p:txBody>
              </p:sp>
              <p:sp>
                <p:nvSpPr>
                  <p:cNvPr id="53268" name="矩形 448532"/>
                  <p:cNvSpPr/>
                  <p:nvPr/>
                </p:nvSpPr>
                <p:spPr>
                  <a:xfrm>
                    <a:off x="0" y="346"/>
                    <a:ext cx="770" cy="262"/>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latin typeface="Arial" panose="020B0604020202020204" pitchFamily="34" charset="0"/>
                    </a:endParaRPr>
                  </a:p>
                </p:txBody>
              </p:sp>
            </p:grpSp>
          </p:grpSp>
          <p:grpSp>
            <p:nvGrpSpPr>
              <p:cNvPr id="53269" name="组合 448533"/>
              <p:cNvGrpSpPr/>
              <p:nvPr/>
            </p:nvGrpSpPr>
            <p:grpSpPr>
              <a:xfrm>
                <a:off x="770" y="346"/>
                <a:ext cx="782" cy="430"/>
                <a:chOff x="770" y="346"/>
                <a:chExt cx="782" cy="430"/>
              </a:xfrm>
            </p:grpSpPr>
            <p:sp>
              <p:nvSpPr>
                <p:cNvPr id="53270" name="矩形 448534"/>
                <p:cNvSpPr/>
                <p:nvPr/>
              </p:nvSpPr>
              <p:spPr>
                <a:xfrm>
                  <a:off x="770" y="346"/>
                  <a:ext cx="782" cy="430"/>
                </a:xfrm>
                <a:prstGeom prst="rect">
                  <a:avLst/>
                </a:prstGeom>
                <a:solidFill>
                  <a:srgbClr val="CECFFF"/>
                </a:solidFill>
                <a:ln w="9525">
                  <a:noFill/>
                </a:ln>
              </p:spPr>
              <p:txBody>
                <a:bodyPr anchor="t"/>
                <a:lstStyle/>
                <a:p>
                  <a:endParaRPr lang="zh-CN" altLang="en-US">
                    <a:latin typeface="Arial" panose="020B0604020202020204" pitchFamily="34" charset="0"/>
                  </a:endParaRPr>
                </a:p>
              </p:txBody>
            </p:sp>
            <p:grpSp>
              <p:nvGrpSpPr>
                <p:cNvPr id="53271" name="组合 448535"/>
                <p:cNvGrpSpPr/>
                <p:nvPr/>
              </p:nvGrpSpPr>
              <p:grpSpPr>
                <a:xfrm>
                  <a:off x="770" y="346"/>
                  <a:ext cx="782" cy="262"/>
                  <a:chOff x="770" y="346"/>
                  <a:chExt cx="782" cy="262"/>
                </a:xfrm>
              </p:grpSpPr>
              <p:sp>
                <p:nvSpPr>
                  <p:cNvPr id="53272" name="矩形 448536"/>
                  <p:cNvSpPr/>
                  <p:nvPr/>
                </p:nvSpPr>
                <p:spPr>
                  <a:xfrm>
                    <a:off x="812" y="388"/>
                    <a:ext cx="698" cy="178"/>
                  </a:xfrm>
                  <a:prstGeom prst="rect">
                    <a:avLst/>
                  </a:prstGeom>
                  <a:solidFill>
                    <a:srgbClr val="CECFFF"/>
                  </a:solidFill>
                  <a:ln w="9525">
                    <a:noFill/>
                  </a:ln>
                </p:spPr>
                <p:txBody>
                  <a:bodyPr anchor="t"/>
                  <a:lstStyle/>
                  <a:p>
                    <a:r>
                      <a:rPr lang="en-US" altLang="zh-CN" sz="2400" b="1">
                        <a:solidFill>
                          <a:srgbClr val="000000"/>
                        </a:solidFill>
                        <a:latin typeface="宋体" panose="02010600030101010101" pitchFamily="2" charset="-122"/>
                      </a:rPr>
                      <a:t>150</a:t>
                    </a:r>
                    <a:r>
                      <a:rPr lang="zh-CN" altLang="en-US" sz="2400" b="1" dirty="0">
                        <a:solidFill>
                          <a:srgbClr val="000000"/>
                        </a:solidFill>
                        <a:latin typeface="宋体" panose="02010600030101010101" pitchFamily="2" charset="-122"/>
                      </a:rPr>
                      <a:t>～</a:t>
                    </a:r>
                    <a:r>
                      <a:rPr lang="en-US" altLang="zh-CN" sz="2400" b="1">
                        <a:solidFill>
                          <a:srgbClr val="000000"/>
                        </a:solidFill>
                        <a:latin typeface="宋体" panose="02010600030101010101" pitchFamily="2" charset="-122"/>
                      </a:rPr>
                      <a:t>400</a:t>
                    </a:r>
                  </a:p>
                  <a:p>
                    <a:pPr eaLnBrk="0" hangingPunct="0">
                      <a:buClr>
                        <a:schemeClr val="bg1"/>
                      </a:buClr>
                    </a:pPr>
                    <a:endParaRPr lang="zh-CN" altLang="en-US" sz="2400" b="1" dirty="0">
                      <a:latin typeface="Arial" panose="020B0604020202020204" pitchFamily="34" charset="0"/>
                    </a:endParaRPr>
                  </a:p>
                </p:txBody>
              </p:sp>
              <p:sp>
                <p:nvSpPr>
                  <p:cNvPr id="53273" name="矩形 448537"/>
                  <p:cNvSpPr/>
                  <p:nvPr/>
                </p:nvSpPr>
                <p:spPr>
                  <a:xfrm>
                    <a:off x="770" y="346"/>
                    <a:ext cx="782" cy="262"/>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latin typeface="Arial" panose="020B0604020202020204" pitchFamily="34" charset="0"/>
                    </a:endParaRPr>
                  </a:p>
                </p:txBody>
              </p:sp>
            </p:grpSp>
          </p:grpSp>
          <p:grpSp>
            <p:nvGrpSpPr>
              <p:cNvPr id="53274" name="组合 448538"/>
              <p:cNvGrpSpPr/>
              <p:nvPr/>
            </p:nvGrpSpPr>
            <p:grpSpPr>
              <a:xfrm>
                <a:off x="1552" y="346"/>
                <a:ext cx="695" cy="430"/>
                <a:chOff x="1552" y="346"/>
                <a:chExt cx="695" cy="430"/>
              </a:xfrm>
            </p:grpSpPr>
            <p:sp>
              <p:nvSpPr>
                <p:cNvPr id="53275" name="矩形 448539"/>
                <p:cNvSpPr/>
                <p:nvPr/>
              </p:nvSpPr>
              <p:spPr>
                <a:xfrm>
                  <a:off x="1552" y="346"/>
                  <a:ext cx="695" cy="430"/>
                </a:xfrm>
                <a:prstGeom prst="rect">
                  <a:avLst/>
                </a:prstGeom>
                <a:solidFill>
                  <a:srgbClr val="CECFFF"/>
                </a:solidFill>
                <a:ln w="9525">
                  <a:noFill/>
                </a:ln>
              </p:spPr>
              <p:txBody>
                <a:bodyPr anchor="t"/>
                <a:lstStyle/>
                <a:p>
                  <a:endParaRPr lang="zh-CN" altLang="en-US">
                    <a:latin typeface="Arial" panose="020B0604020202020204" pitchFamily="34" charset="0"/>
                  </a:endParaRPr>
                </a:p>
              </p:txBody>
            </p:sp>
            <p:grpSp>
              <p:nvGrpSpPr>
                <p:cNvPr id="53276" name="组合 448540"/>
                <p:cNvGrpSpPr/>
                <p:nvPr/>
              </p:nvGrpSpPr>
              <p:grpSpPr>
                <a:xfrm>
                  <a:off x="1552" y="346"/>
                  <a:ext cx="695" cy="262"/>
                  <a:chOff x="1552" y="346"/>
                  <a:chExt cx="695" cy="262"/>
                </a:xfrm>
              </p:grpSpPr>
              <p:sp>
                <p:nvSpPr>
                  <p:cNvPr id="53277" name="矩形 448541"/>
                  <p:cNvSpPr/>
                  <p:nvPr/>
                </p:nvSpPr>
                <p:spPr>
                  <a:xfrm>
                    <a:off x="1594" y="388"/>
                    <a:ext cx="611" cy="178"/>
                  </a:xfrm>
                  <a:prstGeom prst="rect">
                    <a:avLst/>
                  </a:prstGeom>
                  <a:solidFill>
                    <a:srgbClr val="CECFFF"/>
                  </a:solidFill>
                  <a:ln w="9525">
                    <a:noFill/>
                  </a:ln>
                </p:spPr>
                <p:txBody>
                  <a:bodyPr anchor="t"/>
                  <a:lstStyle/>
                  <a:p>
                    <a:r>
                      <a:rPr lang="zh-CN" altLang="en-US" sz="2400" b="1" dirty="0">
                        <a:solidFill>
                          <a:srgbClr val="000000"/>
                        </a:solidFill>
                        <a:latin typeface="宋体" panose="02010600030101010101" pitchFamily="2" charset="-122"/>
                      </a:rPr>
                      <a:t>南瓜</a:t>
                    </a:r>
                  </a:p>
                  <a:p>
                    <a:pPr eaLnBrk="0" hangingPunct="0">
                      <a:buClr>
                        <a:schemeClr val="bg1"/>
                      </a:buClr>
                    </a:pPr>
                    <a:endParaRPr lang="zh-CN" altLang="en-US" sz="2400" b="1" dirty="0">
                      <a:latin typeface="Arial" panose="020B0604020202020204" pitchFamily="34" charset="0"/>
                    </a:endParaRPr>
                  </a:p>
                </p:txBody>
              </p:sp>
              <p:sp>
                <p:nvSpPr>
                  <p:cNvPr id="53278" name="矩形 448542"/>
                  <p:cNvSpPr/>
                  <p:nvPr/>
                </p:nvSpPr>
                <p:spPr>
                  <a:xfrm>
                    <a:off x="1552" y="346"/>
                    <a:ext cx="695" cy="262"/>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latin typeface="Arial" panose="020B0604020202020204" pitchFamily="34" charset="0"/>
                    </a:endParaRPr>
                  </a:p>
                </p:txBody>
              </p:sp>
            </p:grpSp>
          </p:grpSp>
          <p:grpSp>
            <p:nvGrpSpPr>
              <p:cNvPr id="53279" name="组合 448543"/>
              <p:cNvGrpSpPr/>
              <p:nvPr/>
            </p:nvGrpSpPr>
            <p:grpSpPr>
              <a:xfrm>
                <a:off x="2247" y="346"/>
                <a:ext cx="631" cy="430"/>
                <a:chOff x="2247" y="346"/>
                <a:chExt cx="631" cy="430"/>
              </a:xfrm>
            </p:grpSpPr>
            <p:sp>
              <p:nvSpPr>
                <p:cNvPr id="53280" name="矩形 448544"/>
                <p:cNvSpPr/>
                <p:nvPr/>
              </p:nvSpPr>
              <p:spPr>
                <a:xfrm>
                  <a:off x="2247" y="346"/>
                  <a:ext cx="631" cy="430"/>
                </a:xfrm>
                <a:prstGeom prst="rect">
                  <a:avLst/>
                </a:prstGeom>
                <a:solidFill>
                  <a:srgbClr val="CECFFF"/>
                </a:solidFill>
                <a:ln w="9525">
                  <a:noFill/>
                </a:ln>
              </p:spPr>
              <p:txBody>
                <a:bodyPr anchor="t"/>
                <a:lstStyle/>
                <a:p>
                  <a:endParaRPr lang="zh-CN" altLang="en-US">
                    <a:latin typeface="Arial" panose="020B0604020202020204" pitchFamily="34" charset="0"/>
                  </a:endParaRPr>
                </a:p>
              </p:txBody>
            </p:sp>
            <p:grpSp>
              <p:nvGrpSpPr>
                <p:cNvPr id="53281" name="组合 448545"/>
                <p:cNvGrpSpPr/>
                <p:nvPr/>
              </p:nvGrpSpPr>
              <p:grpSpPr>
                <a:xfrm>
                  <a:off x="2247" y="346"/>
                  <a:ext cx="631" cy="262"/>
                  <a:chOff x="2247" y="346"/>
                  <a:chExt cx="631" cy="262"/>
                </a:xfrm>
              </p:grpSpPr>
              <p:sp>
                <p:nvSpPr>
                  <p:cNvPr id="53282" name="矩形 448546"/>
                  <p:cNvSpPr/>
                  <p:nvPr/>
                </p:nvSpPr>
                <p:spPr>
                  <a:xfrm>
                    <a:off x="2289" y="388"/>
                    <a:ext cx="547" cy="178"/>
                  </a:xfrm>
                  <a:prstGeom prst="rect">
                    <a:avLst/>
                  </a:prstGeom>
                  <a:solidFill>
                    <a:srgbClr val="CECFFF"/>
                  </a:solidFill>
                  <a:ln w="9525">
                    <a:noFill/>
                  </a:ln>
                </p:spPr>
                <p:txBody>
                  <a:bodyPr anchor="t"/>
                  <a:lstStyle/>
                  <a:p>
                    <a:r>
                      <a:rPr lang="en-US" altLang="zh-CN" sz="2400" b="1">
                        <a:solidFill>
                          <a:srgbClr val="000000"/>
                        </a:solidFill>
                        <a:latin typeface="宋体" panose="02010600030101010101" pitchFamily="2" charset="-122"/>
                      </a:rPr>
                      <a:t>4</a:t>
                    </a:r>
                    <a:r>
                      <a:rPr lang="zh-CN" altLang="en-US" sz="2400" b="1" dirty="0">
                        <a:solidFill>
                          <a:srgbClr val="000000"/>
                        </a:solidFill>
                        <a:latin typeface="宋体" panose="02010600030101010101" pitchFamily="2" charset="-122"/>
                      </a:rPr>
                      <a:t>～</a:t>
                    </a:r>
                    <a:r>
                      <a:rPr lang="en-US" altLang="zh-CN" sz="2400" b="1">
                        <a:solidFill>
                          <a:srgbClr val="000000"/>
                        </a:solidFill>
                        <a:latin typeface="宋体" panose="02010600030101010101" pitchFamily="2" charset="-122"/>
                      </a:rPr>
                      <a:t>14</a:t>
                    </a:r>
                  </a:p>
                  <a:p>
                    <a:pPr eaLnBrk="0" hangingPunct="0">
                      <a:buClr>
                        <a:schemeClr val="bg1"/>
                      </a:buClr>
                    </a:pPr>
                    <a:endParaRPr lang="zh-CN" altLang="en-US" sz="2400" b="1" dirty="0">
                      <a:latin typeface="Arial" panose="020B0604020202020204" pitchFamily="34" charset="0"/>
                    </a:endParaRPr>
                  </a:p>
                </p:txBody>
              </p:sp>
              <p:sp>
                <p:nvSpPr>
                  <p:cNvPr id="53283" name="矩形 448547"/>
                  <p:cNvSpPr/>
                  <p:nvPr/>
                </p:nvSpPr>
                <p:spPr>
                  <a:xfrm>
                    <a:off x="2247" y="346"/>
                    <a:ext cx="631" cy="262"/>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latin typeface="Arial" panose="020B0604020202020204" pitchFamily="34" charset="0"/>
                    </a:endParaRPr>
                  </a:p>
                </p:txBody>
              </p:sp>
            </p:grpSp>
          </p:grpSp>
          <p:grpSp>
            <p:nvGrpSpPr>
              <p:cNvPr id="53284" name="组合 448548"/>
              <p:cNvGrpSpPr/>
              <p:nvPr/>
            </p:nvGrpSpPr>
            <p:grpSpPr>
              <a:xfrm>
                <a:off x="0" y="692"/>
                <a:ext cx="770" cy="430"/>
                <a:chOff x="0" y="692"/>
                <a:chExt cx="770" cy="430"/>
              </a:xfrm>
            </p:grpSpPr>
            <p:sp>
              <p:nvSpPr>
                <p:cNvPr id="53285" name="矩形 448549"/>
                <p:cNvSpPr/>
                <p:nvPr/>
              </p:nvSpPr>
              <p:spPr>
                <a:xfrm>
                  <a:off x="0" y="692"/>
                  <a:ext cx="770" cy="430"/>
                </a:xfrm>
                <a:prstGeom prst="rect">
                  <a:avLst/>
                </a:prstGeom>
                <a:solidFill>
                  <a:srgbClr val="CECFFF"/>
                </a:solidFill>
                <a:ln w="9525">
                  <a:noFill/>
                </a:ln>
              </p:spPr>
              <p:txBody>
                <a:bodyPr anchor="t"/>
                <a:lstStyle/>
                <a:p>
                  <a:endParaRPr lang="zh-CN" altLang="en-US">
                    <a:latin typeface="Arial" panose="020B0604020202020204" pitchFamily="34" charset="0"/>
                  </a:endParaRPr>
                </a:p>
              </p:txBody>
            </p:sp>
            <p:grpSp>
              <p:nvGrpSpPr>
                <p:cNvPr id="53286" name="组合 448550"/>
                <p:cNvGrpSpPr/>
                <p:nvPr/>
              </p:nvGrpSpPr>
              <p:grpSpPr>
                <a:xfrm>
                  <a:off x="0" y="692"/>
                  <a:ext cx="770" cy="262"/>
                  <a:chOff x="0" y="692"/>
                  <a:chExt cx="770" cy="262"/>
                </a:xfrm>
              </p:grpSpPr>
              <p:sp>
                <p:nvSpPr>
                  <p:cNvPr id="53287" name="矩形 448551"/>
                  <p:cNvSpPr/>
                  <p:nvPr/>
                </p:nvSpPr>
                <p:spPr>
                  <a:xfrm>
                    <a:off x="42" y="734"/>
                    <a:ext cx="686" cy="178"/>
                  </a:xfrm>
                  <a:prstGeom prst="rect">
                    <a:avLst/>
                  </a:prstGeom>
                  <a:solidFill>
                    <a:srgbClr val="CECFFF"/>
                  </a:solidFill>
                  <a:ln w="9525">
                    <a:noFill/>
                  </a:ln>
                </p:spPr>
                <p:txBody>
                  <a:bodyPr anchor="t"/>
                  <a:lstStyle/>
                  <a:p>
                    <a:r>
                      <a:rPr lang="zh-CN" altLang="en-US" sz="2400" b="1" dirty="0">
                        <a:solidFill>
                          <a:srgbClr val="000000"/>
                        </a:solidFill>
                        <a:latin typeface="宋体" panose="02010600030101010101" pitchFamily="2" charset="-122"/>
                      </a:rPr>
                      <a:t>红辣椒</a:t>
                    </a:r>
                  </a:p>
                  <a:p>
                    <a:pPr eaLnBrk="0" hangingPunct="0">
                      <a:buClr>
                        <a:schemeClr val="bg1"/>
                      </a:buClr>
                    </a:pPr>
                    <a:endParaRPr lang="zh-CN" altLang="en-US" sz="2400" b="1" dirty="0">
                      <a:latin typeface="Arial" panose="020B0604020202020204" pitchFamily="34" charset="0"/>
                    </a:endParaRPr>
                  </a:p>
                </p:txBody>
              </p:sp>
              <p:sp>
                <p:nvSpPr>
                  <p:cNvPr id="53288" name="矩形 448552"/>
                  <p:cNvSpPr/>
                  <p:nvPr/>
                </p:nvSpPr>
                <p:spPr>
                  <a:xfrm>
                    <a:off x="0" y="692"/>
                    <a:ext cx="770" cy="262"/>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latin typeface="Arial" panose="020B0604020202020204" pitchFamily="34" charset="0"/>
                    </a:endParaRPr>
                  </a:p>
                </p:txBody>
              </p:sp>
            </p:grpSp>
          </p:grpSp>
          <p:grpSp>
            <p:nvGrpSpPr>
              <p:cNvPr id="53289" name="组合 448553"/>
              <p:cNvGrpSpPr/>
              <p:nvPr/>
            </p:nvGrpSpPr>
            <p:grpSpPr>
              <a:xfrm>
                <a:off x="770" y="692"/>
                <a:ext cx="782" cy="430"/>
                <a:chOff x="770" y="692"/>
                <a:chExt cx="782" cy="430"/>
              </a:xfrm>
            </p:grpSpPr>
            <p:sp>
              <p:nvSpPr>
                <p:cNvPr id="53290" name="矩形 448554"/>
                <p:cNvSpPr/>
                <p:nvPr/>
              </p:nvSpPr>
              <p:spPr>
                <a:xfrm>
                  <a:off x="770" y="692"/>
                  <a:ext cx="782" cy="430"/>
                </a:xfrm>
                <a:prstGeom prst="rect">
                  <a:avLst/>
                </a:prstGeom>
                <a:solidFill>
                  <a:srgbClr val="CECFFF"/>
                </a:solidFill>
                <a:ln w="9525">
                  <a:noFill/>
                </a:ln>
              </p:spPr>
              <p:txBody>
                <a:bodyPr anchor="t"/>
                <a:lstStyle/>
                <a:p>
                  <a:endParaRPr lang="zh-CN" altLang="en-US">
                    <a:latin typeface="Arial" panose="020B0604020202020204" pitchFamily="34" charset="0"/>
                  </a:endParaRPr>
                </a:p>
              </p:txBody>
            </p:sp>
            <p:grpSp>
              <p:nvGrpSpPr>
                <p:cNvPr id="53291" name="组合 448555"/>
                <p:cNvGrpSpPr/>
                <p:nvPr/>
              </p:nvGrpSpPr>
              <p:grpSpPr>
                <a:xfrm>
                  <a:off x="770" y="692"/>
                  <a:ext cx="782" cy="262"/>
                  <a:chOff x="770" y="692"/>
                  <a:chExt cx="782" cy="262"/>
                </a:xfrm>
              </p:grpSpPr>
              <p:sp>
                <p:nvSpPr>
                  <p:cNvPr id="53292" name="矩形 448556"/>
                  <p:cNvSpPr/>
                  <p:nvPr/>
                </p:nvSpPr>
                <p:spPr>
                  <a:xfrm>
                    <a:off x="812" y="734"/>
                    <a:ext cx="698" cy="178"/>
                  </a:xfrm>
                  <a:prstGeom prst="rect">
                    <a:avLst/>
                  </a:prstGeom>
                  <a:solidFill>
                    <a:srgbClr val="CECFFF"/>
                  </a:solidFill>
                  <a:ln w="9525">
                    <a:noFill/>
                  </a:ln>
                </p:spPr>
                <p:txBody>
                  <a:bodyPr anchor="t"/>
                  <a:lstStyle/>
                  <a:p>
                    <a:r>
                      <a:rPr lang="en-US" altLang="zh-CN" sz="2400" b="1">
                        <a:solidFill>
                          <a:srgbClr val="000000"/>
                        </a:solidFill>
                        <a:latin typeface="宋体" panose="02010600030101010101" pitchFamily="2" charset="-122"/>
                      </a:rPr>
                      <a:t>159</a:t>
                    </a:r>
                  </a:p>
                  <a:p>
                    <a:pPr eaLnBrk="0" hangingPunct="0">
                      <a:buClr>
                        <a:schemeClr val="bg1"/>
                      </a:buClr>
                    </a:pPr>
                    <a:endParaRPr lang="zh-CN" altLang="en-US" sz="2400" b="1" dirty="0">
                      <a:latin typeface="Arial" panose="020B0604020202020204" pitchFamily="34" charset="0"/>
                    </a:endParaRPr>
                  </a:p>
                </p:txBody>
              </p:sp>
              <p:sp>
                <p:nvSpPr>
                  <p:cNvPr id="53293" name="矩形 448557"/>
                  <p:cNvSpPr/>
                  <p:nvPr/>
                </p:nvSpPr>
                <p:spPr>
                  <a:xfrm>
                    <a:off x="770" y="692"/>
                    <a:ext cx="782" cy="262"/>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latin typeface="Arial" panose="020B0604020202020204" pitchFamily="34" charset="0"/>
                    </a:endParaRPr>
                  </a:p>
                </p:txBody>
              </p:sp>
            </p:grpSp>
          </p:grpSp>
          <p:grpSp>
            <p:nvGrpSpPr>
              <p:cNvPr id="53294" name="组合 448558"/>
              <p:cNvGrpSpPr/>
              <p:nvPr/>
            </p:nvGrpSpPr>
            <p:grpSpPr>
              <a:xfrm>
                <a:off x="1552" y="692"/>
                <a:ext cx="695" cy="430"/>
                <a:chOff x="1552" y="692"/>
                <a:chExt cx="695" cy="430"/>
              </a:xfrm>
            </p:grpSpPr>
            <p:sp>
              <p:nvSpPr>
                <p:cNvPr id="53295" name="矩形 448559"/>
                <p:cNvSpPr/>
                <p:nvPr/>
              </p:nvSpPr>
              <p:spPr>
                <a:xfrm>
                  <a:off x="1552" y="692"/>
                  <a:ext cx="695" cy="430"/>
                </a:xfrm>
                <a:prstGeom prst="rect">
                  <a:avLst/>
                </a:prstGeom>
                <a:solidFill>
                  <a:srgbClr val="CECFFF"/>
                </a:solidFill>
                <a:ln w="9525">
                  <a:noFill/>
                </a:ln>
              </p:spPr>
              <p:txBody>
                <a:bodyPr anchor="t"/>
                <a:lstStyle/>
                <a:p>
                  <a:endParaRPr lang="zh-CN" altLang="en-US">
                    <a:latin typeface="Arial" panose="020B0604020202020204" pitchFamily="34" charset="0"/>
                  </a:endParaRPr>
                </a:p>
              </p:txBody>
            </p:sp>
            <p:grpSp>
              <p:nvGrpSpPr>
                <p:cNvPr id="53296" name="组合 448560"/>
                <p:cNvGrpSpPr/>
                <p:nvPr/>
              </p:nvGrpSpPr>
              <p:grpSpPr>
                <a:xfrm>
                  <a:off x="1552" y="692"/>
                  <a:ext cx="695" cy="262"/>
                  <a:chOff x="1552" y="692"/>
                  <a:chExt cx="695" cy="262"/>
                </a:xfrm>
              </p:grpSpPr>
              <p:sp>
                <p:nvSpPr>
                  <p:cNvPr id="53297" name="矩形 448561"/>
                  <p:cNvSpPr/>
                  <p:nvPr/>
                </p:nvSpPr>
                <p:spPr>
                  <a:xfrm>
                    <a:off x="1594" y="734"/>
                    <a:ext cx="611" cy="178"/>
                  </a:xfrm>
                  <a:prstGeom prst="rect">
                    <a:avLst/>
                  </a:prstGeom>
                  <a:solidFill>
                    <a:srgbClr val="CECFFF"/>
                  </a:solidFill>
                  <a:ln w="9525">
                    <a:noFill/>
                  </a:ln>
                </p:spPr>
                <p:txBody>
                  <a:bodyPr anchor="t"/>
                  <a:lstStyle/>
                  <a:p>
                    <a:r>
                      <a:rPr lang="zh-CN" altLang="en-US" sz="2400" b="1" dirty="0">
                        <a:solidFill>
                          <a:srgbClr val="000000"/>
                        </a:solidFill>
                        <a:latin typeface="宋体" panose="02010600030101010101" pitchFamily="2" charset="-122"/>
                      </a:rPr>
                      <a:t>黄瓜</a:t>
                    </a:r>
                  </a:p>
                  <a:p>
                    <a:pPr eaLnBrk="0" hangingPunct="0">
                      <a:buClr>
                        <a:schemeClr val="bg1"/>
                      </a:buClr>
                    </a:pPr>
                    <a:endParaRPr lang="zh-CN" altLang="en-US" sz="2400" b="1" dirty="0">
                      <a:latin typeface="Arial" panose="020B0604020202020204" pitchFamily="34" charset="0"/>
                    </a:endParaRPr>
                  </a:p>
                </p:txBody>
              </p:sp>
              <p:sp>
                <p:nvSpPr>
                  <p:cNvPr id="53298" name="矩形 448562"/>
                  <p:cNvSpPr/>
                  <p:nvPr/>
                </p:nvSpPr>
                <p:spPr>
                  <a:xfrm>
                    <a:off x="1552" y="692"/>
                    <a:ext cx="695" cy="262"/>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latin typeface="Arial" panose="020B0604020202020204" pitchFamily="34" charset="0"/>
                    </a:endParaRPr>
                  </a:p>
                </p:txBody>
              </p:sp>
            </p:grpSp>
          </p:grpSp>
          <p:grpSp>
            <p:nvGrpSpPr>
              <p:cNvPr id="53299" name="组合 448563"/>
              <p:cNvGrpSpPr/>
              <p:nvPr/>
            </p:nvGrpSpPr>
            <p:grpSpPr>
              <a:xfrm>
                <a:off x="2247" y="692"/>
                <a:ext cx="631" cy="430"/>
                <a:chOff x="2247" y="692"/>
                <a:chExt cx="631" cy="430"/>
              </a:xfrm>
            </p:grpSpPr>
            <p:sp>
              <p:nvSpPr>
                <p:cNvPr id="53300" name="矩形 448564"/>
                <p:cNvSpPr/>
                <p:nvPr/>
              </p:nvSpPr>
              <p:spPr>
                <a:xfrm>
                  <a:off x="2247" y="692"/>
                  <a:ext cx="631" cy="430"/>
                </a:xfrm>
                <a:prstGeom prst="rect">
                  <a:avLst/>
                </a:prstGeom>
                <a:solidFill>
                  <a:srgbClr val="CECFFF"/>
                </a:solidFill>
                <a:ln w="9525">
                  <a:noFill/>
                </a:ln>
              </p:spPr>
              <p:txBody>
                <a:bodyPr anchor="t"/>
                <a:lstStyle/>
                <a:p>
                  <a:endParaRPr lang="zh-CN" altLang="en-US">
                    <a:latin typeface="Arial" panose="020B0604020202020204" pitchFamily="34" charset="0"/>
                  </a:endParaRPr>
                </a:p>
              </p:txBody>
            </p:sp>
            <p:grpSp>
              <p:nvGrpSpPr>
                <p:cNvPr id="53301" name="组合 448565"/>
                <p:cNvGrpSpPr/>
                <p:nvPr/>
              </p:nvGrpSpPr>
              <p:grpSpPr>
                <a:xfrm>
                  <a:off x="2247" y="692"/>
                  <a:ext cx="631" cy="262"/>
                  <a:chOff x="2247" y="692"/>
                  <a:chExt cx="631" cy="262"/>
                </a:xfrm>
              </p:grpSpPr>
              <p:sp>
                <p:nvSpPr>
                  <p:cNvPr id="53302" name="矩形 448566"/>
                  <p:cNvSpPr/>
                  <p:nvPr/>
                </p:nvSpPr>
                <p:spPr>
                  <a:xfrm>
                    <a:off x="2289" y="734"/>
                    <a:ext cx="547" cy="178"/>
                  </a:xfrm>
                  <a:prstGeom prst="rect">
                    <a:avLst/>
                  </a:prstGeom>
                  <a:solidFill>
                    <a:srgbClr val="CECFFF"/>
                  </a:solidFill>
                  <a:ln w="9525">
                    <a:noFill/>
                  </a:ln>
                </p:spPr>
                <p:txBody>
                  <a:bodyPr anchor="t"/>
                  <a:lstStyle/>
                  <a:p>
                    <a:r>
                      <a:rPr lang="en-US" altLang="zh-CN" sz="2400" b="1">
                        <a:solidFill>
                          <a:srgbClr val="000000"/>
                        </a:solidFill>
                        <a:latin typeface="宋体" panose="02010600030101010101" pitchFamily="2" charset="-122"/>
                      </a:rPr>
                      <a:t>4</a:t>
                    </a:r>
                    <a:r>
                      <a:rPr lang="zh-CN" altLang="en-US" sz="2400" b="1" dirty="0">
                        <a:solidFill>
                          <a:srgbClr val="000000"/>
                        </a:solidFill>
                        <a:latin typeface="宋体" panose="02010600030101010101" pitchFamily="2" charset="-122"/>
                      </a:rPr>
                      <a:t>～</a:t>
                    </a:r>
                    <a:r>
                      <a:rPr lang="en-US" altLang="zh-CN" sz="2400" b="1">
                        <a:solidFill>
                          <a:srgbClr val="000000"/>
                        </a:solidFill>
                        <a:latin typeface="宋体" panose="02010600030101010101" pitchFamily="2" charset="-122"/>
                      </a:rPr>
                      <a:t>12</a:t>
                    </a:r>
                  </a:p>
                  <a:p>
                    <a:pPr eaLnBrk="0" hangingPunct="0">
                      <a:buClr>
                        <a:schemeClr val="bg1"/>
                      </a:buClr>
                    </a:pPr>
                    <a:endParaRPr lang="zh-CN" altLang="en-US" sz="2400" b="1" dirty="0">
                      <a:latin typeface="Arial" panose="020B0604020202020204" pitchFamily="34" charset="0"/>
                    </a:endParaRPr>
                  </a:p>
                </p:txBody>
              </p:sp>
              <p:sp>
                <p:nvSpPr>
                  <p:cNvPr id="53303" name="矩形 448567"/>
                  <p:cNvSpPr/>
                  <p:nvPr/>
                </p:nvSpPr>
                <p:spPr>
                  <a:xfrm>
                    <a:off x="2247" y="692"/>
                    <a:ext cx="631" cy="262"/>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latin typeface="Arial" panose="020B0604020202020204" pitchFamily="34" charset="0"/>
                    </a:endParaRPr>
                  </a:p>
                </p:txBody>
              </p:sp>
            </p:grpSp>
          </p:grpSp>
          <p:grpSp>
            <p:nvGrpSpPr>
              <p:cNvPr id="53304" name="组合 448568"/>
              <p:cNvGrpSpPr/>
              <p:nvPr/>
            </p:nvGrpSpPr>
            <p:grpSpPr>
              <a:xfrm>
                <a:off x="0" y="1038"/>
                <a:ext cx="770" cy="430"/>
                <a:chOff x="0" y="1038"/>
                <a:chExt cx="770" cy="430"/>
              </a:xfrm>
            </p:grpSpPr>
            <p:sp>
              <p:nvSpPr>
                <p:cNvPr id="53305" name="矩形 448569"/>
                <p:cNvSpPr/>
                <p:nvPr/>
              </p:nvSpPr>
              <p:spPr>
                <a:xfrm>
                  <a:off x="0" y="1038"/>
                  <a:ext cx="770" cy="430"/>
                </a:xfrm>
                <a:prstGeom prst="rect">
                  <a:avLst/>
                </a:prstGeom>
                <a:solidFill>
                  <a:srgbClr val="CECFFF"/>
                </a:solidFill>
                <a:ln w="9525">
                  <a:noFill/>
                </a:ln>
              </p:spPr>
              <p:txBody>
                <a:bodyPr anchor="t"/>
                <a:lstStyle/>
                <a:p>
                  <a:endParaRPr lang="zh-CN" altLang="en-US">
                    <a:latin typeface="Arial" panose="020B0604020202020204" pitchFamily="34" charset="0"/>
                  </a:endParaRPr>
                </a:p>
              </p:txBody>
            </p:sp>
            <p:grpSp>
              <p:nvGrpSpPr>
                <p:cNvPr id="53306" name="组合 448570"/>
                <p:cNvGrpSpPr/>
                <p:nvPr/>
              </p:nvGrpSpPr>
              <p:grpSpPr>
                <a:xfrm>
                  <a:off x="0" y="1038"/>
                  <a:ext cx="770" cy="262"/>
                  <a:chOff x="0" y="1038"/>
                  <a:chExt cx="770" cy="262"/>
                </a:xfrm>
              </p:grpSpPr>
              <p:sp>
                <p:nvSpPr>
                  <p:cNvPr id="53307" name="矩形 448571"/>
                  <p:cNvSpPr/>
                  <p:nvPr/>
                </p:nvSpPr>
                <p:spPr>
                  <a:xfrm>
                    <a:off x="42" y="1080"/>
                    <a:ext cx="686" cy="178"/>
                  </a:xfrm>
                  <a:prstGeom prst="rect">
                    <a:avLst/>
                  </a:prstGeom>
                  <a:solidFill>
                    <a:srgbClr val="CECFFF"/>
                  </a:solidFill>
                  <a:ln w="9525">
                    <a:noFill/>
                  </a:ln>
                </p:spPr>
                <p:txBody>
                  <a:bodyPr anchor="t"/>
                  <a:lstStyle/>
                  <a:p>
                    <a:r>
                      <a:rPr lang="zh-CN" altLang="en-US" sz="2400" b="1" dirty="0">
                        <a:solidFill>
                          <a:srgbClr val="000000"/>
                        </a:solidFill>
                        <a:latin typeface="宋体" panose="02010600030101010101" pitchFamily="2" charset="-122"/>
                      </a:rPr>
                      <a:t>绿辣椒</a:t>
                    </a:r>
                  </a:p>
                  <a:p>
                    <a:pPr eaLnBrk="0" hangingPunct="0">
                      <a:buClr>
                        <a:schemeClr val="bg1"/>
                      </a:buClr>
                    </a:pPr>
                    <a:endParaRPr lang="zh-CN" altLang="en-US" sz="2400" b="1" dirty="0">
                      <a:latin typeface="Arial" panose="020B0604020202020204" pitchFamily="34" charset="0"/>
                    </a:endParaRPr>
                  </a:p>
                </p:txBody>
              </p:sp>
              <p:sp>
                <p:nvSpPr>
                  <p:cNvPr id="53308" name="矩形 448572"/>
                  <p:cNvSpPr/>
                  <p:nvPr/>
                </p:nvSpPr>
                <p:spPr>
                  <a:xfrm>
                    <a:off x="0" y="1038"/>
                    <a:ext cx="770" cy="262"/>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latin typeface="Arial" panose="020B0604020202020204" pitchFamily="34" charset="0"/>
                    </a:endParaRPr>
                  </a:p>
                </p:txBody>
              </p:sp>
            </p:grpSp>
          </p:grpSp>
          <p:grpSp>
            <p:nvGrpSpPr>
              <p:cNvPr id="53309" name="组合 448573"/>
              <p:cNvGrpSpPr/>
              <p:nvPr/>
            </p:nvGrpSpPr>
            <p:grpSpPr>
              <a:xfrm>
                <a:off x="770" y="1038"/>
                <a:ext cx="782" cy="430"/>
                <a:chOff x="770" y="1038"/>
                <a:chExt cx="782" cy="430"/>
              </a:xfrm>
            </p:grpSpPr>
            <p:sp>
              <p:nvSpPr>
                <p:cNvPr id="53310" name="矩形 448574"/>
                <p:cNvSpPr/>
                <p:nvPr/>
              </p:nvSpPr>
              <p:spPr>
                <a:xfrm>
                  <a:off x="770" y="1038"/>
                  <a:ext cx="782" cy="430"/>
                </a:xfrm>
                <a:prstGeom prst="rect">
                  <a:avLst/>
                </a:prstGeom>
                <a:solidFill>
                  <a:srgbClr val="CECFFF"/>
                </a:solidFill>
                <a:ln w="9525">
                  <a:noFill/>
                </a:ln>
              </p:spPr>
              <p:txBody>
                <a:bodyPr anchor="t"/>
                <a:lstStyle/>
                <a:p>
                  <a:endParaRPr lang="zh-CN" altLang="en-US">
                    <a:latin typeface="Arial" panose="020B0604020202020204" pitchFamily="34" charset="0"/>
                  </a:endParaRPr>
                </a:p>
              </p:txBody>
            </p:sp>
            <p:grpSp>
              <p:nvGrpSpPr>
                <p:cNvPr id="53311" name="组合 448575"/>
                <p:cNvGrpSpPr/>
                <p:nvPr/>
              </p:nvGrpSpPr>
              <p:grpSpPr>
                <a:xfrm>
                  <a:off x="770" y="1038"/>
                  <a:ext cx="782" cy="262"/>
                  <a:chOff x="770" y="1038"/>
                  <a:chExt cx="782" cy="262"/>
                </a:xfrm>
              </p:grpSpPr>
              <p:sp>
                <p:nvSpPr>
                  <p:cNvPr id="53312" name="矩形 448576"/>
                  <p:cNvSpPr/>
                  <p:nvPr/>
                </p:nvSpPr>
                <p:spPr>
                  <a:xfrm>
                    <a:off x="812" y="1080"/>
                    <a:ext cx="698" cy="178"/>
                  </a:xfrm>
                  <a:prstGeom prst="rect">
                    <a:avLst/>
                  </a:prstGeom>
                  <a:solidFill>
                    <a:srgbClr val="CECFFF"/>
                  </a:solidFill>
                  <a:ln w="9525">
                    <a:noFill/>
                  </a:ln>
                </p:spPr>
                <p:txBody>
                  <a:bodyPr anchor="t"/>
                  <a:lstStyle/>
                  <a:p>
                    <a:r>
                      <a:rPr lang="en-US" altLang="zh-CN" sz="2400" b="1">
                        <a:solidFill>
                          <a:srgbClr val="000000"/>
                        </a:solidFill>
                        <a:latin typeface="宋体" panose="02010600030101010101" pitchFamily="2" charset="-122"/>
                      </a:rPr>
                      <a:t>89</a:t>
                    </a:r>
                  </a:p>
                  <a:p>
                    <a:pPr eaLnBrk="0" hangingPunct="0">
                      <a:buClr>
                        <a:schemeClr val="bg1"/>
                      </a:buClr>
                    </a:pPr>
                    <a:endParaRPr lang="zh-CN" altLang="en-US" sz="2400" b="1" dirty="0">
                      <a:latin typeface="Arial" panose="020B0604020202020204" pitchFamily="34" charset="0"/>
                    </a:endParaRPr>
                  </a:p>
                </p:txBody>
              </p:sp>
              <p:sp>
                <p:nvSpPr>
                  <p:cNvPr id="53313" name="矩形 448577"/>
                  <p:cNvSpPr/>
                  <p:nvPr/>
                </p:nvSpPr>
                <p:spPr>
                  <a:xfrm>
                    <a:off x="770" y="1038"/>
                    <a:ext cx="782" cy="262"/>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latin typeface="Arial" panose="020B0604020202020204" pitchFamily="34" charset="0"/>
                    </a:endParaRPr>
                  </a:p>
                </p:txBody>
              </p:sp>
            </p:grpSp>
          </p:grpSp>
          <p:grpSp>
            <p:nvGrpSpPr>
              <p:cNvPr id="53314" name="组合 448578"/>
              <p:cNvGrpSpPr/>
              <p:nvPr/>
            </p:nvGrpSpPr>
            <p:grpSpPr>
              <a:xfrm>
                <a:off x="1552" y="1038"/>
                <a:ext cx="695" cy="430"/>
                <a:chOff x="1552" y="1038"/>
                <a:chExt cx="695" cy="430"/>
              </a:xfrm>
            </p:grpSpPr>
            <p:sp>
              <p:nvSpPr>
                <p:cNvPr id="53315" name="矩形 448579"/>
                <p:cNvSpPr/>
                <p:nvPr/>
              </p:nvSpPr>
              <p:spPr>
                <a:xfrm>
                  <a:off x="1552" y="1038"/>
                  <a:ext cx="695" cy="430"/>
                </a:xfrm>
                <a:prstGeom prst="rect">
                  <a:avLst/>
                </a:prstGeom>
                <a:solidFill>
                  <a:srgbClr val="CECFFF"/>
                </a:solidFill>
                <a:ln w="9525">
                  <a:noFill/>
                </a:ln>
              </p:spPr>
              <p:txBody>
                <a:bodyPr anchor="t"/>
                <a:lstStyle/>
                <a:p>
                  <a:endParaRPr lang="zh-CN" altLang="en-US">
                    <a:latin typeface="Arial" panose="020B0604020202020204" pitchFamily="34" charset="0"/>
                  </a:endParaRPr>
                </a:p>
              </p:txBody>
            </p:sp>
            <p:grpSp>
              <p:nvGrpSpPr>
                <p:cNvPr id="53316" name="组合 448580"/>
                <p:cNvGrpSpPr/>
                <p:nvPr/>
              </p:nvGrpSpPr>
              <p:grpSpPr>
                <a:xfrm>
                  <a:off x="1552" y="1038"/>
                  <a:ext cx="695" cy="262"/>
                  <a:chOff x="1552" y="1038"/>
                  <a:chExt cx="695" cy="262"/>
                </a:xfrm>
              </p:grpSpPr>
              <p:sp>
                <p:nvSpPr>
                  <p:cNvPr id="53317" name="矩形 448581"/>
                  <p:cNvSpPr/>
                  <p:nvPr/>
                </p:nvSpPr>
                <p:spPr>
                  <a:xfrm>
                    <a:off x="1594" y="1080"/>
                    <a:ext cx="611" cy="178"/>
                  </a:xfrm>
                  <a:prstGeom prst="rect">
                    <a:avLst/>
                  </a:prstGeom>
                  <a:solidFill>
                    <a:srgbClr val="CECFFF"/>
                  </a:solidFill>
                  <a:ln w="9525">
                    <a:noFill/>
                  </a:ln>
                </p:spPr>
                <p:txBody>
                  <a:bodyPr anchor="t"/>
                  <a:lstStyle/>
                  <a:p>
                    <a:r>
                      <a:rPr lang="zh-CN" altLang="en-US" sz="2400" b="1" dirty="0">
                        <a:solidFill>
                          <a:srgbClr val="000000"/>
                        </a:solidFill>
                        <a:latin typeface="宋体" panose="02010600030101010101" pitchFamily="2" charset="-122"/>
                      </a:rPr>
                      <a:t>沙田柚</a:t>
                    </a:r>
                  </a:p>
                  <a:p>
                    <a:pPr eaLnBrk="0" hangingPunct="0">
                      <a:buClr>
                        <a:schemeClr val="bg1"/>
                      </a:buClr>
                    </a:pPr>
                    <a:endParaRPr lang="zh-CN" altLang="en-US" sz="2400" b="1" dirty="0">
                      <a:latin typeface="Arial" panose="020B0604020202020204" pitchFamily="34" charset="0"/>
                    </a:endParaRPr>
                  </a:p>
                </p:txBody>
              </p:sp>
              <p:sp>
                <p:nvSpPr>
                  <p:cNvPr id="53318" name="矩形 448582"/>
                  <p:cNvSpPr/>
                  <p:nvPr/>
                </p:nvSpPr>
                <p:spPr>
                  <a:xfrm>
                    <a:off x="1552" y="1038"/>
                    <a:ext cx="695" cy="262"/>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latin typeface="Arial" panose="020B0604020202020204" pitchFamily="34" charset="0"/>
                    </a:endParaRPr>
                  </a:p>
                </p:txBody>
              </p:sp>
            </p:grpSp>
          </p:grpSp>
          <p:grpSp>
            <p:nvGrpSpPr>
              <p:cNvPr id="53319" name="组合 448583"/>
              <p:cNvGrpSpPr/>
              <p:nvPr/>
            </p:nvGrpSpPr>
            <p:grpSpPr>
              <a:xfrm>
                <a:off x="2247" y="1038"/>
                <a:ext cx="631" cy="430"/>
                <a:chOff x="2247" y="1038"/>
                <a:chExt cx="631" cy="430"/>
              </a:xfrm>
            </p:grpSpPr>
            <p:sp>
              <p:nvSpPr>
                <p:cNvPr id="53320" name="矩形 448584"/>
                <p:cNvSpPr/>
                <p:nvPr/>
              </p:nvSpPr>
              <p:spPr>
                <a:xfrm>
                  <a:off x="2247" y="1038"/>
                  <a:ext cx="631" cy="430"/>
                </a:xfrm>
                <a:prstGeom prst="rect">
                  <a:avLst/>
                </a:prstGeom>
                <a:solidFill>
                  <a:srgbClr val="CECFFF"/>
                </a:solidFill>
                <a:ln w="9525">
                  <a:noFill/>
                </a:ln>
              </p:spPr>
              <p:txBody>
                <a:bodyPr anchor="t"/>
                <a:lstStyle/>
                <a:p>
                  <a:endParaRPr lang="zh-CN" altLang="en-US">
                    <a:latin typeface="Arial" panose="020B0604020202020204" pitchFamily="34" charset="0"/>
                  </a:endParaRPr>
                </a:p>
              </p:txBody>
            </p:sp>
            <p:grpSp>
              <p:nvGrpSpPr>
                <p:cNvPr id="53321" name="组合 448585"/>
                <p:cNvGrpSpPr/>
                <p:nvPr/>
              </p:nvGrpSpPr>
              <p:grpSpPr>
                <a:xfrm>
                  <a:off x="2247" y="1038"/>
                  <a:ext cx="631" cy="262"/>
                  <a:chOff x="2247" y="1038"/>
                  <a:chExt cx="631" cy="262"/>
                </a:xfrm>
              </p:grpSpPr>
              <p:sp>
                <p:nvSpPr>
                  <p:cNvPr id="53322" name="矩形 448586"/>
                  <p:cNvSpPr/>
                  <p:nvPr/>
                </p:nvSpPr>
                <p:spPr>
                  <a:xfrm>
                    <a:off x="2289" y="1080"/>
                    <a:ext cx="547" cy="178"/>
                  </a:xfrm>
                  <a:prstGeom prst="rect">
                    <a:avLst/>
                  </a:prstGeom>
                  <a:solidFill>
                    <a:srgbClr val="CECFFF"/>
                  </a:solidFill>
                  <a:ln w="9525">
                    <a:noFill/>
                  </a:ln>
                </p:spPr>
                <p:txBody>
                  <a:bodyPr anchor="t"/>
                  <a:lstStyle/>
                  <a:p>
                    <a:r>
                      <a:rPr lang="en-US" altLang="zh-CN" sz="2400" b="1">
                        <a:solidFill>
                          <a:srgbClr val="000000"/>
                        </a:solidFill>
                        <a:latin typeface="宋体" panose="02010600030101010101" pitchFamily="2" charset="-122"/>
                      </a:rPr>
                      <a:t>12.3</a:t>
                    </a:r>
                  </a:p>
                  <a:p>
                    <a:pPr eaLnBrk="0" hangingPunct="0">
                      <a:buClr>
                        <a:schemeClr val="bg1"/>
                      </a:buClr>
                    </a:pPr>
                    <a:endParaRPr lang="zh-CN" altLang="en-US" sz="2400" b="1" dirty="0">
                      <a:latin typeface="Arial" panose="020B0604020202020204" pitchFamily="34" charset="0"/>
                    </a:endParaRPr>
                  </a:p>
                </p:txBody>
              </p:sp>
              <p:sp>
                <p:nvSpPr>
                  <p:cNvPr id="53323" name="矩形 448587"/>
                  <p:cNvSpPr/>
                  <p:nvPr/>
                </p:nvSpPr>
                <p:spPr>
                  <a:xfrm>
                    <a:off x="2247" y="1038"/>
                    <a:ext cx="631" cy="262"/>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latin typeface="Arial" panose="020B0604020202020204" pitchFamily="34" charset="0"/>
                    </a:endParaRPr>
                  </a:p>
                </p:txBody>
              </p:sp>
            </p:grpSp>
          </p:grpSp>
          <p:grpSp>
            <p:nvGrpSpPr>
              <p:cNvPr id="53324" name="组合 448588"/>
              <p:cNvGrpSpPr/>
              <p:nvPr/>
            </p:nvGrpSpPr>
            <p:grpSpPr>
              <a:xfrm>
                <a:off x="0" y="1384"/>
                <a:ext cx="770" cy="430"/>
                <a:chOff x="0" y="1384"/>
                <a:chExt cx="770" cy="430"/>
              </a:xfrm>
            </p:grpSpPr>
            <p:sp>
              <p:nvSpPr>
                <p:cNvPr id="53325" name="矩形 448589"/>
                <p:cNvSpPr/>
                <p:nvPr/>
              </p:nvSpPr>
              <p:spPr>
                <a:xfrm>
                  <a:off x="0" y="1384"/>
                  <a:ext cx="770" cy="430"/>
                </a:xfrm>
                <a:prstGeom prst="rect">
                  <a:avLst/>
                </a:prstGeom>
                <a:solidFill>
                  <a:srgbClr val="CECFFF"/>
                </a:solidFill>
                <a:ln w="9525">
                  <a:noFill/>
                </a:ln>
              </p:spPr>
              <p:txBody>
                <a:bodyPr anchor="t"/>
                <a:lstStyle/>
                <a:p>
                  <a:endParaRPr lang="zh-CN" altLang="en-US">
                    <a:latin typeface="Arial" panose="020B0604020202020204" pitchFamily="34" charset="0"/>
                  </a:endParaRPr>
                </a:p>
              </p:txBody>
            </p:sp>
            <p:grpSp>
              <p:nvGrpSpPr>
                <p:cNvPr id="53326" name="组合 448590"/>
                <p:cNvGrpSpPr/>
                <p:nvPr/>
              </p:nvGrpSpPr>
              <p:grpSpPr>
                <a:xfrm>
                  <a:off x="0" y="1384"/>
                  <a:ext cx="770" cy="262"/>
                  <a:chOff x="0" y="1384"/>
                  <a:chExt cx="770" cy="262"/>
                </a:xfrm>
              </p:grpSpPr>
              <p:sp>
                <p:nvSpPr>
                  <p:cNvPr id="53327" name="矩形 448591"/>
                  <p:cNvSpPr/>
                  <p:nvPr/>
                </p:nvSpPr>
                <p:spPr>
                  <a:xfrm>
                    <a:off x="42" y="1426"/>
                    <a:ext cx="686" cy="178"/>
                  </a:xfrm>
                  <a:prstGeom prst="rect">
                    <a:avLst/>
                  </a:prstGeom>
                  <a:solidFill>
                    <a:srgbClr val="CECFFF"/>
                  </a:solidFill>
                  <a:ln w="9525">
                    <a:noFill/>
                  </a:ln>
                </p:spPr>
                <p:txBody>
                  <a:bodyPr anchor="t"/>
                  <a:lstStyle/>
                  <a:p>
                    <a:r>
                      <a:rPr lang="zh-CN" altLang="en-US" sz="2400" b="1" dirty="0">
                        <a:solidFill>
                          <a:srgbClr val="000000"/>
                        </a:solidFill>
                        <a:latin typeface="宋体" panose="02010600030101010101" pitchFamily="2" charset="-122"/>
                      </a:rPr>
                      <a:t>苦瓜</a:t>
                    </a:r>
                  </a:p>
                  <a:p>
                    <a:pPr eaLnBrk="0" hangingPunct="0">
                      <a:buClr>
                        <a:schemeClr val="bg1"/>
                      </a:buClr>
                    </a:pPr>
                    <a:endParaRPr lang="zh-CN" altLang="en-US" sz="2400" b="1" dirty="0">
                      <a:latin typeface="Arial" panose="020B0604020202020204" pitchFamily="34" charset="0"/>
                    </a:endParaRPr>
                  </a:p>
                </p:txBody>
              </p:sp>
              <p:sp>
                <p:nvSpPr>
                  <p:cNvPr id="53328" name="矩形 448592"/>
                  <p:cNvSpPr/>
                  <p:nvPr/>
                </p:nvSpPr>
                <p:spPr>
                  <a:xfrm>
                    <a:off x="0" y="1384"/>
                    <a:ext cx="770" cy="262"/>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latin typeface="Arial" panose="020B0604020202020204" pitchFamily="34" charset="0"/>
                    </a:endParaRPr>
                  </a:p>
                </p:txBody>
              </p:sp>
            </p:grpSp>
          </p:grpSp>
          <p:grpSp>
            <p:nvGrpSpPr>
              <p:cNvPr id="53329" name="组合 448593"/>
              <p:cNvGrpSpPr/>
              <p:nvPr/>
            </p:nvGrpSpPr>
            <p:grpSpPr>
              <a:xfrm>
                <a:off x="770" y="1384"/>
                <a:ext cx="782" cy="430"/>
                <a:chOff x="770" y="1384"/>
                <a:chExt cx="782" cy="430"/>
              </a:xfrm>
            </p:grpSpPr>
            <p:sp>
              <p:nvSpPr>
                <p:cNvPr id="53330" name="矩形 448594"/>
                <p:cNvSpPr/>
                <p:nvPr/>
              </p:nvSpPr>
              <p:spPr>
                <a:xfrm>
                  <a:off x="770" y="1384"/>
                  <a:ext cx="782" cy="430"/>
                </a:xfrm>
                <a:prstGeom prst="rect">
                  <a:avLst/>
                </a:prstGeom>
                <a:solidFill>
                  <a:srgbClr val="CECFFF"/>
                </a:solidFill>
                <a:ln w="9525">
                  <a:noFill/>
                </a:ln>
              </p:spPr>
              <p:txBody>
                <a:bodyPr anchor="t"/>
                <a:lstStyle/>
                <a:p>
                  <a:endParaRPr lang="zh-CN" altLang="en-US">
                    <a:latin typeface="Arial" panose="020B0604020202020204" pitchFamily="34" charset="0"/>
                  </a:endParaRPr>
                </a:p>
              </p:txBody>
            </p:sp>
            <p:grpSp>
              <p:nvGrpSpPr>
                <p:cNvPr id="53331" name="组合 448595"/>
                <p:cNvGrpSpPr/>
                <p:nvPr/>
              </p:nvGrpSpPr>
              <p:grpSpPr>
                <a:xfrm>
                  <a:off x="770" y="1384"/>
                  <a:ext cx="782" cy="262"/>
                  <a:chOff x="770" y="1384"/>
                  <a:chExt cx="782" cy="262"/>
                </a:xfrm>
              </p:grpSpPr>
              <p:sp>
                <p:nvSpPr>
                  <p:cNvPr id="53332" name="矩形 448596"/>
                  <p:cNvSpPr/>
                  <p:nvPr/>
                </p:nvSpPr>
                <p:spPr>
                  <a:xfrm>
                    <a:off x="812" y="1426"/>
                    <a:ext cx="698" cy="178"/>
                  </a:xfrm>
                  <a:prstGeom prst="rect">
                    <a:avLst/>
                  </a:prstGeom>
                  <a:solidFill>
                    <a:srgbClr val="CECFFF"/>
                  </a:solidFill>
                  <a:ln w="9525">
                    <a:noFill/>
                  </a:ln>
                </p:spPr>
                <p:txBody>
                  <a:bodyPr anchor="t"/>
                  <a:lstStyle/>
                  <a:p>
                    <a:r>
                      <a:rPr lang="en-US" altLang="zh-CN" sz="2400" b="1">
                        <a:solidFill>
                          <a:srgbClr val="000000"/>
                        </a:solidFill>
                        <a:latin typeface="宋体" panose="02010600030101010101" pitchFamily="2" charset="-122"/>
                      </a:rPr>
                      <a:t>84</a:t>
                    </a:r>
                  </a:p>
                  <a:p>
                    <a:pPr eaLnBrk="0" hangingPunct="0">
                      <a:buClr>
                        <a:schemeClr val="bg1"/>
                      </a:buClr>
                    </a:pPr>
                    <a:endParaRPr lang="zh-CN" altLang="en-US" sz="2400" b="1" dirty="0">
                      <a:latin typeface="Arial" panose="020B0604020202020204" pitchFamily="34" charset="0"/>
                    </a:endParaRPr>
                  </a:p>
                </p:txBody>
              </p:sp>
              <p:sp>
                <p:nvSpPr>
                  <p:cNvPr id="53333" name="矩形 448597"/>
                  <p:cNvSpPr/>
                  <p:nvPr/>
                </p:nvSpPr>
                <p:spPr>
                  <a:xfrm>
                    <a:off x="770" y="1384"/>
                    <a:ext cx="782" cy="262"/>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latin typeface="Arial" panose="020B0604020202020204" pitchFamily="34" charset="0"/>
                    </a:endParaRPr>
                  </a:p>
                </p:txBody>
              </p:sp>
            </p:grpSp>
          </p:grpSp>
          <p:grpSp>
            <p:nvGrpSpPr>
              <p:cNvPr id="53334" name="组合 448598"/>
              <p:cNvGrpSpPr/>
              <p:nvPr/>
            </p:nvGrpSpPr>
            <p:grpSpPr>
              <a:xfrm>
                <a:off x="1552" y="1384"/>
                <a:ext cx="695" cy="430"/>
                <a:chOff x="1552" y="1384"/>
                <a:chExt cx="695" cy="430"/>
              </a:xfrm>
            </p:grpSpPr>
            <p:sp>
              <p:nvSpPr>
                <p:cNvPr id="53335" name="矩形 448599"/>
                <p:cNvSpPr/>
                <p:nvPr/>
              </p:nvSpPr>
              <p:spPr>
                <a:xfrm>
                  <a:off x="1552" y="1384"/>
                  <a:ext cx="695" cy="430"/>
                </a:xfrm>
                <a:prstGeom prst="rect">
                  <a:avLst/>
                </a:prstGeom>
                <a:solidFill>
                  <a:srgbClr val="CECFFF"/>
                </a:solidFill>
                <a:ln w="9525">
                  <a:noFill/>
                </a:ln>
              </p:spPr>
              <p:txBody>
                <a:bodyPr anchor="t"/>
                <a:lstStyle/>
                <a:p>
                  <a:endParaRPr lang="zh-CN" altLang="en-US">
                    <a:latin typeface="Arial" panose="020B0604020202020204" pitchFamily="34" charset="0"/>
                  </a:endParaRPr>
                </a:p>
              </p:txBody>
            </p:sp>
            <p:grpSp>
              <p:nvGrpSpPr>
                <p:cNvPr id="53336" name="组合 448600"/>
                <p:cNvGrpSpPr/>
                <p:nvPr/>
              </p:nvGrpSpPr>
              <p:grpSpPr>
                <a:xfrm>
                  <a:off x="1552" y="1384"/>
                  <a:ext cx="695" cy="262"/>
                  <a:chOff x="1552" y="1384"/>
                  <a:chExt cx="695" cy="262"/>
                </a:xfrm>
              </p:grpSpPr>
              <p:sp>
                <p:nvSpPr>
                  <p:cNvPr id="53337" name="矩形 448601"/>
                  <p:cNvSpPr/>
                  <p:nvPr/>
                </p:nvSpPr>
                <p:spPr>
                  <a:xfrm>
                    <a:off x="1594" y="1426"/>
                    <a:ext cx="611" cy="178"/>
                  </a:xfrm>
                  <a:prstGeom prst="rect">
                    <a:avLst/>
                  </a:prstGeom>
                  <a:solidFill>
                    <a:srgbClr val="CECFFF"/>
                  </a:solidFill>
                  <a:ln w="9525">
                    <a:noFill/>
                  </a:ln>
                </p:spPr>
                <p:txBody>
                  <a:bodyPr anchor="t"/>
                  <a:lstStyle/>
                  <a:p>
                    <a:r>
                      <a:rPr lang="zh-CN" altLang="en-US" sz="2400" b="1" dirty="0">
                        <a:solidFill>
                          <a:srgbClr val="000000"/>
                        </a:solidFill>
                        <a:latin typeface="宋体" panose="02010600030101010101" pitchFamily="2" charset="-122"/>
                      </a:rPr>
                      <a:t>山楂</a:t>
                    </a:r>
                  </a:p>
                  <a:p>
                    <a:pPr eaLnBrk="0" hangingPunct="0">
                      <a:buClr>
                        <a:schemeClr val="bg1"/>
                      </a:buClr>
                    </a:pPr>
                    <a:endParaRPr lang="zh-CN" altLang="en-US" sz="2400" b="1" dirty="0">
                      <a:latin typeface="Arial" panose="020B0604020202020204" pitchFamily="34" charset="0"/>
                    </a:endParaRPr>
                  </a:p>
                </p:txBody>
              </p:sp>
              <p:sp>
                <p:nvSpPr>
                  <p:cNvPr id="53338" name="矩形 448602"/>
                  <p:cNvSpPr/>
                  <p:nvPr/>
                </p:nvSpPr>
                <p:spPr>
                  <a:xfrm>
                    <a:off x="1552" y="1384"/>
                    <a:ext cx="695" cy="262"/>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latin typeface="Arial" panose="020B0604020202020204" pitchFamily="34" charset="0"/>
                    </a:endParaRPr>
                  </a:p>
                </p:txBody>
              </p:sp>
            </p:grpSp>
          </p:grpSp>
          <p:grpSp>
            <p:nvGrpSpPr>
              <p:cNvPr id="53339" name="组合 448603"/>
              <p:cNvGrpSpPr/>
              <p:nvPr/>
            </p:nvGrpSpPr>
            <p:grpSpPr>
              <a:xfrm>
                <a:off x="2247" y="1384"/>
                <a:ext cx="631" cy="430"/>
                <a:chOff x="2247" y="1384"/>
                <a:chExt cx="631" cy="430"/>
              </a:xfrm>
            </p:grpSpPr>
            <p:sp>
              <p:nvSpPr>
                <p:cNvPr id="53340" name="矩形 448604"/>
                <p:cNvSpPr/>
                <p:nvPr/>
              </p:nvSpPr>
              <p:spPr>
                <a:xfrm>
                  <a:off x="2247" y="1384"/>
                  <a:ext cx="631" cy="430"/>
                </a:xfrm>
                <a:prstGeom prst="rect">
                  <a:avLst/>
                </a:prstGeom>
                <a:solidFill>
                  <a:srgbClr val="CECFFF"/>
                </a:solidFill>
                <a:ln w="9525">
                  <a:noFill/>
                </a:ln>
              </p:spPr>
              <p:txBody>
                <a:bodyPr anchor="t"/>
                <a:lstStyle/>
                <a:p>
                  <a:endParaRPr lang="zh-CN" altLang="en-US">
                    <a:latin typeface="Arial" panose="020B0604020202020204" pitchFamily="34" charset="0"/>
                  </a:endParaRPr>
                </a:p>
              </p:txBody>
            </p:sp>
            <p:grpSp>
              <p:nvGrpSpPr>
                <p:cNvPr id="53341" name="组合 448605"/>
                <p:cNvGrpSpPr/>
                <p:nvPr/>
              </p:nvGrpSpPr>
              <p:grpSpPr>
                <a:xfrm>
                  <a:off x="2247" y="1384"/>
                  <a:ext cx="631" cy="262"/>
                  <a:chOff x="2247" y="1384"/>
                  <a:chExt cx="631" cy="262"/>
                </a:xfrm>
              </p:grpSpPr>
              <p:sp>
                <p:nvSpPr>
                  <p:cNvPr id="53342" name="矩形 448606"/>
                  <p:cNvSpPr/>
                  <p:nvPr/>
                </p:nvSpPr>
                <p:spPr>
                  <a:xfrm>
                    <a:off x="2289" y="1426"/>
                    <a:ext cx="547" cy="178"/>
                  </a:xfrm>
                  <a:prstGeom prst="rect">
                    <a:avLst/>
                  </a:prstGeom>
                  <a:solidFill>
                    <a:srgbClr val="CECFFF"/>
                  </a:solidFill>
                  <a:ln w="9525">
                    <a:noFill/>
                  </a:ln>
                </p:spPr>
                <p:txBody>
                  <a:bodyPr anchor="t"/>
                  <a:lstStyle/>
                  <a:p>
                    <a:r>
                      <a:rPr lang="en-US" altLang="zh-CN" sz="2400" b="1">
                        <a:solidFill>
                          <a:srgbClr val="000000"/>
                        </a:solidFill>
                        <a:latin typeface="宋体" panose="02010600030101010101" pitchFamily="2" charset="-122"/>
                      </a:rPr>
                      <a:t>8.9</a:t>
                    </a:r>
                  </a:p>
                  <a:p>
                    <a:pPr eaLnBrk="0" hangingPunct="0">
                      <a:buClr>
                        <a:schemeClr val="bg1"/>
                      </a:buClr>
                    </a:pPr>
                    <a:endParaRPr lang="zh-CN" altLang="en-US" sz="2400" b="1" dirty="0">
                      <a:latin typeface="Arial" panose="020B0604020202020204" pitchFamily="34" charset="0"/>
                    </a:endParaRPr>
                  </a:p>
                </p:txBody>
              </p:sp>
              <p:sp>
                <p:nvSpPr>
                  <p:cNvPr id="53343" name="矩形 448607"/>
                  <p:cNvSpPr/>
                  <p:nvPr/>
                </p:nvSpPr>
                <p:spPr>
                  <a:xfrm>
                    <a:off x="2247" y="1384"/>
                    <a:ext cx="631" cy="262"/>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latin typeface="Arial" panose="020B0604020202020204" pitchFamily="34" charset="0"/>
                    </a:endParaRPr>
                  </a:p>
                </p:txBody>
              </p:sp>
            </p:grpSp>
          </p:grpSp>
          <p:grpSp>
            <p:nvGrpSpPr>
              <p:cNvPr id="53344" name="组合 448608"/>
              <p:cNvGrpSpPr/>
              <p:nvPr/>
            </p:nvGrpSpPr>
            <p:grpSpPr>
              <a:xfrm>
                <a:off x="0" y="1730"/>
                <a:ext cx="770" cy="430"/>
                <a:chOff x="0" y="1730"/>
                <a:chExt cx="770" cy="430"/>
              </a:xfrm>
            </p:grpSpPr>
            <p:sp>
              <p:nvSpPr>
                <p:cNvPr id="53345" name="矩形 448609"/>
                <p:cNvSpPr/>
                <p:nvPr/>
              </p:nvSpPr>
              <p:spPr>
                <a:xfrm>
                  <a:off x="0" y="1730"/>
                  <a:ext cx="770" cy="430"/>
                </a:xfrm>
                <a:prstGeom prst="rect">
                  <a:avLst/>
                </a:prstGeom>
                <a:solidFill>
                  <a:srgbClr val="CECFFF"/>
                </a:solidFill>
                <a:ln w="9525">
                  <a:noFill/>
                </a:ln>
              </p:spPr>
              <p:txBody>
                <a:bodyPr anchor="t"/>
                <a:lstStyle/>
                <a:p>
                  <a:endParaRPr lang="zh-CN" altLang="en-US">
                    <a:latin typeface="Arial" panose="020B0604020202020204" pitchFamily="34" charset="0"/>
                  </a:endParaRPr>
                </a:p>
              </p:txBody>
            </p:sp>
            <p:grpSp>
              <p:nvGrpSpPr>
                <p:cNvPr id="53346" name="组合 448610"/>
                <p:cNvGrpSpPr/>
                <p:nvPr/>
              </p:nvGrpSpPr>
              <p:grpSpPr>
                <a:xfrm>
                  <a:off x="0" y="1730"/>
                  <a:ext cx="770" cy="262"/>
                  <a:chOff x="0" y="1730"/>
                  <a:chExt cx="770" cy="262"/>
                </a:xfrm>
              </p:grpSpPr>
              <p:sp>
                <p:nvSpPr>
                  <p:cNvPr id="53347" name="矩形 448611"/>
                  <p:cNvSpPr/>
                  <p:nvPr/>
                </p:nvSpPr>
                <p:spPr>
                  <a:xfrm>
                    <a:off x="42" y="1772"/>
                    <a:ext cx="686" cy="178"/>
                  </a:xfrm>
                  <a:prstGeom prst="rect">
                    <a:avLst/>
                  </a:prstGeom>
                  <a:solidFill>
                    <a:srgbClr val="CECFFF"/>
                  </a:solidFill>
                  <a:ln w="9525">
                    <a:noFill/>
                  </a:ln>
                </p:spPr>
                <p:txBody>
                  <a:bodyPr anchor="t"/>
                  <a:lstStyle/>
                  <a:p>
                    <a:r>
                      <a:rPr lang="zh-CN" altLang="en-US" sz="2400" b="1" dirty="0">
                        <a:solidFill>
                          <a:srgbClr val="000000"/>
                        </a:solidFill>
                        <a:latin typeface="宋体" panose="02010600030101010101" pitchFamily="2" charset="-122"/>
                      </a:rPr>
                      <a:t>板栗（生）</a:t>
                    </a:r>
                  </a:p>
                  <a:p>
                    <a:pPr eaLnBrk="0" hangingPunct="0">
                      <a:buClr>
                        <a:schemeClr val="bg1"/>
                      </a:buClr>
                    </a:pPr>
                    <a:endParaRPr lang="zh-CN" altLang="en-US" sz="2400" b="1" dirty="0">
                      <a:latin typeface="Arial" panose="020B0604020202020204" pitchFamily="34" charset="0"/>
                    </a:endParaRPr>
                  </a:p>
                </p:txBody>
              </p:sp>
              <p:sp>
                <p:nvSpPr>
                  <p:cNvPr id="53348" name="矩形 448612"/>
                  <p:cNvSpPr/>
                  <p:nvPr/>
                </p:nvSpPr>
                <p:spPr>
                  <a:xfrm>
                    <a:off x="0" y="1730"/>
                    <a:ext cx="770" cy="262"/>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latin typeface="Arial" panose="020B0604020202020204" pitchFamily="34" charset="0"/>
                    </a:endParaRPr>
                  </a:p>
                </p:txBody>
              </p:sp>
            </p:grpSp>
          </p:grpSp>
          <p:grpSp>
            <p:nvGrpSpPr>
              <p:cNvPr id="53349" name="组合 448613"/>
              <p:cNvGrpSpPr/>
              <p:nvPr/>
            </p:nvGrpSpPr>
            <p:grpSpPr>
              <a:xfrm>
                <a:off x="770" y="1730"/>
                <a:ext cx="782" cy="430"/>
                <a:chOff x="770" y="1730"/>
                <a:chExt cx="782" cy="430"/>
              </a:xfrm>
            </p:grpSpPr>
            <p:sp>
              <p:nvSpPr>
                <p:cNvPr id="53350" name="矩形 448614"/>
                <p:cNvSpPr/>
                <p:nvPr/>
              </p:nvSpPr>
              <p:spPr>
                <a:xfrm>
                  <a:off x="770" y="1730"/>
                  <a:ext cx="782" cy="430"/>
                </a:xfrm>
                <a:prstGeom prst="rect">
                  <a:avLst/>
                </a:prstGeom>
                <a:solidFill>
                  <a:srgbClr val="CECFFF"/>
                </a:solidFill>
                <a:ln w="9525">
                  <a:noFill/>
                </a:ln>
              </p:spPr>
              <p:txBody>
                <a:bodyPr anchor="t"/>
                <a:lstStyle/>
                <a:p>
                  <a:endParaRPr lang="zh-CN" altLang="en-US">
                    <a:latin typeface="Arial" panose="020B0604020202020204" pitchFamily="34" charset="0"/>
                  </a:endParaRPr>
                </a:p>
              </p:txBody>
            </p:sp>
            <p:grpSp>
              <p:nvGrpSpPr>
                <p:cNvPr id="53351" name="组合 448615"/>
                <p:cNvGrpSpPr/>
                <p:nvPr/>
              </p:nvGrpSpPr>
              <p:grpSpPr>
                <a:xfrm>
                  <a:off x="770" y="1730"/>
                  <a:ext cx="782" cy="262"/>
                  <a:chOff x="770" y="1730"/>
                  <a:chExt cx="782" cy="262"/>
                </a:xfrm>
              </p:grpSpPr>
              <p:sp>
                <p:nvSpPr>
                  <p:cNvPr id="53352" name="矩形 448616"/>
                  <p:cNvSpPr/>
                  <p:nvPr/>
                </p:nvSpPr>
                <p:spPr>
                  <a:xfrm>
                    <a:off x="812" y="1772"/>
                    <a:ext cx="698" cy="178"/>
                  </a:xfrm>
                  <a:prstGeom prst="rect">
                    <a:avLst/>
                  </a:prstGeom>
                  <a:solidFill>
                    <a:srgbClr val="CECFFF"/>
                  </a:solidFill>
                  <a:ln w="9525">
                    <a:noFill/>
                  </a:ln>
                </p:spPr>
                <p:txBody>
                  <a:bodyPr anchor="t"/>
                  <a:lstStyle/>
                  <a:p>
                    <a:r>
                      <a:rPr lang="en-US" altLang="zh-CN" sz="2400" b="1">
                        <a:solidFill>
                          <a:srgbClr val="000000"/>
                        </a:solidFill>
                        <a:latin typeface="宋体" panose="02010600030101010101" pitchFamily="2" charset="-122"/>
                      </a:rPr>
                      <a:t>60</a:t>
                    </a:r>
                  </a:p>
                  <a:p>
                    <a:pPr eaLnBrk="0" hangingPunct="0">
                      <a:buClr>
                        <a:schemeClr val="bg1"/>
                      </a:buClr>
                    </a:pPr>
                    <a:endParaRPr lang="zh-CN" altLang="en-US" sz="2400" b="1" dirty="0">
                      <a:latin typeface="Arial" panose="020B0604020202020204" pitchFamily="34" charset="0"/>
                    </a:endParaRPr>
                  </a:p>
                </p:txBody>
              </p:sp>
              <p:sp>
                <p:nvSpPr>
                  <p:cNvPr id="53353" name="矩形 448617"/>
                  <p:cNvSpPr/>
                  <p:nvPr/>
                </p:nvSpPr>
                <p:spPr>
                  <a:xfrm>
                    <a:off x="770" y="1730"/>
                    <a:ext cx="782" cy="262"/>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latin typeface="Arial" panose="020B0604020202020204" pitchFamily="34" charset="0"/>
                    </a:endParaRPr>
                  </a:p>
                </p:txBody>
              </p:sp>
            </p:grpSp>
          </p:grpSp>
          <p:grpSp>
            <p:nvGrpSpPr>
              <p:cNvPr id="53354" name="组合 448618"/>
              <p:cNvGrpSpPr/>
              <p:nvPr/>
            </p:nvGrpSpPr>
            <p:grpSpPr>
              <a:xfrm>
                <a:off x="1552" y="1730"/>
                <a:ext cx="695" cy="430"/>
                <a:chOff x="1552" y="1730"/>
                <a:chExt cx="695" cy="430"/>
              </a:xfrm>
            </p:grpSpPr>
            <p:sp>
              <p:nvSpPr>
                <p:cNvPr id="53355" name="矩形 448619"/>
                <p:cNvSpPr/>
                <p:nvPr/>
              </p:nvSpPr>
              <p:spPr>
                <a:xfrm>
                  <a:off x="1552" y="1730"/>
                  <a:ext cx="695" cy="430"/>
                </a:xfrm>
                <a:prstGeom prst="rect">
                  <a:avLst/>
                </a:prstGeom>
                <a:solidFill>
                  <a:srgbClr val="CECFFF"/>
                </a:solidFill>
                <a:ln w="9525">
                  <a:noFill/>
                </a:ln>
              </p:spPr>
              <p:txBody>
                <a:bodyPr anchor="t"/>
                <a:lstStyle/>
                <a:p>
                  <a:endParaRPr lang="zh-CN" altLang="en-US">
                    <a:latin typeface="Arial" panose="020B0604020202020204" pitchFamily="34" charset="0"/>
                  </a:endParaRPr>
                </a:p>
              </p:txBody>
            </p:sp>
            <p:grpSp>
              <p:nvGrpSpPr>
                <p:cNvPr id="53356" name="组合 448620"/>
                <p:cNvGrpSpPr/>
                <p:nvPr/>
              </p:nvGrpSpPr>
              <p:grpSpPr>
                <a:xfrm>
                  <a:off x="1552" y="1730"/>
                  <a:ext cx="695" cy="262"/>
                  <a:chOff x="1552" y="1730"/>
                  <a:chExt cx="695" cy="262"/>
                </a:xfrm>
              </p:grpSpPr>
              <p:sp>
                <p:nvSpPr>
                  <p:cNvPr id="53357" name="矩形 448621"/>
                  <p:cNvSpPr/>
                  <p:nvPr/>
                </p:nvSpPr>
                <p:spPr>
                  <a:xfrm>
                    <a:off x="1594" y="1772"/>
                    <a:ext cx="611" cy="178"/>
                  </a:xfrm>
                  <a:prstGeom prst="rect">
                    <a:avLst/>
                  </a:prstGeom>
                  <a:solidFill>
                    <a:srgbClr val="CECFFF"/>
                  </a:solidFill>
                  <a:ln w="9525">
                    <a:noFill/>
                  </a:ln>
                </p:spPr>
                <p:txBody>
                  <a:bodyPr anchor="t"/>
                  <a:lstStyle/>
                  <a:p>
                    <a:r>
                      <a:rPr lang="zh-CN" altLang="en-US" sz="2400" b="1" dirty="0">
                        <a:solidFill>
                          <a:srgbClr val="000000"/>
                        </a:solidFill>
                        <a:latin typeface="宋体" panose="02010600030101010101" pitchFamily="2" charset="-122"/>
                      </a:rPr>
                      <a:t>鲜枣</a:t>
                    </a:r>
                  </a:p>
                  <a:p>
                    <a:pPr eaLnBrk="0" hangingPunct="0">
                      <a:buClr>
                        <a:schemeClr val="bg1"/>
                      </a:buClr>
                    </a:pPr>
                    <a:endParaRPr lang="zh-CN" altLang="en-US" sz="2400" b="1" dirty="0">
                      <a:latin typeface="Arial" panose="020B0604020202020204" pitchFamily="34" charset="0"/>
                    </a:endParaRPr>
                  </a:p>
                </p:txBody>
              </p:sp>
              <p:sp>
                <p:nvSpPr>
                  <p:cNvPr id="53358" name="矩形 448622"/>
                  <p:cNvSpPr/>
                  <p:nvPr/>
                </p:nvSpPr>
                <p:spPr>
                  <a:xfrm>
                    <a:off x="1552" y="1730"/>
                    <a:ext cx="695" cy="262"/>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latin typeface="Arial" panose="020B0604020202020204" pitchFamily="34" charset="0"/>
                    </a:endParaRPr>
                  </a:p>
                </p:txBody>
              </p:sp>
            </p:grpSp>
          </p:grpSp>
          <p:grpSp>
            <p:nvGrpSpPr>
              <p:cNvPr id="53359" name="组合 448623"/>
              <p:cNvGrpSpPr/>
              <p:nvPr/>
            </p:nvGrpSpPr>
            <p:grpSpPr>
              <a:xfrm>
                <a:off x="2247" y="1730"/>
                <a:ext cx="631" cy="430"/>
                <a:chOff x="2247" y="1730"/>
                <a:chExt cx="631" cy="430"/>
              </a:xfrm>
            </p:grpSpPr>
            <p:sp>
              <p:nvSpPr>
                <p:cNvPr id="53360" name="矩形 448624"/>
                <p:cNvSpPr/>
                <p:nvPr/>
              </p:nvSpPr>
              <p:spPr>
                <a:xfrm>
                  <a:off x="2247" y="1730"/>
                  <a:ext cx="631" cy="430"/>
                </a:xfrm>
                <a:prstGeom prst="rect">
                  <a:avLst/>
                </a:prstGeom>
                <a:solidFill>
                  <a:srgbClr val="CECFFF"/>
                </a:solidFill>
                <a:ln w="9525">
                  <a:noFill/>
                </a:ln>
              </p:spPr>
              <p:txBody>
                <a:bodyPr anchor="t"/>
                <a:lstStyle/>
                <a:p>
                  <a:endParaRPr lang="zh-CN" altLang="en-US">
                    <a:latin typeface="Arial" panose="020B0604020202020204" pitchFamily="34" charset="0"/>
                  </a:endParaRPr>
                </a:p>
              </p:txBody>
            </p:sp>
            <p:grpSp>
              <p:nvGrpSpPr>
                <p:cNvPr id="53361" name="组合 448625"/>
                <p:cNvGrpSpPr/>
                <p:nvPr/>
              </p:nvGrpSpPr>
              <p:grpSpPr>
                <a:xfrm>
                  <a:off x="2247" y="1730"/>
                  <a:ext cx="631" cy="262"/>
                  <a:chOff x="2247" y="1730"/>
                  <a:chExt cx="631" cy="262"/>
                </a:xfrm>
              </p:grpSpPr>
              <p:sp>
                <p:nvSpPr>
                  <p:cNvPr id="53362" name="矩形 448626"/>
                  <p:cNvSpPr/>
                  <p:nvPr/>
                </p:nvSpPr>
                <p:spPr>
                  <a:xfrm>
                    <a:off x="2289" y="1772"/>
                    <a:ext cx="547" cy="178"/>
                  </a:xfrm>
                  <a:prstGeom prst="rect">
                    <a:avLst/>
                  </a:prstGeom>
                  <a:solidFill>
                    <a:srgbClr val="CECFFF"/>
                  </a:solidFill>
                  <a:ln w="9525">
                    <a:noFill/>
                  </a:ln>
                </p:spPr>
                <p:txBody>
                  <a:bodyPr anchor="t"/>
                  <a:lstStyle/>
                  <a:p>
                    <a:r>
                      <a:rPr lang="en-US" altLang="zh-CN" sz="2400" b="1">
                        <a:solidFill>
                          <a:srgbClr val="000000"/>
                        </a:solidFill>
                        <a:latin typeface="宋体" panose="02010600030101010101" pitchFamily="2" charset="-122"/>
                      </a:rPr>
                      <a:t>5.4</a:t>
                    </a:r>
                  </a:p>
                  <a:p>
                    <a:pPr eaLnBrk="0" hangingPunct="0">
                      <a:buClr>
                        <a:schemeClr val="bg1"/>
                      </a:buClr>
                    </a:pPr>
                    <a:endParaRPr lang="zh-CN" altLang="en-US" sz="2400" b="1" dirty="0">
                      <a:latin typeface="Arial" panose="020B0604020202020204" pitchFamily="34" charset="0"/>
                    </a:endParaRPr>
                  </a:p>
                </p:txBody>
              </p:sp>
              <p:sp>
                <p:nvSpPr>
                  <p:cNvPr id="53363" name="矩形 448627"/>
                  <p:cNvSpPr/>
                  <p:nvPr/>
                </p:nvSpPr>
                <p:spPr>
                  <a:xfrm>
                    <a:off x="2247" y="1730"/>
                    <a:ext cx="631" cy="262"/>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latin typeface="Arial" panose="020B0604020202020204" pitchFamily="34" charset="0"/>
                    </a:endParaRPr>
                  </a:p>
                </p:txBody>
              </p:sp>
            </p:grpSp>
          </p:grpSp>
          <p:grpSp>
            <p:nvGrpSpPr>
              <p:cNvPr id="53364" name="组合 448628"/>
              <p:cNvGrpSpPr/>
              <p:nvPr/>
            </p:nvGrpSpPr>
            <p:grpSpPr>
              <a:xfrm>
                <a:off x="0" y="2076"/>
                <a:ext cx="770" cy="430"/>
                <a:chOff x="0" y="2076"/>
                <a:chExt cx="770" cy="430"/>
              </a:xfrm>
            </p:grpSpPr>
            <p:sp>
              <p:nvSpPr>
                <p:cNvPr id="53365" name="矩形 448629"/>
                <p:cNvSpPr/>
                <p:nvPr/>
              </p:nvSpPr>
              <p:spPr>
                <a:xfrm>
                  <a:off x="0" y="2076"/>
                  <a:ext cx="770" cy="430"/>
                </a:xfrm>
                <a:prstGeom prst="rect">
                  <a:avLst/>
                </a:prstGeom>
                <a:solidFill>
                  <a:srgbClr val="CECFFF"/>
                </a:solidFill>
                <a:ln w="9525">
                  <a:noFill/>
                </a:ln>
              </p:spPr>
              <p:txBody>
                <a:bodyPr anchor="t"/>
                <a:lstStyle/>
                <a:p>
                  <a:endParaRPr lang="zh-CN" altLang="en-US">
                    <a:latin typeface="Arial" panose="020B0604020202020204" pitchFamily="34" charset="0"/>
                  </a:endParaRPr>
                </a:p>
              </p:txBody>
            </p:sp>
            <p:grpSp>
              <p:nvGrpSpPr>
                <p:cNvPr id="53366" name="组合 448630"/>
                <p:cNvGrpSpPr/>
                <p:nvPr/>
              </p:nvGrpSpPr>
              <p:grpSpPr>
                <a:xfrm>
                  <a:off x="0" y="2076"/>
                  <a:ext cx="770" cy="262"/>
                  <a:chOff x="0" y="2076"/>
                  <a:chExt cx="770" cy="262"/>
                </a:xfrm>
              </p:grpSpPr>
              <p:sp>
                <p:nvSpPr>
                  <p:cNvPr id="53367" name="矩形 448631"/>
                  <p:cNvSpPr/>
                  <p:nvPr/>
                </p:nvSpPr>
                <p:spPr>
                  <a:xfrm>
                    <a:off x="42" y="2118"/>
                    <a:ext cx="686" cy="178"/>
                  </a:xfrm>
                  <a:prstGeom prst="rect">
                    <a:avLst/>
                  </a:prstGeom>
                  <a:solidFill>
                    <a:srgbClr val="CECFFF"/>
                  </a:solidFill>
                  <a:ln w="9525">
                    <a:noFill/>
                  </a:ln>
                </p:spPr>
                <p:txBody>
                  <a:bodyPr anchor="t"/>
                  <a:lstStyle/>
                  <a:p>
                    <a:r>
                      <a:rPr lang="zh-CN" altLang="en-US" sz="2400" b="1" dirty="0">
                        <a:solidFill>
                          <a:srgbClr val="000000"/>
                        </a:solidFill>
                        <a:latin typeface="宋体" panose="02010600030101010101" pitchFamily="2" charset="-122"/>
                      </a:rPr>
                      <a:t>草莓</a:t>
                    </a:r>
                  </a:p>
                  <a:p>
                    <a:pPr eaLnBrk="0" hangingPunct="0">
                      <a:buClr>
                        <a:schemeClr val="bg1"/>
                      </a:buClr>
                    </a:pPr>
                    <a:endParaRPr lang="zh-CN" altLang="en-US" sz="2400" b="1" dirty="0">
                      <a:latin typeface="Arial" panose="020B0604020202020204" pitchFamily="34" charset="0"/>
                    </a:endParaRPr>
                  </a:p>
                </p:txBody>
              </p:sp>
              <p:sp>
                <p:nvSpPr>
                  <p:cNvPr id="53368" name="矩形 448632"/>
                  <p:cNvSpPr/>
                  <p:nvPr/>
                </p:nvSpPr>
                <p:spPr>
                  <a:xfrm>
                    <a:off x="0" y="2076"/>
                    <a:ext cx="770" cy="262"/>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latin typeface="Arial" panose="020B0604020202020204" pitchFamily="34" charset="0"/>
                    </a:endParaRPr>
                  </a:p>
                </p:txBody>
              </p:sp>
            </p:grpSp>
          </p:grpSp>
          <p:grpSp>
            <p:nvGrpSpPr>
              <p:cNvPr id="53369" name="组合 448633"/>
              <p:cNvGrpSpPr/>
              <p:nvPr/>
            </p:nvGrpSpPr>
            <p:grpSpPr>
              <a:xfrm>
                <a:off x="770" y="2076"/>
                <a:ext cx="782" cy="430"/>
                <a:chOff x="770" y="2076"/>
                <a:chExt cx="782" cy="430"/>
              </a:xfrm>
            </p:grpSpPr>
            <p:sp>
              <p:nvSpPr>
                <p:cNvPr id="53370" name="矩形 448634"/>
                <p:cNvSpPr/>
                <p:nvPr/>
              </p:nvSpPr>
              <p:spPr>
                <a:xfrm>
                  <a:off x="770" y="2076"/>
                  <a:ext cx="782" cy="430"/>
                </a:xfrm>
                <a:prstGeom prst="rect">
                  <a:avLst/>
                </a:prstGeom>
                <a:solidFill>
                  <a:srgbClr val="CECFFF"/>
                </a:solidFill>
                <a:ln w="9525">
                  <a:noFill/>
                </a:ln>
              </p:spPr>
              <p:txBody>
                <a:bodyPr anchor="t"/>
                <a:lstStyle/>
                <a:p>
                  <a:endParaRPr lang="zh-CN" altLang="en-US">
                    <a:latin typeface="Arial" panose="020B0604020202020204" pitchFamily="34" charset="0"/>
                  </a:endParaRPr>
                </a:p>
              </p:txBody>
            </p:sp>
            <p:grpSp>
              <p:nvGrpSpPr>
                <p:cNvPr id="53371" name="组合 448635"/>
                <p:cNvGrpSpPr/>
                <p:nvPr/>
              </p:nvGrpSpPr>
              <p:grpSpPr>
                <a:xfrm>
                  <a:off x="770" y="2076"/>
                  <a:ext cx="782" cy="262"/>
                  <a:chOff x="770" y="2076"/>
                  <a:chExt cx="782" cy="262"/>
                </a:xfrm>
              </p:grpSpPr>
              <p:sp>
                <p:nvSpPr>
                  <p:cNvPr id="53372" name="矩形 448636"/>
                  <p:cNvSpPr/>
                  <p:nvPr/>
                </p:nvSpPr>
                <p:spPr>
                  <a:xfrm>
                    <a:off x="812" y="2118"/>
                    <a:ext cx="698" cy="178"/>
                  </a:xfrm>
                  <a:prstGeom prst="rect">
                    <a:avLst/>
                  </a:prstGeom>
                  <a:solidFill>
                    <a:srgbClr val="CECFFF"/>
                  </a:solidFill>
                  <a:ln w="9525">
                    <a:noFill/>
                  </a:ln>
                </p:spPr>
                <p:txBody>
                  <a:bodyPr anchor="t"/>
                  <a:lstStyle/>
                  <a:p>
                    <a:r>
                      <a:rPr lang="en-US" altLang="zh-CN" sz="2400" b="1">
                        <a:solidFill>
                          <a:srgbClr val="000000"/>
                        </a:solidFill>
                        <a:latin typeface="宋体" panose="02010600030101010101" pitchFamily="2" charset="-122"/>
                      </a:rPr>
                      <a:t>35</a:t>
                    </a:r>
                  </a:p>
                  <a:p>
                    <a:pPr eaLnBrk="0" hangingPunct="0">
                      <a:buClr>
                        <a:schemeClr val="bg1"/>
                      </a:buClr>
                    </a:pPr>
                    <a:endParaRPr lang="zh-CN" altLang="en-US" sz="2400" b="1" dirty="0">
                      <a:latin typeface="Arial" panose="020B0604020202020204" pitchFamily="34" charset="0"/>
                    </a:endParaRPr>
                  </a:p>
                </p:txBody>
              </p:sp>
              <p:sp>
                <p:nvSpPr>
                  <p:cNvPr id="53373" name="矩形 448637"/>
                  <p:cNvSpPr/>
                  <p:nvPr/>
                </p:nvSpPr>
                <p:spPr>
                  <a:xfrm>
                    <a:off x="770" y="2076"/>
                    <a:ext cx="782" cy="262"/>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latin typeface="Arial" panose="020B0604020202020204" pitchFamily="34" charset="0"/>
                    </a:endParaRPr>
                  </a:p>
                </p:txBody>
              </p:sp>
            </p:grpSp>
          </p:grpSp>
          <p:grpSp>
            <p:nvGrpSpPr>
              <p:cNvPr id="53374" name="组合 448638"/>
              <p:cNvGrpSpPr/>
              <p:nvPr/>
            </p:nvGrpSpPr>
            <p:grpSpPr>
              <a:xfrm>
                <a:off x="1552" y="2076"/>
                <a:ext cx="695" cy="430"/>
                <a:chOff x="1552" y="2076"/>
                <a:chExt cx="695" cy="430"/>
              </a:xfrm>
            </p:grpSpPr>
            <p:sp>
              <p:nvSpPr>
                <p:cNvPr id="53375" name="矩形 448639"/>
                <p:cNvSpPr/>
                <p:nvPr/>
              </p:nvSpPr>
              <p:spPr>
                <a:xfrm>
                  <a:off x="1552" y="2076"/>
                  <a:ext cx="695" cy="430"/>
                </a:xfrm>
                <a:prstGeom prst="rect">
                  <a:avLst/>
                </a:prstGeom>
                <a:solidFill>
                  <a:srgbClr val="CECFFF"/>
                </a:solidFill>
                <a:ln w="9525">
                  <a:noFill/>
                </a:ln>
              </p:spPr>
              <p:txBody>
                <a:bodyPr anchor="t"/>
                <a:lstStyle/>
                <a:p>
                  <a:endParaRPr lang="zh-CN" altLang="en-US">
                    <a:latin typeface="Arial" panose="020B0604020202020204" pitchFamily="34" charset="0"/>
                  </a:endParaRPr>
                </a:p>
              </p:txBody>
            </p:sp>
            <p:grpSp>
              <p:nvGrpSpPr>
                <p:cNvPr id="53376" name="组合 448640"/>
                <p:cNvGrpSpPr/>
                <p:nvPr/>
              </p:nvGrpSpPr>
              <p:grpSpPr>
                <a:xfrm>
                  <a:off x="1552" y="2076"/>
                  <a:ext cx="695" cy="262"/>
                  <a:chOff x="1552" y="2076"/>
                  <a:chExt cx="695" cy="262"/>
                </a:xfrm>
              </p:grpSpPr>
              <p:sp>
                <p:nvSpPr>
                  <p:cNvPr id="53377" name="矩形 448641"/>
                  <p:cNvSpPr/>
                  <p:nvPr/>
                </p:nvSpPr>
                <p:spPr>
                  <a:xfrm>
                    <a:off x="1594" y="2118"/>
                    <a:ext cx="611" cy="178"/>
                  </a:xfrm>
                  <a:prstGeom prst="rect">
                    <a:avLst/>
                  </a:prstGeom>
                  <a:solidFill>
                    <a:srgbClr val="CECFFF"/>
                  </a:solidFill>
                  <a:ln w="9525">
                    <a:noFill/>
                  </a:ln>
                </p:spPr>
                <p:txBody>
                  <a:bodyPr anchor="t"/>
                  <a:lstStyle/>
                  <a:p>
                    <a:r>
                      <a:rPr lang="zh-CN" altLang="en-US" sz="2400" b="1" dirty="0">
                        <a:solidFill>
                          <a:srgbClr val="000000"/>
                        </a:solidFill>
                        <a:latin typeface="宋体" panose="02010600030101010101" pitchFamily="2" charset="-122"/>
                      </a:rPr>
                      <a:t>广柑</a:t>
                    </a:r>
                  </a:p>
                  <a:p>
                    <a:pPr eaLnBrk="0" hangingPunct="0">
                      <a:buClr>
                        <a:schemeClr val="bg1"/>
                      </a:buClr>
                    </a:pPr>
                    <a:endParaRPr lang="zh-CN" altLang="en-US" sz="2400" b="1" dirty="0">
                      <a:latin typeface="Arial" panose="020B0604020202020204" pitchFamily="34" charset="0"/>
                    </a:endParaRPr>
                  </a:p>
                </p:txBody>
              </p:sp>
              <p:sp>
                <p:nvSpPr>
                  <p:cNvPr id="53378" name="矩形 448642"/>
                  <p:cNvSpPr/>
                  <p:nvPr/>
                </p:nvSpPr>
                <p:spPr>
                  <a:xfrm>
                    <a:off x="1552" y="2076"/>
                    <a:ext cx="695" cy="262"/>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latin typeface="Arial" panose="020B0604020202020204" pitchFamily="34" charset="0"/>
                    </a:endParaRPr>
                  </a:p>
                </p:txBody>
              </p:sp>
            </p:grpSp>
          </p:grpSp>
          <p:grpSp>
            <p:nvGrpSpPr>
              <p:cNvPr id="53379" name="组合 448643"/>
              <p:cNvGrpSpPr/>
              <p:nvPr/>
            </p:nvGrpSpPr>
            <p:grpSpPr>
              <a:xfrm>
                <a:off x="2247" y="2076"/>
                <a:ext cx="631" cy="430"/>
                <a:chOff x="2247" y="2076"/>
                <a:chExt cx="631" cy="430"/>
              </a:xfrm>
            </p:grpSpPr>
            <p:sp>
              <p:nvSpPr>
                <p:cNvPr id="53380" name="矩形 448644"/>
                <p:cNvSpPr/>
                <p:nvPr/>
              </p:nvSpPr>
              <p:spPr>
                <a:xfrm>
                  <a:off x="2247" y="2076"/>
                  <a:ext cx="631" cy="430"/>
                </a:xfrm>
                <a:prstGeom prst="rect">
                  <a:avLst/>
                </a:prstGeom>
                <a:solidFill>
                  <a:srgbClr val="CECFFF"/>
                </a:solidFill>
                <a:ln w="9525">
                  <a:noFill/>
                </a:ln>
              </p:spPr>
              <p:txBody>
                <a:bodyPr anchor="t"/>
                <a:lstStyle/>
                <a:p>
                  <a:endParaRPr lang="zh-CN" altLang="en-US">
                    <a:latin typeface="Arial" panose="020B0604020202020204" pitchFamily="34" charset="0"/>
                  </a:endParaRPr>
                </a:p>
              </p:txBody>
            </p:sp>
            <p:grpSp>
              <p:nvGrpSpPr>
                <p:cNvPr id="53381" name="组合 448645"/>
                <p:cNvGrpSpPr/>
                <p:nvPr/>
              </p:nvGrpSpPr>
              <p:grpSpPr>
                <a:xfrm>
                  <a:off x="2247" y="2076"/>
                  <a:ext cx="631" cy="262"/>
                  <a:chOff x="2247" y="2076"/>
                  <a:chExt cx="631" cy="262"/>
                </a:xfrm>
              </p:grpSpPr>
              <p:sp>
                <p:nvSpPr>
                  <p:cNvPr id="53382" name="矩形 448646"/>
                  <p:cNvSpPr/>
                  <p:nvPr/>
                </p:nvSpPr>
                <p:spPr>
                  <a:xfrm>
                    <a:off x="2289" y="2118"/>
                    <a:ext cx="547" cy="178"/>
                  </a:xfrm>
                  <a:prstGeom prst="rect">
                    <a:avLst/>
                  </a:prstGeom>
                  <a:solidFill>
                    <a:srgbClr val="CECFFF"/>
                  </a:solidFill>
                  <a:ln w="9525">
                    <a:noFill/>
                  </a:ln>
                </p:spPr>
                <p:txBody>
                  <a:bodyPr anchor="t"/>
                  <a:lstStyle/>
                  <a:p>
                    <a:r>
                      <a:rPr lang="en-US" altLang="zh-CN" sz="2400" b="1">
                        <a:solidFill>
                          <a:srgbClr val="000000"/>
                        </a:solidFill>
                        <a:latin typeface="宋体" panose="02010600030101010101" pitchFamily="2" charset="-122"/>
                      </a:rPr>
                      <a:t>5.4</a:t>
                    </a:r>
                  </a:p>
                  <a:p>
                    <a:pPr eaLnBrk="0" hangingPunct="0">
                      <a:buClr>
                        <a:schemeClr val="bg1"/>
                      </a:buClr>
                    </a:pPr>
                    <a:endParaRPr lang="zh-CN" altLang="en-US" sz="2400" b="1" dirty="0">
                      <a:latin typeface="Arial" panose="020B0604020202020204" pitchFamily="34" charset="0"/>
                    </a:endParaRPr>
                  </a:p>
                </p:txBody>
              </p:sp>
              <p:sp>
                <p:nvSpPr>
                  <p:cNvPr id="53383" name="矩形 448647"/>
                  <p:cNvSpPr/>
                  <p:nvPr/>
                </p:nvSpPr>
                <p:spPr>
                  <a:xfrm>
                    <a:off x="2247" y="2076"/>
                    <a:ext cx="631" cy="262"/>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latin typeface="Arial" panose="020B0604020202020204" pitchFamily="34" charset="0"/>
                    </a:endParaRPr>
                  </a:p>
                </p:txBody>
              </p:sp>
            </p:grpSp>
          </p:grpSp>
          <p:grpSp>
            <p:nvGrpSpPr>
              <p:cNvPr id="53384" name="组合 448648"/>
              <p:cNvGrpSpPr/>
              <p:nvPr/>
            </p:nvGrpSpPr>
            <p:grpSpPr>
              <a:xfrm>
                <a:off x="0" y="2422"/>
                <a:ext cx="770" cy="430"/>
                <a:chOff x="0" y="2422"/>
                <a:chExt cx="770" cy="430"/>
              </a:xfrm>
            </p:grpSpPr>
            <p:sp>
              <p:nvSpPr>
                <p:cNvPr id="53385" name="矩形 448649"/>
                <p:cNvSpPr/>
                <p:nvPr/>
              </p:nvSpPr>
              <p:spPr>
                <a:xfrm>
                  <a:off x="0" y="2422"/>
                  <a:ext cx="770" cy="430"/>
                </a:xfrm>
                <a:prstGeom prst="rect">
                  <a:avLst/>
                </a:prstGeom>
                <a:solidFill>
                  <a:srgbClr val="CECFFF"/>
                </a:solidFill>
                <a:ln w="9525">
                  <a:noFill/>
                </a:ln>
              </p:spPr>
              <p:txBody>
                <a:bodyPr anchor="t"/>
                <a:lstStyle/>
                <a:p>
                  <a:endParaRPr lang="zh-CN" altLang="en-US">
                    <a:latin typeface="Arial" panose="020B0604020202020204" pitchFamily="34" charset="0"/>
                  </a:endParaRPr>
                </a:p>
              </p:txBody>
            </p:sp>
            <p:grpSp>
              <p:nvGrpSpPr>
                <p:cNvPr id="53386" name="组合 448650"/>
                <p:cNvGrpSpPr/>
                <p:nvPr/>
              </p:nvGrpSpPr>
              <p:grpSpPr>
                <a:xfrm>
                  <a:off x="0" y="2422"/>
                  <a:ext cx="770" cy="262"/>
                  <a:chOff x="0" y="2422"/>
                  <a:chExt cx="770" cy="262"/>
                </a:xfrm>
              </p:grpSpPr>
              <p:sp>
                <p:nvSpPr>
                  <p:cNvPr id="53387" name="矩形 448651"/>
                  <p:cNvSpPr/>
                  <p:nvPr/>
                </p:nvSpPr>
                <p:spPr>
                  <a:xfrm>
                    <a:off x="42" y="2464"/>
                    <a:ext cx="686" cy="178"/>
                  </a:xfrm>
                  <a:prstGeom prst="rect">
                    <a:avLst/>
                  </a:prstGeom>
                  <a:solidFill>
                    <a:srgbClr val="CECFFF"/>
                  </a:solidFill>
                  <a:ln w="9525">
                    <a:noFill/>
                  </a:ln>
                </p:spPr>
                <p:txBody>
                  <a:bodyPr anchor="t"/>
                  <a:lstStyle/>
                  <a:p>
                    <a:r>
                      <a:rPr lang="zh-CN" altLang="en-US" sz="2400" b="1" dirty="0">
                        <a:solidFill>
                          <a:srgbClr val="000000"/>
                        </a:solidFill>
                        <a:latin typeface="宋体" panose="02010600030101010101" pitchFamily="2" charset="-122"/>
                      </a:rPr>
                      <a:t>白萝卜</a:t>
                    </a:r>
                  </a:p>
                  <a:p>
                    <a:pPr eaLnBrk="0" hangingPunct="0">
                      <a:buClr>
                        <a:schemeClr val="bg1"/>
                      </a:buClr>
                    </a:pPr>
                    <a:endParaRPr lang="zh-CN" altLang="en-US" sz="2400" b="1" dirty="0">
                      <a:latin typeface="Arial" panose="020B0604020202020204" pitchFamily="34" charset="0"/>
                    </a:endParaRPr>
                  </a:p>
                </p:txBody>
              </p:sp>
              <p:sp>
                <p:nvSpPr>
                  <p:cNvPr id="53388" name="矩形 448652"/>
                  <p:cNvSpPr/>
                  <p:nvPr/>
                </p:nvSpPr>
                <p:spPr>
                  <a:xfrm>
                    <a:off x="0" y="2422"/>
                    <a:ext cx="770" cy="262"/>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latin typeface="Arial" panose="020B0604020202020204" pitchFamily="34" charset="0"/>
                    </a:endParaRPr>
                  </a:p>
                </p:txBody>
              </p:sp>
            </p:grpSp>
          </p:grpSp>
          <p:grpSp>
            <p:nvGrpSpPr>
              <p:cNvPr id="53389" name="组合 448653"/>
              <p:cNvGrpSpPr/>
              <p:nvPr/>
            </p:nvGrpSpPr>
            <p:grpSpPr>
              <a:xfrm>
                <a:off x="770" y="2422"/>
                <a:ext cx="782" cy="430"/>
                <a:chOff x="770" y="2422"/>
                <a:chExt cx="782" cy="430"/>
              </a:xfrm>
            </p:grpSpPr>
            <p:sp>
              <p:nvSpPr>
                <p:cNvPr id="53390" name="矩形 448654"/>
                <p:cNvSpPr/>
                <p:nvPr/>
              </p:nvSpPr>
              <p:spPr>
                <a:xfrm>
                  <a:off x="770" y="2422"/>
                  <a:ext cx="782" cy="430"/>
                </a:xfrm>
                <a:prstGeom prst="rect">
                  <a:avLst/>
                </a:prstGeom>
                <a:solidFill>
                  <a:srgbClr val="CECFFF"/>
                </a:solidFill>
                <a:ln w="9525">
                  <a:noFill/>
                </a:ln>
              </p:spPr>
              <p:txBody>
                <a:bodyPr anchor="t"/>
                <a:lstStyle/>
                <a:p>
                  <a:endParaRPr lang="zh-CN" altLang="en-US">
                    <a:latin typeface="Arial" panose="020B0604020202020204" pitchFamily="34" charset="0"/>
                  </a:endParaRPr>
                </a:p>
              </p:txBody>
            </p:sp>
            <p:grpSp>
              <p:nvGrpSpPr>
                <p:cNvPr id="53391" name="组合 448655"/>
                <p:cNvGrpSpPr/>
                <p:nvPr/>
              </p:nvGrpSpPr>
              <p:grpSpPr>
                <a:xfrm>
                  <a:off x="770" y="2422"/>
                  <a:ext cx="782" cy="262"/>
                  <a:chOff x="770" y="2422"/>
                  <a:chExt cx="782" cy="262"/>
                </a:xfrm>
              </p:grpSpPr>
              <p:sp>
                <p:nvSpPr>
                  <p:cNvPr id="53392" name="矩形 448656"/>
                  <p:cNvSpPr/>
                  <p:nvPr/>
                </p:nvSpPr>
                <p:spPr>
                  <a:xfrm>
                    <a:off x="812" y="2464"/>
                    <a:ext cx="698" cy="178"/>
                  </a:xfrm>
                  <a:prstGeom prst="rect">
                    <a:avLst/>
                  </a:prstGeom>
                  <a:solidFill>
                    <a:srgbClr val="CECFFF"/>
                  </a:solidFill>
                  <a:ln w="9525">
                    <a:noFill/>
                  </a:ln>
                </p:spPr>
                <p:txBody>
                  <a:bodyPr anchor="t"/>
                  <a:lstStyle/>
                  <a:p>
                    <a:r>
                      <a:rPr lang="en-US" altLang="zh-CN" sz="2400" b="1">
                        <a:solidFill>
                          <a:srgbClr val="000000"/>
                        </a:solidFill>
                        <a:latin typeface="宋体" panose="02010600030101010101" pitchFamily="2" charset="-122"/>
                      </a:rPr>
                      <a:t>11</a:t>
                    </a:r>
                    <a:r>
                      <a:rPr lang="zh-CN" altLang="en-US" sz="2400" b="1" dirty="0">
                        <a:solidFill>
                          <a:srgbClr val="000000"/>
                        </a:solidFill>
                        <a:latin typeface="宋体" panose="02010600030101010101" pitchFamily="2" charset="-122"/>
                      </a:rPr>
                      <a:t>～</a:t>
                    </a:r>
                    <a:r>
                      <a:rPr lang="en-US" altLang="zh-CN" sz="2400" b="1">
                        <a:solidFill>
                          <a:srgbClr val="000000"/>
                        </a:solidFill>
                        <a:latin typeface="宋体" panose="02010600030101010101" pitchFamily="2" charset="-122"/>
                      </a:rPr>
                      <a:t>30</a:t>
                    </a:r>
                  </a:p>
                  <a:p>
                    <a:pPr eaLnBrk="0" hangingPunct="0">
                      <a:buClr>
                        <a:schemeClr val="bg1"/>
                      </a:buClr>
                    </a:pPr>
                    <a:endParaRPr lang="zh-CN" altLang="en-US" sz="2400" b="1" dirty="0">
                      <a:latin typeface="Arial" panose="020B0604020202020204" pitchFamily="34" charset="0"/>
                    </a:endParaRPr>
                  </a:p>
                </p:txBody>
              </p:sp>
              <p:sp>
                <p:nvSpPr>
                  <p:cNvPr id="53393" name="矩形 448657"/>
                  <p:cNvSpPr/>
                  <p:nvPr/>
                </p:nvSpPr>
                <p:spPr>
                  <a:xfrm>
                    <a:off x="770" y="2422"/>
                    <a:ext cx="782" cy="262"/>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latin typeface="Arial" panose="020B0604020202020204" pitchFamily="34" charset="0"/>
                    </a:endParaRPr>
                  </a:p>
                </p:txBody>
              </p:sp>
            </p:grpSp>
          </p:grpSp>
          <p:grpSp>
            <p:nvGrpSpPr>
              <p:cNvPr id="53394" name="组合 448658"/>
              <p:cNvGrpSpPr/>
              <p:nvPr/>
            </p:nvGrpSpPr>
            <p:grpSpPr>
              <a:xfrm>
                <a:off x="1552" y="2422"/>
                <a:ext cx="695" cy="430"/>
                <a:chOff x="1552" y="2422"/>
                <a:chExt cx="695" cy="430"/>
              </a:xfrm>
            </p:grpSpPr>
            <p:sp>
              <p:nvSpPr>
                <p:cNvPr id="53395" name="矩形 448659"/>
                <p:cNvSpPr/>
                <p:nvPr/>
              </p:nvSpPr>
              <p:spPr>
                <a:xfrm>
                  <a:off x="1552" y="2422"/>
                  <a:ext cx="695" cy="430"/>
                </a:xfrm>
                <a:prstGeom prst="rect">
                  <a:avLst/>
                </a:prstGeom>
                <a:solidFill>
                  <a:srgbClr val="CECFFF"/>
                </a:solidFill>
                <a:ln w="9525">
                  <a:noFill/>
                </a:ln>
              </p:spPr>
              <p:txBody>
                <a:bodyPr anchor="t"/>
                <a:lstStyle/>
                <a:p>
                  <a:endParaRPr lang="zh-CN" altLang="en-US">
                    <a:latin typeface="Arial" panose="020B0604020202020204" pitchFamily="34" charset="0"/>
                  </a:endParaRPr>
                </a:p>
              </p:txBody>
            </p:sp>
            <p:grpSp>
              <p:nvGrpSpPr>
                <p:cNvPr id="53396" name="组合 448660"/>
                <p:cNvGrpSpPr/>
                <p:nvPr/>
              </p:nvGrpSpPr>
              <p:grpSpPr>
                <a:xfrm>
                  <a:off x="1552" y="2422"/>
                  <a:ext cx="695" cy="262"/>
                  <a:chOff x="1552" y="2422"/>
                  <a:chExt cx="695" cy="262"/>
                </a:xfrm>
              </p:grpSpPr>
              <p:sp>
                <p:nvSpPr>
                  <p:cNvPr id="53397" name="矩形 448661"/>
                  <p:cNvSpPr/>
                  <p:nvPr/>
                </p:nvSpPr>
                <p:spPr>
                  <a:xfrm>
                    <a:off x="1594" y="2464"/>
                    <a:ext cx="611" cy="178"/>
                  </a:xfrm>
                  <a:prstGeom prst="rect">
                    <a:avLst/>
                  </a:prstGeom>
                  <a:solidFill>
                    <a:srgbClr val="CECFFF"/>
                  </a:solidFill>
                  <a:ln w="9525">
                    <a:noFill/>
                  </a:ln>
                </p:spPr>
                <p:txBody>
                  <a:bodyPr anchor="t"/>
                  <a:lstStyle/>
                  <a:p>
                    <a:r>
                      <a:rPr lang="zh-CN" altLang="en-US" sz="2400" b="1" dirty="0">
                        <a:solidFill>
                          <a:srgbClr val="000000"/>
                        </a:solidFill>
                        <a:latin typeface="宋体" panose="02010600030101010101" pitchFamily="2" charset="-122"/>
                      </a:rPr>
                      <a:t>芹菜（茎）</a:t>
                    </a:r>
                  </a:p>
                  <a:p>
                    <a:pPr eaLnBrk="0" hangingPunct="0">
                      <a:buClr>
                        <a:schemeClr val="bg1"/>
                      </a:buClr>
                    </a:pPr>
                    <a:endParaRPr lang="zh-CN" altLang="en-US" sz="2400" b="1" dirty="0">
                      <a:latin typeface="Arial" panose="020B0604020202020204" pitchFamily="34" charset="0"/>
                    </a:endParaRPr>
                  </a:p>
                </p:txBody>
              </p:sp>
              <p:sp>
                <p:nvSpPr>
                  <p:cNvPr id="53398" name="矩形 448662"/>
                  <p:cNvSpPr/>
                  <p:nvPr/>
                </p:nvSpPr>
                <p:spPr>
                  <a:xfrm>
                    <a:off x="1552" y="2422"/>
                    <a:ext cx="695" cy="262"/>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latin typeface="Arial" panose="020B0604020202020204" pitchFamily="34" charset="0"/>
                    </a:endParaRPr>
                  </a:p>
                </p:txBody>
              </p:sp>
            </p:grpSp>
          </p:grpSp>
          <p:grpSp>
            <p:nvGrpSpPr>
              <p:cNvPr id="53399" name="组合 448663"/>
              <p:cNvGrpSpPr/>
              <p:nvPr/>
            </p:nvGrpSpPr>
            <p:grpSpPr>
              <a:xfrm>
                <a:off x="2247" y="2422"/>
                <a:ext cx="631" cy="430"/>
                <a:chOff x="2247" y="2422"/>
                <a:chExt cx="631" cy="430"/>
              </a:xfrm>
            </p:grpSpPr>
            <p:sp>
              <p:nvSpPr>
                <p:cNvPr id="53400" name="矩形 448664"/>
                <p:cNvSpPr/>
                <p:nvPr/>
              </p:nvSpPr>
              <p:spPr>
                <a:xfrm>
                  <a:off x="2247" y="2422"/>
                  <a:ext cx="631" cy="430"/>
                </a:xfrm>
                <a:prstGeom prst="rect">
                  <a:avLst/>
                </a:prstGeom>
                <a:solidFill>
                  <a:srgbClr val="CECFFF"/>
                </a:solidFill>
                <a:ln w="9525">
                  <a:noFill/>
                </a:ln>
              </p:spPr>
              <p:txBody>
                <a:bodyPr anchor="t"/>
                <a:lstStyle/>
                <a:p>
                  <a:endParaRPr lang="zh-CN" altLang="en-US">
                    <a:latin typeface="Arial" panose="020B0604020202020204" pitchFamily="34" charset="0"/>
                  </a:endParaRPr>
                </a:p>
              </p:txBody>
            </p:sp>
            <p:grpSp>
              <p:nvGrpSpPr>
                <p:cNvPr id="53401" name="组合 448665"/>
                <p:cNvGrpSpPr/>
                <p:nvPr/>
              </p:nvGrpSpPr>
              <p:grpSpPr>
                <a:xfrm>
                  <a:off x="2247" y="2422"/>
                  <a:ext cx="631" cy="262"/>
                  <a:chOff x="2247" y="2422"/>
                  <a:chExt cx="631" cy="262"/>
                </a:xfrm>
              </p:grpSpPr>
              <p:sp>
                <p:nvSpPr>
                  <p:cNvPr id="53402" name="矩形 448666"/>
                  <p:cNvSpPr/>
                  <p:nvPr/>
                </p:nvSpPr>
                <p:spPr>
                  <a:xfrm>
                    <a:off x="2289" y="2464"/>
                    <a:ext cx="547" cy="178"/>
                  </a:xfrm>
                  <a:prstGeom prst="rect">
                    <a:avLst/>
                  </a:prstGeom>
                  <a:solidFill>
                    <a:srgbClr val="CECFFF"/>
                  </a:solidFill>
                  <a:ln w="9525">
                    <a:noFill/>
                  </a:ln>
                </p:spPr>
                <p:txBody>
                  <a:bodyPr anchor="t"/>
                  <a:lstStyle/>
                  <a:p>
                    <a:r>
                      <a:rPr lang="en-US" altLang="zh-CN" sz="2400" b="1">
                        <a:solidFill>
                          <a:srgbClr val="000000"/>
                        </a:solidFill>
                        <a:latin typeface="宋体" panose="02010600030101010101" pitchFamily="2" charset="-122"/>
                      </a:rPr>
                      <a:t>6.0</a:t>
                    </a:r>
                  </a:p>
                  <a:p>
                    <a:pPr eaLnBrk="0" hangingPunct="0">
                      <a:buClr>
                        <a:schemeClr val="bg1"/>
                      </a:buClr>
                    </a:pPr>
                    <a:endParaRPr lang="zh-CN" altLang="en-US" sz="2400" b="1" dirty="0">
                      <a:latin typeface="Arial" panose="020B0604020202020204" pitchFamily="34" charset="0"/>
                    </a:endParaRPr>
                  </a:p>
                </p:txBody>
              </p:sp>
              <p:sp>
                <p:nvSpPr>
                  <p:cNvPr id="53403" name="矩形 448667"/>
                  <p:cNvSpPr/>
                  <p:nvPr/>
                </p:nvSpPr>
                <p:spPr>
                  <a:xfrm>
                    <a:off x="2247" y="2422"/>
                    <a:ext cx="631" cy="262"/>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latin typeface="Arial" panose="020B0604020202020204" pitchFamily="34" charset="0"/>
                    </a:endParaRPr>
                  </a:p>
                </p:txBody>
              </p:sp>
            </p:grpSp>
          </p:grpSp>
          <p:grpSp>
            <p:nvGrpSpPr>
              <p:cNvPr id="53404" name="组合 448668"/>
              <p:cNvGrpSpPr/>
              <p:nvPr/>
            </p:nvGrpSpPr>
            <p:grpSpPr>
              <a:xfrm>
                <a:off x="0" y="2768"/>
                <a:ext cx="770" cy="430"/>
                <a:chOff x="0" y="2768"/>
                <a:chExt cx="770" cy="430"/>
              </a:xfrm>
            </p:grpSpPr>
            <p:sp>
              <p:nvSpPr>
                <p:cNvPr id="53405" name="矩形 448669"/>
                <p:cNvSpPr/>
                <p:nvPr/>
              </p:nvSpPr>
              <p:spPr>
                <a:xfrm>
                  <a:off x="0" y="2768"/>
                  <a:ext cx="770" cy="430"/>
                </a:xfrm>
                <a:prstGeom prst="rect">
                  <a:avLst/>
                </a:prstGeom>
                <a:solidFill>
                  <a:srgbClr val="CECFFF"/>
                </a:solidFill>
                <a:ln w="9525">
                  <a:noFill/>
                </a:ln>
              </p:spPr>
              <p:txBody>
                <a:bodyPr anchor="t"/>
                <a:lstStyle/>
                <a:p>
                  <a:endParaRPr lang="zh-CN" altLang="en-US">
                    <a:latin typeface="Arial" panose="020B0604020202020204" pitchFamily="34" charset="0"/>
                  </a:endParaRPr>
                </a:p>
              </p:txBody>
            </p:sp>
            <p:grpSp>
              <p:nvGrpSpPr>
                <p:cNvPr id="53406" name="组合 448670"/>
                <p:cNvGrpSpPr/>
                <p:nvPr/>
              </p:nvGrpSpPr>
              <p:grpSpPr>
                <a:xfrm>
                  <a:off x="0" y="2768"/>
                  <a:ext cx="770" cy="262"/>
                  <a:chOff x="0" y="2768"/>
                  <a:chExt cx="770" cy="262"/>
                </a:xfrm>
              </p:grpSpPr>
              <p:sp>
                <p:nvSpPr>
                  <p:cNvPr id="53407" name="矩形 448671"/>
                  <p:cNvSpPr/>
                  <p:nvPr/>
                </p:nvSpPr>
                <p:spPr>
                  <a:xfrm>
                    <a:off x="42" y="2810"/>
                    <a:ext cx="686" cy="178"/>
                  </a:xfrm>
                  <a:prstGeom prst="rect">
                    <a:avLst/>
                  </a:prstGeom>
                  <a:solidFill>
                    <a:srgbClr val="CECFFF"/>
                  </a:solidFill>
                  <a:ln w="9525">
                    <a:noFill/>
                  </a:ln>
                </p:spPr>
                <p:txBody>
                  <a:bodyPr anchor="t"/>
                  <a:lstStyle/>
                  <a:p>
                    <a:r>
                      <a:rPr lang="zh-CN" altLang="en-US" sz="2400" b="1" dirty="0">
                        <a:solidFill>
                          <a:srgbClr val="000000"/>
                        </a:solidFill>
                        <a:latin typeface="宋体" panose="02010600030101010101" pitchFamily="2" charset="-122"/>
                      </a:rPr>
                      <a:t>大白菜</a:t>
                    </a:r>
                  </a:p>
                  <a:p>
                    <a:pPr eaLnBrk="0" hangingPunct="0">
                      <a:buClr>
                        <a:schemeClr val="bg1"/>
                      </a:buClr>
                    </a:pPr>
                    <a:endParaRPr lang="zh-CN" altLang="en-US" sz="2400" b="1" dirty="0">
                      <a:latin typeface="Arial" panose="020B0604020202020204" pitchFamily="34" charset="0"/>
                    </a:endParaRPr>
                  </a:p>
                </p:txBody>
              </p:sp>
              <p:sp>
                <p:nvSpPr>
                  <p:cNvPr id="53408" name="矩形 448672"/>
                  <p:cNvSpPr/>
                  <p:nvPr/>
                </p:nvSpPr>
                <p:spPr>
                  <a:xfrm>
                    <a:off x="0" y="2768"/>
                    <a:ext cx="770" cy="262"/>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latin typeface="Arial" panose="020B0604020202020204" pitchFamily="34" charset="0"/>
                    </a:endParaRPr>
                  </a:p>
                </p:txBody>
              </p:sp>
            </p:grpSp>
          </p:grpSp>
          <p:grpSp>
            <p:nvGrpSpPr>
              <p:cNvPr id="53409" name="组合 448673"/>
              <p:cNvGrpSpPr/>
              <p:nvPr/>
            </p:nvGrpSpPr>
            <p:grpSpPr>
              <a:xfrm>
                <a:off x="770" y="2768"/>
                <a:ext cx="782" cy="430"/>
                <a:chOff x="770" y="2768"/>
                <a:chExt cx="782" cy="430"/>
              </a:xfrm>
            </p:grpSpPr>
            <p:sp>
              <p:nvSpPr>
                <p:cNvPr id="53410" name="矩形 448674"/>
                <p:cNvSpPr/>
                <p:nvPr/>
              </p:nvSpPr>
              <p:spPr>
                <a:xfrm>
                  <a:off x="770" y="2768"/>
                  <a:ext cx="782" cy="430"/>
                </a:xfrm>
                <a:prstGeom prst="rect">
                  <a:avLst/>
                </a:prstGeom>
                <a:solidFill>
                  <a:srgbClr val="CECFFF"/>
                </a:solidFill>
                <a:ln w="9525">
                  <a:noFill/>
                </a:ln>
              </p:spPr>
              <p:txBody>
                <a:bodyPr anchor="t"/>
                <a:lstStyle/>
                <a:p>
                  <a:endParaRPr lang="zh-CN" altLang="en-US">
                    <a:latin typeface="Arial" panose="020B0604020202020204" pitchFamily="34" charset="0"/>
                  </a:endParaRPr>
                </a:p>
              </p:txBody>
            </p:sp>
            <p:grpSp>
              <p:nvGrpSpPr>
                <p:cNvPr id="53411" name="组合 448675"/>
                <p:cNvGrpSpPr/>
                <p:nvPr/>
              </p:nvGrpSpPr>
              <p:grpSpPr>
                <a:xfrm>
                  <a:off x="770" y="2768"/>
                  <a:ext cx="782" cy="262"/>
                  <a:chOff x="770" y="2768"/>
                  <a:chExt cx="782" cy="262"/>
                </a:xfrm>
              </p:grpSpPr>
              <p:sp>
                <p:nvSpPr>
                  <p:cNvPr id="53412" name="矩形 448676"/>
                  <p:cNvSpPr/>
                  <p:nvPr/>
                </p:nvSpPr>
                <p:spPr>
                  <a:xfrm>
                    <a:off x="812" y="2810"/>
                    <a:ext cx="698" cy="178"/>
                  </a:xfrm>
                  <a:prstGeom prst="rect">
                    <a:avLst/>
                  </a:prstGeom>
                  <a:solidFill>
                    <a:srgbClr val="CECFFF"/>
                  </a:solidFill>
                  <a:ln w="9525">
                    <a:noFill/>
                  </a:ln>
                </p:spPr>
                <p:txBody>
                  <a:bodyPr anchor="t"/>
                  <a:lstStyle/>
                  <a:p>
                    <a:r>
                      <a:rPr lang="en-US" altLang="zh-CN" sz="2400" b="1">
                        <a:solidFill>
                          <a:srgbClr val="000000"/>
                        </a:solidFill>
                        <a:latin typeface="宋体" panose="02010600030101010101" pitchFamily="2" charset="-122"/>
                      </a:rPr>
                      <a:t>20</a:t>
                    </a:r>
                  </a:p>
                  <a:p>
                    <a:pPr eaLnBrk="0" hangingPunct="0">
                      <a:buClr>
                        <a:schemeClr val="bg1"/>
                      </a:buClr>
                    </a:pPr>
                    <a:endParaRPr lang="zh-CN" altLang="en-US" sz="2400" b="1" dirty="0">
                      <a:latin typeface="Arial" panose="020B0604020202020204" pitchFamily="34" charset="0"/>
                    </a:endParaRPr>
                  </a:p>
                </p:txBody>
              </p:sp>
              <p:sp>
                <p:nvSpPr>
                  <p:cNvPr id="53413" name="矩形 448677"/>
                  <p:cNvSpPr/>
                  <p:nvPr/>
                </p:nvSpPr>
                <p:spPr>
                  <a:xfrm>
                    <a:off x="770" y="2768"/>
                    <a:ext cx="782" cy="262"/>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latin typeface="Arial" panose="020B0604020202020204" pitchFamily="34" charset="0"/>
                    </a:endParaRPr>
                  </a:p>
                </p:txBody>
              </p:sp>
            </p:grpSp>
          </p:grpSp>
          <p:grpSp>
            <p:nvGrpSpPr>
              <p:cNvPr id="53414" name="组合 448678"/>
              <p:cNvGrpSpPr/>
              <p:nvPr/>
            </p:nvGrpSpPr>
            <p:grpSpPr>
              <a:xfrm>
                <a:off x="1552" y="2768"/>
                <a:ext cx="695" cy="430"/>
                <a:chOff x="1552" y="2768"/>
                <a:chExt cx="695" cy="430"/>
              </a:xfrm>
            </p:grpSpPr>
            <p:sp>
              <p:nvSpPr>
                <p:cNvPr id="53415" name="矩形 448679"/>
                <p:cNvSpPr/>
                <p:nvPr/>
              </p:nvSpPr>
              <p:spPr>
                <a:xfrm>
                  <a:off x="1552" y="2768"/>
                  <a:ext cx="695" cy="430"/>
                </a:xfrm>
                <a:prstGeom prst="rect">
                  <a:avLst/>
                </a:prstGeom>
                <a:solidFill>
                  <a:srgbClr val="CECFFF"/>
                </a:solidFill>
                <a:ln w="9525">
                  <a:noFill/>
                </a:ln>
              </p:spPr>
              <p:txBody>
                <a:bodyPr anchor="t"/>
                <a:lstStyle/>
                <a:p>
                  <a:endParaRPr lang="zh-CN" altLang="en-US">
                    <a:latin typeface="Arial" panose="020B0604020202020204" pitchFamily="34" charset="0"/>
                  </a:endParaRPr>
                </a:p>
              </p:txBody>
            </p:sp>
            <p:grpSp>
              <p:nvGrpSpPr>
                <p:cNvPr id="53416" name="组合 448680"/>
                <p:cNvGrpSpPr/>
                <p:nvPr/>
              </p:nvGrpSpPr>
              <p:grpSpPr>
                <a:xfrm>
                  <a:off x="1552" y="2768"/>
                  <a:ext cx="695" cy="262"/>
                  <a:chOff x="1552" y="2768"/>
                  <a:chExt cx="695" cy="262"/>
                </a:xfrm>
              </p:grpSpPr>
              <p:sp>
                <p:nvSpPr>
                  <p:cNvPr id="53417" name="矩形 448681"/>
                  <p:cNvSpPr/>
                  <p:nvPr/>
                </p:nvSpPr>
                <p:spPr>
                  <a:xfrm>
                    <a:off x="1594" y="2810"/>
                    <a:ext cx="611" cy="178"/>
                  </a:xfrm>
                  <a:prstGeom prst="rect">
                    <a:avLst/>
                  </a:prstGeom>
                  <a:solidFill>
                    <a:srgbClr val="CECFFF"/>
                  </a:solidFill>
                  <a:ln w="9525">
                    <a:noFill/>
                  </a:ln>
                </p:spPr>
                <p:txBody>
                  <a:bodyPr anchor="t"/>
                  <a:lstStyle/>
                  <a:p>
                    <a:r>
                      <a:rPr lang="zh-CN" altLang="en-US" sz="2400" b="1" dirty="0">
                        <a:solidFill>
                          <a:srgbClr val="000000"/>
                        </a:solidFill>
                        <a:latin typeface="宋体" panose="02010600030101010101" pitchFamily="2" charset="-122"/>
                      </a:rPr>
                      <a:t>油菜</a:t>
                    </a:r>
                  </a:p>
                  <a:p>
                    <a:pPr eaLnBrk="0" hangingPunct="0">
                      <a:buClr>
                        <a:schemeClr val="bg1"/>
                      </a:buClr>
                    </a:pPr>
                    <a:endParaRPr lang="zh-CN" altLang="en-US" sz="2400" b="1" dirty="0">
                      <a:latin typeface="Arial" panose="020B0604020202020204" pitchFamily="34" charset="0"/>
                    </a:endParaRPr>
                  </a:p>
                </p:txBody>
              </p:sp>
              <p:sp>
                <p:nvSpPr>
                  <p:cNvPr id="53418" name="矩形 448682"/>
                  <p:cNvSpPr/>
                  <p:nvPr/>
                </p:nvSpPr>
                <p:spPr>
                  <a:xfrm>
                    <a:off x="1552" y="2768"/>
                    <a:ext cx="695" cy="262"/>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latin typeface="Arial" panose="020B0604020202020204" pitchFamily="34" charset="0"/>
                    </a:endParaRPr>
                  </a:p>
                </p:txBody>
              </p:sp>
            </p:grpSp>
          </p:grpSp>
          <p:grpSp>
            <p:nvGrpSpPr>
              <p:cNvPr id="53419" name="组合 448683"/>
              <p:cNvGrpSpPr/>
              <p:nvPr/>
            </p:nvGrpSpPr>
            <p:grpSpPr>
              <a:xfrm>
                <a:off x="2247" y="2768"/>
                <a:ext cx="631" cy="430"/>
                <a:chOff x="2247" y="2768"/>
                <a:chExt cx="631" cy="430"/>
              </a:xfrm>
            </p:grpSpPr>
            <p:sp>
              <p:nvSpPr>
                <p:cNvPr id="53420" name="矩形 448684"/>
                <p:cNvSpPr/>
                <p:nvPr/>
              </p:nvSpPr>
              <p:spPr>
                <a:xfrm>
                  <a:off x="2247" y="2768"/>
                  <a:ext cx="631" cy="430"/>
                </a:xfrm>
                <a:prstGeom prst="rect">
                  <a:avLst/>
                </a:prstGeom>
                <a:solidFill>
                  <a:srgbClr val="CECFFF"/>
                </a:solidFill>
                <a:ln w="9525">
                  <a:noFill/>
                </a:ln>
              </p:spPr>
              <p:txBody>
                <a:bodyPr anchor="t"/>
                <a:lstStyle/>
                <a:p>
                  <a:endParaRPr lang="zh-CN" altLang="en-US">
                    <a:latin typeface="Arial" panose="020B0604020202020204" pitchFamily="34" charset="0"/>
                  </a:endParaRPr>
                </a:p>
              </p:txBody>
            </p:sp>
            <p:grpSp>
              <p:nvGrpSpPr>
                <p:cNvPr id="53421" name="组合 448685"/>
                <p:cNvGrpSpPr/>
                <p:nvPr/>
              </p:nvGrpSpPr>
              <p:grpSpPr>
                <a:xfrm>
                  <a:off x="2247" y="2768"/>
                  <a:ext cx="631" cy="262"/>
                  <a:chOff x="2247" y="2768"/>
                  <a:chExt cx="631" cy="262"/>
                </a:xfrm>
              </p:grpSpPr>
              <p:sp>
                <p:nvSpPr>
                  <p:cNvPr id="53422" name="矩形 448686"/>
                  <p:cNvSpPr/>
                  <p:nvPr/>
                </p:nvSpPr>
                <p:spPr>
                  <a:xfrm>
                    <a:off x="2289" y="2810"/>
                    <a:ext cx="547" cy="178"/>
                  </a:xfrm>
                  <a:prstGeom prst="rect">
                    <a:avLst/>
                  </a:prstGeom>
                  <a:solidFill>
                    <a:srgbClr val="CECFFF"/>
                  </a:solidFill>
                  <a:ln w="9525">
                    <a:noFill/>
                  </a:ln>
                </p:spPr>
                <p:txBody>
                  <a:bodyPr anchor="t"/>
                  <a:lstStyle/>
                  <a:p>
                    <a:r>
                      <a:rPr lang="en-US" altLang="zh-CN" sz="2400" b="1">
                        <a:solidFill>
                          <a:srgbClr val="000000"/>
                        </a:solidFill>
                        <a:latin typeface="宋体" panose="02010600030101010101" pitchFamily="2" charset="-122"/>
                      </a:rPr>
                      <a:t>5.1</a:t>
                    </a:r>
                  </a:p>
                  <a:p>
                    <a:pPr eaLnBrk="0" hangingPunct="0">
                      <a:buClr>
                        <a:schemeClr val="bg1"/>
                      </a:buClr>
                    </a:pPr>
                    <a:endParaRPr lang="zh-CN" altLang="en-US" sz="2400" b="1" dirty="0">
                      <a:latin typeface="Arial" panose="020B0604020202020204" pitchFamily="34" charset="0"/>
                    </a:endParaRPr>
                  </a:p>
                </p:txBody>
              </p:sp>
              <p:sp>
                <p:nvSpPr>
                  <p:cNvPr id="53423" name="矩形 448687"/>
                  <p:cNvSpPr/>
                  <p:nvPr/>
                </p:nvSpPr>
                <p:spPr>
                  <a:xfrm>
                    <a:off x="2247" y="2768"/>
                    <a:ext cx="631" cy="262"/>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latin typeface="Arial" panose="020B0604020202020204" pitchFamily="34" charset="0"/>
                    </a:endParaRPr>
                  </a:p>
                </p:txBody>
              </p:sp>
            </p:grpSp>
          </p:grpSp>
          <p:grpSp>
            <p:nvGrpSpPr>
              <p:cNvPr id="53424" name="组合 448688"/>
              <p:cNvGrpSpPr/>
              <p:nvPr/>
            </p:nvGrpSpPr>
            <p:grpSpPr>
              <a:xfrm>
                <a:off x="0" y="3114"/>
                <a:ext cx="770" cy="430"/>
                <a:chOff x="0" y="3114"/>
                <a:chExt cx="770" cy="430"/>
              </a:xfrm>
            </p:grpSpPr>
            <p:sp>
              <p:nvSpPr>
                <p:cNvPr id="53425" name="矩形 448689"/>
                <p:cNvSpPr/>
                <p:nvPr/>
              </p:nvSpPr>
              <p:spPr>
                <a:xfrm>
                  <a:off x="0" y="3114"/>
                  <a:ext cx="770" cy="430"/>
                </a:xfrm>
                <a:prstGeom prst="rect">
                  <a:avLst/>
                </a:prstGeom>
                <a:solidFill>
                  <a:srgbClr val="CECFFF"/>
                </a:solidFill>
                <a:ln w="9525">
                  <a:noFill/>
                </a:ln>
              </p:spPr>
              <p:txBody>
                <a:bodyPr anchor="t"/>
                <a:lstStyle/>
                <a:p>
                  <a:endParaRPr lang="zh-CN" altLang="en-US">
                    <a:latin typeface="Arial" panose="020B0604020202020204" pitchFamily="34" charset="0"/>
                  </a:endParaRPr>
                </a:p>
              </p:txBody>
            </p:sp>
            <p:grpSp>
              <p:nvGrpSpPr>
                <p:cNvPr id="53426" name="组合 448690"/>
                <p:cNvGrpSpPr/>
                <p:nvPr/>
              </p:nvGrpSpPr>
              <p:grpSpPr>
                <a:xfrm>
                  <a:off x="0" y="3114"/>
                  <a:ext cx="770" cy="262"/>
                  <a:chOff x="0" y="3114"/>
                  <a:chExt cx="770" cy="262"/>
                </a:xfrm>
              </p:grpSpPr>
              <p:sp>
                <p:nvSpPr>
                  <p:cNvPr id="53427" name="矩形 448691"/>
                  <p:cNvSpPr/>
                  <p:nvPr/>
                </p:nvSpPr>
                <p:spPr>
                  <a:xfrm>
                    <a:off x="42" y="3156"/>
                    <a:ext cx="686" cy="178"/>
                  </a:xfrm>
                  <a:prstGeom prst="rect">
                    <a:avLst/>
                  </a:prstGeom>
                  <a:solidFill>
                    <a:srgbClr val="CECFFF"/>
                  </a:solidFill>
                  <a:ln w="9525">
                    <a:noFill/>
                  </a:ln>
                </p:spPr>
                <p:txBody>
                  <a:bodyPr anchor="t"/>
                  <a:lstStyle/>
                  <a:p>
                    <a:r>
                      <a:rPr lang="zh-CN" altLang="en-US" sz="2400" b="1" dirty="0">
                        <a:solidFill>
                          <a:srgbClr val="000000"/>
                        </a:solidFill>
                        <a:latin typeface="宋体" panose="02010600030101010101" pitchFamily="2" charset="-122"/>
                      </a:rPr>
                      <a:t>冬瓜</a:t>
                    </a:r>
                  </a:p>
                  <a:p>
                    <a:pPr eaLnBrk="0" hangingPunct="0">
                      <a:buClr>
                        <a:schemeClr val="bg1"/>
                      </a:buClr>
                    </a:pPr>
                    <a:endParaRPr lang="zh-CN" altLang="en-US" sz="2400" b="1" dirty="0">
                      <a:latin typeface="Arial" panose="020B0604020202020204" pitchFamily="34" charset="0"/>
                    </a:endParaRPr>
                  </a:p>
                </p:txBody>
              </p:sp>
              <p:sp>
                <p:nvSpPr>
                  <p:cNvPr id="53428" name="矩形 448692"/>
                  <p:cNvSpPr/>
                  <p:nvPr/>
                </p:nvSpPr>
                <p:spPr>
                  <a:xfrm>
                    <a:off x="0" y="3114"/>
                    <a:ext cx="770" cy="262"/>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latin typeface="Arial" panose="020B0604020202020204" pitchFamily="34" charset="0"/>
                    </a:endParaRPr>
                  </a:p>
                </p:txBody>
              </p:sp>
            </p:grpSp>
          </p:grpSp>
          <p:grpSp>
            <p:nvGrpSpPr>
              <p:cNvPr id="53429" name="组合 448693"/>
              <p:cNvGrpSpPr/>
              <p:nvPr/>
            </p:nvGrpSpPr>
            <p:grpSpPr>
              <a:xfrm>
                <a:off x="770" y="3114"/>
                <a:ext cx="782" cy="430"/>
                <a:chOff x="770" y="3114"/>
                <a:chExt cx="782" cy="430"/>
              </a:xfrm>
            </p:grpSpPr>
            <p:sp>
              <p:nvSpPr>
                <p:cNvPr id="53430" name="矩形 448694"/>
                <p:cNvSpPr/>
                <p:nvPr/>
              </p:nvSpPr>
              <p:spPr>
                <a:xfrm>
                  <a:off x="770" y="3114"/>
                  <a:ext cx="782" cy="430"/>
                </a:xfrm>
                <a:prstGeom prst="rect">
                  <a:avLst/>
                </a:prstGeom>
                <a:solidFill>
                  <a:srgbClr val="CECFFF"/>
                </a:solidFill>
                <a:ln w="9525">
                  <a:noFill/>
                </a:ln>
              </p:spPr>
              <p:txBody>
                <a:bodyPr anchor="t"/>
                <a:lstStyle/>
                <a:p>
                  <a:endParaRPr lang="zh-CN" altLang="en-US">
                    <a:latin typeface="Arial" panose="020B0604020202020204" pitchFamily="34" charset="0"/>
                  </a:endParaRPr>
                </a:p>
              </p:txBody>
            </p:sp>
            <p:grpSp>
              <p:nvGrpSpPr>
                <p:cNvPr id="53431" name="组合 448695"/>
                <p:cNvGrpSpPr/>
                <p:nvPr/>
              </p:nvGrpSpPr>
              <p:grpSpPr>
                <a:xfrm>
                  <a:off x="770" y="3114"/>
                  <a:ext cx="782" cy="262"/>
                  <a:chOff x="770" y="3114"/>
                  <a:chExt cx="782" cy="262"/>
                </a:xfrm>
              </p:grpSpPr>
              <p:sp>
                <p:nvSpPr>
                  <p:cNvPr id="53432" name="矩形 448696"/>
                  <p:cNvSpPr/>
                  <p:nvPr/>
                </p:nvSpPr>
                <p:spPr>
                  <a:xfrm>
                    <a:off x="812" y="3156"/>
                    <a:ext cx="698" cy="178"/>
                  </a:xfrm>
                  <a:prstGeom prst="rect">
                    <a:avLst/>
                  </a:prstGeom>
                  <a:solidFill>
                    <a:srgbClr val="CECFFF"/>
                  </a:solidFill>
                  <a:ln w="9525">
                    <a:noFill/>
                  </a:ln>
                </p:spPr>
                <p:txBody>
                  <a:bodyPr anchor="t"/>
                  <a:lstStyle/>
                  <a:p>
                    <a:r>
                      <a:rPr lang="en-US" altLang="zh-CN" sz="2400" b="1">
                        <a:solidFill>
                          <a:srgbClr val="000000"/>
                        </a:solidFill>
                        <a:latin typeface="宋体" panose="02010600030101010101" pitchFamily="2" charset="-122"/>
                      </a:rPr>
                      <a:t>16</a:t>
                    </a:r>
                  </a:p>
                  <a:p>
                    <a:pPr eaLnBrk="0" hangingPunct="0">
                      <a:buClr>
                        <a:schemeClr val="bg1"/>
                      </a:buClr>
                    </a:pPr>
                    <a:endParaRPr lang="zh-CN" altLang="en-US" sz="2400" b="1" dirty="0">
                      <a:latin typeface="Arial" panose="020B0604020202020204" pitchFamily="34" charset="0"/>
                    </a:endParaRPr>
                  </a:p>
                </p:txBody>
              </p:sp>
              <p:sp>
                <p:nvSpPr>
                  <p:cNvPr id="53433" name="矩形 448697"/>
                  <p:cNvSpPr/>
                  <p:nvPr/>
                </p:nvSpPr>
                <p:spPr>
                  <a:xfrm>
                    <a:off x="770" y="3114"/>
                    <a:ext cx="782" cy="262"/>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latin typeface="Arial" panose="020B0604020202020204" pitchFamily="34" charset="0"/>
                    </a:endParaRPr>
                  </a:p>
                </p:txBody>
              </p:sp>
            </p:grpSp>
          </p:grpSp>
          <p:grpSp>
            <p:nvGrpSpPr>
              <p:cNvPr id="53434" name="组合 448698"/>
              <p:cNvGrpSpPr/>
              <p:nvPr/>
            </p:nvGrpSpPr>
            <p:grpSpPr>
              <a:xfrm>
                <a:off x="1552" y="3114"/>
                <a:ext cx="695" cy="430"/>
                <a:chOff x="1552" y="3114"/>
                <a:chExt cx="695" cy="430"/>
              </a:xfrm>
            </p:grpSpPr>
            <p:sp>
              <p:nvSpPr>
                <p:cNvPr id="53435" name="矩形 448699"/>
                <p:cNvSpPr/>
                <p:nvPr/>
              </p:nvSpPr>
              <p:spPr>
                <a:xfrm>
                  <a:off x="1552" y="3114"/>
                  <a:ext cx="695" cy="430"/>
                </a:xfrm>
                <a:prstGeom prst="rect">
                  <a:avLst/>
                </a:prstGeom>
                <a:solidFill>
                  <a:srgbClr val="CECFFF"/>
                </a:solidFill>
                <a:ln w="9525">
                  <a:noFill/>
                </a:ln>
              </p:spPr>
              <p:txBody>
                <a:bodyPr anchor="t"/>
                <a:lstStyle/>
                <a:p>
                  <a:endParaRPr lang="zh-CN" altLang="en-US">
                    <a:latin typeface="Arial" panose="020B0604020202020204" pitchFamily="34" charset="0"/>
                  </a:endParaRPr>
                </a:p>
              </p:txBody>
            </p:sp>
            <p:grpSp>
              <p:nvGrpSpPr>
                <p:cNvPr id="53436" name="组合 448700"/>
                <p:cNvGrpSpPr/>
                <p:nvPr/>
              </p:nvGrpSpPr>
              <p:grpSpPr>
                <a:xfrm>
                  <a:off x="1552" y="3114"/>
                  <a:ext cx="695" cy="262"/>
                  <a:chOff x="1552" y="3114"/>
                  <a:chExt cx="695" cy="262"/>
                </a:xfrm>
              </p:grpSpPr>
              <p:sp>
                <p:nvSpPr>
                  <p:cNvPr id="53437" name="矩形 448701"/>
                  <p:cNvSpPr/>
                  <p:nvPr/>
                </p:nvSpPr>
                <p:spPr>
                  <a:xfrm>
                    <a:off x="1594" y="3156"/>
                    <a:ext cx="611" cy="178"/>
                  </a:xfrm>
                  <a:prstGeom prst="rect">
                    <a:avLst/>
                  </a:prstGeom>
                  <a:solidFill>
                    <a:srgbClr val="CECFFF"/>
                  </a:solidFill>
                  <a:ln w="9525">
                    <a:noFill/>
                  </a:ln>
                </p:spPr>
                <p:txBody>
                  <a:bodyPr anchor="t"/>
                  <a:lstStyle/>
                  <a:p>
                    <a:r>
                      <a:rPr lang="zh-CN" altLang="en-US" sz="2400" b="1" dirty="0">
                        <a:solidFill>
                          <a:srgbClr val="000000"/>
                        </a:solidFill>
                        <a:latin typeface="宋体" panose="02010600030101010101" pitchFamily="2" charset="-122"/>
                      </a:rPr>
                      <a:t>鸭梨</a:t>
                    </a:r>
                  </a:p>
                  <a:p>
                    <a:pPr eaLnBrk="0" hangingPunct="0">
                      <a:buClr>
                        <a:schemeClr val="bg1"/>
                      </a:buClr>
                    </a:pPr>
                    <a:endParaRPr lang="zh-CN" altLang="en-US" sz="2400" b="1" dirty="0">
                      <a:latin typeface="Arial" panose="020B0604020202020204" pitchFamily="34" charset="0"/>
                    </a:endParaRPr>
                  </a:p>
                </p:txBody>
              </p:sp>
              <p:sp>
                <p:nvSpPr>
                  <p:cNvPr id="53438" name="矩形 448702"/>
                  <p:cNvSpPr/>
                  <p:nvPr/>
                </p:nvSpPr>
                <p:spPr>
                  <a:xfrm>
                    <a:off x="1552" y="3114"/>
                    <a:ext cx="695" cy="262"/>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latin typeface="Arial" panose="020B0604020202020204" pitchFamily="34" charset="0"/>
                    </a:endParaRPr>
                  </a:p>
                </p:txBody>
              </p:sp>
            </p:grpSp>
          </p:grpSp>
          <p:grpSp>
            <p:nvGrpSpPr>
              <p:cNvPr id="53439" name="组合 448703"/>
              <p:cNvGrpSpPr/>
              <p:nvPr/>
            </p:nvGrpSpPr>
            <p:grpSpPr>
              <a:xfrm>
                <a:off x="2247" y="3114"/>
                <a:ext cx="631" cy="430"/>
                <a:chOff x="2247" y="3114"/>
                <a:chExt cx="631" cy="430"/>
              </a:xfrm>
            </p:grpSpPr>
            <p:sp>
              <p:nvSpPr>
                <p:cNvPr id="53440" name="矩形 448704"/>
                <p:cNvSpPr/>
                <p:nvPr/>
              </p:nvSpPr>
              <p:spPr>
                <a:xfrm>
                  <a:off x="2247" y="3114"/>
                  <a:ext cx="631" cy="430"/>
                </a:xfrm>
                <a:prstGeom prst="rect">
                  <a:avLst/>
                </a:prstGeom>
                <a:solidFill>
                  <a:srgbClr val="CECFFF"/>
                </a:solidFill>
                <a:ln w="9525">
                  <a:noFill/>
                </a:ln>
              </p:spPr>
              <p:txBody>
                <a:bodyPr anchor="t"/>
                <a:lstStyle/>
                <a:p>
                  <a:endParaRPr lang="zh-CN" altLang="en-US">
                    <a:latin typeface="Arial" panose="020B0604020202020204" pitchFamily="34" charset="0"/>
                  </a:endParaRPr>
                </a:p>
              </p:txBody>
            </p:sp>
            <p:grpSp>
              <p:nvGrpSpPr>
                <p:cNvPr id="53441" name="组合 448705"/>
                <p:cNvGrpSpPr/>
                <p:nvPr/>
              </p:nvGrpSpPr>
              <p:grpSpPr>
                <a:xfrm>
                  <a:off x="2247" y="3114"/>
                  <a:ext cx="631" cy="262"/>
                  <a:chOff x="2247" y="3114"/>
                  <a:chExt cx="631" cy="262"/>
                </a:xfrm>
              </p:grpSpPr>
              <p:sp>
                <p:nvSpPr>
                  <p:cNvPr id="53442" name="矩形 448706"/>
                  <p:cNvSpPr/>
                  <p:nvPr/>
                </p:nvSpPr>
                <p:spPr>
                  <a:xfrm>
                    <a:off x="2289" y="3156"/>
                    <a:ext cx="547" cy="178"/>
                  </a:xfrm>
                  <a:prstGeom prst="rect">
                    <a:avLst/>
                  </a:prstGeom>
                  <a:solidFill>
                    <a:srgbClr val="CECFFF"/>
                  </a:solidFill>
                  <a:ln w="9525">
                    <a:noFill/>
                  </a:ln>
                </p:spPr>
                <p:txBody>
                  <a:bodyPr anchor="t"/>
                  <a:lstStyle/>
                  <a:p>
                    <a:r>
                      <a:rPr lang="en-US" altLang="zh-CN" sz="2400" b="1">
                        <a:solidFill>
                          <a:srgbClr val="000000"/>
                        </a:solidFill>
                        <a:latin typeface="宋体" panose="02010600030101010101" pitchFamily="2" charset="-122"/>
                      </a:rPr>
                      <a:t>4</a:t>
                    </a:r>
                  </a:p>
                  <a:p>
                    <a:pPr eaLnBrk="0" hangingPunct="0">
                      <a:buClr>
                        <a:schemeClr val="bg1"/>
                      </a:buClr>
                    </a:pPr>
                    <a:endParaRPr lang="zh-CN" altLang="en-US" sz="2400" b="1" dirty="0">
                      <a:latin typeface="Arial" panose="020B0604020202020204" pitchFamily="34" charset="0"/>
                    </a:endParaRPr>
                  </a:p>
                </p:txBody>
              </p:sp>
              <p:sp>
                <p:nvSpPr>
                  <p:cNvPr id="53443" name="矩形 448707"/>
                  <p:cNvSpPr/>
                  <p:nvPr/>
                </p:nvSpPr>
                <p:spPr>
                  <a:xfrm>
                    <a:off x="2247" y="3114"/>
                    <a:ext cx="631" cy="262"/>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a:latin typeface="Arial" panose="020B0604020202020204" pitchFamily="34" charset="0"/>
                    </a:endParaRPr>
                  </a:p>
                </p:txBody>
              </p:sp>
            </p:grpSp>
          </p:grpSp>
        </p:grpSp>
        <p:sp>
          <p:nvSpPr>
            <p:cNvPr id="53444" name="矩形 448708"/>
            <p:cNvSpPr/>
            <p:nvPr/>
          </p:nvSpPr>
          <p:spPr>
            <a:xfrm>
              <a:off x="-3" y="-3"/>
              <a:ext cx="2884" cy="3550"/>
            </a:xfrm>
            <a:prstGeom prst="rect">
              <a:avLst/>
            </a:prstGeom>
            <a:noFill/>
            <a:ln w="9525" cap="flat" cmpd="sng">
              <a:solidFill>
                <a:srgbClr val="A0A0A0"/>
              </a:solidFill>
              <a:prstDash val="solid"/>
              <a:miter/>
              <a:headEnd type="none" w="med" len="med"/>
              <a:tailEnd type="none" w="med" len="med"/>
            </a:ln>
          </p:spPr>
          <p:txBody>
            <a:bodyPr anchor="t"/>
            <a:lstStyle/>
            <a:p>
              <a:endParaRPr lang="zh-CN" altLang="en-US">
                <a:latin typeface="Arial" panose="020B0604020202020204" pitchFamily="34" charset="0"/>
              </a:endParaRPr>
            </a:p>
          </p:txBody>
        </p:sp>
      </p:grpSp>
      <p:sp>
        <p:nvSpPr>
          <p:cNvPr id="53445" name="灯片编号占位符 1"/>
          <p:cNvSpPr>
            <a:spLocks noGrp="1"/>
          </p:cNvSpPr>
          <p:nvPr>
            <p:ph type="sldNum" sz="quarter" idx="11"/>
          </p:nvPr>
        </p:nvSpPr>
        <p:spPr>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400" dirty="0"/>
              <a:pPr lvl="0" indent="0" algn="r"/>
              <a:t>52</a:t>
            </a:fld>
            <a:endParaRPr lang="zh-CN" altLang="en-US" sz="1400" dirty="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3026" name="标题 513025"/>
          <p:cNvSpPr>
            <a:spLocks noGrp="1" noRot="1"/>
          </p:cNvSpPr>
          <p:nvPr>
            <p:ph type="title"/>
          </p:nvPr>
        </p:nvSpPr>
        <p:spPr>
          <a:xfrm>
            <a:off x="564515" y="365443"/>
            <a:ext cx="4943589" cy="975326"/>
          </a:xfrm>
          <a:ln/>
        </p:spPr>
        <p:txBody>
          <a:bodyPr anchor="ctr"/>
          <a:lstStyle/>
          <a:p>
            <a:r>
              <a:rPr lang="zh-CN" altLang="en-US" sz="2800" b="1" dirty="0">
                <a:solidFill>
                  <a:srgbClr val="CC3300"/>
                </a:solidFill>
              </a:rPr>
              <a:t>（</a:t>
            </a:r>
            <a:r>
              <a:rPr lang="en-US" altLang="zh-CN" sz="2800" b="1" dirty="0">
                <a:solidFill>
                  <a:srgbClr val="CC3300"/>
                </a:solidFill>
              </a:rPr>
              <a:t>5</a:t>
            </a:r>
            <a:r>
              <a:rPr lang="zh-CN" altLang="en-US" sz="2800" b="1" dirty="0">
                <a:solidFill>
                  <a:srgbClr val="CC3300"/>
                </a:solidFill>
              </a:rPr>
              <a:t>）维生素</a:t>
            </a:r>
            <a:r>
              <a:rPr lang="en-US" altLang="zh-CN" sz="2800" b="1" dirty="0">
                <a:solidFill>
                  <a:srgbClr val="CC3300"/>
                </a:solidFill>
              </a:rPr>
              <a:t>E</a:t>
            </a:r>
            <a:r>
              <a:rPr lang="zh-CN" altLang="en-US" sz="2800" b="1" dirty="0">
                <a:solidFill>
                  <a:srgbClr val="CC3300"/>
                </a:solidFill>
              </a:rPr>
              <a:t>在人体中的功能</a:t>
            </a:r>
          </a:p>
        </p:txBody>
      </p:sp>
      <p:sp>
        <p:nvSpPr>
          <p:cNvPr id="513027" name="文本占位符 513026"/>
          <p:cNvSpPr>
            <a:spLocks noGrp="1" noRot="1"/>
          </p:cNvSpPr>
          <p:nvPr>
            <p:ph type="body" sz="half" idx="4294967295"/>
          </p:nvPr>
        </p:nvSpPr>
        <p:spPr>
          <a:xfrm>
            <a:off x="564515" y="1691005"/>
            <a:ext cx="7715250" cy="4530725"/>
          </a:xfrm>
          <a:ln/>
        </p:spPr>
        <p:txBody>
          <a:bodyPr anchor="t"/>
          <a:lstStyle/>
          <a:p>
            <a:r>
              <a:rPr lang="zh-CN" altLang="en-US" sz="2400" b="1" dirty="0"/>
              <a:t>又叫生育酚，是动物体内强抗氧化剂。</a:t>
            </a:r>
          </a:p>
          <a:p>
            <a:r>
              <a:rPr lang="zh-CN" altLang="en-US" sz="2400" b="1" dirty="0"/>
              <a:t>缺乏引起肌肉萎缩，肝脏损伤等，特别是不能生育。</a:t>
            </a:r>
          </a:p>
          <a:p>
            <a:r>
              <a:rPr lang="zh-CN" altLang="en-US" sz="2400" b="1" dirty="0"/>
              <a:t>来源：绿色植物及种子胚芽。</a:t>
            </a:r>
          </a:p>
          <a:p>
            <a:r>
              <a:rPr lang="zh-CN" altLang="en-US" sz="2400" b="1" dirty="0"/>
              <a:t>对预防动脉硬化、脑出血，以及人体抗衰老具有显著作用</a:t>
            </a:r>
            <a:r>
              <a:rPr lang="zh-CN" altLang="en-US" sz="2800" b="1" dirty="0"/>
              <a:t>。</a:t>
            </a:r>
          </a:p>
        </p:txBody>
      </p:sp>
      <p:graphicFrame>
        <p:nvGraphicFramePr>
          <p:cNvPr id="513028" name="内容占位符 513027"/>
          <p:cNvGraphicFramePr>
            <a:graphicFrameLocks/>
          </p:cNvGraphicFramePr>
          <p:nvPr>
            <p:ph sz="half" idx="4294967295"/>
          </p:nvPr>
        </p:nvGraphicFramePr>
        <p:xfrm>
          <a:off x="4580255" y="3645024"/>
          <a:ext cx="4182745" cy="1552575"/>
        </p:xfrm>
        <a:graphic>
          <a:graphicData uri="http://schemas.openxmlformats.org/presentationml/2006/ole">
            <p:oleObj spid="_x0000_s52225" r:id="rId3" imgW="3815080" imgH="1590040" progId="ChemDraw.Document.6.0">
              <p:embed/>
            </p:oleObj>
          </a:graphicData>
        </a:graphic>
      </p:graphicFrame>
      <p:sp>
        <p:nvSpPr>
          <p:cNvPr id="54276" name="灯片编号占位符 1"/>
          <p:cNvSpPr>
            <a:spLocks noGrp="1"/>
          </p:cNvSpPr>
          <p:nvPr>
            <p:ph type="sldNum" sz="quarter" idx="12"/>
          </p:nvPr>
        </p:nvSpPr>
        <p:spPr>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400" dirty="0"/>
              <a:pPr lvl="0" indent="0" algn="r"/>
              <a:t>53</a:t>
            </a:fld>
            <a:endParaRPr lang="zh-CN" altLang="en-US" sz="1400" dirty="0"/>
          </a:p>
        </p:txBody>
      </p:sp>
      <p:pic>
        <p:nvPicPr>
          <p:cNvPr id="52229" name="Picture 5" descr="http://himg2.huanqiu.com/attachment2010/2016/1223/20161223022534156.jpg"/>
          <p:cNvPicPr>
            <a:picLocks noChangeAspect="1" noChangeArrowheads="1"/>
          </p:cNvPicPr>
          <p:nvPr/>
        </p:nvPicPr>
        <p:blipFill>
          <a:blip r:embed="rId4" cstate="print"/>
          <a:srcRect/>
          <a:stretch>
            <a:fillRect/>
          </a:stretch>
        </p:blipFill>
        <p:spPr bwMode="auto">
          <a:xfrm>
            <a:off x="0" y="4013015"/>
            <a:ext cx="4294609" cy="284498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499"/>
                                          </p:stCondLst>
                                        </p:cTn>
                                        <p:tgtEl>
                                          <p:spTgt spid="513026"/>
                                        </p:tgtEl>
                                        <p:attrNameLst>
                                          <p:attrName>style.visibility</p:attrName>
                                        </p:attrNameLst>
                                      </p:cBhvr>
                                      <p:to>
                                        <p:strVal val="visible"/>
                                      </p:to>
                                    </p:set>
                                    <p:anim to="" calcmode="lin" valueType="num">
                                      <p:cBhvr>
                                        <p:cTn id="7" dur="1" fill="hold"/>
                                        <p:tgtEl>
                                          <p:spTgt spid="513026"/>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499"/>
                                          </p:stCondLst>
                                        </p:cTn>
                                        <p:tgtEl>
                                          <p:spTgt spid="513027"/>
                                        </p:tgtEl>
                                        <p:attrNameLst>
                                          <p:attrName>style.visibility</p:attrName>
                                        </p:attrNameLst>
                                      </p:cBhvr>
                                      <p:to>
                                        <p:strVal val="visible"/>
                                      </p:to>
                                    </p:set>
                                    <p:anim to="" calcmode="lin" valueType="num">
                                      <p:cBhvr>
                                        <p:cTn id="12" dur="1" fill="hold"/>
                                        <p:tgtEl>
                                          <p:spTgt spid="513027"/>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nodeType="clickEffect">
                                  <p:stCondLst>
                                    <p:cond delay="0"/>
                                  </p:stCondLst>
                                  <p:childTnLst>
                                    <p:set>
                                      <p:cBhvr>
                                        <p:cTn id="16" dur="1" fill="hold">
                                          <p:stCondLst>
                                            <p:cond delay="499"/>
                                          </p:stCondLst>
                                        </p:cTn>
                                        <p:tgtEl>
                                          <p:spTgt spid="513028">
                                            <p:subSp spid="_x0000_s52225"/>
                                          </p:spTgt>
                                        </p:tgtEl>
                                        <p:attrNameLst>
                                          <p:attrName>style.visibility</p:attrName>
                                        </p:attrNameLst>
                                      </p:cBhvr>
                                      <p:to>
                                        <p:strVal val="visible"/>
                                      </p:to>
                                    </p:set>
                                    <p:anim to="" calcmode="lin" valueType="num">
                                      <p:cBhvr>
                                        <p:cTn id="17" dur="1" fill="hold"/>
                                        <p:tgtEl>
                                          <p:spTgt spid="513028">
                                            <p:subSp spid="_x0000_s52225"/>
                                          </p:spTgt>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026" grpId="0" animBg="1" autoUpdateAnimBg="0"/>
      <p:bldP spid="513027" grpId="0" animBg="1"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矩形 449537"/>
          <p:cNvSpPr/>
          <p:nvPr/>
        </p:nvSpPr>
        <p:spPr>
          <a:xfrm>
            <a:off x="609600" y="533400"/>
            <a:ext cx="5546576" cy="523220"/>
          </a:xfrm>
          <a:prstGeom prst="rect">
            <a:avLst/>
          </a:prstGeom>
          <a:noFill/>
          <a:ln w="9525">
            <a:noFill/>
          </a:ln>
        </p:spPr>
        <p:txBody>
          <a:bodyPr wrap="square" anchor="t">
            <a:spAutoFit/>
          </a:bodyPr>
          <a:lstStyle/>
          <a:p>
            <a:pPr algn="just"/>
            <a:r>
              <a:rPr lang="zh-CN" altLang="en-US" sz="2800" b="1" dirty="0">
                <a:solidFill>
                  <a:srgbClr val="990099"/>
                </a:solidFill>
                <a:latin typeface="Times New Roman" panose="02020603050405020304" pitchFamily="18" charset="0"/>
              </a:rPr>
              <a:t>自我查看了解你缺少哪种维生素</a:t>
            </a:r>
            <a:endParaRPr lang="zh-CN" altLang="en-US" sz="2800" dirty="0">
              <a:solidFill>
                <a:srgbClr val="990099"/>
              </a:solidFill>
              <a:latin typeface="Arial" panose="020B0604020202020204" pitchFamily="34" charset="0"/>
            </a:endParaRPr>
          </a:p>
        </p:txBody>
      </p:sp>
      <p:sp>
        <p:nvSpPr>
          <p:cNvPr id="449539" name="矩形 449538"/>
          <p:cNvSpPr/>
          <p:nvPr/>
        </p:nvSpPr>
        <p:spPr>
          <a:xfrm>
            <a:off x="762000" y="1125538"/>
            <a:ext cx="7924800" cy="822325"/>
          </a:xfrm>
          <a:prstGeom prst="rect">
            <a:avLst/>
          </a:prstGeom>
          <a:noFill/>
          <a:ln w="9525">
            <a:noFill/>
          </a:ln>
        </p:spPr>
        <p:txBody>
          <a:bodyPr anchor="t">
            <a:spAutoFit/>
          </a:bodyPr>
          <a:lstStyle/>
          <a:p>
            <a:pPr>
              <a:buClr>
                <a:schemeClr val="bg1"/>
              </a:buClr>
            </a:pPr>
            <a:r>
              <a:rPr lang="zh-CN" altLang="en-US" sz="2400" b="1" dirty="0">
                <a:solidFill>
                  <a:srgbClr val="FF0000"/>
                </a:solidFill>
                <a:latin typeface="宋体" panose="02010600030101010101" pitchFamily="2" charset="-122"/>
              </a:rPr>
              <a:t>缺维生素</a:t>
            </a:r>
            <a:r>
              <a:rPr lang="en-US" altLang="zh-CN" sz="2400" b="1">
                <a:solidFill>
                  <a:srgbClr val="FF0000"/>
                </a:solidFill>
                <a:latin typeface="Times New Roman" panose="02020603050405020304" pitchFamily="18" charset="0"/>
              </a:rPr>
              <a:t>A</a:t>
            </a:r>
            <a:r>
              <a:rPr lang="zh-CN" altLang="en-US" sz="2400" b="1">
                <a:solidFill>
                  <a:srgbClr val="FF0000"/>
                </a:solidFill>
                <a:latin typeface="宋体" panose="02010600030101010101" pitchFamily="2" charset="-122"/>
              </a:rPr>
              <a:t>：</a:t>
            </a:r>
            <a:r>
              <a:rPr lang="zh-CN" altLang="en-US" sz="2400" b="1" dirty="0">
                <a:solidFill>
                  <a:srgbClr val="000000"/>
                </a:solidFill>
                <a:latin typeface="宋体" panose="02010600030101010101" pitchFamily="2" charset="-122"/>
              </a:rPr>
              <a:t>指甲出现深刻明显的白线，头发枯干，皮肤粗糙，记忆力减退，心情烦躁及失眠（严重缺乏，</a:t>
            </a:r>
            <a:r>
              <a:rPr lang="zh-CN" altLang="en-US" sz="2400" b="1" dirty="0">
                <a:latin typeface="Arial" panose="020B0604020202020204" pitchFamily="34" charset="0"/>
              </a:rPr>
              <a:t>夜盲症）</a:t>
            </a:r>
            <a:r>
              <a:rPr lang="zh-CN" altLang="en-US" dirty="0">
                <a:latin typeface="Arial" panose="020B0604020202020204" pitchFamily="34" charset="0"/>
              </a:rPr>
              <a:t> </a:t>
            </a:r>
          </a:p>
        </p:txBody>
      </p:sp>
      <p:sp>
        <p:nvSpPr>
          <p:cNvPr id="449540" name="矩形 449539"/>
          <p:cNvSpPr/>
          <p:nvPr/>
        </p:nvSpPr>
        <p:spPr>
          <a:xfrm>
            <a:off x="762000" y="2071688"/>
            <a:ext cx="7924800" cy="822325"/>
          </a:xfrm>
          <a:prstGeom prst="rect">
            <a:avLst/>
          </a:prstGeom>
          <a:noFill/>
          <a:ln w="9525">
            <a:noFill/>
          </a:ln>
        </p:spPr>
        <p:txBody>
          <a:bodyPr anchor="t">
            <a:spAutoFit/>
          </a:bodyPr>
          <a:lstStyle/>
          <a:p>
            <a:r>
              <a:rPr lang="zh-CN" altLang="en-US" sz="2400" b="1" dirty="0">
                <a:solidFill>
                  <a:srgbClr val="FF0000"/>
                </a:solidFill>
                <a:latin typeface="宋体" panose="02010600030101010101" pitchFamily="2" charset="-122"/>
              </a:rPr>
              <a:t>缺维生素</a:t>
            </a:r>
            <a:r>
              <a:rPr lang="en-US" altLang="zh-CN" sz="2400" b="1">
                <a:solidFill>
                  <a:srgbClr val="FF0000"/>
                </a:solidFill>
                <a:latin typeface="Times New Roman" panose="02020603050405020304" pitchFamily="18" charset="0"/>
              </a:rPr>
              <a:t>B1</a:t>
            </a:r>
            <a:r>
              <a:rPr lang="zh-CN" altLang="en-US" sz="2400" b="1">
                <a:solidFill>
                  <a:srgbClr val="FF0000"/>
                </a:solidFill>
                <a:latin typeface="宋体" panose="02010600030101010101" pitchFamily="2" charset="-122"/>
              </a:rPr>
              <a:t>：</a:t>
            </a:r>
            <a:r>
              <a:rPr lang="zh-CN" altLang="en-US" sz="2400" b="1" dirty="0">
                <a:solidFill>
                  <a:srgbClr val="000000"/>
                </a:solidFill>
                <a:latin typeface="宋体" panose="02010600030101010101" pitchFamily="2" charset="-122"/>
              </a:rPr>
              <a:t>对外界刺激比较敏感，小腿有间歇性的酸痛；（脚气病－粗粮）</a:t>
            </a:r>
            <a:r>
              <a:rPr lang="zh-CN" altLang="en-US" sz="2400" b="1" dirty="0">
                <a:latin typeface="Times New Roman" panose="02020603050405020304" pitchFamily="18" charset="0"/>
              </a:rPr>
              <a:t> </a:t>
            </a:r>
            <a:endParaRPr lang="zh-CN" altLang="en-US" sz="2400" b="1" dirty="0">
              <a:latin typeface="Arial" panose="020B0604020202020204" pitchFamily="34" charset="0"/>
            </a:endParaRPr>
          </a:p>
        </p:txBody>
      </p:sp>
      <p:sp>
        <p:nvSpPr>
          <p:cNvPr id="449541" name="矩形 449540"/>
          <p:cNvSpPr/>
          <p:nvPr/>
        </p:nvSpPr>
        <p:spPr>
          <a:xfrm>
            <a:off x="762000" y="2924175"/>
            <a:ext cx="8077200" cy="822325"/>
          </a:xfrm>
          <a:prstGeom prst="rect">
            <a:avLst/>
          </a:prstGeom>
          <a:noFill/>
          <a:ln w="9525">
            <a:noFill/>
          </a:ln>
        </p:spPr>
        <p:txBody>
          <a:bodyPr anchor="t">
            <a:spAutoFit/>
          </a:bodyPr>
          <a:lstStyle/>
          <a:p>
            <a:r>
              <a:rPr lang="zh-CN" altLang="en-US" sz="2400" b="1" dirty="0">
                <a:solidFill>
                  <a:srgbClr val="FF0000"/>
                </a:solidFill>
                <a:latin typeface="宋体" panose="02010600030101010101" pitchFamily="2" charset="-122"/>
              </a:rPr>
              <a:t>缺维生素</a:t>
            </a:r>
            <a:r>
              <a:rPr lang="en-US" altLang="zh-CN" sz="2400" b="1">
                <a:solidFill>
                  <a:srgbClr val="FF0000"/>
                </a:solidFill>
                <a:latin typeface="Times New Roman" panose="02020603050405020304" pitchFamily="18" charset="0"/>
              </a:rPr>
              <a:t>B2</a:t>
            </a:r>
            <a:r>
              <a:rPr lang="zh-CN" altLang="en-US" sz="2400" b="1">
                <a:solidFill>
                  <a:srgbClr val="FF0000"/>
                </a:solidFill>
                <a:latin typeface="宋体" panose="02010600030101010101" pitchFamily="2" charset="-122"/>
              </a:rPr>
              <a:t>：</a:t>
            </a:r>
            <a:r>
              <a:rPr lang="zh-CN" altLang="en-US" sz="2400" b="1" dirty="0">
                <a:solidFill>
                  <a:srgbClr val="000000"/>
                </a:solidFill>
                <a:latin typeface="宋体" panose="02010600030101010101" pitchFamily="2" charset="-122"/>
              </a:rPr>
              <a:t>嘴角破裂溃烂，出现各种皮肤性疾病，手脚有灼热感觉。对光有过度敏感的反应；</a:t>
            </a:r>
            <a:r>
              <a:rPr lang="zh-CN" altLang="en-US" sz="2400" b="1" dirty="0">
                <a:latin typeface="Times New Roman" panose="02020603050405020304" pitchFamily="18" charset="0"/>
              </a:rPr>
              <a:t> </a:t>
            </a:r>
            <a:endParaRPr lang="zh-CN" altLang="en-US" sz="2400" b="1" dirty="0">
              <a:latin typeface="Arial" panose="020B0604020202020204" pitchFamily="34" charset="0"/>
            </a:endParaRPr>
          </a:p>
        </p:txBody>
      </p:sp>
      <p:sp>
        <p:nvSpPr>
          <p:cNvPr id="449542" name="矩形 449541"/>
          <p:cNvSpPr/>
          <p:nvPr/>
        </p:nvSpPr>
        <p:spPr>
          <a:xfrm>
            <a:off x="762000" y="3946525"/>
            <a:ext cx="7924800" cy="457200"/>
          </a:xfrm>
          <a:prstGeom prst="rect">
            <a:avLst/>
          </a:prstGeom>
          <a:noFill/>
          <a:ln w="9525">
            <a:noFill/>
          </a:ln>
        </p:spPr>
        <p:txBody>
          <a:bodyPr anchor="t">
            <a:spAutoFit/>
          </a:bodyPr>
          <a:lstStyle/>
          <a:p>
            <a:r>
              <a:rPr lang="zh-CN" altLang="en-US" sz="2400" b="1" dirty="0">
                <a:solidFill>
                  <a:srgbClr val="FF0000"/>
                </a:solidFill>
                <a:latin typeface="宋体" panose="02010600030101010101" pitchFamily="2" charset="-122"/>
              </a:rPr>
              <a:t>缺维生素</a:t>
            </a:r>
            <a:r>
              <a:rPr lang="en-US" altLang="zh-CN" sz="2400" b="1">
                <a:solidFill>
                  <a:srgbClr val="FF0000"/>
                </a:solidFill>
                <a:latin typeface="Times New Roman" panose="02020603050405020304" pitchFamily="18" charset="0"/>
              </a:rPr>
              <a:t>B3</a:t>
            </a:r>
            <a:r>
              <a:rPr lang="zh-CN" altLang="en-US" sz="2400" b="1">
                <a:solidFill>
                  <a:srgbClr val="FF0000"/>
                </a:solidFill>
                <a:latin typeface="宋体" panose="02010600030101010101" pitchFamily="2" charset="-122"/>
              </a:rPr>
              <a:t>：</a:t>
            </a:r>
            <a:r>
              <a:rPr lang="zh-CN" altLang="en-US" sz="2400" b="1" dirty="0">
                <a:solidFill>
                  <a:srgbClr val="000000"/>
                </a:solidFill>
                <a:latin typeface="宋体" panose="02010600030101010101" pitchFamily="2" charset="-122"/>
              </a:rPr>
              <a:t>舌头红肿，口臭，口腔溃疡，情绪低落；</a:t>
            </a:r>
            <a:r>
              <a:rPr lang="zh-CN" altLang="en-US" sz="2400" b="1" dirty="0">
                <a:latin typeface="Times New Roman" panose="02020603050405020304" pitchFamily="18" charset="0"/>
              </a:rPr>
              <a:t> </a:t>
            </a:r>
            <a:endParaRPr lang="zh-CN" altLang="en-US" sz="2400" b="1" dirty="0">
              <a:latin typeface="Arial" panose="020B0604020202020204" pitchFamily="34" charset="0"/>
            </a:endParaRPr>
          </a:p>
        </p:txBody>
      </p:sp>
      <p:sp>
        <p:nvSpPr>
          <p:cNvPr id="449543" name="矩形 449542"/>
          <p:cNvSpPr/>
          <p:nvPr/>
        </p:nvSpPr>
        <p:spPr>
          <a:xfrm>
            <a:off x="762000" y="4522788"/>
            <a:ext cx="7924800" cy="830997"/>
          </a:xfrm>
          <a:prstGeom prst="rect">
            <a:avLst/>
          </a:prstGeom>
          <a:noFill/>
          <a:ln w="9525">
            <a:noFill/>
          </a:ln>
        </p:spPr>
        <p:txBody>
          <a:bodyPr anchor="t">
            <a:spAutoFit/>
          </a:bodyPr>
          <a:lstStyle/>
          <a:p>
            <a:r>
              <a:rPr lang="zh-CN" altLang="en-US" sz="2400" b="1" dirty="0">
                <a:solidFill>
                  <a:srgbClr val="FF0000"/>
                </a:solidFill>
                <a:latin typeface="宋体" panose="02010600030101010101" pitchFamily="2" charset="-122"/>
              </a:rPr>
              <a:t>缺维生素</a:t>
            </a:r>
            <a:r>
              <a:rPr lang="en-US" altLang="zh-CN" sz="2400" b="1" dirty="0">
                <a:solidFill>
                  <a:srgbClr val="FF0000"/>
                </a:solidFill>
                <a:latin typeface="Times New Roman" panose="02020603050405020304" pitchFamily="18" charset="0"/>
              </a:rPr>
              <a:t>B6</a:t>
            </a:r>
            <a:r>
              <a:rPr lang="zh-CN" altLang="en-US" sz="2400" b="1" dirty="0">
                <a:solidFill>
                  <a:srgbClr val="FF0000"/>
                </a:solidFill>
                <a:latin typeface="宋体" panose="02010600030101010101" pitchFamily="2" charset="-122"/>
              </a:rPr>
              <a:t>：</a:t>
            </a:r>
            <a:r>
              <a:rPr lang="zh-CN" altLang="en-US" sz="2400" b="1" dirty="0">
                <a:solidFill>
                  <a:srgbClr val="000000"/>
                </a:solidFill>
                <a:latin typeface="宋体" panose="02010600030101010101" pitchFamily="2" charset="-122"/>
              </a:rPr>
              <a:t>舌苔厚重，嘴唇浮肿</a:t>
            </a:r>
            <a:r>
              <a:rPr lang="zh-CN" altLang="en-US" sz="2400" b="1" dirty="0" smtClean="0">
                <a:solidFill>
                  <a:srgbClr val="000000"/>
                </a:solidFill>
                <a:latin typeface="宋体" panose="02010600030101010101" pitchFamily="2" charset="-122"/>
              </a:rPr>
              <a:t>，</a:t>
            </a:r>
            <a:endParaRPr lang="en-US" altLang="zh-CN" sz="2400" b="1" dirty="0" smtClean="0">
              <a:solidFill>
                <a:srgbClr val="000000"/>
              </a:solidFill>
              <a:latin typeface="宋体" panose="02010600030101010101" pitchFamily="2" charset="-122"/>
            </a:endParaRPr>
          </a:p>
          <a:p>
            <a:r>
              <a:rPr lang="en-US" altLang="zh-CN" sz="2400" b="1" dirty="0" smtClean="0">
                <a:solidFill>
                  <a:srgbClr val="000000"/>
                </a:solidFill>
                <a:latin typeface="宋体" panose="02010600030101010101" pitchFamily="2" charset="-122"/>
              </a:rPr>
              <a:t>            </a:t>
            </a:r>
            <a:r>
              <a:rPr lang="zh-CN" altLang="en-US" sz="2400" b="1" dirty="0" smtClean="0">
                <a:solidFill>
                  <a:srgbClr val="000000"/>
                </a:solidFill>
                <a:latin typeface="宋体" panose="02010600030101010101" pitchFamily="2" charset="-122"/>
              </a:rPr>
              <a:t>头皮</a:t>
            </a:r>
            <a:r>
              <a:rPr lang="zh-CN" altLang="en-US" sz="2400" b="1" dirty="0">
                <a:solidFill>
                  <a:srgbClr val="000000"/>
                </a:solidFill>
                <a:latin typeface="宋体" panose="02010600030101010101" pitchFamily="2" charset="-122"/>
              </a:rPr>
              <a:t>特多，口腔黏膜</a:t>
            </a:r>
            <a:r>
              <a:rPr lang="zh-CN" altLang="en-US" sz="2400" b="1" dirty="0" smtClean="0">
                <a:solidFill>
                  <a:srgbClr val="000000"/>
                </a:solidFill>
                <a:latin typeface="宋体" panose="02010600030101010101" pitchFamily="2" charset="-122"/>
              </a:rPr>
              <a:t>干燥</a:t>
            </a:r>
            <a:endParaRPr lang="zh-CN" altLang="en-US" sz="2400" b="1" dirty="0">
              <a:latin typeface="Arial" panose="020B0604020202020204" pitchFamily="34" charset="0"/>
            </a:endParaRPr>
          </a:p>
        </p:txBody>
      </p:sp>
      <p:sp>
        <p:nvSpPr>
          <p:cNvPr id="55303" name="文本框 449546"/>
          <p:cNvSpPr txBox="1"/>
          <p:nvPr/>
        </p:nvSpPr>
        <p:spPr>
          <a:xfrm>
            <a:off x="762000" y="5345113"/>
            <a:ext cx="3487738" cy="457200"/>
          </a:xfrm>
          <a:prstGeom prst="rect">
            <a:avLst/>
          </a:prstGeom>
          <a:noFill/>
          <a:ln w="9525">
            <a:noFill/>
          </a:ln>
        </p:spPr>
        <p:txBody>
          <a:bodyPr wrap="none" anchor="t">
            <a:spAutoFit/>
          </a:bodyPr>
          <a:lstStyle/>
          <a:p>
            <a:r>
              <a:rPr lang="zh-CN" altLang="en-US" sz="2400" b="1" dirty="0">
                <a:solidFill>
                  <a:srgbClr val="FF0000"/>
                </a:solidFill>
                <a:latin typeface="Arial" panose="020B0604020202020204" pitchFamily="34" charset="0"/>
              </a:rPr>
              <a:t>缺维生素</a:t>
            </a:r>
            <a:r>
              <a:rPr lang="en-US" altLang="zh-CN" sz="2400" b="1" dirty="0">
                <a:solidFill>
                  <a:srgbClr val="FF0000"/>
                </a:solidFill>
                <a:latin typeface="Arial" panose="020B0604020202020204" pitchFamily="34" charset="0"/>
              </a:rPr>
              <a:t>B12</a:t>
            </a:r>
            <a:r>
              <a:rPr lang="zh-CN" altLang="en-US" sz="2400" b="1" dirty="0">
                <a:solidFill>
                  <a:srgbClr val="FF0000"/>
                </a:solidFill>
                <a:latin typeface="Arial" panose="020B0604020202020204" pitchFamily="34" charset="0"/>
              </a:rPr>
              <a:t>：</a:t>
            </a:r>
            <a:r>
              <a:rPr lang="zh-CN" altLang="en-US" sz="2400" b="1" dirty="0">
                <a:solidFill>
                  <a:srgbClr val="000000"/>
                </a:solidFill>
                <a:latin typeface="Arial" panose="020B0604020202020204" pitchFamily="34" charset="0"/>
              </a:rPr>
              <a:t>恶性贫血</a:t>
            </a:r>
          </a:p>
        </p:txBody>
      </p:sp>
      <p:sp>
        <p:nvSpPr>
          <p:cNvPr id="55304" name="灯片编号占位符 1"/>
          <p:cNvSpPr>
            <a:spLocks noGrp="1"/>
          </p:cNvSpPr>
          <p:nvPr>
            <p:ph type="sldNum" sz="quarter" idx="11"/>
          </p:nvPr>
        </p:nvSpPr>
        <p:spPr>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400" dirty="0"/>
              <a:pPr lvl="0" indent="0" algn="r"/>
              <a:t>54</a:t>
            </a:fld>
            <a:endParaRPr lang="zh-CN" altLang="en-US" sz="1400" dirty="0"/>
          </a:p>
        </p:txBody>
      </p:sp>
      <p:pic>
        <p:nvPicPr>
          <p:cNvPr id="84994" name="Picture 2" descr="http://img2.cache.netease.com/baby/2015/9/6/2015090609525518104.jpg"/>
          <p:cNvPicPr>
            <a:picLocks noChangeAspect="1" noChangeArrowheads="1"/>
          </p:cNvPicPr>
          <p:nvPr/>
        </p:nvPicPr>
        <p:blipFill>
          <a:blip r:embed="rId2" cstate="print"/>
          <a:srcRect/>
          <a:stretch>
            <a:fillRect/>
          </a:stretch>
        </p:blipFill>
        <p:spPr bwMode="auto">
          <a:xfrm>
            <a:off x="6156176" y="4617132"/>
            <a:ext cx="2987824" cy="2240868"/>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49539"/>
                                        </p:tgtEl>
                                        <p:attrNameLst>
                                          <p:attrName>style.visibility</p:attrName>
                                        </p:attrNameLst>
                                      </p:cBhvr>
                                      <p:to>
                                        <p:strVal val="visible"/>
                                      </p:to>
                                    </p:set>
                                    <p:anim calcmode="lin" valueType="num">
                                      <p:cBhvr additive="base">
                                        <p:cTn id="7" dur="500" fill="hold"/>
                                        <p:tgtEl>
                                          <p:spTgt spid="449539"/>
                                        </p:tgtEl>
                                        <p:attrNameLst>
                                          <p:attrName>ppt_x</p:attrName>
                                        </p:attrNameLst>
                                      </p:cBhvr>
                                      <p:tavLst>
                                        <p:tav tm="0">
                                          <p:val>
                                            <p:strVal val="0-#ppt_w/2"/>
                                          </p:val>
                                        </p:tav>
                                        <p:tav tm="100000">
                                          <p:val>
                                            <p:strVal val="#ppt_x"/>
                                          </p:val>
                                        </p:tav>
                                      </p:tavLst>
                                    </p:anim>
                                    <p:anim calcmode="lin" valueType="num">
                                      <p:cBhvr additive="base">
                                        <p:cTn id="8" dur="500" fill="hold"/>
                                        <p:tgtEl>
                                          <p:spTgt spid="44953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49540"/>
                                        </p:tgtEl>
                                        <p:attrNameLst>
                                          <p:attrName>style.visibility</p:attrName>
                                        </p:attrNameLst>
                                      </p:cBhvr>
                                      <p:to>
                                        <p:strVal val="visible"/>
                                      </p:to>
                                    </p:set>
                                    <p:anim calcmode="lin" valueType="num">
                                      <p:cBhvr additive="base">
                                        <p:cTn id="13" dur="500" fill="hold"/>
                                        <p:tgtEl>
                                          <p:spTgt spid="449540"/>
                                        </p:tgtEl>
                                        <p:attrNameLst>
                                          <p:attrName>ppt_x</p:attrName>
                                        </p:attrNameLst>
                                      </p:cBhvr>
                                      <p:tavLst>
                                        <p:tav tm="0">
                                          <p:val>
                                            <p:strVal val="0-#ppt_w/2"/>
                                          </p:val>
                                        </p:tav>
                                        <p:tav tm="100000">
                                          <p:val>
                                            <p:strVal val="#ppt_x"/>
                                          </p:val>
                                        </p:tav>
                                      </p:tavLst>
                                    </p:anim>
                                    <p:anim calcmode="lin" valueType="num">
                                      <p:cBhvr additive="base">
                                        <p:cTn id="14" dur="500" fill="hold"/>
                                        <p:tgtEl>
                                          <p:spTgt spid="449540"/>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49541"/>
                                        </p:tgtEl>
                                        <p:attrNameLst>
                                          <p:attrName>style.visibility</p:attrName>
                                        </p:attrNameLst>
                                      </p:cBhvr>
                                      <p:to>
                                        <p:strVal val="visible"/>
                                      </p:to>
                                    </p:set>
                                    <p:anim calcmode="lin" valueType="num">
                                      <p:cBhvr additive="base">
                                        <p:cTn id="19" dur="500" fill="hold"/>
                                        <p:tgtEl>
                                          <p:spTgt spid="449541"/>
                                        </p:tgtEl>
                                        <p:attrNameLst>
                                          <p:attrName>ppt_x</p:attrName>
                                        </p:attrNameLst>
                                      </p:cBhvr>
                                      <p:tavLst>
                                        <p:tav tm="0">
                                          <p:val>
                                            <p:strVal val="0-#ppt_w/2"/>
                                          </p:val>
                                        </p:tav>
                                        <p:tav tm="100000">
                                          <p:val>
                                            <p:strVal val="#ppt_x"/>
                                          </p:val>
                                        </p:tav>
                                      </p:tavLst>
                                    </p:anim>
                                    <p:anim calcmode="lin" valueType="num">
                                      <p:cBhvr additive="base">
                                        <p:cTn id="20" dur="500" fill="hold"/>
                                        <p:tgtEl>
                                          <p:spTgt spid="449541"/>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49542"/>
                                        </p:tgtEl>
                                        <p:attrNameLst>
                                          <p:attrName>style.visibility</p:attrName>
                                        </p:attrNameLst>
                                      </p:cBhvr>
                                      <p:to>
                                        <p:strVal val="visible"/>
                                      </p:to>
                                    </p:set>
                                    <p:anim calcmode="lin" valueType="num">
                                      <p:cBhvr additive="base">
                                        <p:cTn id="25" dur="500" fill="hold"/>
                                        <p:tgtEl>
                                          <p:spTgt spid="449542"/>
                                        </p:tgtEl>
                                        <p:attrNameLst>
                                          <p:attrName>ppt_x</p:attrName>
                                        </p:attrNameLst>
                                      </p:cBhvr>
                                      <p:tavLst>
                                        <p:tav tm="0">
                                          <p:val>
                                            <p:strVal val="0-#ppt_w/2"/>
                                          </p:val>
                                        </p:tav>
                                        <p:tav tm="100000">
                                          <p:val>
                                            <p:strVal val="#ppt_x"/>
                                          </p:val>
                                        </p:tav>
                                      </p:tavLst>
                                    </p:anim>
                                    <p:anim calcmode="lin" valueType="num">
                                      <p:cBhvr additive="base">
                                        <p:cTn id="26" dur="500" fill="hold"/>
                                        <p:tgtEl>
                                          <p:spTgt spid="449542"/>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49543"/>
                                        </p:tgtEl>
                                        <p:attrNameLst>
                                          <p:attrName>style.visibility</p:attrName>
                                        </p:attrNameLst>
                                      </p:cBhvr>
                                      <p:to>
                                        <p:strVal val="visible"/>
                                      </p:to>
                                    </p:set>
                                    <p:anim calcmode="lin" valueType="num">
                                      <p:cBhvr additive="base">
                                        <p:cTn id="31" dur="500" fill="hold"/>
                                        <p:tgtEl>
                                          <p:spTgt spid="449543"/>
                                        </p:tgtEl>
                                        <p:attrNameLst>
                                          <p:attrName>ppt_x</p:attrName>
                                        </p:attrNameLst>
                                      </p:cBhvr>
                                      <p:tavLst>
                                        <p:tav tm="0">
                                          <p:val>
                                            <p:strVal val="0-#ppt_w/2"/>
                                          </p:val>
                                        </p:tav>
                                        <p:tav tm="100000">
                                          <p:val>
                                            <p:strVal val="#ppt_x"/>
                                          </p:val>
                                        </p:tav>
                                      </p:tavLst>
                                    </p:anim>
                                    <p:anim calcmode="lin" valueType="num">
                                      <p:cBhvr additive="base">
                                        <p:cTn id="32" dur="500" fill="hold"/>
                                        <p:tgtEl>
                                          <p:spTgt spid="449543"/>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55303"/>
                                        </p:tgtEl>
                                        <p:attrNameLst>
                                          <p:attrName>style.visibility</p:attrName>
                                        </p:attrNameLst>
                                      </p:cBhvr>
                                      <p:to>
                                        <p:strVal val="visible"/>
                                      </p:to>
                                    </p:set>
                                    <p:animEffect transition="in" filter="checkerboard(across)">
                                      <p:cBhvr>
                                        <p:cTn id="37" dur="500"/>
                                        <p:tgtEl>
                                          <p:spTgt spid="553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9539" grpId="0"/>
      <p:bldP spid="449540" grpId="0"/>
      <p:bldP spid="449541" grpId="0"/>
      <p:bldP spid="449542" grpId="0"/>
      <p:bldP spid="449543" grpId="0"/>
      <p:bldP spid="55303"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标题 526337"/>
          <p:cNvSpPr>
            <a:spLocks noGrp="1" noRot="1"/>
          </p:cNvSpPr>
          <p:nvPr>
            <p:ph type="title"/>
          </p:nvPr>
        </p:nvSpPr>
        <p:spPr>
          <a:ln/>
        </p:spPr>
        <p:txBody>
          <a:bodyPr anchor="ctr"/>
          <a:lstStyle/>
          <a:p>
            <a:r>
              <a:rPr lang="zh-CN" altLang="en-US" sz="4000" b="1" dirty="0"/>
              <a:t>维生素缺乏的原因</a:t>
            </a:r>
          </a:p>
        </p:txBody>
      </p:sp>
      <p:sp>
        <p:nvSpPr>
          <p:cNvPr id="526339" name="内容占位符 526338"/>
          <p:cNvSpPr>
            <a:spLocks noGrp="1" noRot="1"/>
          </p:cNvSpPr>
          <p:nvPr>
            <p:ph idx="1"/>
          </p:nvPr>
        </p:nvSpPr>
        <p:spPr>
          <a:ln/>
        </p:spPr>
        <p:txBody>
          <a:bodyPr anchor="t"/>
          <a:lstStyle/>
          <a:p>
            <a:r>
              <a:rPr lang="en-US" altLang="zh-CN" b="1" dirty="0">
                <a:solidFill>
                  <a:schemeClr val="accent2"/>
                </a:solidFill>
              </a:rPr>
              <a:t>1</a:t>
            </a:r>
            <a:r>
              <a:rPr lang="zh-CN" altLang="en-US" b="1" dirty="0">
                <a:solidFill>
                  <a:schemeClr val="accent2"/>
                </a:solidFill>
              </a:rPr>
              <a:t>、食物中的维生素缺乏。</a:t>
            </a:r>
          </a:p>
          <a:p>
            <a:endParaRPr lang="zh-CN" altLang="en-US" b="1" dirty="0">
              <a:solidFill>
                <a:schemeClr val="accent2"/>
              </a:solidFill>
            </a:endParaRPr>
          </a:p>
          <a:p>
            <a:r>
              <a:rPr lang="en-US" altLang="zh-CN" b="1" dirty="0">
                <a:solidFill>
                  <a:schemeClr val="accent2"/>
                </a:solidFill>
              </a:rPr>
              <a:t>2</a:t>
            </a:r>
            <a:r>
              <a:rPr lang="zh-CN" altLang="en-US" b="1" dirty="0">
                <a:solidFill>
                  <a:schemeClr val="accent2"/>
                </a:solidFill>
              </a:rPr>
              <a:t>、人体吸收维生素受限。</a:t>
            </a:r>
          </a:p>
          <a:p>
            <a:endParaRPr lang="zh-CN" altLang="en-US" b="1" dirty="0">
              <a:solidFill>
                <a:schemeClr val="accent2"/>
              </a:solidFill>
            </a:endParaRPr>
          </a:p>
          <a:p>
            <a:r>
              <a:rPr lang="en-US" altLang="zh-CN" b="1" dirty="0">
                <a:solidFill>
                  <a:schemeClr val="accent2"/>
                </a:solidFill>
              </a:rPr>
              <a:t>3</a:t>
            </a:r>
            <a:r>
              <a:rPr lang="zh-CN" altLang="en-US" b="1" dirty="0">
                <a:solidFill>
                  <a:schemeClr val="accent2"/>
                </a:solidFill>
              </a:rPr>
              <a:t>、维生素的需要增多。</a:t>
            </a:r>
          </a:p>
        </p:txBody>
      </p:sp>
      <p:sp>
        <p:nvSpPr>
          <p:cNvPr id="56323" name="灯片编号占位符 1"/>
          <p:cNvSpPr>
            <a:spLocks noGrp="1"/>
          </p:cNvSpPr>
          <p:nvPr>
            <p:ph type="sldNum" sz="quarter" idx="11"/>
          </p:nvPr>
        </p:nvSpPr>
        <p:spPr>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400" dirty="0"/>
              <a:pPr lvl="0" indent="0" algn="r"/>
              <a:t>55</a:t>
            </a:fld>
            <a:endParaRPr lang="zh-CN" altLang="en-US" sz="1400" dirty="0"/>
          </a:p>
        </p:txBody>
      </p:sp>
      <p:pic>
        <p:nvPicPr>
          <p:cNvPr id="83970" name="Picture 2" descr="http://photocdn.sohu.com/20150922/mp32735971_1442881768429_2.jpeg"/>
          <p:cNvPicPr>
            <a:picLocks noChangeAspect="1" noChangeArrowheads="1"/>
          </p:cNvPicPr>
          <p:nvPr/>
        </p:nvPicPr>
        <p:blipFill>
          <a:blip r:embed="rId2" cstate="print"/>
          <a:srcRect/>
          <a:stretch>
            <a:fillRect/>
          </a:stretch>
        </p:blipFill>
        <p:spPr bwMode="auto">
          <a:xfrm>
            <a:off x="4926566" y="4365104"/>
            <a:ext cx="4217434" cy="2492896"/>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526339">
                                            <p:txEl>
                                              <p:pRg st="0" end="0"/>
                                            </p:txEl>
                                          </p:spTgt>
                                        </p:tgtEl>
                                        <p:attrNameLst>
                                          <p:attrName>style.visibility</p:attrName>
                                        </p:attrNameLst>
                                      </p:cBhvr>
                                      <p:to>
                                        <p:strVal val="visible"/>
                                      </p:to>
                                    </p:set>
                                    <p:anim calcmode="lin" valueType="num">
                                      <p:cBhvr>
                                        <p:cTn id="7" dur="1" fill="hold"/>
                                        <p:tgtEl>
                                          <p:spTgt spid="526339">
                                            <p:txEl>
                                              <p:pRg st="0" end="0"/>
                                            </p:txEl>
                                          </p:spTgt>
                                        </p:tgtEl>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526339">
                                            <p:txEl>
                                              <p:pRg st="2" end="2"/>
                                            </p:txEl>
                                          </p:spTgt>
                                        </p:tgtEl>
                                        <p:attrNameLst>
                                          <p:attrName>style.visibility</p:attrName>
                                        </p:attrNameLst>
                                      </p:cBhvr>
                                      <p:to>
                                        <p:strVal val="visible"/>
                                      </p:to>
                                    </p:set>
                                    <p:anim calcmode="lin" valueType="num">
                                      <p:cBhvr>
                                        <p:cTn id="12" dur="1" fill="hold"/>
                                        <p:tgtEl>
                                          <p:spTgt spid="526339">
                                            <p:txEl>
                                              <p:pRg st="2" end="2"/>
                                            </p:txEl>
                                          </p:spTgt>
                                        </p:tgtEl>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nodeType="clickEffect">
                                  <p:stCondLst>
                                    <p:cond delay="0"/>
                                  </p:stCondLst>
                                  <p:childTnLst>
                                    <p:set>
                                      <p:cBhvr>
                                        <p:cTn id="16" dur="1" fill="hold">
                                          <p:stCondLst>
                                            <p:cond delay="0"/>
                                          </p:stCondLst>
                                        </p:cTn>
                                        <p:tgtEl>
                                          <p:spTgt spid="526339">
                                            <p:txEl>
                                              <p:pRg st="4" end="4"/>
                                            </p:txEl>
                                          </p:spTgt>
                                        </p:tgtEl>
                                        <p:attrNameLst>
                                          <p:attrName>style.visibility</p:attrName>
                                        </p:attrNameLst>
                                      </p:cBhvr>
                                      <p:to>
                                        <p:strVal val="visible"/>
                                      </p:to>
                                    </p:set>
                                    <p:anim calcmode="lin" valueType="num">
                                      <p:cBhvr>
                                        <p:cTn id="17" dur="1" fill="hold"/>
                                        <p:tgtEl>
                                          <p:spTgt spid="526339">
                                            <p:txEl>
                                              <p:pRg st="4" end="4"/>
                                            </p:txEl>
                                          </p:spTgt>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圆角矩形 450565"/>
          <p:cNvSpPr/>
          <p:nvPr/>
        </p:nvSpPr>
        <p:spPr>
          <a:xfrm>
            <a:off x="533400" y="1628800"/>
            <a:ext cx="8313738" cy="4450357"/>
          </a:xfrm>
          <a:prstGeom prst="roundRect">
            <a:avLst>
              <a:gd name="adj" fmla="val 16667"/>
            </a:avLst>
          </a:prstGeom>
          <a:solidFill>
            <a:srgbClr val="CCFFFF"/>
          </a:solidFill>
          <a:ln w="25400" cap="flat" cmpd="sng">
            <a:solidFill>
              <a:srgbClr val="FF0000"/>
            </a:solidFill>
            <a:prstDash val="solid"/>
            <a:round/>
            <a:headEnd type="none" w="med" len="med"/>
            <a:tailEnd type="none" w="med" len="med"/>
          </a:ln>
        </p:spPr>
        <p:txBody>
          <a:bodyPr anchor="t"/>
          <a:lstStyle/>
          <a:p>
            <a:endParaRPr lang="zh-CN" altLang="en-US">
              <a:latin typeface="Arial" panose="020B0604020202020204" pitchFamily="34" charset="0"/>
            </a:endParaRPr>
          </a:p>
        </p:txBody>
      </p:sp>
      <p:sp>
        <p:nvSpPr>
          <p:cNvPr id="450568" name="文本框 450567"/>
          <p:cNvSpPr txBox="1"/>
          <p:nvPr/>
        </p:nvSpPr>
        <p:spPr>
          <a:xfrm>
            <a:off x="827584" y="1739507"/>
            <a:ext cx="7391400" cy="4339650"/>
          </a:xfrm>
          <a:prstGeom prst="rect">
            <a:avLst/>
          </a:prstGeom>
          <a:noFill/>
          <a:ln w="9525">
            <a:noFill/>
          </a:ln>
        </p:spPr>
        <p:txBody>
          <a:bodyPr anchor="t">
            <a:spAutoFit/>
          </a:bodyPr>
          <a:lstStyle/>
          <a:p>
            <a:pPr>
              <a:spcBef>
                <a:spcPct val="50000"/>
              </a:spcBef>
            </a:pPr>
            <a:r>
              <a:rPr lang="zh-CN" altLang="en-US" sz="2400" b="1" dirty="0">
                <a:latin typeface="Arial" panose="020B0604020202020204" pitchFamily="34" charset="0"/>
              </a:rPr>
              <a:t>         </a:t>
            </a:r>
            <a:r>
              <a:rPr lang="zh-CN" altLang="en-US" sz="2400" b="1" dirty="0">
                <a:solidFill>
                  <a:srgbClr val="CC0066"/>
                </a:solidFill>
                <a:latin typeface="Arial" panose="020B0604020202020204" pitchFamily="34" charset="0"/>
              </a:rPr>
              <a:t>生物体内必需的元素</a:t>
            </a:r>
          </a:p>
          <a:p>
            <a:pPr>
              <a:spcBef>
                <a:spcPct val="50000"/>
              </a:spcBef>
            </a:pPr>
            <a:r>
              <a:rPr lang="zh-CN" altLang="en-US" sz="2400" b="1" dirty="0">
                <a:solidFill>
                  <a:srgbClr val="CC0066"/>
                </a:solidFill>
                <a:latin typeface="Arial" panose="020B0604020202020204" pitchFamily="34" charset="0"/>
              </a:rPr>
              <a:t>       </a:t>
            </a:r>
            <a:r>
              <a:rPr lang="zh-CN" altLang="en-US" sz="2400" b="1" dirty="0">
                <a:solidFill>
                  <a:srgbClr val="040404"/>
                </a:solidFill>
                <a:latin typeface="Times New Roman" pitchFamily="18" charset="0"/>
                <a:cs typeface="Times New Roman" pitchFamily="18" charset="0"/>
              </a:rPr>
              <a:t>人和动物体内的生命元素可分为</a:t>
            </a:r>
            <a:r>
              <a:rPr lang="zh-CN" altLang="en-US" sz="2400" b="1" dirty="0">
                <a:solidFill>
                  <a:srgbClr val="FF3300"/>
                </a:solidFill>
                <a:latin typeface="Times New Roman" pitchFamily="18" charset="0"/>
                <a:cs typeface="Times New Roman" pitchFamily="18" charset="0"/>
              </a:rPr>
              <a:t>常量元素</a:t>
            </a:r>
            <a:r>
              <a:rPr lang="zh-CN" altLang="en-US" sz="2400" b="1" dirty="0">
                <a:solidFill>
                  <a:srgbClr val="040404"/>
                </a:solidFill>
                <a:latin typeface="Times New Roman" pitchFamily="18" charset="0"/>
                <a:cs typeface="Times New Roman" pitchFamily="18" charset="0"/>
              </a:rPr>
              <a:t>和微量元素。常量元素是指含量大于</a:t>
            </a:r>
            <a:r>
              <a:rPr lang="en-US" altLang="zh-CN" sz="2400" b="1" dirty="0">
                <a:solidFill>
                  <a:srgbClr val="040404"/>
                </a:solidFill>
                <a:latin typeface="Times New Roman" pitchFamily="18" charset="0"/>
                <a:cs typeface="Times New Roman" pitchFamily="18" charset="0"/>
              </a:rPr>
              <a:t>0.01%</a:t>
            </a:r>
            <a:r>
              <a:rPr lang="zh-CN" altLang="en-US" sz="2400" b="1" dirty="0">
                <a:solidFill>
                  <a:srgbClr val="040404"/>
                </a:solidFill>
                <a:latin typeface="Times New Roman" pitchFamily="18" charset="0"/>
                <a:cs typeface="Times New Roman" pitchFamily="18" charset="0"/>
              </a:rPr>
              <a:t>的元素，它们是：</a:t>
            </a:r>
            <a:r>
              <a:rPr lang="en-US" altLang="zh-CN" sz="2400" b="1" dirty="0">
                <a:solidFill>
                  <a:srgbClr val="040404"/>
                </a:solidFill>
                <a:latin typeface="Times New Roman" pitchFamily="18" charset="0"/>
                <a:cs typeface="Times New Roman" pitchFamily="18" charset="0"/>
              </a:rPr>
              <a:t>C</a:t>
            </a:r>
            <a:r>
              <a:rPr lang="zh-CN" altLang="en-US" sz="2400" b="1" dirty="0">
                <a:solidFill>
                  <a:srgbClr val="040404"/>
                </a:solidFill>
                <a:latin typeface="Times New Roman" pitchFamily="18" charset="0"/>
                <a:cs typeface="Times New Roman" pitchFamily="18" charset="0"/>
              </a:rPr>
              <a:t>、</a:t>
            </a:r>
            <a:r>
              <a:rPr lang="en-US" altLang="zh-CN" sz="2400" b="1" dirty="0">
                <a:solidFill>
                  <a:srgbClr val="040404"/>
                </a:solidFill>
                <a:latin typeface="Times New Roman" pitchFamily="18" charset="0"/>
                <a:cs typeface="Times New Roman" pitchFamily="18" charset="0"/>
              </a:rPr>
              <a:t>H</a:t>
            </a:r>
            <a:r>
              <a:rPr lang="zh-CN" altLang="en-US" sz="2400" b="1" dirty="0">
                <a:solidFill>
                  <a:srgbClr val="040404"/>
                </a:solidFill>
                <a:latin typeface="Times New Roman" pitchFamily="18" charset="0"/>
                <a:cs typeface="Times New Roman" pitchFamily="18" charset="0"/>
              </a:rPr>
              <a:t>、</a:t>
            </a:r>
            <a:r>
              <a:rPr lang="en-US" altLang="zh-CN" sz="2400" b="1" dirty="0">
                <a:solidFill>
                  <a:srgbClr val="040404"/>
                </a:solidFill>
                <a:latin typeface="Times New Roman" pitchFamily="18" charset="0"/>
                <a:cs typeface="Times New Roman" pitchFamily="18" charset="0"/>
              </a:rPr>
              <a:t>O</a:t>
            </a:r>
            <a:r>
              <a:rPr lang="zh-CN" altLang="en-US" sz="2400" b="1" dirty="0">
                <a:solidFill>
                  <a:srgbClr val="040404"/>
                </a:solidFill>
                <a:latin typeface="Times New Roman" pitchFamily="18" charset="0"/>
                <a:cs typeface="Times New Roman" pitchFamily="18" charset="0"/>
              </a:rPr>
              <a:t>、</a:t>
            </a:r>
            <a:r>
              <a:rPr lang="en-US" altLang="zh-CN" sz="2400" b="1" dirty="0">
                <a:solidFill>
                  <a:srgbClr val="040404"/>
                </a:solidFill>
                <a:latin typeface="Times New Roman" pitchFamily="18" charset="0"/>
                <a:cs typeface="Times New Roman" pitchFamily="18" charset="0"/>
              </a:rPr>
              <a:t>N</a:t>
            </a:r>
            <a:r>
              <a:rPr lang="zh-CN" altLang="en-US" sz="2400" b="1" dirty="0">
                <a:solidFill>
                  <a:srgbClr val="040404"/>
                </a:solidFill>
                <a:latin typeface="Times New Roman" pitchFamily="18" charset="0"/>
                <a:cs typeface="Times New Roman" pitchFamily="18" charset="0"/>
              </a:rPr>
              <a:t>、</a:t>
            </a:r>
            <a:r>
              <a:rPr lang="en-US" altLang="zh-CN" sz="2400" b="1" dirty="0">
                <a:solidFill>
                  <a:srgbClr val="040404"/>
                </a:solidFill>
                <a:latin typeface="Times New Roman" pitchFamily="18" charset="0"/>
                <a:cs typeface="Times New Roman" pitchFamily="18" charset="0"/>
              </a:rPr>
              <a:t>Na</a:t>
            </a:r>
            <a:r>
              <a:rPr lang="zh-CN" altLang="en-US" sz="2400" b="1" dirty="0">
                <a:solidFill>
                  <a:srgbClr val="040404"/>
                </a:solidFill>
                <a:latin typeface="Times New Roman" pitchFamily="18" charset="0"/>
                <a:cs typeface="Times New Roman" pitchFamily="18" charset="0"/>
              </a:rPr>
              <a:t>、</a:t>
            </a:r>
            <a:r>
              <a:rPr lang="en-US" altLang="zh-CN" sz="2400" b="1" dirty="0">
                <a:solidFill>
                  <a:srgbClr val="040404"/>
                </a:solidFill>
                <a:latin typeface="Times New Roman" pitchFamily="18" charset="0"/>
                <a:cs typeface="Times New Roman" pitchFamily="18" charset="0"/>
              </a:rPr>
              <a:t>Mg</a:t>
            </a:r>
            <a:r>
              <a:rPr lang="zh-CN" altLang="en-US" sz="2400" b="1" dirty="0">
                <a:solidFill>
                  <a:srgbClr val="040404"/>
                </a:solidFill>
                <a:latin typeface="Times New Roman" pitchFamily="18" charset="0"/>
                <a:cs typeface="Times New Roman" pitchFamily="18" charset="0"/>
              </a:rPr>
              <a:t>、</a:t>
            </a:r>
            <a:r>
              <a:rPr lang="en-US" altLang="zh-CN" sz="2400" b="1" dirty="0">
                <a:solidFill>
                  <a:srgbClr val="040404"/>
                </a:solidFill>
                <a:latin typeface="Times New Roman" pitchFamily="18" charset="0"/>
                <a:cs typeface="Times New Roman" pitchFamily="18" charset="0"/>
              </a:rPr>
              <a:t>Ca</a:t>
            </a:r>
            <a:r>
              <a:rPr lang="zh-CN" altLang="en-US" sz="2400" b="1" dirty="0">
                <a:solidFill>
                  <a:srgbClr val="040404"/>
                </a:solidFill>
                <a:latin typeface="Times New Roman" pitchFamily="18" charset="0"/>
                <a:cs typeface="Times New Roman" pitchFamily="18" charset="0"/>
              </a:rPr>
              <a:t>、</a:t>
            </a:r>
            <a:r>
              <a:rPr lang="en-US" altLang="zh-CN" sz="2400" b="1" dirty="0">
                <a:solidFill>
                  <a:srgbClr val="040404"/>
                </a:solidFill>
                <a:latin typeface="Times New Roman" pitchFamily="18" charset="0"/>
                <a:cs typeface="Times New Roman" pitchFamily="18" charset="0"/>
              </a:rPr>
              <a:t>P</a:t>
            </a:r>
            <a:r>
              <a:rPr lang="zh-CN" altLang="en-US" sz="2400" b="1" dirty="0">
                <a:solidFill>
                  <a:srgbClr val="040404"/>
                </a:solidFill>
                <a:latin typeface="Times New Roman" pitchFamily="18" charset="0"/>
                <a:cs typeface="Times New Roman" pitchFamily="18" charset="0"/>
              </a:rPr>
              <a:t>、</a:t>
            </a:r>
            <a:r>
              <a:rPr lang="en-US" altLang="zh-CN" sz="2400" b="1" dirty="0">
                <a:solidFill>
                  <a:srgbClr val="040404"/>
                </a:solidFill>
                <a:latin typeface="Times New Roman" pitchFamily="18" charset="0"/>
                <a:cs typeface="Times New Roman" pitchFamily="18" charset="0"/>
              </a:rPr>
              <a:t>S</a:t>
            </a:r>
            <a:r>
              <a:rPr lang="zh-CN" altLang="en-US" sz="2400" b="1" dirty="0">
                <a:solidFill>
                  <a:srgbClr val="040404"/>
                </a:solidFill>
                <a:latin typeface="Times New Roman" pitchFamily="18" charset="0"/>
                <a:cs typeface="Times New Roman" pitchFamily="18" charset="0"/>
              </a:rPr>
              <a:t>、</a:t>
            </a:r>
            <a:r>
              <a:rPr lang="en-US" altLang="zh-CN" sz="2400" b="1" dirty="0" err="1">
                <a:solidFill>
                  <a:srgbClr val="040404"/>
                </a:solidFill>
                <a:latin typeface="Times New Roman" pitchFamily="18" charset="0"/>
                <a:cs typeface="Times New Roman" pitchFamily="18" charset="0"/>
              </a:rPr>
              <a:t>Cl</a:t>
            </a:r>
            <a:r>
              <a:rPr lang="zh-CN" altLang="en-US" sz="2400" b="1" dirty="0">
                <a:solidFill>
                  <a:srgbClr val="040404"/>
                </a:solidFill>
                <a:latin typeface="Times New Roman" pitchFamily="18" charset="0"/>
                <a:cs typeface="Times New Roman" pitchFamily="18" charset="0"/>
              </a:rPr>
              <a:t>共</a:t>
            </a:r>
            <a:r>
              <a:rPr lang="en-US" altLang="zh-CN" sz="2400" b="1" dirty="0">
                <a:solidFill>
                  <a:srgbClr val="FF3300"/>
                </a:solidFill>
                <a:latin typeface="Times New Roman" pitchFamily="18" charset="0"/>
                <a:cs typeface="Times New Roman" pitchFamily="18" charset="0"/>
              </a:rPr>
              <a:t>11</a:t>
            </a:r>
            <a:r>
              <a:rPr lang="zh-CN" altLang="en-US" sz="2400" b="1" dirty="0">
                <a:solidFill>
                  <a:srgbClr val="FF3300"/>
                </a:solidFill>
                <a:latin typeface="Times New Roman" pitchFamily="18" charset="0"/>
                <a:cs typeface="Times New Roman" pitchFamily="18" charset="0"/>
              </a:rPr>
              <a:t>种</a:t>
            </a:r>
            <a:r>
              <a:rPr lang="zh-CN" altLang="en-US" sz="2400" b="1" dirty="0">
                <a:solidFill>
                  <a:schemeClr val="bg2"/>
                </a:solidFill>
                <a:latin typeface="Times New Roman" pitchFamily="18" charset="0"/>
                <a:cs typeface="Times New Roman" pitchFamily="18" charset="0"/>
              </a:rPr>
              <a:t>。</a:t>
            </a:r>
          </a:p>
          <a:p>
            <a:pPr>
              <a:spcBef>
                <a:spcPct val="50000"/>
              </a:spcBef>
            </a:pPr>
            <a:r>
              <a:rPr lang="zh-CN" altLang="en-US" sz="2400" b="1" dirty="0">
                <a:solidFill>
                  <a:schemeClr val="bg2"/>
                </a:solidFill>
                <a:latin typeface="Times New Roman" pitchFamily="18" charset="0"/>
                <a:cs typeface="Times New Roman" pitchFamily="18" charset="0"/>
              </a:rPr>
              <a:t>       </a:t>
            </a:r>
            <a:r>
              <a:rPr lang="zh-CN" altLang="en-US" sz="2400" b="1" dirty="0">
                <a:solidFill>
                  <a:srgbClr val="CC0066"/>
                </a:solidFill>
                <a:latin typeface="Times New Roman" pitchFamily="18" charset="0"/>
                <a:cs typeface="Times New Roman" pitchFamily="18" charset="0"/>
              </a:rPr>
              <a:t>微量元素</a:t>
            </a:r>
            <a:r>
              <a:rPr lang="zh-CN" altLang="en-US" sz="2400" b="1" dirty="0">
                <a:solidFill>
                  <a:srgbClr val="040404"/>
                </a:solidFill>
                <a:latin typeface="Times New Roman" pitchFamily="18" charset="0"/>
                <a:cs typeface="Times New Roman" pitchFamily="18" charset="0"/>
              </a:rPr>
              <a:t>是指含量小于</a:t>
            </a:r>
            <a:r>
              <a:rPr lang="en-US" altLang="zh-CN" sz="2400" b="1" dirty="0">
                <a:solidFill>
                  <a:srgbClr val="040404"/>
                </a:solidFill>
                <a:latin typeface="Times New Roman" pitchFamily="18" charset="0"/>
                <a:cs typeface="Times New Roman" pitchFamily="18" charset="0"/>
              </a:rPr>
              <a:t>0.01%</a:t>
            </a:r>
            <a:r>
              <a:rPr lang="zh-CN" altLang="en-US" sz="2400" b="1" dirty="0">
                <a:solidFill>
                  <a:srgbClr val="040404"/>
                </a:solidFill>
                <a:latin typeface="Times New Roman" pitchFamily="18" charset="0"/>
                <a:cs typeface="Times New Roman" pitchFamily="18" charset="0"/>
              </a:rPr>
              <a:t>的元素，如铁、铜、锌、锰、钴、钼、硒、碘、锂、铬、氟、锡、硅、钒、砷、硼共</a:t>
            </a:r>
            <a:r>
              <a:rPr lang="en-US" altLang="zh-CN" sz="2400" b="1" dirty="0">
                <a:solidFill>
                  <a:srgbClr val="CC0066"/>
                </a:solidFill>
                <a:latin typeface="Times New Roman" pitchFamily="18" charset="0"/>
                <a:cs typeface="Times New Roman" pitchFamily="18" charset="0"/>
              </a:rPr>
              <a:t>16</a:t>
            </a:r>
            <a:r>
              <a:rPr lang="zh-CN" altLang="en-US" sz="2400" b="1" dirty="0">
                <a:solidFill>
                  <a:srgbClr val="CC0066"/>
                </a:solidFill>
                <a:latin typeface="Times New Roman" pitchFamily="18" charset="0"/>
                <a:cs typeface="Times New Roman" pitchFamily="18" charset="0"/>
              </a:rPr>
              <a:t>种</a:t>
            </a:r>
            <a:r>
              <a:rPr lang="zh-CN" altLang="en-US" sz="2400" b="1" dirty="0">
                <a:solidFill>
                  <a:schemeClr val="bg2"/>
                </a:solidFill>
                <a:latin typeface="Times New Roman" pitchFamily="18" charset="0"/>
                <a:cs typeface="Times New Roman" pitchFamily="18" charset="0"/>
              </a:rPr>
              <a:t>。</a:t>
            </a:r>
          </a:p>
          <a:p>
            <a:pPr>
              <a:spcBef>
                <a:spcPct val="50000"/>
              </a:spcBef>
            </a:pPr>
            <a:r>
              <a:rPr lang="zh-CN" altLang="en-US" sz="2400" b="1" dirty="0">
                <a:solidFill>
                  <a:schemeClr val="bg2"/>
                </a:solidFill>
                <a:latin typeface="Times New Roman" pitchFamily="18" charset="0"/>
                <a:cs typeface="Times New Roman" pitchFamily="18" charset="0"/>
              </a:rPr>
              <a:t>       </a:t>
            </a:r>
            <a:r>
              <a:rPr lang="zh-CN" altLang="en-US" sz="2400" b="1" dirty="0">
                <a:solidFill>
                  <a:srgbClr val="040404"/>
                </a:solidFill>
                <a:latin typeface="Times New Roman" pitchFamily="18" charset="0"/>
                <a:cs typeface="Times New Roman" pitchFamily="18" charset="0"/>
              </a:rPr>
              <a:t>在生物体中，</a:t>
            </a:r>
            <a:r>
              <a:rPr lang="en-US" altLang="zh-CN" sz="2400" b="1" dirty="0">
                <a:solidFill>
                  <a:srgbClr val="040404"/>
                </a:solidFill>
                <a:latin typeface="Times New Roman" pitchFamily="18" charset="0"/>
                <a:cs typeface="Times New Roman" pitchFamily="18" charset="0"/>
              </a:rPr>
              <a:t>C</a:t>
            </a:r>
            <a:r>
              <a:rPr lang="zh-CN" altLang="en-US" sz="2400" b="1" dirty="0">
                <a:solidFill>
                  <a:srgbClr val="040404"/>
                </a:solidFill>
                <a:latin typeface="Times New Roman" pitchFamily="18" charset="0"/>
                <a:cs typeface="Times New Roman" pitchFamily="18" charset="0"/>
              </a:rPr>
              <a:t>、</a:t>
            </a:r>
            <a:r>
              <a:rPr lang="en-US" altLang="zh-CN" sz="2400" b="1" dirty="0">
                <a:solidFill>
                  <a:srgbClr val="040404"/>
                </a:solidFill>
                <a:latin typeface="Times New Roman" pitchFamily="18" charset="0"/>
                <a:cs typeface="Times New Roman" pitchFamily="18" charset="0"/>
              </a:rPr>
              <a:t>H</a:t>
            </a:r>
            <a:r>
              <a:rPr lang="zh-CN" altLang="en-US" sz="2400" b="1" dirty="0">
                <a:solidFill>
                  <a:srgbClr val="040404"/>
                </a:solidFill>
                <a:latin typeface="Times New Roman" pitchFamily="18" charset="0"/>
                <a:cs typeface="Times New Roman" pitchFamily="18" charset="0"/>
              </a:rPr>
              <a:t>、</a:t>
            </a:r>
            <a:r>
              <a:rPr lang="en-US" altLang="zh-CN" sz="2400" b="1" dirty="0">
                <a:solidFill>
                  <a:srgbClr val="040404"/>
                </a:solidFill>
                <a:latin typeface="Times New Roman" pitchFamily="18" charset="0"/>
                <a:cs typeface="Times New Roman" pitchFamily="18" charset="0"/>
              </a:rPr>
              <a:t>O</a:t>
            </a:r>
            <a:r>
              <a:rPr lang="zh-CN" altLang="en-US" sz="2400" b="1" dirty="0">
                <a:solidFill>
                  <a:srgbClr val="040404"/>
                </a:solidFill>
                <a:latin typeface="Times New Roman" pitchFamily="18" charset="0"/>
                <a:cs typeface="Times New Roman" pitchFamily="18" charset="0"/>
              </a:rPr>
              <a:t>、</a:t>
            </a:r>
            <a:r>
              <a:rPr lang="en-US" altLang="zh-CN" sz="2400" b="1" dirty="0">
                <a:solidFill>
                  <a:srgbClr val="040404"/>
                </a:solidFill>
                <a:latin typeface="Times New Roman" pitchFamily="18" charset="0"/>
                <a:cs typeface="Times New Roman" pitchFamily="18" charset="0"/>
              </a:rPr>
              <a:t>N</a:t>
            </a:r>
            <a:r>
              <a:rPr lang="zh-CN" altLang="en-US" sz="2400" b="1" dirty="0">
                <a:solidFill>
                  <a:srgbClr val="040404"/>
                </a:solidFill>
                <a:latin typeface="Times New Roman" pitchFamily="18" charset="0"/>
                <a:cs typeface="Times New Roman" pitchFamily="18" charset="0"/>
              </a:rPr>
              <a:t>、</a:t>
            </a:r>
            <a:r>
              <a:rPr lang="en-US" altLang="zh-CN" sz="2400" b="1" dirty="0">
                <a:solidFill>
                  <a:srgbClr val="040404"/>
                </a:solidFill>
                <a:latin typeface="Times New Roman" pitchFamily="18" charset="0"/>
                <a:cs typeface="Times New Roman" pitchFamily="18" charset="0"/>
              </a:rPr>
              <a:t>S</a:t>
            </a:r>
            <a:r>
              <a:rPr lang="zh-CN" altLang="en-US" sz="2400" b="1" dirty="0">
                <a:solidFill>
                  <a:srgbClr val="040404"/>
                </a:solidFill>
                <a:latin typeface="Times New Roman" pitchFamily="18" charset="0"/>
                <a:cs typeface="Times New Roman" pitchFamily="18" charset="0"/>
              </a:rPr>
              <a:t>等组成有机物，其它的金属元素和非金属元素统称为矿物质，在生物体内约占</a:t>
            </a:r>
            <a:r>
              <a:rPr lang="en-US" altLang="zh-CN" sz="2400" b="1" dirty="0">
                <a:solidFill>
                  <a:srgbClr val="040404"/>
                </a:solidFill>
                <a:latin typeface="Times New Roman" pitchFamily="18" charset="0"/>
                <a:cs typeface="Times New Roman" pitchFamily="18" charset="0"/>
              </a:rPr>
              <a:t>4</a:t>
            </a:r>
            <a:r>
              <a:rPr lang="zh-CN" altLang="en-US" sz="2400" b="1" dirty="0">
                <a:solidFill>
                  <a:srgbClr val="040404"/>
                </a:solidFill>
                <a:latin typeface="Times New Roman" pitchFamily="18" charset="0"/>
                <a:cs typeface="Times New Roman" pitchFamily="18" charset="0"/>
              </a:rPr>
              <a:t>％</a:t>
            </a:r>
            <a:r>
              <a:rPr lang="en-US" altLang="en-US" sz="2400" b="1" dirty="0">
                <a:solidFill>
                  <a:srgbClr val="040404"/>
                </a:solidFill>
                <a:latin typeface="Times New Roman" pitchFamily="18" charset="0"/>
                <a:cs typeface="Times New Roman" pitchFamily="18" charset="0"/>
              </a:rPr>
              <a:t>～</a:t>
            </a:r>
            <a:r>
              <a:rPr lang="en-US" altLang="zh-CN" sz="2400" b="1" dirty="0">
                <a:solidFill>
                  <a:srgbClr val="040404"/>
                </a:solidFill>
                <a:latin typeface="Times New Roman" pitchFamily="18" charset="0"/>
                <a:cs typeface="Times New Roman" pitchFamily="18" charset="0"/>
              </a:rPr>
              <a:t>5%</a:t>
            </a:r>
            <a:r>
              <a:rPr lang="zh-CN" altLang="en-US" sz="2400" b="1" dirty="0">
                <a:solidFill>
                  <a:srgbClr val="040404"/>
                </a:solidFill>
                <a:latin typeface="Times New Roman" pitchFamily="18" charset="0"/>
                <a:cs typeface="Times New Roman" pitchFamily="18" charset="0"/>
              </a:rPr>
              <a:t>。</a:t>
            </a:r>
          </a:p>
        </p:txBody>
      </p:sp>
      <p:sp>
        <p:nvSpPr>
          <p:cNvPr id="57348" name="灯片编号占位符 1"/>
          <p:cNvSpPr>
            <a:spLocks noGrp="1"/>
          </p:cNvSpPr>
          <p:nvPr>
            <p:ph type="sldNum" sz="quarter" idx="11"/>
          </p:nvPr>
        </p:nvSpPr>
        <p:spPr>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400" dirty="0"/>
              <a:pPr lvl="0" indent="0" algn="r"/>
              <a:t>56</a:t>
            </a:fld>
            <a:endParaRPr lang="zh-CN" altLang="en-US" sz="1400" dirty="0"/>
          </a:p>
        </p:txBody>
      </p:sp>
      <p:sp>
        <p:nvSpPr>
          <p:cNvPr id="7170" name="Rectangle 2"/>
          <p:cNvSpPr>
            <a:spLocks noChangeArrowheads="1"/>
          </p:cNvSpPr>
          <p:nvPr/>
        </p:nvSpPr>
        <p:spPr bwMode="auto">
          <a:xfrm>
            <a:off x="0" y="418783"/>
            <a:ext cx="9144000" cy="720725"/>
          </a:xfrm>
          <a:prstGeom prst="rect">
            <a:avLst/>
          </a:prstGeom>
          <a:gradFill rotWithShape="1">
            <a:gsLst>
              <a:gs pos="0">
                <a:srgbClr val="0000FF">
                  <a:gamma/>
                  <a:shade val="46275"/>
                  <a:invGamma/>
                </a:srgbClr>
              </a:gs>
              <a:gs pos="50000">
                <a:srgbClr val="0000FF">
                  <a:alpha val="98999"/>
                </a:srgbClr>
              </a:gs>
              <a:gs pos="100000">
                <a:srgbClr val="0000FF">
                  <a:gamma/>
                  <a:shade val="46275"/>
                  <a:invGamma/>
                </a:srgbClr>
              </a:gs>
            </a:gsLst>
            <a:lin ang="5400000" scaled="1"/>
          </a:gradFill>
          <a:ln w="9525">
            <a:noFill/>
            <a:miter lim="800000"/>
          </a:ln>
        </p:spPr>
        <p:txBody>
          <a:bodyPr anchor="ctr"/>
          <a:lstStyle/>
          <a:p>
            <a:pPr marL="0" marR="0" lvl="0" indent="0" algn="ctr" defTabSz="914400" rtl="0" eaLnBrk="1" fontAlgn="base" latinLnBrk="0" hangingPunct="1">
              <a:lnSpc>
                <a:spcPct val="115000"/>
              </a:lnSpc>
              <a:spcBef>
                <a:spcPct val="0"/>
              </a:spcBef>
              <a:spcAft>
                <a:spcPct val="0"/>
              </a:spcAft>
              <a:buClrTx/>
              <a:buSzTx/>
              <a:buFont typeface="Arial" panose="020B0604020202020204" pitchFamily="34" charset="0"/>
              <a:buNone/>
              <a:defRPr/>
            </a:pPr>
            <a:r>
              <a:rPr kumimoji="0" lang="en-US" altLang="zh-CN" sz="3200" b="1" i="0" u="none" strike="noStrike" kern="1200" cap="none" spc="0" normalizeH="0" baseline="0" noProof="0">
                <a:ln>
                  <a:noFill/>
                </a:ln>
                <a:solidFill>
                  <a:schemeClr val="bg1"/>
                </a:solidFill>
                <a:effectLst/>
                <a:uLnTx/>
                <a:uFillTx/>
                <a:latin typeface="楷体_GB2312" pitchFamily="49" charset="-122"/>
                <a:ea typeface="楷体_GB2312" pitchFamily="49" charset="-122"/>
                <a:cs typeface="+mn-cs"/>
              </a:rPr>
              <a:t>§9</a:t>
            </a:r>
            <a:r>
              <a:rPr kumimoji="0" lang="en-US" altLang="zh-CN" sz="3200" b="1" i="0" u="none" strike="noStrike" kern="1200" cap="none" spc="0" normalizeH="0" baseline="0" noProof="0">
                <a:ln>
                  <a:noFill/>
                </a:ln>
                <a:solidFill>
                  <a:schemeClr val="bg1"/>
                </a:solidFill>
                <a:effectLst/>
                <a:uLnTx/>
                <a:uFillTx/>
                <a:latin typeface="Times New Roman" panose="02020603050405020304" pitchFamily="18" charset="0"/>
                <a:ea typeface="楷体_GB2312" pitchFamily="49" charset="-122"/>
                <a:cs typeface="+mn-cs"/>
              </a:rPr>
              <a:t>.5  </a:t>
            </a:r>
            <a:r>
              <a:rPr kumimoji="0" lang="zh-CN" altLang="en-US" sz="3200" b="1" i="0" u="none" strike="noStrike" kern="1200" cap="none" spc="0" normalizeH="0" baseline="0" noProof="0">
                <a:ln>
                  <a:noFill/>
                </a:ln>
                <a:solidFill>
                  <a:schemeClr val="bg1"/>
                </a:solidFill>
                <a:effectLst/>
                <a:uLnTx/>
                <a:uFillTx/>
                <a:latin typeface="Times New Roman" panose="02020603050405020304" pitchFamily="18" charset="0"/>
                <a:ea typeface="楷体_GB2312" pitchFamily="49" charset="-122"/>
                <a:cs typeface="+mn-cs"/>
              </a:rPr>
              <a:t>生命元素</a:t>
            </a:r>
          </a:p>
        </p:txBody>
      </p:sp>
      <p:sp>
        <p:nvSpPr>
          <p:cNvPr id="82948" name="AutoShape 4" descr="http://img.mp.sohu.com/upload/20170512/5d39dd93e77f4459bb0c95f1b41570f2_th.p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1" presetClass="entr" presetSubtype="0" fill="hold" nodeType="clickEffect">
                                  <p:stCondLst>
                                    <p:cond delay="0"/>
                                  </p:stCondLst>
                                  <p:iterate type="lt">
                                    <p:tmPct val="10000"/>
                                  </p:iterate>
                                  <p:childTnLst>
                                    <p:set>
                                      <p:cBhvr>
                                        <p:cTn id="6" dur="1" fill="hold">
                                          <p:stCondLst>
                                            <p:cond delay="0"/>
                                          </p:stCondLst>
                                        </p:cTn>
                                        <p:tgtEl>
                                          <p:spTgt spid="7170"/>
                                        </p:tgtEl>
                                        <p:attrNameLst>
                                          <p:attrName>style.visibility</p:attrName>
                                        </p:attrNameLst>
                                      </p:cBhvr>
                                      <p:to>
                                        <p:strVal val="visible"/>
                                      </p:to>
                                    </p:set>
                                    <p:anim calcmode="lin" valueType="num">
                                      <p:cBhvr>
                                        <p:cTn id="7" dur="500" fill="hold"/>
                                        <p:tgtEl>
                                          <p:spTgt spid="7170"/>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7170"/>
                                        </p:tgtEl>
                                        <p:attrNameLst>
                                          <p:attrName>ppt_y</p:attrName>
                                        </p:attrNameLst>
                                      </p:cBhvr>
                                      <p:tavLst>
                                        <p:tav tm="0">
                                          <p:val>
                                            <p:strVal val="#ppt_y"/>
                                          </p:val>
                                        </p:tav>
                                        <p:tav tm="100000">
                                          <p:val>
                                            <p:strVal val="#ppt_y"/>
                                          </p:val>
                                        </p:tav>
                                      </p:tavLst>
                                    </p:anim>
                                    <p:anim calcmode="lin" valueType="num">
                                      <p:cBhvr>
                                        <p:cTn id="9" dur="500" fill="hold"/>
                                        <p:tgtEl>
                                          <p:spTgt spid="7170"/>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7170"/>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7170"/>
                                        </p:tgtEl>
                                      </p:cBhvr>
                                    </p:animEffect>
                                  </p:childTnLst>
                                </p:cTn>
                              </p:par>
                            </p:childTnLst>
                          </p:cTn>
                        </p:par>
                      </p:childTnLst>
                    </p:cTn>
                  </p:par>
                  <p:par>
                    <p:cTn id="12" fill="hold">
                      <p:stCondLst>
                        <p:cond delay="indefinite"/>
                      </p:stCondLst>
                      <p:childTnLst>
                        <p:par>
                          <p:cTn id="13" fill="hold">
                            <p:stCondLst>
                              <p:cond delay="0"/>
                            </p:stCondLst>
                            <p:childTnLst>
                              <p:par>
                                <p:cTn id="14" presetID="24" presetClass="entr" presetSubtype="0" fill="hold" nodeType="clickEffect">
                                  <p:stCondLst>
                                    <p:cond delay="0"/>
                                  </p:stCondLst>
                                  <p:childTnLst>
                                    <p:set>
                                      <p:cBhvr>
                                        <p:cTn id="15" dur="1" fill="hold">
                                          <p:stCondLst>
                                            <p:cond delay="0"/>
                                          </p:stCondLst>
                                        </p:cTn>
                                        <p:tgtEl>
                                          <p:spTgt spid="450568">
                                            <p:txEl>
                                              <p:pRg st="0" end="0"/>
                                            </p:txEl>
                                          </p:spTgt>
                                        </p:tgtEl>
                                        <p:attrNameLst>
                                          <p:attrName>style.visibility</p:attrName>
                                        </p:attrNameLst>
                                      </p:cBhvr>
                                      <p:to>
                                        <p:strVal val="visible"/>
                                      </p:to>
                                    </p:set>
                                    <p:anim calcmode="lin" valueType="num">
                                      <p:cBhvr>
                                        <p:cTn id="16" dur="1" fill="hold"/>
                                        <p:tgtEl>
                                          <p:spTgt spid="450568">
                                            <p:txEl>
                                              <p:pRg st="0" end="0"/>
                                            </p:txEl>
                                          </p:spTgt>
                                        </p:tgtEl>
                                      </p:cBhvr>
                                    </p:anim>
                                  </p:childTnLst>
                                </p:cTn>
                              </p:par>
                            </p:childTnLst>
                          </p:cTn>
                        </p:par>
                      </p:childTnLst>
                    </p:cTn>
                  </p:par>
                  <p:par>
                    <p:cTn id="17" fill="hold">
                      <p:stCondLst>
                        <p:cond delay="indefinite"/>
                      </p:stCondLst>
                      <p:childTnLst>
                        <p:par>
                          <p:cTn id="18" fill="hold">
                            <p:stCondLst>
                              <p:cond delay="0"/>
                            </p:stCondLst>
                            <p:childTnLst>
                              <p:par>
                                <p:cTn id="19" presetID="24" presetClass="entr" presetSubtype="0" fill="hold" nodeType="clickEffect">
                                  <p:stCondLst>
                                    <p:cond delay="0"/>
                                  </p:stCondLst>
                                  <p:childTnLst>
                                    <p:set>
                                      <p:cBhvr>
                                        <p:cTn id="20" dur="1" fill="hold">
                                          <p:stCondLst>
                                            <p:cond delay="0"/>
                                          </p:stCondLst>
                                        </p:cTn>
                                        <p:tgtEl>
                                          <p:spTgt spid="450568">
                                            <p:txEl>
                                              <p:pRg st="1" end="1"/>
                                            </p:txEl>
                                          </p:spTgt>
                                        </p:tgtEl>
                                        <p:attrNameLst>
                                          <p:attrName>style.visibility</p:attrName>
                                        </p:attrNameLst>
                                      </p:cBhvr>
                                      <p:to>
                                        <p:strVal val="visible"/>
                                      </p:to>
                                    </p:set>
                                    <p:anim calcmode="lin" valueType="num">
                                      <p:cBhvr>
                                        <p:cTn id="21" dur="1" fill="hold"/>
                                        <p:tgtEl>
                                          <p:spTgt spid="450568">
                                            <p:txEl>
                                              <p:pRg st="1" end="1"/>
                                            </p:txEl>
                                          </p:spTgt>
                                        </p:tgtEl>
                                      </p:cBhvr>
                                    </p:anim>
                                  </p:childTnLst>
                                </p:cTn>
                              </p:par>
                            </p:childTnLst>
                          </p:cTn>
                        </p:par>
                      </p:childTnLst>
                    </p:cTn>
                  </p:par>
                  <p:par>
                    <p:cTn id="22" fill="hold">
                      <p:stCondLst>
                        <p:cond delay="indefinite"/>
                      </p:stCondLst>
                      <p:childTnLst>
                        <p:par>
                          <p:cTn id="23" fill="hold">
                            <p:stCondLst>
                              <p:cond delay="0"/>
                            </p:stCondLst>
                            <p:childTnLst>
                              <p:par>
                                <p:cTn id="24" presetID="24" presetClass="entr" presetSubtype="0" fill="hold" nodeType="clickEffect">
                                  <p:stCondLst>
                                    <p:cond delay="0"/>
                                  </p:stCondLst>
                                  <p:childTnLst>
                                    <p:set>
                                      <p:cBhvr>
                                        <p:cTn id="25" dur="1" fill="hold">
                                          <p:stCondLst>
                                            <p:cond delay="0"/>
                                          </p:stCondLst>
                                        </p:cTn>
                                        <p:tgtEl>
                                          <p:spTgt spid="450568">
                                            <p:txEl>
                                              <p:pRg st="2" end="2"/>
                                            </p:txEl>
                                          </p:spTgt>
                                        </p:tgtEl>
                                        <p:attrNameLst>
                                          <p:attrName>style.visibility</p:attrName>
                                        </p:attrNameLst>
                                      </p:cBhvr>
                                      <p:to>
                                        <p:strVal val="visible"/>
                                      </p:to>
                                    </p:set>
                                    <p:anim calcmode="lin" valueType="num">
                                      <p:cBhvr>
                                        <p:cTn id="26" dur="1" fill="hold"/>
                                        <p:tgtEl>
                                          <p:spTgt spid="450568">
                                            <p:txEl>
                                              <p:pRg st="2" end="2"/>
                                            </p:txEl>
                                          </p:spTgt>
                                        </p:tgtEl>
                                      </p:cBhvr>
                                    </p:anim>
                                  </p:childTnLst>
                                </p:cTn>
                              </p:par>
                            </p:childTnLst>
                          </p:cTn>
                        </p:par>
                      </p:childTnLst>
                    </p:cTn>
                  </p:par>
                  <p:par>
                    <p:cTn id="27" fill="hold">
                      <p:stCondLst>
                        <p:cond delay="indefinite"/>
                      </p:stCondLst>
                      <p:childTnLst>
                        <p:par>
                          <p:cTn id="28" fill="hold">
                            <p:stCondLst>
                              <p:cond delay="0"/>
                            </p:stCondLst>
                            <p:childTnLst>
                              <p:par>
                                <p:cTn id="29" presetID="24" presetClass="entr" presetSubtype="0" fill="hold" nodeType="clickEffect">
                                  <p:stCondLst>
                                    <p:cond delay="0"/>
                                  </p:stCondLst>
                                  <p:childTnLst>
                                    <p:set>
                                      <p:cBhvr>
                                        <p:cTn id="30" dur="1" fill="hold">
                                          <p:stCondLst>
                                            <p:cond delay="0"/>
                                          </p:stCondLst>
                                        </p:cTn>
                                        <p:tgtEl>
                                          <p:spTgt spid="450568">
                                            <p:txEl>
                                              <p:pRg st="3" end="3"/>
                                            </p:txEl>
                                          </p:spTgt>
                                        </p:tgtEl>
                                        <p:attrNameLst>
                                          <p:attrName>style.visibility</p:attrName>
                                        </p:attrNameLst>
                                      </p:cBhvr>
                                      <p:to>
                                        <p:strVal val="visible"/>
                                      </p:to>
                                    </p:set>
                                    <p:anim calcmode="lin" valueType="num">
                                      <p:cBhvr>
                                        <p:cTn id="31" dur="1" fill="hold"/>
                                        <p:tgtEl>
                                          <p:spTgt spid="450568">
                                            <p:txEl>
                                              <p:pRg st="3" end="3"/>
                                            </p:txEl>
                                          </p:spTgt>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7282" name="Picture 2" descr="http://photocdn.sohu.com/20150305/mp4718363_1425522086169_4.jpeg"/>
          <p:cNvPicPr>
            <a:picLocks noChangeAspect="1" noChangeArrowheads="1"/>
          </p:cNvPicPr>
          <p:nvPr/>
        </p:nvPicPr>
        <p:blipFill>
          <a:blip r:embed="rId2" cstate="print"/>
          <a:srcRect/>
          <a:stretch>
            <a:fillRect/>
          </a:stretch>
        </p:blipFill>
        <p:spPr bwMode="auto">
          <a:xfrm>
            <a:off x="1187624" y="764704"/>
            <a:ext cx="6816757" cy="5112568"/>
          </a:xfrm>
          <a:prstGeom prst="rect">
            <a:avLst/>
          </a:prstGeom>
          <a:noFill/>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69" name="图片 453633" descr="slide0051_image054"/>
          <p:cNvPicPr>
            <a:picLocks noChangeAspect="1"/>
          </p:cNvPicPr>
          <p:nvPr/>
        </p:nvPicPr>
        <p:blipFill>
          <a:blip r:embed="rId2" cstate="print"/>
          <a:stretch>
            <a:fillRect/>
          </a:stretch>
        </p:blipFill>
        <p:spPr>
          <a:xfrm>
            <a:off x="4419600" y="2133600"/>
            <a:ext cx="4495800" cy="4125913"/>
          </a:xfrm>
          <a:prstGeom prst="rect">
            <a:avLst/>
          </a:prstGeom>
          <a:noFill/>
          <a:ln w="9525">
            <a:noFill/>
          </a:ln>
        </p:spPr>
      </p:pic>
      <p:sp>
        <p:nvSpPr>
          <p:cNvPr id="58370" name="文本框 453634"/>
          <p:cNvSpPr txBox="1"/>
          <p:nvPr/>
        </p:nvSpPr>
        <p:spPr>
          <a:xfrm>
            <a:off x="539750" y="477837"/>
            <a:ext cx="1136650" cy="579438"/>
          </a:xfrm>
          <a:prstGeom prst="rect">
            <a:avLst/>
          </a:prstGeom>
          <a:noFill/>
          <a:ln w="9525">
            <a:noFill/>
          </a:ln>
        </p:spPr>
        <p:txBody>
          <a:bodyPr anchor="t">
            <a:spAutoFit/>
          </a:bodyPr>
          <a:lstStyle/>
          <a:p>
            <a:pPr>
              <a:spcBef>
                <a:spcPct val="50000"/>
              </a:spcBef>
            </a:pPr>
            <a:r>
              <a:rPr lang="en-US" altLang="zh-CN" sz="3200" b="1" dirty="0">
                <a:solidFill>
                  <a:srgbClr val="C00000"/>
                </a:solidFill>
                <a:latin typeface="Arial" panose="020B0604020202020204" pitchFamily="34" charset="0"/>
              </a:rPr>
              <a:t>1. </a:t>
            </a:r>
            <a:r>
              <a:rPr lang="zh-CN" altLang="en-US" sz="3200" b="1" dirty="0">
                <a:solidFill>
                  <a:srgbClr val="C00000"/>
                </a:solidFill>
                <a:latin typeface="Arial" panose="020B0604020202020204" pitchFamily="34" charset="0"/>
              </a:rPr>
              <a:t>铁</a:t>
            </a:r>
          </a:p>
        </p:txBody>
      </p:sp>
      <p:sp>
        <p:nvSpPr>
          <p:cNvPr id="453636" name="文本框 453635"/>
          <p:cNvSpPr txBox="1"/>
          <p:nvPr/>
        </p:nvSpPr>
        <p:spPr>
          <a:xfrm>
            <a:off x="381000" y="1057275"/>
            <a:ext cx="8534400" cy="946150"/>
          </a:xfrm>
          <a:prstGeom prst="rect">
            <a:avLst/>
          </a:prstGeom>
          <a:noFill/>
          <a:ln w="9525">
            <a:noFill/>
          </a:ln>
        </p:spPr>
        <p:txBody>
          <a:bodyPr anchor="t">
            <a:spAutoFit/>
          </a:bodyPr>
          <a:lstStyle/>
          <a:p>
            <a:pPr>
              <a:spcBef>
                <a:spcPct val="50000"/>
              </a:spcBef>
            </a:pPr>
            <a:r>
              <a:rPr lang="zh-CN" altLang="en-US" sz="2800" b="1" dirty="0">
                <a:latin typeface="Arial" panose="020B0604020202020204" pitchFamily="34" charset="0"/>
              </a:rPr>
              <a:t>       铁是人体必需微量元素中含量最多的一种，约为</a:t>
            </a:r>
            <a:r>
              <a:rPr lang="en-US" altLang="zh-CN" sz="2800" b="1" dirty="0">
                <a:latin typeface="Arial" panose="020B0604020202020204" pitchFamily="34" charset="0"/>
              </a:rPr>
              <a:t>4</a:t>
            </a:r>
            <a:r>
              <a:rPr lang="en-US" altLang="en-US" sz="2800" b="1" dirty="0">
                <a:latin typeface="Arial" panose="020B0604020202020204" pitchFamily="34" charset="0"/>
              </a:rPr>
              <a:t>～</a:t>
            </a:r>
            <a:r>
              <a:rPr lang="en-US" altLang="zh-CN" sz="2800" b="1" dirty="0">
                <a:latin typeface="Arial" panose="020B0604020202020204" pitchFamily="34" charset="0"/>
              </a:rPr>
              <a:t>5g/</a:t>
            </a:r>
            <a:r>
              <a:rPr lang="zh-CN" altLang="en-US" sz="2800" b="1" dirty="0">
                <a:latin typeface="Arial" panose="020B0604020202020204" pitchFamily="34" charset="0"/>
              </a:rPr>
              <a:t>人。</a:t>
            </a:r>
          </a:p>
        </p:txBody>
      </p:sp>
      <p:sp>
        <p:nvSpPr>
          <p:cNvPr id="453637" name="文本框 453636"/>
          <p:cNvSpPr txBox="1"/>
          <p:nvPr/>
        </p:nvSpPr>
        <p:spPr>
          <a:xfrm>
            <a:off x="474663" y="2492375"/>
            <a:ext cx="568325" cy="2613025"/>
          </a:xfrm>
          <a:prstGeom prst="rect">
            <a:avLst/>
          </a:prstGeom>
          <a:solidFill>
            <a:srgbClr val="CCFFFF"/>
          </a:solidFill>
          <a:ln w="19050" cap="flat" cmpd="sng">
            <a:solidFill>
              <a:srgbClr val="FF0000"/>
            </a:solidFill>
            <a:prstDash val="solid"/>
            <a:miter/>
            <a:headEnd type="none" w="med" len="med"/>
            <a:tailEnd type="none" w="med" len="med"/>
          </a:ln>
        </p:spPr>
        <p:txBody>
          <a:bodyPr vert="eaVert" anchor="t">
            <a:spAutoFit/>
          </a:bodyPr>
          <a:lstStyle/>
          <a:p>
            <a:pPr>
              <a:spcBef>
                <a:spcPct val="50000"/>
              </a:spcBef>
            </a:pPr>
            <a:r>
              <a:rPr lang="zh-CN" altLang="en-US" sz="2400" b="1" dirty="0">
                <a:latin typeface="Arial" panose="020B0604020202020204" pitchFamily="34" charset="0"/>
              </a:rPr>
              <a:t>人体中铁的化合物</a:t>
            </a:r>
          </a:p>
        </p:txBody>
      </p:sp>
      <p:grpSp>
        <p:nvGrpSpPr>
          <p:cNvPr id="453638" name="组合 453637"/>
          <p:cNvGrpSpPr/>
          <p:nvPr/>
        </p:nvGrpSpPr>
        <p:grpSpPr>
          <a:xfrm>
            <a:off x="1042988" y="2528888"/>
            <a:ext cx="2989262" cy="2424112"/>
            <a:chOff x="657" y="1593"/>
            <a:chExt cx="1883" cy="1778"/>
          </a:xfrm>
        </p:grpSpPr>
        <p:sp>
          <p:nvSpPr>
            <p:cNvPr id="58374" name="直接连接符 453638"/>
            <p:cNvSpPr/>
            <p:nvPr/>
          </p:nvSpPr>
          <p:spPr>
            <a:xfrm>
              <a:off x="657" y="2455"/>
              <a:ext cx="159" cy="0"/>
            </a:xfrm>
            <a:prstGeom prst="line">
              <a:avLst/>
            </a:prstGeom>
            <a:ln w="28575" cap="flat" cmpd="sng">
              <a:solidFill>
                <a:srgbClr val="FF3300"/>
              </a:solidFill>
              <a:prstDash val="solid"/>
              <a:round/>
              <a:headEnd type="none" w="med" len="med"/>
              <a:tailEnd type="none" w="med" len="med"/>
            </a:ln>
          </p:spPr>
        </p:sp>
        <p:sp>
          <p:nvSpPr>
            <p:cNvPr id="58375" name="直接连接符 453639"/>
            <p:cNvSpPr/>
            <p:nvPr/>
          </p:nvSpPr>
          <p:spPr>
            <a:xfrm>
              <a:off x="816" y="1774"/>
              <a:ext cx="0" cy="1384"/>
            </a:xfrm>
            <a:prstGeom prst="line">
              <a:avLst/>
            </a:prstGeom>
            <a:ln w="28575" cap="flat" cmpd="sng">
              <a:solidFill>
                <a:srgbClr val="FF3300"/>
              </a:solidFill>
              <a:prstDash val="solid"/>
              <a:round/>
              <a:headEnd type="none" w="med" len="med"/>
              <a:tailEnd type="none" w="med" len="med"/>
            </a:ln>
          </p:spPr>
        </p:sp>
        <p:sp>
          <p:nvSpPr>
            <p:cNvPr id="58376" name="直接连接符 453640"/>
            <p:cNvSpPr/>
            <p:nvPr/>
          </p:nvSpPr>
          <p:spPr>
            <a:xfrm>
              <a:off x="816" y="1774"/>
              <a:ext cx="681" cy="0"/>
            </a:xfrm>
            <a:prstGeom prst="line">
              <a:avLst/>
            </a:prstGeom>
            <a:ln w="28575" cap="flat" cmpd="sng">
              <a:solidFill>
                <a:srgbClr val="FF3300"/>
              </a:solidFill>
              <a:prstDash val="solid"/>
              <a:round/>
              <a:headEnd type="none" w="med" len="med"/>
              <a:tailEnd type="triangle" w="med" len="med"/>
            </a:ln>
          </p:spPr>
        </p:sp>
        <p:sp>
          <p:nvSpPr>
            <p:cNvPr id="58377" name="直接连接符 453641"/>
            <p:cNvSpPr/>
            <p:nvPr/>
          </p:nvSpPr>
          <p:spPr>
            <a:xfrm>
              <a:off x="816" y="3158"/>
              <a:ext cx="681" cy="0"/>
            </a:xfrm>
            <a:prstGeom prst="line">
              <a:avLst/>
            </a:prstGeom>
            <a:ln w="28575" cap="flat" cmpd="sng">
              <a:solidFill>
                <a:srgbClr val="FF3300"/>
              </a:solidFill>
              <a:prstDash val="solid"/>
              <a:round/>
              <a:headEnd type="none" w="med" len="med"/>
              <a:tailEnd type="triangle" w="med" len="med"/>
            </a:ln>
          </p:spPr>
        </p:sp>
        <p:sp>
          <p:nvSpPr>
            <p:cNvPr id="58378" name="文本框 453642"/>
            <p:cNvSpPr txBox="1"/>
            <p:nvPr/>
          </p:nvSpPr>
          <p:spPr>
            <a:xfrm>
              <a:off x="1474" y="1593"/>
              <a:ext cx="1043" cy="395"/>
            </a:xfrm>
            <a:prstGeom prst="rect">
              <a:avLst/>
            </a:prstGeom>
            <a:solidFill>
              <a:srgbClr val="00FFFF"/>
            </a:solidFill>
            <a:ln w="19050" cap="flat" cmpd="sng">
              <a:solidFill>
                <a:srgbClr val="FF0000"/>
              </a:solidFill>
              <a:prstDash val="solid"/>
              <a:miter/>
              <a:headEnd type="none" w="med" len="med"/>
              <a:tailEnd type="none" w="med" len="med"/>
            </a:ln>
          </p:spPr>
          <p:txBody>
            <a:bodyPr anchor="t">
              <a:spAutoFit/>
            </a:bodyPr>
            <a:lstStyle/>
            <a:p>
              <a:pPr>
                <a:spcBef>
                  <a:spcPct val="50000"/>
                </a:spcBef>
              </a:pPr>
              <a:r>
                <a:rPr lang="zh-CN" altLang="en-US" sz="2800" b="1" dirty="0">
                  <a:latin typeface="Arial" panose="020B0604020202020204" pitchFamily="34" charset="0"/>
                </a:rPr>
                <a:t>功能性铁</a:t>
              </a:r>
            </a:p>
          </p:txBody>
        </p:sp>
        <p:sp>
          <p:nvSpPr>
            <p:cNvPr id="58379" name="文本框 453643"/>
            <p:cNvSpPr txBox="1"/>
            <p:nvPr/>
          </p:nvSpPr>
          <p:spPr>
            <a:xfrm>
              <a:off x="1497" y="2976"/>
              <a:ext cx="1043" cy="395"/>
            </a:xfrm>
            <a:prstGeom prst="rect">
              <a:avLst/>
            </a:prstGeom>
            <a:solidFill>
              <a:srgbClr val="00FFFF"/>
            </a:solidFill>
            <a:ln w="19050" cap="flat" cmpd="sng">
              <a:solidFill>
                <a:srgbClr val="FF0000"/>
              </a:solidFill>
              <a:prstDash val="solid"/>
              <a:miter/>
              <a:headEnd type="none" w="med" len="med"/>
              <a:tailEnd type="none" w="med" len="med"/>
            </a:ln>
          </p:spPr>
          <p:txBody>
            <a:bodyPr anchor="t">
              <a:spAutoFit/>
            </a:bodyPr>
            <a:lstStyle/>
            <a:p>
              <a:pPr>
                <a:spcBef>
                  <a:spcPct val="50000"/>
                </a:spcBef>
              </a:pPr>
              <a:r>
                <a:rPr lang="zh-CN" altLang="en-US" sz="2800" b="1" dirty="0">
                  <a:latin typeface="Arial" panose="020B0604020202020204" pitchFamily="34" charset="0"/>
                </a:rPr>
                <a:t>储 存 铁</a:t>
              </a:r>
            </a:p>
          </p:txBody>
        </p:sp>
      </p:grpSp>
      <p:sp>
        <p:nvSpPr>
          <p:cNvPr id="453645" name="文本框 453644"/>
          <p:cNvSpPr txBox="1"/>
          <p:nvPr/>
        </p:nvSpPr>
        <p:spPr>
          <a:xfrm>
            <a:off x="1524000" y="3200400"/>
            <a:ext cx="3048000" cy="1004888"/>
          </a:xfrm>
          <a:prstGeom prst="rect">
            <a:avLst/>
          </a:prstGeom>
          <a:noFill/>
          <a:ln w="9525">
            <a:noFill/>
          </a:ln>
        </p:spPr>
        <p:txBody>
          <a:bodyPr anchor="t">
            <a:spAutoFit/>
          </a:bodyPr>
          <a:lstStyle/>
          <a:p>
            <a:pPr>
              <a:spcBef>
                <a:spcPct val="50000"/>
              </a:spcBef>
            </a:pPr>
            <a:r>
              <a:rPr lang="zh-CN" altLang="en-US" sz="2400" b="1" dirty="0">
                <a:solidFill>
                  <a:srgbClr val="FF3300"/>
                </a:solidFill>
                <a:latin typeface="Arial" panose="020B0604020202020204" pitchFamily="34" charset="0"/>
              </a:rPr>
              <a:t>功能性铁和血红蛋白</a:t>
            </a:r>
          </a:p>
          <a:p>
            <a:pPr>
              <a:spcBef>
                <a:spcPct val="50000"/>
              </a:spcBef>
            </a:pPr>
            <a:r>
              <a:rPr lang="zh-CN" altLang="en-US" sz="2400" b="1" dirty="0">
                <a:solidFill>
                  <a:srgbClr val="FF3300"/>
                </a:solidFill>
                <a:latin typeface="Arial" panose="020B0604020202020204" pitchFamily="34" charset="0"/>
              </a:rPr>
              <a:t>一起参与氧的运输。</a:t>
            </a:r>
          </a:p>
        </p:txBody>
      </p:sp>
      <p:sp>
        <p:nvSpPr>
          <p:cNvPr id="453646" name="文本框 453645"/>
          <p:cNvSpPr txBox="1"/>
          <p:nvPr/>
        </p:nvSpPr>
        <p:spPr>
          <a:xfrm>
            <a:off x="1371600" y="5029200"/>
            <a:ext cx="3124200" cy="1004888"/>
          </a:xfrm>
          <a:prstGeom prst="rect">
            <a:avLst/>
          </a:prstGeom>
          <a:noFill/>
          <a:ln w="9525">
            <a:noFill/>
          </a:ln>
        </p:spPr>
        <p:txBody>
          <a:bodyPr anchor="t">
            <a:spAutoFit/>
          </a:bodyPr>
          <a:lstStyle/>
          <a:p>
            <a:pPr>
              <a:spcBef>
                <a:spcPct val="50000"/>
              </a:spcBef>
            </a:pPr>
            <a:r>
              <a:rPr lang="zh-CN" altLang="en-US" sz="2400" b="1" dirty="0">
                <a:solidFill>
                  <a:srgbClr val="FF3300"/>
                </a:solidFill>
                <a:latin typeface="Arial" panose="020B0604020202020204" pitchFamily="34" charset="0"/>
              </a:rPr>
              <a:t>储存铁与各种酶结合，</a:t>
            </a:r>
          </a:p>
          <a:p>
            <a:pPr>
              <a:spcBef>
                <a:spcPct val="50000"/>
              </a:spcBef>
            </a:pPr>
            <a:r>
              <a:rPr lang="zh-CN" altLang="en-US" sz="2400" b="1" dirty="0">
                <a:solidFill>
                  <a:srgbClr val="FF3300"/>
                </a:solidFill>
                <a:latin typeface="Arial" panose="020B0604020202020204" pitchFamily="34" charset="0"/>
              </a:rPr>
              <a:t>分布在身体各器官。</a:t>
            </a:r>
          </a:p>
        </p:txBody>
      </p:sp>
      <p:sp>
        <p:nvSpPr>
          <p:cNvPr id="58382" name="灯片编号占位符 1"/>
          <p:cNvSpPr>
            <a:spLocks noGrp="1"/>
          </p:cNvSpPr>
          <p:nvPr>
            <p:ph type="sldNum" sz="quarter" idx="11"/>
          </p:nvPr>
        </p:nvSpPr>
        <p:spPr>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400" dirty="0"/>
              <a:pPr lvl="0" indent="0" algn="r"/>
              <a:t>58</a:t>
            </a:fld>
            <a:endParaRPr lang="zh-CN" alt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536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5363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45363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45364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4536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3636" grpId="0"/>
      <p:bldP spid="453637" grpId="0" animBg="1"/>
      <p:bldP spid="453645" grpId="0"/>
      <p:bldP spid="453646"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3186" name="Picture 2" descr="http://photocdn.sohu.com/20150305/mp4718363_1425522086169_7.jpeg"/>
          <p:cNvPicPr>
            <a:picLocks noChangeAspect="1" noChangeArrowheads="1"/>
          </p:cNvPicPr>
          <p:nvPr/>
        </p:nvPicPr>
        <p:blipFill>
          <a:blip r:embed="rId2" cstate="print"/>
          <a:srcRect/>
          <a:stretch>
            <a:fillRect/>
          </a:stretch>
        </p:blipFill>
        <p:spPr bwMode="auto">
          <a:xfrm>
            <a:off x="1403648" y="1052736"/>
            <a:ext cx="5715000" cy="4286250"/>
          </a:xfrm>
          <a:prstGeom prst="rect">
            <a:avLst/>
          </a:prstGeom>
          <a:noFill/>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标题 558081"/>
          <p:cNvSpPr>
            <a:spLocks noGrp="1" noRot="1"/>
          </p:cNvSpPr>
          <p:nvPr>
            <p:ph type="title"/>
          </p:nvPr>
        </p:nvSpPr>
        <p:spPr>
          <a:ln/>
        </p:spPr>
        <p:txBody>
          <a:bodyPr anchor="ctr"/>
          <a:lstStyle/>
          <a:p>
            <a:pPr algn="l"/>
            <a:r>
              <a:rPr lang="en-US" altLang="zh-CN" sz="3600" b="1">
                <a:solidFill>
                  <a:srgbClr val="C00000"/>
                </a:solidFill>
              </a:rPr>
              <a:t>2. </a:t>
            </a:r>
            <a:r>
              <a:rPr lang="zh-CN" altLang="en-US" sz="3600" b="1" dirty="0">
                <a:solidFill>
                  <a:srgbClr val="C00000"/>
                </a:solidFill>
              </a:rPr>
              <a:t>铜</a:t>
            </a:r>
          </a:p>
        </p:txBody>
      </p:sp>
      <p:sp>
        <p:nvSpPr>
          <p:cNvPr id="59394" name="文本占位符 558082"/>
          <p:cNvSpPr>
            <a:spLocks noGrp="1" noRot="1"/>
          </p:cNvSpPr>
          <p:nvPr>
            <p:ph idx="1"/>
          </p:nvPr>
        </p:nvSpPr>
        <p:spPr>
          <a:xfrm>
            <a:off x="457200" y="1268760"/>
            <a:ext cx="8229600" cy="4525963"/>
          </a:xfrm>
          <a:ln/>
        </p:spPr>
        <p:txBody>
          <a:bodyPr anchor="t"/>
          <a:lstStyle/>
          <a:p>
            <a:r>
              <a:rPr lang="zh-CN" altLang="en-US" sz="2400" b="1" dirty="0" smtClean="0"/>
              <a:t>    缺</a:t>
            </a:r>
            <a:r>
              <a:rPr lang="zh-CN" altLang="en-US" sz="2400" b="1" dirty="0"/>
              <a:t>铜造血机能就会受到影响，也会产生贫血现象。人体至少</a:t>
            </a:r>
            <a:r>
              <a:rPr lang="en-US" altLang="zh-CN" sz="2400" b="1" dirty="0"/>
              <a:t>11</a:t>
            </a:r>
            <a:r>
              <a:rPr lang="zh-CN" altLang="en-US" sz="2400" b="1" dirty="0"/>
              <a:t>种氧化酶含有铜离子。</a:t>
            </a:r>
          </a:p>
          <a:p>
            <a:r>
              <a:rPr lang="zh-CN" altLang="en-US" sz="2400" b="1" dirty="0" smtClean="0"/>
              <a:t>    铜元</a:t>
            </a:r>
            <a:r>
              <a:rPr lang="zh-CN" altLang="en-US" sz="2400" b="1" dirty="0"/>
              <a:t>素影响身高，还有抑制癌变的作用，我国边远地区的妇女和儿童，由于佩戴铜首饰，加上生活中常使用铜器，这些地区的癌症发病率很低。</a:t>
            </a:r>
          </a:p>
          <a:p>
            <a:r>
              <a:rPr lang="zh-CN" altLang="en-US" sz="2400" b="1" dirty="0" smtClean="0"/>
              <a:t>铜还有</a:t>
            </a:r>
            <a:r>
              <a:rPr lang="zh-CN" altLang="en-US" sz="2400" b="1" dirty="0"/>
              <a:t>预防心血管病、消炎抗风湿等作用。</a:t>
            </a:r>
          </a:p>
        </p:txBody>
      </p:sp>
      <p:sp>
        <p:nvSpPr>
          <p:cNvPr id="558084" name="文本框 558083"/>
          <p:cNvSpPr txBox="1"/>
          <p:nvPr/>
        </p:nvSpPr>
        <p:spPr>
          <a:xfrm>
            <a:off x="755650" y="3933056"/>
            <a:ext cx="7725192" cy="1200329"/>
          </a:xfrm>
          <a:prstGeom prst="rect">
            <a:avLst/>
          </a:prstGeom>
          <a:noFill/>
          <a:ln w="9525">
            <a:noFill/>
          </a:ln>
        </p:spPr>
        <p:txBody>
          <a:bodyPr wrap="none" anchor="t">
            <a:spAutoFit/>
          </a:bodyPr>
          <a:lstStyle/>
          <a:p>
            <a:r>
              <a:rPr lang="zh-CN" altLang="en-US" sz="2400" b="1" dirty="0" smtClean="0">
                <a:latin typeface="Arial" panose="020B0604020202020204" pitchFamily="34" charset="0"/>
              </a:rPr>
              <a:t>     食物</a:t>
            </a:r>
            <a:r>
              <a:rPr lang="zh-CN" altLang="en-US" sz="2400" b="1" dirty="0">
                <a:latin typeface="Arial" panose="020B0604020202020204" pitchFamily="34" charset="0"/>
              </a:rPr>
              <a:t>来源：动物肝脏含量最高，其次是猪肉、蛋黄、</a:t>
            </a:r>
          </a:p>
          <a:p>
            <a:r>
              <a:rPr lang="zh-CN" altLang="en-US" sz="2400" b="1" dirty="0">
                <a:latin typeface="Arial" panose="020B0604020202020204" pitchFamily="34" charset="0"/>
              </a:rPr>
              <a:t>鱼类和贝类，其他如香菇、芝麻、黄豆、黑木耳、</a:t>
            </a:r>
          </a:p>
          <a:p>
            <a:r>
              <a:rPr lang="zh-CN" altLang="en-US" sz="2400" b="1" dirty="0">
                <a:latin typeface="Arial" panose="020B0604020202020204" pitchFamily="34" charset="0"/>
              </a:rPr>
              <a:t>果仁、菠菜、芋头、香菜等</a:t>
            </a:r>
          </a:p>
        </p:txBody>
      </p:sp>
      <p:sp>
        <p:nvSpPr>
          <p:cNvPr id="59396" name="灯片编号占位符 1"/>
          <p:cNvSpPr>
            <a:spLocks noGrp="1"/>
          </p:cNvSpPr>
          <p:nvPr>
            <p:ph type="sldNum" sz="quarter" idx="11"/>
          </p:nvPr>
        </p:nvSpPr>
        <p:spPr>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400" dirty="0"/>
              <a:pPr lvl="0" indent="0" algn="r"/>
              <a:t>60</a:t>
            </a:fld>
            <a:endParaRPr lang="zh-CN" altLang="en-US" sz="1400" dirty="0"/>
          </a:p>
        </p:txBody>
      </p:sp>
      <p:pic>
        <p:nvPicPr>
          <p:cNvPr id="80897" name="Picture 1"/>
          <p:cNvPicPr>
            <a:picLocks noChangeAspect="1" noChangeArrowheads="1"/>
          </p:cNvPicPr>
          <p:nvPr/>
        </p:nvPicPr>
        <p:blipFill>
          <a:blip r:embed="rId2" cstate="print"/>
          <a:srcRect/>
          <a:stretch>
            <a:fillRect/>
          </a:stretch>
        </p:blipFill>
        <p:spPr bwMode="auto">
          <a:xfrm>
            <a:off x="5785267" y="4857750"/>
            <a:ext cx="2695575" cy="177165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58084"/>
                                        </p:tgtEl>
                                        <p:attrNameLst>
                                          <p:attrName>style.visibility</p:attrName>
                                        </p:attrNameLst>
                                      </p:cBhvr>
                                      <p:to>
                                        <p:strVal val="visible"/>
                                      </p:to>
                                    </p:set>
                                    <p:animEffect transition="in" filter="blinds(horizontal)">
                                      <p:cBhvr>
                                        <p:cTn id="7" dur="500"/>
                                        <p:tgtEl>
                                          <p:spTgt spid="5580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8084"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文本框 451585"/>
          <p:cNvSpPr txBox="1"/>
          <p:nvPr/>
        </p:nvSpPr>
        <p:spPr>
          <a:xfrm>
            <a:off x="539750" y="512763"/>
            <a:ext cx="2736850" cy="579437"/>
          </a:xfrm>
          <a:prstGeom prst="rect">
            <a:avLst/>
          </a:prstGeom>
          <a:noFill/>
          <a:ln w="9525">
            <a:noFill/>
          </a:ln>
        </p:spPr>
        <p:txBody>
          <a:bodyPr anchor="t">
            <a:spAutoFit/>
          </a:bodyPr>
          <a:lstStyle/>
          <a:p>
            <a:pPr>
              <a:spcBef>
                <a:spcPct val="50000"/>
              </a:spcBef>
            </a:pPr>
            <a:r>
              <a:rPr lang="en-US" altLang="zh-CN" sz="3200" b="1">
                <a:solidFill>
                  <a:srgbClr val="C00000"/>
                </a:solidFill>
                <a:latin typeface="Arial" panose="020B0604020202020204" pitchFamily="34" charset="0"/>
              </a:rPr>
              <a:t>3. </a:t>
            </a:r>
            <a:r>
              <a:rPr lang="zh-CN" altLang="en-US" sz="3200" b="1" dirty="0">
                <a:solidFill>
                  <a:srgbClr val="C00000"/>
                </a:solidFill>
                <a:latin typeface="Arial" panose="020B0604020202020204" pitchFamily="34" charset="0"/>
              </a:rPr>
              <a:t>碘</a:t>
            </a:r>
          </a:p>
        </p:txBody>
      </p:sp>
      <p:sp>
        <p:nvSpPr>
          <p:cNvPr id="451587" name="文本框 451586"/>
          <p:cNvSpPr txBox="1"/>
          <p:nvPr/>
        </p:nvSpPr>
        <p:spPr>
          <a:xfrm>
            <a:off x="503238" y="1066800"/>
            <a:ext cx="8640762" cy="822325"/>
          </a:xfrm>
          <a:prstGeom prst="rect">
            <a:avLst/>
          </a:prstGeom>
          <a:noFill/>
          <a:ln w="9525">
            <a:noFill/>
          </a:ln>
        </p:spPr>
        <p:txBody>
          <a:bodyPr anchor="t">
            <a:spAutoFit/>
          </a:bodyPr>
          <a:lstStyle/>
          <a:p>
            <a:pPr>
              <a:spcBef>
                <a:spcPct val="50000"/>
              </a:spcBef>
            </a:pPr>
            <a:r>
              <a:rPr lang="zh-CN" altLang="en-US" sz="2400" b="1" dirty="0">
                <a:latin typeface="Arial" panose="020B0604020202020204" pitchFamily="34" charset="0"/>
              </a:rPr>
              <a:t>       “</a:t>
            </a:r>
            <a:r>
              <a:rPr lang="zh-CN" altLang="en-US" sz="2400" b="1" dirty="0">
                <a:solidFill>
                  <a:srgbClr val="FF3300"/>
                </a:solidFill>
                <a:latin typeface="Arial" panose="020B0604020202020204" pitchFamily="34" charset="0"/>
              </a:rPr>
              <a:t>智力元素</a:t>
            </a:r>
            <a:r>
              <a:rPr lang="zh-CN" altLang="en-US" sz="2400" b="1" dirty="0">
                <a:latin typeface="Arial" panose="020B0604020202020204" pitchFamily="34" charset="0"/>
              </a:rPr>
              <a:t>”之称。碘在人体的含量仅约为</a:t>
            </a:r>
            <a:r>
              <a:rPr lang="en-US" altLang="zh-CN" sz="2400" b="1">
                <a:latin typeface="Arial" panose="020B0604020202020204" pitchFamily="34" charset="0"/>
              </a:rPr>
              <a:t>30mg</a:t>
            </a:r>
            <a:r>
              <a:rPr lang="zh-CN" altLang="en-US" sz="2400" b="1">
                <a:latin typeface="Arial" panose="020B0604020202020204" pitchFamily="34" charset="0"/>
              </a:rPr>
              <a:t>，</a:t>
            </a:r>
            <a:r>
              <a:rPr lang="zh-CN" altLang="en-US" sz="2400" b="1" dirty="0">
                <a:latin typeface="Arial" panose="020B0604020202020204" pitchFamily="34" charset="0"/>
              </a:rPr>
              <a:t>其中一半左右集中在甲状腺内，其余分布在其他组织。</a:t>
            </a:r>
          </a:p>
        </p:txBody>
      </p:sp>
      <p:sp>
        <p:nvSpPr>
          <p:cNvPr id="451588" name="文本框 451587"/>
          <p:cNvSpPr txBox="1"/>
          <p:nvPr/>
        </p:nvSpPr>
        <p:spPr>
          <a:xfrm>
            <a:off x="4648200" y="2133600"/>
            <a:ext cx="4221163" cy="1552575"/>
          </a:xfrm>
          <a:prstGeom prst="rect">
            <a:avLst/>
          </a:prstGeom>
          <a:noFill/>
          <a:ln w="9525">
            <a:noFill/>
          </a:ln>
        </p:spPr>
        <p:txBody>
          <a:bodyPr anchor="t">
            <a:spAutoFit/>
          </a:bodyPr>
          <a:lstStyle/>
          <a:p>
            <a:pPr>
              <a:spcBef>
                <a:spcPct val="50000"/>
              </a:spcBef>
            </a:pPr>
            <a:r>
              <a:rPr lang="zh-CN" altLang="en-US" sz="2400" b="1" dirty="0">
                <a:solidFill>
                  <a:srgbClr val="CC0066"/>
                </a:solidFill>
                <a:latin typeface="Arial" panose="020B0604020202020204" pitchFamily="34" charset="0"/>
              </a:rPr>
              <a:t> （</a:t>
            </a:r>
            <a:r>
              <a:rPr lang="en-US" altLang="zh-CN" sz="2400" b="1">
                <a:solidFill>
                  <a:srgbClr val="CC0066"/>
                </a:solidFill>
                <a:latin typeface="Arial" panose="020B0604020202020204" pitchFamily="34" charset="0"/>
              </a:rPr>
              <a:t>1</a:t>
            </a:r>
            <a:r>
              <a:rPr lang="zh-CN" altLang="en-US" sz="2400" b="1" dirty="0">
                <a:solidFill>
                  <a:srgbClr val="CC0066"/>
                </a:solidFill>
                <a:latin typeface="Arial" panose="020B0604020202020204" pitchFamily="34" charset="0"/>
              </a:rPr>
              <a:t>）作用：</a:t>
            </a:r>
            <a:r>
              <a:rPr lang="zh-CN" altLang="en-US" sz="2400" b="1" dirty="0">
                <a:latin typeface="Arial" panose="020B0604020202020204" pitchFamily="34" charset="0"/>
              </a:rPr>
              <a:t>碘是人体各个系</a:t>
            </a:r>
          </a:p>
          <a:p>
            <a:pPr>
              <a:spcBef>
                <a:spcPct val="50000"/>
              </a:spcBef>
            </a:pPr>
            <a:r>
              <a:rPr lang="zh-CN" altLang="en-US" sz="2400" b="1" dirty="0">
                <a:latin typeface="Arial" panose="020B0604020202020204" pitchFamily="34" charset="0"/>
              </a:rPr>
              <a:t>统特别是神经系统发育所不</a:t>
            </a:r>
          </a:p>
          <a:p>
            <a:pPr>
              <a:spcBef>
                <a:spcPct val="50000"/>
              </a:spcBef>
            </a:pPr>
            <a:r>
              <a:rPr lang="zh-CN" altLang="en-US" sz="2400" b="1" dirty="0">
                <a:latin typeface="Arial" panose="020B0604020202020204" pitchFamily="34" charset="0"/>
              </a:rPr>
              <a:t>可缺少的。</a:t>
            </a:r>
          </a:p>
        </p:txBody>
      </p:sp>
      <p:sp>
        <p:nvSpPr>
          <p:cNvPr id="451589" name="矩形 451588"/>
          <p:cNvSpPr/>
          <p:nvPr/>
        </p:nvSpPr>
        <p:spPr>
          <a:xfrm>
            <a:off x="4800600" y="3733800"/>
            <a:ext cx="4343400" cy="1552575"/>
          </a:xfrm>
          <a:prstGeom prst="rect">
            <a:avLst/>
          </a:prstGeom>
          <a:noFill/>
          <a:ln w="9525">
            <a:noFill/>
          </a:ln>
        </p:spPr>
        <p:txBody>
          <a:bodyPr anchor="t">
            <a:spAutoFit/>
          </a:bodyPr>
          <a:lstStyle/>
          <a:p>
            <a:pPr>
              <a:spcBef>
                <a:spcPct val="50000"/>
              </a:spcBef>
            </a:pPr>
            <a:r>
              <a:rPr lang="zh-CN" altLang="en-US" sz="2400" b="1" dirty="0">
                <a:solidFill>
                  <a:srgbClr val="CC0066"/>
                </a:solidFill>
                <a:latin typeface="Arial" panose="020B0604020202020204" pitchFamily="34" charset="0"/>
              </a:rPr>
              <a:t>（</a:t>
            </a:r>
            <a:r>
              <a:rPr lang="en-US" altLang="zh-CN" sz="2400" b="1">
                <a:solidFill>
                  <a:srgbClr val="CC0066"/>
                </a:solidFill>
                <a:latin typeface="Arial" panose="020B0604020202020204" pitchFamily="34" charset="0"/>
              </a:rPr>
              <a:t>2</a:t>
            </a:r>
            <a:r>
              <a:rPr lang="zh-CN" altLang="en-US" sz="2400" b="1" dirty="0">
                <a:solidFill>
                  <a:srgbClr val="CC0066"/>
                </a:solidFill>
                <a:latin typeface="Arial" panose="020B0604020202020204" pitchFamily="34" charset="0"/>
              </a:rPr>
              <a:t>）存在：</a:t>
            </a:r>
            <a:r>
              <a:rPr lang="zh-CN" altLang="en-US" sz="2400" b="1" dirty="0">
                <a:latin typeface="Arial" panose="020B0604020202020204" pitchFamily="34" charset="0"/>
              </a:rPr>
              <a:t>在食物中，海产</a:t>
            </a:r>
          </a:p>
          <a:p>
            <a:pPr>
              <a:spcBef>
                <a:spcPct val="50000"/>
              </a:spcBef>
            </a:pPr>
            <a:r>
              <a:rPr lang="zh-CN" altLang="en-US" sz="2400" b="1" dirty="0">
                <a:latin typeface="Arial" panose="020B0604020202020204" pitchFamily="34" charset="0"/>
              </a:rPr>
              <a:t>品（如：海带、海鱼等）的含</a:t>
            </a:r>
          </a:p>
          <a:p>
            <a:pPr>
              <a:spcBef>
                <a:spcPct val="50000"/>
              </a:spcBef>
            </a:pPr>
            <a:r>
              <a:rPr lang="zh-CN" altLang="en-US" sz="2400" b="1" dirty="0">
                <a:latin typeface="Arial" panose="020B0604020202020204" pitchFamily="34" charset="0"/>
              </a:rPr>
              <a:t>碘量较高。</a:t>
            </a:r>
          </a:p>
        </p:txBody>
      </p:sp>
      <p:pic>
        <p:nvPicPr>
          <p:cNvPr id="451590" name="图片 451589" descr="5_6I1"/>
          <p:cNvPicPr>
            <a:picLocks noChangeAspect="1"/>
          </p:cNvPicPr>
          <p:nvPr/>
        </p:nvPicPr>
        <p:blipFill>
          <a:blip r:embed="rId2" cstate="print"/>
          <a:stretch>
            <a:fillRect/>
          </a:stretch>
        </p:blipFill>
        <p:spPr>
          <a:xfrm>
            <a:off x="0" y="2057400"/>
            <a:ext cx="4721225" cy="4800600"/>
          </a:xfrm>
          <a:prstGeom prst="rect">
            <a:avLst/>
          </a:prstGeom>
          <a:noFill/>
          <a:ln w="9525">
            <a:noFill/>
          </a:ln>
        </p:spPr>
      </p:pic>
      <p:sp>
        <p:nvSpPr>
          <p:cNvPr id="60422" name="灯片编号占位符 1"/>
          <p:cNvSpPr>
            <a:spLocks noGrp="1"/>
          </p:cNvSpPr>
          <p:nvPr>
            <p:ph type="sldNum" sz="quarter" idx="11"/>
          </p:nvPr>
        </p:nvSpPr>
        <p:spPr>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400" dirty="0"/>
              <a:pPr lvl="0" indent="0" algn="r"/>
              <a:t>61</a:t>
            </a:fld>
            <a:endParaRPr lang="zh-CN" alt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51587"/>
                                        </p:tgtEl>
                                        <p:attrNameLst>
                                          <p:attrName>style.visibility</p:attrName>
                                        </p:attrNameLst>
                                      </p:cBhvr>
                                      <p:to>
                                        <p:strVal val="visible"/>
                                      </p:to>
                                    </p:set>
                                    <p:anim calcmode="lin" valueType="num">
                                      <p:cBhvr additive="base">
                                        <p:cTn id="7" dur="500" fill="hold"/>
                                        <p:tgtEl>
                                          <p:spTgt spid="451587"/>
                                        </p:tgtEl>
                                        <p:attrNameLst>
                                          <p:attrName>ppt_x</p:attrName>
                                        </p:attrNameLst>
                                      </p:cBhvr>
                                      <p:tavLst>
                                        <p:tav tm="0">
                                          <p:val>
                                            <p:strVal val="0-#ppt_w/2"/>
                                          </p:val>
                                        </p:tav>
                                        <p:tav tm="100000">
                                          <p:val>
                                            <p:strVal val="#ppt_x"/>
                                          </p:val>
                                        </p:tav>
                                      </p:tavLst>
                                    </p:anim>
                                    <p:anim calcmode="lin" valueType="num">
                                      <p:cBhvr additive="base">
                                        <p:cTn id="8" dur="500" fill="hold"/>
                                        <p:tgtEl>
                                          <p:spTgt spid="45158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451590"/>
                                        </p:tgtEl>
                                        <p:attrNameLst>
                                          <p:attrName>style.visibility</p:attrName>
                                        </p:attrNameLst>
                                      </p:cBhvr>
                                      <p:to>
                                        <p:strVal val="visible"/>
                                      </p:to>
                                    </p:set>
                                    <p:anim calcmode="lin" valueType="num">
                                      <p:cBhvr additive="base">
                                        <p:cTn id="13" dur="500" fill="hold"/>
                                        <p:tgtEl>
                                          <p:spTgt spid="451590"/>
                                        </p:tgtEl>
                                        <p:attrNameLst>
                                          <p:attrName>ppt_x</p:attrName>
                                        </p:attrNameLst>
                                      </p:cBhvr>
                                      <p:tavLst>
                                        <p:tav tm="0">
                                          <p:val>
                                            <p:strVal val="0-#ppt_w/2"/>
                                          </p:val>
                                        </p:tav>
                                        <p:tav tm="100000">
                                          <p:val>
                                            <p:strVal val="#ppt_x"/>
                                          </p:val>
                                        </p:tav>
                                      </p:tavLst>
                                    </p:anim>
                                    <p:anim calcmode="lin" valueType="num">
                                      <p:cBhvr additive="base">
                                        <p:cTn id="14" dur="500" fill="hold"/>
                                        <p:tgtEl>
                                          <p:spTgt spid="451590"/>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51588"/>
                                        </p:tgtEl>
                                        <p:attrNameLst>
                                          <p:attrName>style.visibility</p:attrName>
                                        </p:attrNameLst>
                                      </p:cBhvr>
                                      <p:to>
                                        <p:strVal val="visible"/>
                                      </p:to>
                                    </p:set>
                                    <p:anim calcmode="lin" valueType="num">
                                      <p:cBhvr additive="base">
                                        <p:cTn id="19" dur="500" fill="hold"/>
                                        <p:tgtEl>
                                          <p:spTgt spid="451588"/>
                                        </p:tgtEl>
                                        <p:attrNameLst>
                                          <p:attrName>ppt_x</p:attrName>
                                        </p:attrNameLst>
                                      </p:cBhvr>
                                      <p:tavLst>
                                        <p:tav tm="0">
                                          <p:val>
                                            <p:strVal val="0-#ppt_w/2"/>
                                          </p:val>
                                        </p:tav>
                                        <p:tav tm="100000">
                                          <p:val>
                                            <p:strVal val="#ppt_x"/>
                                          </p:val>
                                        </p:tav>
                                      </p:tavLst>
                                    </p:anim>
                                    <p:anim calcmode="lin" valueType="num">
                                      <p:cBhvr additive="base">
                                        <p:cTn id="20" dur="500" fill="hold"/>
                                        <p:tgtEl>
                                          <p:spTgt spid="451588"/>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51589"/>
                                        </p:tgtEl>
                                        <p:attrNameLst>
                                          <p:attrName>style.visibility</p:attrName>
                                        </p:attrNameLst>
                                      </p:cBhvr>
                                      <p:to>
                                        <p:strVal val="visible"/>
                                      </p:to>
                                    </p:set>
                                    <p:anim calcmode="lin" valueType="num">
                                      <p:cBhvr additive="base">
                                        <p:cTn id="25" dur="500" fill="hold"/>
                                        <p:tgtEl>
                                          <p:spTgt spid="451589"/>
                                        </p:tgtEl>
                                        <p:attrNameLst>
                                          <p:attrName>ppt_x</p:attrName>
                                        </p:attrNameLst>
                                      </p:cBhvr>
                                      <p:tavLst>
                                        <p:tav tm="0">
                                          <p:val>
                                            <p:strVal val="0-#ppt_w/2"/>
                                          </p:val>
                                        </p:tav>
                                        <p:tav tm="100000">
                                          <p:val>
                                            <p:strVal val="#ppt_x"/>
                                          </p:val>
                                        </p:tav>
                                      </p:tavLst>
                                    </p:anim>
                                    <p:anim calcmode="lin" valueType="num">
                                      <p:cBhvr additive="base">
                                        <p:cTn id="26" dur="500" fill="hold"/>
                                        <p:tgtEl>
                                          <p:spTgt spid="45158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1587" grpId="0"/>
      <p:bldP spid="451588" grpId="0"/>
      <p:bldP spid="451589"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986" name="文本框 553985"/>
          <p:cNvSpPr txBox="1"/>
          <p:nvPr/>
        </p:nvSpPr>
        <p:spPr>
          <a:xfrm>
            <a:off x="533400" y="2286000"/>
            <a:ext cx="3001963" cy="457200"/>
          </a:xfrm>
          <a:prstGeom prst="rect">
            <a:avLst/>
          </a:prstGeom>
          <a:noFill/>
          <a:ln w="9525">
            <a:noFill/>
          </a:ln>
        </p:spPr>
        <p:txBody>
          <a:bodyPr anchor="t">
            <a:spAutoFit/>
          </a:bodyPr>
          <a:lstStyle/>
          <a:p>
            <a:pPr>
              <a:spcBef>
                <a:spcPct val="50000"/>
              </a:spcBef>
            </a:pPr>
            <a:r>
              <a:rPr lang="zh-CN" altLang="en-US" sz="2400" b="1" dirty="0">
                <a:solidFill>
                  <a:srgbClr val="A30120"/>
                </a:solidFill>
                <a:latin typeface="Arial" panose="020B0604020202020204" pitchFamily="34" charset="0"/>
              </a:rPr>
              <a:t>（</a:t>
            </a:r>
            <a:r>
              <a:rPr lang="en-US" altLang="zh-CN" sz="2400" b="1" dirty="0">
                <a:solidFill>
                  <a:srgbClr val="A30120"/>
                </a:solidFill>
                <a:latin typeface="Arial" panose="020B0604020202020204" pitchFamily="34" charset="0"/>
              </a:rPr>
              <a:t>4</a:t>
            </a:r>
            <a:r>
              <a:rPr lang="zh-CN" altLang="en-US" sz="2400" b="1" dirty="0">
                <a:solidFill>
                  <a:srgbClr val="A30120"/>
                </a:solidFill>
                <a:latin typeface="Arial" panose="020B0604020202020204" pitchFamily="34" charset="0"/>
              </a:rPr>
              <a:t>）补碘的方法：</a:t>
            </a:r>
          </a:p>
        </p:txBody>
      </p:sp>
      <p:sp>
        <p:nvSpPr>
          <p:cNvPr id="553987" name="矩形 553986"/>
          <p:cNvSpPr/>
          <p:nvPr/>
        </p:nvSpPr>
        <p:spPr>
          <a:xfrm>
            <a:off x="533400" y="2808287"/>
            <a:ext cx="8077200" cy="1552575"/>
          </a:xfrm>
          <a:prstGeom prst="rect">
            <a:avLst/>
          </a:prstGeom>
          <a:noFill/>
          <a:ln w="9525">
            <a:noFill/>
          </a:ln>
        </p:spPr>
        <p:txBody>
          <a:bodyPr anchor="t">
            <a:spAutoFit/>
          </a:bodyPr>
          <a:lstStyle/>
          <a:p>
            <a:pPr>
              <a:spcBef>
                <a:spcPct val="50000"/>
              </a:spcBef>
            </a:pPr>
            <a:r>
              <a:rPr lang="zh-CN" altLang="en-US" sz="2400" b="1" dirty="0">
                <a:latin typeface="Arial" panose="020B0604020202020204" pitchFamily="34" charset="0"/>
              </a:rPr>
              <a:t>       我国在食盐中加碘，以前用</a:t>
            </a:r>
            <a:r>
              <a:rPr lang="en-US" altLang="zh-CN" sz="2400" b="1" dirty="0">
                <a:latin typeface="Arial" panose="020B0604020202020204" pitchFamily="34" charset="0"/>
              </a:rPr>
              <a:t>KI,</a:t>
            </a:r>
            <a:r>
              <a:rPr lang="zh-CN" altLang="en-US" sz="2400" b="1" dirty="0">
                <a:latin typeface="Arial" panose="020B0604020202020204" pitchFamily="34" charset="0"/>
              </a:rPr>
              <a:t>因为</a:t>
            </a:r>
            <a:r>
              <a:rPr lang="en-US" altLang="zh-CN" sz="2400" b="1" dirty="0">
                <a:latin typeface="Arial" panose="020B0604020202020204" pitchFamily="34" charset="0"/>
              </a:rPr>
              <a:t>KI</a:t>
            </a:r>
            <a:r>
              <a:rPr lang="zh-CN" altLang="en-US" sz="2400" b="1" dirty="0">
                <a:latin typeface="Arial" panose="020B0604020202020204" pitchFamily="34" charset="0"/>
              </a:rPr>
              <a:t>易被氧化成</a:t>
            </a:r>
            <a:r>
              <a:rPr lang="en-US" altLang="zh-CN" sz="2400" b="1" dirty="0">
                <a:latin typeface="Arial" panose="020B0604020202020204" pitchFamily="34" charset="0"/>
              </a:rPr>
              <a:t>I</a:t>
            </a:r>
            <a:r>
              <a:rPr lang="en-US" altLang="zh-CN" sz="2400" b="1" baseline="-25000" dirty="0">
                <a:latin typeface="Arial" panose="020B0604020202020204" pitchFamily="34" charset="0"/>
              </a:rPr>
              <a:t>2</a:t>
            </a:r>
            <a:r>
              <a:rPr lang="zh-CN" altLang="en-US" sz="2400" b="1" dirty="0">
                <a:latin typeface="Arial" panose="020B0604020202020204" pitchFamily="34" charset="0"/>
              </a:rPr>
              <a:t>挥发，因此降低效能。而碘酸钾</a:t>
            </a:r>
            <a:r>
              <a:rPr lang="en-US" altLang="zh-CN" sz="2400" b="1" dirty="0">
                <a:latin typeface="Arial" panose="020B0604020202020204" pitchFamily="34" charset="0"/>
              </a:rPr>
              <a:t>KIO</a:t>
            </a:r>
            <a:r>
              <a:rPr lang="en-US" altLang="zh-CN" sz="2400" b="1" baseline="-25000" dirty="0">
                <a:latin typeface="Arial" panose="020B0604020202020204" pitchFamily="34" charset="0"/>
              </a:rPr>
              <a:t>3</a:t>
            </a:r>
            <a:r>
              <a:rPr lang="zh-CN" altLang="en-US" sz="2400" b="1" dirty="0">
                <a:latin typeface="Arial" panose="020B0604020202020204" pitchFamily="34" charset="0"/>
              </a:rPr>
              <a:t>的化学性质稳定，不易挥发、不吸水、不流失、易保存。所以现在的加碘食盐，用的是</a:t>
            </a:r>
            <a:r>
              <a:rPr lang="zh-CN" altLang="en-US" sz="2400" b="1" dirty="0">
                <a:solidFill>
                  <a:srgbClr val="FF0000"/>
                </a:solidFill>
                <a:latin typeface="Arial" panose="020B0604020202020204" pitchFamily="34" charset="0"/>
              </a:rPr>
              <a:t>碘酸钾</a:t>
            </a:r>
            <a:r>
              <a:rPr lang="zh-CN" altLang="en-US" sz="2400" b="1" dirty="0">
                <a:latin typeface="Arial" panose="020B0604020202020204" pitchFamily="34" charset="0"/>
              </a:rPr>
              <a:t>。（遇酸分解）</a:t>
            </a:r>
          </a:p>
        </p:txBody>
      </p:sp>
      <p:sp>
        <p:nvSpPr>
          <p:cNvPr id="61443" name="文本框 553987"/>
          <p:cNvSpPr txBox="1"/>
          <p:nvPr/>
        </p:nvSpPr>
        <p:spPr>
          <a:xfrm>
            <a:off x="2319338" y="3217863"/>
            <a:ext cx="184150" cy="366712"/>
          </a:xfrm>
          <a:prstGeom prst="rect">
            <a:avLst/>
          </a:prstGeom>
          <a:noFill/>
          <a:ln w="9525">
            <a:noFill/>
          </a:ln>
        </p:spPr>
        <p:txBody>
          <a:bodyPr wrap="none" anchor="t">
            <a:spAutoFit/>
          </a:bodyPr>
          <a:lstStyle/>
          <a:p>
            <a:pPr>
              <a:buClr>
                <a:schemeClr val="bg1"/>
              </a:buClr>
            </a:pPr>
            <a:endParaRPr lang="zh-CN" altLang="en-US" dirty="0">
              <a:latin typeface="Arial" panose="020B0604020202020204" pitchFamily="34" charset="0"/>
            </a:endParaRPr>
          </a:p>
        </p:txBody>
      </p:sp>
      <p:sp>
        <p:nvSpPr>
          <p:cNvPr id="553989" name="文本框 553988"/>
          <p:cNvSpPr txBox="1"/>
          <p:nvPr/>
        </p:nvSpPr>
        <p:spPr>
          <a:xfrm>
            <a:off x="304800" y="457200"/>
            <a:ext cx="3352800" cy="457200"/>
          </a:xfrm>
          <a:prstGeom prst="rect">
            <a:avLst/>
          </a:prstGeom>
          <a:noFill/>
          <a:ln w="9525">
            <a:noFill/>
          </a:ln>
        </p:spPr>
        <p:txBody>
          <a:bodyPr anchor="t">
            <a:spAutoFit/>
          </a:bodyPr>
          <a:lstStyle/>
          <a:p>
            <a:pPr>
              <a:spcBef>
                <a:spcPct val="50000"/>
              </a:spcBef>
            </a:pPr>
            <a:r>
              <a:rPr lang="zh-CN" altLang="en-US" sz="2400" b="1" dirty="0">
                <a:solidFill>
                  <a:srgbClr val="A30120"/>
                </a:solidFill>
                <a:latin typeface="Arial" panose="020B0604020202020204" pitchFamily="34" charset="0"/>
              </a:rPr>
              <a:t>（</a:t>
            </a:r>
            <a:r>
              <a:rPr lang="en-US" altLang="zh-CN" sz="2400" b="1">
                <a:solidFill>
                  <a:srgbClr val="A30120"/>
                </a:solidFill>
                <a:latin typeface="Arial" panose="020B0604020202020204" pitchFamily="34" charset="0"/>
              </a:rPr>
              <a:t>3</a:t>
            </a:r>
            <a:r>
              <a:rPr lang="zh-CN" altLang="en-US" sz="2400" b="1" dirty="0">
                <a:solidFill>
                  <a:srgbClr val="A30120"/>
                </a:solidFill>
                <a:latin typeface="Arial" panose="020B0604020202020204" pitchFamily="34" charset="0"/>
              </a:rPr>
              <a:t>）碘缺乏的危害：</a:t>
            </a:r>
          </a:p>
        </p:txBody>
      </p:sp>
      <p:sp>
        <p:nvSpPr>
          <p:cNvPr id="61445" name="文本框 553989"/>
          <p:cNvSpPr txBox="1"/>
          <p:nvPr/>
        </p:nvSpPr>
        <p:spPr>
          <a:xfrm>
            <a:off x="1143000" y="2057400"/>
            <a:ext cx="4724400" cy="366713"/>
          </a:xfrm>
          <a:prstGeom prst="rect">
            <a:avLst/>
          </a:prstGeom>
          <a:noFill/>
          <a:ln w="9525">
            <a:noFill/>
          </a:ln>
        </p:spPr>
        <p:txBody>
          <a:bodyPr anchor="t">
            <a:spAutoFit/>
          </a:bodyPr>
          <a:lstStyle/>
          <a:p>
            <a:endParaRPr lang="zh-CN" altLang="en-US" dirty="0">
              <a:latin typeface="Arial" panose="020B0604020202020204" pitchFamily="34" charset="0"/>
            </a:endParaRPr>
          </a:p>
        </p:txBody>
      </p:sp>
      <p:sp>
        <p:nvSpPr>
          <p:cNvPr id="553991" name="文本框 553990"/>
          <p:cNvSpPr txBox="1"/>
          <p:nvPr/>
        </p:nvSpPr>
        <p:spPr>
          <a:xfrm>
            <a:off x="685800" y="990600"/>
            <a:ext cx="7924800" cy="1187450"/>
          </a:xfrm>
          <a:prstGeom prst="rect">
            <a:avLst/>
          </a:prstGeom>
          <a:noFill/>
          <a:ln w="9525">
            <a:noFill/>
          </a:ln>
        </p:spPr>
        <p:txBody>
          <a:bodyPr anchor="t">
            <a:spAutoFit/>
          </a:bodyPr>
          <a:lstStyle/>
          <a:p>
            <a:r>
              <a:rPr lang="zh-CN" altLang="en-US" dirty="0">
                <a:latin typeface="Arial" panose="020B0604020202020204" pitchFamily="34" charset="0"/>
              </a:rPr>
              <a:t>    </a:t>
            </a:r>
            <a:r>
              <a:rPr lang="zh-CN" altLang="en-US" sz="2400" b="1" dirty="0">
                <a:latin typeface="Arial" panose="020B0604020202020204" pitchFamily="34" charset="0"/>
              </a:rPr>
              <a:t>甲状腺肿大，俗称“大脖子病”。严重缺碘的妇女产的小孩会发生呆小病（生长迟缓，发育不全，智力低下，聋哑痴呆），“一代甲，二代傻，三代四代断根芽”。</a:t>
            </a:r>
          </a:p>
        </p:txBody>
      </p:sp>
      <p:sp>
        <p:nvSpPr>
          <p:cNvPr id="61447" name="灯片编号占位符 1"/>
          <p:cNvSpPr>
            <a:spLocks noGrp="1"/>
          </p:cNvSpPr>
          <p:nvPr>
            <p:ph type="sldNum" sz="quarter" idx="11"/>
          </p:nvPr>
        </p:nvSpPr>
        <p:spPr>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400" dirty="0"/>
              <a:pPr lvl="0" indent="0" algn="r"/>
              <a:t>62</a:t>
            </a:fld>
            <a:endParaRPr lang="zh-CN" altLang="en-US" sz="1400" dirty="0"/>
          </a:p>
        </p:txBody>
      </p:sp>
      <p:pic>
        <p:nvPicPr>
          <p:cNvPr id="78850" name="Picture 2" descr="http://photocdn.sohu.com/20150305/mp4718363_1425522086169_9.jpeg"/>
          <p:cNvPicPr>
            <a:picLocks noChangeAspect="1" noChangeArrowheads="1"/>
          </p:cNvPicPr>
          <p:nvPr/>
        </p:nvPicPr>
        <p:blipFill>
          <a:blip r:embed="rId2" cstate="print"/>
          <a:srcRect l="4472" t="9677"/>
          <a:stretch>
            <a:fillRect/>
          </a:stretch>
        </p:blipFill>
        <p:spPr bwMode="auto">
          <a:xfrm>
            <a:off x="5148064" y="4090279"/>
            <a:ext cx="3902968" cy="2767721"/>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553989"/>
                                        </p:tgtEl>
                                        <p:attrNameLst>
                                          <p:attrName>style.visibility</p:attrName>
                                        </p:attrNameLst>
                                      </p:cBhvr>
                                      <p:to>
                                        <p:strVal val="visible"/>
                                      </p:to>
                                    </p:set>
                                    <p:anim calcmode="lin" valueType="num">
                                      <p:cBhvr>
                                        <p:cTn id="7" dur="1" fill="hold"/>
                                        <p:tgtEl>
                                          <p:spTgt spid="553989"/>
                                        </p:tgtEl>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553991"/>
                                        </p:tgtEl>
                                        <p:attrNameLst>
                                          <p:attrName>style.visibility</p:attrName>
                                        </p:attrNameLst>
                                      </p:cBhvr>
                                      <p:to>
                                        <p:strVal val="visible"/>
                                      </p:to>
                                    </p:set>
                                    <p:anim calcmode="lin" valueType="num">
                                      <p:cBhvr>
                                        <p:cTn id="12" dur="1" fill="hold"/>
                                        <p:tgtEl>
                                          <p:spTgt spid="553991"/>
                                        </p:tgtEl>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553986"/>
                                        </p:tgtEl>
                                        <p:attrNameLst>
                                          <p:attrName>style.visibility</p:attrName>
                                        </p:attrNameLst>
                                      </p:cBhvr>
                                      <p:to>
                                        <p:strVal val="visible"/>
                                      </p:to>
                                    </p:set>
                                    <p:anim calcmode="lin" valueType="num">
                                      <p:cBhvr>
                                        <p:cTn id="17" dur="1" fill="hold"/>
                                        <p:tgtEl>
                                          <p:spTgt spid="553986"/>
                                        </p:tgtEl>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553987"/>
                                        </p:tgtEl>
                                        <p:attrNameLst>
                                          <p:attrName>style.visibility</p:attrName>
                                        </p:attrNameLst>
                                      </p:cBhvr>
                                      <p:to>
                                        <p:strVal val="visible"/>
                                      </p:to>
                                    </p:set>
                                    <p:anim calcmode="lin" valueType="num">
                                      <p:cBhvr>
                                        <p:cTn id="22" dur="1" fill="hold"/>
                                        <p:tgtEl>
                                          <p:spTgt spid="553987"/>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986" grpId="0"/>
      <p:bldP spid="553987" grpId="0"/>
      <p:bldP spid="553989" grpId="0"/>
      <p:bldP spid="553991"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5010" name="内容占位符 555009"/>
          <p:cNvSpPr>
            <a:spLocks noGrp="1" noRot="1"/>
          </p:cNvSpPr>
          <p:nvPr>
            <p:ph idx="1"/>
          </p:nvPr>
        </p:nvSpPr>
        <p:spPr>
          <a:xfrm>
            <a:off x="533400" y="332656"/>
            <a:ext cx="8229600" cy="4525963"/>
          </a:xfrm>
          <a:ln/>
        </p:spPr>
        <p:txBody>
          <a:bodyPr anchor="t"/>
          <a:lstStyle/>
          <a:p>
            <a:pPr>
              <a:lnSpc>
                <a:spcPct val="90000"/>
              </a:lnSpc>
              <a:buNone/>
            </a:pPr>
            <a:r>
              <a:rPr lang="en-US" altLang="zh-CN" sz="3600" b="1" dirty="0">
                <a:solidFill>
                  <a:srgbClr val="CC0000"/>
                </a:solidFill>
              </a:rPr>
              <a:t>4 </a:t>
            </a:r>
            <a:r>
              <a:rPr lang="en-US" altLang="zh-CN" sz="2800" b="1" dirty="0">
                <a:solidFill>
                  <a:srgbClr val="800000"/>
                </a:solidFill>
              </a:rPr>
              <a:t>.</a:t>
            </a:r>
            <a:r>
              <a:rPr lang="zh-CN" altLang="en-US" sz="3600" b="1" dirty="0">
                <a:solidFill>
                  <a:srgbClr val="CC0000"/>
                </a:solidFill>
              </a:rPr>
              <a:t>锌</a:t>
            </a:r>
          </a:p>
          <a:p>
            <a:pPr>
              <a:lnSpc>
                <a:spcPct val="150000"/>
              </a:lnSpc>
            </a:pPr>
            <a:r>
              <a:rPr lang="zh-CN" altLang="en-US" sz="2400" dirty="0"/>
              <a:t>  </a:t>
            </a:r>
            <a:r>
              <a:rPr lang="zh-CN" altLang="en-US" sz="2400" b="1" dirty="0"/>
              <a:t>与人体中广泛存在的锌酶活性有关。</a:t>
            </a:r>
          </a:p>
          <a:p>
            <a:pPr>
              <a:lnSpc>
                <a:spcPct val="150000"/>
              </a:lnSpc>
            </a:pPr>
            <a:r>
              <a:rPr lang="zh-CN" altLang="en-US" sz="2400" b="1" dirty="0" smtClean="0"/>
              <a:t>  </a:t>
            </a:r>
            <a:r>
              <a:rPr lang="zh-CN" altLang="en-US" sz="2400" b="1" dirty="0"/>
              <a:t>缺乏危害：婴儿生长发育不良，严重时性腺发育不全，孕妇缺锌导致胎儿中枢神经畸形，婴儿脑发育不全、智力低下。出生后补锌也无无济于事。老年人缺锌免疫功能不良，抵抗力低下，食欲不振，但补锌后可以改善。</a:t>
            </a:r>
          </a:p>
          <a:p>
            <a:pPr>
              <a:lnSpc>
                <a:spcPct val="150000"/>
              </a:lnSpc>
            </a:pPr>
            <a:r>
              <a:rPr lang="zh-CN" altLang="en-US" sz="2400" b="1" dirty="0" smtClean="0"/>
              <a:t>    </a:t>
            </a:r>
            <a:r>
              <a:rPr lang="zh-CN" altLang="en-US" sz="2400" b="1" dirty="0"/>
              <a:t>长期食用含锌量高的食物，可以增强人的耐力，而且血压普遍有所降低，心搏有力。</a:t>
            </a:r>
          </a:p>
          <a:p>
            <a:pPr>
              <a:lnSpc>
                <a:spcPct val="150000"/>
              </a:lnSpc>
            </a:pPr>
            <a:r>
              <a:rPr lang="zh-CN" altLang="en-US" sz="2400" b="1" dirty="0" smtClean="0"/>
              <a:t>食物</a:t>
            </a:r>
            <a:r>
              <a:rPr lang="zh-CN" altLang="en-US" sz="2400" b="1" dirty="0"/>
              <a:t>来源： 动物性食物</a:t>
            </a:r>
            <a:r>
              <a:rPr lang="en-US" altLang="zh-CN" sz="2400" b="1" dirty="0"/>
              <a:t>&gt;</a:t>
            </a:r>
            <a:r>
              <a:rPr lang="zh-CN" altLang="en-US" sz="2400" b="1" dirty="0"/>
              <a:t>豆类</a:t>
            </a:r>
            <a:r>
              <a:rPr lang="en-US" altLang="zh-CN" sz="2400" b="1" dirty="0" smtClean="0"/>
              <a:t>&gt;</a:t>
            </a:r>
          </a:p>
          <a:p>
            <a:pPr>
              <a:lnSpc>
                <a:spcPct val="150000"/>
              </a:lnSpc>
              <a:buNone/>
            </a:pPr>
            <a:r>
              <a:rPr lang="en-US" altLang="zh-CN" sz="2400" b="1" dirty="0" smtClean="0"/>
              <a:t>                        </a:t>
            </a:r>
            <a:r>
              <a:rPr lang="zh-CN" altLang="en-US" sz="2400" b="1" dirty="0" smtClean="0"/>
              <a:t>谷类</a:t>
            </a:r>
            <a:r>
              <a:rPr lang="en-US" altLang="zh-CN" sz="2400" b="1" dirty="0"/>
              <a:t>&gt;</a:t>
            </a:r>
            <a:r>
              <a:rPr lang="zh-CN" altLang="en-US" sz="2400" b="1" dirty="0"/>
              <a:t>水果</a:t>
            </a:r>
            <a:r>
              <a:rPr lang="en-US" altLang="zh-CN" sz="2400" b="1" dirty="0"/>
              <a:t>&gt;</a:t>
            </a:r>
            <a:r>
              <a:rPr lang="zh-CN" altLang="en-US" sz="2400" b="1" dirty="0"/>
              <a:t>蔬菜</a:t>
            </a:r>
          </a:p>
        </p:txBody>
      </p:sp>
      <p:sp>
        <p:nvSpPr>
          <p:cNvPr id="62466" name="灯片编号占位符 1"/>
          <p:cNvSpPr>
            <a:spLocks noGrp="1"/>
          </p:cNvSpPr>
          <p:nvPr>
            <p:ph type="sldNum" sz="quarter" idx="11"/>
          </p:nvPr>
        </p:nvSpPr>
        <p:spPr>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400" dirty="0"/>
              <a:pPr lvl="0" indent="0" algn="r"/>
              <a:t>63</a:t>
            </a:fld>
            <a:endParaRPr lang="zh-CN" altLang="en-US" sz="1400" dirty="0"/>
          </a:p>
        </p:txBody>
      </p:sp>
      <p:pic>
        <p:nvPicPr>
          <p:cNvPr id="77826" name="Picture 2" descr="http://p3.pstatp.com/large/14190000a28a3c174b56"/>
          <p:cNvPicPr>
            <a:picLocks noChangeAspect="1" noChangeArrowheads="1"/>
          </p:cNvPicPr>
          <p:nvPr/>
        </p:nvPicPr>
        <p:blipFill>
          <a:blip r:embed="rId2" cstate="print"/>
          <a:srcRect r="11801" b="7601"/>
          <a:stretch>
            <a:fillRect/>
          </a:stretch>
        </p:blipFill>
        <p:spPr bwMode="auto">
          <a:xfrm>
            <a:off x="5666656" y="4425158"/>
            <a:ext cx="3096344" cy="2432842"/>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555010">
                                            <p:txEl>
                                              <p:pRg st="1" end="1"/>
                                            </p:txEl>
                                          </p:spTgt>
                                        </p:tgtEl>
                                        <p:attrNameLst>
                                          <p:attrName>style.visibility</p:attrName>
                                        </p:attrNameLst>
                                      </p:cBhvr>
                                      <p:to>
                                        <p:strVal val="visible"/>
                                      </p:to>
                                    </p:set>
                                    <p:anim calcmode="lin" valueType="num">
                                      <p:cBhvr>
                                        <p:cTn id="7" dur="1" fill="hold"/>
                                        <p:tgtEl>
                                          <p:spTgt spid="555010">
                                            <p:txEl>
                                              <p:pRg st="1" end="1"/>
                                            </p:txEl>
                                          </p:spTgt>
                                        </p:tgtEl>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555010">
                                            <p:txEl>
                                              <p:pRg st="2" end="2"/>
                                            </p:txEl>
                                          </p:spTgt>
                                        </p:tgtEl>
                                        <p:attrNameLst>
                                          <p:attrName>style.visibility</p:attrName>
                                        </p:attrNameLst>
                                      </p:cBhvr>
                                      <p:to>
                                        <p:strVal val="visible"/>
                                      </p:to>
                                    </p:set>
                                    <p:anim calcmode="lin" valueType="num">
                                      <p:cBhvr>
                                        <p:cTn id="12" dur="1" fill="hold"/>
                                        <p:tgtEl>
                                          <p:spTgt spid="555010">
                                            <p:txEl>
                                              <p:pRg st="2" end="2"/>
                                            </p:txEl>
                                          </p:spTgt>
                                        </p:tgtEl>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nodeType="clickEffect">
                                  <p:stCondLst>
                                    <p:cond delay="0"/>
                                  </p:stCondLst>
                                  <p:childTnLst>
                                    <p:set>
                                      <p:cBhvr>
                                        <p:cTn id="16" dur="1" fill="hold">
                                          <p:stCondLst>
                                            <p:cond delay="0"/>
                                          </p:stCondLst>
                                        </p:cTn>
                                        <p:tgtEl>
                                          <p:spTgt spid="555010">
                                            <p:txEl>
                                              <p:pRg st="3" end="3"/>
                                            </p:txEl>
                                          </p:spTgt>
                                        </p:tgtEl>
                                        <p:attrNameLst>
                                          <p:attrName>style.visibility</p:attrName>
                                        </p:attrNameLst>
                                      </p:cBhvr>
                                      <p:to>
                                        <p:strVal val="visible"/>
                                      </p:to>
                                    </p:set>
                                    <p:anim calcmode="lin" valueType="num">
                                      <p:cBhvr>
                                        <p:cTn id="17" dur="1" fill="hold"/>
                                        <p:tgtEl>
                                          <p:spTgt spid="555010">
                                            <p:txEl>
                                              <p:pRg st="3" end="3"/>
                                            </p:txEl>
                                          </p:spTgt>
                                        </p:tgtEl>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nodeType="clickEffect">
                                  <p:stCondLst>
                                    <p:cond delay="0"/>
                                  </p:stCondLst>
                                  <p:childTnLst>
                                    <p:set>
                                      <p:cBhvr>
                                        <p:cTn id="21" dur="1" fill="hold">
                                          <p:stCondLst>
                                            <p:cond delay="0"/>
                                          </p:stCondLst>
                                        </p:cTn>
                                        <p:tgtEl>
                                          <p:spTgt spid="555010">
                                            <p:txEl>
                                              <p:pRg st="4" end="4"/>
                                            </p:txEl>
                                          </p:spTgt>
                                        </p:tgtEl>
                                        <p:attrNameLst>
                                          <p:attrName>style.visibility</p:attrName>
                                        </p:attrNameLst>
                                      </p:cBhvr>
                                      <p:to>
                                        <p:strVal val="visible"/>
                                      </p:to>
                                    </p:set>
                                    <p:anim calcmode="lin" valueType="num">
                                      <p:cBhvr>
                                        <p:cTn id="22" dur="1" fill="hold"/>
                                        <p:tgtEl>
                                          <p:spTgt spid="555010">
                                            <p:txEl>
                                              <p:pRg st="4" end="4"/>
                                            </p:txEl>
                                          </p:spTgt>
                                        </p:tgtEl>
                                      </p:cBhvr>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nodeType="clickEffect">
                                  <p:stCondLst>
                                    <p:cond delay="0"/>
                                  </p:stCondLst>
                                  <p:childTnLst>
                                    <p:set>
                                      <p:cBhvr>
                                        <p:cTn id="26" dur="1" fill="hold">
                                          <p:stCondLst>
                                            <p:cond delay="0"/>
                                          </p:stCondLst>
                                        </p:cTn>
                                        <p:tgtEl>
                                          <p:spTgt spid="555010">
                                            <p:txEl>
                                              <p:pRg st="5" end="5"/>
                                            </p:txEl>
                                          </p:spTgt>
                                        </p:tgtEl>
                                        <p:attrNameLst>
                                          <p:attrName>style.visibility</p:attrName>
                                        </p:attrNameLst>
                                      </p:cBhvr>
                                      <p:to>
                                        <p:strVal val="visible"/>
                                      </p:to>
                                    </p:set>
                                    <p:anim calcmode="lin" valueType="num">
                                      <p:cBhvr>
                                        <p:cTn id="27" dur="1" fill="hold"/>
                                        <p:tgtEl>
                                          <p:spTgt spid="555010">
                                            <p:txEl>
                                              <p:pRg st="5" end="5"/>
                                            </p:txEl>
                                          </p:spTgt>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标题 556033"/>
          <p:cNvSpPr>
            <a:spLocks noGrp="1" noRot="1"/>
          </p:cNvSpPr>
          <p:nvPr>
            <p:ph type="title"/>
          </p:nvPr>
        </p:nvSpPr>
        <p:spPr>
          <a:xfrm>
            <a:off x="457200" y="149543"/>
            <a:ext cx="8229600" cy="1143000"/>
          </a:xfrm>
          <a:ln/>
        </p:spPr>
        <p:txBody>
          <a:bodyPr anchor="ctr"/>
          <a:lstStyle/>
          <a:p>
            <a:pPr algn="l"/>
            <a:r>
              <a:rPr lang="en-US" altLang="zh-CN" sz="3600" b="1">
                <a:solidFill>
                  <a:srgbClr val="CC0000"/>
                </a:solidFill>
              </a:rPr>
              <a:t>5 </a:t>
            </a:r>
            <a:r>
              <a:rPr lang="en-US" altLang="zh-CN" sz="4000" b="1">
                <a:solidFill>
                  <a:srgbClr val="800000"/>
                </a:solidFill>
              </a:rPr>
              <a:t>.</a:t>
            </a:r>
            <a:r>
              <a:rPr lang="zh-CN" altLang="en-US" sz="3600" b="1" dirty="0">
                <a:solidFill>
                  <a:srgbClr val="CC0000"/>
                </a:solidFill>
              </a:rPr>
              <a:t>硒</a:t>
            </a:r>
          </a:p>
        </p:txBody>
      </p:sp>
      <p:sp>
        <p:nvSpPr>
          <p:cNvPr id="556035" name="内容占位符 556034"/>
          <p:cNvSpPr>
            <a:spLocks noGrp="1" noRot="1"/>
          </p:cNvSpPr>
          <p:nvPr>
            <p:ph idx="1"/>
          </p:nvPr>
        </p:nvSpPr>
        <p:spPr>
          <a:xfrm>
            <a:off x="721360" y="1165860"/>
            <a:ext cx="8229600" cy="4525963"/>
          </a:xfrm>
          <a:ln/>
        </p:spPr>
        <p:txBody>
          <a:bodyPr anchor="t"/>
          <a:lstStyle/>
          <a:p>
            <a:pPr>
              <a:lnSpc>
                <a:spcPct val="90000"/>
              </a:lnSpc>
            </a:pPr>
            <a:r>
              <a:rPr lang="zh-CN" altLang="en-US" sz="2400" b="1" dirty="0">
                <a:solidFill>
                  <a:srgbClr val="CC0000"/>
                </a:solidFill>
              </a:rPr>
              <a:t>硒的生化功能：</a:t>
            </a:r>
          </a:p>
          <a:p>
            <a:pPr>
              <a:lnSpc>
                <a:spcPct val="90000"/>
              </a:lnSpc>
            </a:pPr>
            <a:r>
              <a:rPr lang="zh-CN" altLang="en-US" sz="2400" b="1" dirty="0"/>
              <a:t>（</a:t>
            </a:r>
            <a:r>
              <a:rPr lang="en-US" altLang="zh-CN" sz="2400" b="1" dirty="0"/>
              <a:t>1</a:t>
            </a:r>
            <a:r>
              <a:rPr lang="zh-CN" altLang="en-US" sz="2400" b="1" dirty="0"/>
              <a:t>）清除体内过氧化物，抗衰老，抗癌。</a:t>
            </a:r>
          </a:p>
          <a:p>
            <a:pPr>
              <a:lnSpc>
                <a:spcPct val="90000"/>
              </a:lnSpc>
            </a:pPr>
            <a:r>
              <a:rPr lang="zh-CN" altLang="en-US" sz="2400" b="1" dirty="0"/>
              <a:t>（</a:t>
            </a:r>
            <a:r>
              <a:rPr lang="en-US" altLang="zh-CN" sz="2400" b="1" dirty="0"/>
              <a:t>2</a:t>
            </a:r>
            <a:r>
              <a:rPr lang="zh-CN" altLang="en-US" sz="2400" b="1" dirty="0"/>
              <a:t>）增加血液中的抗体含量，起免疫作用。</a:t>
            </a:r>
          </a:p>
          <a:p>
            <a:pPr>
              <a:lnSpc>
                <a:spcPct val="90000"/>
              </a:lnSpc>
            </a:pPr>
            <a:r>
              <a:rPr lang="zh-CN" altLang="en-US" sz="2400" b="1" dirty="0"/>
              <a:t>（</a:t>
            </a:r>
            <a:r>
              <a:rPr lang="en-US" altLang="zh-CN" sz="2400" b="1" dirty="0"/>
              <a:t>3</a:t>
            </a:r>
            <a:r>
              <a:rPr lang="zh-CN" altLang="en-US" sz="2400" b="1" dirty="0"/>
              <a:t>）防止血压升高和血栓形成。</a:t>
            </a:r>
          </a:p>
          <a:p>
            <a:pPr>
              <a:lnSpc>
                <a:spcPct val="90000"/>
              </a:lnSpc>
            </a:pPr>
            <a:r>
              <a:rPr lang="zh-CN" altLang="en-US" sz="2400" b="1" dirty="0"/>
              <a:t>（</a:t>
            </a:r>
            <a:r>
              <a:rPr lang="en-US" altLang="zh-CN" sz="2400" b="1" dirty="0"/>
              <a:t>4</a:t>
            </a:r>
            <a:r>
              <a:rPr lang="zh-CN" altLang="en-US" sz="2400" b="1" dirty="0"/>
              <a:t>）汞、砷等重金属的天然解毒剂。</a:t>
            </a:r>
          </a:p>
          <a:p>
            <a:pPr>
              <a:lnSpc>
                <a:spcPct val="90000"/>
              </a:lnSpc>
            </a:pPr>
            <a:endParaRPr lang="zh-CN" altLang="en-US" sz="2400" b="1" dirty="0"/>
          </a:p>
          <a:p>
            <a:pPr>
              <a:lnSpc>
                <a:spcPct val="90000"/>
              </a:lnSpc>
            </a:pPr>
            <a:r>
              <a:rPr lang="zh-CN" altLang="en-US" sz="2400" b="1" dirty="0">
                <a:solidFill>
                  <a:srgbClr val="CC0000"/>
                </a:solidFill>
              </a:rPr>
              <a:t>硒缺乏的危害：</a:t>
            </a:r>
          </a:p>
          <a:p>
            <a:pPr>
              <a:lnSpc>
                <a:spcPct val="90000"/>
              </a:lnSpc>
            </a:pPr>
            <a:r>
              <a:rPr lang="zh-CN" altLang="en-US" sz="2400" b="1" dirty="0"/>
              <a:t>  “克山病”，心脏扩大、心功能不全和心律失常，急性病人可迅速死亡。</a:t>
            </a:r>
          </a:p>
          <a:p>
            <a:pPr>
              <a:lnSpc>
                <a:spcPct val="90000"/>
              </a:lnSpc>
            </a:pPr>
            <a:endParaRPr lang="zh-CN" altLang="en-US" sz="2400" b="1" dirty="0"/>
          </a:p>
          <a:p>
            <a:pPr>
              <a:lnSpc>
                <a:spcPct val="90000"/>
              </a:lnSpc>
            </a:pPr>
            <a:r>
              <a:rPr lang="zh-CN" altLang="en-US" sz="2400" b="1" dirty="0">
                <a:solidFill>
                  <a:srgbClr val="CC0000"/>
                </a:solidFill>
              </a:rPr>
              <a:t>食物来源：</a:t>
            </a:r>
            <a:r>
              <a:rPr lang="zh-CN" altLang="en-US" sz="2400" b="1" dirty="0"/>
              <a:t>肉类含量最高</a:t>
            </a:r>
            <a:r>
              <a:rPr lang="zh-CN" altLang="en-US" sz="2400" b="1" dirty="0" smtClean="0"/>
              <a:t>，</a:t>
            </a:r>
            <a:endParaRPr lang="en-US" altLang="zh-CN" sz="2400" b="1" dirty="0" smtClean="0"/>
          </a:p>
          <a:p>
            <a:pPr>
              <a:lnSpc>
                <a:spcPct val="90000"/>
              </a:lnSpc>
              <a:buNone/>
            </a:pPr>
            <a:r>
              <a:rPr lang="en-US" altLang="zh-CN" sz="2400" b="1" dirty="0" smtClean="0"/>
              <a:t>                         </a:t>
            </a:r>
            <a:r>
              <a:rPr lang="zh-CN" altLang="en-US" sz="2400" b="1" dirty="0" smtClean="0"/>
              <a:t>广泛</a:t>
            </a:r>
            <a:r>
              <a:rPr lang="zh-CN" altLang="en-US" sz="2400" b="1" dirty="0"/>
              <a:t>存在。</a:t>
            </a:r>
          </a:p>
        </p:txBody>
      </p:sp>
      <p:sp>
        <p:nvSpPr>
          <p:cNvPr id="63491" name="灯片编号占位符 1"/>
          <p:cNvSpPr>
            <a:spLocks noGrp="1"/>
          </p:cNvSpPr>
          <p:nvPr>
            <p:ph type="sldNum" sz="quarter" idx="11"/>
          </p:nvPr>
        </p:nvSpPr>
        <p:spPr>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400" dirty="0"/>
              <a:pPr lvl="0" indent="0" algn="r"/>
              <a:t>64</a:t>
            </a:fld>
            <a:endParaRPr lang="zh-CN" altLang="en-US" sz="1400" dirty="0"/>
          </a:p>
        </p:txBody>
      </p:sp>
      <p:pic>
        <p:nvPicPr>
          <p:cNvPr id="76802" name="Picture 2" descr="http://pic.92to.com/201704/01/b16febabd2cc472b9653b707d19769c9_th.jpg"/>
          <p:cNvPicPr>
            <a:picLocks noChangeAspect="1" noChangeArrowheads="1"/>
          </p:cNvPicPr>
          <p:nvPr/>
        </p:nvPicPr>
        <p:blipFill>
          <a:blip r:embed="rId2" cstate="print"/>
          <a:srcRect/>
          <a:stretch>
            <a:fillRect/>
          </a:stretch>
        </p:blipFill>
        <p:spPr bwMode="auto">
          <a:xfrm>
            <a:off x="5709912" y="4461826"/>
            <a:ext cx="3434088" cy="2396174"/>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556035">
                                            <p:txEl>
                                              <p:pRg st="0" end="0"/>
                                            </p:txEl>
                                          </p:spTgt>
                                        </p:tgtEl>
                                        <p:attrNameLst>
                                          <p:attrName>style.visibility</p:attrName>
                                        </p:attrNameLst>
                                      </p:cBhvr>
                                      <p:to>
                                        <p:strVal val="visible"/>
                                      </p:to>
                                    </p:set>
                                    <p:anim calcmode="lin" valueType="num">
                                      <p:cBhvr>
                                        <p:cTn id="7" dur="1" fill="hold"/>
                                        <p:tgtEl>
                                          <p:spTgt spid="556035">
                                            <p:txEl>
                                              <p:pRg st="0" end="0"/>
                                            </p:txEl>
                                          </p:spTgt>
                                        </p:tgtEl>
                                      </p:cBhvr>
                                    </p:anim>
                                  </p:childTnLst>
                                </p:cTn>
                              </p:par>
                              <p:par>
                                <p:cTn id="8" presetID="24" presetClass="entr" presetSubtype="0" fill="hold" nodeType="withEffect">
                                  <p:stCondLst>
                                    <p:cond delay="0"/>
                                  </p:stCondLst>
                                  <p:childTnLst>
                                    <p:set>
                                      <p:cBhvr>
                                        <p:cTn id="9" dur="1" fill="hold">
                                          <p:stCondLst>
                                            <p:cond delay="0"/>
                                          </p:stCondLst>
                                        </p:cTn>
                                        <p:tgtEl>
                                          <p:spTgt spid="556035">
                                            <p:txEl>
                                              <p:pRg st="1" end="1"/>
                                            </p:txEl>
                                          </p:spTgt>
                                        </p:tgtEl>
                                        <p:attrNameLst>
                                          <p:attrName>style.visibility</p:attrName>
                                        </p:attrNameLst>
                                      </p:cBhvr>
                                      <p:to>
                                        <p:strVal val="visible"/>
                                      </p:to>
                                    </p:set>
                                    <p:anim calcmode="lin" valueType="num">
                                      <p:cBhvr>
                                        <p:cTn id="10" dur="1" fill="hold"/>
                                        <p:tgtEl>
                                          <p:spTgt spid="556035">
                                            <p:txEl>
                                              <p:pRg st="1" end="1"/>
                                            </p:txEl>
                                          </p:spTgt>
                                        </p:tgtEl>
                                      </p:cBhvr>
                                    </p:anim>
                                  </p:childTnLst>
                                </p:cTn>
                              </p:par>
                              <p:par>
                                <p:cTn id="11" presetID="24" presetClass="entr" presetSubtype="0" fill="hold" nodeType="withEffect">
                                  <p:stCondLst>
                                    <p:cond delay="0"/>
                                  </p:stCondLst>
                                  <p:childTnLst>
                                    <p:set>
                                      <p:cBhvr>
                                        <p:cTn id="12" dur="1" fill="hold">
                                          <p:stCondLst>
                                            <p:cond delay="0"/>
                                          </p:stCondLst>
                                        </p:cTn>
                                        <p:tgtEl>
                                          <p:spTgt spid="556035">
                                            <p:txEl>
                                              <p:pRg st="2" end="2"/>
                                            </p:txEl>
                                          </p:spTgt>
                                        </p:tgtEl>
                                        <p:attrNameLst>
                                          <p:attrName>style.visibility</p:attrName>
                                        </p:attrNameLst>
                                      </p:cBhvr>
                                      <p:to>
                                        <p:strVal val="visible"/>
                                      </p:to>
                                    </p:set>
                                    <p:anim calcmode="lin" valueType="num">
                                      <p:cBhvr>
                                        <p:cTn id="13" dur="1" fill="hold"/>
                                        <p:tgtEl>
                                          <p:spTgt spid="556035">
                                            <p:txEl>
                                              <p:pRg st="2" end="2"/>
                                            </p:txEl>
                                          </p:spTgt>
                                        </p:tgtEl>
                                      </p:cBhvr>
                                    </p:anim>
                                  </p:childTnLst>
                                </p:cTn>
                              </p:par>
                              <p:par>
                                <p:cTn id="14" presetID="24" presetClass="entr" presetSubtype="0" fill="hold" nodeType="withEffect">
                                  <p:stCondLst>
                                    <p:cond delay="0"/>
                                  </p:stCondLst>
                                  <p:childTnLst>
                                    <p:set>
                                      <p:cBhvr>
                                        <p:cTn id="15" dur="1" fill="hold">
                                          <p:stCondLst>
                                            <p:cond delay="0"/>
                                          </p:stCondLst>
                                        </p:cTn>
                                        <p:tgtEl>
                                          <p:spTgt spid="556035">
                                            <p:txEl>
                                              <p:pRg st="3" end="3"/>
                                            </p:txEl>
                                          </p:spTgt>
                                        </p:tgtEl>
                                        <p:attrNameLst>
                                          <p:attrName>style.visibility</p:attrName>
                                        </p:attrNameLst>
                                      </p:cBhvr>
                                      <p:to>
                                        <p:strVal val="visible"/>
                                      </p:to>
                                    </p:set>
                                    <p:anim calcmode="lin" valueType="num">
                                      <p:cBhvr>
                                        <p:cTn id="16" dur="1" fill="hold"/>
                                        <p:tgtEl>
                                          <p:spTgt spid="556035">
                                            <p:txEl>
                                              <p:pRg st="3" end="3"/>
                                            </p:txEl>
                                          </p:spTgt>
                                        </p:tgtEl>
                                      </p:cBhvr>
                                    </p:anim>
                                  </p:childTnLst>
                                </p:cTn>
                              </p:par>
                              <p:par>
                                <p:cTn id="17" presetID="24" presetClass="entr" presetSubtype="0" fill="hold" nodeType="withEffect">
                                  <p:stCondLst>
                                    <p:cond delay="0"/>
                                  </p:stCondLst>
                                  <p:childTnLst>
                                    <p:set>
                                      <p:cBhvr>
                                        <p:cTn id="18" dur="1" fill="hold">
                                          <p:stCondLst>
                                            <p:cond delay="0"/>
                                          </p:stCondLst>
                                        </p:cTn>
                                        <p:tgtEl>
                                          <p:spTgt spid="556035">
                                            <p:txEl>
                                              <p:pRg st="4" end="4"/>
                                            </p:txEl>
                                          </p:spTgt>
                                        </p:tgtEl>
                                        <p:attrNameLst>
                                          <p:attrName>style.visibility</p:attrName>
                                        </p:attrNameLst>
                                      </p:cBhvr>
                                      <p:to>
                                        <p:strVal val="visible"/>
                                      </p:to>
                                    </p:set>
                                    <p:anim calcmode="lin" valueType="num">
                                      <p:cBhvr>
                                        <p:cTn id="19" dur="1" fill="hold"/>
                                        <p:tgtEl>
                                          <p:spTgt spid="556035">
                                            <p:txEl>
                                              <p:pRg st="4" end="4"/>
                                            </p:txEl>
                                          </p:spTgt>
                                        </p:tgtEl>
                                      </p:cBhvr>
                                    </p:anim>
                                  </p:childTnLst>
                                </p:cTn>
                              </p:par>
                            </p:childTnLst>
                          </p:cTn>
                        </p:par>
                      </p:childTnLst>
                    </p:cTn>
                  </p:par>
                  <p:par>
                    <p:cTn id="20" fill="hold">
                      <p:stCondLst>
                        <p:cond delay="indefinite"/>
                      </p:stCondLst>
                      <p:childTnLst>
                        <p:par>
                          <p:cTn id="21" fill="hold">
                            <p:stCondLst>
                              <p:cond delay="0"/>
                            </p:stCondLst>
                            <p:childTnLst>
                              <p:par>
                                <p:cTn id="22" presetID="24" presetClass="entr" presetSubtype="0" fill="hold" nodeType="clickEffect">
                                  <p:stCondLst>
                                    <p:cond delay="0"/>
                                  </p:stCondLst>
                                  <p:childTnLst>
                                    <p:set>
                                      <p:cBhvr>
                                        <p:cTn id="23" dur="1" fill="hold">
                                          <p:stCondLst>
                                            <p:cond delay="0"/>
                                          </p:stCondLst>
                                        </p:cTn>
                                        <p:tgtEl>
                                          <p:spTgt spid="556035">
                                            <p:txEl>
                                              <p:pRg st="6" end="6"/>
                                            </p:txEl>
                                          </p:spTgt>
                                        </p:tgtEl>
                                        <p:attrNameLst>
                                          <p:attrName>style.visibility</p:attrName>
                                        </p:attrNameLst>
                                      </p:cBhvr>
                                      <p:to>
                                        <p:strVal val="visible"/>
                                      </p:to>
                                    </p:set>
                                    <p:anim calcmode="lin" valueType="num">
                                      <p:cBhvr>
                                        <p:cTn id="24" dur="1" fill="hold"/>
                                        <p:tgtEl>
                                          <p:spTgt spid="556035">
                                            <p:txEl>
                                              <p:pRg st="6" end="6"/>
                                            </p:txEl>
                                          </p:spTgt>
                                        </p:tgtEl>
                                      </p:cBhvr>
                                    </p:anim>
                                  </p:childTnLst>
                                </p:cTn>
                              </p:par>
                              <p:par>
                                <p:cTn id="25" presetID="24" presetClass="entr" presetSubtype="0" fill="hold" nodeType="withEffect">
                                  <p:stCondLst>
                                    <p:cond delay="0"/>
                                  </p:stCondLst>
                                  <p:childTnLst>
                                    <p:set>
                                      <p:cBhvr>
                                        <p:cTn id="26" dur="1" fill="hold">
                                          <p:stCondLst>
                                            <p:cond delay="0"/>
                                          </p:stCondLst>
                                        </p:cTn>
                                        <p:tgtEl>
                                          <p:spTgt spid="556035">
                                            <p:txEl>
                                              <p:pRg st="7" end="7"/>
                                            </p:txEl>
                                          </p:spTgt>
                                        </p:tgtEl>
                                        <p:attrNameLst>
                                          <p:attrName>style.visibility</p:attrName>
                                        </p:attrNameLst>
                                      </p:cBhvr>
                                      <p:to>
                                        <p:strVal val="visible"/>
                                      </p:to>
                                    </p:set>
                                    <p:anim calcmode="lin" valueType="num">
                                      <p:cBhvr>
                                        <p:cTn id="27" dur="1" fill="hold"/>
                                        <p:tgtEl>
                                          <p:spTgt spid="556035">
                                            <p:txEl>
                                              <p:pRg st="7" end="7"/>
                                            </p:txEl>
                                          </p:spTgt>
                                        </p:tgtEl>
                                      </p:cBhvr>
                                    </p:anim>
                                  </p:childTnLst>
                                </p:cTn>
                              </p:par>
                            </p:childTnLst>
                          </p:cTn>
                        </p:par>
                      </p:childTnLst>
                    </p:cTn>
                  </p:par>
                  <p:par>
                    <p:cTn id="28" fill="hold">
                      <p:stCondLst>
                        <p:cond delay="indefinite"/>
                      </p:stCondLst>
                      <p:childTnLst>
                        <p:par>
                          <p:cTn id="29" fill="hold">
                            <p:stCondLst>
                              <p:cond delay="0"/>
                            </p:stCondLst>
                            <p:childTnLst>
                              <p:par>
                                <p:cTn id="30" presetID="24" presetClass="entr" presetSubtype="0" fill="hold" nodeType="clickEffect">
                                  <p:stCondLst>
                                    <p:cond delay="0"/>
                                  </p:stCondLst>
                                  <p:childTnLst>
                                    <p:set>
                                      <p:cBhvr>
                                        <p:cTn id="31" dur="1" fill="hold">
                                          <p:stCondLst>
                                            <p:cond delay="0"/>
                                          </p:stCondLst>
                                        </p:cTn>
                                        <p:tgtEl>
                                          <p:spTgt spid="556035">
                                            <p:txEl>
                                              <p:pRg st="9" end="9"/>
                                            </p:txEl>
                                          </p:spTgt>
                                        </p:tgtEl>
                                        <p:attrNameLst>
                                          <p:attrName>style.visibility</p:attrName>
                                        </p:attrNameLst>
                                      </p:cBhvr>
                                      <p:to>
                                        <p:strVal val="visible"/>
                                      </p:to>
                                    </p:set>
                                    <p:anim calcmode="lin" valueType="num">
                                      <p:cBhvr>
                                        <p:cTn id="32" dur="1" fill="hold"/>
                                        <p:tgtEl>
                                          <p:spTgt spid="556035">
                                            <p:txEl>
                                              <p:pRg st="9" end="9"/>
                                            </p:txEl>
                                          </p:spTgt>
                                        </p:tgtEl>
                                      </p:cBhvr>
                                    </p:anim>
                                  </p:childTnLst>
                                </p:cTn>
                              </p:par>
                            </p:childTnLst>
                          </p:cTn>
                        </p:par>
                      </p:childTnLst>
                    </p:cTn>
                  </p:par>
                  <p:par>
                    <p:cTn id="33" fill="hold">
                      <p:stCondLst>
                        <p:cond delay="indefinite"/>
                      </p:stCondLst>
                      <p:childTnLst>
                        <p:par>
                          <p:cTn id="34" fill="hold">
                            <p:stCondLst>
                              <p:cond delay="0"/>
                            </p:stCondLst>
                            <p:childTnLst>
                              <p:par>
                                <p:cTn id="35" presetID="24" presetClass="entr" presetSubtype="0" fill="hold" nodeType="clickEffect">
                                  <p:stCondLst>
                                    <p:cond delay="0"/>
                                  </p:stCondLst>
                                  <p:childTnLst>
                                    <p:set>
                                      <p:cBhvr>
                                        <p:cTn id="36" dur="1" fill="hold">
                                          <p:stCondLst>
                                            <p:cond delay="0"/>
                                          </p:stCondLst>
                                        </p:cTn>
                                        <p:tgtEl>
                                          <p:spTgt spid="556035">
                                            <p:txEl>
                                              <p:pRg st="10" end="10"/>
                                            </p:txEl>
                                          </p:spTgt>
                                        </p:tgtEl>
                                        <p:attrNameLst>
                                          <p:attrName>style.visibility</p:attrName>
                                        </p:attrNameLst>
                                      </p:cBhvr>
                                      <p:to>
                                        <p:strVal val="visible"/>
                                      </p:to>
                                    </p:set>
                                    <p:anim calcmode="lin" valueType="num">
                                      <p:cBhvr>
                                        <p:cTn id="37" dur="1" fill="hold"/>
                                        <p:tgtEl>
                                          <p:spTgt spid="556035">
                                            <p:txEl>
                                              <p:pRg st="10" end="10"/>
                                            </p:txEl>
                                          </p:spTgt>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标题 457729"/>
          <p:cNvSpPr>
            <a:spLocks noGrp="1" noRot="1"/>
          </p:cNvSpPr>
          <p:nvPr>
            <p:ph type="title"/>
          </p:nvPr>
        </p:nvSpPr>
        <p:spPr>
          <a:xfrm>
            <a:off x="457200" y="116632"/>
            <a:ext cx="8229600" cy="1143000"/>
          </a:xfrm>
          <a:ln/>
        </p:spPr>
        <p:txBody>
          <a:bodyPr anchor="ctr"/>
          <a:lstStyle/>
          <a:p>
            <a:r>
              <a:rPr lang="en-US" altLang="zh-CN" sz="3600" b="1" dirty="0">
                <a:solidFill>
                  <a:srgbClr val="C00000"/>
                </a:solidFill>
                <a:ea typeface="楷体_GB2312" pitchFamily="49" charset="-122"/>
              </a:rPr>
              <a:t>6</a:t>
            </a:r>
            <a:r>
              <a:rPr lang="en-US" altLang="zh-CN" sz="3600" b="1" dirty="0">
                <a:solidFill>
                  <a:srgbClr val="C00000"/>
                </a:solidFill>
              </a:rPr>
              <a:t>.</a:t>
            </a:r>
            <a:r>
              <a:rPr lang="zh-CN" altLang="en-US" sz="3600" b="1" dirty="0">
                <a:solidFill>
                  <a:srgbClr val="C00000"/>
                </a:solidFill>
                <a:ea typeface="楷体_GB2312" pitchFamily="49" charset="-122"/>
              </a:rPr>
              <a:t>钙</a:t>
            </a:r>
          </a:p>
        </p:txBody>
      </p:sp>
      <p:sp>
        <p:nvSpPr>
          <p:cNvPr id="64514" name="文本占位符 457730"/>
          <p:cNvSpPr>
            <a:spLocks noGrp="1" noRot="1"/>
          </p:cNvSpPr>
          <p:nvPr>
            <p:ph idx="1"/>
          </p:nvPr>
        </p:nvSpPr>
        <p:spPr>
          <a:xfrm>
            <a:off x="0" y="1124744"/>
            <a:ext cx="8892480" cy="4525963"/>
          </a:xfrm>
          <a:ln/>
        </p:spPr>
        <p:txBody>
          <a:bodyPr anchor="t"/>
          <a:lstStyle/>
          <a:p>
            <a:pPr latinLnBrk="0">
              <a:lnSpc>
                <a:spcPct val="135000"/>
              </a:lnSpc>
              <a:spcBef>
                <a:spcPts val="0"/>
              </a:spcBef>
            </a:pPr>
            <a:r>
              <a:rPr lang="zh-CN" altLang="en-US" sz="2800" b="1" dirty="0">
                <a:ea typeface="楷体_GB2312" pitchFamily="49" charset="-122"/>
              </a:rPr>
              <a:t> </a:t>
            </a:r>
            <a:r>
              <a:rPr lang="zh-CN" altLang="en-US" sz="2800" b="1" dirty="0" smtClean="0">
                <a:ea typeface="楷体_GB2312" pitchFamily="49" charset="-122"/>
              </a:rPr>
              <a:t>       钙</a:t>
            </a:r>
            <a:r>
              <a:rPr lang="zh-CN" altLang="en-US" sz="2800" b="1" dirty="0">
                <a:ea typeface="楷体_GB2312" pitchFamily="49" charset="-122"/>
              </a:rPr>
              <a:t>是骨骼和牙齿的主要成分。调控人体正常肌肉收缩和心肌收缩，同时起细胞信使作用。例如，血液中</a:t>
            </a:r>
            <a:r>
              <a:rPr lang="en-US" altLang="zh-CN" sz="2800" b="1" dirty="0">
                <a:ea typeface="楷体_GB2312" pitchFamily="49" charset="-122"/>
              </a:rPr>
              <a:t>Ca</a:t>
            </a:r>
            <a:r>
              <a:rPr lang="en-US" altLang="zh-CN" sz="2800" b="1" baseline="30000" dirty="0">
                <a:ea typeface="楷体_GB2312" pitchFamily="49" charset="-122"/>
              </a:rPr>
              <a:t>2+</a:t>
            </a:r>
            <a:r>
              <a:rPr lang="zh-CN" altLang="en-US" sz="2800" b="1" dirty="0">
                <a:ea typeface="楷体_GB2312" pitchFamily="49" charset="-122"/>
              </a:rPr>
              <a:t>过多，会造成神经传导和肌肉反应的减弱，使人对任何刺激都无反应，但血液中</a:t>
            </a:r>
            <a:r>
              <a:rPr lang="en-US" altLang="zh-CN" sz="2800" b="1" dirty="0">
                <a:ea typeface="楷体_GB2312" pitchFamily="49" charset="-122"/>
              </a:rPr>
              <a:t>Ca</a:t>
            </a:r>
            <a:r>
              <a:rPr lang="en-US" altLang="zh-CN" sz="2800" b="1" baseline="30000" dirty="0">
                <a:ea typeface="楷体_GB2312" pitchFamily="49" charset="-122"/>
              </a:rPr>
              <a:t>2+</a:t>
            </a:r>
            <a:r>
              <a:rPr lang="zh-CN" altLang="en-US" sz="2800" b="1" dirty="0">
                <a:ea typeface="楷体_GB2312" pitchFamily="49" charset="-122"/>
              </a:rPr>
              <a:t>太少，又会造成神经和肌肉的超应激性，在这种极度兴奋的情况下，微小的刺激，比如一个响声、咳嗽，就可能使人陷入痉挛性抽搐。</a:t>
            </a:r>
            <a:r>
              <a:rPr lang="zh-CN" altLang="en-US" sz="2800" dirty="0"/>
              <a:t> </a:t>
            </a:r>
          </a:p>
        </p:txBody>
      </p:sp>
      <p:sp>
        <p:nvSpPr>
          <p:cNvPr id="64515" name="灯片编号占位符 1"/>
          <p:cNvSpPr>
            <a:spLocks noGrp="1"/>
          </p:cNvSpPr>
          <p:nvPr>
            <p:ph type="sldNum" sz="quarter" idx="11"/>
          </p:nvPr>
        </p:nvSpPr>
        <p:spPr>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400" dirty="0"/>
              <a:pPr lvl="0" indent="0" algn="r"/>
              <a:t>65</a:t>
            </a:fld>
            <a:endParaRPr lang="zh-CN" altLang="en-US" sz="1400" dirty="0"/>
          </a:p>
        </p:txBody>
      </p:sp>
      <p:pic>
        <p:nvPicPr>
          <p:cNvPr id="75778" name="Picture 2" descr="http://p2.so.qhimgs1.com/t017b5218fa141d9252.jpg"/>
          <p:cNvPicPr>
            <a:picLocks noChangeAspect="1" noChangeArrowheads="1"/>
          </p:cNvPicPr>
          <p:nvPr/>
        </p:nvPicPr>
        <p:blipFill>
          <a:blip r:embed="rId2" cstate="print"/>
          <a:srcRect/>
          <a:stretch>
            <a:fillRect/>
          </a:stretch>
        </p:blipFill>
        <p:spPr bwMode="auto">
          <a:xfrm>
            <a:off x="5796136" y="4726543"/>
            <a:ext cx="3347864" cy="2131457"/>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75778"/>
                                        </p:tgtEl>
                                        <p:attrNameLst>
                                          <p:attrName>style.visibility</p:attrName>
                                        </p:attrNameLst>
                                      </p:cBhvr>
                                      <p:to>
                                        <p:strVal val="visible"/>
                                      </p:to>
                                    </p:set>
                                    <p:animEffect transition="in" filter="checkerboard(across)">
                                      <p:cBhvr>
                                        <p:cTn id="7" dur="500"/>
                                        <p:tgtEl>
                                          <p:spTgt spid="757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标题 459777"/>
          <p:cNvSpPr>
            <a:spLocks noGrp="1" noRot="1"/>
          </p:cNvSpPr>
          <p:nvPr>
            <p:ph type="title"/>
          </p:nvPr>
        </p:nvSpPr>
        <p:spPr>
          <a:ln/>
        </p:spPr>
        <p:txBody>
          <a:bodyPr anchor="ctr"/>
          <a:lstStyle/>
          <a:p>
            <a:r>
              <a:rPr lang="en-US" altLang="zh-CN" sz="3600" b="1" dirty="0">
                <a:solidFill>
                  <a:srgbClr val="C00000"/>
                </a:solidFill>
                <a:ea typeface="楷体_GB2312" pitchFamily="49" charset="-122"/>
              </a:rPr>
              <a:t>7 </a:t>
            </a:r>
            <a:r>
              <a:rPr lang="en-US" altLang="zh-CN" sz="3600" b="1" dirty="0">
                <a:solidFill>
                  <a:srgbClr val="C00000"/>
                </a:solidFill>
              </a:rPr>
              <a:t>.</a:t>
            </a:r>
            <a:r>
              <a:rPr lang="zh-CN" altLang="en-US" sz="3600" b="1" dirty="0">
                <a:solidFill>
                  <a:srgbClr val="C00000"/>
                </a:solidFill>
                <a:ea typeface="楷体_GB2312" pitchFamily="49" charset="-122"/>
              </a:rPr>
              <a:t>磷</a:t>
            </a:r>
          </a:p>
        </p:txBody>
      </p:sp>
      <p:sp>
        <p:nvSpPr>
          <p:cNvPr id="459779" name="内容占位符 459778"/>
          <p:cNvSpPr>
            <a:spLocks noGrp="1" noRot="1"/>
          </p:cNvSpPr>
          <p:nvPr>
            <p:ph idx="1"/>
          </p:nvPr>
        </p:nvSpPr>
        <p:spPr>
          <a:ln/>
        </p:spPr>
        <p:txBody>
          <a:bodyPr anchor="t"/>
          <a:lstStyle/>
          <a:p>
            <a:pPr algn="just" latinLnBrk="0">
              <a:lnSpc>
                <a:spcPct val="135000"/>
              </a:lnSpc>
              <a:spcBef>
                <a:spcPts val="0"/>
              </a:spcBef>
            </a:pPr>
            <a:r>
              <a:rPr lang="zh-CN" altLang="en-US" sz="2800" b="1" dirty="0">
                <a:latin typeface="楷体_GB2312" pitchFamily="49" charset="-122"/>
                <a:ea typeface="楷体_GB2312" pitchFamily="49" charset="-122"/>
              </a:rPr>
              <a:t>磷，骨骼和牙齿中除了含</a:t>
            </a:r>
            <a:r>
              <a:rPr lang="en-US" altLang="zh-CN" sz="2800" b="1" dirty="0">
                <a:latin typeface="楷体_GB2312" pitchFamily="49" charset="-122"/>
                <a:ea typeface="楷体_GB2312" pitchFamily="49" charset="-122"/>
              </a:rPr>
              <a:t>Ca</a:t>
            </a:r>
            <a:r>
              <a:rPr lang="zh-CN" altLang="en-US" sz="2800" b="1" dirty="0">
                <a:latin typeface="楷体_GB2312" pitchFamily="49" charset="-122"/>
                <a:ea typeface="楷体_GB2312" pitchFamily="49" charset="-122"/>
              </a:rPr>
              <a:t>外，磷也是一种重要的元素。体内</a:t>
            </a:r>
            <a:r>
              <a:rPr lang="en-US" altLang="zh-CN" sz="2800" b="1" dirty="0">
                <a:latin typeface="楷体_GB2312" pitchFamily="49" charset="-122"/>
                <a:ea typeface="楷体_GB2312" pitchFamily="49" charset="-122"/>
              </a:rPr>
              <a:t>90 </a:t>
            </a:r>
            <a:r>
              <a:rPr lang="zh-CN" altLang="en-US" sz="2800" b="1" dirty="0">
                <a:latin typeface="楷体_GB2312" pitchFamily="49" charset="-122"/>
                <a:ea typeface="楷体_GB2312" pitchFamily="49" charset="-122"/>
              </a:rPr>
              <a:t>％的磷是以磷酸根</a:t>
            </a:r>
            <a:r>
              <a:rPr lang="en-US" altLang="zh-CN" sz="2800" b="1" dirty="0">
                <a:latin typeface="楷体_GB2312" pitchFamily="49" charset="-122"/>
                <a:ea typeface="楷体_GB2312" pitchFamily="49" charset="-122"/>
              </a:rPr>
              <a:t>PO</a:t>
            </a:r>
            <a:r>
              <a:rPr lang="en-US" altLang="zh-CN" sz="2800" b="1" baseline="-30000" dirty="0">
                <a:latin typeface="楷体_GB2312" pitchFamily="49" charset="-122"/>
                <a:ea typeface="楷体_GB2312" pitchFamily="49" charset="-122"/>
              </a:rPr>
              <a:t>4</a:t>
            </a:r>
            <a:r>
              <a:rPr lang="en-US" altLang="zh-CN" sz="2800" b="1" baseline="30000" dirty="0">
                <a:latin typeface="楷体_GB2312" pitchFamily="49" charset="-122"/>
                <a:ea typeface="楷体_GB2312" pitchFamily="49" charset="-122"/>
              </a:rPr>
              <a:t>3-</a:t>
            </a:r>
            <a:r>
              <a:rPr lang="zh-CN" altLang="en-US" sz="2800" b="1" dirty="0">
                <a:latin typeface="楷体_GB2312" pitchFamily="49" charset="-122"/>
                <a:ea typeface="楷体_GB2312" pitchFamily="49" charset="-122"/>
              </a:rPr>
              <a:t>的形式存在。</a:t>
            </a:r>
            <a:endParaRPr lang="zh-CN" altLang="en-US" sz="2800" dirty="0">
              <a:latin typeface="楷体_GB2312" pitchFamily="49" charset="-122"/>
              <a:ea typeface="楷体_GB2312" pitchFamily="49" charset="-122"/>
            </a:endParaRPr>
          </a:p>
          <a:p>
            <a:pPr latinLnBrk="0">
              <a:lnSpc>
                <a:spcPct val="135000"/>
              </a:lnSpc>
              <a:spcBef>
                <a:spcPts val="0"/>
              </a:spcBef>
            </a:pPr>
            <a:r>
              <a:rPr lang="zh-CN" altLang="en-US" sz="2800" b="1" dirty="0">
                <a:latin typeface="楷体_GB2312" pitchFamily="49" charset="-122"/>
                <a:ea typeface="楷体_GB2312" pitchFamily="49" charset="-122"/>
              </a:rPr>
              <a:t>磷的化学规律控制着核糖、核酸以及氨基酸、蛋白质的化学规律，从而控制着生命的化学进化。</a:t>
            </a:r>
            <a:r>
              <a:rPr lang="zh-CN" altLang="en-US" sz="2800" dirty="0">
                <a:latin typeface="楷体_GB2312" pitchFamily="49" charset="-122"/>
                <a:ea typeface="楷体_GB2312" pitchFamily="49" charset="-122"/>
              </a:rPr>
              <a:t> </a:t>
            </a:r>
          </a:p>
        </p:txBody>
      </p:sp>
      <p:sp>
        <p:nvSpPr>
          <p:cNvPr id="65539" name="灯片编号占位符 1"/>
          <p:cNvSpPr>
            <a:spLocks noGrp="1"/>
          </p:cNvSpPr>
          <p:nvPr>
            <p:ph type="sldNum" sz="quarter" idx="11"/>
          </p:nvPr>
        </p:nvSpPr>
        <p:spPr>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400" dirty="0"/>
              <a:pPr lvl="0" indent="0" algn="r"/>
              <a:t>66</a:t>
            </a:fld>
            <a:endParaRPr lang="zh-CN" alt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459779">
                                            <p:txEl>
                                              <p:charRg st="0" end="53"/>
                                            </p:txEl>
                                          </p:spTgt>
                                        </p:tgtEl>
                                        <p:attrNameLst>
                                          <p:attrName>style.visibility</p:attrName>
                                        </p:attrNameLst>
                                      </p:cBhvr>
                                      <p:to>
                                        <p:strVal val="visible"/>
                                      </p:to>
                                    </p:set>
                                    <p:anim calcmode="lin" valueType="num">
                                      <p:cBhvr>
                                        <p:cTn id="7" dur="1" fill="hold"/>
                                        <p:tgtEl>
                                          <p:spTgt spid="459779">
                                            <p:txEl>
                                              <p:charRg st="0" end="53"/>
                                            </p:txEl>
                                          </p:spTgt>
                                        </p:tgtEl>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459779">
                                            <p:txEl>
                                              <p:charRg st="53" end="95"/>
                                            </p:txEl>
                                          </p:spTgt>
                                        </p:tgtEl>
                                        <p:attrNameLst>
                                          <p:attrName>style.visibility</p:attrName>
                                        </p:attrNameLst>
                                      </p:cBhvr>
                                      <p:to>
                                        <p:strVal val="visible"/>
                                      </p:to>
                                    </p:set>
                                    <p:anim calcmode="lin" valueType="num">
                                      <p:cBhvr>
                                        <p:cTn id="12" dur="1" fill="hold"/>
                                        <p:tgtEl>
                                          <p:spTgt spid="459779">
                                            <p:txEl>
                                              <p:charRg st="53" end="95"/>
                                            </p:txEl>
                                          </p:spTgt>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42" name="标题 522241"/>
          <p:cNvSpPr>
            <a:spLocks noGrp="1" noRot="1"/>
          </p:cNvSpPr>
          <p:nvPr>
            <p:ph type="title"/>
          </p:nvPr>
        </p:nvSpPr>
        <p:spPr>
          <a:xfrm>
            <a:off x="781050" y="365125"/>
            <a:ext cx="5375126" cy="975643"/>
          </a:xfrm>
          <a:ln/>
        </p:spPr>
        <p:txBody>
          <a:bodyPr anchor="ctr"/>
          <a:lstStyle/>
          <a:p>
            <a:r>
              <a:rPr lang="en-US" altLang="zh-CN" sz="3600" b="1" dirty="0">
                <a:solidFill>
                  <a:srgbClr val="C00000"/>
                </a:solidFill>
              </a:rPr>
              <a:t>8 .</a:t>
            </a:r>
            <a:r>
              <a:rPr lang="zh-CN" altLang="en-US" sz="3600" b="1" dirty="0">
                <a:solidFill>
                  <a:srgbClr val="C00000"/>
                </a:solidFill>
              </a:rPr>
              <a:t>氟</a:t>
            </a:r>
            <a:r>
              <a:rPr lang="en-US" altLang="zh-CN" sz="3600" b="1" dirty="0">
                <a:solidFill>
                  <a:srgbClr val="C00000"/>
                </a:solidFill>
              </a:rPr>
              <a:t>-</a:t>
            </a:r>
            <a:r>
              <a:rPr lang="zh-CN" altLang="en-US" sz="3600" b="1" dirty="0">
                <a:solidFill>
                  <a:srgbClr val="C00000"/>
                </a:solidFill>
              </a:rPr>
              <a:t>牙齿的腐蚀和氟化</a:t>
            </a:r>
          </a:p>
        </p:txBody>
      </p:sp>
      <p:sp>
        <p:nvSpPr>
          <p:cNvPr id="522243" name="文本占位符 522242"/>
          <p:cNvSpPr>
            <a:spLocks noGrp="1" noRot="1"/>
          </p:cNvSpPr>
          <p:nvPr>
            <p:ph type="body" sz="half" idx="4294967295"/>
          </p:nvPr>
        </p:nvSpPr>
        <p:spPr>
          <a:xfrm>
            <a:off x="400050" y="1347152"/>
            <a:ext cx="8362950" cy="5005705"/>
          </a:xfrm>
          <a:ln/>
        </p:spPr>
        <p:txBody>
          <a:bodyPr anchor="t"/>
          <a:lstStyle/>
          <a:p>
            <a:r>
              <a:rPr lang="zh-CN" altLang="en-US" sz="2800" b="1" dirty="0"/>
              <a:t>牙釉主要成分羟磷灰石</a:t>
            </a:r>
            <a:r>
              <a:rPr lang="en-US" altLang="zh-CN" sz="2800" b="1" dirty="0">
                <a:latin typeface="Times New Roman" pitchFamily="18" charset="0"/>
                <a:cs typeface="Times New Roman" pitchFamily="18" charset="0"/>
              </a:rPr>
              <a:t>Ca</a:t>
            </a:r>
            <a:r>
              <a:rPr lang="en-US" altLang="zh-CN" sz="2800" b="1" baseline="-25000" dirty="0">
                <a:latin typeface="Times New Roman" pitchFamily="18" charset="0"/>
                <a:cs typeface="Times New Roman" pitchFamily="18" charset="0"/>
              </a:rPr>
              <a:t>10</a:t>
            </a:r>
            <a:r>
              <a:rPr lang="en-US" altLang="zh-CN" sz="2800" b="1" dirty="0">
                <a:latin typeface="Times New Roman" pitchFamily="18" charset="0"/>
                <a:cs typeface="Times New Roman" pitchFamily="18" charset="0"/>
              </a:rPr>
              <a:t>(PO</a:t>
            </a:r>
            <a:r>
              <a:rPr lang="en-US" altLang="zh-CN" sz="2800" b="1" baseline="-25000" dirty="0">
                <a:latin typeface="Times New Roman" pitchFamily="18" charset="0"/>
                <a:cs typeface="Times New Roman" pitchFamily="18" charset="0"/>
              </a:rPr>
              <a:t>4</a:t>
            </a:r>
            <a:r>
              <a:rPr lang="en-US" altLang="zh-CN" sz="2800" b="1" dirty="0">
                <a:latin typeface="Times New Roman" pitchFamily="18" charset="0"/>
                <a:cs typeface="Times New Roman" pitchFamily="18" charset="0"/>
              </a:rPr>
              <a:t>)</a:t>
            </a:r>
            <a:r>
              <a:rPr lang="en-US" altLang="zh-CN" sz="2800" b="1" baseline="-25000" dirty="0">
                <a:latin typeface="Times New Roman" pitchFamily="18" charset="0"/>
                <a:cs typeface="Times New Roman" pitchFamily="18" charset="0"/>
              </a:rPr>
              <a:t>6</a:t>
            </a:r>
            <a:r>
              <a:rPr lang="en-US" altLang="zh-CN" sz="2800" b="1" dirty="0">
                <a:latin typeface="Times New Roman" pitchFamily="18" charset="0"/>
                <a:cs typeface="Times New Roman" pitchFamily="18" charset="0"/>
              </a:rPr>
              <a:t>(OH)</a:t>
            </a:r>
            <a:r>
              <a:rPr lang="en-US" altLang="zh-CN" sz="2800" b="1" baseline="-25000" dirty="0">
                <a:latin typeface="Times New Roman" pitchFamily="18" charset="0"/>
                <a:cs typeface="Times New Roman" pitchFamily="18" charset="0"/>
              </a:rPr>
              <a:t>2</a:t>
            </a:r>
          </a:p>
          <a:p>
            <a:endParaRPr lang="en-US" altLang="zh-CN" sz="2800" b="1" dirty="0"/>
          </a:p>
          <a:p>
            <a:r>
              <a:rPr lang="zh-CN" altLang="en-US" sz="2800" b="1" dirty="0"/>
              <a:t>牙齿的腐蚀：</a:t>
            </a:r>
          </a:p>
          <a:p>
            <a:endParaRPr lang="zh-CN" altLang="en-US" sz="2800" b="1" dirty="0"/>
          </a:p>
          <a:p>
            <a:endParaRPr lang="zh-CN" altLang="en-US" sz="2800" b="1" dirty="0"/>
          </a:p>
          <a:p>
            <a:r>
              <a:rPr lang="zh-CN" altLang="en-US" sz="2800" b="1" dirty="0"/>
              <a:t>牙齿的氟化</a:t>
            </a:r>
          </a:p>
        </p:txBody>
      </p:sp>
      <p:graphicFrame>
        <p:nvGraphicFramePr>
          <p:cNvPr id="522244" name="内容占位符 522243"/>
          <p:cNvGraphicFramePr>
            <a:graphicFrameLocks/>
          </p:cNvGraphicFramePr>
          <p:nvPr>
            <p:ph sz="quarter" idx="4294967295"/>
          </p:nvPr>
        </p:nvGraphicFramePr>
        <p:xfrm>
          <a:off x="465137" y="3095625"/>
          <a:ext cx="8297863" cy="460375"/>
        </p:xfrm>
        <a:graphic>
          <a:graphicData uri="http://schemas.openxmlformats.org/presentationml/2006/ole">
            <p:oleObj spid="_x0000_s73730" name="CS ChemDraw Drawing" r:id="rId3" imgW="4692960" imgH="260280" progId="ChemDraw.Document.6.0">
              <p:embed/>
            </p:oleObj>
          </a:graphicData>
        </a:graphic>
      </p:graphicFrame>
      <p:graphicFrame>
        <p:nvGraphicFramePr>
          <p:cNvPr id="522246" name="内容占位符 522245"/>
          <p:cNvGraphicFramePr>
            <a:graphicFrameLocks/>
          </p:cNvGraphicFramePr>
          <p:nvPr>
            <p:ph sz="quarter" idx="4294967295"/>
          </p:nvPr>
        </p:nvGraphicFramePr>
        <p:xfrm>
          <a:off x="1500166" y="4620260"/>
          <a:ext cx="6875145" cy="509270"/>
        </p:xfrm>
        <a:graphic>
          <a:graphicData uri="http://schemas.openxmlformats.org/presentationml/2006/ole">
            <p:oleObj spid="_x0000_s73729" r:id="rId4" imgW="2743200" imgH="223520" progId="ChemDraw.Document.6.0">
              <p:embed/>
            </p:oleObj>
          </a:graphicData>
        </a:graphic>
      </p:graphicFrame>
      <p:sp>
        <p:nvSpPr>
          <p:cNvPr id="66565" name="灯片编号占位符 1"/>
          <p:cNvSpPr>
            <a:spLocks noGrp="1"/>
          </p:cNvSpPr>
          <p:nvPr>
            <p:ph type="sldNum" sz="quarter" idx="12"/>
          </p:nvPr>
        </p:nvSpPr>
        <p:spPr>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400" dirty="0"/>
              <a:pPr lvl="0" indent="0" algn="r"/>
              <a:t>67</a:t>
            </a:fld>
            <a:endParaRPr lang="zh-CN" alt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522242"/>
                                        </p:tgtEl>
                                        <p:attrNameLst>
                                          <p:attrName>style.visibility</p:attrName>
                                        </p:attrNameLst>
                                      </p:cBhvr>
                                      <p:to>
                                        <p:strVal val="visible"/>
                                      </p:to>
                                    </p:set>
                                    <p:anim calcmode="lin" valueType="num">
                                      <p:cBhvr>
                                        <p:cTn id="7" dur="1" fill="hold"/>
                                        <p:tgtEl>
                                          <p:spTgt spid="522242"/>
                                        </p:tgtEl>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522243">
                                            <p:txEl>
                                              <p:pRg st="0" end="0"/>
                                            </p:txEl>
                                          </p:spTgt>
                                        </p:tgtEl>
                                        <p:attrNameLst>
                                          <p:attrName>style.visibility</p:attrName>
                                        </p:attrNameLst>
                                      </p:cBhvr>
                                      <p:to>
                                        <p:strVal val="visible"/>
                                      </p:to>
                                    </p:set>
                                    <p:anim calcmode="lin" valueType="num">
                                      <p:cBhvr>
                                        <p:cTn id="12" dur="1" fill="hold"/>
                                        <p:tgtEl>
                                          <p:spTgt spid="522243">
                                            <p:txEl>
                                              <p:pRg st="0" end="0"/>
                                            </p:txEl>
                                          </p:spTgt>
                                        </p:tgtEl>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nodeType="clickEffect">
                                  <p:stCondLst>
                                    <p:cond delay="0"/>
                                  </p:stCondLst>
                                  <p:childTnLst>
                                    <p:set>
                                      <p:cBhvr>
                                        <p:cTn id="16" dur="1" fill="hold">
                                          <p:stCondLst>
                                            <p:cond delay="0"/>
                                          </p:stCondLst>
                                        </p:cTn>
                                        <p:tgtEl>
                                          <p:spTgt spid="522243">
                                            <p:txEl>
                                              <p:pRg st="2" end="2"/>
                                            </p:txEl>
                                          </p:spTgt>
                                        </p:tgtEl>
                                        <p:attrNameLst>
                                          <p:attrName>style.visibility</p:attrName>
                                        </p:attrNameLst>
                                      </p:cBhvr>
                                      <p:to>
                                        <p:strVal val="visible"/>
                                      </p:to>
                                    </p:set>
                                    <p:anim calcmode="lin" valueType="num">
                                      <p:cBhvr>
                                        <p:cTn id="17" dur="1" fill="hold"/>
                                        <p:tgtEl>
                                          <p:spTgt spid="522243">
                                            <p:txEl>
                                              <p:pRg st="2" end="2"/>
                                            </p:txEl>
                                          </p:spTgt>
                                        </p:tgtEl>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nodeType="clickEffect">
                                  <p:stCondLst>
                                    <p:cond delay="0"/>
                                  </p:stCondLst>
                                  <p:childTnLst>
                                    <p:set>
                                      <p:cBhvr>
                                        <p:cTn id="21" dur="1" fill="hold">
                                          <p:stCondLst>
                                            <p:cond delay="0"/>
                                          </p:stCondLst>
                                        </p:cTn>
                                        <p:tgtEl>
                                          <p:spTgt spid="522244"/>
                                        </p:tgtEl>
                                        <p:attrNameLst>
                                          <p:attrName>style.visibility</p:attrName>
                                        </p:attrNameLst>
                                      </p:cBhvr>
                                      <p:to>
                                        <p:strVal val="visible"/>
                                      </p:to>
                                    </p:set>
                                    <p:anim calcmode="lin" valueType="num">
                                      <p:cBhvr>
                                        <p:cTn id="22" dur="1" fill="hold"/>
                                        <p:tgtEl>
                                          <p:spTgt spid="522244"/>
                                        </p:tgtEl>
                                      </p:cBhvr>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nodeType="clickEffect">
                                  <p:stCondLst>
                                    <p:cond delay="0"/>
                                  </p:stCondLst>
                                  <p:childTnLst>
                                    <p:set>
                                      <p:cBhvr>
                                        <p:cTn id="26" dur="1" fill="hold">
                                          <p:stCondLst>
                                            <p:cond delay="0"/>
                                          </p:stCondLst>
                                        </p:cTn>
                                        <p:tgtEl>
                                          <p:spTgt spid="522243">
                                            <p:txEl>
                                              <p:pRg st="5" end="5"/>
                                            </p:txEl>
                                          </p:spTgt>
                                        </p:tgtEl>
                                        <p:attrNameLst>
                                          <p:attrName>style.visibility</p:attrName>
                                        </p:attrNameLst>
                                      </p:cBhvr>
                                      <p:to>
                                        <p:strVal val="visible"/>
                                      </p:to>
                                    </p:set>
                                    <p:anim calcmode="lin" valueType="num">
                                      <p:cBhvr>
                                        <p:cTn id="27" dur="1" fill="hold"/>
                                        <p:tgtEl>
                                          <p:spTgt spid="522243">
                                            <p:txEl>
                                              <p:pRg st="5" end="5"/>
                                            </p:txEl>
                                          </p:spTgt>
                                        </p:tgtEl>
                                      </p:cBhvr>
                                    </p:anim>
                                  </p:childTnLst>
                                </p:cTn>
                              </p:par>
                            </p:childTnLst>
                          </p:cTn>
                        </p:par>
                      </p:childTnLst>
                    </p:cTn>
                  </p:par>
                  <p:par>
                    <p:cTn id="28" fill="hold">
                      <p:stCondLst>
                        <p:cond delay="indefinite"/>
                      </p:stCondLst>
                      <p:childTnLst>
                        <p:par>
                          <p:cTn id="29" fill="hold">
                            <p:stCondLst>
                              <p:cond delay="0"/>
                            </p:stCondLst>
                            <p:childTnLst>
                              <p:par>
                                <p:cTn id="30" presetID="24" presetClass="entr" presetSubtype="0" fill="hold" nodeType="clickEffect">
                                  <p:stCondLst>
                                    <p:cond delay="0"/>
                                  </p:stCondLst>
                                  <p:childTnLst>
                                    <p:set>
                                      <p:cBhvr>
                                        <p:cTn id="31" dur="1" fill="hold">
                                          <p:stCondLst>
                                            <p:cond delay="0"/>
                                          </p:stCondLst>
                                        </p:cTn>
                                        <p:tgtEl>
                                          <p:spTgt spid="522246"/>
                                        </p:tgtEl>
                                        <p:attrNameLst>
                                          <p:attrName>style.visibility</p:attrName>
                                        </p:attrNameLst>
                                      </p:cBhvr>
                                      <p:to>
                                        <p:strVal val="visible"/>
                                      </p:to>
                                    </p:set>
                                    <p:anim calcmode="lin" valueType="num">
                                      <p:cBhvr>
                                        <p:cTn id="32" dur="1" fill="hold"/>
                                        <p:tgtEl>
                                          <p:spTgt spid="522246"/>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42"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标题 460801"/>
          <p:cNvSpPr>
            <a:spLocks noGrp="1" noRot="1"/>
          </p:cNvSpPr>
          <p:nvPr>
            <p:ph type="title"/>
          </p:nvPr>
        </p:nvSpPr>
        <p:spPr>
          <a:xfrm>
            <a:off x="318135" y="163513"/>
            <a:ext cx="8229600" cy="1143000"/>
          </a:xfrm>
          <a:ln/>
        </p:spPr>
        <p:txBody>
          <a:bodyPr anchor="ctr"/>
          <a:lstStyle/>
          <a:p>
            <a:r>
              <a:rPr lang="en-US" altLang="zh-CN" sz="3600" b="1" dirty="0">
                <a:solidFill>
                  <a:srgbClr val="C00000"/>
                </a:solidFill>
                <a:ea typeface="楷体_GB2312" pitchFamily="49" charset="-122"/>
              </a:rPr>
              <a:t>9. </a:t>
            </a:r>
            <a:r>
              <a:rPr lang="en-US" altLang="zh-CN" sz="3600" b="1" dirty="0">
                <a:solidFill>
                  <a:srgbClr val="C00000"/>
                </a:solidFill>
                <a:latin typeface="Times New Roman" pitchFamily="18" charset="0"/>
                <a:ea typeface="楷体_GB2312" pitchFamily="49" charset="-122"/>
                <a:cs typeface="Times New Roman" pitchFamily="18" charset="0"/>
              </a:rPr>
              <a:t>K</a:t>
            </a:r>
            <a:r>
              <a:rPr lang="en-US" altLang="zh-CN" sz="3600" b="1" baseline="30000" dirty="0">
                <a:solidFill>
                  <a:srgbClr val="C00000"/>
                </a:solidFill>
                <a:latin typeface="Times New Roman" pitchFamily="18" charset="0"/>
                <a:ea typeface="楷体_GB2312" pitchFamily="49" charset="-122"/>
                <a:cs typeface="Times New Roman" pitchFamily="18" charset="0"/>
              </a:rPr>
              <a:t>+</a:t>
            </a:r>
            <a:r>
              <a:rPr lang="zh-CN" altLang="en-US" sz="3600" b="1" dirty="0">
                <a:solidFill>
                  <a:srgbClr val="C00000"/>
                </a:solidFill>
                <a:latin typeface="Times New Roman" pitchFamily="18" charset="0"/>
                <a:ea typeface="楷体_GB2312" pitchFamily="49" charset="-122"/>
                <a:cs typeface="Times New Roman" pitchFamily="18" charset="0"/>
              </a:rPr>
              <a:t>，</a:t>
            </a:r>
            <a:r>
              <a:rPr lang="en-US" altLang="zh-CN" sz="3600" b="1" dirty="0">
                <a:solidFill>
                  <a:srgbClr val="C00000"/>
                </a:solidFill>
                <a:latin typeface="Times New Roman" pitchFamily="18" charset="0"/>
                <a:ea typeface="楷体_GB2312" pitchFamily="49" charset="-122"/>
                <a:cs typeface="Times New Roman" pitchFamily="18" charset="0"/>
              </a:rPr>
              <a:t>Na</a:t>
            </a:r>
            <a:r>
              <a:rPr lang="en-US" altLang="zh-CN" sz="3600" b="1" baseline="30000" dirty="0">
                <a:solidFill>
                  <a:srgbClr val="C00000"/>
                </a:solidFill>
                <a:latin typeface="Times New Roman" pitchFamily="18" charset="0"/>
                <a:ea typeface="楷体_GB2312" pitchFamily="49" charset="-122"/>
                <a:cs typeface="Times New Roman" pitchFamily="18" charset="0"/>
              </a:rPr>
              <a:t>+</a:t>
            </a:r>
            <a:r>
              <a:rPr lang="zh-CN" altLang="en-US" sz="3600" b="1" dirty="0">
                <a:solidFill>
                  <a:srgbClr val="C00000"/>
                </a:solidFill>
                <a:latin typeface="Times New Roman" pitchFamily="18" charset="0"/>
                <a:ea typeface="楷体_GB2312" pitchFamily="49" charset="-122"/>
                <a:cs typeface="Times New Roman" pitchFamily="18" charset="0"/>
              </a:rPr>
              <a:t>和</a:t>
            </a:r>
            <a:r>
              <a:rPr lang="en-US" altLang="zh-CN" sz="3600" b="1" dirty="0">
                <a:solidFill>
                  <a:srgbClr val="C00000"/>
                </a:solidFill>
                <a:latin typeface="Times New Roman" pitchFamily="18" charset="0"/>
                <a:ea typeface="楷体_GB2312" pitchFamily="49" charset="-122"/>
                <a:cs typeface="Times New Roman" pitchFamily="18" charset="0"/>
              </a:rPr>
              <a:t>C1</a:t>
            </a:r>
            <a:r>
              <a:rPr lang="en-US" altLang="zh-CN" sz="3600" b="1" baseline="30000" dirty="0">
                <a:solidFill>
                  <a:srgbClr val="C00000"/>
                </a:solidFill>
                <a:latin typeface="Times New Roman" pitchFamily="18" charset="0"/>
                <a:ea typeface="楷体_GB2312" pitchFamily="49" charset="-122"/>
                <a:cs typeface="Times New Roman" pitchFamily="18" charset="0"/>
              </a:rPr>
              <a:t>-</a:t>
            </a:r>
            <a:r>
              <a:rPr lang="zh-CN" altLang="en-US" sz="3600" b="1" dirty="0">
                <a:solidFill>
                  <a:srgbClr val="C00000"/>
                </a:solidFill>
                <a:latin typeface="Times New Roman" pitchFamily="18" charset="0"/>
                <a:ea typeface="楷体_GB2312" pitchFamily="49" charset="-122"/>
                <a:cs typeface="Times New Roman" pitchFamily="18" charset="0"/>
              </a:rPr>
              <a:t>在体内的作用</a:t>
            </a:r>
          </a:p>
        </p:txBody>
      </p:sp>
      <p:sp>
        <p:nvSpPr>
          <p:cNvPr id="67586" name="文本占位符 460802"/>
          <p:cNvSpPr>
            <a:spLocks noGrp="1" noRot="1"/>
          </p:cNvSpPr>
          <p:nvPr>
            <p:ph idx="1"/>
          </p:nvPr>
        </p:nvSpPr>
        <p:spPr>
          <a:xfrm>
            <a:off x="234315" y="1082675"/>
            <a:ext cx="8313420" cy="4290541"/>
          </a:xfrm>
          <a:ln/>
        </p:spPr>
        <p:txBody>
          <a:bodyPr anchor="t"/>
          <a:lstStyle/>
          <a:p>
            <a:pPr latinLnBrk="0">
              <a:lnSpc>
                <a:spcPct val="150000"/>
              </a:lnSpc>
              <a:spcBef>
                <a:spcPts val="0"/>
              </a:spcBef>
            </a:pPr>
            <a:r>
              <a:rPr lang="zh-CN" altLang="en-US" sz="2800" b="1" dirty="0">
                <a:latin typeface="宋体" panose="02010600030101010101" pitchFamily="2" charset="-122"/>
                <a:ea typeface="宋体" panose="02010600030101010101" pitchFamily="2" charset="-122"/>
                <a:cs typeface="宋体" panose="02010600030101010101" pitchFamily="2" charset="-122"/>
              </a:rPr>
              <a:t> </a:t>
            </a:r>
            <a:r>
              <a:rPr lang="zh-CN" altLang="en-US" sz="2800" b="1" dirty="0" smtClean="0">
                <a:latin typeface="Times New Roman" pitchFamily="18" charset="0"/>
                <a:ea typeface="宋体" panose="02010600030101010101" pitchFamily="2" charset="-122"/>
                <a:cs typeface="Times New Roman" pitchFamily="18" charset="0"/>
              </a:rPr>
              <a:t>   </a:t>
            </a:r>
            <a:r>
              <a:rPr lang="en-US" altLang="zh-CN" sz="2800" b="1" dirty="0" smtClean="0">
                <a:latin typeface="Times New Roman" pitchFamily="18" charset="0"/>
                <a:ea typeface="宋体" panose="02010600030101010101" pitchFamily="2" charset="-122"/>
                <a:cs typeface="Times New Roman" pitchFamily="18" charset="0"/>
              </a:rPr>
              <a:t>K</a:t>
            </a:r>
            <a:r>
              <a:rPr lang="en-US" altLang="zh-CN" sz="2800" b="1" baseline="30000" dirty="0">
                <a:latin typeface="Times New Roman" pitchFamily="18" charset="0"/>
                <a:ea typeface="宋体" panose="02010600030101010101" pitchFamily="2" charset="-122"/>
                <a:cs typeface="Times New Roman" pitchFamily="18" charset="0"/>
              </a:rPr>
              <a:t>+</a:t>
            </a:r>
            <a:r>
              <a:rPr lang="zh-CN" altLang="en-US" sz="2800" b="1" dirty="0">
                <a:latin typeface="Times New Roman" pitchFamily="18" charset="0"/>
                <a:ea typeface="宋体" panose="02010600030101010101" pitchFamily="2" charset="-122"/>
                <a:cs typeface="Times New Roman" pitchFamily="18" charset="0"/>
              </a:rPr>
              <a:t>，</a:t>
            </a:r>
            <a:r>
              <a:rPr lang="en-US" altLang="zh-CN" sz="2800" b="1" dirty="0">
                <a:latin typeface="Times New Roman" pitchFamily="18" charset="0"/>
                <a:ea typeface="宋体" panose="02010600030101010101" pitchFamily="2" charset="-122"/>
                <a:cs typeface="Times New Roman" pitchFamily="18" charset="0"/>
              </a:rPr>
              <a:t>Na</a:t>
            </a:r>
            <a:r>
              <a:rPr lang="en-US" altLang="zh-CN" sz="2800" b="1" baseline="30000" dirty="0">
                <a:latin typeface="Times New Roman" pitchFamily="18" charset="0"/>
                <a:ea typeface="宋体" panose="02010600030101010101" pitchFamily="2" charset="-122"/>
                <a:cs typeface="Times New Roman" pitchFamily="18" charset="0"/>
              </a:rPr>
              <a:t>+</a:t>
            </a:r>
            <a:r>
              <a:rPr lang="zh-CN" altLang="en-US" sz="2800" b="1" dirty="0">
                <a:latin typeface="Times New Roman" pitchFamily="18" charset="0"/>
                <a:ea typeface="宋体" panose="02010600030101010101" pitchFamily="2" charset="-122"/>
                <a:cs typeface="Times New Roman" pitchFamily="18" charset="0"/>
              </a:rPr>
              <a:t>和</a:t>
            </a:r>
            <a:r>
              <a:rPr lang="en-US" altLang="zh-CN" sz="2800" b="1" dirty="0">
                <a:latin typeface="Times New Roman" pitchFamily="18" charset="0"/>
                <a:ea typeface="宋体" panose="02010600030101010101" pitchFamily="2" charset="-122"/>
                <a:cs typeface="Times New Roman" pitchFamily="18" charset="0"/>
              </a:rPr>
              <a:t>C1</a:t>
            </a:r>
            <a:r>
              <a:rPr lang="en-US" altLang="zh-CN" sz="2800" b="1" baseline="30000" dirty="0">
                <a:latin typeface="Times New Roman" pitchFamily="18" charset="0"/>
                <a:ea typeface="宋体" panose="02010600030101010101" pitchFamily="2" charset="-122"/>
                <a:cs typeface="Times New Roman" pitchFamily="18" charset="0"/>
              </a:rPr>
              <a:t>-</a:t>
            </a:r>
            <a:r>
              <a:rPr lang="zh-CN" altLang="en-US" sz="2800" b="1" dirty="0">
                <a:latin typeface="Times New Roman" pitchFamily="18" charset="0"/>
                <a:ea typeface="宋体" panose="02010600030101010101" pitchFamily="2" charset="-122"/>
                <a:cs typeface="Times New Roman" pitchFamily="18" charset="0"/>
              </a:rPr>
              <a:t>在体内的作用是错综复杂而又相互关联的。</a:t>
            </a:r>
            <a:r>
              <a:rPr lang="en-US" altLang="zh-CN" sz="2800" b="1" dirty="0">
                <a:latin typeface="Times New Roman" pitchFamily="18" charset="0"/>
                <a:ea typeface="宋体" panose="02010600030101010101" pitchFamily="2" charset="-122"/>
                <a:cs typeface="Times New Roman" pitchFamily="18" charset="0"/>
              </a:rPr>
              <a:t>K</a:t>
            </a:r>
            <a:r>
              <a:rPr lang="en-US" altLang="zh-CN" sz="2800" b="1" baseline="30000" dirty="0">
                <a:latin typeface="Times New Roman" pitchFamily="18" charset="0"/>
                <a:ea typeface="宋体" panose="02010600030101010101" pitchFamily="2" charset="-122"/>
                <a:cs typeface="Times New Roman" pitchFamily="18" charset="0"/>
              </a:rPr>
              <a:t>+</a:t>
            </a:r>
            <a:r>
              <a:rPr lang="zh-CN" altLang="en-US" sz="2800" b="1" dirty="0">
                <a:latin typeface="Times New Roman" pitchFamily="18" charset="0"/>
                <a:ea typeface="宋体" panose="02010600030101010101" pitchFamily="2" charset="-122"/>
                <a:cs typeface="Times New Roman" pitchFamily="18" charset="0"/>
              </a:rPr>
              <a:t>和</a:t>
            </a:r>
            <a:r>
              <a:rPr lang="en-US" altLang="zh-CN" sz="2800" b="1" dirty="0">
                <a:latin typeface="Times New Roman" pitchFamily="18" charset="0"/>
                <a:ea typeface="宋体" panose="02010600030101010101" pitchFamily="2" charset="-122"/>
                <a:cs typeface="Times New Roman" pitchFamily="18" charset="0"/>
              </a:rPr>
              <a:t>Na</a:t>
            </a:r>
            <a:r>
              <a:rPr lang="en-US" altLang="zh-CN" sz="2800" b="1" baseline="30000" dirty="0">
                <a:latin typeface="Times New Roman" pitchFamily="18" charset="0"/>
                <a:ea typeface="宋体" panose="02010600030101010101" pitchFamily="2" charset="-122"/>
                <a:cs typeface="Times New Roman" pitchFamily="18" charset="0"/>
              </a:rPr>
              <a:t>+</a:t>
            </a:r>
            <a:r>
              <a:rPr lang="zh-CN" altLang="en-US" sz="2800" b="1" dirty="0">
                <a:latin typeface="Times New Roman" pitchFamily="18" charset="0"/>
                <a:ea typeface="宋体" panose="02010600030101010101" pitchFamily="2" charset="-122"/>
                <a:cs typeface="Times New Roman" pitchFamily="18" charset="0"/>
              </a:rPr>
              <a:t>以</a:t>
            </a:r>
            <a:r>
              <a:rPr lang="en-US" altLang="zh-CN" sz="2800" b="1" dirty="0" err="1">
                <a:latin typeface="Times New Roman" pitchFamily="18" charset="0"/>
                <a:ea typeface="宋体" panose="02010600030101010101" pitchFamily="2" charset="-122"/>
                <a:cs typeface="Times New Roman" pitchFamily="18" charset="0"/>
              </a:rPr>
              <a:t>KCl</a:t>
            </a:r>
            <a:r>
              <a:rPr lang="zh-CN" altLang="en-US" sz="2800" b="1" dirty="0">
                <a:latin typeface="Times New Roman" pitchFamily="18" charset="0"/>
                <a:ea typeface="宋体" panose="02010600030101010101" pitchFamily="2" charset="-122"/>
                <a:cs typeface="Times New Roman" pitchFamily="18" charset="0"/>
              </a:rPr>
              <a:t>和</a:t>
            </a:r>
            <a:r>
              <a:rPr lang="en-US" altLang="zh-CN" sz="2800" b="1" dirty="0" err="1">
                <a:latin typeface="Times New Roman" pitchFamily="18" charset="0"/>
                <a:ea typeface="宋体" panose="02010600030101010101" pitchFamily="2" charset="-122"/>
                <a:cs typeface="Times New Roman" pitchFamily="18" charset="0"/>
              </a:rPr>
              <a:t>NaCl</a:t>
            </a:r>
            <a:r>
              <a:rPr lang="zh-CN" altLang="en-US" sz="2800" b="1" dirty="0">
                <a:latin typeface="Times New Roman" pitchFamily="18" charset="0"/>
                <a:ea typeface="宋体" panose="02010600030101010101" pitchFamily="2" charset="-122"/>
                <a:cs typeface="Times New Roman" pitchFamily="18" charset="0"/>
              </a:rPr>
              <a:t>的形式存在。</a:t>
            </a:r>
            <a:r>
              <a:rPr lang="en-US" altLang="zh-CN" sz="2800" b="1" dirty="0">
                <a:latin typeface="Times New Roman" pitchFamily="18" charset="0"/>
                <a:ea typeface="宋体" panose="02010600030101010101" pitchFamily="2" charset="-122"/>
                <a:cs typeface="Times New Roman" pitchFamily="18" charset="0"/>
              </a:rPr>
              <a:t>K</a:t>
            </a:r>
            <a:r>
              <a:rPr lang="en-US" altLang="zh-CN" sz="2800" b="1" baseline="30000" dirty="0">
                <a:latin typeface="Times New Roman" pitchFamily="18" charset="0"/>
                <a:ea typeface="宋体" panose="02010600030101010101" pitchFamily="2" charset="-122"/>
                <a:cs typeface="Times New Roman" pitchFamily="18" charset="0"/>
              </a:rPr>
              <a:t>+</a:t>
            </a:r>
            <a:r>
              <a:rPr lang="zh-CN" altLang="en-US" sz="2800" b="1" dirty="0">
                <a:latin typeface="Times New Roman" pitchFamily="18" charset="0"/>
                <a:ea typeface="宋体" panose="02010600030101010101" pitchFamily="2" charset="-122"/>
                <a:cs typeface="Times New Roman" pitchFamily="18" charset="0"/>
              </a:rPr>
              <a:t>，</a:t>
            </a:r>
            <a:r>
              <a:rPr lang="en-US" altLang="zh-CN" sz="2800" b="1" dirty="0">
                <a:latin typeface="Times New Roman" pitchFamily="18" charset="0"/>
                <a:ea typeface="宋体" panose="02010600030101010101" pitchFamily="2" charset="-122"/>
                <a:cs typeface="Times New Roman" pitchFamily="18" charset="0"/>
              </a:rPr>
              <a:t>Na</a:t>
            </a:r>
            <a:r>
              <a:rPr lang="en-US" altLang="zh-CN" sz="2800" b="1" baseline="30000" dirty="0">
                <a:latin typeface="Times New Roman" pitchFamily="18" charset="0"/>
                <a:ea typeface="宋体" panose="02010600030101010101" pitchFamily="2" charset="-122"/>
                <a:cs typeface="Times New Roman" pitchFamily="18" charset="0"/>
              </a:rPr>
              <a:t>+</a:t>
            </a:r>
            <a:r>
              <a:rPr lang="zh-CN" altLang="en-US" sz="2800" b="1" dirty="0">
                <a:latin typeface="Times New Roman" pitchFamily="18" charset="0"/>
                <a:ea typeface="宋体" panose="02010600030101010101" pitchFamily="2" charset="-122"/>
                <a:cs typeface="Times New Roman" pitchFamily="18" charset="0"/>
              </a:rPr>
              <a:t>，</a:t>
            </a:r>
            <a:r>
              <a:rPr lang="en-US" altLang="zh-CN" sz="2800" b="1" dirty="0">
                <a:latin typeface="Times New Roman" pitchFamily="18" charset="0"/>
                <a:ea typeface="宋体" panose="02010600030101010101" pitchFamily="2" charset="-122"/>
                <a:cs typeface="Times New Roman" pitchFamily="18" charset="0"/>
              </a:rPr>
              <a:t>C1</a:t>
            </a:r>
            <a:r>
              <a:rPr lang="en-US" altLang="zh-CN" sz="2800" b="1" baseline="30000" dirty="0">
                <a:latin typeface="Times New Roman" pitchFamily="18" charset="0"/>
                <a:ea typeface="宋体" panose="02010600030101010101" pitchFamily="2" charset="-122"/>
                <a:cs typeface="Times New Roman" pitchFamily="18" charset="0"/>
              </a:rPr>
              <a:t>-</a:t>
            </a:r>
            <a:r>
              <a:rPr lang="zh-CN" altLang="en-US" sz="2800" b="1" dirty="0">
                <a:latin typeface="Times New Roman" pitchFamily="18" charset="0"/>
                <a:ea typeface="宋体" panose="02010600030101010101" pitchFamily="2" charset="-122"/>
                <a:cs typeface="Times New Roman" pitchFamily="18" charset="0"/>
              </a:rPr>
              <a:t>的首要作用是控制细胞、组织液和血液内的电解质平衡</a:t>
            </a:r>
            <a:r>
              <a:rPr lang="en-US" altLang="zh-CN" sz="2800" b="1" dirty="0">
                <a:latin typeface="Times New Roman" pitchFamily="18" charset="0"/>
                <a:ea typeface="宋体" panose="02010600030101010101" pitchFamily="2" charset="-122"/>
                <a:cs typeface="Times New Roman" pitchFamily="18" charset="0"/>
              </a:rPr>
              <a:t>,</a:t>
            </a:r>
            <a:r>
              <a:rPr lang="zh-CN" altLang="en-US" sz="2800" b="1" dirty="0">
                <a:latin typeface="Times New Roman" pitchFamily="18" charset="0"/>
                <a:ea typeface="宋体" panose="02010600030101010101" pitchFamily="2" charset="-122"/>
                <a:cs typeface="Times New Roman" pitchFamily="18" charset="0"/>
              </a:rPr>
              <a:t>对保持体液的正常流通和控制体内的酸碱平衡都是必要的。</a:t>
            </a:r>
            <a:r>
              <a:rPr lang="en-US" altLang="zh-CN" sz="2800" b="1" dirty="0">
                <a:latin typeface="Times New Roman" pitchFamily="18" charset="0"/>
                <a:ea typeface="宋体" panose="02010600030101010101" pitchFamily="2" charset="-122"/>
                <a:cs typeface="Times New Roman" pitchFamily="18" charset="0"/>
              </a:rPr>
              <a:t>Na</a:t>
            </a:r>
            <a:r>
              <a:rPr lang="en-US" altLang="zh-CN" sz="2800" b="1" baseline="30000" dirty="0">
                <a:latin typeface="Times New Roman" pitchFamily="18" charset="0"/>
                <a:ea typeface="宋体" panose="02010600030101010101" pitchFamily="2" charset="-122"/>
                <a:cs typeface="Times New Roman" pitchFamily="18" charset="0"/>
              </a:rPr>
              <a:t>+</a:t>
            </a:r>
            <a:r>
              <a:rPr lang="zh-CN" altLang="en-US" sz="2800" b="1" dirty="0">
                <a:latin typeface="Times New Roman" pitchFamily="18" charset="0"/>
                <a:ea typeface="宋体" panose="02010600030101010101" pitchFamily="2" charset="-122"/>
                <a:cs typeface="Times New Roman" pitchFamily="18" charset="0"/>
              </a:rPr>
              <a:t>和</a:t>
            </a:r>
            <a:r>
              <a:rPr lang="en-US" altLang="zh-CN" sz="2800" b="1" dirty="0">
                <a:latin typeface="Times New Roman" pitchFamily="18" charset="0"/>
                <a:ea typeface="宋体" panose="02010600030101010101" pitchFamily="2" charset="-122"/>
                <a:cs typeface="Times New Roman" pitchFamily="18" charset="0"/>
              </a:rPr>
              <a:t>K</a:t>
            </a:r>
            <a:r>
              <a:rPr lang="en-US" altLang="zh-CN" sz="2800" b="1" baseline="30000" dirty="0">
                <a:latin typeface="Times New Roman" pitchFamily="18" charset="0"/>
                <a:ea typeface="宋体" panose="02010600030101010101" pitchFamily="2" charset="-122"/>
                <a:cs typeface="Times New Roman" pitchFamily="18" charset="0"/>
              </a:rPr>
              <a:t>+</a:t>
            </a:r>
            <a:r>
              <a:rPr lang="en-US" altLang="zh-CN" sz="2800" b="1" dirty="0">
                <a:latin typeface="Times New Roman" pitchFamily="18" charset="0"/>
                <a:ea typeface="宋体" panose="02010600030101010101" pitchFamily="2" charset="-122"/>
                <a:cs typeface="Times New Roman" pitchFamily="18" charset="0"/>
              </a:rPr>
              <a:t>(</a:t>
            </a:r>
            <a:r>
              <a:rPr lang="zh-CN" altLang="en-US" sz="2800" b="1" dirty="0">
                <a:latin typeface="Times New Roman" pitchFamily="18" charset="0"/>
                <a:ea typeface="宋体" panose="02010600030101010101" pitchFamily="2" charset="-122"/>
                <a:cs typeface="Times New Roman" pitchFamily="18" charset="0"/>
              </a:rPr>
              <a:t>与</a:t>
            </a:r>
            <a:r>
              <a:rPr lang="en-US" altLang="zh-CN" sz="2800" b="1" dirty="0">
                <a:latin typeface="Times New Roman" pitchFamily="18" charset="0"/>
                <a:ea typeface="宋体" panose="02010600030101010101" pitchFamily="2" charset="-122"/>
                <a:cs typeface="Times New Roman" pitchFamily="18" charset="0"/>
              </a:rPr>
              <a:t>Ca</a:t>
            </a:r>
            <a:r>
              <a:rPr lang="en-US" altLang="zh-CN" sz="2800" b="1" baseline="30000" dirty="0">
                <a:latin typeface="Times New Roman" pitchFamily="18" charset="0"/>
                <a:ea typeface="宋体" panose="02010600030101010101" pitchFamily="2" charset="-122"/>
                <a:cs typeface="Times New Roman" pitchFamily="18" charset="0"/>
              </a:rPr>
              <a:t>2+</a:t>
            </a:r>
            <a:r>
              <a:rPr lang="zh-CN" altLang="en-US" sz="2800" b="1" dirty="0">
                <a:latin typeface="Times New Roman" pitchFamily="18" charset="0"/>
                <a:ea typeface="宋体" panose="02010600030101010101" pitchFamily="2" charset="-122"/>
                <a:cs typeface="Times New Roman" pitchFamily="18" charset="0"/>
              </a:rPr>
              <a:t>和</a:t>
            </a:r>
            <a:r>
              <a:rPr lang="en-US" altLang="zh-CN" sz="2800" b="1" dirty="0">
                <a:latin typeface="Times New Roman" pitchFamily="18" charset="0"/>
                <a:ea typeface="宋体" panose="02010600030101010101" pitchFamily="2" charset="-122"/>
                <a:cs typeface="Times New Roman" pitchFamily="18" charset="0"/>
              </a:rPr>
              <a:t>Mg</a:t>
            </a:r>
            <a:r>
              <a:rPr lang="en-US" altLang="zh-CN" sz="2800" b="1" baseline="30000" dirty="0">
                <a:latin typeface="Times New Roman" pitchFamily="18" charset="0"/>
                <a:ea typeface="宋体" panose="02010600030101010101" pitchFamily="2" charset="-122"/>
                <a:cs typeface="Times New Roman" pitchFamily="18" charset="0"/>
              </a:rPr>
              <a:t>2+</a:t>
            </a:r>
            <a:r>
              <a:rPr lang="zh-CN" altLang="en-US" sz="2800" b="1" dirty="0">
                <a:latin typeface="Times New Roman" pitchFamily="18" charset="0"/>
                <a:ea typeface="宋体" panose="02010600030101010101" pitchFamily="2" charset="-122"/>
                <a:cs typeface="Times New Roman" pitchFamily="18" charset="0"/>
              </a:rPr>
              <a:t>一起</a:t>
            </a:r>
            <a:r>
              <a:rPr lang="en-US" altLang="zh-CN" sz="2800" b="1" dirty="0">
                <a:latin typeface="Times New Roman" pitchFamily="18" charset="0"/>
                <a:ea typeface="宋体" panose="02010600030101010101" pitchFamily="2" charset="-122"/>
                <a:cs typeface="Times New Roman" pitchFamily="18" charset="0"/>
              </a:rPr>
              <a:t>)</a:t>
            </a:r>
            <a:r>
              <a:rPr lang="zh-CN" altLang="en-US" sz="2800" b="1" dirty="0">
                <a:latin typeface="Times New Roman" pitchFamily="18" charset="0"/>
                <a:ea typeface="宋体" panose="02010600030101010101" pitchFamily="2" charset="-122"/>
                <a:cs typeface="Times New Roman" pitchFamily="18" charset="0"/>
              </a:rPr>
              <a:t>有助于使神经和肌肉保持适当的应激水平</a:t>
            </a:r>
            <a:r>
              <a:rPr lang="zh-CN" altLang="en-US" sz="2800" b="1" dirty="0" smtClean="0">
                <a:latin typeface="Times New Roman" pitchFamily="18" charset="0"/>
                <a:ea typeface="宋体" panose="02010600030101010101" pitchFamily="2" charset="-122"/>
                <a:cs typeface="Times New Roman" pitchFamily="18" charset="0"/>
              </a:rPr>
              <a:t>。</a:t>
            </a:r>
            <a:endParaRPr lang="zh-CN" altLang="en-US" sz="2800" dirty="0">
              <a:latin typeface="Times New Roman" pitchFamily="18" charset="0"/>
              <a:ea typeface="宋体" panose="02010600030101010101" pitchFamily="2" charset="-122"/>
              <a:cs typeface="Times New Roman" pitchFamily="18" charset="0"/>
            </a:endParaRPr>
          </a:p>
        </p:txBody>
      </p:sp>
      <p:sp>
        <p:nvSpPr>
          <p:cNvPr id="67587" name="灯片编号占位符 1"/>
          <p:cNvSpPr>
            <a:spLocks noGrp="1"/>
          </p:cNvSpPr>
          <p:nvPr>
            <p:ph type="sldNum" sz="quarter" idx="11"/>
          </p:nvPr>
        </p:nvSpPr>
        <p:spPr>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400" dirty="0"/>
              <a:pPr lvl="0" indent="0" algn="r"/>
              <a:t>68</a:t>
            </a:fld>
            <a:endParaRPr lang="zh-CN" altLang="en-US" sz="1400" dirty="0"/>
          </a:p>
        </p:txBody>
      </p:sp>
      <p:pic>
        <p:nvPicPr>
          <p:cNvPr id="92162" name="Picture 2" descr="http://img.mp.sohu.com/upload/20170807/54c8ccff4b6b4ddfbf1b3df4c62b6be2_th.png"/>
          <p:cNvPicPr>
            <a:picLocks noChangeAspect="1" noChangeArrowheads="1"/>
          </p:cNvPicPr>
          <p:nvPr/>
        </p:nvPicPr>
        <p:blipFill>
          <a:blip r:embed="rId2" cstate="print"/>
          <a:srcRect/>
          <a:stretch>
            <a:fillRect/>
          </a:stretch>
        </p:blipFill>
        <p:spPr bwMode="auto">
          <a:xfrm>
            <a:off x="4139952" y="5140496"/>
            <a:ext cx="3096344" cy="1717504"/>
          </a:xfrm>
          <a:prstGeom prst="rect">
            <a:avLst/>
          </a:prstGeom>
          <a:noFill/>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文本占位符 460802"/>
          <p:cNvSpPr>
            <a:spLocks noGrp="1" noRot="1"/>
          </p:cNvSpPr>
          <p:nvPr>
            <p:ph idx="1"/>
          </p:nvPr>
        </p:nvSpPr>
        <p:spPr>
          <a:xfrm>
            <a:off x="0" y="692696"/>
            <a:ext cx="8909685" cy="4526280"/>
          </a:xfrm>
          <a:ln/>
        </p:spPr>
        <p:txBody>
          <a:bodyPr anchor="t"/>
          <a:lstStyle/>
          <a:p>
            <a:pPr latinLnBrk="0">
              <a:lnSpc>
                <a:spcPct val="150000"/>
              </a:lnSpc>
              <a:spcBef>
                <a:spcPts val="0"/>
              </a:spcBef>
            </a:pPr>
            <a:r>
              <a:rPr lang="en-US" altLang="zh-CN" sz="2800" b="1" dirty="0" smtClean="0">
                <a:latin typeface="Times New Roman" pitchFamily="18" charset="0"/>
                <a:ea typeface="宋体" panose="02010600030101010101" pitchFamily="2" charset="-122"/>
                <a:cs typeface="Times New Roman" pitchFamily="18" charset="0"/>
              </a:rPr>
              <a:t>      </a:t>
            </a:r>
            <a:r>
              <a:rPr lang="en-US" altLang="zh-CN" sz="2800" b="1" dirty="0" err="1" smtClean="0">
                <a:latin typeface="Times New Roman" pitchFamily="18" charset="0"/>
                <a:ea typeface="宋体" panose="02010600030101010101" pitchFamily="2" charset="-122"/>
                <a:cs typeface="Times New Roman" pitchFamily="18" charset="0"/>
              </a:rPr>
              <a:t>NaCl</a:t>
            </a:r>
            <a:r>
              <a:rPr lang="zh-CN" altLang="en-US" sz="2800" b="1" dirty="0">
                <a:latin typeface="Times New Roman" pitchFamily="18" charset="0"/>
                <a:ea typeface="宋体" panose="02010600030101010101" pitchFamily="2" charset="-122"/>
                <a:cs typeface="Times New Roman" pitchFamily="18" charset="0"/>
              </a:rPr>
              <a:t>和</a:t>
            </a:r>
            <a:r>
              <a:rPr lang="en-US" altLang="zh-CN" sz="2800" b="1" dirty="0" err="1">
                <a:latin typeface="Times New Roman" pitchFamily="18" charset="0"/>
                <a:ea typeface="宋体" panose="02010600030101010101" pitchFamily="2" charset="-122"/>
                <a:cs typeface="Times New Roman" pitchFamily="18" charset="0"/>
              </a:rPr>
              <a:t>KCl</a:t>
            </a:r>
            <a:r>
              <a:rPr lang="zh-CN" altLang="en-US" sz="2800" b="1" dirty="0">
                <a:latin typeface="Times New Roman" pitchFamily="18" charset="0"/>
                <a:ea typeface="宋体" panose="02010600030101010101" pitchFamily="2" charset="-122"/>
                <a:cs typeface="Times New Roman" pitchFamily="18" charset="0"/>
              </a:rPr>
              <a:t>的作用还在于使蛋白质大分子保持在溶液之中，并使血液的粘性或稠度调节适当。人体的许多重要机能对这三种离子都有依赖关系，体内任何一种离子不平衡，都会对身体产生影响。</a:t>
            </a:r>
            <a:r>
              <a:rPr lang="zh-CN" altLang="en-US" sz="2800" dirty="0">
                <a:latin typeface="Times New Roman" pitchFamily="18" charset="0"/>
                <a:ea typeface="宋体" panose="02010600030101010101" pitchFamily="2" charset="-122"/>
                <a:cs typeface="Times New Roman" pitchFamily="18" charset="0"/>
              </a:rPr>
              <a:t> </a:t>
            </a:r>
          </a:p>
        </p:txBody>
      </p:sp>
      <p:sp>
        <p:nvSpPr>
          <p:cNvPr id="67587" name="灯片编号占位符 1"/>
          <p:cNvSpPr>
            <a:spLocks noGrp="1"/>
          </p:cNvSpPr>
          <p:nvPr>
            <p:ph type="sldNum" sz="quarter" idx="11"/>
          </p:nvPr>
        </p:nvSpPr>
        <p:spPr>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400" dirty="0"/>
              <a:pPr lvl="0" indent="0" algn="r"/>
              <a:t>69</a:t>
            </a:fld>
            <a:endParaRPr lang="zh-CN" altLang="en-US" sz="1400" dirty="0"/>
          </a:p>
        </p:txBody>
      </p:sp>
      <p:pic>
        <p:nvPicPr>
          <p:cNvPr id="94212" name="Picture 4" descr="http://xs3.op.xywy.com/api.iu1.xywy.com/cms/20171121/c2630e8a0b5cce3fb0d65ade6b6d44f993842.jpg"/>
          <p:cNvPicPr>
            <a:picLocks noChangeAspect="1" noChangeArrowheads="1"/>
          </p:cNvPicPr>
          <p:nvPr/>
        </p:nvPicPr>
        <p:blipFill>
          <a:blip r:embed="rId2" cstate="print"/>
          <a:srcRect/>
          <a:stretch>
            <a:fillRect/>
          </a:stretch>
        </p:blipFill>
        <p:spPr bwMode="auto">
          <a:xfrm>
            <a:off x="2521429" y="3473624"/>
            <a:ext cx="5052674" cy="3384376"/>
          </a:xfrm>
          <a:prstGeom prst="rect">
            <a:avLst/>
          </a:prstGeom>
          <a:noFill/>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标题 486401"/>
          <p:cNvSpPr>
            <a:spLocks noGrp="1" noRot="1"/>
          </p:cNvSpPr>
          <p:nvPr>
            <p:ph type="title"/>
          </p:nvPr>
        </p:nvSpPr>
        <p:spPr>
          <a:xfrm>
            <a:off x="262890" y="177483"/>
            <a:ext cx="8229600" cy="1143000"/>
          </a:xfrm>
          <a:ln/>
        </p:spPr>
        <p:txBody>
          <a:bodyPr anchor="ctr"/>
          <a:lstStyle/>
          <a:p>
            <a:r>
              <a:rPr lang="zh-CN" altLang="en-US" sz="3600" b="1" dirty="0">
                <a:solidFill>
                  <a:srgbClr val="0000FF"/>
                </a:solidFill>
                <a:ea typeface="楷体_GB2312" pitchFamily="49" charset="-122"/>
              </a:rPr>
              <a:t>元素在生物体内所起到的理化作用</a:t>
            </a:r>
            <a:r>
              <a:rPr lang="zh-CN" altLang="en-US" dirty="0">
                <a:solidFill>
                  <a:srgbClr val="0000FF"/>
                </a:solidFill>
              </a:rPr>
              <a:t> </a:t>
            </a:r>
          </a:p>
        </p:txBody>
      </p:sp>
      <p:sp>
        <p:nvSpPr>
          <p:cNvPr id="68610" name="文本占位符 486402"/>
          <p:cNvSpPr>
            <a:spLocks noGrp="1" noRot="1"/>
          </p:cNvSpPr>
          <p:nvPr>
            <p:ph idx="1"/>
          </p:nvPr>
        </p:nvSpPr>
        <p:spPr>
          <a:xfrm>
            <a:off x="457200" y="1320800"/>
            <a:ext cx="8229600" cy="4525963"/>
          </a:xfrm>
          <a:ln/>
        </p:spPr>
        <p:txBody>
          <a:bodyPr anchor="t"/>
          <a:lstStyle/>
          <a:p>
            <a:pPr algn="just" latinLnBrk="0">
              <a:lnSpc>
                <a:spcPct val="135000"/>
              </a:lnSpc>
              <a:spcBef>
                <a:spcPts val="0"/>
              </a:spcBef>
            </a:pPr>
            <a:r>
              <a:rPr lang="en-US" altLang="zh-CN" sz="2800" b="1" dirty="0" smtClean="0">
                <a:latin typeface="Times New Roman" pitchFamily="18" charset="0"/>
                <a:ea typeface="楷体_GB2312" pitchFamily="49" charset="-122"/>
                <a:cs typeface="Times New Roman" pitchFamily="18" charset="0"/>
              </a:rPr>
              <a:t>     (</a:t>
            </a:r>
            <a:r>
              <a:rPr lang="en-US" altLang="zh-CN" sz="2800" b="1" dirty="0">
                <a:latin typeface="Times New Roman" pitchFamily="18" charset="0"/>
                <a:ea typeface="楷体_GB2312" pitchFamily="49" charset="-122"/>
                <a:cs typeface="Times New Roman" pitchFamily="18" charset="0"/>
              </a:rPr>
              <a:t>1) </a:t>
            </a:r>
            <a:r>
              <a:rPr lang="zh-CN" altLang="en-US" sz="2800" b="1" dirty="0">
                <a:latin typeface="Times New Roman" pitchFamily="18" charset="0"/>
                <a:ea typeface="楷体_GB2312" pitchFamily="49" charset="-122"/>
                <a:cs typeface="Times New Roman" pitchFamily="18" charset="0"/>
              </a:rPr>
              <a:t>结构材料。无机元素中</a:t>
            </a:r>
            <a:r>
              <a:rPr lang="en-US" altLang="zh-CN" sz="2800" b="1" dirty="0">
                <a:latin typeface="Times New Roman" pitchFamily="18" charset="0"/>
                <a:ea typeface="楷体_GB2312" pitchFamily="49" charset="-122"/>
                <a:cs typeface="Times New Roman" pitchFamily="18" charset="0"/>
              </a:rPr>
              <a:t>Ca</a:t>
            </a:r>
            <a:r>
              <a:rPr lang="zh-CN" altLang="en-US" sz="2800" b="1" dirty="0">
                <a:latin typeface="Times New Roman" pitchFamily="18" charset="0"/>
                <a:ea typeface="楷体_GB2312" pitchFamily="49" charset="-122"/>
                <a:cs typeface="Times New Roman" pitchFamily="18" charset="0"/>
              </a:rPr>
              <a:t>，</a:t>
            </a:r>
            <a:r>
              <a:rPr lang="en-US" altLang="zh-CN" sz="2800" b="1" dirty="0">
                <a:latin typeface="Times New Roman" pitchFamily="18" charset="0"/>
                <a:ea typeface="楷体_GB2312" pitchFamily="49" charset="-122"/>
                <a:cs typeface="Times New Roman" pitchFamily="18" charset="0"/>
              </a:rPr>
              <a:t>P</a:t>
            </a:r>
            <a:r>
              <a:rPr lang="zh-CN" altLang="en-US" sz="2800" b="1" dirty="0">
                <a:latin typeface="Times New Roman" pitchFamily="18" charset="0"/>
                <a:ea typeface="楷体_GB2312" pitchFamily="49" charset="-122"/>
                <a:cs typeface="Times New Roman" pitchFamily="18" charset="0"/>
              </a:rPr>
              <a:t>构成硬组织，</a:t>
            </a:r>
            <a:r>
              <a:rPr lang="en-US" altLang="zh-CN" sz="2800" b="1" dirty="0">
                <a:latin typeface="Times New Roman" pitchFamily="18" charset="0"/>
                <a:ea typeface="楷体_GB2312" pitchFamily="49" charset="-122"/>
                <a:cs typeface="Times New Roman" pitchFamily="18" charset="0"/>
              </a:rPr>
              <a:t>C</a:t>
            </a:r>
            <a:r>
              <a:rPr lang="zh-CN" altLang="en-US" sz="2800" b="1" dirty="0">
                <a:latin typeface="Times New Roman" pitchFamily="18" charset="0"/>
                <a:ea typeface="楷体_GB2312" pitchFamily="49" charset="-122"/>
                <a:cs typeface="Times New Roman" pitchFamily="18" charset="0"/>
              </a:rPr>
              <a:t>，</a:t>
            </a:r>
            <a:r>
              <a:rPr lang="en-US" altLang="zh-CN" sz="2800" b="1" dirty="0">
                <a:latin typeface="Times New Roman" pitchFamily="18" charset="0"/>
                <a:ea typeface="楷体_GB2312" pitchFamily="49" charset="-122"/>
                <a:cs typeface="Times New Roman" pitchFamily="18" charset="0"/>
              </a:rPr>
              <a:t>H</a:t>
            </a:r>
            <a:r>
              <a:rPr lang="zh-CN" altLang="en-US" sz="2800" b="1" dirty="0">
                <a:latin typeface="Times New Roman" pitchFamily="18" charset="0"/>
                <a:ea typeface="楷体_GB2312" pitchFamily="49" charset="-122"/>
                <a:cs typeface="Times New Roman" pitchFamily="18" charset="0"/>
              </a:rPr>
              <a:t>，</a:t>
            </a:r>
            <a:r>
              <a:rPr lang="en-US" altLang="zh-CN" sz="2800" b="1" dirty="0">
                <a:latin typeface="Times New Roman" pitchFamily="18" charset="0"/>
                <a:ea typeface="楷体_GB2312" pitchFamily="49" charset="-122"/>
                <a:cs typeface="Times New Roman" pitchFamily="18" charset="0"/>
              </a:rPr>
              <a:t>O</a:t>
            </a:r>
            <a:r>
              <a:rPr lang="zh-CN" altLang="en-US" sz="2800" b="1" dirty="0">
                <a:latin typeface="Times New Roman" pitchFamily="18" charset="0"/>
                <a:ea typeface="楷体_GB2312" pitchFamily="49" charset="-122"/>
                <a:cs typeface="Times New Roman" pitchFamily="18" charset="0"/>
              </a:rPr>
              <a:t>，</a:t>
            </a:r>
            <a:r>
              <a:rPr lang="en-US" altLang="zh-CN" sz="2800" b="1" dirty="0">
                <a:latin typeface="Times New Roman" pitchFamily="18" charset="0"/>
                <a:ea typeface="楷体_GB2312" pitchFamily="49" charset="-122"/>
                <a:cs typeface="Times New Roman" pitchFamily="18" charset="0"/>
              </a:rPr>
              <a:t>N</a:t>
            </a:r>
            <a:r>
              <a:rPr lang="zh-CN" altLang="en-US" sz="2800" b="1" dirty="0">
                <a:latin typeface="Times New Roman" pitchFamily="18" charset="0"/>
                <a:ea typeface="楷体_GB2312" pitchFamily="49" charset="-122"/>
                <a:cs typeface="Times New Roman" pitchFamily="18" charset="0"/>
              </a:rPr>
              <a:t>，</a:t>
            </a:r>
            <a:r>
              <a:rPr lang="en-US" altLang="zh-CN" sz="2800" b="1" dirty="0">
                <a:latin typeface="Times New Roman" pitchFamily="18" charset="0"/>
                <a:ea typeface="楷体_GB2312" pitchFamily="49" charset="-122"/>
                <a:cs typeface="Times New Roman" pitchFamily="18" charset="0"/>
              </a:rPr>
              <a:t>S</a:t>
            </a:r>
            <a:r>
              <a:rPr lang="zh-CN" altLang="en-US" sz="2800" b="1" dirty="0">
                <a:latin typeface="Times New Roman" pitchFamily="18" charset="0"/>
                <a:ea typeface="楷体_GB2312" pitchFamily="49" charset="-122"/>
                <a:cs typeface="Times New Roman" pitchFamily="18" charset="0"/>
              </a:rPr>
              <a:t>构成有机大分子结构材料，如多糖、蛋白质等。</a:t>
            </a:r>
            <a:endParaRPr lang="zh-CN" altLang="en-US" sz="2800" dirty="0">
              <a:latin typeface="Times New Roman" pitchFamily="18" charset="0"/>
              <a:ea typeface="楷体_GB2312" pitchFamily="49" charset="-122"/>
              <a:cs typeface="Times New Roman" pitchFamily="18" charset="0"/>
            </a:endParaRPr>
          </a:p>
          <a:p>
            <a:pPr algn="just" latinLnBrk="0">
              <a:lnSpc>
                <a:spcPct val="135000"/>
              </a:lnSpc>
              <a:spcBef>
                <a:spcPts val="0"/>
              </a:spcBef>
            </a:pPr>
            <a:r>
              <a:rPr lang="en-US" altLang="zh-CN" sz="2800" b="1" dirty="0" smtClean="0">
                <a:latin typeface="Times New Roman" pitchFamily="18" charset="0"/>
                <a:ea typeface="楷体_GB2312" pitchFamily="49" charset="-122"/>
                <a:cs typeface="Times New Roman" pitchFamily="18" charset="0"/>
              </a:rPr>
              <a:t>    (</a:t>
            </a:r>
            <a:r>
              <a:rPr lang="en-US" altLang="zh-CN" sz="2800" b="1" dirty="0">
                <a:latin typeface="Times New Roman" pitchFamily="18" charset="0"/>
                <a:ea typeface="楷体_GB2312" pitchFamily="49" charset="-122"/>
                <a:cs typeface="Times New Roman" pitchFamily="18" charset="0"/>
              </a:rPr>
              <a:t>2) </a:t>
            </a:r>
            <a:r>
              <a:rPr lang="zh-CN" altLang="en-US" sz="2800" b="1" dirty="0">
                <a:latin typeface="Times New Roman" pitchFamily="18" charset="0"/>
                <a:ea typeface="楷体_GB2312" pitchFamily="49" charset="-122"/>
                <a:cs typeface="Times New Roman" pitchFamily="18" charset="0"/>
              </a:rPr>
              <a:t>运载作用。如含有</a:t>
            </a:r>
            <a:r>
              <a:rPr lang="en-US" altLang="zh-CN" sz="2800" b="1" dirty="0">
                <a:latin typeface="Times New Roman" pitchFamily="18" charset="0"/>
                <a:ea typeface="楷体_GB2312" pitchFamily="49" charset="-122"/>
                <a:cs typeface="Times New Roman" pitchFamily="18" charset="0"/>
              </a:rPr>
              <a:t>Fe</a:t>
            </a:r>
            <a:r>
              <a:rPr lang="en-US" altLang="zh-CN" sz="2800" b="1" baseline="30000" dirty="0">
                <a:latin typeface="Times New Roman" pitchFamily="18" charset="0"/>
                <a:ea typeface="楷体_GB2312" pitchFamily="49" charset="-122"/>
                <a:cs typeface="Times New Roman" pitchFamily="18" charset="0"/>
              </a:rPr>
              <a:t>2+</a:t>
            </a:r>
            <a:r>
              <a:rPr lang="zh-CN" altLang="en-US" sz="2800" b="1" dirty="0">
                <a:latin typeface="Times New Roman" pitchFamily="18" charset="0"/>
                <a:ea typeface="楷体_GB2312" pitchFamily="49" charset="-122"/>
                <a:cs typeface="Times New Roman" pitchFamily="18" charset="0"/>
              </a:rPr>
              <a:t>的血红蛋白对</a:t>
            </a:r>
            <a:r>
              <a:rPr lang="en-US" altLang="zh-CN" sz="2800" b="1" dirty="0">
                <a:latin typeface="Times New Roman" pitchFamily="18" charset="0"/>
                <a:ea typeface="楷体_GB2312" pitchFamily="49" charset="-122"/>
                <a:cs typeface="Times New Roman" pitchFamily="18" charset="0"/>
              </a:rPr>
              <a:t>O</a:t>
            </a:r>
            <a:r>
              <a:rPr lang="en-US" altLang="zh-CN" sz="2800" b="1" baseline="-30000" dirty="0">
                <a:latin typeface="Times New Roman" pitchFamily="18" charset="0"/>
                <a:ea typeface="楷体_GB2312" pitchFamily="49" charset="-122"/>
                <a:cs typeface="Times New Roman" pitchFamily="18" charset="0"/>
              </a:rPr>
              <a:t>2</a:t>
            </a:r>
            <a:r>
              <a:rPr lang="zh-CN" altLang="en-US" sz="2800" b="1" dirty="0">
                <a:latin typeface="Times New Roman" pitchFamily="18" charset="0"/>
                <a:ea typeface="楷体_GB2312" pitchFamily="49" charset="-122"/>
                <a:cs typeface="Times New Roman" pitchFamily="18" charset="0"/>
              </a:rPr>
              <a:t>和</a:t>
            </a:r>
            <a:r>
              <a:rPr lang="en-US" altLang="zh-CN" sz="2800" b="1" dirty="0">
                <a:latin typeface="Times New Roman" pitchFamily="18" charset="0"/>
                <a:ea typeface="楷体_GB2312" pitchFamily="49" charset="-122"/>
                <a:cs typeface="Times New Roman" pitchFamily="18" charset="0"/>
              </a:rPr>
              <a:t>CO</a:t>
            </a:r>
            <a:r>
              <a:rPr lang="en-US" altLang="zh-CN" sz="2800" b="1" baseline="-30000" dirty="0">
                <a:latin typeface="Times New Roman" pitchFamily="18" charset="0"/>
                <a:ea typeface="楷体_GB2312" pitchFamily="49" charset="-122"/>
                <a:cs typeface="Times New Roman" pitchFamily="18" charset="0"/>
              </a:rPr>
              <a:t>2</a:t>
            </a:r>
            <a:r>
              <a:rPr lang="zh-CN" altLang="en-US" sz="2800" b="1" dirty="0">
                <a:latin typeface="Times New Roman" pitchFamily="18" charset="0"/>
                <a:ea typeface="楷体_GB2312" pitchFamily="49" charset="-122"/>
                <a:cs typeface="Times New Roman" pitchFamily="18" charset="0"/>
              </a:rPr>
              <a:t>的运载作用等。</a:t>
            </a:r>
            <a:endParaRPr lang="zh-CN" altLang="en-US" sz="2800" dirty="0">
              <a:latin typeface="Times New Roman" pitchFamily="18" charset="0"/>
              <a:ea typeface="楷体_GB2312" pitchFamily="49" charset="-122"/>
              <a:cs typeface="Times New Roman" pitchFamily="18" charset="0"/>
            </a:endParaRPr>
          </a:p>
          <a:p>
            <a:pPr latinLnBrk="0">
              <a:lnSpc>
                <a:spcPct val="135000"/>
              </a:lnSpc>
              <a:spcBef>
                <a:spcPts val="0"/>
              </a:spcBef>
            </a:pPr>
            <a:r>
              <a:rPr lang="en-US" altLang="zh-CN" sz="2800" b="1" dirty="0" smtClean="0">
                <a:latin typeface="Times New Roman" pitchFamily="18" charset="0"/>
                <a:ea typeface="楷体_GB2312" pitchFamily="49" charset="-122"/>
                <a:cs typeface="Times New Roman" pitchFamily="18" charset="0"/>
              </a:rPr>
              <a:t>    (</a:t>
            </a:r>
            <a:r>
              <a:rPr lang="en-US" altLang="zh-CN" sz="2800" b="1" dirty="0">
                <a:latin typeface="Times New Roman" pitchFamily="18" charset="0"/>
                <a:ea typeface="楷体_GB2312" pitchFamily="49" charset="-122"/>
                <a:cs typeface="Times New Roman" pitchFamily="18" charset="0"/>
              </a:rPr>
              <a:t>3) </a:t>
            </a:r>
            <a:r>
              <a:rPr lang="zh-CN" altLang="en-US" sz="2800" b="1" dirty="0">
                <a:latin typeface="Times New Roman" pitchFamily="18" charset="0"/>
                <a:ea typeface="楷体_GB2312" pitchFamily="49" charset="-122"/>
                <a:cs typeface="Times New Roman" pitchFamily="18" charset="0"/>
              </a:rPr>
              <a:t>组成金属酶或作为酶的激活剂。</a:t>
            </a:r>
          </a:p>
          <a:p>
            <a:pPr latinLnBrk="0">
              <a:lnSpc>
                <a:spcPct val="135000"/>
              </a:lnSpc>
              <a:spcBef>
                <a:spcPts val="0"/>
              </a:spcBef>
            </a:pPr>
            <a:r>
              <a:rPr lang="en-US" altLang="zh-CN" sz="2800" b="1" dirty="0" smtClean="0">
                <a:latin typeface="Times New Roman" pitchFamily="18" charset="0"/>
                <a:ea typeface="楷体_GB2312" pitchFamily="49" charset="-122"/>
                <a:cs typeface="Times New Roman" pitchFamily="18" charset="0"/>
              </a:rPr>
              <a:t>    (</a:t>
            </a:r>
            <a:r>
              <a:rPr lang="en-US" altLang="zh-CN" sz="2800" b="1" dirty="0">
                <a:latin typeface="Times New Roman" pitchFamily="18" charset="0"/>
                <a:ea typeface="楷体_GB2312" pitchFamily="49" charset="-122"/>
                <a:cs typeface="Times New Roman" pitchFamily="18" charset="0"/>
              </a:rPr>
              <a:t>4) </a:t>
            </a:r>
            <a:r>
              <a:rPr lang="zh-CN" altLang="en-US" sz="2800" b="1" dirty="0">
                <a:latin typeface="Times New Roman" pitchFamily="18" charset="0"/>
                <a:ea typeface="楷体_GB2312" pitchFamily="49" charset="-122"/>
                <a:cs typeface="Times New Roman" pitchFamily="18" charset="0"/>
              </a:rPr>
              <a:t>调节体液的物理、化学特性。存在于体液中的</a:t>
            </a:r>
            <a:r>
              <a:rPr lang="en-US" altLang="zh-CN" sz="2800" b="1" dirty="0">
                <a:latin typeface="Times New Roman" pitchFamily="18" charset="0"/>
                <a:ea typeface="楷体_GB2312" pitchFamily="49" charset="-122"/>
                <a:cs typeface="Times New Roman" pitchFamily="18" charset="0"/>
              </a:rPr>
              <a:t>Na</a:t>
            </a:r>
            <a:r>
              <a:rPr lang="en-US" altLang="zh-CN" sz="2800" b="1" baseline="30000" dirty="0">
                <a:latin typeface="Times New Roman" pitchFamily="18" charset="0"/>
                <a:ea typeface="楷体_GB2312" pitchFamily="49" charset="-122"/>
                <a:cs typeface="Times New Roman" pitchFamily="18" charset="0"/>
              </a:rPr>
              <a:t>+</a:t>
            </a:r>
            <a:r>
              <a:rPr lang="zh-CN" altLang="en-US" sz="2800" b="1" dirty="0">
                <a:latin typeface="Times New Roman" pitchFamily="18" charset="0"/>
                <a:ea typeface="楷体_GB2312" pitchFamily="49" charset="-122"/>
                <a:cs typeface="Times New Roman" pitchFamily="18" charset="0"/>
              </a:rPr>
              <a:t>，</a:t>
            </a:r>
            <a:r>
              <a:rPr lang="en-US" altLang="zh-CN" sz="2800" b="1" dirty="0">
                <a:latin typeface="Times New Roman" pitchFamily="18" charset="0"/>
                <a:ea typeface="楷体_GB2312" pitchFamily="49" charset="-122"/>
                <a:cs typeface="Times New Roman" pitchFamily="18" charset="0"/>
              </a:rPr>
              <a:t>K</a:t>
            </a:r>
            <a:r>
              <a:rPr lang="en-US" altLang="zh-CN" sz="2800" b="1" baseline="30000" dirty="0">
                <a:latin typeface="Times New Roman" pitchFamily="18" charset="0"/>
                <a:ea typeface="楷体_GB2312" pitchFamily="49" charset="-122"/>
                <a:cs typeface="Times New Roman" pitchFamily="18" charset="0"/>
              </a:rPr>
              <a:t>+</a:t>
            </a:r>
            <a:r>
              <a:rPr lang="zh-CN" altLang="en-US" sz="2800" b="1" dirty="0">
                <a:latin typeface="Times New Roman" pitchFamily="18" charset="0"/>
                <a:ea typeface="楷体_GB2312" pitchFamily="49" charset="-122"/>
                <a:cs typeface="Times New Roman" pitchFamily="18" charset="0"/>
              </a:rPr>
              <a:t>，</a:t>
            </a:r>
            <a:r>
              <a:rPr lang="en-US" altLang="zh-CN" sz="2800" b="1" dirty="0" err="1">
                <a:latin typeface="Times New Roman" pitchFamily="18" charset="0"/>
                <a:ea typeface="楷体_GB2312" pitchFamily="49" charset="-122"/>
                <a:cs typeface="Times New Roman" pitchFamily="18" charset="0"/>
              </a:rPr>
              <a:t>Cl</a:t>
            </a:r>
            <a:r>
              <a:rPr lang="en-US" altLang="zh-CN" sz="2800" b="1" baseline="30000" dirty="0">
                <a:latin typeface="Times New Roman" pitchFamily="18" charset="0"/>
                <a:ea typeface="楷体_GB2312" pitchFamily="49" charset="-122"/>
                <a:cs typeface="Times New Roman" pitchFamily="18" charset="0"/>
              </a:rPr>
              <a:t>-</a:t>
            </a:r>
            <a:r>
              <a:rPr lang="zh-CN" altLang="en-US" sz="2800" b="1" dirty="0">
                <a:latin typeface="Times New Roman" pitchFamily="18" charset="0"/>
                <a:ea typeface="楷体_GB2312" pitchFamily="49" charset="-122"/>
                <a:cs typeface="Times New Roman" pitchFamily="18" charset="0"/>
              </a:rPr>
              <a:t>等发挥了重要作用。 </a:t>
            </a:r>
            <a:r>
              <a:rPr lang="zh-CN" altLang="en-US" sz="2800" dirty="0">
                <a:latin typeface="Times New Roman" pitchFamily="18" charset="0"/>
                <a:ea typeface="楷体_GB2312" pitchFamily="49" charset="-122"/>
                <a:cs typeface="Times New Roman" pitchFamily="18" charset="0"/>
              </a:rPr>
              <a:t> </a:t>
            </a:r>
          </a:p>
        </p:txBody>
      </p:sp>
      <p:sp>
        <p:nvSpPr>
          <p:cNvPr id="68611" name="灯片编号占位符 1"/>
          <p:cNvSpPr>
            <a:spLocks noGrp="1"/>
          </p:cNvSpPr>
          <p:nvPr>
            <p:ph type="sldNum" sz="quarter" idx="11"/>
          </p:nvPr>
        </p:nvSpPr>
        <p:spPr>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400" dirty="0"/>
              <a:pPr lvl="0" indent="0" algn="r"/>
              <a:t>70</a:t>
            </a:fld>
            <a:endParaRPr lang="zh-CN" altLang="en-US" sz="1400" dirty="0"/>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427" name="内容占位符 487426"/>
          <p:cNvSpPr>
            <a:spLocks noGrp="1" noRot="1"/>
          </p:cNvSpPr>
          <p:nvPr>
            <p:ph idx="1"/>
          </p:nvPr>
        </p:nvSpPr>
        <p:spPr>
          <a:xfrm>
            <a:off x="251520" y="476672"/>
            <a:ext cx="8511480" cy="4525963"/>
          </a:xfrm>
          <a:ln/>
        </p:spPr>
        <p:txBody>
          <a:bodyPr anchor="t"/>
          <a:lstStyle/>
          <a:p>
            <a:pPr algn="just" latinLnBrk="0">
              <a:lnSpc>
                <a:spcPct val="135000"/>
              </a:lnSpc>
              <a:spcBef>
                <a:spcPts val="0"/>
              </a:spcBef>
            </a:pPr>
            <a:r>
              <a:rPr lang="en-US" altLang="zh-CN" sz="2800" b="1" dirty="0">
                <a:latin typeface="宋体" panose="02010600030101010101" pitchFamily="2" charset="-122"/>
                <a:ea typeface="宋体" panose="02010600030101010101" pitchFamily="2" charset="-122"/>
                <a:cs typeface="宋体" panose="02010600030101010101" pitchFamily="2" charset="-122"/>
              </a:rPr>
              <a:t>(5)“</a:t>
            </a:r>
            <a:r>
              <a:rPr lang="zh-CN" altLang="en-US" sz="2800" b="1" dirty="0">
                <a:latin typeface="宋体" panose="02010600030101010101" pitchFamily="2" charset="-122"/>
                <a:ea typeface="宋体" panose="02010600030101010101" pitchFamily="2" charset="-122"/>
                <a:cs typeface="宋体" panose="02010600030101010101" pitchFamily="2" charset="-122"/>
              </a:rPr>
              <a:t>信使”作用。化学信号的接受器是蛋白质。</a:t>
            </a:r>
            <a:r>
              <a:rPr lang="en-US" altLang="zh-CN" sz="2800" b="1" dirty="0">
                <a:latin typeface="宋体" panose="02010600030101010101" pitchFamily="2" charset="-122"/>
                <a:ea typeface="宋体" panose="02010600030101010101" pitchFamily="2" charset="-122"/>
                <a:cs typeface="宋体" panose="02010600030101010101" pitchFamily="2" charset="-122"/>
              </a:rPr>
              <a:t>Ca</a:t>
            </a:r>
            <a:r>
              <a:rPr lang="en-US" altLang="zh-CN" sz="2800" b="1" baseline="30000" dirty="0">
                <a:latin typeface="宋体" panose="02010600030101010101" pitchFamily="2" charset="-122"/>
                <a:ea typeface="宋体" panose="02010600030101010101" pitchFamily="2" charset="-122"/>
                <a:cs typeface="宋体" panose="02010600030101010101" pitchFamily="2" charset="-122"/>
              </a:rPr>
              <a:t>+</a:t>
            </a:r>
            <a:r>
              <a:rPr lang="zh-CN" altLang="en-US" sz="2800" b="1" dirty="0">
                <a:latin typeface="宋体" panose="02010600030101010101" pitchFamily="2" charset="-122"/>
                <a:ea typeface="宋体" panose="02010600030101010101" pitchFamily="2" charset="-122"/>
                <a:cs typeface="宋体" panose="02010600030101010101" pitchFamily="2" charset="-122"/>
              </a:rPr>
              <a:t>作为细胞中功能最多的信使，它的主要受体是一种由很多氨基酸组成的单肽链蛋白质，称钙媒介蛋白质</a:t>
            </a:r>
            <a:r>
              <a:rPr lang="en-US" altLang="zh-CN" sz="2800" b="1" dirty="0">
                <a:latin typeface="宋体" panose="02010600030101010101" pitchFamily="2" charset="-122"/>
                <a:ea typeface="宋体" panose="02010600030101010101" pitchFamily="2" charset="-122"/>
                <a:cs typeface="宋体" panose="02010600030101010101" pitchFamily="2" charset="-122"/>
              </a:rPr>
              <a:t>(</a:t>
            </a:r>
            <a:r>
              <a:rPr lang="zh-CN" altLang="en-US" sz="2800" b="1" dirty="0">
                <a:latin typeface="宋体" panose="02010600030101010101" pitchFamily="2" charset="-122"/>
                <a:ea typeface="宋体" panose="02010600030101010101" pitchFamily="2" charset="-122"/>
                <a:cs typeface="宋体" panose="02010600030101010101" pitchFamily="2" charset="-122"/>
              </a:rPr>
              <a:t>分子量为</a:t>
            </a:r>
            <a:r>
              <a:rPr lang="en-US" altLang="zh-CN" sz="2800" b="1" dirty="0">
                <a:latin typeface="宋体" panose="02010600030101010101" pitchFamily="2" charset="-122"/>
                <a:ea typeface="宋体" panose="02010600030101010101" pitchFamily="2" charset="-122"/>
                <a:cs typeface="宋体" panose="02010600030101010101" pitchFamily="2" charset="-122"/>
              </a:rPr>
              <a:t>16700)</a:t>
            </a:r>
            <a:r>
              <a:rPr lang="zh-CN" altLang="en-US" sz="2800" b="1" dirty="0">
                <a:latin typeface="宋体" panose="02010600030101010101" pitchFamily="2" charset="-122"/>
                <a:ea typeface="宋体" panose="02010600030101010101" pitchFamily="2" charset="-122"/>
                <a:cs typeface="宋体" panose="02010600030101010101" pitchFamily="2" charset="-122"/>
              </a:rPr>
              <a:t>。</a:t>
            </a:r>
            <a:endParaRPr lang="zh-CN" altLang="en-US" sz="2800" dirty="0">
              <a:latin typeface="宋体" panose="02010600030101010101" pitchFamily="2" charset="-122"/>
              <a:ea typeface="宋体" panose="02010600030101010101" pitchFamily="2" charset="-122"/>
              <a:cs typeface="宋体" panose="02010600030101010101" pitchFamily="2" charset="-122"/>
            </a:endParaRPr>
          </a:p>
          <a:p>
            <a:pPr latinLnBrk="0">
              <a:lnSpc>
                <a:spcPct val="135000"/>
              </a:lnSpc>
              <a:spcBef>
                <a:spcPts val="0"/>
              </a:spcBef>
            </a:pPr>
            <a:r>
              <a:rPr lang="zh-CN" altLang="en-US" sz="2800" b="1" dirty="0">
                <a:latin typeface="宋体" panose="02010600030101010101" pitchFamily="2" charset="-122"/>
                <a:ea typeface="宋体" panose="02010600030101010101" pitchFamily="2" charset="-122"/>
                <a:cs typeface="宋体" panose="02010600030101010101" pitchFamily="2" charset="-122"/>
              </a:rPr>
              <a:t>有些元素可同时在几个方面发挥作用。例如</a:t>
            </a:r>
            <a:r>
              <a:rPr lang="en-US" altLang="zh-CN" sz="2800" b="1" dirty="0">
                <a:latin typeface="宋体" panose="02010600030101010101" pitchFamily="2" charset="-122"/>
                <a:ea typeface="宋体" panose="02010600030101010101" pitchFamily="2" charset="-122"/>
                <a:cs typeface="宋体" panose="02010600030101010101" pitchFamily="2" charset="-122"/>
              </a:rPr>
              <a:t>Ca</a:t>
            </a:r>
            <a:r>
              <a:rPr lang="en-US" altLang="zh-CN" sz="2800" b="1" baseline="30000" dirty="0">
                <a:latin typeface="宋体" panose="02010600030101010101" pitchFamily="2" charset="-122"/>
                <a:ea typeface="宋体" panose="02010600030101010101" pitchFamily="2" charset="-122"/>
                <a:cs typeface="宋体" panose="02010600030101010101" pitchFamily="2" charset="-122"/>
              </a:rPr>
              <a:t>2+</a:t>
            </a:r>
            <a:r>
              <a:rPr lang="zh-CN" altLang="en-US" sz="2800" b="1" dirty="0">
                <a:latin typeface="宋体" panose="02010600030101010101" pitchFamily="2" charset="-122"/>
                <a:ea typeface="宋体" panose="02010600030101010101" pitchFamily="2" charset="-122"/>
                <a:cs typeface="宋体" panose="02010600030101010101" pitchFamily="2" charset="-122"/>
              </a:rPr>
              <a:t>就有多方面的生物功能。</a:t>
            </a:r>
            <a:r>
              <a:rPr lang="zh-CN" altLang="en-US" sz="2800" dirty="0">
                <a:latin typeface="宋体" panose="02010600030101010101" pitchFamily="2" charset="-122"/>
                <a:ea typeface="宋体" panose="02010600030101010101" pitchFamily="2" charset="-122"/>
                <a:cs typeface="宋体" panose="02010600030101010101" pitchFamily="2" charset="-122"/>
              </a:rPr>
              <a:t> </a:t>
            </a:r>
          </a:p>
        </p:txBody>
      </p:sp>
      <p:sp>
        <p:nvSpPr>
          <p:cNvPr id="69634" name="灯片编号占位符 1"/>
          <p:cNvSpPr>
            <a:spLocks noGrp="1"/>
          </p:cNvSpPr>
          <p:nvPr>
            <p:ph type="sldNum" sz="quarter" idx="11"/>
          </p:nvPr>
        </p:nvSpPr>
        <p:spPr>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400" dirty="0"/>
              <a:pPr lvl="0" indent="0" algn="r"/>
              <a:t>71</a:t>
            </a:fld>
            <a:endParaRPr lang="zh-CN" altLang="en-US" sz="1400" dirty="0"/>
          </a:p>
        </p:txBody>
      </p:sp>
      <p:pic>
        <p:nvPicPr>
          <p:cNvPr id="5" name="Picture 2" descr="http://photocdn.sohu.com/20150427/mp12577775_1430115413932_6.jpeg"/>
          <p:cNvPicPr>
            <a:picLocks noChangeAspect="1" noChangeArrowheads="1"/>
          </p:cNvPicPr>
          <p:nvPr/>
        </p:nvPicPr>
        <p:blipFill>
          <a:blip r:embed="rId2" cstate="print"/>
          <a:srcRect/>
          <a:stretch>
            <a:fillRect/>
          </a:stretch>
        </p:blipFill>
        <p:spPr bwMode="auto">
          <a:xfrm>
            <a:off x="4319464" y="3706971"/>
            <a:ext cx="4824536" cy="3023376"/>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487427">
                                            <p:txEl>
                                              <p:pRg st="0" end="0"/>
                                            </p:txEl>
                                          </p:spTgt>
                                        </p:tgtEl>
                                        <p:attrNameLst>
                                          <p:attrName>style.visibility</p:attrName>
                                        </p:attrNameLst>
                                      </p:cBhvr>
                                      <p:to>
                                        <p:strVal val="visible"/>
                                      </p:to>
                                    </p:set>
                                    <p:anim calcmode="lin" valueType="num">
                                      <p:cBhvr>
                                        <p:cTn id="7" dur="1" fill="hold"/>
                                        <p:tgtEl>
                                          <p:spTgt spid="487427">
                                            <p:txEl>
                                              <p:pRg st="0" end="0"/>
                                            </p:txEl>
                                          </p:spTgt>
                                        </p:tgtEl>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487427">
                                            <p:txEl>
                                              <p:pRg st="1" end="1"/>
                                            </p:txEl>
                                          </p:spTgt>
                                        </p:tgtEl>
                                        <p:attrNameLst>
                                          <p:attrName>style.visibility</p:attrName>
                                        </p:attrNameLst>
                                      </p:cBhvr>
                                      <p:to>
                                        <p:strVal val="visible"/>
                                      </p:to>
                                    </p:set>
                                    <p:anim calcmode="lin" valueType="num">
                                      <p:cBhvr>
                                        <p:cTn id="12" dur="1" fill="hold"/>
                                        <p:tgtEl>
                                          <p:spTgt spid="487427">
                                            <p:txEl>
                                              <p:pRg st="1" end="1"/>
                                            </p:txEl>
                                          </p:spTgt>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827" name="内容占位符 461826"/>
          <p:cNvSpPr>
            <a:spLocks noGrp="1" noRot="1"/>
          </p:cNvSpPr>
          <p:nvPr>
            <p:ph idx="1"/>
          </p:nvPr>
        </p:nvSpPr>
        <p:spPr>
          <a:xfrm>
            <a:off x="511810" y="998855"/>
            <a:ext cx="8368030" cy="4526280"/>
          </a:xfrm>
          <a:ln/>
        </p:spPr>
        <p:txBody>
          <a:bodyPr anchor="t"/>
          <a:lstStyle/>
          <a:p>
            <a:pPr latinLnBrk="0">
              <a:lnSpc>
                <a:spcPct val="135000"/>
              </a:lnSpc>
              <a:spcBef>
                <a:spcPts val="0"/>
              </a:spcBef>
            </a:pPr>
            <a:r>
              <a:rPr lang="zh-CN" altLang="en-US" sz="2800" b="1" dirty="0">
                <a:latin typeface="Times New Roman" pitchFamily="18" charset="0"/>
                <a:ea typeface="楷体_GB2312" pitchFamily="49" charset="-122"/>
                <a:cs typeface="Times New Roman" pitchFamily="18" charset="0"/>
              </a:rPr>
              <a:t>微量元素在不同体内部位的水平与人体健康关系极大。有些疾病的发生和微量元素的平衡失调关系密切。例如我国地方病</a:t>
            </a:r>
            <a:r>
              <a:rPr lang="en-US" altLang="zh-CN" sz="2800" b="1" dirty="0">
                <a:latin typeface="Times New Roman" pitchFamily="18" charset="0"/>
                <a:ea typeface="楷体_GB2312" pitchFamily="49" charset="-122"/>
                <a:cs typeface="Times New Roman" pitchFamily="18" charset="0"/>
              </a:rPr>
              <a:t>-</a:t>
            </a:r>
            <a:r>
              <a:rPr lang="zh-CN" altLang="en-US" sz="2800" b="1" dirty="0">
                <a:latin typeface="Times New Roman" pitchFamily="18" charset="0"/>
                <a:ea typeface="楷体_GB2312" pitchFamily="49" charset="-122"/>
                <a:cs typeface="Times New Roman" pitchFamily="18" charset="0"/>
              </a:rPr>
              <a:t>克山病是与缺硒有关的心肌坏死；地方性甲状腺肿、地方性克汀病则是由于严重缺碘引起的等等。</a:t>
            </a:r>
            <a:r>
              <a:rPr lang="zh-CN" altLang="en-US" sz="2800" dirty="0">
                <a:latin typeface="Times New Roman" pitchFamily="18" charset="0"/>
                <a:ea typeface="楷体_GB2312" pitchFamily="49" charset="-122"/>
                <a:cs typeface="Times New Roman" pitchFamily="18" charset="0"/>
              </a:rPr>
              <a:t> </a:t>
            </a:r>
          </a:p>
          <a:p>
            <a:pPr latinLnBrk="0">
              <a:lnSpc>
                <a:spcPct val="135000"/>
              </a:lnSpc>
              <a:spcBef>
                <a:spcPts val="0"/>
              </a:spcBef>
            </a:pPr>
            <a:r>
              <a:rPr lang="zh-CN" altLang="en-US" sz="2800" b="1" dirty="0">
                <a:latin typeface="Times New Roman" pitchFamily="18" charset="0"/>
                <a:ea typeface="楷体_GB2312" pitchFamily="49" charset="-122"/>
                <a:cs typeface="Times New Roman" pitchFamily="18" charset="0"/>
              </a:rPr>
              <a:t>人体中也含有非必需微量元素，甚至有害元素如</a:t>
            </a:r>
            <a:r>
              <a:rPr lang="en-US" altLang="zh-CN" sz="2800" b="1" dirty="0" err="1">
                <a:latin typeface="Times New Roman" pitchFamily="18" charset="0"/>
                <a:ea typeface="楷体_GB2312" pitchFamily="49" charset="-122"/>
                <a:cs typeface="Times New Roman" pitchFamily="18" charset="0"/>
              </a:rPr>
              <a:t>Cd</a:t>
            </a:r>
            <a:r>
              <a:rPr lang="zh-CN" altLang="en-US" sz="2800" b="1" dirty="0">
                <a:latin typeface="Times New Roman" pitchFamily="18" charset="0"/>
                <a:ea typeface="楷体_GB2312" pitchFamily="49" charset="-122"/>
                <a:cs typeface="Times New Roman" pitchFamily="18" charset="0"/>
              </a:rPr>
              <a:t>，</a:t>
            </a:r>
            <a:r>
              <a:rPr lang="en-US" altLang="zh-CN" sz="2800" b="1" dirty="0">
                <a:latin typeface="Times New Roman" pitchFamily="18" charset="0"/>
                <a:ea typeface="楷体_GB2312" pitchFamily="49" charset="-122"/>
                <a:cs typeface="Times New Roman" pitchFamily="18" charset="0"/>
              </a:rPr>
              <a:t>Hg</a:t>
            </a:r>
            <a:r>
              <a:rPr lang="zh-CN" altLang="en-US" sz="2800" b="1" dirty="0">
                <a:latin typeface="Times New Roman" pitchFamily="18" charset="0"/>
                <a:ea typeface="楷体_GB2312" pitchFamily="49" charset="-122"/>
                <a:cs typeface="Times New Roman" pitchFamily="18" charset="0"/>
              </a:rPr>
              <a:t>，</a:t>
            </a:r>
            <a:r>
              <a:rPr lang="en-US" altLang="zh-CN" sz="2800" b="1" dirty="0" err="1">
                <a:latin typeface="Times New Roman" pitchFamily="18" charset="0"/>
                <a:ea typeface="楷体_GB2312" pitchFamily="49" charset="-122"/>
                <a:cs typeface="Times New Roman" pitchFamily="18" charset="0"/>
              </a:rPr>
              <a:t>Pb</a:t>
            </a:r>
            <a:r>
              <a:rPr lang="en-US" altLang="zh-CN" sz="2800" b="1" dirty="0">
                <a:latin typeface="Times New Roman" pitchFamily="18" charset="0"/>
                <a:ea typeface="楷体_GB2312" pitchFamily="49" charset="-122"/>
                <a:cs typeface="Times New Roman" pitchFamily="18" charset="0"/>
              </a:rPr>
              <a:t>, F</a:t>
            </a:r>
            <a:r>
              <a:rPr lang="zh-CN" altLang="en-US" sz="2800" b="1" dirty="0">
                <a:latin typeface="Times New Roman" pitchFamily="18" charset="0"/>
                <a:ea typeface="楷体_GB2312" pitchFamily="49" charset="-122"/>
                <a:cs typeface="Times New Roman" pitchFamily="18" charset="0"/>
              </a:rPr>
              <a:t>等，这和食物、水质及大气的污染关系甚大。</a:t>
            </a:r>
            <a:r>
              <a:rPr lang="zh-CN" altLang="en-US" sz="2800" dirty="0">
                <a:latin typeface="Times New Roman" pitchFamily="18" charset="0"/>
                <a:ea typeface="楷体_GB2312" pitchFamily="49" charset="-122"/>
                <a:cs typeface="Times New Roman" pitchFamily="18" charset="0"/>
              </a:rPr>
              <a:t> </a:t>
            </a:r>
          </a:p>
        </p:txBody>
      </p:sp>
      <p:sp>
        <p:nvSpPr>
          <p:cNvPr id="70658" name="灯片编号占位符 1"/>
          <p:cNvSpPr>
            <a:spLocks noGrp="1"/>
          </p:cNvSpPr>
          <p:nvPr>
            <p:ph type="sldNum" sz="quarter" idx="11"/>
          </p:nvPr>
        </p:nvSpPr>
        <p:spPr>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400" dirty="0"/>
              <a:pPr lvl="0" indent="0" algn="r"/>
              <a:t>72</a:t>
            </a:fld>
            <a:endParaRPr lang="zh-CN" alt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461827">
                                            <p:txEl>
                                              <p:pRg st="0" end="0"/>
                                            </p:txEl>
                                          </p:spTgt>
                                        </p:tgtEl>
                                        <p:attrNameLst>
                                          <p:attrName>style.visibility</p:attrName>
                                        </p:attrNameLst>
                                      </p:cBhvr>
                                      <p:to>
                                        <p:strVal val="visible"/>
                                      </p:to>
                                    </p:set>
                                    <p:anim calcmode="lin" valueType="num">
                                      <p:cBhvr>
                                        <p:cTn id="7" dur="1" fill="hold"/>
                                        <p:tgtEl>
                                          <p:spTgt spid="461827">
                                            <p:txEl>
                                              <p:pRg st="0" end="0"/>
                                            </p:txEl>
                                          </p:spTgt>
                                        </p:tgtEl>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461827">
                                            <p:txEl>
                                              <p:pRg st="1" end="1"/>
                                            </p:txEl>
                                          </p:spTgt>
                                        </p:tgtEl>
                                        <p:attrNameLst>
                                          <p:attrName>style.visibility</p:attrName>
                                        </p:attrNameLst>
                                      </p:cBhvr>
                                      <p:to>
                                        <p:strVal val="visible"/>
                                      </p:to>
                                    </p:set>
                                    <p:anim calcmode="lin" valueType="num">
                                      <p:cBhvr>
                                        <p:cTn id="12" dur="1" fill="hold"/>
                                        <p:tgtEl>
                                          <p:spTgt spid="461827">
                                            <p:txEl>
                                              <p:pRg st="1" end="1"/>
                                            </p:txEl>
                                          </p:spTgt>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5234" name="Picture 2" descr="http://img30.360buyimg.com/erpWareDetail/g8/M00/10/15/rBEHZ1DJlhsIAAAAAAD7YYSVo4cAADQQQCgxMwAAPt5903.jpg"/>
          <p:cNvPicPr>
            <a:picLocks noChangeAspect="1" noChangeArrowheads="1"/>
          </p:cNvPicPr>
          <p:nvPr/>
        </p:nvPicPr>
        <p:blipFill>
          <a:blip r:embed="rId2" cstate="print"/>
          <a:srcRect/>
          <a:stretch>
            <a:fillRect/>
          </a:stretch>
        </p:blipFill>
        <p:spPr bwMode="auto">
          <a:xfrm>
            <a:off x="1547664" y="404664"/>
            <a:ext cx="6276372" cy="6192688"/>
          </a:xfrm>
          <a:prstGeom prst="rect">
            <a:avLst/>
          </a:prstGeom>
          <a:noFill/>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ln>
                  <a:solidFill>
                    <a:srgbClr val="FF0000"/>
                  </a:solidFill>
                </a:ln>
                <a:solidFill>
                  <a:srgbClr val="FF0000"/>
                </a:solidFill>
                <a:hlinkClick r:id="rId2" action="ppaction://hlinkfile"/>
              </a:rPr>
              <a:t>现代生命科学与人类生活</a:t>
            </a:r>
            <a:endParaRPr lang="zh-CN" altLang="en-US" strike="noStrike" noProof="1">
              <a:ln>
                <a:solidFill>
                  <a:srgbClr val="FF0000"/>
                </a:solidFill>
              </a:ln>
              <a:solidFill>
                <a:srgbClr val="FF0000"/>
              </a:solidFill>
            </a:endParaRPr>
          </a:p>
        </p:txBody>
      </p:sp>
      <p:sp>
        <p:nvSpPr>
          <p:cNvPr id="3" name="内容占位符 2"/>
          <p:cNvSpPr>
            <a:spLocks noGrp="1"/>
          </p:cNvSpPr>
          <p:nvPr>
            <p:ph idx="1"/>
          </p:nvPr>
        </p:nvSpPr>
        <p:spPr>
          <a:xfrm>
            <a:off x="582295" y="1165860"/>
            <a:ext cx="8229600" cy="4525963"/>
          </a:xfrm>
        </p:spPr>
        <p:txBody>
          <a:bodyPr/>
          <a:lstStyle/>
          <a:p>
            <a:pPr fontAlgn="base"/>
            <a:r>
              <a:rPr lang="zh-CN" altLang="en-US" sz="2400" b="1" strike="noStrike" noProof="1"/>
              <a:t>磺胺药时代、抗生素时代、类激素和安定药时代、免疫调节剂和酶抑制剂时代，人们已深深感受到生命科学研究与人体健康的密切关系。</a:t>
            </a:r>
          </a:p>
          <a:p>
            <a:pPr fontAlgn="base"/>
            <a:r>
              <a:rPr lang="zh-CN" altLang="en-US" sz="2400" b="1" strike="noStrike" noProof="1"/>
              <a:t>基因工程药物、内源性多肽和根据各种生物学原理设计的新型药物，将会使医疗保健水平提高若干个等级。</a:t>
            </a:r>
          </a:p>
          <a:p>
            <a:pPr fontAlgn="base"/>
            <a:r>
              <a:rPr lang="zh-CN" altLang="en-US" sz="2400" b="1" strike="noStrike" noProof="1"/>
              <a:t>基因治疗、克隆人体器官、完成人类基因组计划、进行后基因组研究等等，将会给癌症、心脑血管病、艾滋病和遗传病的防治，延年益寿，控制人口带来希望，为人类带来福音。</a:t>
            </a:r>
          </a:p>
          <a:p>
            <a:pPr fontAlgn="base"/>
            <a:r>
              <a:rPr lang="zh-CN" altLang="en-US" sz="2400" b="1" strike="noStrike" noProof="1"/>
              <a:t>总之，现代生命科学的研究与人类进步息息相关，现代生命科学的发展将会促进21世纪人类科技、经济和社会的全面发展</a:t>
            </a:r>
            <a:r>
              <a:rPr lang="zh-CN" altLang="en-US" sz="2800" b="1" strike="noStrike" noProof="1"/>
              <a:t>和进步。</a:t>
            </a:r>
          </a:p>
          <a:p>
            <a:pPr marL="0" indent="0" algn="ctr" fontAlgn="base">
              <a:buNone/>
            </a:pPr>
            <a:r>
              <a:rPr lang="zh-CN" altLang="zh-CN" sz="2800" b="1" i="1" strike="noStrike" noProof="1">
                <a:ln>
                  <a:solidFill>
                    <a:srgbClr val="FF0000"/>
                  </a:solidFill>
                </a:ln>
                <a:solidFill>
                  <a:srgbClr val="FF0000"/>
                </a:solidFill>
                <a:hlinkClick r:id="rId3" action="ppaction://hlinkfile"/>
              </a:rPr>
              <a:t>我们需</a:t>
            </a:r>
            <a:r>
              <a:rPr lang="zh-CN" altLang="zh-CN" sz="2800" i="1" strike="noStrike" noProof="1">
                <a:ln>
                  <a:solidFill>
                    <a:srgbClr val="FF0000"/>
                  </a:solidFill>
                </a:ln>
                <a:solidFill>
                  <a:srgbClr val="FF0000"/>
                </a:solidFill>
                <a:hlinkClick r:id="rId3" action="ppaction://hlinkfile"/>
              </a:rPr>
              <a:t>要化学</a:t>
            </a:r>
            <a:endParaRPr lang="zh-CN" altLang="zh-CN" sz="2800" i="1" strike="noStrike" noProof="1">
              <a:ln>
                <a:solidFill>
                  <a:srgbClr val="FF0000"/>
                </a:solidFill>
              </a:ln>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to="" calcmode="lin" valueType="num">
                                      <p:cBhvr>
                                        <p:cTn id="7" dur="1" fill="hold"/>
                                        <p:tgtEl>
                                          <p:spTgt spid="3">
                                            <p:txEl>
                                              <p:pRg st="0" end="0"/>
                                            </p:txEl>
                                          </p:spTgt>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to="" calcmode="lin" valueType="num">
                                      <p:cBhvr>
                                        <p:cTn id="12" dur="1" fill="hold"/>
                                        <p:tgtEl>
                                          <p:spTgt spid="3">
                                            <p:txEl>
                                              <p:pRg st="1" end="1"/>
                                            </p:txEl>
                                          </p:spTgt>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to="" calcmode="lin" valueType="num">
                                      <p:cBhvr>
                                        <p:cTn id="17" dur="1" fill="hold"/>
                                        <p:tgtEl>
                                          <p:spTgt spid="3">
                                            <p:txEl>
                                              <p:pRg st="2" end="2"/>
                                            </p:txEl>
                                          </p:spTgt>
                                        </p:tgtEl>
                                        <p:attrNameLst>
                                          <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 to="" calcmode="lin" valueType="num">
                                      <p:cBhvr>
                                        <p:cTn id="22" dur="1" fill="hold"/>
                                        <p:tgtEl>
                                          <p:spTgt spid="3">
                                            <p:txEl>
                                              <p:pRg st="3" end="3"/>
                                            </p:txEl>
                                          </p:spTgt>
                                        </p:tgtEl>
                                        <p:attrNameLst>
                                          <p:attrName/>
                                        </p:attrNameLst>
                                      </p:cBhvr>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to="" calcmode="lin" valueType="num">
                                      <p:cBhvr>
                                        <p:cTn id="27" dur="1" fill="hold"/>
                                        <p:tgtEl>
                                          <p:spTgt spid="3">
                                            <p:txEl>
                                              <p:pRg st="4" end="4"/>
                                            </p:txEl>
                                          </p:spTgt>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6262" name="Picture 6" descr="http://newpaper.dahe.cn/dhb/images/2013-11/13/B33/33b001.jpg"/>
          <p:cNvPicPr>
            <a:picLocks noChangeAspect="1" noChangeArrowheads="1"/>
          </p:cNvPicPr>
          <p:nvPr/>
        </p:nvPicPr>
        <p:blipFill>
          <a:blip r:embed="rId2" cstate="print"/>
          <a:srcRect l="19207" t="2751" r="1956"/>
          <a:stretch>
            <a:fillRect/>
          </a:stretch>
        </p:blipFill>
        <p:spPr bwMode="auto">
          <a:xfrm>
            <a:off x="0" y="0"/>
            <a:ext cx="9144000" cy="6858000"/>
          </a:xfrm>
          <a:prstGeom prst="rect">
            <a:avLst/>
          </a:prstGeom>
          <a:noFill/>
        </p:spPr>
      </p:pic>
      <p:pic>
        <p:nvPicPr>
          <p:cNvPr id="45067" name="Picture 11"/>
          <p:cNvPicPr>
            <a:picLocks noChangeAspect="1" noChangeArrowheads="1"/>
          </p:cNvPicPr>
          <p:nvPr/>
        </p:nvPicPr>
        <p:blipFill>
          <a:blip r:embed="rId3" cstate="print">
            <a:lum bright="-18000"/>
          </a:blip>
          <a:srcRect/>
          <a:stretch>
            <a:fillRect/>
          </a:stretch>
        </p:blipFill>
        <p:spPr bwMode="auto">
          <a:xfrm>
            <a:off x="6372200" y="5301208"/>
            <a:ext cx="2533650" cy="14478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45067"/>
                                        </p:tgtEl>
                                        <p:attrNameLst>
                                          <p:attrName>style.visibility</p:attrName>
                                        </p:attrNameLst>
                                      </p:cBhvr>
                                      <p:to>
                                        <p:strVal val="visible"/>
                                      </p:to>
                                    </p:set>
                                    <p:anim calcmode="lin" valueType="num">
                                      <p:cBhvr>
                                        <p:cTn id="7" dur="500" fill="hold"/>
                                        <p:tgtEl>
                                          <p:spTgt spid="45067"/>
                                        </p:tgtEl>
                                        <p:attrNameLst>
                                          <p:attrName>ppt_w</p:attrName>
                                        </p:attrNameLst>
                                      </p:cBhvr>
                                      <p:tavLst>
                                        <p:tav tm="0">
                                          <p:val>
                                            <p:fltVal val="0"/>
                                          </p:val>
                                        </p:tav>
                                        <p:tav tm="100000">
                                          <p:val>
                                            <p:strVal val="#ppt_w"/>
                                          </p:val>
                                        </p:tav>
                                      </p:tavLst>
                                    </p:anim>
                                    <p:anim calcmode="lin" valueType="num">
                                      <p:cBhvr>
                                        <p:cTn id="8" dur="500" fill="hold"/>
                                        <p:tgtEl>
                                          <p:spTgt spid="4506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枫叶PPT模板">
  <a:themeElements>
    <a:clrScheme name="枫叶PPT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枫叶PPT模板">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枫叶PPT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枫叶PPT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枫叶PPT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枫叶PPT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枫叶PPT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枫叶PPT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枫叶PPT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枫叶PPT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枫叶PPT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枫叶PPT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枫叶PPT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枫叶PPT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CDESIGNL</Template>
  <TotalTime>347</TotalTime>
  <Words>5085</Words>
  <Application>Microsoft Office PowerPoint</Application>
  <PresentationFormat>全屏显示(4:3)</PresentationFormat>
  <Paragraphs>564</Paragraphs>
  <Slides>75</Slides>
  <Notes>1</Notes>
  <HiddenSlides>0</HiddenSlides>
  <MMClips>0</MMClips>
  <ScaleCrop>false</ScaleCrop>
  <HeadingPairs>
    <vt:vector size="6" baseType="variant">
      <vt:variant>
        <vt:lpstr>主题</vt:lpstr>
      </vt:variant>
      <vt:variant>
        <vt:i4>1</vt:i4>
      </vt:variant>
      <vt:variant>
        <vt:lpstr>嵌入 OLE 服务器</vt:lpstr>
      </vt:variant>
      <vt:variant>
        <vt:i4>2</vt:i4>
      </vt:variant>
      <vt:variant>
        <vt:lpstr>幻灯片标题</vt:lpstr>
      </vt:variant>
      <vt:variant>
        <vt:i4>75</vt:i4>
      </vt:variant>
    </vt:vector>
  </HeadingPairs>
  <TitlesOfParts>
    <vt:vector size="78" baseType="lpstr">
      <vt:lpstr>枫叶PPT模板</vt:lpstr>
      <vt:lpstr>画笔图片</vt:lpstr>
      <vt:lpstr>CS ChemDraw Drawing</vt:lpstr>
      <vt:lpstr>幻灯片 1</vt:lpstr>
      <vt:lpstr>幻灯片 2</vt:lpstr>
      <vt:lpstr>幻灯片 3</vt:lpstr>
      <vt:lpstr>幻灯片 4</vt:lpstr>
      <vt:lpstr>幻灯片 5</vt:lpstr>
      <vt:lpstr>幻灯片 6</vt:lpstr>
      <vt:lpstr>蛋白质的组成和结构</vt:lpstr>
      <vt:lpstr>1、氨基酸是组成蛋白质的基石 </vt:lpstr>
      <vt:lpstr>幻灯片 9</vt:lpstr>
      <vt:lpstr>幻灯片 10</vt:lpstr>
      <vt:lpstr>幻灯片 11</vt:lpstr>
      <vt:lpstr>         8种人体必需氨基酸的记忆口诀：    笨（苯丙氨酸）蛋（蛋氨酸）来（赖氨酸）宿（苏氨酸）舍（色氨酸），晾（亮氨酸)一晾（异亮氨酸）鞋（缬氨酸）</vt:lpstr>
      <vt:lpstr>幻灯片 13</vt:lpstr>
      <vt:lpstr>幻灯片 14</vt:lpstr>
      <vt:lpstr>2、多 肽</vt:lpstr>
      <vt:lpstr>幻灯片 16</vt:lpstr>
      <vt:lpstr>幻灯片 17</vt:lpstr>
      <vt:lpstr>幻灯片 18</vt:lpstr>
      <vt:lpstr>幻灯片 19</vt:lpstr>
      <vt:lpstr>幻灯片 20</vt:lpstr>
      <vt:lpstr>蛋白质的用途</vt:lpstr>
      <vt:lpstr>幻灯片 22</vt:lpstr>
      <vt:lpstr>幻灯片 23</vt:lpstr>
      <vt:lpstr>酶的一些应用</vt:lpstr>
      <vt:lpstr>幻灯片 25</vt:lpstr>
      <vt:lpstr>幻灯片 26</vt:lpstr>
      <vt:lpstr>1.核酸的组成</vt:lpstr>
      <vt:lpstr>2.核酸及核苷酸的主要生理功能</vt:lpstr>
      <vt:lpstr>3. DNA的结构</vt:lpstr>
      <vt:lpstr>（1）DNA二级结构的理论模型</vt:lpstr>
      <vt:lpstr>（2）DNA二级结构图示</vt:lpstr>
      <vt:lpstr>4.DNA与染色体</vt:lpstr>
      <vt:lpstr>5.DNA的复制</vt:lpstr>
      <vt:lpstr>DNA半保留复制图示</vt:lpstr>
      <vt:lpstr>幻灯片 35</vt:lpstr>
      <vt:lpstr>幻灯片 36</vt:lpstr>
      <vt:lpstr>幻灯片 37</vt:lpstr>
      <vt:lpstr>幻灯片 38</vt:lpstr>
      <vt:lpstr>幻灯片 39</vt:lpstr>
      <vt:lpstr>幻灯片 40</vt:lpstr>
      <vt:lpstr>    当血液和尿液中含有过量的葡萄糖时就患有糖尿病，含糖量越高，病情越重！</vt:lpstr>
      <vt:lpstr>幻灯片 42</vt:lpstr>
      <vt:lpstr>幻灯片 43</vt:lpstr>
      <vt:lpstr>幻灯片 44</vt:lpstr>
      <vt:lpstr>幻灯片 45</vt:lpstr>
      <vt:lpstr>幻灯片 46</vt:lpstr>
      <vt:lpstr>幻灯片 47</vt:lpstr>
      <vt:lpstr>幻灯片 48</vt:lpstr>
      <vt:lpstr>幻灯片 49</vt:lpstr>
      <vt:lpstr>[生活常识]</vt:lpstr>
      <vt:lpstr>幻灯片 51</vt:lpstr>
      <vt:lpstr>幻灯片 52</vt:lpstr>
      <vt:lpstr>（5）维生素E在人体中的功能</vt:lpstr>
      <vt:lpstr>幻灯片 54</vt:lpstr>
      <vt:lpstr>维生素缺乏的原因</vt:lpstr>
      <vt:lpstr>幻灯片 56</vt:lpstr>
      <vt:lpstr>幻灯片 57</vt:lpstr>
      <vt:lpstr>幻灯片 58</vt:lpstr>
      <vt:lpstr>幻灯片 59</vt:lpstr>
      <vt:lpstr>2. 铜</vt:lpstr>
      <vt:lpstr>幻灯片 61</vt:lpstr>
      <vt:lpstr>幻灯片 62</vt:lpstr>
      <vt:lpstr>幻灯片 63</vt:lpstr>
      <vt:lpstr>5 .硒</vt:lpstr>
      <vt:lpstr>6.钙</vt:lpstr>
      <vt:lpstr>7 .磷</vt:lpstr>
      <vt:lpstr>8 .氟-牙齿的腐蚀和氟化</vt:lpstr>
      <vt:lpstr>9. K+，Na+和C1-在体内的作用</vt:lpstr>
      <vt:lpstr>幻灯片 69</vt:lpstr>
      <vt:lpstr>元素在生物体内所起到的理化作用 </vt:lpstr>
      <vt:lpstr>幻灯片 71</vt:lpstr>
      <vt:lpstr>幻灯片 72</vt:lpstr>
      <vt:lpstr>幻灯片 73</vt:lpstr>
      <vt:lpstr>现代生命科学与人类生活</vt:lpstr>
      <vt:lpstr>幻灯片 75</vt:lpstr>
    </vt:vector>
  </TitlesOfParts>
  <Company>Microsoft</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creator>User</dc:creator>
  <cp:lastModifiedBy>微软用户</cp:lastModifiedBy>
  <cp:revision>176</cp:revision>
  <dcterms:created xsi:type="dcterms:W3CDTF">2009-04-18T13:02:20Z</dcterms:created>
  <dcterms:modified xsi:type="dcterms:W3CDTF">2018-07-25T09:58:37Z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2052-10.1.0.7400</vt:lpwstr>
  </property>
</Properties>
</file>