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handoutMasterIdLst>
    <p:handoutMasterId r:id="rId58"/>
  </p:handoutMasterIdLst>
  <p:sldIdLst>
    <p:sldId id="437" r:id="rId2"/>
    <p:sldId id="438" r:id="rId3"/>
    <p:sldId id="439" r:id="rId4"/>
    <p:sldId id="384" r:id="rId5"/>
    <p:sldId id="316" r:id="rId6"/>
    <p:sldId id="317" r:id="rId7"/>
    <p:sldId id="318" r:id="rId8"/>
    <p:sldId id="319" r:id="rId9"/>
    <p:sldId id="320" r:id="rId10"/>
    <p:sldId id="321" r:id="rId11"/>
    <p:sldId id="322" r:id="rId12"/>
    <p:sldId id="323" r:id="rId13"/>
    <p:sldId id="324" r:id="rId14"/>
    <p:sldId id="327" r:id="rId15"/>
    <p:sldId id="328" r:id="rId16"/>
    <p:sldId id="493" r:id="rId17"/>
    <p:sldId id="261" r:id="rId18"/>
    <p:sldId id="314" r:id="rId19"/>
    <p:sldId id="271" r:id="rId20"/>
    <p:sldId id="262" r:id="rId21"/>
    <p:sldId id="265" r:id="rId22"/>
    <p:sldId id="267" r:id="rId23"/>
    <p:sldId id="494" r:id="rId24"/>
    <p:sldId id="269" r:id="rId25"/>
    <p:sldId id="270" r:id="rId26"/>
    <p:sldId id="273" r:id="rId27"/>
    <p:sldId id="274" r:id="rId28"/>
    <p:sldId id="353" r:id="rId29"/>
    <p:sldId id="354" r:id="rId30"/>
    <p:sldId id="355" r:id="rId31"/>
    <p:sldId id="356" r:id="rId32"/>
    <p:sldId id="277" r:id="rId33"/>
    <p:sldId id="279" r:id="rId34"/>
    <p:sldId id="280" r:id="rId35"/>
    <p:sldId id="281" r:id="rId36"/>
    <p:sldId id="282" r:id="rId37"/>
    <p:sldId id="288" r:id="rId38"/>
    <p:sldId id="293" r:id="rId39"/>
    <p:sldId id="294" r:id="rId40"/>
    <p:sldId id="325" r:id="rId41"/>
    <p:sldId id="357" r:id="rId42"/>
    <p:sldId id="537" r:id="rId43"/>
    <p:sldId id="538" r:id="rId44"/>
    <p:sldId id="539" r:id="rId45"/>
    <p:sldId id="540" r:id="rId46"/>
    <p:sldId id="541" r:id="rId47"/>
    <p:sldId id="542" r:id="rId48"/>
    <p:sldId id="561" r:id="rId49"/>
    <p:sldId id="562" r:id="rId50"/>
    <p:sldId id="563" r:id="rId51"/>
    <p:sldId id="564" r:id="rId52"/>
    <p:sldId id="566" r:id="rId53"/>
    <p:sldId id="567" r:id="rId54"/>
    <p:sldId id="569" r:id="rId55"/>
    <p:sldId id="495" r:id="rId56"/>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p15:clr>
            <a:srgbClr val="A4A3A4"/>
          </p15:clr>
        </p15:guide>
        <p15:guide id="2" pos="281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4EE6"/>
    <a:srgbClr val="3C37FD"/>
    <a:srgbClr val="7AB0E6"/>
    <a:srgbClr val="FFFFCC"/>
    <a:srgbClr val="F4EE04"/>
    <a:srgbClr val="008000"/>
    <a:srgbClr val="22E50D"/>
    <a:srgbClr val="007E39"/>
    <a:srgbClr val="FF33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22" d="100"/>
          <a:sy n="122" d="100"/>
        </p:scale>
        <p:origin x="76" y="268"/>
      </p:cViewPr>
      <p:guideLst>
        <p:guide orient="horz" pos="2159"/>
        <p:guide pos="281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70" d="100"/>
        <a:sy n="170" d="100"/>
      </p:scale>
      <p:origin x="0" y="0"/>
    </p:cViewPr>
  </p:sorterViewPr>
  <p:notesViewPr>
    <p:cSldViewPr>
      <p:cViewPr varScale="1">
        <p:scale>
          <a:sx n="63" d="100"/>
          <a:sy n="63" d="100"/>
        </p:scale>
        <p:origin x="-3010" y="-8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34E7690-4EFB-45AC-9A3A-5FAD7FFD0BA8}" type="datetimeFigureOut">
              <a:rPr lang="zh-CN" altLang="en-US" smtClean="0"/>
              <a:t>2026/1/14</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2E47FB-0D8C-4E6A-80D3-51C322B07729}" type="slidenum">
              <a:rPr lang="zh-CN" altLang="en-US" smtClean="0"/>
              <a:t>‹#›</a:t>
            </a:fld>
            <a:endParaRPr lang="zh-CN" altLang="en-US"/>
          </a:p>
        </p:txBody>
      </p:sp>
    </p:spTree>
    <p:extLst>
      <p:ext uri="{BB962C8B-B14F-4D97-AF65-F5344CB8AC3E}">
        <p14:creationId xmlns:p14="http://schemas.microsoft.com/office/powerpoint/2010/main" val="14646355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页眉占位符 26625"/>
          <p:cNvSpPr>
            <a:spLocks noGrp="1"/>
          </p:cNvSpPr>
          <p:nvPr>
            <p:ph type="hdr" sz="quarter"/>
          </p:nvPr>
        </p:nvSpPr>
        <p:spPr>
          <a:xfrm>
            <a:off x="0" y="0"/>
            <a:ext cx="2971800" cy="457200"/>
          </a:xfrm>
          <a:prstGeom prst="rect">
            <a:avLst/>
          </a:prstGeom>
          <a:noFill/>
          <a:ln w="9525">
            <a:noFill/>
          </a:ln>
        </p:spPr>
        <p:txBody>
          <a:bodyPr/>
          <a:lstStyle/>
          <a:p>
            <a:pPr lvl="0" fontAlgn="base"/>
            <a:endParaRPr lang="zh-CN" altLang="en-US" sz="1200" strike="noStrike" noProof="1"/>
          </a:p>
        </p:txBody>
      </p:sp>
      <p:sp>
        <p:nvSpPr>
          <p:cNvPr id="26627" name="日期占位符 26626"/>
          <p:cNvSpPr>
            <a:spLocks noGrp="1"/>
          </p:cNvSpPr>
          <p:nvPr>
            <p:ph type="dt" idx="1"/>
          </p:nvPr>
        </p:nvSpPr>
        <p:spPr>
          <a:xfrm>
            <a:off x="3886200" y="0"/>
            <a:ext cx="2971800" cy="457200"/>
          </a:xfrm>
          <a:prstGeom prst="rect">
            <a:avLst/>
          </a:prstGeom>
          <a:noFill/>
          <a:ln w="9525">
            <a:noFill/>
          </a:ln>
        </p:spPr>
        <p:txBody>
          <a:bodyPr/>
          <a:lstStyle/>
          <a:p>
            <a:pPr lvl="0" algn="r" fontAlgn="base"/>
            <a:endParaRPr lang="zh-CN" altLang="en-US" sz="1200" strike="noStrike" noProof="1"/>
          </a:p>
        </p:txBody>
      </p:sp>
      <p:sp>
        <p:nvSpPr>
          <p:cNvPr id="4100" name="幻灯片图像占位符 26627"/>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01" name="文本占位符 26628"/>
          <p:cNvSpPr>
            <a:spLocks noGrp="1"/>
          </p:cNvSpPr>
          <p:nvPr>
            <p:ph type="body" sz="quarter"/>
          </p:nvPr>
        </p:nvSpPr>
        <p:spPr>
          <a:xfrm>
            <a:off x="914400" y="4343400"/>
            <a:ext cx="5029200" cy="4114800"/>
          </a:xfrm>
          <a:prstGeom prst="rect">
            <a:avLst/>
          </a:prstGeom>
          <a:noFill/>
          <a:ln w="9525">
            <a:noFill/>
          </a:ln>
        </p:spPr>
        <p:txBody>
          <a:bodyPr anchor="t"/>
          <a:lstStyle/>
          <a:p>
            <a:pPr lvl="0" indent="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26630" name="页脚占位符 26629"/>
          <p:cNvSpPr>
            <a:spLocks noGrp="1"/>
          </p:cNvSpPr>
          <p:nvPr>
            <p:ph type="ftr" sz="quarter" idx="4"/>
          </p:nvPr>
        </p:nvSpPr>
        <p:spPr>
          <a:xfrm>
            <a:off x="0" y="8686800"/>
            <a:ext cx="2971800" cy="457200"/>
          </a:xfrm>
          <a:prstGeom prst="rect">
            <a:avLst/>
          </a:prstGeom>
          <a:noFill/>
          <a:ln w="9525">
            <a:noFill/>
          </a:ln>
        </p:spPr>
        <p:txBody>
          <a:bodyPr anchor="b"/>
          <a:lstStyle/>
          <a:p>
            <a:pPr lvl="0" fontAlgn="base"/>
            <a:endParaRPr lang="zh-CN" altLang="en-US" sz="1200" strike="noStrike" noProof="1"/>
          </a:p>
        </p:txBody>
      </p:sp>
      <p:sp>
        <p:nvSpPr>
          <p:cNvPr id="26631" name="灯片编号占位符 26630"/>
          <p:cNvSpPr>
            <a:spLocks noGrp="1"/>
          </p:cNvSpPr>
          <p:nvPr>
            <p:ph type="sldNum" sz="quarter" idx="5"/>
          </p:nvPr>
        </p:nvSpPr>
        <p:spPr>
          <a:xfrm>
            <a:off x="3886200" y="8686800"/>
            <a:ext cx="2971800" cy="457200"/>
          </a:xfrm>
          <a:prstGeom prst="rect">
            <a:avLst/>
          </a:prstGeom>
          <a:noFill/>
          <a:ln w="9525">
            <a:noFill/>
          </a:ln>
        </p:spPr>
        <p:txBody>
          <a:bodyPr anchor="b"/>
          <a:lstStyle/>
          <a:p>
            <a:pPr lvl="0" algn="r" fontAlgn="base"/>
            <a:fld id="{9A0DB2DC-4C9A-4742-B13C-FB6460FD3503}" type="slidenum">
              <a:rPr lang="zh-CN" altLang="en-US" sz="1200" strike="noStrike" noProof="1" dirty="0">
                <a:latin typeface="Times New Roman" panose="02020603050405020304" pitchFamily="18" charset="0"/>
                <a:ea typeface="宋体" panose="02010600030101010101" pitchFamily="2" charset="-122"/>
                <a:cs typeface="+mn-cs"/>
              </a:rPr>
              <a:pPr lvl="0" algn="r" fontAlgn="base"/>
              <a:t>‹#›</a:t>
            </a:fld>
            <a:endParaRPr lang="zh-CN" altLang="en-US" sz="1200" strike="noStrike" noProof="1"/>
          </a:p>
        </p:txBody>
      </p:sp>
    </p:spTree>
    <p:extLst>
      <p:ext uri="{BB962C8B-B14F-4D97-AF65-F5344CB8AC3E}">
        <p14:creationId xmlns:p14="http://schemas.microsoft.com/office/powerpoint/2010/main" val="2892423345"/>
      </p:ext>
    </p:extLst>
  </p:cSld>
  <p:clrMap bg1="lt1" tx1="dk1" bg2="lt2" tx2="dk2" accent1="accent1" accent2="accent2" accent3="accent3" accent4="accent4" accent5="accent5" accent6="accent6" hlink="hlink" folHlink="folHlink"/>
  <p:hf sldNum="0"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noTextEdit="1"/>
          </p:cNvSpPr>
          <p:nvPr>
            <p:ph type="sldImg"/>
          </p:nvPr>
        </p:nvSpPr>
        <p:spPr/>
      </p:sp>
      <p:sp>
        <p:nvSpPr>
          <p:cNvPr id="6146" name="备注占位符 2"/>
          <p:cNvSpPr>
            <a:spLocks noGrp="1"/>
          </p:cNvSpPr>
          <p:nvPr>
            <p:ph type="body"/>
          </p:nvPr>
        </p:nvSpPr>
        <p:spPr/>
        <p:txBody>
          <a:bodyPr wrap="square" lIns="91440" tIns="45720" rIns="91440" bIns="45720" anchor="ctr"/>
          <a:lstStyle/>
          <a:p>
            <a:pPr lvl="0" indent="0"/>
            <a:endParaRPr lang="zh-CN" altLang="en-US" dirty="0"/>
          </a:p>
        </p:txBody>
      </p:sp>
      <p:sp>
        <p:nvSpPr>
          <p:cNvPr id="6147"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indent="0" algn="r"/>
            <a:fld id="{9A0DB2DC-4C9A-4742-B13C-FB6460FD3503}" type="slidenum">
              <a:rPr lang="zh-CN" altLang="en-US" sz="1200" dirty="0"/>
              <a:pPr lvl="0" indent="0" algn="r"/>
              <a:t>1</a:t>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27649"/>
          <p:cNvSpPr>
            <a:spLocks noGrp="1" noRot="1" noChangeAspect="1" noTextEdit="1"/>
          </p:cNvSpPr>
          <p:nvPr>
            <p:ph type="sldImg"/>
          </p:nvPr>
        </p:nvSpPr>
        <p:spPr/>
      </p:sp>
      <p:sp>
        <p:nvSpPr>
          <p:cNvPr id="25602" name="文本占位符 27650"/>
          <p:cNvSpPr>
            <a:spLocks noGrp="1"/>
          </p:cNvSpPr>
          <p:nvPr>
            <p:ph type="body"/>
          </p:nvPr>
        </p:nvSpPr>
        <p:spPr/>
        <p:txBody>
          <a:bodyPr anchor="t"/>
          <a:lstStyle/>
          <a:p>
            <a:pPr lvl="0" indent="0"/>
            <a:endParaRPr lang="zh-CN" altLang="zh-CN" dirty="0"/>
          </a:p>
        </p:txBody>
      </p:sp>
      <p:sp>
        <p:nvSpPr>
          <p:cNvPr id="25603"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pPr lvl="0" indent="0" algn="r"/>
              <a:t>20</a:t>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p:sp>
      <p:sp>
        <p:nvSpPr>
          <p:cNvPr id="27650" name="文本占位符 2"/>
          <p:cNvSpPr>
            <a:spLocks noGrp="1"/>
          </p:cNvSpPr>
          <p:nvPr>
            <p:ph type="body"/>
          </p:nvPr>
        </p:nvSpPr>
        <p:spPr/>
        <p:txBody>
          <a:bodyPr anchor="t"/>
          <a:lstStyle/>
          <a:p>
            <a:pPr lvl="0" indent="0"/>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lvl="0" fontAlgn="base"/>
            <a:endParaRPr lang="zh-CN" altLang="en-US" strike="noStrike" noProof="1">
              <a:latin typeface="Times New Roman" panose="02020603050405020304" pitchFamily="18" charset="0"/>
            </a:endParaRPr>
          </a:p>
        </p:txBody>
      </p:sp>
      <p:sp>
        <p:nvSpPr>
          <p:cNvPr id="3" name="灯片编号占位符 2"/>
          <p:cNvSpPr>
            <a:spLocks noGrp="1"/>
          </p:cNvSpPr>
          <p:nvPr>
            <p:ph type="sldNum" sz="quarter" idx="11"/>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pPr lvl="0" fontAlgn="base"/>
              <a:t>‹#›</a:t>
            </a:fld>
            <a:endParaRPr lang="zh-CN" altLang="en-US" strike="noStrike" noProof="1">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lvl="0" fontAlgn="base"/>
            <a:endParaRPr lang="zh-CN" altLang="en-US" strike="noStrike" noProof="1">
              <a:latin typeface="Times New Roman" panose="02020603050405020304" pitchFamily="18"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pPr lvl="0" fontAlgn="base"/>
              <a:t>‹#›</a:t>
            </a:fld>
            <a:endParaRPr lang="zh-CN" altLang="en-US" strike="noStrike" noProof="1">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页脚占位符 3"/>
          <p:cNvSpPr>
            <a:spLocks noGrp="1"/>
          </p:cNvSpPr>
          <p:nvPr>
            <p:ph type="ftr" sz="quarter" idx="10"/>
          </p:nvPr>
        </p:nvSpPr>
        <p:spPr/>
        <p:txBody>
          <a:bodyPr/>
          <a:lstStyle/>
          <a:p>
            <a:pPr lvl="0" fontAlgn="base"/>
            <a:endParaRPr lang="zh-CN" altLang="en-US" strike="noStrike" noProof="1">
              <a:latin typeface="Times New Roman" panose="02020603050405020304" pitchFamily="18"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pPr lvl="0" fontAlgn="base"/>
              <a:t>‹#›</a:t>
            </a:fld>
            <a:endParaRPr lang="zh-CN" altLang="en-US" strike="noStrike" noProof="1">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lvl="0" fontAlgn="base"/>
            <a:endParaRPr lang="zh-CN" altLang="en-US" strike="noStrike" noProof="1">
              <a:latin typeface="Times New Roman" panose="02020603050405020304" pitchFamily="18"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pPr lvl="0" fontAlgn="base"/>
              <a:t>‹#›</a:t>
            </a:fld>
            <a:endParaRPr lang="zh-CN" altLang="en-US" strike="noStrike" noProof="1">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页脚占位符 6"/>
          <p:cNvSpPr>
            <a:spLocks noGrp="1"/>
          </p:cNvSpPr>
          <p:nvPr>
            <p:ph type="ftr" sz="quarter" idx="10"/>
          </p:nvPr>
        </p:nvSpPr>
        <p:spPr/>
        <p:txBody>
          <a:bodyPr/>
          <a:lstStyle/>
          <a:p>
            <a:pPr lvl="0" fontAlgn="base"/>
            <a:endParaRPr lang="zh-CN" altLang="en-US" strike="noStrike" noProof="1">
              <a:latin typeface="Times New Roman" panose="02020603050405020304" pitchFamily="18" charset="0"/>
            </a:endParaRPr>
          </a:p>
        </p:txBody>
      </p:sp>
      <p:sp>
        <p:nvSpPr>
          <p:cNvPr id="8" name="灯片编号占位符 7"/>
          <p:cNvSpPr>
            <a:spLocks noGrp="1"/>
          </p:cNvSpPr>
          <p:nvPr>
            <p:ph type="sldNum" sz="quarter" idx="11"/>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pPr lvl="0" fontAlgn="base"/>
              <a:t>‹#›</a:t>
            </a:fld>
            <a:endParaRPr lang="zh-CN" altLang="en-US" strike="noStrike" noProof="1">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p>
        </p:txBody>
      </p:sp>
      <p:sp>
        <p:nvSpPr>
          <p:cNvPr id="3" name="页脚占位符 2"/>
          <p:cNvSpPr>
            <a:spLocks noGrp="1"/>
          </p:cNvSpPr>
          <p:nvPr>
            <p:ph type="ftr" sz="quarter" idx="10"/>
          </p:nvPr>
        </p:nvSpPr>
        <p:spPr/>
        <p:txBody>
          <a:bodyPr/>
          <a:lstStyle/>
          <a:p>
            <a:pPr lvl="0" fontAlgn="base"/>
            <a:endParaRPr lang="zh-CN" altLang="en-US" strike="noStrike" noProof="1">
              <a:latin typeface="Times New Roman" panose="02020603050405020304" pitchFamily="18" charset="0"/>
            </a:endParaRPr>
          </a:p>
        </p:txBody>
      </p:sp>
      <p:sp>
        <p:nvSpPr>
          <p:cNvPr id="4" name="灯片编号占位符 3"/>
          <p:cNvSpPr>
            <a:spLocks noGrp="1"/>
          </p:cNvSpPr>
          <p:nvPr>
            <p:ph type="sldNum" sz="quarter" idx="11"/>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pPr lvl="0" fontAlgn="base"/>
              <a:t>‹#›</a:t>
            </a:fld>
            <a:endParaRPr lang="zh-CN" altLang="en-US" strike="noStrike" noProof="1">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lvl="0" fontAlgn="base"/>
            <a:endParaRPr lang="zh-CN" altLang="en-US" strike="noStrike" noProof="1">
              <a:latin typeface="Times New Roman" panose="02020603050405020304" pitchFamily="18" charset="0"/>
            </a:endParaRPr>
          </a:p>
        </p:txBody>
      </p:sp>
      <p:sp>
        <p:nvSpPr>
          <p:cNvPr id="3" name="灯片编号占位符 2"/>
          <p:cNvSpPr>
            <a:spLocks noGrp="1"/>
          </p:cNvSpPr>
          <p:nvPr>
            <p:ph type="sldNum" sz="quarter" idx="11"/>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pPr lvl="0" fontAlgn="base"/>
              <a:t>‹#›</a:t>
            </a:fld>
            <a:endParaRPr lang="zh-CN" altLang="en-US" strike="noStrike" noProof="1">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lvl="0" fontAlgn="base"/>
            <a:endParaRPr lang="zh-CN" altLang="en-US" strike="noStrike" noProof="1">
              <a:latin typeface="Times New Roman" panose="02020603050405020304" pitchFamily="18"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pPr lvl="0" fontAlgn="base"/>
              <a:t>‹#›</a:t>
            </a:fld>
            <a:endParaRPr lang="zh-CN" altLang="en-US" strike="noStrike" noProof="1">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lvl="0" fontAlgn="base"/>
            <a:endParaRPr lang="zh-CN" altLang="en-US" strike="noStrike" noProof="1">
              <a:latin typeface="Times New Roman" panose="02020603050405020304" pitchFamily="18"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pPr lvl="0" fontAlgn="base"/>
              <a:t>‹#›</a:t>
            </a:fld>
            <a:endParaRPr lang="zh-CN" altLang="en-US" strike="noStrike" noProof="1">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lvl="0" fontAlgn="base"/>
            <a:endParaRPr lang="zh-CN" altLang="en-US" strike="noStrike" noProof="1">
              <a:latin typeface="Times New Roman" panose="02020603050405020304" pitchFamily="18"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pPr lvl="0" fontAlgn="base"/>
              <a:t>‹#›</a:t>
            </a:fld>
            <a:endParaRPr lang="zh-CN" altLang="en-US" strike="noStrike" noProof="1">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2" name="页脚占位符 1"/>
          <p:cNvSpPr>
            <a:spLocks noGrp="1"/>
          </p:cNvSpPr>
          <p:nvPr>
            <p:ph type="ftr" sz="quarter" idx="10"/>
          </p:nvPr>
        </p:nvSpPr>
        <p:spPr/>
        <p:txBody>
          <a:bodyPr/>
          <a:lstStyle/>
          <a:p>
            <a:pPr lvl="0" fontAlgn="base"/>
            <a:endParaRPr lang="zh-CN" altLang="en-US" strike="noStrike" noProof="1">
              <a:latin typeface="Times New Roman" panose="02020603050405020304" pitchFamily="18" charset="0"/>
            </a:endParaRPr>
          </a:p>
        </p:txBody>
      </p:sp>
      <p:sp>
        <p:nvSpPr>
          <p:cNvPr id="4" name="灯片编号占位符 3"/>
          <p:cNvSpPr>
            <a:spLocks noGrp="1"/>
          </p:cNvSpPr>
          <p:nvPr>
            <p:ph type="sldNum" sz="quarter" idx="11"/>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pPr lvl="0" fontAlgn="base"/>
              <a:t>‹#›</a:t>
            </a:fld>
            <a:endParaRPr lang="zh-CN" altLang="en-US" strike="noStrike" noProof="1">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a:xfrm>
            <a:off x="838200" y="6356350"/>
            <a:ext cx="2743200" cy="365125"/>
          </a:xfrm>
        </p:spPr>
        <p:txBody>
          <a:bodyPr/>
          <a:lstStyle/>
          <a:p>
            <a:pPr fontAlgn="base"/>
            <a:fld id="{263DB197-84B0-484E-9C0F-88358ECCB797}" type="datetimeFigureOut">
              <a:rPr lang="zh-CN" altLang="en-US" strike="noStrike" noProof="1" smtClean="0">
                <a:latin typeface="Times New Roman" panose="02020603050405020304" pitchFamily="18" charset="0"/>
                <a:ea typeface="宋体" panose="02010600030101010101" pitchFamily="2" charset="-122"/>
                <a:cs typeface="+mn-cs"/>
              </a:rPr>
              <a:pPr fontAlgn="base"/>
              <a:t>2026/1/14</a:t>
            </a:fld>
            <a:endParaRPr lang="zh-CN" altLang="en-US" strike="noStrike" noProof="1"/>
          </a:p>
        </p:txBody>
      </p:sp>
      <p:sp>
        <p:nvSpPr>
          <p:cNvPr id="4" name="页脚占位符 3"/>
          <p:cNvSpPr>
            <a:spLocks noGrp="1"/>
          </p:cNvSpPr>
          <p:nvPr>
            <p:ph type="ftr" sz="quarter" idx="11"/>
          </p:nvPr>
        </p:nvSpPr>
        <p:spPr>
          <a:xfrm>
            <a:off x="1981200" y="6553200"/>
            <a:ext cx="5562600" cy="304800"/>
          </a:xfrm>
          <a:prstGeom prst="rect">
            <a:avLst/>
          </a:prstGeom>
          <a:noFill/>
          <a:ln w="9525">
            <a:noFill/>
            <a:miter lim="800000"/>
          </a:ln>
          <a:effectLst/>
        </p:spPr>
        <p:txBody>
          <a:bodyPr vert="horz" wrap="square" lIns="91440" tIns="45720" rIns="91440" bIns="45720" numCol="1" anchor="t" anchorCtr="0" compatLnSpc="1"/>
          <a:lstStyle/>
          <a:p>
            <a:pPr lvl="0" fontAlgn="base"/>
            <a:endParaRPr lang="zh-CN" altLang="en-US" strike="noStrike" noProof="1">
              <a:latin typeface="Times New Roman" panose="02020603050405020304" pitchFamily="18" charset="0"/>
            </a:endParaRPr>
          </a:p>
        </p:txBody>
      </p:sp>
      <p:sp>
        <p:nvSpPr>
          <p:cNvPr id="5" name="灯片编号占位符 4"/>
          <p:cNvSpPr>
            <a:spLocks noGrp="1"/>
          </p:cNvSpPr>
          <p:nvPr>
            <p:ph type="sldNum" sz="quarter" idx="12"/>
          </p:nvPr>
        </p:nvSpPr>
        <p:spPr>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pPr lvl="0" fontAlgn="base"/>
              <a:t>‹#›</a:t>
            </a:fld>
            <a:endParaRPr lang="zh-CN" altLang="en-US" strike="noStrike" noProof="1">
              <a:latin typeface="Times New Roman" panose="02020603050405020304" pitchFamily="18" charset="0"/>
            </a:endParaRPr>
          </a:p>
        </p:txBody>
      </p:sp>
    </p:spTree>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a:xfrm>
            <a:off x="838200" y="6356350"/>
            <a:ext cx="2743200" cy="365125"/>
          </a:xfrm>
        </p:spPr>
        <p:txBody>
          <a:bodyPr/>
          <a:lstStyle/>
          <a:p>
            <a:pPr fontAlgn="base"/>
            <a:fld id="{263DB197-84B0-484E-9C0F-88358ECCB797}" type="datetimeFigureOut">
              <a:rPr lang="zh-CN" altLang="en-US" strike="noStrike" noProof="1" smtClean="0">
                <a:latin typeface="Times New Roman" panose="02020603050405020304" pitchFamily="18" charset="0"/>
                <a:ea typeface="宋体" panose="02010600030101010101" pitchFamily="2" charset="-122"/>
                <a:cs typeface="+mn-cs"/>
              </a:rPr>
              <a:pPr fontAlgn="base"/>
              <a:t>2026/1/14</a:t>
            </a:fld>
            <a:endParaRPr lang="zh-CN" altLang="en-US" strike="noStrike" noProof="1"/>
          </a:p>
        </p:txBody>
      </p:sp>
      <p:sp>
        <p:nvSpPr>
          <p:cNvPr id="4" name="页脚占位符 3"/>
          <p:cNvSpPr>
            <a:spLocks noGrp="1"/>
          </p:cNvSpPr>
          <p:nvPr>
            <p:ph type="ftr" sz="quarter" idx="11"/>
          </p:nvPr>
        </p:nvSpPr>
        <p:spPr>
          <a:xfrm>
            <a:off x="1981200" y="6553200"/>
            <a:ext cx="5562600" cy="304800"/>
          </a:xfrm>
          <a:prstGeom prst="rect">
            <a:avLst/>
          </a:prstGeom>
          <a:noFill/>
          <a:ln w="9525">
            <a:noFill/>
            <a:miter lim="800000"/>
          </a:ln>
          <a:effectLst/>
        </p:spPr>
        <p:txBody>
          <a:bodyPr vert="horz" wrap="square" lIns="91440" tIns="45720" rIns="91440" bIns="45720" numCol="1" anchor="t" anchorCtr="0" compatLnSpc="1"/>
          <a:lstStyle/>
          <a:p>
            <a:pPr lvl="0" fontAlgn="base"/>
            <a:endParaRPr lang="zh-CN" altLang="en-US" strike="noStrike" noProof="1">
              <a:latin typeface="Times New Roman" panose="02020603050405020304" pitchFamily="18" charset="0"/>
            </a:endParaRPr>
          </a:p>
        </p:txBody>
      </p:sp>
      <p:sp>
        <p:nvSpPr>
          <p:cNvPr id="5" name="灯片编号占位符 4"/>
          <p:cNvSpPr>
            <a:spLocks noGrp="1"/>
          </p:cNvSpPr>
          <p:nvPr>
            <p:ph type="sldNum" sz="quarter" idx="12"/>
          </p:nvPr>
        </p:nvSpPr>
        <p:spPr>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pPr lvl="0" fontAlgn="base"/>
              <a:t>‹#›</a:t>
            </a:fld>
            <a:endParaRPr lang="zh-CN" altLang="en-US" strike="noStrike" noProof="1">
              <a:latin typeface="Times New Roman" panose="02020603050405020304" pitchFamily="18" charset="0"/>
            </a:endParaRPr>
          </a:p>
        </p:txBody>
      </p:sp>
    </p:spTree>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flip="none" rotWithShape="1">
          <a:gsLst>
            <a:gs pos="0">
              <a:srgbClr val="22E50D">
                <a:alpha val="82000"/>
              </a:srgbClr>
            </a:gs>
            <a:gs pos="100000">
              <a:srgbClr val="FFFFCC">
                <a:alpha val="93000"/>
              </a:srgb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1029" name="Rectangle 5"/>
          <p:cNvSpPr>
            <a:spLocks noGrp="1" noChangeArrowheads="1"/>
          </p:cNvSpPr>
          <p:nvPr>
            <p:ph type="ftr" sz="quarter" idx="3"/>
          </p:nvPr>
        </p:nvSpPr>
        <p:spPr bwMode="auto">
          <a:xfrm>
            <a:off x="1981200" y="6553200"/>
            <a:ext cx="5562600" cy="304800"/>
          </a:xfrm>
          <a:prstGeom prst="rect">
            <a:avLst/>
          </a:prstGeom>
          <a:noFill/>
          <a:ln w="9525">
            <a:noFill/>
            <a:miter lim="800000"/>
          </a:ln>
          <a:effectLst/>
        </p:spPr>
        <p:txBody>
          <a:bodyPr vert="horz" wrap="square" lIns="91440" tIns="45720" rIns="91440" bIns="45720" numCol="1" anchor="t" anchorCtr="0" compatLnSpc="1"/>
          <a:lstStyle>
            <a:lvl1pPr algn="ctr">
              <a:defRPr sz="1200">
                <a:ea typeface="宋体" panose="02010600030101010101" pitchFamily="2" charset="-122"/>
              </a:defRPr>
            </a:lvl1pPr>
          </a:lstStyle>
          <a:p>
            <a:pPr lvl="0" fontAlgn="base"/>
            <a:endParaRPr lang="zh-CN" altLang="en-US" strike="noStrike" noProof="1">
              <a:latin typeface="Times New Roman" panose="02020603050405020304" pitchFamily="18" charset="0"/>
            </a:endParaRPr>
          </a:p>
        </p:txBody>
      </p:sp>
      <p:sp>
        <p:nvSpPr>
          <p:cNvPr id="1030" name="Rectangle 6"/>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lgn="r">
              <a:defRPr sz="1200">
                <a:ea typeface="宋体" panose="02010600030101010101" pitchFamily="2" charset="-122"/>
              </a:defRPr>
            </a:lvl1p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pPr lvl="0" fontAlgn="base"/>
              <a:t>‹#›</a:t>
            </a:fld>
            <a:endParaRPr lang="zh-CN" altLang="en-US"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slow">
    <p:wipe dir="r"/>
  </p:transition>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panose="020B0604020202020204" pitchFamily="34" charset="0"/>
        </a:defRPr>
      </a:lvl2pPr>
      <a:lvl3pPr algn="l" rtl="0" eaLnBrk="0" fontAlgn="base" hangingPunct="0">
        <a:spcBef>
          <a:spcPct val="0"/>
        </a:spcBef>
        <a:spcAft>
          <a:spcPct val="0"/>
        </a:spcAft>
        <a:defRPr sz="4400">
          <a:solidFill>
            <a:schemeClr val="tx2"/>
          </a:solidFill>
          <a:latin typeface="Arial" panose="020B0604020202020204" pitchFamily="34" charset="0"/>
        </a:defRPr>
      </a:lvl3pPr>
      <a:lvl4pPr algn="l" rtl="0" eaLnBrk="0" fontAlgn="base" hangingPunct="0">
        <a:spcBef>
          <a:spcPct val="0"/>
        </a:spcBef>
        <a:spcAft>
          <a:spcPct val="0"/>
        </a:spcAft>
        <a:defRPr sz="4400">
          <a:solidFill>
            <a:schemeClr val="tx2"/>
          </a:solidFill>
          <a:latin typeface="Arial" panose="020B0604020202020204" pitchFamily="34" charset="0"/>
        </a:defRPr>
      </a:lvl4pPr>
      <a:lvl5pPr algn="l" rtl="0" eaLnBrk="0" fontAlgn="base" hangingPunct="0">
        <a:spcBef>
          <a:spcPct val="0"/>
        </a:spcBef>
        <a:spcAft>
          <a:spcPct val="0"/>
        </a:spcAft>
        <a:defRPr sz="4400">
          <a:solidFill>
            <a:schemeClr val="tx2"/>
          </a:solidFill>
          <a:latin typeface="Arial" panose="020B0604020202020204" pitchFamily="34" charset="0"/>
        </a:defRPr>
      </a:lvl5pPr>
      <a:lvl6pPr marL="457200" algn="l" rtl="0" fontAlgn="base">
        <a:spcBef>
          <a:spcPct val="0"/>
        </a:spcBef>
        <a:spcAft>
          <a:spcPct val="0"/>
        </a:spcAft>
        <a:defRPr sz="4400">
          <a:solidFill>
            <a:schemeClr val="tx2"/>
          </a:solidFill>
          <a:latin typeface="Arial" panose="020B0604020202020204" pitchFamily="34" charset="0"/>
        </a:defRPr>
      </a:lvl6pPr>
      <a:lvl7pPr marL="914400" algn="l" rtl="0" fontAlgn="base">
        <a:spcBef>
          <a:spcPct val="0"/>
        </a:spcBef>
        <a:spcAft>
          <a:spcPct val="0"/>
        </a:spcAft>
        <a:defRPr sz="4400">
          <a:solidFill>
            <a:schemeClr val="tx2"/>
          </a:solidFill>
          <a:latin typeface="Arial" panose="020B0604020202020204" pitchFamily="34" charset="0"/>
        </a:defRPr>
      </a:lvl7pPr>
      <a:lvl8pPr marL="1371600" algn="l" rtl="0" fontAlgn="base">
        <a:spcBef>
          <a:spcPct val="0"/>
        </a:spcBef>
        <a:spcAft>
          <a:spcPct val="0"/>
        </a:spcAft>
        <a:defRPr sz="4400">
          <a:solidFill>
            <a:schemeClr val="tx2"/>
          </a:solidFill>
          <a:latin typeface="Arial" panose="020B0604020202020204" pitchFamily="34" charset="0"/>
        </a:defRPr>
      </a:lvl8pPr>
      <a:lvl9pPr marL="1828800" algn="l"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31532;&#19968;&#20010;&#36229;&#38142;&#25509;-&#29615;&#22659;&#19982;&#29615;&#22659;&#38382;&#39064;.doc"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31532;&#20108;&#20010;&#36229;&#38142;&#25509;-&#25335;&#38382;&#39278;&#29992;&#27700;&#23433;&#20840;.mp4"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it.sohu.com/20070116/n247642520.shtml" TargetMode="External"/><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2.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31532;&#22235;&#20010;&#36229;&#38142;&#25509;-&#20320;&#19981;&#30693;&#36947;&#30340;&#33261;&#27687;.mp4"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31532;&#20116;&#20010;&#36229;&#38142;&#25509;-&#22825;&#38382;&#22823;&#27668;.mp4" TargetMode="External"/><Relationship Id="rId2" Type="http://schemas.openxmlformats.org/officeDocument/2006/relationships/hyperlink" Target="&#31532;&#19977;&#20010;&#36229;&#38142;&#25509;-&#21361;&#26426;&#24320;&#22987;.mp4"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31532;&#20845;&#20010;&#36229;&#38142;&#25509;-&#30495;&#30456;&#36861;&#36394;.mp4"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http://pic10.nipic.com/20101101/5965919_105605769000_2.jpg" TargetMode="External"/><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47000">
              <a:srgbClr val="7AB0E6">
                <a:alpha val="86000"/>
              </a:srgbClr>
            </a:gs>
            <a:gs pos="72000">
              <a:srgbClr val="22E50D">
                <a:alpha val="50000"/>
              </a:srgbClr>
            </a:gs>
            <a:gs pos="18000">
              <a:srgbClr val="FF0000">
                <a:alpha val="16000"/>
              </a:srgb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WordArt 7"/>
          <p:cNvSpPr>
            <a:spLocks noChangeArrowheads="1" noChangeShapeType="1" noTextEdit="1"/>
          </p:cNvSpPr>
          <p:nvPr/>
        </p:nvSpPr>
        <p:spPr bwMode="auto">
          <a:xfrm>
            <a:off x="2285984" y="2285992"/>
            <a:ext cx="4800600" cy="1905000"/>
          </a:xfrm>
          <a:prstGeom prst="rect">
            <a:avLst/>
          </a:prstGeom>
        </p:spPr>
        <p:txBody>
          <a:bodyPr wrap="none" fromWordArt="1">
            <a:prstTxWarp prst="textDeflate">
              <a:avLst>
                <a:gd name="adj" fmla="val 26227"/>
              </a:avLst>
            </a:prstTxWarp>
          </a:bodyPr>
          <a:lstStyle/>
          <a:p>
            <a:pPr algn="ctr"/>
            <a:r>
              <a:rPr lang="zh-CN" altLang="en-US" sz="4000" b="1" kern="10" dirty="0">
                <a:ln w="9525">
                  <a:solidFill>
                    <a:srgbClr val="000000"/>
                  </a:solidFill>
                  <a:round/>
                  <a:headEnd/>
                  <a:tailEnd/>
                </a:ln>
                <a:solidFill>
                  <a:srgbClr val="800080"/>
                </a:solidFill>
                <a:latin typeface="楷体_GB2312"/>
                <a:ea typeface="楷体_GB2312"/>
              </a:rPr>
              <a:t>第</a:t>
            </a:r>
            <a:r>
              <a:rPr lang="en-US" altLang="zh-CN" sz="4000" b="1" kern="10" dirty="0">
                <a:ln w="9525">
                  <a:solidFill>
                    <a:srgbClr val="000000"/>
                  </a:solidFill>
                  <a:round/>
                  <a:headEnd/>
                  <a:tailEnd/>
                </a:ln>
                <a:solidFill>
                  <a:srgbClr val="800080"/>
                </a:solidFill>
                <a:latin typeface="楷体_GB2312"/>
                <a:ea typeface="楷体_GB2312"/>
              </a:rPr>
              <a:t>8</a:t>
            </a:r>
            <a:r>
              <a:rPr lang="zh-CN" altLang="en-US" sz="4000" b="1" kern="10" dirty="0">
                <a:ln w="9525">
                  <a:solidFill>
                    <a:srgbClr val="000000"/>
                  </a:solidFill>
                  <a:round/>
                  <a:headEnd/>
                  <a:tailEnd/>
                </a:ln>
                <a:solidFill>
                  <a:srgbClr val="800080"/>
                </a:solidFill>
                <a:latin typeface="楷体_GB2312"/>
                <a:ea typeface="楷体_GB2312"/>
              </a:rPr>
              <a:t>章  化学与环境</a:t>
            </a:r>
          </a:p>
        </p:txBody>
      </p:sp>
      <p:pic>
        <p:nvPicPr>
          <p:cNvPr id="23554" name="Picture 2" descr="http://img.mp.itc.cn/upload/20160913/20c1334e94394fec90eceb2775cee663_th.jpg"/>
          <p:cNvPicPr>
            <a:picLocks noChangeAspect="1" noChangeArrowheads="1"/>
          </p:cNvPicPr>
          <p:nvPr/>
        </p:nvPicPr>
        <p:blipFill>
          <a:blip r:embed="rId3" cstate="print"/>
          <a:srcRect/>
          <a:stretch>
            <a:fillRect/>
          </a:stretch>
        </p:blipFill>
        <p:spPr bwMode="auto">
          <a:xfrm>
            <a:off x="0" y="4786298"/>
            <a:ext cx="2071701" cy="2071702"/>
          </a:xfrm>
          <a:prstGeom prst="rect">
            <a:avLst/>
          </a:prstGeom>
          <a:noFill/>
        </p:spPr>
      </p:pic>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9" name="Group 3"/>
          <p:cNvGrpSpPr/>
          <p:nvPr/>
        </p:nvGrpSpPr>
        <p:grpSpPr>
          <a:xfrm>
            <a:off x="2198688" y="544513"/>
            <a:ext cx="4752975" cy="792162"/>
            <a:chOff x="0" y="0"/>
            <a:chExt cx="2858" cy="499"/>
          </a:xfrm>
        </p:grpSpPr>
        <p:sp>
          <p:nvSpPr>
            <p:cNvPr id="7170" name="AutoShape 4"/>
            <p:cNvSpPr/>
            <p:nvPr/>
          </p:nvSpPr>
          <p:spPr>
            <a:xfrm>
              <a:off x="0" y="0"/>
              <a:ext cx="2858" cy="499"/>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round/>
              <a:headEnd type="none" w="med" len="med"/>
              <a:tailEnd type="none" w="med" len="med"/>
            </a:ln>
          </p:spPr>
          <p:txBody>
            <a:bodyPr wrap="none" anchor="ctr"/>
            <a:lstStyle/>
            <a:p>
              <a:endParaRPr lang="zh-CN" altLang="en-US" dirty="0">
                <a:latin typeface="Arial" panose="020B0604020202020204" pitchFamily="34" charset="0"/>
                <a:ea typeface="宋体" panose="02010600030101010101" pitchFamily="2" charset="-122"/>
              </a:endParaRPr>
            </a:p>
          </p:txBody>
        </p:sp>
        <p:sp>
          <p:nvSpPr>
            <p:cNvPr id="7171" name="Rectangle 5"/>
            <p:cNvSpPr/>
            <p:nvPr/>
          </p:nvSpPr>
          <p:spPr>
            <a:xfrm>
              <a:off x="680" y="46"/>
              <a:ext cx="1582" cy="365"/>
            </a:xfrm>
            <a:prstGeom prst="rect">
              <a:avLst/>
            </a:prstGeom>
            <a:noFill/>
            <a:ln w="9525">
              <a:noFill/>
            </a:ln>
          </p:spPr>
          <p:txBody>
            <a:bodyPr wrap="none" anchor="t">
              <a:spAutoFit/>
            </a:bodyPr>
            <a:lstStyle/>
            <a:p>
              <a:r>
                <a:rPr lang="zh-CN" altLang="en-US" sz="3200" b="1" dirty="0">
                  <a:solidFill>
                    <a:schemeClr val="bg1"/>
                  </a:solidFill>
                  <a:latin typeface="Arial" panose="020B0604020202020204" pitchFamily="34" charset="0"/>
                  <a:ea typeface="楷体_GB2312" panose="02010609030101010101" pitchFamily="49" charset="-122"/>
                </a:rPr>
                <a:t>本章学习要点</a:t>
              </a:r>
            </a:p>
          </p:txBody>
        </p:sp>
      </p:grpSp>
      <p:graphicFrame>
        <p:nvGraphicFramePr>
          <p:cNvPr id="2" name="表格 1"/>
          <p:cNvGraphicFramePr/>
          <p:nvPr/>
        </p:nvGraphicFramePr>
        <p:xfrm>
          <a:off x="901700" y="1670050"/>
          <a:ext cx="7814310" cy="4168775"/>
        </p:xfrm>
        <a:graphic>
          <a:graphicData uri="http://schemas.openxmlformats.org/drawingml/2006/table">
            <a:tbl>
              <a:tblPr firstRow="1" bandRow="1">
                <a:tableStyleId>{5940675A-B579-460E-94D1-54222C63F5DA}</a:tableStyleId>
              </a:tblPr>
              <a:tblGrid>
                <a:gridCol w="1467485">
                  <a:extLst>
                    <a:ext uri="{9D8B030D-6E8A-4147-A177-3AD203B41FA5}">
                      <a16:colId xmlns:a16="http://schemas.microsoft.com/office/drawing/2014/main" val="20000"/>
                    </a:ext>
                  </a:extLst>
                </a:gridCol>
                <a:gridCol w="3272155">
                  <a:extLst>
                    <a:ext uri="{9D8B030D-6E8A-4147-A177-3AD203B41FA5}">
                      <a16:colId xmlns:a16="http://schemas.microsoft.com/office/drawing/2014/main" val="20001"/>
                    </a:ext>
                  </a:extLst>
                </a:gridCol>
                <a:gridCol w="3074670">
                  <a:extLst>
                    <a:ext uri="{9D8B030D-6E8A-4147-A177-3AD203B41FA5}">
                      <a16:colId xmlns:a16="http://schemas.microsoft.com/office/drawing/2014/main" val="20002"/>
                    </a:ext>
                  </a:extLst>
                </a:gridCol>
              </a:tblGrid>
              <a:tr h="511175">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知识要点</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a:noFill/>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掌握程度</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相关知识</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cap="flat">
                      <a:noFill/>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14400">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水污染及其防治</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熟悉水污染的分类及水污染防治的方法。</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水体污染分类、水体污染防治方法</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14400">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大气污染及其防治</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熟悉大气污染的分类及大气污染防治的方法。</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光化学烟雾、臭氧层的破坏、酸雨、温室效应、大气污染防治方法</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14400">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土壤污染及其防治</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熟悉土壤污染的分类及土壤污染防治的方法。</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土壤组分、土壤结构、土壤污染分类、土壤污染防治</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14400">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环境保护与可持续发展</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了解环境保护和可持续发展的定义，它们之间的关系。</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环境保护、可持续发展</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3" name="Group 2"/>
          <p:cNvGrpSpPr/>
          <p:nvPr/>
        </p:nvGrpSpPr>
        <p:grpSpPr>
          <a:xfrm>
            <a:off x="2016125" y="690563"/>
            <a:ext cx="5113338" cy="792162"/>
            <a:chOff x="0" y="0"/>
            <a:chExt cx="2858" cy="499"/>
          </a:xfrm>
        </p:grpSpPr>
        <p:sp>
          <p:nvSpPr>
            <p:cNvPr id="8194" name="AutoShape 3"/>
            <p:cNvSpPr/>
            <p:nvPr/>
          </p:nvSpPr>
          <p:spPr>
            <a:xfrm>
              <a:off x="0" y="0"/>
              <a:ext cx="2858" cy="499"/>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round/>
              <a:headEnd type="none" w="med" len="med"/>
              <a:tailEnd type="none" w="med" len="med"/>
            </a:ln>
          </p:spPr>
          <p:txBody>
            <a:bodyPr wrap="none" anchor="ctr"/>
            <a:lstStyle/>
            <a:p>
              <a:endParaRPr lang="zh-CN" altLang="en-US" dirty="0">
                <a:latin typeface="Arial" panose="020B0604020202020204" pitchFamily="34" charset="0"/>
                <a:ea typeface="宋体" panose="02010600030101010101" pitchFamily="2" charset="-122"/>
              </a:endParaRPr>
            </a:p>
          </p:txBody>
        </p:sp>
        <p:sp>
          <p:nvSpPr>
            <p:cNvPr id="8195" name="Rectangle 4"/>
            <p:cNvSpPr/>
            <p:nvPr/>
          </p:nvSpPr>
          <p:spPr>
            <a:xfrm>
              <a:off x="680" y="46"/>
              <a:ext cx="1577" cy="365"/>
            </a:xfrm>
            <a:prstGeom prst="rect">
              <a:avLst/>
            </a:prstGeom>
            <a:noFill/>
            <a:ln w="9525">
              <a:noFill/>
            </a:ln>
          </p:spPr>
          <p:txBody>
            <a:bodyPr anchor="t">
              <a:spAutoFit/>
            </a:bodyPr>
            <a:lstStyle/>
            <a:p>
              <a:r>
                <a:rPr lang="zh-CN" altLang="en-US" sz="3200" b="1" dirty="0">
                  <a:solidFill>
                    <a:schemeClr val="bg1"/>
                  </a:solidFill>
                  <a:latin typeface="Arial" panose="020B0604020202020204" pitchFamily="34" charset="0"/>
                  <a:ea typeface="楷体_GB2312" panose="02010609030101010101" pitchFamily="49" charset="-122"/>
                </a:rPr>
                <a:t>本章主要内容</a:t>
              </a:r>
            </a:p>
          </p:txBody>
        </p:sp>
      </p:grpSp>
      <p:sp>
        <p:nvSpPr>
          <p:cNvPr id="8196" name="Rectangle 5"/>
          <p:cNvSpPr/>
          <p:nvPr/>
        </p:nvSpPr>
        <p:spPr>
          <a:xfrm>
            <a:off x="1322388" y="2222500"/>
            <a:ext cx="5761037" cy="444500"/>
          </a:xfrm>
          <a:prstGeom prst="rect">
            <a:avLst/>
          </a:prstGeom>
          <a:noFill/>
          <a:ln w="9525">
            <a:noFill/>
          </a:ln>
        </p:spPr>
        <p:txBody>
          <a:bodyPr tIns="76176" bIns="0" anchor="ctr">
            <a:spAutoFit/>
          </a:bodyPr>
          <a:lstStyle/>
          <a:p>
            <a:r>
              <a:rPr lang="en-US" altLang="zh-CN" b="1" dirty="0">
                <a:latin typeface="Times New Roman" panose="02020603050405020304" pitchFamily="18" charset="0"/>
                <a:ea typeface="宋体" panose="02010600030101010101" pitchFamily="2" charset="-122"/>
              </a:rPr>
              <a:t>8.1 </a:t>
            </a:r>
            <a:r>
              <a:rPr lang="en-US" altLang="zh-CN" b="1">
                <a:latin typeface="宋体" panose="02010600030101010101" pitchFamily="2" charset="-122"/>
                <a:ea typeface="宋体" panose="02010600030101010101" pitchFamily="2" charset="-122"/>
              </a:rPr>
              <a:t>水污染及其防治</a:t>
            </a:r>
            <a:endParaRPr lang="zh-CN" altLang="en-US" b="1" dirty="0">
              <a:latin typeface="Arial" panose="020B0604020202020204" pitchFamily="34" charset="0"/>
              <a:ea typeface="宋体" panose="02010600030101010101" pitchFamily="2" charset="-122"/>
            </a:endParaRPr>
          </a:p>
        </p:txBody>
      </p:sp>
      <p:sp>
        <p:nvSpPr>
          <p:cNvPr id="8197" name="Rectangle 6"/>
          <p:cNvSpPr/>
          <p:nvPr/>
        </p:nvSpPr>
        <p:spPr>
          <a:xfrm>
            <a:off x="1285875" y="3025775"/>
            <a:ext cx="6769100" cy="444500"/>
          </a:xfrm>
          <a:prstGeom prst="rect">
            <a:avLst/>
          </a:prstGeom>
          <a:noFill/>
          <a:ln w="9525">
            <a:noFill/>
          </a:ln>
        </p:spPr>
        <p:txBody>
          <a:bodyPr tIns="76176" bIns="0" anchor="ctr">
            <a:spAutoFit/>
          </a:bodyPr>
          <a:lstStyle/>
          <a:p>
            <a:r>
              <a:rPr lang="en-US" altLang="zh-CN" b="1" dirty="0">
                <a:latin typeface="Times New Roman" panose="02020603050405020304" pitchFamily="18" charset="0"/>
                <a:ea typeface="宋体" panose="02010600030101010101" pitchFamily="2" charset="-122"/>
              </a:rPr>
              <a:t>8.2  </a:t>
            </a:r>
            <a:r>
              <a:rPr lang="en-US" altLang="zh-CN" b="1">
                <a:latin typeface="宋体" panose="02010600030101010101" pitchFamily="2" charset="-122"/>
                <a:ea typeface="宋体" panose="02010600030101010101" pitchFamily="2" charset="-122"/>
              </a:rPr>
              <a:t>大气污染及其防治</a:t>
            </a:r>
            <a:endParaRPr lang="zh-CN" altLang="en-US" b="1" dirty="0">
              <a:latin typeface="Times New Roman" panose="02020603050405020304" pitchFamily="18" charset="0"/>
              <a:ea typeface="宋体" panose="02010600030101010101" pitchFamily="2" charset="-122"/>
            </a:endParaRPr>
          </a:p>
        </p:txBody>
      </p:sp>
      <p:sp>
        <p:nvSpPr>
          <p:cNvPr id="8198" name="Rectangle 7"/>
          <p:cNvSpPr/>
          <p:nvPr/>
        </p:nvSpPr>
        <p:spPr>
          <a:xfrm>
            <a:off x="1285875" y="3865563"/>
            <a:ext cx="6337300" cy="444500"/>
          </a:xfrm>
          <a:prstGeom prst="rect">
            <a:avLst/>
          </a:prstGeom>
          <a:noFill/>
          <a:ln w="9525">
            <a:noFill/>
          </a:ln>
        </p:spPr>
        <p:txBody>
          <a:bodyPr tIns="76176" bIns="0" anchor="ctr">
            <a:spAutoFit/>
          </a:bodyPr>
          <a:lstStyle/>
          <a:p>
            <a:r>
              <a:rPr lang="en-US" altLang="zh-CN" b="1" dirty="0">
                <a:latin typeface="Times New Roman" panose="02020603050405020304" pitchFamily="18" charset="0"/>
                <a:ea typeface="宋体" panose="02010600030101010101" pitchFamily="2" charset="-122"/>
              </a:rPr>
              <a:t>8.3  </a:t>
            </a:r>
            <a:r>
              <a:rPr lang="en-US" altLang="zh-CN" b="1">
                <a:latin typeface="宋体" panose="02010600030101010101" pitchFamily="2" charset="-122"/>
                <a:ea typeface="宋体" panose="02010600030101010101" pitchFamily="2" charset="-122"/>
              </a:rPr>
              <a:t>土壤污染及其防治</a:t>
            </a:r>
            <a:endParaRPr lang="zh-CN" altLang="en-US" b="1" dirty="0">
              <a:latin typeface="Times New Roman" panose="02020603050405020304" pitchFamily="18" charset="0"/>
              <a:ea typeface="宋体" panose="02010600030101010101" pitchFamily="2" charset="-122"/>
            </a:endParaRPr>
          </a:p>
        </p:txBody>
      </p:sp>
      <p:sp>
        <p:nvSpPr>
          <p:cNvPr id="8199" name="Rectangle 8"/>
          <p:cNvSpPr/>
          <p:nvPr/>
        </p:nvSpPr>
        <p:spPr>
          <a:xfrm>
            <a:off x="1285875" y="4670425"/>
            <a:ext cx="5329238" cy="460375"/>
          </a:xfrm>
          <a:prstGeom prst="rect">
            <a:avLst/>
          </a:prstGeom>
          <a:noFill/>
          <a:ln w="9525">
            <a:noFill/>
          </a:ln>
        </p:spPr>
        <p:txBody>
          <a:bodyPr anchor="t">
            <a:spAutoFit/>
          </a:bodyPr>
          <a:lstStyle/>
          <a:p>
            <a:r>
              <a:rPr lang="en-US" altLang="zh-CN" b="1" dirty="0">
                <a:latin typeface="Times New Roman" panose="02020603050405020304" pitchFamily="18" charset="0"/>
                <a:ea typeface="宋体" panose="02010600030101010101" pitchFamily="2" charset="-122"/>
              </a:rPr>
              <a:t>8.4  </a:t>
            </a:r>
            <a:r>
              <a:rPr lang="en-US" altLang="zh-CN" b="1">
                <a:latin typeface="宋体" panose="02010600030101010101" pitchFamily="2" charset="-122"/>
                <a:ea typeface="宋体" panose="02010600030101010101" pitchFamily="2" charset="-122"/>
              </a:rPr>
              <a:t>环境保护与可持续发展</a:t>
            </a:r>
            <a:endParaRPr lang="zh-CN" altLang="en-US" b="1" dirty="0">
              <a:latin typeface="Times New Roman" panose="02020603050405020304" pitchFamily="18" charset="0"/>
              <a:ea typeface="宋体" panose="02010600030101010101" pitchFamily="2" charset="-122"/>
            </a:endParaRPr>
          </a:p>
        </p:txBody>
      </p:sp>
    </p:spTree>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57505"/>
            <a:ext cx="2677160" cy="897255"/>
          </a:xfrm>
        </p:spPr>
        <p:txBody>
          <a:bodyPr/>
          <a:lstStyle/>
          <a:p>
            <a:pPr fontAlgn="base"/>
            <a:r>
              <a:rPr lang="zh-CN" altLang="zh-CN" sz="4000" strike="noStrike" noProof="1">
                <a:ln>
                  <a:solidFill>
                    <a:srgbClr val="FF0000"/>
                  </a:solidFill>
                </a:ln>
                <a:solidFill>
                  <a:srgbClr val="FF0000"/>
                </a:solidFill>
                <a:hlinkClick r:id="rId2" action="ppaction://hlinkfile"/>
              </a:rPr>
              <a:t>环境问题</a:t>
            </a:r>
            <a:endParaRPr lang="zh-CN" altLang="zh-CN" sz="4000" strike="noStrike" noProof="1">
              <a:ln>
                <a:solidFill>
                  <a:srgbClr val="FF0000"/>
                </a:solidFill>
              </a:ln>
              <a:solidFill>
                <a:srgbClr val="FF0000"/>
              </a:solidFill>
            </a:endParaRPr>
          </a:p>
        </p:txBody>
      </p:sp>
      <p:sp>
        <p:nvSpPr>
          <p:cNvPr id="9218" name="内容占位符 2"/>
          <p:cNvSpPr>
            <a:spLocks noGrp="1"/>
          </p:cNvSpPr>
          <p:nvPr>
            <p:ph idx="1"/>
          </p:nvPr>
        </p:nvSpPr>
        <p:spPr>
          <a:xfrm>
            <a:off x="457200" y="1165225"/>
            <a:ext cx="8229600" cy="4525963"/>
          </a:xfrm>
          <a:noFill/>
          <a:ln>
            <a:noFill/>
          </a:ln>
        </p:spPr>
        <p:txBody>
          <a:bodyPr anchor="t"/>
          <a:lstStyle/>
          <a:p>
            <a:pPr latinLnBrk="0">
              <a:lnSpc>
                <a:spcPct val="150000"/>
              </a:lnSpc>
              <a:spcBef>
                <a:spcPts val="0"/>
              </a:spcBef>
            </a:pPr>
            <a:r>
              <a:rPr lang="zh-CN" altLang="en-US" sz="2400" b="1">
                <a:latin typeface="宋体" panose="02010600030101010101" pitchFamily="2" charset="-122"/>
                <a:ea typeface="宋体" panose="02010600030101010101" pitchFamily="2" charset="-122"/>
              </a:rPr>
              <a:t>    谁不想生活在一个山清水秀、鸟语花香的世界中呢?但日益严重的环境问题剥夺了人类的这个梦想，甚至使自然界本身也失去了往日的欢颜。</a:t>
            </a:r>
          </a:p>
          <a:p>
            <a:pPr latinLnBrk="0">
              <a:lnSpc>
                <a:spcPct val="150000"/>
              </a:lnSpc>
              <a:spcBef>
                <a:spcPts val="0"/>
              </a:spcBef>
            </a:pPr>
            <a:r>
              <a:rPr lang="zh-CN" altLang="en-US" sz="2400" b="1">
                <a:latin typeface="宋体" panose="02010600030101010101" pitchFamily="2" charset="-122"/>
                <a:ea typeface="宋体" panose="02010600030101010101" pitchFamily="2" charset="-122"/>
              </a:rPr>
              <a:t>    随着地球人口的激增及工业的飞速发展，人类对水的需求量以惊人的速度增长，水污染蚕食着大量的水资源．</a:t>
            </a:r>
          </a:p>
          <a:p>
            <a:pPr latinLnBrk="0">
              <a:lnSpc>
                <a:spcPct val="150000"/>
              </a:lnSpc>
              <a:spcBef>
                <a:spcPts val="0"/>
              </a:spcBef>
            </a:pPr>
            <a:r>
              <a:rPr lang="zh-CN" altLang="en-US" sz="2400" b="1">
                <a:latin typeface="宋体" panose="02010600030101010101" pitchFamily="2" charset="-122"/>
                <a:ea typeface="宋体" panose="02010600030101010101" pitchFamily="2" charset="-122"/>
              </a:rPr>
              <a:t>    人们从心底发出共同的呼声：为了人类社会的可持续发展，必须保护环境，防止大气污染。保护水资源、不要让地球上剩下最后一滴水是人的眼泪。</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112643"/>
          <p:cNvSpPr/>
          <p:nvPr/>
        </p:nvSpPr>
        <p:spPr>
          <a:xfrm>
            <a:off x="179387" y="1557336"/>
            <a:ext cx="8740775" cy="4910139"/>
          </a:xfrm>
          <a:prstGeom prst="rect">
            <a:avLst/>
          </a:prstGeom>
          <a:solidFill>
            <a:srgbClr val="FFFFFF"/>
          </a:solidFill>
          <a:ln w="9525">
            <a:noFill/>
          </a:ln>
        </p:spPr>
        <p:txBody>
          <a:bodyPr anchor="t"/>
          <a:lstStyle/>
          <a:p>
            <a:pPr marL="342900" indent="-342900" fontAlgn="base">
              <a:lnSpc>
                <a:spcPct val="110000"/>
              </a:lnSpc>
              <a:spcBef>
                <a:spcPct val="20000"/>
              </a:spcBef>
              <a:buChar char="•"/>
            </a:pPr>
            <a:r>
              <a:rPr lang="en-US" altLang="zh-CN" sz="2800" b="1" strike="noStrike" noProof="1">
                <a:latin typeface="Times New Roman" panose="02020603050405020304" pitchFamily="18" charset="0"/>
                <a:ea typeface="楷体_GB2312" panose="02010609030101010101" pitchFamily="49" charset="-122"/>
                <a:cs typeface="+mn-cs"/>
              </a:rPr>
              <a:t>     </a:t>
            </a:r>
            <a:r>
              <a:rPr lang="zh-CN" altLang="en-US" sz="2800" b="1" strike="noStrike" noProof="1">
                <a:latin typeface="Times New Roman" panose="02020603050405020304" pitchFamily="18" charset="0"/>
                <a:ea typeface="楷体_GB2312" panose="02010609030101010101" pitchFamily="49" charset="-122"/>
                <a:cs typeface="+mn-cs"/>
              </a:rPr>
              <a:t>地球表面上水的覆盖面积约占四分之三。水约占人体体重的三分之二。每人每天约需</a:t>
            </a:r>
            <a:r>
              <a:rPr lang="en-US" altLang="zh-CN" sz="2800" b="1" strike="noStrike" noProof="1">
                <a:latin typeface="Times New Roman" panose="02020603050405020304" pitchFamily="18" charset="0"/>
                <a:ea typeface="楷体_GB2312" panose="02010609030101010101" pitchFamily="49" charset="-122"/>
                <a:cs typeface="+mn-cs"/>
              </a:rPr>
              <a:t>5 L</a:t>
            </a:r>
            <a:r>
              <a:rPr lang="zh-CN" altLang="en-US" sz="2800" b="1" strike="noStrike" noProof="1">
                <a:latin typeface="Times New Roman" panose="02020603050405020304" pitchFamily="18" charset="0"/>
                <a:ea typeface="楷体_GB2312" panose="02010609030101010101" pitchFamily="49" charset="-122"/>
                <a:cs typeface="+mn-cs"/>
              </a:rPr>
              <a:t>水，没有水就没有生命。</a:t>
            </a:r>
            <a:endParaRPr lang="zh-CN" altLang="en-US" sz="2800" strike="noStrike" noProof="1">
              <a:latin typeface="Times New Roman" panose="02020603050405020304" pitchFamily="18" charset="0"/>
              <a:ea typeface="楷体_GB2312" panose="02010609030101010101" pitchFamily="49" charset="-122"/>
            </a:endParaRPr>
          </a:p>
          <a:p>
            <a:pPr marL="342900" indent="-342900" fontAlgn="base">
              <a:lnSpc>
                <a:spcPct val="110000"/>
              </a:lnSpc>
              <a:spcBef>
                <a:spcPct val="20000"/>
              </a:spcBef>
              <a:buChar char="•"/>
            </a:pPr>
            <a:r>
              <a:rPr lang="zh-CN" altLang="en-US" sz="2800" b="1" strike="noStrike" noProof="1">
                <a:latin typeface="Times New Roman" panose="02020603050405020304" pitchFamily="18" charset="0"/>
                <a:ea typeface="楷体_GB2312" panose="02010609030101010101" pitchFamily="49" charset="-122"/>
                <a:cs typeface="+mn-cs"/>
              </a:rPr>
              <a:t>生产和生活用水，基本都是淡水。地球上全部地面和地下的淡水量总和仅占总水量的</a:t>
            </a:r>
            <a:r>
              <a:rPr lang="en-US" altLang="zh-CN" sz="2800" b="1" strike="noStrike" noProof="1">
                <a:latin typeface="Times New Roman" panose="02020603050405020304" pitchFamily="18" charset="0"/>
                <a:ea typeface="楷体_GB2312" panose="02010609030101010101" pitchFamily="49" charset="-122"/>
                <a:cs typeface="+mn-cs"/>
              </a:rPr>
              <a:t>0.63 </a:t>
            </a:r>
            <a:r>
              <a:rPr lang="zh-CN" altLang="en-US" sz="2800" b="1" strike="noStrike" noProof="1">
                <a:latin typeface="Times New Roman" panose="02020603050405020304" pitchFamily="18" charset="0"/>
                <a:ea typeface="楷体_GB2312" panose="02010609030101010101" pitchFamily="49" charset="-122"/>
                <a:cs typeface="+mn-cs"/>
              </a:rPr>
              <a:t>％。人类年用水量近</a:t>
            </a:r>
            <a:r>
              <a:rPr lang="en-US" altLang="zh-CN" sz="2800" b="1" strike="noStrike" noProof="1">
                <a:latin typeface="Times New Roman" panose="02020603050405020304" pitchFamily="18" charset="0"/>
                <a:ea typeface="楷体_GB2312" panose="02010609030101010101" pitchFamily="49" charset="-122"/>
                <a:cs typeface="+mn-cs"/>
              </a:rPr>
              <a:t>4</a:t>
            </a:r>
            <a:r>
              <a:rPr lang="zh-CN" altLang="en-US" sz="2800" b="1" strike="noStrike" noProof="1">
                <a:latin typeface="Times New Roman" panose="02020603050405020304" pitchFamily="18" charset="0"/>
                <a:ea typeface="楷体_GB2312" panose="02010609030101010101" pitchFamily="49" charset="-122"/>
                <a:cs typeface="+mn-cs"/>
              </a:rPr>
              <a:t>万亿立方米，全球有</a:t>
            </a:r>
            <a:r>
              <a:rPr lang="en-US" altLang="zh-CN" sz="2800" b="1" strike="noStrike" noProof="1">
                <a:latin typeface="Times New Roman" panose="02020603050405020304" pitchFamily="18" charset="0"/>
                <a:ea typeface="楷体_GB2312" panose="02010609030101010101" pitchFamily="49" charset="-122"/>
                <a:cs typeface="+mn-cs"/>
              </a:rPr>
              <a:t>60 </a:t>
            </a:r>
            <a:r>
              <a:rPr lang="zh-CN" altLang="en-US" sz="2800" b="1" strike="noStrike" noProof="1">
                <a:latin typeface="Times New Roman" panose="02020603050405020304" pitchFamily="18" charset="0"/>
                <a:ea typeface="楷体_GB2312" panose="02010609030101010101" pitchFamily="49" charset="-122"/>
                <a:cs typeface="+mn-cs"/>
              </a:rPr>
              <a:t>％的陆地面积淡水供应不足，近</a:t>
            </a:r>
            <a:r>
              <a:rPr lang="en-US" altLang="zh-CN" sz="2800" b="1" strike="noStrike" noProof="1">
                <a:latin typeface="Times New Roman" panose="02020603050405020304" pitchFamily="18" charset="0"/>
                <a:ea typeface="楷体_GB2312" panose="02010609030101010101" pitchFamily="49" charset="-122"/>
                <a:cs typeface="+mn-cs"/>
              </a:rPr>
              <a:t>20</a:t>
            </a:r>
            <a:r>
              <a:rPr lang="zh-CN" altLang="en-US" sz="2800" b="1" strike="noStrike" noProof="1">
                <a:latin typeface="Times New Roman" panose="02020603050405020304" pitchFamily="18" charset="0"/>
                <a:ea typeface="楷体_GB2312" panose="02010609030101010101" pitchFamily="49" charset="-122"/>
                <a:cs typeface="+mn-cs"/>
              </a:rPr>
              <a:t>亿人饮用水短缺。水质的优劣直接关系到工农业生产能否正常进行，关系到水生生物的生长，更关系到人体的健康，因此，</a:t>
            </a:r>
            <a:r>
              <a:rPr lang="zh-CN" altLang="en-US" sz="2800" b="1" strike="noStrike" noProof="1">
                <a:ln>
                  <a:solidFill>
                    <a:srgbClr val="FF0000"/>
                  </a:solidFill>
                </a:ln>
                <a:solidFill>
                  <a:srgbClr val="FF0000"/>
                </a:solidFill>
                <a:latin typeface="Times New Roman" panose="02020603050405020304" pitchFamily="18" charset="0"/>
                <a:ea typeface="楷体_GB2312" panose="02010609030101010101" pitchFamily="49" charset="-122"/>
                <a:cs typeface="+mn-cs"/>
                <a:hlinkClick r:id="rId2" action="ppaction://hlinkfile"/>
              </a:rPr>
              <a:t>水质的优劣极为重要</a:t>
            </a:r>
            <a:r>
              <a:rPr lang="zh-CN" altLang="en-US" sz="2800" b="1" strike="noStrike" noProof="1">
                <a:latin typeface="Times New Roman" panose="02020603050405020304" pitchFamily="18" charset="0"/>
                <a:ea typeface="楷体_GB2312" panose="02010609030101010101" pitchFamily="49" charset="-122"/>
                <a:cs typeface="+mn-cs"/>
              </a:rPr>
              <a:t>。</a:t>
            </a:r>
            <a:endParaRPr lang="zh-CN" altLang="en-US" sz="2800" b="1" strike="noStrike" noProof="1">
              <a:latin typeface="Times New Roman" panose="02020603050405020304" pitchFamily="18" charset="0"/>
              <a:ea typeface="楷体_GB2312" panose="02010609030101010101" pitchFamily="49" charset="-122"/>
            </a:endParaRPr>
          </a:p>
        </p:txBody>
      </p:sp>
      <p:sp>
        <p:nvSpPr>
          <p:cNvPr id="7170" name="Rectangle 2"/>
          <p:cNvSpPr>
            <a:spLocks noChangeArrowheads="1"/>
          </p:cNvSpPr>
          <p:nvPr/>
        </p:nvSpPr>
        <p:spPr bwMode="auto">
          <a:xfrm>
            <a:off x="0" y="419100"/>
            <a:ext cx="9144000" cy="720725"/>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chemeClr val="bg1"/>
                </a:solidFill>
                <a:effectLst/>
                <a:uLnTx/>
                <a:uFillTx/>
                <a:latin typeface="楷体_GB2312" panose="02010609030101010101" pitchFamily="49" charset="-122"/>
                <a:ea typeface="楷体_GB2312" panose="02010609030101010101" pitchFamily="49" charset="-122"/>
                <a:cs typeface="+mn-cs"/>
              </a:rPr>
              <a:t>§8</a:t>
            </a:r>
            <a:r>
              <a:rPr kumimoji="0" lang="en-US" altLang="zh-CN" sz="3200" b="1" i="0" u="none" strike="noStrike" kern="1200" cap="none" spc="0" normalizeH="0" baseline="0" noProof="0">
                <a:ln>
                  <a:noFill/>
                </a:ln>
                <a:solidFill>
                  <a:schemeClr val="bg1"/>
                </a:solidFill>
                <a:effectLst/>
                <a:uLnTx/>
                <a:uFillTx/>
                <a:latin typeface="Times New Roman" panose="02020603050405020304" pitchFamily="18" charset="0"/>
                <a:ea typeface="楷体_GB2312" panose="02010609030101010101" pitchFamily="49" charset="-122"/>
                <a:cs typeface="+mn-cs"/>
              </a:rPr>
              <a:t>.1  </a:t>
            </a:r>
            <a:r>
              <a:rPr kumimoji="0" lang="zh-CN" altLang="en-US" sz="3200" b="1" i="0" u="none" strike="noStrike" kern="1200" cap="none" spc="0" normalizeH="0" baseline="0" noProof="0">
                <a:ln>
                  <a:noFill/>
                </a:ln>
                <a:solidFill>
                  <a:schemeClr val="bg1"/>
                </a:solidFill>
                <a:effectLst/>
                <a:uLnTx/>
                <a:uFillTx/>
                <a:latin typeface="Times New Roman" panose="02020603050405020304" pitchFamily="18" charset="0"/>
                <a:ea typeface="楷体_GB2312" panose="02010609030101010101" pitchFamily="49" charset="-122"/>
                <a:cs typeface="+mn-cs"/>
              </a:rPr>
              <a:t>水污染及其防治</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7170"/>
                                        </p:tgtEl>
                                        <p:attrNameLst>
                                          <p:attrName>style.visibility</p:attrName>
                                        </p:attrNameLst>
                                      </p:cBhvr>
                                      <p:to>
                                        <p:strVal val="visible"/>
                                      </p:to>
                                    </p:set>
                                    <p:anim calcmode="lin" valueType="num">
                                      <p:cBhvr>
                                        <p:cTn id="7" dur="500" fill="hold"/>
                                        <p:tgtEl>
                                          <p:spTgt spid="717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170"/>
                                        </p:tgtEl>
                                        <p:attrNameLst>
                                          <p:attrName>ppt_y</p:attrName>
                                        </p:attrNameLst>
                                      </p:cBhvr>
                                      <p:tavLst>
                                        <p:tav tm="0">
                                          <p:val>
                                            <p:strVal val="#ppt_y"/>
                                          </p:val>
                                        </p:tav>
                                        <p:tav tm="100000">
                                          <p:val>
                                            <p:strVal val="#ppt_y"/>
                                          </p:val>
                                        </p:tav>
                                      </p:tavLst>
                                    </p:anim>
                                    <p:anim calcmode="lin" valueType="num">
                                      <p:cBhvr>
                                        <p:cTn id="9" dur="500" fill="hold"/>
                                        <p:tgtEl>
                                          <p:spTgt spid="717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17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170"/>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4098"/>
                                        </p:tgtEl>
                                        <p:attrNameLst>
                                          <p:attrName>style.visibility</p:attrName>
                                        </p:attrNameLst>
                                      </p:cBhvr>
                                      <p:to>
                                        <p:strVal val="visible"/>
                                      </p:to>
                                    </p:set>
                                    <p:animEffect transition="in" filter="checkerboard(across)">
                                      <p:cBhvr>
                                        <p:cTn id="16"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标题 114689"/>
          <p:cNvSpPr>
            <a:spLocks noGrp="1"/>
          </p:cNvSpPr>
          <p:nvPr>
            <p:ph type="title"/>
          </p:nvPr>
        </p:nvSpPr>
        <p:spPr>
          <a:xfrm>
            <a:off x="457200" y="431800"/>
            <a:ext cx="3278505" cy="842645"/>
          </a:xfrm>
          <a:solidFill>
            <a:srgbClr val="22E50D"/>
          </a:solidFill>
          <a:ln>
            <a:noFill/>
          </a:ln>
        </p:spPr>
        <p:txBody>
          <a:bodyPr anchor="ctr"/>
          <a:lstStyle/>
          <a:p>
            <a:r>
              <a:rPr lang="en-US" altLang="zh-CN" sz="3600" b="1" dirty="0">
                <a:solidFill>
                  <a:schemeClr val="tx1"/>
                </a:solidFill>
                <a:ea typeface="楷体_GB2312" panose="02010609030101010101" pitchFamily="49" charset="-122"/>
              </a:rPr>
              <a:t>8.1.1 </a:t>
            </a:r>
            <a:r>
              <a:rPr lang="zh-CN" altLang="en-US" sz="3600" b="1" dirty="0">
                <a:solidFill>
                  <a:schemeClr val="tx1"/>
                </a:solidFill>
                <a:ea typeface="楷体_GB2312" panose="02010609030101010101" pitchFamily="49" charset="-122"/>
              </a:rPr>
              <a:t>水污染</a:t>
            </a:r>
            <a:r>
              <a:rPr lang="zh-CN" altLang="en-US" b="1" dirty="0">
                <a:solidFill>
                  <a:schemeClr val="tx1"/>
                </a:solidFill>
              </a:rPr>
              <a:t> </a:t>
            </a:r>
          </a:p>
        </p:txBody>
      </p:sp>
      <p:sp>
        <p:nvSpPr>
          <p:cNvPr id="11266" name="文本占位符 114690"/>
          <p:cNvSpPr>
            <a:spLocks noGrp="1"/>
          </p:cNvSpPr>
          <p:nvPr>
            <p:ph idx="1"/>
          </p:nvPr>
        </p:nvSpPr>
        <p:spPr>
          <a:noFill/>
          <a:ln>
            <a:noFill/>
          </a:ln>
        </p:spPr>
        <p:txBody>
          <a:bodyPr anchor="t"/>
          <a:lstStyle/>
          <a:p>
            <a:pPr>
              <a:lnSpc>
                <a:spcPct val="120000"/>
              </a:lnSpc>
            </a:pPr>
            <a:r>
              <a:rPr lang="en-US" altLang="zh-CN" sz="2800" b="1" dirty="0">
                <a:ea typeface="楷体_GB2312" panose="02010609030101010101" pitchFamily="49" charset="-122"/>
              </a:rPr>
              <a:t>     </a:t>
            </a:r>
            <a:r>
              <a:rPr lang="zh-CN" altLang="en-US" sz="2800" b="1" dirty="0">
                <a:ea typeface="楷体_GB2312" panose="02010609030101010101" pitchFamily="49" charset="-122"/>
              </a:rPr>
              <a:t>要指由于人类的各种活动排放的污染物进入河流、湖泊、海洋或地下水等水体中，使水和水体的物理、化学性质发生变化而降低了水体的使用价值。</a:t>
            </a:r>
            <a:r>
              <a:rPr lang="zh-CN" altLang="en-US" sz="2800" dirty="0">
                <a:ea typeface="楷体_GB2312" panose="02010609030101010101" pitchFamily="49" charset="-122"/>
              </a:rPr>
              <a:t> </a:t>
            </a:r>
          </a:p>
          <a:p>
            <a:pPr>
              <a:lnSpc>
                <a:spcPct val="120000"/>
              </a:lnSpc>
            </a:pPr>
            <a:r>
              <a:rPr lang="zh-CN" altLang="en-US" sz="2800" b="1" dirty="0">
                <a:ea typeface="楷体_GB2312" panose="02010609030101010101" pitchFamily="49" charset="-122"/>
              </a:rPr>
              <a:t>     水体污染有两类：一类是自然污染，另一类是人为污染，而后者是主要的。</a:t>
            </a:r>
            <a:r>
              <a:rPr lang="zh-CN" altLang="en-US" sz="2800" dirty="0">
                <a:ea typeface="楷体_GB2312" panose="02010609030101010101" pitchFamily="49" charset="-122"/>
              </a:rPr>
              <a:t> </a:t>
            </a:r>
          </a:p>
          <a:p>
            <a:pPr>
              <a:lnSpc>
                <a:spcPct val="120000"/>
              </a:lnSpc>
            </a:pPr>
            <a:r>
              <a:rPr lang="zh-CN" altLang="en-US" sz="2800" b="1" dirty="0">
                <a:ea typeface="楷体_GB2312" panose="02010609030101010101" pitchFamily="49" charset="-122"/>
              </a:rPr>
              <a:t>     人为污染是人类生活和生产活动中产生的废污水对水体的污染，包括生活污水、工业废水、农田排水和矿山排水等。</a:t>
            </a:r>
            <a:r>
              <a:rPr lang="zh-CN" altLang="en-US" dirty="0">
                <a:ea typeface="楷体_GB2312" panose="02010609030101010101" pitchFamily="49" charset="-122"/>
              </a:rPr>
              <a: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6">
                                            <p:txEl>
                                              <p:pRg st="0" end="0"/>
                                            </p:txEl>
                                          </p:spTgt>
                                        </p:tgtEl>
                                        <p:attrNameLst>
                                          <p:attrName>style.visibility</p:attrName>
                                        </p:attrNameLst>
                                      </p:cBhvr>
                                      <p:to>
                                        <p:strVal val="visible"/>
                                      </p:to>
                                    </p:set>
                                    <p:animEffect transition="in" filter="wipe(left)">
                                      <p:cBhvr>
                                        <p:cTn id="7" dur="500"/>
                                        <p:tgtEl>
                                          <p:spTgt spid="112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66">
                                            <p:txEl>
                                              <p:pRg st="1" end="1"/>
                                            </p:txEl>
                                          </p:spTgt>
                                        </p:tgtEl>
                                        <p:attrNameLst>
                                          <p:attrName>style.visibility</p:attrName>
                                        </p:attrNameLst>
                                      </p:cBhvr>
                                      <p:to>
                                        <p:strVal val="visible"/>
                                      </p:to>
                                    </p:set>
                                    <p:animEffect transition="in" filter="wipe(left)">
                                      <p:cBhvr>
                                        <p:cTn id="12" dur="500"/>
                                        <p:tgtEl>
                                          <p:spTgt spid="1126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66">
                                            <p:txEl>
                                              <p:pRg st="2" end="2"/>
                                            </p:txEl>
                                          </p:spTgt>
                                        </p:tgtEl>
                                        <p:attrNameLst>
                                          <p:attrName>style.visibility</p:attrName>
                                        </p:attrNameLst>
                                      </p:cBhvr>
                                      <p:to>
                                        <p:strVal val="visible"/>
                                      </p:to>
                                    </p:set>
                                    <p:animEffect transition="in" filter="wipe(left)">
                                      <p:cBhvr>
                                        <p:cTn id="17" dur="500"/>
                                        <p:tgtEl>
                                          <p:spTgt spid="1126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文本框 115713"/>
          <p:cNvSpPr txBox="1"/>
          <p:nvPr/>
        </p:nvSpPr>
        <p:spPr>
          <a:xfrm>
            <a:off x="125413" y="1454150"/>
            <a:ext cx="8893175" cy="4902200"/>
          </a:xfrm>
          <a:prstGeom prst="rect">
            <a:avLst/>
          </a:prstGeom>
          <a:noFill/>
          <a:ln w="12700">
            <a:noFill/>
          </a:ln>
        </p:spPr>
        <p:txBody>
          <a:bodyPr>
            <a:spAutoFit/>
          </a:bodyPr>
          <a:lstStyle/>
          <a:p>
            <a:pPr algn="ctr">
              <a:lnSpc>
                <a:spcPct val="120000"/>
              </a:lnSpc>
              <a:spcBef>
                <a:spcPct val="20000"/>
              </a:spcBef>
              <a:buClr>
                <a:schemeClr val="hlink"/>
              </a:buClr>
              <a:buSzPct val="120000"/>
              <a:buChar char="•"/>
            </a:pPr>
            <a:r>
              <a:rPr lang="en-US" altLang="zh-CN" sz="3200" noProof="1">
                <a:solidFill>
                  <a:srgbClr val="C0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1953</a:t>
            </a:r>
            <a:r>
              <a:rPr lang="zh-CN" altLang="en-US" sz="3200" noProof="1">
                <a:solidFill>
                  <a:srgbClr val="C0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a:t>
            </a:r>
            <a:r>
              <a:rPr lang="en-US" altLang="zh-CN" sz="3200" noProof="1">
                <a:solidFill>
                  <a:srgbClr val="C0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1956</a:t>
            </a:r>
            <a:r>
              <a:rPr lang="zh-CN" altLang="en-US" sz="3200" noProof="1">
                <a:solidFill>
                  <a:srgbClr val="C0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年水俣病事件</a:t>
            </a:r>
            <a:endParaRPr lang="zh-CN" altLang="en-US" sz="3200" noProof="1">
              <a:solidFill>
                <a:srgbClr val="C00000"/>
              </a:solidFill>
              <a:effectLst>
                <a:outerShdw blurRad="38100" dist="38100" dir="2700000">
                  <a:srgbClr val="000000"/>
                </a:outerShdw>
              </a:effectLst>
              <a:latin typeface="Times New Roman" panose="02020603050405020304" pitchFamily="18" charset="0"/>
            </a:endParaRPr>
          </a:p>
          <a:p>
            <a:pPr>
              <a:lnSpc>
                <a:spcPct val="120000"/>
              </a:lnSpc>
              <a:spcBef>
                <a:spcPct val="20000"/>
              </a:spcBef>
              <a:buClr>
                <a:schemeClr val="hlink"/>
              </a:buClr>
              <a:buSzPct val="120000"/>
            </a:pPr>
            <a:r>
              <a:rPr lang="zh-CN" altLang="en-US" sz="2800" b="1" noProof="1">
                <a:latin typeface="Times New Roman" panose="02020603050405020304" pitchFamily="18" charset="0"/>
                <a:ea typeface="宋体" panose="02010600030101010101" pitchFamily="2" charset="-122"/>
                <a:cs typeface="+mn-cs"/>
              </a:rPr>
              <a:t>        日本熊本县水俣镇一家氮肥公司排放的废水中含汞，这些废水排入海湾后经过某些生物的转化，形成甲基汞。这些汞在海水、底泥和鱼类中富集，又经过食物链使人中毒。当时，最先发病的是爱吃鱼的猫。中毒后的猫发疯痉挛，纷纷跳海自杀。没有几年，水俣地区连猫的踪影都不见了。</a:t>
            </a:r>
            <a:r>
              <a:rPr lang="en-US" altLang="zh-CN" sz="2800" b="1" noProof="1">
                <a:latin typeface="Times New Roman" panose="02020603050405020304" pitchFamily="18" charset="0"/>
                <a:ea typeface="宋体" panose="02010600030101010101" pitchFamily="2" charset="-122"/>
                <a:cs typeface="+mn-cs"/>
              </a:rPr>
              <a:t>1956</a:t>
            </a:r>
            <a:r>
              <a:rPr lang="zh-CN" altLang="en-US" sz="2800" b="1" noProof="1">
                <a:latin typeface="Times New Roman" panose="02020603050405020304" pitchFamily="18" charset="0"/>
                <a:ea typeface="宋体" panose="02010600030101010101" pitchFamily="2" charset="-122"/>
                <a:cs typeface="+mn-cs"/>
              </a:rPr>
              <a:t>年，出现了与猫的症状相似的病人。因为开始病因不清，所以用当地地名命名。</a:t>
            </a:r>
            <a:r>
              <a:rPr lang="en-US" altLang="zh-CN" sz="2800" b="1" noProof="1">
                <a:latin typeface="Times New Roman" panose="02020603050405020304" pitchFamily="18" charset="0"/>
                <a:ea typeface="宋体" panose="02010600030101010101" pitchFamily="2" charset="-122"/>
                <a:cs typeface="+mn-cs"/>
              </a:rPr>
              <a:t>1991</a:t>
            </a:r>
            <a:r>
              <a:rPr lang="zh-CN" altLang="en-US" sz="2800" b="1" noProof="1">
                <a:latin typeface="Times New Roman" panose="02020603050405020304" pitchFamily="18" charset="0"/>
                <a:ea typeface="宋体" panose="02010600030101010101" pitchFamily="2" charset="-122"/>
                <a:cs typeface="+mn-cs"/>
              </a:rPr>
              <a:t>年，日本环境厅公布的中毒病人仍有</a:t>
            </a:r>
            <a:r>
              <a:rPr lang="en-US" altLang="zh-CN" sz="2800" b="1" noProof="1">
                <a:latin typeface="Times New Roman" panose="02020603050405020304" pitchFamily="18" charset="0"/>
                <a:ea typeface="宋体" panose="02010600030101010101" pitchFamily="2" charset="-122"/>
                <a:cs typeface="+mn-cs"/>
              </a:rPr>
              <a:t>2248</a:t>
            </a:r>
            <a:r>
              <a:rPr lang="zh-CN" altLang="en-US" sz="2800" b="1" noProof="1">
                <a:latin typeface="Times New Roman" panose="02020603050405020304" pitchFamily="18" charset="0"/>
                <a:ea typeface="宋体" panose="02010600030101010101" pitchFamily="2" charset="-122"/>
                <a:cs typeface="+mn-cs"/>
              </a:rPr>
              <a:t>人，其中</a:t>
            </a:r>
            <a:r>
              <a:rPr lang="en-US" altLang="zh-CN" sz="2800" b="1" noProof="1">
                <a:latin typeface="Times New Roman" panose="02020603050405020304" pitchFamily="18" charset="0"/>
                <a:ea typeface="宋体" panose="02010600030101010101" pitchFamily="2" charset="-122"/>
                <a:cs typeface="+mn-cs"/>
              </a:rPr>
              <a:t>1004</a:t>
            </a:r>
            <a:r>
              <a:rPr lang="zh-CN" altLang="en-US" sz="2800" b="1" noProof="1">
                <a:latin typeface="Times New Roman" panose="02020603050405020304" pitchFamily="18" charset="0"/>
                <a:ea typeface="宋体" panose="02010600030101010101" pitchFamily="2" charset="-122"/>
                <a:cs typeface="+mn-cs"/>
              </a:rPr>
              <a:t>人死亡。</a:t>
            </a:r>
          </a:p>
        </p:txBody>
      </p:sp>
      <p:sp>
        <p:nvSpPr>
          <p:cNvPr id="12290" name="矩形 115714"/>
          <p:cNvSpPr/>
          <p:nvPr/>
        </p:nvSpPr>
        <p:spPr>
          <a:xfrm>
            <a:off x="-42227" y="550545"/>
            <a:ext cx="3960812" cy="792163"/>
          </a:xfrm>
          <a:prstGeom prst="rect">
            <a:avLst/>
          </a:prstGeom>
          <a:noFill/>
          <a:ln w="9525">
            <a:noFill/>
          </a:ln>
        </p:spPr>
        <p:txBody>
          <a:bodyPr anchor="ctr"/>
          <a:lstStyle/>
          <a:p>
            <a:pPr algn="ctr"/>
            <a:r>
              <a:rPr lang="en-US" altLang="zh-CN" sz="3600" b="1" dirty="0">
                <a:solidFill>
                  <a:srgbClr val="FF00FF"/>
                </a:solidFill>
                <a:latin typeface="Times New Roman" panose="02020603050405020304" pitchFamily="18" charset="0"/>
                <a:ea typeface="楷体_GB2312" panose="02010609030101010101" pitchFamily="49" charset="-122"/>
              </a:rPr>
              <a:t>1. </a:t>
            </a:r>
            <a:r>
              <a:rPr lang="zh-CN" altLang="en-US" sz="3600" b="1" dirty="0">
                <a:solidFill>
                  <a:srgbClr val="FF00FF"/>
                </a:solidFill>
                <a:latin typeface="Times New Roman" panose="02020603050405020304" pitchFamily="18" charset="0"/>
                <a:ea typeface="楷体_GB2312" panose="02010609030101010101" pitchFamily="49" charset="-122"/>
              </a:rPr>
              <a:t>重金属污染</a:t>
            </a:r>
            <a:r>
              <a:rPr lang="zh-CN" altLang="en-US" sz="4400" dirty="0">
                <a:solidFill>
                  <a:schemeClr val="tx2"/>
                </a:solidFill>
                <a:latin typeface="Times New Roman" panose="02020603050405020304" pitchFamily="18" charset="0"/>
                <a:ea typeface="宋体" panose="02010600030101010101" pitchFamily="2" charset="-122"/>
              </a:rPr>
              <a: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15714"/>
                                        </p:tgtEl>
                                        <p:attrNameLst>
                                          <p:attrName>style.visibility</p:attrName>
                                        </p:attrNameLst>
                                      </p:cBhvr>
                                      <p:to>
                                        <p:strVal val="visible"/>
                                      </p:to>
                                    </p:set>
                                    <p:animEffect transition="in" filter="diamond(in)">
                                      <p:cBhvr>
                                        <p:cTn id="7" dur="500"/>
                                        <p:tgtEl>
                                          <p:spTgt spid="115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文本框 116737"/>
          <p:cNvSpPr txBox="1"/>
          <p:nvPr/>
        </p:nvSpPr>
        <p:spPr>
          <a:xfrm>
            <a:off x="611188" y="549275"/>
            <a:ext cx="6553200" cy="579438"/>
          </a:xfrm>
          <a:prstGeom prst="rect">
            <a:avLst/>
          </a:prstGeom>
          <a:noFill/>
          <a:ln w="12700">
            <a:noFill/>
          </a:ln>
        </p:spPr>
        <p:txBody>
          <a:bodyPr anchor="t">
            <a:spAutoFit/>
          </a:bodyPr>
          <a:lstStyle/>
          <a:p>
            <a:pPr algn="ctr">
              <a:spcBef>
                <a:spcPct val="50000"/>
              </a:spcBef>
            </a:pPr>
            <a:r>
              <a:rPr lang="en-US" altLang="zh-CN" sz="3200" b="1" dirty="0">
                <a:solidFill>
                  <a:srgbClr val="C00000"/>
                </a:solidFill>
                <a:latin typeface="Times New Roman" panose="02020603050405020304" pitchFamily="18" charset="0"/>
                <a:ea typeface="宋体" panose="02010600030101010101" pitchFamily="2" charset="-122"/>
              </a:rPr>
              <a:t>1955</a:t>
            </a:r>
            <a:r>
              <a:rPr lang="zh-CN" altLang="en-US" sz="3200" b="1" dirty="0">
                <a:solidFill>
                  <a:srgbClr val="C00000"/>
                </a:solidFill>
                <a:latin typeface="Times New Roman" panose="02020603050405020304" pitchFamily="18" charset="0"/>
                <a:ea typeface="宋体" panose="02010600030101010101" pitchFamily="2" charset="-122"/>
              </a:rPr>
              <a:t>～</a:t>
            </a:r>
            <a:r>
              <a:rPr lang="en-US" altLang="zh-CN" sz="3200" b="1" dirty="0">
                <a:solidFill>
                  <a:srgbClr val="C00000"/>
                </a:solidFill>
                <a:latin typeface="Times New Roman" panose="02020603050405020304" pitchFamily="18" charset="0"/>
                <a:ea typeface="宋体" panose="02010600030101010101" pitchFamily="2" charset="-122"/>
              </a:rPr>
              <a:t>1972</a:t>
            </a:r>
            <a:r>
              <a:rPr lang="zh-CN" altLang="en-US" sz="3200" b="1" dirty="0">
                <a:solidFill>
                  <a:srgbClr val="C00000"/>
                </a:solidFill>
                <a:latin typeface="Times New Roman" panose="02020603050405020304" pitchFamily="18" charset="0"/>
                <a:ea typeface="宋体" panose="02010600030101010101" pitchFamily="2" charset="-122"/>
              </a:rPr>
              <a:t>年骨痛病事件</a:t>
            </a:r>
          </a:p>
        </p:txBody>
      </p:sp>
      <p:sp>
        <p:nvSpPr>
          <p:cNvPr id="13314" name="矩形 116738"/>
          <p:cNvSpPr/>
          <p:nvPr/>
        </p:nvSpPr>
        <p:spPr>
          <a:xfrm>
            <a:off x="0" y="1412875"/>
            <a:ext cx="9144000" cy="2736850"/>
          </a:xfrm>
          <a:prstGeom prst="rect">
            <a:avLst/>
          </a:prstGeom>
          <a:noFill/>
          <a:ln w="9525">
            <a:noFill/>
          </a:ln>
        </p:spPr>
        <p:txBody>
          <a:bodyPr anchor="t"/>
          <a:lstStyle/>
          <a:p>
            <a:pPr marL="342900" indent="-342900">
              <a:lnSpc>
                <a:spcPct val="120000"/>
              </a:lnSpc>
              <a:spcBef>
                <a:spcPct val="20000"/>
              </a:spcBef>
              <a:buClr>
                <a:schemeClr val="hlink"/>
              </a:buClr>
              <a:buFont typeface="Wingdings" panose="05000000000000000000" pitchFamily="2" charset="2"/>
              <a:buChar char="n"/>
            </a:pPr>
            <a:r>
              <a:rPr lang="en-US" altLang="zh-CN" sz="2800" b="1" dirty="0">
                <a:solidFill>
                  <a:srgbClr val="000000"/>
                </a:solidFill>
                <a:latin typeface="Times New Roman" panose="02020603050405020304" pitchFamily="18" charset="0"/>
                <a:ea typeface="宋体" panose="02010600030101010101" pitchFamily="2" charset="-122"/>
              </a:rPr>
              <a:t> </a:t>
            </a:r>
            <a:r>
              <a:rPr lang="zh-CN" altLang="en-US" sz="3600" b="1" dirty="0">
                <a:solidFill>
                  <a:srgbClr val="FF0000"/>
                </a:solidFill>
                <a:latin typeface="Times New Roman" panose="02020603050405020304" pitchFamily="18" charset="0"/>
                <a:ea typeface="宋体" panose="02010600030101010101" pitchFamily="2" charset="-122"/>
              </a:rPr>
              <a:t>镉</a:t>
            </a:r>
            <a:r>
              <a:rPr lang="zh-CN" altLang="en-US" sz="2800" b="1" dirty="0">
                <a:latin typeface="Times New Roman" panose="02020603050405020304" pitchFamily="18" charset="0"/>
                <a:ea typeface="宋体" panose="02010600030101010101" pitchFamily="2" charset="-122"/>
              </a:rPr>
              <a:t>是人体不需要的元素。日本富山县的一些铅锌矿在采矿和冶炼中排放废水，废水在河流中积累了重金属“镉”。人长期饮用这样的河水，食用浇灌含镉河水生产的稻谷，就会得“骨痛病”。病人骨骼严重畸形、剧痛，身长缩短，骨脆易折。</a:t>
            </a:r>
          </a:p>
        </p:txBody>
      </p:sp>
      <p:pic>
        <p:nvPicPr>
          <p:cNvPr id="13315" name="图片 116739" descr="Img247650008"/>
          <p:cNvPicPr>
            <a:picLocks noChangeAspect="1"/>
          </p:cNvPicPr>
          <p:nvPr/>
        </p:nvPicPr>
        <p:blipFill>
          <a:blip r:embed="rId2" cstate="print"/>
          <a:stretch>
            <a:fillRect/>
          </a:stretch>
        </p:blipFill>
        <p:spPr>
          <a:xfrm>
            <a:off x="5312410" y="3994150"/>
            <a:ext cx="3309620" cy="2647315"/>
          </a:xfrm>
          <a:prstGeom prst="rect">
            <a:avLst/>
          </a:prstGeom>
          <a:noFill/>
          <a:ln w="9525">
            <a:noFill/>
          </a:ln>
        </p:spPr>
      </p:pic>
      <p:sp>
        <p:nvSpPr>
          <p:cNvPr id="13316" name="文本框 116740"/>
          <p:cNvSpPr txBox="1"/>
          <p:nvPr/>
        </p:nvSpPr>
        <p:spPr>
          <a:xfrm>
            <a:off x="323850" y="4149725"/>
            <a:ext cx="4032250" cy="1383665"/>
          </a:xfrm>
          <a:prstGeom prst="rect">
            <a:avLst/>
          </a:prstGeom>
          <a:noFill/>
          <a:ln w="12700">
            <a:noFill/>
          </a:ln>
        </p:spPr>
        <p:txBody>
          <a:bodyPr anchor="t">
            <a:spAutoFit/>
          </a:bodyPr>
          <a:lstStyle/>
          <a:p>
            <a:pPr>
              <a:spcBef>
                <a:spcPct val="50000"/>
              </a:spcBef>
            </a:pP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江苏无锡的</a:t>
            </a:r>
            <a:r>
              <a:rPr lang="zh-CN" altLang="en-US" sz="2800" b="1" dirty="0">
                <a:solidFill>
                  <a:srgbClr val="FFFF00"/>
                </a:solidFill>
                <a:latin typeface="Times New Roman" panose="02020603050405020304" pitchFamily="18" charset="0"/>
                <a:ea typeface="宋体" panose="02010600030101010101" pitchFamily="2" charset="-122"/>
                <a:hlinkClick r:id="rId3"/>
              </a:rPr>
              <a:t>松下电池有限公司发生“镉中毒事件”</a:t>
            </a:r>
            <a:r>
              <a:rPr lang="zh-CN" altLang="en-US" sz="2800" b="1" dirty="0">
                <a:solidFill>
                  <a:srgbClr val="FFFF00"/>
                </a:solidFill>
                <a:latin typeface="Times New Roman" panose="02020603050405020304" pitchFamily="18" charset="0"/>
                <a:ea typeface="宋体" panose="02010600030101010101" pitchFamily="2" charset="-122"/>
              </a:rPr>
              <a:t>，</a:t>
            </a:r>
            <a:r>
              <a:rPr lang="zh-CN" altLang="en-US" dirty="0">
                <a:solidFill>
                  <a:srgbClr val="FFFF00"/>
                </a:solidFill>
                <a:latin typeface="Times New Roman" panose="02020603050405020304" pitchFamily="18" charset="0"/>
                <a:ea typeface="宋体" panose="02010600030101010101" pitchFamily="2" charset="-122"/>
              </a:rPr>
              <a:t>“ </a:t>
            </a:r>
          </a:p>
        </p:txBody>
      </p:sp>
    </p:spTree>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文本框 117761"/>
          <p:cNvSpPr txBox="1"/>
          <p:nvPr/>
        </p:nvSpPr>
        <p:spPr>
          <a:xfrm>
            <a:off x="1403350" y="993775"/>
            <a:ext cx="5905500" cy="579438"/>
          </a:xfrm>
          <a:prstGeom prst="rect">
            <a:avLst/>
          </a:prstGeom>
          <a:noFill/>
          <a:ln w="12700">
            <a:noFill/>
          </a:ln>
        </p:spPr>
        <p:txBody>
          <a:bodyPr>
            <a:spAutoFit/>
          </a:bodyPr>
          <a:lstStyle/>
          <a:p>
            <a:pPr>
              <a:spcBef>
                <a:spcPct val="50000"/>
              </a:spcBef>
            </a:pPr>
            <a:r>
              <a:rPr lang="en-US" altLang="zh-CN" sz="3200" b="1" noProof="1">
                <a:solidFill>
                  <a:srgbClr val="C0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1986</a:t>
            </a:r>
            <a:r>
              <a:rPr lang="zh-CN" altLang="en-US" sz="3200" b="1" noProof="1">
                <a:solidFill>
                  <a:srgbClr val="C0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年剧毒物污染莱茵河事件</a:t>
            </a:r>
          </a:p>
        </p:txBody>
      </p:sp>
      <p:sp>
        <p:nvSpPr>
          <p:cNvPr id="14338" name="矩形 117762"/>
          <p:cNvSpPr/>
          <p:nvPr/>
        </p:nvSpPr>
        <p:spPr>
          <a:xfrm>
            <a:off x="250825" y="1914525"/>
            <a:ext cx="8642350" cy="3959225"/>
          </a:xfrm>
          <a:prstGeom prst="rect">
            <a:avLst/>
          </a:prstGeom>
          <a:noFill/>
          <a:ln w="9525">
            <a:noFill/>
          </a:ln>
        </p:spPr>
        <p:txBody>
          <a:bodyPr anchor="t"/>
          <a:lstStyle/>
          <a:p>
            <a:pPr marL="342900" indent="-342900">
              <a:lnSpc>
                <a:spcPct val="135000"/>
              </a:lnSpc>
              <a:buChar char="•"/>
            </a:pPr>
            <a:r>
              <a:rPr lang="en-US" altLang="zh-CN" sz="2800" b="1" dirty="0">
                <a:latin typeface="Times New Roman" panose="02020603050405020304" pitchFamily="18" charset="0"/>
                <a:ea typeface="宋体" panose="02010600030101010101" pitchFamily="2" charset="-122"/>
              </a:rPr>
              <a:t>      11</a:t>
            </a:r>
            <a:r>
              <a:rPr lang="zh-CN" altLang="en-US" sz="2800" b="1" dirty="0">
                <a:latin typeface="Times New Roman" panose="02020603050405020304" pitchFamily="18" charset="0"/>
                <a:ea typeface="宋体" panose="02010600030101010101" pitchFamily="2" charset="-122"/>
              </a:rPr>
              <a:t>月</a:t>
            </a:r>
            <a:r>
              <a:rPr lang="en-US" altLang="zh-CN" sz="2800" b="1" dirty="0">
                <a:latin typeface="Times New Roman" panose="02020603050405020304" pitchFamily="18" charset="0"/>
                <a:ea typeface="宋体" panose="02010600030101010101" pitchFamily="2" charset="-122"/>
              </a:rPr>
              <a:t>1</a:t>
            </a:r>
            <a:r>
              <a:rPr lang="zh-CN" altLang="en-US" sz="2800" b="1" dirty="0">
                <a:latin typeface="Times New Roman" panose="02020603050405020304" pitchFamily="18" charset="0"/>
                <a:ea typeface="宋体" panose="02010600030101010101" pitchFamily="2" charset="-122"/>
              </a:rPr>
              <a:t>日，瑞士巴塞尔市桑多兹化工厂仓库失火，近</a:t>
            </a:r>
            <a:r>
              <a:rPr lang="en-US" altLang="zh-CN" sz="2800" b="1" dirty="0">
                <a:latin typeface="Times New Roman" panose="02020603050405020304" pitchFamily="18" charset="0"/>
                <a:ea typeface="宋体" panose="02010600030101010101" pitchFamily="2" charset="-122"/>
              </a:rPr>
              <a:t>30</a:t>
            </a:r>
            <a:r>
              <a:rPr lang="zh-CN" altLang="en-US" sz="2800" b="1" dirty="0">
                <a:latin typeface="Times New Roman" panose="02020603050405020304" pitchFamily="18" charset="0"/>
                <a:ea typeface="宋体" panose="02010600030101010101" pitchFamily="2" charset="-122"/>
              </a:rPr>
              <a:t>吨剧毒的硫化物、磷化物与含有水银的化工产品随灭火剂和水流入莱茵河。顺流而下</a:t>
            </a:r>
            <a:r>
              <a:rPr lang="en-US" altLang="zh-CN" sz="2800" b="1" dirty="0">
                <a:latin typeface="Times New Roman" panose="02020603050405020304" pitchFamily="18" charset="0"/>
                <a:ea typeface="宋体" panose="02010600030101010101" pitchFamily="2" charset="-122"/>
              </a:rPr>
              <a:t>150</a:t>
            </a:r>
            <a:r>
              <a:rPr lang="zh-CN" altLang="en-US" sz="2800" b="1" dirty="0">
                <a:latin typeface="Times New Roman" panose="02020603050405020304" pitchFamily="18" charset="0"/>
                <a:ea typeface="宋体" panose="02010600030101010101" pitchFamily="2" charset="-122"/>
              </a:rPr>
              <a:t>公里内，</a:t>
            </a:r>
            <a:r>
              <a:rPr lang="en-US" altLang="zh-CN" sz="2800" b="1" dirty="0">
                <a:latin typeface="Times New Roman" panose="02020603050405020304" pitchFamily="18" charset="0"/>
                <a:ea typeface="宋体" panose="02010600030101010101" pitchFamily="2" charset="-122"/>
              </a:rPr>
              <a:t>60</a:t>
            </a:r>
            <a:r>
              <a:rPr lang="zh-CN" altLang="en-US" sz="2800" b="1" dirty="0">
                <a:latin typeface="Times New Roman" panose="02020603050405020304" pitchFamily="18" charset="0"/>
                <a:ea typeface="宋体" panose="02010600030101010101" pitchFamily="2" charset="-122"/>
              </a:rPr>
              <a:t>多万条鱼被毒死，</a:t>
            </a:r>
            <a:r>
              <a:rPr lang="en-US" altLang="zh-CN" sz="2800" b="1" dirty="0">
                <a:latin typeface="Times New Roman" panose="02020603050405020304" pitchFamily="18" charset="0"/>
                <a:ea typeface="宋体" panose="02010600030101010101" pitchFamily="2" charset="-122"/>
              </a:rPr>
              <a:t>500</a:t>
            </a:r>
            <a:r>
              <a:rPr lang="zh-CN" altLang="en-US" sz="2800" b="1" dirty="0">
                <a:latin typeface="Times New Roman" panose="02020603050405020304" pitchFamily="18" charset="0"/>
                <a:ea typeface="宋体" panose="02010600030101010101" pitchFamily="2" charset="-122"/>
              </a:rPr>
              <a:t>公里以内河岸两侧的井水不能饮用，靠近河边的自来水厂关闭，啤酒厂停产。有毒物沉积在河底，将使莱茵河因此而“死亡”</a:t>
            </a:r>
            <a:r>
              <a:rPr lang="en-US" altLang="zh-CN" sz="2800" b="1" dirty="0">
                <a:latin typeface="Times New Roman" panose="02020603050405020304" pitchFamily="18" charset="0"/>
                <a:ea typeface="宋体" panose="02010600030101010101" pitchFamily="2" charset="-122"/>
              </a:rPr>
              <a:t>20</a:t>
            </a:r>
            <a:r>
              <a:rPr lang="zh-CN" altLang="en-US" sz="2800" b="1" dirty="0">
                <a:latin typeface="Times New Roman" panose="02020603050405020304" pitchFamily="18" charset="0"/>
                <a:ea typeface="宋体" panose="02010600030101010101" pitchFamily="2" charset="-122"/>
              </a:rPr>
              <a:t>年。</a:t>
            </a:r>
          </a:p>
        </p:txBody>
      </p:sp>
    </p:spTree>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118785"/>
          <p:cNvSpPr>
            <a:spLocks noGrp="1"/>
          </p:cNvSpPr>
          <p:nvPr>
            <p:ph type="title"/>
          </p:nvPr>
        </p:nvSpPr>
        <p:spPr>
          <a:xfrm>
            <a:off x="500034" y="1071546"/>
            <a:ext cx="8229600" cy="1143000"/>
          </a:xfrm>
          <a:noFill/>
          <a:ln>
            <a:noFill/>
          </a:ln>
        </p:spPr>
        <p:txBody>
          <a:bodyPr anchor="ctr"/>
          <a:lstStyle/>
          <a:p>
            <a:r>
              <a:rPr lang="zh-CN" altLang="en-US" sz="3600" b="1" dirty="0">
                <a:solidFill>
                  <a:srgbClr val="C00000"/>
                </a:solidFill>
                <a:ea typeface="楷体_GB2312" panose="02010609030101010101" pitchFamily="49" charset="-122"/>
              </a:rPr>
              <a:t>水中主要污染物质</a:t>
            </a:r>
            <a:r>
              <a:rPr lang="zh-CN" altLang="en-US" sz="4000" dirty="0">
                <a:solidFill>
                  <a:srgbClr val="C00000"/>
                </a:solidFill>
              </a:rPr>
              <a:t> </a:t>
            </a:r>
          </a:p>
        </p:txBody>
      </p:sp>
      <p:sp>
        <p:nvSpPr>
          <p:cNvPr id="15362" name="文本占位符 118786"/>
          <p:cNvSpPr>
            <a:spLocks noGrp="1"/>
          </p:cNvSpPr>
          <p:nvPr>
            <p:ph idx="1"/>
          </p:nvPr>
        </p:nvSpPr>
        <p:spPr>
          <a:xfrm>
            <a:off x="428596" y="2214554"/>
            <a:ext cx="8291264" cy="3412976"/>
          </a:xfrm>
          <a:noFill/>
          <a:ln>
            <a:noFill/>
          </a:ln>
        </p:spPr>
        <p:txBody>
          <a:bodyPr anchor="t"/>
          <a:lstStyle/>
          <a:p>
            <a:pPr>
              <a:lnSpc>
                <a:spcPct val="120000"/>
              </a:lnSpc>
            </a:pPr>
            <a:r>
              <a:rPr lang="zh-CN" altLang="en-US" sz="2800" b="1" dirty="0">
                <a:latin typeface="Times New Roman" panose="02020603050405020304" pitchFamily="18" charset="0"/>
                <a:ea typeface="楷体_GB2312" panose="02010609030101010101" pitchFamily="49" charset="-122"/>
                <a:cs typeface="Times New Roman" panose="02020603050405020304" pitchFamily="18" charset="0"/>
              </a:rPr>
              <a:t>无机污染物</a:t>
            </a:r>
            <a:r>
              <a:rPr lang="en-US" altLang="zh-CN" sz="2800" b="1" dirty="0">
                <a:latin typeface="Times New Roman" panose="02020603050405020304" pitchFamily="18" charset="0"/>
                <a:ea typeface="楷体_GB2312" panose="02010609030101010101" pitchFamily="49" charset="-122"/>
                <a:cs typeface="Times New Roman" panose="02020603050405020304" pitchFamily="18" charset="0"/>
              </a:rPr>
              <a:t>: </a:t>
            </a:r>
            <a:r>
              <a:rPr lang="zh-CN" altLang="en-US" sz="2800" b="1" dirty="0">
                <a:latin typeface="Times New Roman" panose="02020603050405020304" pitchFamily="18" charset="0"/>
                <a:ea typeface="楷体_GB2312" panose="02010609030101010101" pitchFamily="49" charset="-122"/>
                <a:cs typeface="Times New Roman" panose="02020603050405020304" pitchFamily="18" charset="0"/>
              </a:rPr>
              <a:t>含氟，氮，磷，</a:t>
            </a:r>
            <a:r>
              <a:rPr lang="zh-CN" altLang="en-US" sz="2800" b="1" u="sng" dirty="0">
                <a:latin typeface="Times New Roman" panose="02020603050405020304" pitchFamily="18" charset="0"/>
                <a:ea typeface="楷体_GB2312" panose="02010609030101010101" pitchFamily="49" charset="-122"/>
                <a:cs typeface="Times New Roman" panose="02020603050405020304" pitchFamily="18" charset="0"/>
              </a:rPr>
              <a:t>砷</a:t>
            </a:r>
            <a:r>
              <a:rPr lang="zh-CN" altLang="en-US" sz="2800" b="1" dirty="0">
                <a:latin typeface="Times New Roman" panose="02020603050405020304" pitchFamily="18" charset="0"/>
                <a:ea typeface="楷体_GB2312" panose="02010609030101010101" pitchFamily="49" charset="-122"/>
                <a:cs typeface="Times New Roman" panose="02020603050405020304" pitchFamily="18" charset="0"/>
              </a:rPr>
              <a:t>，硒，硼，</a:t>
            </a:r>
            <a:r>
              <a:rPr lang="zh-CN" altLang="en-US" sz="2800" b="1" u="sng" dirty="0">
                <a:latin typeface="Times New Roman" panose="02020603050405020304" pitchFamily="18" charset="0"/>
                <a:ea typeface="楷体_GB2312" panose="02010609030101010101" pitchFamily="49" charset="-122"/>
                <a:cs typeface="Times New Roman" panose="02020603050405020304" pitchFamily="18" charset="0"/>
              </a:rPr>
              <a:t>汞</a:t>
            </a:r>
            <a:r>
              <a:rPr lang="zh-CN" altLang="en-US" sz="2800" b="1" dirty="0">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sz="2800" b="1" u="sng" dirty="0">
                <a:latin typeface="Times New Roman" panose="02020603050405020304" pitchFamily="18" charset="0"/>
                <a:ea typeface="楷体_GB2312" panose="02010609030101010101" pitchFamily="49" charset="-122"/>
                <a:cs typeface="Times New Roman" panose="02020603050405020304" pitchFamily="18" charset="0"/>
              </a:rPr>
              <a:t>镉</a:t>
            </a:r>
            <a:r>
              <a:rPr lang="zh-CN" altLang="en-US" sz="2800" b="1" dirty="0">
                <a:latin typeface="Times New Roman" panose="02020603050405020304" pitchFamily="18" charset="0"/>
                <a:ea typeface="楷体_GB2312" panose="02010609030101010101" pitchFamily="49" charset="-122"/>
                <a:cs typeface="Times New Roman" panose="02020603050405020304" pitchFamily="18" charset="0"/>
              </a:rPr>
              <a:t>，铬，锌，铅化合物</a:t>
            </a:r>
            <a:r>
              <a:rPr lang="en-US" altLang="zh-CN" sz="2800" dirty="0">
                <a:latin typeface="Times New Roman" panose="02020603050405020304" pitchFamily="18" charset="0"/>
                <a:ea typeface="楷体_GB2312" panose="02010609030101010101" pitchFamily="49" charset="-122"/>
                <a:cs typeface="Times New Roman" panose="02020603050405020304" pitchFamily="18" charset="0"/>
              </a:rPr>
              <a:t>;</a:t>
            </a:r>
          </a:p>
          <a:p>
            <a:pPr>
              <a:lnSpc>
                <a:spcPct val="120000"/>
              </a:lnSpc>
            </a:pPr>
            <a:r>
              <a:rPr lang="zh-CN" altLang="en-US" sz="2800" b="1" dirty="0">
                <a:latin typeface="Times New Roman" panose="02020603050405020304" pitchFamily="18" charset="0"/>
                <a:ea typeface="楷体_GB2312" panose="02010609030101010101" pitchFamily="49" charset="-122"/>
                <a:cs typeface="Times New Roman" panose="02020603050405020304" pitchFamily="18" charset="0"/>
              </a:rPr>
              <a:t>有机污染物</a:t>
            </a:r>
            <a:r>
              <a:rPr lang="en-US" altLang="zh-CN" sz="2800" b="1" dirty="0">
                <a:latin typeface="Times New Roman" panose="02020603050405020304" pitchFamily="18" charset="0"/>
                <a:ea typeface="楷体_GB2312" panose="02010609030101010101" pitchFamily="49" charset="-122"/>
                <a:cs typeface="Times New Roman" panose="02020603050405020304" pitchFamily="18" charset="0"/>
              </a:rPr>
              <a:t>: </a:t>
            </a:r>
            <a:r>
              <a:rPr lang="zh-CN" altLang="en-US" sz="2800" b="1" dirty="0">
                <a:latin typeface="Times New Roman" panose="02020603050405020304" pitchFamily="18" charset="0"/>
                <a:ea typeface="楷体_GB2312" panose="02010609030101010101" pitchFamily="49" charset="-122"/>
                <a:cs typeface="Times New Roman" panose="02020603050405020304" pitchFamily="18" charset="0"/>
              </a:rPr>
              <a:t>酚，</a:t>
            </a:r>
            <a:r>
              <a:rPr lang="zh-CN" altLang="en-US" sz="2800" b="1" u="sng" dirty="0">
                <a:latin typeface="Times New Roman" panose="02020603050405020304" pitchFamily="18" charset="0"/>
                <a:ea typeface="楷体_GB2312" panose="02010609030101010101" pitchFamily="49" charset="-122"/>
                <a:cs typeface="Times New Roman" panose="02020603050405020304" pitchFamily="18" charset="0"/>
              </a:rPr>
              <a:t>氰</a:t>
            </a:r>
            <a:r>
              <a:rPr lang="zh-CN" altLang="en-US" sz="2800" b="1" dirty="0">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sz="2800" b="1" u="sng" dirty="0">
                <a:latin typeface="Times New Roman" panose="02020603050405020304" pitchFamily="18" charset="0"/>
                <a:ea typeface="楷体_GB2312" panose="02010609030101010101" pitchFamily="49" charset="-122"/>
                <a:cs typeface="Times New Roman" panose="02020603050405020304" pitchFamily="18" charset="0"/>
              </a:rPr>
              <a:t>多氯联苯</a:t>
            </a:r>
            <a:r>
              <a:rPr lang="en-US" altLang="zh-CN" sz="2800" b="1" dirty="0">
                <a:latin typeface="Times New Roman" panose="02020603050405020304" pitchFamily="18" charset="0"/>
                <a:ea typeface="楷体_GB2312" panose="02010609030101010101" pitchFamily="49" charset="-122"/>
                <a:cs typeface="Times New Roman" panose="02020603050405020304" pitchFamily="18" charset="0"/>
              </a:rPr>
              <a:t>(PCB)</a:t>
            </a:r>
            <a:r>
              <a:rPr lang="zh-CN" altLang="en-US" sz="2800" b="1" dirty="0">
                <a:latin typeface="Times New Roman" panose="02020603050405020304" pitchFamily="18" charset="0"/>
                <a:ea typeface="楷体_GB2312" panose="02010609030101010101" pitchFamily="49" charset="-122"/>
                <a:cs typeface="Times New Roman" panose="02020603050405020304" pitchFamily="18" charset="0"/>
              </a:rPr>
              <a:t>、多环芳烃</a:t>
            </a:r>
            <a:r>
              <a:rPr lang="en-US" altLang="zh-CN" sz="2800" b="1" dirty="0">
                <a:latin typeface="Times New Roman" panose="02020603050405020304" pitchFamily="18" charset="0"/>
                <a:ea typeface="楷体_GB2312" panose="02010609030101010101" pitchFamily="49" charset="-122"/>
                <a:cs typeface="Times New Roman" panose="02020603050405020304" pitchFamily="18" charset="0"/>
              </a:rPr>
              <a:t>(PAH)</a:t>
            </a:r>
            <a:r>
              <a:rPr lang="zh-CN" altLang="en-US" sz="2800" b="1" dirty="0">
                <a:latin typeface="Times New Roman" panose="02020603050405020304" pitchFamily="18" charset="0"/>
                <a:ea typeface="楷体_GB2312" panose="02010609030101010101" pitchFamily="49" charset="-122"/>
                <a:cs typeface="Times New Roman" panose="02020603050405020304" pitchFamily="18" charset="0"/>
              </a:rPr>
              <a:t>，取代苯</a:t>
            </a:r>
            <a:r>
              <a:rPr lang="en-US" altLang="zh-CN" sz="2800" dirty="0">
                <a:latin typeface="Times New Roman" panose="02020603050405020304" pitchFamily="18" charset="0"/>
                <a:ea typeface="楷体_GB2312" panose="02010609030101010101" pitchFamily="49" charset="-122"/>
                <a:cs typeface="Times New Roman" panose="02020603050405020304" pitchFamily="18" charset="0"/>
              </a:rPr>
              <a:t>;</a:t>
            </a:r>
          </a:p>
          <a:p>
            <a:pPr>
              <a:lnSpc>
                <a:spcPct val="120000"/>
              </a:lnSpc>
            </a:pPr>
            <a:r>
              <a:rPr lang="zh-CN" altLang="en-US" sz="2800" b="1" dirty="0">
                <a:latin typeface="Times New Roman" panose="02020603050405020304" pitchFamily="18" charset="0"/>
                <a:ea typeface="楷体_GB2312" panose="02010609030101010101" pitchFamily="49" charset="-122"/>
                <a:cs typeface="Times New Roman" panose="02020603050405020304" pitchFamily="18" charset="0"/>
              </a:rPr>
              <a:t>农药污染物</a:t>
            </a:r>
            <a:r>
              <a:rPr lang="en-US" altLang="zh-CN" sz="2800" b="1" dirty="0">
                <a:latin typeface="Times New Roman" panose="02020603050405020304" pitchFamily="18" charset="0"/>
                <a:ea typeface="楷体_GB2312" panose="02010609030101010101" pitchFamily="49" charset="-122"/>
                <a:cs typeface="Times New Roman" panose="02020603050405020304" pitchFamily="18" charset="0"/>
              </a:rPr>
              <a:t>: DDT</a:t>
            </a:r>
            <a:r>
              <a:rPr lang="zh-CN" altLang="en-US" sz="2800" b="1" dirty="0">
                <a:latin typeface="Times New Roman" panose="02020603050405020304" pitchFamily="18" charset="0"/>
                <a:ea typeface="楷体_GB2312" panose="02010609030101010101" pitchFamily="49" charset="-122"/>
                <a:cs typeface="Times New Roman" panose="02020603050405020304" pitchFamily="18" charset="0"/>
              </a:rPr>
              <a:t>，六六六，敌百虫，敌敌畏等</a:t>
            </a:r>
            <a:r>
              <a:rPr lang="en-US" altLang="zh-CN" sz="2800" dirty="0">
                <a:latin typeface="Times New Roman" panose="02020603050405020304" pitchFamily="18" charset="0"/>
                <a:ea typeface="楷体_GB2312" panose="02010609030101010101" pitchFamily="49" charset="-122"/>
                <a:cs typeface="Times New Roman" panose="02020603050405020304" pitchFamily="18" charset="0"/>
              </a:rPr>
              <a:t>.</a:t>
            </a:r>
          </a:p>
        </p:txBody>
      </p:sp>
      <p:sp>
        <p:nvSpPr>
          <p:cNvPr id="15363" name="矩形 118787"/>
          <p:cNvSpPr/>
          <p:nvPr/>
        </p:nvSpPr>
        <p:spPr>
          <a:xfrm>
            <a:off x="357158" y="357166"/>
            <a:ext cx="3960812" cy="792163"/>
          </a:xfrm>
          <a:prstGeom prst="rect">
            <a:avLst/>
          </a:prstGeom>
          <a:noFill/>
          <a:ln w="9525">
            <a:noFill/>
          </a:ln>
        </p:spPr>
        <p:txBody>
          <a:bodyPr anchor="ctr"/>
          <a:lstStyle/>
          <a:p>
            <a:pPr algn="ctr"/>
            <a:r>
              <a:rPr lang="en-US" altLang="zh-CN" sz="3600" b="1" dirty="0">
                <a:solidFill>
                  <a:srgbClr val="FF00FF"/>
                </a:solidFill>
                <a:latin typeface="Times New Roman" panose="02020603050405020304" pitchFamily="18" charset="0"/>
                <a:ea typeface="楷体_GB2312" panose="02010609030101010101" pitchFamily="49" charset="-122"/>
              </a:rPr>
              <a:t>2. </a:t>
            </a:r>
            <a:r>
              <a:rPr lang="zh-CN" altLang="en-US" sz="3600" b="1" dirty="0">
                <a:solidFill>
                  <a:srgbClr val="FF00FF"/>
                </a:solidFill>
                <a:latin typeface="Times New Roman" panose="02020603050405020304" pitchFamily="18" charset="0"/>
                <a:ea typeface="楷体_GB2312" panose="02010609030101010101" pitchFamily="49" charset="-122"/>
              </a:rPr>
              <a:t>有机物污染</a:t>
            </a:r>
            <a:r>
              <a:rPr lang="zh-CN" altLang="en-US" sz="4400" dirty="0">
                <a:solidFill>
                  <a:schemeClr val="tx2"/>
                </a:solidFill>
                <a:latin typeface="Times New Roman" panose="02020603050405020304" pitchFamily="18" charset="0"/>
                <a:ea typeface="宋体" panose="02010600030101010101" pitchFamily="2" charset="-122"/>
              </a:rPr>
              <a:t> </a:t>
            </a:r>
          </a:p>
        </p:txBody>
      </p:sp>
    </p:spTree>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19809"/>
          <p:cNvSpPr>
            <a:spLocks noGrp="1"/>
          </p:cNvSpPr>
          <p:nvPr>
            <p:ph type="title"/>
          </p:nvPr>
        </p:nvSpPr>
        <p:spPr>
          <a:noFill/>
          <a:ln>
            <a:noFill/>
          </a:ln>
        </p:spPr>
        <p:txBody>
          <a:bodyPr anchor="ctr"/>
          <a:lstStyle/>
          <a:p>
            <a:r>
              <a:rPr lang="zh-CN" altLang="en-US" sz="3600" b="1" dirty="0">
                <a:solidFill>
                  <a:srgbClr val="C00000"/>
                </a:solidFill>
                <a:ea typeface="楷体_GB2312" panose="02010609030101010101" pitchFamily="49" charset="-122"/>
              </a:rPr>
              <a:t>生物化学需氧量</a:t>
            </a:r>
            <a:r>
              <a:rPr lang="en-US" altLang="zh-CN" sz="3600" b="1">
                <a:solidFill>
                  <a:srgbClr val="C00000"/>
                </a:solidFill>
                <a:ea typeface="楷体_GB2312" panose="02010609030101010101" pitchFamily="49" charset="-122"/>
              </a:rPr>
              <a:t>(BOD)</a:t>
            </a:r>
            <a:r>
              <a:rPr lang="en-US" altLang="zh-CN">
                <a:solidFill>
                  <a:srgbClr val="C00000"/>
                </a:solidFill>
              </a:rPr>
              <a:t> </a:t>
            </a:r>
          </a:p>
        </p:txBody>
      </p:sp>
      <p:sp>
        <p:nvSpPr>
          <p:cNvPr id="16386" name="文本占位符 119810"/>
          <p:cNvSpPr>
            <a:spLocks noGrp="1"/>
          </p:cNvSpPr>
          <p:nvPr>
            <p:ph idx="1"/>
          </p:nvPr>
        </p:nvSpPr>
        <p:spPr>
          <a:noFill/>
          <a:ln>
            <a:noFill/>
          </a:ln>
        </p:spPr>
        <p:txBody>
          <a:bodyPr anchor="t"/>
          <a:lstStyle/>
          <a:p>
            <a:pPr>
              <a:lnSpc>
                <a:spcPct val="125000"/>
              </a:lnSpc>
            </a:pPr>
            <a:r>
              <a:rPr lang="zh-CN" altLang="en-US" sz="2800" b="1" dirty="0">
                <a:ea typeface="楷体_GB2312" panose="02010609030101010101" pitchFamily="49" charset="-122"/>
              </a:rPr>
              <a:t>一般用水温在</a:t>
            </a:r>
            <a:r>
              <a:rPr lang="en-US" altLang="zh-CN" sz="2800" b="1" dirty="0">
                <a:ea typeface="楷体_GB2312" panose="02010609030101010101" pitchFamily="49" charset="-122"/>
              </a:rPr>
              <a:t>25 ℃</a:t>
            </a:r>
            <a:r>
              <a:rPr lang="zh-CN" altLang="en-US" sz="2800" b="1" dirty="0">
                <a:ea typeface="楷体_GB2312" panose="02010609030101010101" pitchFamily="49" charset="-122"/>
              </a:rPr>
              <a:t>时</a:t>
            </a:r>
            <a:r>
              <a:rPr lang="en-US" altLang="zh-CN" sz="2800" b="1" dirty="0">
                <a:ea typeface="楷体_GB2312" panose="02010609030101010101" pitchFamily="49" charset="-122"/>
              </a:rPr>
              <a:t>5</a:t>
            </a:r>
            <a:r>
              <a:rPr lang="zh-CN" altLang="en-US" sz="2800" b="1" dirty="0">
                <a:ea typeface="楷体_GB2312" panose="02010609030101010101" pitchFamily="49" charset="-122"/>
              </a:rPr>
              <a:t>天的生化需氧量</a:t>
            </a:r>
            <a:r>
              <a:rPr lang="en-US" altLang="zh-CN" sz="2800" b="1">
                <a:ea typeface="楷体_GB2312" panose="02010609030101010101" pitchFamily="49" charset="-122"/>
              </a:rPr>
              <a:t>(BOD</a:t>
            </a:r>
            <a:r>
              <a:rPr lang="en-US" altLang="zh-CN" sz="2800" b="1" baseline="-30000">
                <a:ea typeface="楷体_GB2312" panose="02010609030101010101" pitchFamily="49" charset="-122"/>
              </a:rPr>
              <a:t>5</a:t>
            </a:r>
            <a:r>
              <a:rPr lang="en-US" altLang="zh-CN" sz="2800" b="1" dirty="0">
                <a:ea typeface="楷体_GB2312" panose="02010609030101010101" pitchFamily="49" charset="-122"/>
              </a:rPr>
              <a:t>)</a:t>
            </a:r>
            <a:r>
              <a:rPr lang="zh-CN" altLang="en-US" sz="2800" b="1" dirty="0">
                <a:ea typeface="楷体_GB2312" panose="02010609030101010101" pitchFamily="49" charset="-122"/>
              </a:rPr>
              <a:t>作为指标，用以反映耗氧有机物质的含量与水体污染的关系，一般情况下，水体中</a:t>
            </a:r>
            <a:r>
              <a:rPr lang="en-US" altLang="zh-CN" sz="2800" b="1">
                <a:ea typeface="楷体_GB2312" panose="02010609030101010101" pitchFamily="49" charset="-122"/>
              </a:rPr>
              <a:t>BOD</a:t>
            </a:r>
            <a:r>
              <a:rPr lang="en-US" altLang="zh-CN" sz="2800" b="1" baseline="-30000">
                <a:ea typeface="楷体_GB2312" panose="02010609030101010101" pitchFamily="49" charset="-122"/>
              </a:rPr>
              <a:t>5</a:t>
            </a:r>
            <a:r>
              <a:rPr lang="zh-CN" altLang="en-US" sz="2800" b="1" dirty="0">
                <a:ea typeface="楷体_GB2312" panose="02010609030101010101" pitchFamily="49" charset="-122"/>
              </a:rPr>
              <a:t>低于</a:t>
            </a:r>
            <a:r>
              <a:rPr lang="en-US" altLang="zh-CN" sz="2800" b="1">
                <a:ea typeface="楷体_GB2312" panose="02010609030101010101" pitchFamily="49" charset="-122"/>
              </a:rPr>
              <a:t>3 mg·L</a:t>
            </a:r>
            <a:r>
              <a:rPr lang="en-US" altLang="zh-CN" sz="2800" b="1" baseline="30000">
                <a:ea typeface="楷体_GB2312" panose="02010609030101010101" pitchFamily="49" charset="-122"/>
              </a:rPr>
              <a:t>-1</a:t>
            </a:r>
            <a:r>
              <a:rPr lang="zh-CN" altLang="en-US" sz="2800" b="1" dirty="0">
                <a:ea typeface="楷体_GB2312" panose="02010609030101010101" pitchFamily="49" charset="-122"/>
              </a:rPr>
              <a:t>时，水质较好。</a:t>
            </a:r>
            <a:r>
              <a:rPr lang="en-US" altLang="zh-CN" sz="2800" b="1">
                <a:ea typeface="楷体_GB2312" panose="02010609030101010101" pitchFamily="49" charset="-122"/>
              </a:rPr>
              <a:t>BOD</a:t>
            </a:r>
            <a:r>
              <a:rPr lang="en-US" altLang="zh-CN" sz="2800" b="1" baseline="-30000">
                <a:ea typeface="楷体_GB2312" panose="02010609030101010101" pitchFamily="49" charset="-122"/>
              </a:rPr>
              <a:t>5</a:t>
            </a:r>
            <a:r>
              <a:rPr lang="zh-CN" altLang="en-US" sz="2800" b="1" dirty="0">
                <a:ea typeface="楷体_GB2312" panose="02010609030101010101" pitchFamily="49" charset="-122"/>
              </a:rPr>
              <a:t>量愈高，表明溶解氧消耗就愈多，水质就愈差。因此，</a:t>
            </a:r>
            <a:r>
              <a:rPr lang="en-US" altLang="zh-CN" sz="2800" b="1">
                <a:ea typeface="楷体_GB2312" panose="02010609030101010101" pitchFamily="49" charset="-122"/>
              </a:rPr>
              <a:t>BOD</a:t>
            </a:r>
            <a:r>
              <a:rPr lang="en-US" altLang="zh-CN" sz="2800" b="1" baseline="-30000">
                <a:ea typeface="楷体_GB2312" panose="02010609030101010101" pitchFamily="49" charset="-122"/>
              </a:rPr>
              <a:t>5</a:t>
            </a:r>
            <a:r>
              <a:rPr lang="zh-CN" altLang="en-US" sz="2800" b="1" dirty="0">
                <a:ea typeface="楷体_GB2312" panose="02010609030101010101" pitchFamily="49" charset="-122"/>
              </a:rPr>
              <a:t>达到</a:t>
            </a:r>
            <a:r>
              <a:rPr lang="en-US" altLang="zh-CN" sz="2800" b="1" dirty="0">
                <a:ea typeface="楷体_GB2312" panose="02010609030101010101" pitchFamily="49" charset="-122"/>
              </a:rPr>
              <a:t>7</a:t>
            </a:r>
            <a:r>
              <a:rPr lang="zh-CN" altLang="en-US" sz="2800" b="1" dirty="0">
                <a:ea typeface="楷体_GB2312" panose="02010609030101010101" pitchFamily="49" charset="-122"/>
              </a:rPr>
              <a:t>．</a:t>
            </a:r>
            <a:r>
              <a:rPr lang="en-US" altLang="zh-CN" sz="2800" b="1">
                <a:ea typeface="楷体_GB2312" panose="02010609030101010101" pitchFamily="49" charset="-122"/>
              </a:rPr>
              <a:t>5 mg·L</a:t>
            </a:r>
            <a:r>
              <a:rPr lang="en-US" altLang="zh-CN" sz="2800" b="1" baseline="30000">
                <a:ea typeface="楷体_GB2312" panose="02010609030101010101" pitchFamily="49" charset="-122"/>
              </a:rPr>
              <a:t>-1</a:t>
            </a:r>
            <a:r>
              <a:rPr lang="zh-CN" altLang="en-US" sz="2800" b="1" dirty="0">
                <a:ea typeface="楷体_GB2312" panose="02010609030101010101" pitchFamily="49" charset="-122"/>
              </a:rPr>
              <a:t>时，水质不好；大于</a:t>
            </a:r>
            <a:r>
              <a:rPr lang="en-US" altLang="zh-CN" sz="2800" b="1">
                <a:ea typeface="楷体_GB2312" panose="02010609030101010101" pitchFamily="49" charset="-122"/>
              </a:rPr>
              <a:t>10 mg·L</a:t>
            </a:r>
            <a:r>
              <a:rPr lang="en-US" altLang="zh-CN" sz="2800" b="1" baseline="30000">
                <a:ea typeface="楷体_GB2312" panose="02010609030101010101" pitchFamily="49" charset="-122"/>
              </a:rPr>
              <a:t>-1</a:t>
            </a:r>
            <a:r>
              <a:rPr lang="zh-CN" altLang="en-US" sz="2800" b="1" dirty="0">
                <a:ea typeface="楷体_GB2312" panose="02010609030101010101" pitchFamily="49" charset="-122"/>
              </a:rPr>
              <a:t>时，表明水质很差，鱼类已不能存活。</a:t>
            </a:r>
            <a:r>
              <a:rPr lang="zh-CN" altLang="en-US" dirty="0"/>
              <a:t> </a:t>
            </a:r>
          </a:p>
        </p:txBody>
      </p:sp>
    </p:spTree>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20833"/>
          <p:cNvSpPr>
            <a:spLocks noGrp="1"/>
          </p:cNvSpPr>
          <p:nvPr>
            <p:ph type="title"/>
          </p:nvPr>
        </p:nvSpPr>
        <p:spPr>
          <a:noFill/>
          <a:ln>
            <a:noFill/>
          </a:ln>
        </p:spPr>
        <p:txBody>
          <a:bodyPr anchor="ctr"/>
          <a:lstStyle/>
          <a:p>
            <a:r>
              <a:rPr lang="en-US" altLang="zh-CN" sz="3600" b="1" dirty="0">
                <a:solidFill>
                  <a:srgbClr val="FF00FF"/>
                </a:solidFill>
                <a:ea typeface="楷体_GB2312" panose="02010609030101010101" pitchFamily="49" charset="-122"/>
              </a:rPr>
              <a:t>3. </a:t>
            </a:r>
            <a:r>
              <a:rPr lang="zh-CN" altLang="en-US" sz="3600" b="1" dirty="0">
                <a:solidFill>
                  <a:srgbClr val="FF00FF"/>
                </a:solidFill>
                <a:ea typeface="楷体_GB2312" panose="02010609030101010101" pitchFamily="49" charset="-122"/>
              </a:rPr>
              <a:t>水体的富营养化</a:t>
            </a:r>
            <a:r>
              <a:rPr lang="zh-CN" altLang="en-US" dirty="0"/>
              <a:t> </a:t>
            </a:r>
            <a:endParaRPr lang="zh-CN" altLang="en-US"/>
          </a:p>
        </p:txBody>
      </p:sp>
      <p:sp>
        <p:nvSpPr>
          <p:cNvPr id="17410" name="文本占位符 120834"/>
          <p:cNvSpPr>
            <a:spLocks noGrp="1"/>
          </p:cNvSpPr>
          <p:nvPr>
            <p:ph idx="1"/>
          </p:nvPr>
        </p:nvSpPr>
        <p:spPr>
          <a:noFill/>
          <a:ln>
            <a:noFill/>
          </a:ln>
        </p:spPr>
        <p:txBody>
          <a:bodyPr anchor="t"/>
          <a:lstStyle/>
          <a:p>
            <a:pPr>
              <a:lnSpc>
                <a:spcPct val="120000"/>
              </a:lnSpc>
            </a:pPr>
            <a:r>
              <a:rPr lang="zh-CN" altLang="en-US" b="1" dirty="0">
                <a:ea typeface="楷体_GB2312" panose="02010609030101010101" pitchFamily="49" charset="-122"/>
              </a:rPr>
              <a:t>水体过分肥沃，藻类繁殖特别迅速，使水生生态系统遭到破坏，这种现象称为水体的富营养化。这种现象在江河、湖泊中称为水华，在海洋上则称为赤潮。</a:t>
            </a:r>
            <a:r>
              <a:rPr lang="zh-CN" altLang="en-US" dirty="0">
                <a:ea typeface="楷体_GB2312" panose="02010609030101010101" pitchFamily="49" charset="-122"/>
              </a:rPr>
              <a:t> </a:t>
            </a:r>
          </a:p>
          <a:p>
            <a:pPr>
              <a:lnSpc>
                <a:spcPct val="120000"/>
              </a:lnSpc>
            </a:pPr>
            <a:r>
              <a:rPr lang="zh-CN" altLang="en-US" b="1" dirty="0">
                <a:ea typeface="楷体_GB2312" panose="02010609030101010101" pitchFamily="49" charset="-122"/>
              </a:rPr>
              <a:t>减少洗涤剂中的含磷量是防止水体发生富营养化、保护水质的重要措施。</a:t>
            </a:r>
            <a:r>
              <a:rPr lang="zh-CN" altLang="en-US" dirty="0"/>
              <a:t> </a:t>
            </a:r>
          </a:p>
        </p:txBody>
      </p:sp>
    </p:spTree>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框 121858"/>
          <p:cNvSpPr txBox="1"/>
          <p:nvPr/>
        </p:nvSpPr>
        <p:spPr>
          <a:xfrm rot="-5400000">
            <a:off x="4624929" y="4382615"/>
            <a:ext cx="553998" cy="2532063"/>
          </a:xfrm>
          <a:prstGeom prst="rect">
            <a:avLst/>
          </a:prstGeom>
          <a:noFill/>
          <a:ln w="12700">
            <a:noFill/>
          </a:ln>
        </p:spPr>
        <p:txBody>
          <a:bodyPr vert="eaVert" wrap="square" anchor="t">
            <a:spAutoFit/>
          </a:bodyPr>
          <a:lstStyle/>
          <a:p>
            <a:pPr algn="ctr">
              <a:spcBef>
                <a:spcPct val="50000"/>
              </a:spcBef>
            </a:pPr>
            <a:r>
              <a:rPr lang="en-US" altLang="zh-CN" b="1" dirty="0">
                <a:solidFill>
                  <a:srgbClr val="FF00FF"/>
                </a:solidFill>
                <a:latin typeface="Times New Roman" panose="02020603050405020304" pitchFamily="18" charset="0"/>
                <a:ea typeface="宋体" panose="02010600030101010101" pitchFamily="2" charset="-122"/>
              </a:rPr>
              <a:t>2007</a:t>
            </a:r>
            <a:r>
              <a:rPr lang="zh-CN" altLang="en-US" b="1" dirty="0">
                <a:solidFill>
                  <a:srgbClr val="FF00FF"/>
                </a:solidFill>
                <a:latin typeface="Times New Roman" panose="02020603050405020304" pitchFamily="18" charset="0"/>
                <a:ea typeface="宋体" panose="02010600030101010101" pitchFamily="2" charset="-122"/>
              </a:rPr>
              <a:t>年</a:t>
            </a:r>
            <a:r>
              <a:rPr lang="en-US" altLang="zh-CN" b="1" dirty="0">
                <a:solidFill>
                  <a:srgbClr val="FF00FF"/>
                </a:solidFill>
                <a:latin typeface="Times New Roman" panose="02020603050405020304" pitchFamily="18" charset="0"/>
                <a:ea typeface="宋体" panose="02010600030101010101" pitchFamily="2" charset="-122"/>
              </a:rPr>
              <a:t>5</a:t>
            </a:r>
            <a:r>
              <a:rPr lang="zh-CN" altLang="en-US" b="1" dirty="0">
                <a:solidFill>
                  <a:srgbClr val="FF00FF"/>
                </a:solidFill>
                <a:latin typeface="Times New Roman" panose="02020603050405020304" pitchFamily="18" charset="0"/>
                <a:ea typeface="宋体" panose="02010600030101010101" pitchFamily="2" charset="-122"/>
              </a:rPr>
              <a:t>月</a:t>
            </a:r>
          </a:p>
        </p:txBody>
      </p:sp>
      <p:pic>
        <p:nvPicPr>
          <p:cNvPr id="4" name="图片 121857" descr="F4DA66E1458E84637D12FBAF5EE1313A"/>
          <p:cNvPicPr>
            <a:picLocks noChangeAspect="1" noChangeArrowheads="1"/>
          </p:cNvPicPr>
          <p:nvPr/>
        </p:nvPicPr>
        <p:blipFill>
          <a:blip r:embed="rId2"/>
          <a:srcRect r="6673" b="18869"/>
          <a:stretch>
            <a:fillRect/>
          </a:stretch>
        </p:blipFill>
        <p:spPr bwMode="auto">
          <a:xfrm>
            <a:off x="1142976" y="1071546"/>
            <a:ext cx="7459688" cy="4306899"/>
          </a:xfrm>
          <a:prstGeom prst="rect">
            <a:avLst/>
          </a:prstGeom>
          <a:noFill/>
          <a:ln w="9525">
            <a:noFill/>
            <a:miter lim="800000"/>
            <a:headEnd/>
            <a:tailEnd/>
          </a:ln>
        </p:spPr>
      </p:pic>
    </p:spTree>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文本占位符 124930"/>
          <p:cNvSpPr>
            <a:spLocks noGrp="1"/>
          </p:cNvSpPr>
          <p:nvPr>
            <p:ph idx="1"/>
          </p:nvPr>
        </p:nvSpPr>
        <p:spPr>
          <a:xfrm>
            <a:off x="467544" y="1412776"/>
            <a:ext cx="8229600" cy="4525963"/>
          </a:xfrm>
          <a:noFill/>
          <a:ln>
            <a:noFill/>
          </a:ln>
        </p:spPr>
        <p:txBody>
          <a:bodyPr anchor="t"/>
          <a:lstStyle/>
          <a:p>
            <a:pPr>
              <a:spcBef>
                <a:spcPct val="0"/>
              </a:spcBef>
            </a:pPr>
            <a:r>
              <a:rPr lang="en-US" altLang="zh-CN" sz="2800" dirty="0"/>
              <a:t> </a:t>
            </a:r>
            <a:r>
              <a:rPr lang="zh-CN" altLang="en-US" sz="2400" b="1" dirty="0"/>
              <a:t>污水处理通常分为三级处理。</a:t>
            </a:r>
          </a:p>
          <a:p>
            <a:pPr>
              <a:spcBef>
                <a:spcPct val="0"/>
              </a:spcBef>
            </a:pPr>
            <a:r>
              <a:rPr lang="zh-CN" altLang="en-US" sz="2400" b="1" dirty="0"/>
              <a:t>    </a:t>
            </a:r>
            <a:r>
              <a:rPr lang="zh-CN" altLang="en-US" sz="2400" b="1" dirty="0">
                <a:solidFill>
                  <a:srgbClr val="674EE6"/>
                </a:solidFill>
              </a:rPr>
              <a:t>一级处理</a:t>
            </a:r>
            <a:r>
              <a:rPr lang="zh-CN" altLang="en-US" sz="2400" b="1" dirty="0"/>
              <a:t>：属于初级处理或预处理，目的是去除水中的悬浮物和漂浮物。经过一级处理后，悬浮固体去除率可达</a:t>
            </a:r>
            <a:r>
              <a:rPr lang="en-US" altLang="zh-CN" sz="2400" b="1" dirty="0"/>
              <a:t>70%~80%</a:t>
            </a:r>
            <a:r>
              <a:rPr lang="zh-CN" altLang="en-US" sz="2400" b="1" dirty="0"/>
              <a:t>。</a:t>
            </a:r>
          </a:p>
          <a:p>
            <a:pPr>
              <a:spcBef>
                <a:spcPct val="0"/>
              </a:spcBef>
            </a:pPr>
            <a:r>
              <a:rPr lang="zh-CN" altLang="en-US" sz="2400" b="1" dirty="0"/>
              <a:t>    </a:t>
            </a:r>
            <a:r>
              <a:rPr lang="zh-CN" altLang="en-US" sz="2400" b="1" dirty="0">
                <a:solidFill>
                  <a:srgbClr val="674EE6"/>
                </a:solidFill>
              </a:rPr>
              <a:t>二级处理</a:t>
            </a:r>
            <a:r>
              <a:rPr lang="zh-CN" altLang="en-US" sz="2400" b="1" dirty="0"/>
              <a:t>：目的是去除废水中呈胶体状态和溶解状态的有机物。经二级处理后，废水中有机物可被除去</a:t>
            </a:r>
            <a:r>
              <a:rPr lang="en-US" altLang="zh-CN" sz="2400" b="1" dirty="0"/>
              <a:t>80%~90%</a:t>
            </a:r>
            <a:r>
              <a:rPr lang="zh-CN" altLang="en-US" sz="2400" b="1" dirty="0"/>
              <a:t>，通常都能达到排放标准。</a:t>
            </a:r>
          </a:p>
          <a:p>
            <a:pPr>
              <a:spcBef>
                <a:spcPct val="0"/>
              </a:spcBef>
            </a:pPr>
            <a:r>
              <a:rPr lang="zh-CN" altLang="en-US" sz="2400" b="1" dirty="0"/>
              <a:t>   </a:t>
            </a:r>
            <a:r>
              <a:rPr lang="zh-CN" altLang="en-US" sz="2400" b="1" dirty="0">
                <a:solidFill>
                  <a:srgbClr val="674EE6"/>
                </a:solidFill>
              </a:rPr>
              <a:t> 三级处理</a:t>
            </a:r>
            <a:r>
              <a:rPr lang="zh-CN" altLang="en-US" sz="2400" b="1" dirty="0"/>
              <a:t>：属于深度处理，处理后的水通常可达到工业用水、农业用水和饮用水的标准。但成本高，一般只用于严重缺水的地区和城市。</a:t>
            </a:r>
          </a:p>
          <a:p>
            <a:pPr>
              <a:spcBef>
                <a:spcPct val="0"/>
              </a:spcBef>
            </a:pPr>
            <a:r>
              <a:rPr lang="zh-CN" altLang="en-US" sz="2400" b="1" dirty="0"/>
              <a:t>    城市污水处理以一级处理为预处理，二级处理为主体，三级处理较少使用。 </a:t>
            </a:r>
          </a:p>
        </p:txBody>
      </p:sp>
      <p:sp>
        <p:nvSpPr>
          <p:cNvPr id="19459" name="矩形 124931"/>
          <p:cNvSpPr/>
          <p:nvPr/>
        </p:nvSpPr>
        <p:spPr>
          <a:xfrm>
            <a:off x="457200" y="313055"/>
            <a:ext cx="4176713" cy="820738"/>
          </a:xfrm>
          <a:prstGeom prst="rect">
            <a:avLst/>
          </a:prstGeom>
          <a:solidFill>
            <a:srgbClr val="22E50D"/>
          </a:solidFill>
          <a:ln w="9525">
            <a:noFill/>
          </a:ln>
        </p:spPr>
        <p:txBody>
          <a:bodyPr anchor="ctr"/>
          <a:lstStyle/>
          <a:p>
            <a:pPr algn="ctr"/>
            <a:r>
              <a:rPr lang="en-US" altLang="zh-CN" sz="3600" b="1" dirty="0">
                <a:solidFill>
                  <a:schemeClr val="tx1"/>
                </a:solidFill>
                <a:latin typeface="Times New Roman" panose="02020603050405020304" pitchFamily="18" charset="0"/>
                <a:ea typeface="楷体_GB2312" panose="02010609030101010101" pitchFamily="49" charset="-122"/>
              </a:rPr>
              <a:t>8.1.2  </a:t>
            </a:r>
            <a:r>
              <a:rPr lang="zh-CN" altLang="en-US" sz="3600" b="1" dirty="0">
                <a:solidFill>
                  <a:schemeClr val="tx1"/>
                </a:solidFill>
                <a:latin typeface="Times New Roman" panose="02020603050405020304" pitchFamily="18" charset="0"/>
                <a:ea typeface="楷体_GB2312" panose="02010609030101010101" pitchFamily="49" charset="-122"/>
              </a:rPr>
              <a:t>水污染的防治</a:t>
            </a:r>
            <a:r>
              <a:rPr lang="zh-CN" altLang="en-US" sz="4400" dirty="0">
                <a:solidFill>
                  <a:schemeClr val="tx1"/>
                </a:solidFill>
                <a:latin typeface="Times New Roman" panose="02020603050405020304" pitchFamily="18" charset="0"/>
                <a:ea typeface="宋体" panose="02010600030101010101" pitchFamily="2" charset="-122"/>
              </a:rPr>
              <a: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Effect transition="in" filter="barn(inVertical)">
                                      <p:cBhvr>
                                        <p:cTn id="7" dur="500"/>
                                        <p:tgtEl>
                                          <p:spTgt spid="194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9458">
                                            <p:txEl>
                                              <p:pRg st="1" end="1"/>
                                            </p:txEl>
                                          </p:spTgt>
                                        </p:tgtEl>
                                        <p:attrNameLst>
                                          <p:attrName>style.visibility</p:attrName>
                                        </p:attrNameLst>
                                      </p:cBhvr>
                                      <p:to>
                                        <p:strVal val="visible"/>
                                      </p:to>
                                    </p:set>
                                    <p:animEffect transition="in" filter="barn(inVertical)">
                                      <p:cBhvr>
                                        <p:cTn id="12" dur="500"/>
                                        <p:tgtEl>
                                          <p:spTgt spid="194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9458">
                                            <p:txEl>
                                              <p:pRg st="2" end="2"/>
                                            </p:txEl>
                                          </p:spTgt>
                                        </p:tgtEl>
                                        <p:attrNameLst>
                                          <p:attrName>style.visibility</p:attrName>
                                        </p:attrNameLst>
                                      </p:cBhvr>
                                      <p:to>
                                        <p:strVal val="visible"/>
                                      </p:to>
                                    </p:set>
                                    <p:animEffect transition="in" filter="barn(inVertical)">
                                      <p:cBhvr>
                                        <p:cTn id="17" dur="500"/>
                                        <p:tgtEl>
                                          <p:spTgt spid="194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9458">
                                            <p:txEl>
                                              <p:pRg st="3" end="3"/>
                                            </p:txEl>
                                          </p:spTgt>
                                        </p:tgtEl>
                                        <p:attrNameLst>
                                          <p:attrName>style.visibility</p:attrName>
                                        </p:attrNameLst>
                                      </p:cBhvr>
                                      <p:to>
                                        <p:strVal val="visible"/>
                                      </p:to>
                                    </p:set>
                                    <p:animEffect transition="in" filter="barn(inVertical)">
                                      <p:cBhvr>
                                        <p:cTn id="22" dur="500"/>
                                        <p:tgtEl>
                                          <p:spTgt spid="1945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9458">
                                            <p:txEl>
                                              <p:pRg st="4" end="4"/>
                                            </p:txEl>
                                          </p:spTgt>
                                        </p:tgtEl>
                                        <p:attrNameLst>
                                          <p:attrName>style.visibility</p:attrName>
                                        </p:attrNameLst>
                                      </p:cBhvr>
                                      <p:to>
                                        <p:strVal val="visible"/>
                                      </p:to>
                                    </p:set>
                                    <p:animEffect transition="in" filter="barn(inVertical)">
                                      <p:cBhvr>
                                        <p:cTn id="27" dur="500"/>
                                        <p:tgtEl>
                                          <p:spTgt spid="1945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文本占位符 125954"/>
          <p:cNvSpPr>
            <a:spLocks noGrp="1"/>
          </p:cNvSpPr>
          <p:nvPr>
            <p:ph idx="1"/>
          </p:nvPr>
        </p:nvSpPr>
        <p:spPr>
          <a:xfrm>
            <a:off x="204470" y="1470660"/>
            <a:ext cx="9052560" cy="4526280"/>
          </a:xfrm>
          <a:noFill/>
          <a:ln>
            <a:noFill/>
          </a:ln>
        </p:spPr>
        <p:txBody>
          <a:bodyPr anchor="t"/>
          <a:lstStyle/>
          <a:p>
            <a:pPr marL="0" indent="0" latinLnBrk="0">
              <a:lnSpc>
                <a:spcPct val="150000"/>
              </a:lnSpc>
              <a:spcBef>
                <a:spcPct val="0"/>
              </a:spcBef>
              <a:buNone/>
            </a:pPr>
            <a:r>
              <a:rPr lang="en-US" altLang="zh-CN" dirty="0"/>
              <a:t>     </a:t>
            </a:r>
            <a:r>
              <a:rPr lang="en-US" altLang="zh-CN" sz="2800" b="1" dirty="0"/>
              <a:t>(1)</a:t>
            </a:r>
            <a:r>
              <a:rPr lang="zh-CN" altLang="en-US" sz="2800" b="1" dirty="0"/>
              <a:t>物理法：分离废水中呈悬浮状态的污染物质，使废水得到初步净化。包括沉淀、过滤、离心分离、气浮、反渗透、蒸发结晶等方法。 </a:t>
            </a:r>
          </a:p>
          <a:p>
            <a:pPr marL="0" indent="0" latinLnBrk="0">
              <a:lnSpc>
                <a:spcPct val="150000"/>
              </a:lnSpc>
              <a:spcBef>
                <a:spcPct val="0"/>
              </a:spcBef>
              <a:buNone/>
            </a:pPr>
            <a:r>
              <a:rPr lang="en-US" altLang="zh-CN" sz="2800" b="1" dirty="0"/>
              <a:t>      (2)</a:t>
            </a:r>
            <a:r>
              <a:rPr lang="zh-CN" altLang="en-US" sz="2800" b="1" dirty="0"/>
              <a:t>化学法：通过化学反应的作用来分离或回收废水中的污染物，或将其转化为无害物质。常采用的方法有中和、混凝、氧化还原等。 </a:t>
            </a:r>
          </a:p>
          <a:p>
            <a:pPr marL="0" indent="0">
              <a:spcBef>
                <a:spcPct val="0"/>
              </a:spcBef>
              <a:buNone/>
            </a:pPr>
            <a:endParaRPr lang="zh-CN" altLang="en-US" b="1" dirty="0"/>
          </a:p>
        </p:txBody>
      </p:sp>
      <p:sp>
        <p:nvSpPr>
          <p:cNvPr id="20483" name="矩形 125955"/>
          <p:cNvSpPr/>
          <p:nvPr/>
        </p:nvSpPr>
        <p:spPr>
          <a:xfrm>
            <a:off x="204470" y="887095"/>
            <a:ext cx="7065010" cy="583565"/>
          </a:xfrm>
          <a:prstGeom prst="rect">
            <a:avLst/>
          </a:prstGeom>
          <a:noFill/>
          <a:ln w="9525">
            <a:noFill/>
          </a:ln>
        </p:spPr>
        <p:txBody>
          <a:bodyPr wrap="square" anchor="ctr">
            <a:spAutoFit/>
          </a:bodyPr>
          <a:lstStyle/>
          <a:p>
            <a:r>
              <a:rPr lang="zh-CN" altLang="en-US" sz="3200" b="1" dirty="0">
                <a:solidFill>
                  <a:srgbClr val="C00000"/>
                </a:solidFill>
                <a:latin typeface="Times New Roman" panose="02020603050405020304" pitchFamily="18" charset="0"/>
                <a:ea typeface="宋体" panose="02010600030101010101" pitchFamily="2" charset="-122"/>
              </a:rPr>
              <a:t>污水的技术处理主要方法如下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0482">
                                            <p:txEl>
                                              <p:pRg st="0" end="0"/>
                                            </p:txEl>
                                          </p:spTgt>
                                        </p:tgtEl>
                                        <p:attrNameLst>
                                          <p:attrName>style.visibility</p:attrName>
                                        </p:attrNameLst>
                                      </p:cBhvr>
                                      <p:to>
                                        <p:strVal val="visible"/>
                                      </p:to>
                                    </p:set>
                                    <p:animEffect transition="in" filter="diamond(in)">
                                      <p:cBhvr>
                                        <p:cTn id="7" dur="500"/>
                                        <p:tgtEl>
                                          <p:spTgt spid="204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0482">
                                            <p:txEl>
                                              <p:pRg st="1" end="1"/>
                                            </p:txEl>
                                          </p:spTgt>
                                        </p:tgtEl>
                                        <p:attrNameLst>
                                          <p:attrName>style.visibility</p:attrName>
                                        </p:attrNameLst>
                                      </p:cBhvr>
                                      <p:to>
                                        <p:strVal val="visible"/>
                                      </p:to>
                                    </p:set>
                                    <p:animEffect transition="in" filter="diamond(in)">
                                      <p:cBhvr>
                                        <p:cTn id="12" dur="500"/>
                                        <p:tgtEl>
                                          <p:spTgt spid="2048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文本占位符 125954"/>
          <p:cNvSpPr>
            <a:spLocks noGrp="1"/>
          </p:cNvSpPr>
          <p:nvPr>
            <p:ph idx="1"/>
          </p:nvPr>
        </p:nvSpPr>
        <p:spPr>
          <a:xfrm>
            <a:off x="222250" y="812165"/>
            <a:ext cx="9052560" cy="4526280"/>
          </a:xfrm>
          <a:noFill/>
          <a:ln>
            <a:noFill/>
          </a:ln>
        </p:spPr>
        <p:txBody>
          <a:bodyPr anchor="t"/>
          <a:lstStyle/>
          <a:p>
            <a:pPr marL="0" indent="0" latinLnBrk="0">
              <a:lnSpc>
                <a:spcPct val="150000"/>
              </a:lnSpc>
              <a:spcBef>
                <a:spcPct val="0"/>
              </a:spcBef>
              <a:buNone/>
            </a:pPr>
            <a:r>
              <a:rPr lang="en-US" altLang="zh-CN" dirty="0"/>
              <a:t> </a:t>
            </a:r>
            <a:r>
              <a:rPr lang="en-US" altLang="zh-CN" sz="2800" b="1" dirty="0"/>
              <a:t>      (3)</a:t>
            </a:r>
            <a:r>
              <a:rPr lang="zh-CN" altLang="en-US" sz="2800" b="1" dirty="0"/>
              <a:t>物理化学法；包括萃取、吸附、离子交换、反渗透、电渗析等，该法主要是分离废水中的溶解物质，同时回收其中的有用成分，从而使废水得到进一步处理。</a:t>
            </a:r>
          </a:p>
          <a:p>
            <a:pPr marL="0" indent="0" latinLnBrk="0">
              <a:lnSpc>
                <a:spcPct val="150000"/>
              </a:lnSpc>
              <a:spcBef>
                <a:spcPct val="0"/>
              </a:spcBef>
              <a:buNone/>
            </a:pPr>
            <a:r>
              <a:rPr lang="zh-CN" altLang="en-US" sz="2800" b="1" dirty="0"/>
              <a:t>      </a:t>
            </a:r>
            <a:r>
              <a:rPr lang="en-US" altLang="zh-CN" sz="2800" b="1" dirty="0"/>
              <a:t>(4)</a:t>
            </a:r>
            <a:r>
              <a:rPr lang="zh-CN" altLang="en-US" sz="2800" b="1" dirty="0"/>
              <a:t>生物处理法：通过微生物的代谢作用，将废水中部分复杂的有机物、有毒物质分解为简单的、稳定的无毒物质。常用有需氧活性污泥法、生物滤池法，厌氧生物还原法</a:t>
            </a:r>
            <a:r>
              <a:rPr lang="zh-CN" altLang="en-US" b="1" dirty="0"/>
              <a:t>等。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482">
                                            <p:txEl>
                                              <p:pRg st="0" end="0"/>
                                            </p:txEl>
                                          </p:spTgt>
                                        </p:tgtEl>
                                        <p:attrNameLst>
                                          <p:attrName>style.visibility</p:attrName>
                                        </p:attrNameLst>
                                      </p:cBhvr>
                                      <p:to>
                                        <p:strVal val="visible"/>
                                      </p:to>
                                    </p:set>
                                    <p:animEffect transition="in" filter="checkerboard(across)">
                                      <p:cBhvr>
                                        <p:cTn id="7" dur="500"/>
                                        <p:tgtEl>
                                          <p:spTgt spid="204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0482">
                                            <p:txEl>
                                              <p:pRg st="1" end="1"/>
                                            </p:txEl>
                                          </p:spTgt>
                                        </p:tgtEl>
                                        <p:attrNameLst>
                                          <p:attrName>style.visibility</p:attrName>
                                        </p:attrNameLst>
                                      </p:cBhvr>
                                      <p:to>
                                        <p:strVal val="visible"/>
                                      </p:to>
                                    </p:set>
                                    <p:animEffect transition="in" filter="checkerboard(across)">
                                      <p:cBhvr>
                                        <p:cTn id="12" dur="500"/>
                                        <p:tgtEl>
                                          <p:spTgt spid="2048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内容占位符 11266"/>
          <p:cNvSpPr>
            <a:spLocks noGrp="1"/>
          </p:cNvSpPr>
          <p:nvPr>
            <p:ph idx="1"/>
          </p:nvPr>
        </p:nvSpPr>
        <p:spPr>
          <a:noFill/>
          <a:ln>
            <a:noFill/>
          </a:ln>
        </p:spPr>
        <p:txBody>
          <a:bodyPr anchor="t"/>
          <a:lstStyle/>
          <a:p>
            <a:pPr>
              <a:lnSpc>
                <a:spcPct val="90000"/>
              </a:lnSpc>
              <a:buNone/>
            </a:pPr>
            <a:r>
              <a:rPr lang="en-US" altLang="zh-CN" dirty="0">
                <a:solidFill>
                  <a:srgbClr val="FFFF00"/>
                </a:solidFill>
              </a:rPr>
              <a:t> </a:t>
            </a:r>
          </a:p>
          <a:p>
            <a:pPr>
              <a:lnSpc>
                <a:spcPct val="90000"/>
              </a:lnSpc>
              <a:buNone/>
            </a:pPr>
            <a:r>
              <a:rPr lang="en-US" altLang="zh-CN" dirty="0"/>
              <a:t>   </a:t>
            </a:r>
            <a:r>
              <a:rPr lang="zh-CN" altLang="en-US" sz="2400" b="1" dirty="0"/>
              <a:t>大气层：</a:t>
            </a:r>
          </a:p>
          <a:p>
            <a:pPr>
              <a:lnSpc>
                <a:spcPct val="90000"/>
              </a:lnSpc>
              <a:buNone/>
            </a:pPr>
            <a:r>
              <a:rPr lang="zh-CN" altLang="en-US" sz="2000" b="1" dirty="0"/>
              <a:t>        </a:t>
            </a:r>
            <a:r>
              <a:rPr lang="zh-CN" altLang="en-US" sz="2400" b="1" dirty="0"/>
              <a:t>对流层    </a:t>
            </a:r>
            <a:r>
              <a:rPr lang="en-US" altLang="zh-CN" sz="2400" b="1" dirty="0">
                <a:latin typeface="Times New Roman" pitchFamily="18" charset="0"/>
                <a:cs typeface="Times New Roman" pitchFamily="18" charset="0"/>
              </a:rPr>
              <a:t>12km</a:t>
            </a:r>
            <a:r>
              <a:rPr lang="zh-CN" altLang="en-US" sz="2400" b="1" dirty="0">
                <a:latin typeface="Times New Roman" pitchFamily="18" charset="0"/>
                <a:cs typeface="Times New Roman" pitchFamily="18" charset="0"/>
              </a:rPr>
              <a:t>以内   </a:t>
            </a:r>
          </a:p>
          <a:p>
            <a:pPr>
              <a:lnSpc>
                <a:spcPct val="90000"/>
              </a:lnSpc>
              <a:buNone/>
            </a:pPr>
            <a:r>
              <a:rPr lang="zh-CN" altLang="en-US" sz="2400" b="1" dirty="0">
                <a:latin typeface="Times New Roman" pitchFamily="18" charset="0"/>
                <a:cs typeface="Times New Roman" pitchFamily="18" charset="0"/>
              </a:rPr>
              <a:t>                       其中</a:t>
            </a:r>
            <a:r>
              <a:rPr lang="en-US" altLang="zh-CN" sz="2400" b="1" dirty="0">
                <a:latin typeface="Times New Roman" pitchFamily="18" charset="0"/>
                <a:cs typeface="Times New Roman" pitchFamily="18" charset="0"/>
              </a:rPr>
              <a:t>1~2km</a:t>
            </a:r>
            <a:r>
              <a:rPr lang="zh-CN" altLang="en-US" sz="2400" b="1" dirty="0">
                <a:latin typeface="Times New Roman" pitchFamily="18" charset="0"/>
                <a:cs typeface="Times New Roman" pitchFamily="18" charset="0"/>
              </a:rPr>
              <a:t>以下的地层大气</a:t>
            </a:r>
            <a:endParaRPr lang="en-US" altLang="zh-CN" sz="2400" b="1" dirty="0">
              <a:latin typeface="Times New Roman" pitchFamily="18" charset="0"/>
              <a:cs typeface="Times New Roman" pitchFamily="18" charset="0"/>
            </a:endParaRPr>
          </a:p>
          <a:p>
            <a:pPr>
              <a:lnSpc>
                <a:spcPct val="90000"/>
              </a:lnSpc>
              <a:buNone/>
            </a:pPr>
            <a:r>
              <a:rPr lang="zh-CN" altLang="en-US" sz="2400" b="1" dirty="0">
                <a:latin typeface="Times New Roman" pitchFamily="18" charset="0"/>
                <a:cs typeface="Times New Roman" pitchFamily="18" charset="0"/>
              </a:rPr>
              <a:t>                     与人类密切相关。</a:t>
            </a:r>
          </a:p>
          <a:p>
            <a:pPr>
              <a:lnSpc>
                <a:spcPct val="90000"/>
              </a:lnSpc>
              <a:buNone/>
            </a:pPr>
            <a:r>
              <a:rPr lang="zh-CN" altLang="en-US" sz="2400" b="1" dirty="0">
                <a:latin typeface="Times New Roman" pitchFamily="18" charset="0"/>
                <a:cs typeface="Times New Roman" pitchFamily="18" charset="0"/>
              </a:rPr>
              <a:t>     平流层     </a:t>
            </a:r>
            <a:r>
              <a:rPr lang="en-US" altLang="zh-CN" sz="2400" b="1" dirty="0">
                <a:latin typeface="Times New Roman" pitchFamily="18" charset="0"/>
                <a:cs typeface="Times New Roman" pitchFamily="18" charset="0"/>
              </a:rPr>
              <a:t>12~50km   </a:t>
            </a:r>
            <a:r>
              <a:rPr lang="zh-CN" altLang="en-US" sz="2400" b="1" dirty="0"/>
              <a:t>又称同温层或臭氧层</a:t>
            </a:r>
          </a:p>
          <a:p>
            <a:pPr>
              <a:lnSpc>
                <a:spcPct val="90000"/>
              </a:lnSpc>
              <a:buNone/>
            </a:pPr>
            <a:r>
              <a:rPr lang="zh-CN" altLang="en-US" sz="2400" b="1" dirty="0"/>
              <a:t>      中间层</a:t>
            </a:r>
          </a:p>
          <a:p>
            <a:pPr>
              <a:lnSpc>
                <a:spcPct val="90000"/>
              </a:lnSpc>
              <a:buNone/>
            </a:pPr>
            <a:r>
              <a:rPr lang="zh-CN" altLang="en-US" sz="2400" b="1" dirty="0"/>
              <a:t>      热层</a:t>
            </a:r>
          </a:p>
          <a:p>
            <a:pPr>
              <a:lnSpc>
                <a:spcPct val="90000"/>
              </a:lnSpc>
              <a:buNone/>
            </a:pPr>
            <a:r>
              <a:rPr lang="zh-CN" altLang="en-US" sz="2400" b="1" dirty="0"/>
              <a:t>      逸散层</a:t>
            </a:r>
          </a:p>
          <a:p>
            <a:pPr lvl="2">
              <a:lnSpc>
                <a:spcPct val="90000"/>
              </a:lnSpc>
              <a:buNone/>
            </a:pPr>
            <a:r>
              <a:rPr lang="zh-CN" altLang="en-US" sz="2000" b="1" dirty="0">
                <a:cs typeface="Arial" panose="020B0604020202020204" pitchFamily="34" charset="0"/>
              </a:rPr>
              <a:t>                    </a:t>
            </a:r>
            <a:endParaRPr lang="zh-CN" altLang="en-US" sz="2000" b="1" dirty="0">
              <a:ea typeface="Arial" panose="020B0604020202020204" pitchFamily="34" charset="0"/>
            </a:endParaRPr>
          </a:p>
        </p:txBody>
      </p:sp>
      <p:sp>
        <p:nvSpPr>
          <p:cNvPr id="11268" name="直接连接符 11267"/>
          <p:cNvSpPr/>
          <p:nvPr/>
        </p:nvSpPr>
        <p:spPr>
          <a:xfrm>
            <a:off x="4572000" y="2970213"/>
            <a:ext cx="1066800" cy="0"/>
          </a:xfrm>
          <a:prstGeom prst="line">
            <a:avLst/>
          </a:prstGeom>
          <a:ln w="28575" cap="flat" cmpd="sng">
            <a:solidFill>
              <a:srgbClr val="FF3300"/>
            </a:solidFill>
            <a:prstDash val="solid"/>
            <a:round/>
            <a:headEnd type="none" w="med" len="med"/>
            <a:tailEnd type="none" w="med" len="med"/>
          </a:ln>
        </p:spPr>
      </p:sp>
      <p:sp>
        <p:nvSpPr>
          <p:cNvPr id="11269" name="直接连接符 11268"/>
          <p:cNvSpPr/>
          <p:nvPr/>
        </p:nvSpPr>
        <p:spPr>
          <a:xfrm>
            <a:off x="4724400" y="3733800"/>
            <a:ext cx="990600" cy="0"/>
          </a:xfrm>
          <a:prstGeom prst="line">
            <a:avLst/>
          </a:prstGeom>
          <a:ln w="28575" cap="flat" cmpd="sng">
            <a:solidFill>
              <a:srgbClr val="FF3300"/>
            </a:solidFill>
            <a:prstDash val="solid"/>
            <a:round/>
            <a:headEnd type="none" w="med" len="med"/>
            <a:tailEnd type="none" w="med" len="med"/>
          </a:ln>
        </p:spPr>
      </p:sp>
      <p:pic>
        <p:nvPicPr>
          <p:cNvPr id="11272" name="图片 11271"/>
          <p:cNvPicPr>
            <a:picLocks noChangeAspect="1"/>
          </p:cNvPicPr>
          <p:nvPr/>
        </p:nvPicPr>
        <p:blipFill>
          <a:blip r:embed="rId2" cstate="print"/>
          <a:stretch>
            <a:fillRect/>
          </a:stretch>
        </p:blipFill>
        <p:spPr>
          <a:xfrm>
            <a:off x="5651500" y="1857364"/>
            <a:ext cx="3492500" cy="4648200"/>
          </a:xfrm>
          <a:prstGeom prst="rect">
            <a:avLst/>
          </a:prstGeom>
          <a:noFill/>
          <a:ln w="9525">
            <a:noFill/>
          </a:ln>
        </p:spPr>
      </p:pic>
      <p:sp>
        <p:nvSpPr>
          <p:cNvPr id="11273" name="文本框 11272"/>
          <p:cNvSpPr txBox="1"/>
          <p:nvPr/>
        </p:nvSpPr>
        <p:spPr>
          <a:xfrm>
            <a:off x="4229100" y="5911850"/>
            <a:ext cx="914400" cy="366713"/>
          </a:xfrm>
          <a:prstGeom prst="rect">
            <a:avLst/>
          </a:prstGeom>
          <a:solidFill>
            <a:schemeClr val="hlink"/>
          </a:solidFill>
          <a:ln w="9525">
            <a:noFill/>
          </a:ln>
        </p:spPr>
        <p:txBody>
          <a:bodyPr anchor="t">
            <a:spAutoFit/>
          </a:bodyPr>
          <a:lstStyle/>
          <a:p>
            <a:pPr>
              <a:spcBef>
                <a:spcPct val="50000"/>
              </a:spcBef>
            </a:pPr>
            <a:r>
              <a:rPr lang="zh-CN" altLang="en-US" sz="1800" b="1" dirty="0">
                <a:latin typeface="Times New Roman" panose="02020603050405020304" pitchFamily="18" charset="0"/>
                <a:ea typeface="宋体" panose="02010600030101010101" pitchFamily="2" charset="-122"/>
              </a:rPr>
              <a:t>对流层</a:t>
            </a:r>
            <a:endParaRPr lang="zh-CN" altLang="en-US" sz="1800" b="1">
              <a:latin typeface="Times New Roman" panose="02020603050405020304" pitchFamily="18" charset="0"/>
              <a:ea typeface="宋体" panose="02010600030101010101" pitchFamily="2" charset="-122"/>
            </a:endParaRPr>
          </a:p>
        </p:txBody>
      </p:sp>
      <p:sp>
        <p:nvSpPr>
          <p:cNvPr id="11274" name="文本框 11273"/>
          <p:cNvSpPr txBox="1"/>
          <p:nvPr/>
        </p:nvSpPr>
        <p:spPr>
          <a:xfrm>
            <a:off x="4191000" y="5334000"/>
            <a:ext cx="914400" cy="366713"/>
          </a:xfrm>
          <a:prstGeom prst="rect">
            <a:avLst/>
          </a:prstGeom>
          <a:solidFill>
            <a:schemeClr val="hlink"/>
          </a:solidFill>
          <a:ln w="9525">
            <a:noFill/>
          </a:ln>
        </p:spPr>
        <p:txBody>
          <a:bodyPr anchor="t">
            <a:spAutoFit/>
          </a:bodyPr>
          <a:lstStyle/>
          <a:p>
            <a:pPr>
              <a:spcBef>
                <a:spcPct val="50000"/>
              </a:spcBef>
            </a:pPr>
            <a:r>
              <a:rPr lang="zh-CN" altLang="en-US" sz="1800" b="1" dirty="0">
                <a:latin typeface="Times New Roman" panose="02020603050405020304" pitchFamily="18" charset="0"/>
                <a:ea typeface="宋体" panose="02010600030101010101" pitchFamily="2" charset="-122"/>
              </a:rPr>
              <a:t>平流层</a:t>
            </a:r>
            <a:endParaRPr lang="zh-CN" altLang="en-US" sz="1800" b="1">
              <a:latin typeface="Times New Roman" panose="02020603050405020304" pitchFamily="18" charset="0"/>
              <a:ea typeface="宋体" panose="02010600030101010101" pitchFamily="2" charset="-122"/>
            </a:endParaRPr>
          </a:p>
        </p:txBody>
      </p:sp>
      <p:sp>
        <p:nvSpPr>
          <p:cNvPr id="11275" name="文本框 11274"/>
          <p:cNvSpPr txBox="1"/>
          <p:nvPr/>
        </p:nvSpPr>
        <p:spPr>
          <a:xfrm>
            <a:off x="4152900" y="4662488"/>
            <a:ext cx="990600" cy="366712"/>
          </a:xfrm>
          <a:prstGeom prst="rect">
            <a:avLst/>
          </a:prstGeom>
          <a:solidFill>
            <a:schemeClr val="hlink"/>
          </a:solidFill>
          <a:ln w="9525">
            <a:noFill/>
          </a:ln>
        </p:spPr>
        <p:txBody>
          <a:bodyPr anchor="t">
            <a:spAutoFit/>
          </a:bodyPr>
          <a:lstStyle/>
          <a:p>
            <a:pPr>
              <a:spcBef>
                <a:spcPct val="50000"/>
              </a:spcBef>
            </a:pPr>
            <a:r>
              <a:rPr lang="zh-CN" altLang="en-US" sz="1800" b="1" dirty="0">
                <a:latin typeface="Times New Roman" panose="02020603050405020304" pitchFamily="18" charset="0"/>
                <a:ea typeface="宋体" panose="02010600030101010101" pitchFamily="2" charset="-122"/>
              </a:rPr>
              <a:t>中间层</a:t>
            </a:r>
            <a:endParaRPr lang="zh-CN" altLang="en-US" sz="1800" b="1">
              <a:latin typeface="Times New Roman" panose="02020603050405020304" pitchFamily="18" charset="0"/>
              <a:ea typeface="宋体" panose="02010600030101010101" pitchFamily="2" charset="-122"/>
            </a:endParaRPr>
          </a:p>
        </p:txBody>
      </p:sp>
      <p:sp>
        <p:nvSpPr>
          <p:cNvPr id="11276" name="直接连接符 11275"/>
          <p:cNvSpPr/>
          <p:nvPr/>
        </p:nvSpPr>
        <p:spPr>
          <a:xfrm>
            <a:off x="5181600" y="6096000"/>
            <a:ext cx="533400" cy="0"/>
          </a:xfrm>
          <a:prstGeom prst="line">
            <a:avLst/>
          </a:prstGeom>
          <a:ln w="28575" cap="flat" cmpd="sng">
            <a:solidFill>
              <a:srgbClr val="FF3300"/>
            </a:solidFill>
            <a:prstDash val="solid"/>
            <a:round/>
            <a:headEnd type="none" w="med" len="med"/>
            <a:tailEnd type="triangle" w="med" len="med"/>
          </a:ln>
        </p:spPr>
      </p:sp>
      <p:sp>
        <p:nvSpPr>
          <p:cNvPr id="11277" name="直接连接符 11276"/>
          <p:cNvSpPr/>
          <p:nvPr/>
        </p:nvSpPr>
        <p:spPr>
          <a:xfrm>
            <a:off x="5105400" y="5562600"/>
            <a:ext cx="533400" cy="0"/>
          </a:xfrm>
          <a:prstGeom prst="line">
            <a:avLst/>
          </a:prstGeom>
          <a:ln w="28575" cap="flat" cmpd="sng">
            <a:solidFill>
              <a:srgbClr val="FF3300"/>
            </a:solidFill>
            <a:prstDash val="solid"/>
            <a:round/>
            <a:headEnd type="none" w="med" len="med"/>
            <a:tailEnd type="triangle" w="med" len="med"/>
          </a:ln>
        </p:spPr>
      </p:sp>
      <p:sp>
        <p:nvSpPr>
          <p:cNvPr id="11278" name="直接连接符 11277"/>
          <p:cNvSpPr/>
          <p:nvPr/>
        </p:nvSpPr>
        <p:spPr>
          <a:xfrm>
            <a:off x="5181600" y="4845050"/>
            <a:ext cx="533400" cy="0"/>
          </a:xfrm>
          <a:prstGeom prst="line">
            <a:avLst/>
          </a:prstGeom>
          <a:ln w="28575" cap="flat" cmpd="sng">
            <a:solidFill>
              <a:srgbClr val="FF3300"/>
            </a:solidFill>
            <a:prstDash val="solid"/>
            <a:round/>
            <a:headEnd type="none" w="med" len="med"/>
            <a:tailEnd type="triangle" w="med" len="med"/>
          </a:ln>
        </p:spPr>
      </p:sp>
      <p:sp>
        <p:nvSpPr>
          <p:cNvPr id="11280" name="文本框 11279"/>
          <p:cNvSpPr txBox="1"/>
          <p:nvPr/>
        </p:nvSpPr>
        <p:spPr>
          <a:xfrm>
            <a:off x="6096000" y="1371600"/>
            <a:ext cx="2590800" cy="366713"/>
          </a:xfrm>
          <a:prstGeom prst="rect">
            <a:avLst/>
          </a:prstGeom>
          <a:noFill/>
          <a:ln w="9525">
            <a:noFill/>
          </a:ln>
        </p:spPr>
        <p:txBody>
          <a:bodyPr anchor="t">
            <a:spAutoFit/>
          </a:bodyPr>
          <a:lstStyle/>
          <a:p>
            <a:pPr>
              <a:spcBef>
                <a:spcPct val="50000"/>
              </a:spcBef>
            </a:pPr>
            <a:r>
              <a:rPr lang="en-US" altLang="zh-CN" sz="1800" dirty="0">
                <a:solidFill>
                  <a:srgbClr val="674EE6"/>
                </a:solidFill>
                <a:latin typeface="Times New Roman" panose="02020603050405020304" pitchFamily="18" charset="0"/>
                <a:ea typeface="宋体" panose="02010600030101010101" pitchFamily="2" charset="-122"/>
              </a:rPr>
              <a:t>     </a:t>
            </a:r>
            <a:r>
              <a:rPr lang="zh-CN" altLang="en-US" sz="1800" b="1" dirty="0">
                <a:solidFill>
                  <a:srgbClr val="674EE6"/>
                </a:solidFill>
                <a:latin typeface="Times New Roman" panose="02020603050405020304" pitchFamily="18" charset="0"/>
                <a:ea typeface="宋体" panose="02010600030101010101" pitchFamily="2" charset="-122"/>
              </a:rPr>
              <a:t>地球大气环境图</a:t>
            </a:r>
          </a:p>
        </p:txBody>
      </p:sp>
      <p:sp>
        <p:nvSpPr>
          <p:cNvPr id="11281" name="文本框 11280"/>
          <p:cNvSpPr txBox="1"/>
          <p:nvPr/>
        </p:nvSpPr>
        <p:spPr>
          <a:xfrm>
            <a:off x="119380" y="1371600"/>
            <a:ext cx="3599815" cy="583565"/>
          </a:xfrm>
          <a:prstGeom prst="rect">
            <a:avLst/>
          </a:prstGeom>
          <a:solidFill>
            <a:srgbClr val="22E50D"/>
          </a:solidFill>
          <a:ln w="9525">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anchor="t">
            <a:spAutoFit/>
          </a:bodyPr>
          <a:lstStyle/>
          <a:p>
            <a:pPr>
              <a:spcBef>
                <a:spcPct val="50000"/>
              </a:spcBef>
            </a:pPr>
            <a:r>
              <a:rPr lang="en-US" altLang="zh-CN" sz="3200" b="1">
                <a:solidFill>
                  <a:schemeClr val="tx1"/>
                </a:solidFill>
                <a:latin typeface="Times New Roman" panose="02020603050405020304" pitchFamily="18" charset="0"/>
                <a:ea typeface="宋体" panose="02010600030101010101" pitchFamily="2" charset="-122"/>
              </a:rPr>
              <a:t>   </a:t>
            </a:r>
            <a:r>
              <a:rPr lang="en-US" altLang="zh-CN" sz="3200" b="1" dirty="0">
                <a:solidFill>
                  <a:schemeClr val="tx1"/>
                </a:solidFill>
                <a:latin typeface="Times New Roman" panose="02020603050405020304" pitchFamily="18" charset="0"/>
                <a:ea typeface="宋体" panose="02010600030101010101" pitchFamily="2" charset="-122"/>
              </a:rPr>
              <a:t>8.2.1  </a:t>
            </a:r>
            <a:r>
              <a:rPr lang="zh-CN" altLang="en-US" sz="3200" b="1" dirty="0">
                <a:solidFill>
                  <a:schemeClr val="tx1"/>
                </a:solidFill>
                <a:latin typeface="Times New Roman" panose="02020603050405020304" pitchFamily="18" charset="0"/>
                <a:ea typeface="宋体" panose="02010600030101010101" pitchFamily="2" charset="-122"/>
              </a:rPr>
              <a:t>大气污染</a:t>
            </a:r>
          </a:p>
        </p:txBody>
      </p:sp>
      <p:sp>
        <p:nvSpPr>
          <p:cNvPr id="2" name="文本框 1"/>
          <p:cNvSpPr txBox="1"/>
          <p:nvPr/>
        </p:nvSpPr>
        <p:spPr>
          <a:xfrm>
            <a:off x="4000496" y="2643182"/>
            <a:ext cx="990600" cy="368300"/>
          </a:xfrm>
          <a:prstGeom prst="rect">
            <a:avLst/>
          </a:prstGeom>
          <a:solidFill>
            <a:schemeClr val="hlink"/>
          </a:solidFill>
          <a:ln w="9525">
            <a:noFill/>
          </a:ln>
        </p:spPr>
        <p:txBody>
          <a:bodyPr anchor="t">
            <a:spAutoFit/>
          </a:bodyPr>
          <a:lstStyle/>
          <a:p>
            <a:pPr>
              <a:spcBef>
                <a:spcPct val="50000"/>
              </a:spcBef>
            </a:pPr>
            <a:r>
              <a:rPr lang="zh-CN" altLang="en-US" sz="1800" b="1" dirty="0">
                <a:latin typeface="Times New Roman" panose="02020603050405020304" pitchFamily="18" charset="0"/>
                <a:ea typeface="宋体" panose="02010600030101010101" pitchFamily="2" charset="-122"/>
              </a:rPr>
              <a:t>逸散层</a:t>
            </a:r>
          </a:p>
        </p:txBody>
      </p:sp>
      <p:sp>
        <p:nvSpPr>
          <p:cNvPr id="3" name="文本框 2"/>
          <p:cNvSpPr txBox="1"/>
          <p:nvPr/>
        </p:nvSpPr>
        <p:spPr>
          <a:xfrm>
            <a:off x="4000496" y="3357562"/>
            <a:ext cx="990600" cy="368300"/>
          </a:xfrm>
          <a:prstGeom prst="rect">
            <a:avLst/>
          </a:prstGeom>
          <a:solidFill>
            <a:schemeClr val="hlink"/>
          </a:solidFill>
          <a:ln w="9525">
            <a:noFill/>
          </a:ln>
        </p:spPr>
        <p:txBody>
          <a:bodyPr anchor="t">
            <a:spAutoFit/>
          </a:bodyPr>
          <a:lstStyle/>
          <a:p>
            <a:pPr>
              <a:spcBef>
                <a:spcPct val="50000"/>
              </a:spcBef>
            </a:pPr>
            <a:r>
              <a:rPr lang="zh-CN" altLang="zh-CN" sz="1800" b="1">
                <a:latin typeface="Times New Roman" panose="02020603050405020304" pitchFamily="18" charset="0"/>
                <a:ea typeface="宋体" panose="02010600030101010101" pitchFamily="2" charset="-122"/>
              </a:rPr>
              <a:t>热层</a:t>
            </a:r>
          </a:p>
        </p:txBody>
      </p:sp>
      <p:sp>
        <p:nvSpPr>
          <p:cNvPr id="7170" name="Rectangle 2"/>
          <p:cNvSpPr>
            <a:spLocks noChangeArrowheads="1"/>
          </p:cNvSpPr>
          <p:nvPr/>
        </p:nvSpPr>
        <p:spPr bwMode="auto">
          <a:xfrm>
            <a:off x="-12700" y="391160"/>
            <a:ext cx="9144000" cy="720725"/>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chemeClr val="bg1"/>
                </a:solidFill>
                <a:effectLst/>
                <a:uLnTx/>
                <a:uFillTx/>
                <a:latin typeface="楷体_GB2312" panose="02010609030101010101" pitchFamily="49" charset="-122"/>
                <a:ea typeface="楷体_GB2312" panose="02010609030101010101" pitchFamily="49" charset="-122"/>
                <a:cs typeface="+mn-cs"/>
              </a:rPr>
              <a:t>§8</a:t>
            </a:r>
            <a:r>
              <a:rPr kumimoji="0" lang="en-US" altLang="zh-CN" sz="3200" b="1" i="0" u="none" strike="noStrike" kern="1200" cap="none" spc="0" normalizeH="0" baseline="0" noProof="0">
                <a:ln>
                  <a:noFill/>
                </a:ln>
                <a:solidFill>
                  <a:schemeClr val="bg1"/>
                </a:solidFill>
                <a:effectLst/>
                <a:uLnTx/>
                <a:uFillTx/>
                <a:latin typeface="Times New Roman" panose="02020603050405020304" pitchFamily="18" charset="0"/>
                <a:ea typeface="楷体_GB2312" panose="02010609030101010101" pitchFamily="49" charset="-122"/>
                <a:cs typeface="+mn-cs"/>
              </a:rPr>
              <a:t>.2  </a:t>
            </a:r>
            <a:r>
              <a:rPr kumimoji="0" lang="zh-CN" altLang="en-US" sz="3200" b="1" i="0" u="none" strike="noStrike" kern="1200" cap="none" spc="0" normalizeH="0" baseline="0" noProof="0">
                <a:ln>
                  <a:noFill/>
                </a:ln>
                <a:solidFill>
                  <a:schemeClr val="bg1"/>
                </a:solidFill>
                <a:effectLst/>
                <a:uLnTx/>
                <a:uFillTx/>
                <a:latin typeface="Times New Roman" panose="02020603050405020304" pitchFamily="18" charset="0"/>
                <a:ea typeface="楷体_GB2312" panose="02010609030101010101" pitchFamily="49" charset="-122"/>
                <a:cs typeface="+mn-cs"/>
              </a:rPr>
              <a:t>大气 污染及其防治</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7170"/>
                                        </p:tgtEl>
                                        <p:attrNameLst>
                                          <p:attrName>style.visibility</p:attrName>
                                        </p:attrNameLst>
                                      </p:cBhvr>
                                      <p:to>
                                        <p:strVal val="visible"/>
                                      </p:to>
                                    </p:set>
                                    <p:anim calcmode="lin" valueType="num">
                                      <p:cBhvr>
                                        <p:cTn id="7" dur="500" fill="hold"/>
                                        <p:tgtEl>
                                          <p:spTgt spid="717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170"/>
                                        </p:tgtEl>
                                        <p:attrNameLst>
                                          <p:attrName>ppt_y</p:attrName>
                                        </p:attrNameLst>
                                      </p:cBhvr>
                                      <p:tavLst>
                                        <p:tav tm="0">
                                          <p:val>
                                            <p:strVal val="#ppt_y"/>
                                          </p:val>
                                        </p:tav>
                                        <p:tav tm="100000">
                                          <p:val>
                                            <p:strVal val="#ppt_y"/>
                                          </p:val>
                                        </p:tav>
                                      </p:tavLst>
                                    </p:anim>
                                    <p:anim calcmode="lin" valueType="num">
                                      <p:cBhvr>
                                        <p:cTn id="9" dur="500" fill="hold"/>
                                        <p:tgtEl>
                                          <p:spTgt spid="717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17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170"/>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1281"/>
                                        </p:tgtEl>
                                        <p:attrNameLst>
                                          <p:attrName>style.visibility</p:attrName>
                                        </p:attrNameLst>
                                      </p:cBhvr>
                                      <p:to>
                                        <p:strVal val="visible"/>
                                      </p:to>
                                    </p:set>
                                    <p:anim calcmode="lin" valueType="num">
                                      <p:cBhvr additive="base">
                                        <p:cTn id="16" dur="500" fill="hold"/>
                                        <p:tgtEl>
                                          <p:spTgt spid="11281"/>
                                        </p:tgtEl>
                                        <p:attrNameLst>
                                          <p:attrName>ppt_x</p:attrName>
                                        </p:attrNameLst>
                                      </p:cBhvr>
                                      <p:tavLst>
                                        <p:tav tm="0">
                                          <p:val>
                                            <p:strVal val="0-#ppt_w/2"/>
                                          </p:val>
                                        </p:tav>
                                        <p:tav tm="100000">
                                          <p:val>
                                            <p:strVal val="#ppt_x"/>
                                          </p:val>
                                        </p:tav>
                                      </p:tavLst>
                                    </p:anim>
                                    <p:anim calcmode="lin" valueType="num">
                                      <p:cBhvr additive="base">
                                        <p:cTn id="17" dur="500" fill="hold"/>
                                        <p:tgtEl>
                                          <p:spTgt spid="11281"/>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1267"/>
                                        </p:tgtEl>
                                        <p:attrNameLst>
                                          <p:attrName>style.visibility</p:attrName>
                                        </p:attrNameLst>
                                      </p:cBhvr>
                                      <p:to>
                                        <p:strVal val="visible"/>
                                      </p:to>
                                    </p:set>
                                    <p:animEffect transition="in" filter="blinds(vertical)">
                                      <p:cBhvr>
                                        <p:cTn id="22" dur="500"/>
                                        <p:tgtEl>
                                          <p:spTgt spid="1126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1272"/>
                                        </p:tgtEl>
                                        <p:attrNameLst>
                                          <p:attrName>style.visibility</p:attrName>
                                        </p:attrNameLst>
                                      </p:cBhvr>
                                      <p:to>
                                        <p:strVal val="visible"/>
                                      </p:to>
                                    </p:set>
                                    <p:animEffect transition="in" filter="box(out)">
                                      <p:cBhvr>
                                        <p:cTn id="27" dur="500"/>
                                        <p:tgtEl>
                                          <p:spTgt spid="11272"/>
                                        </p:tgtEl>
                                      </p:cBhvr>
                                    </p:animEffect>
                                  </p:childTnLst>
                                </p:cTn>
                              </p:par>
                            </p:childTnLst>
                          </p:cTn>
                        </p:par>
                        <p:par>
                          <p:cTn id="28" fill="hold">
                            <p:stCondLst>
                              <p:cond delay="500"/>
                            </p:stCondLst>
                            <p:childTnLst>
                              <p:par>
                                <p:cTn id="29" presetID="2" presetClass="entr" presetSubtype="1" fill="hold" grpId="0" nodeType="afterEffect">
                                  <p:stCondLst>
                                    <p:cond delay="0"/>
                                  </p:stCondLst>
                                  <p:childTnLst>
                                    <p:set>
                                      <p:cBhvr>
                                        <p:cTn id="30" dur="1" fill="hold">
                                          <p:stCondLst>
                                            <p:cond delay="0"/>
                                          </p:stCondLst>
                                        </p:cTn>
                                        <p:tgtEl>
                                          <p:spTgt spid="11280"/>
                                        </p:tgtEl>
                                        <p:attrNameLst>
                                          <p:attrName>style.visibility</p:attrName>
                                        </p:attrNameLst>
                                      </p:cBhvr>
                                      <p:to>
                                        <p:strVal val="visible"/>
                                      </p:to>
                                    </p:set>
                                    <p:anim calcmode="lin" valueType="num">
                                      <p:cBhvr additive="base">
                                        <p:cTn id="31" dur="500" fill="hold"/>
                                        <p:tgtEl>
                                          <p:spTgt spid="11280"/>
                                        </p:tgtEl>
                                        <p:attrNameLst>
                                          <p:attrName>ppt_x</p:attrName>
                                        </p:attrNameLst>
                                      </p:cBhvr>
                                      <p:tavLst>
                                        <p:tav tm="0">
                                          <p:val>
                                            <p:strVal val="#ppt_x"/>
                                          </p:val>
                                        </p:tav>
                                        <p:tav tm="100000">
                                          <p:val>
                                            <p:strVal val="#ppt_x"/>
                                          </p:val>
                                        </p:tav>
                                      </p:tavLst>
                                    </p:anim>
                                    <p:anim calcmode="lin" valueType="num">
                                      <p:cBhvr additive="base">
                                        <p:cTn id="32" dur="500" fill="hold"/>
                                        <p:tgtEl>
                                          <p:spTgt spid="11280"/>
                                        </p:tgtEl>
                                        <p:attrNameLst>
                                          <p:attrName>ppt_y</p:attrName>
                                        </p:attrNameLst>
                                      </p:cBhvr>
                                      <p:tavLst>
                                        <p:tav tm="0">
                                          <p:val>
                                            <p:strVal val="0-#ppt_h/2"/>
                                          </p:val>
                                        </p:tav>
                                        <p:tav tm="100000">
                                          <p:val>
                                            <p:strVal val="#ppt_y"/>
                                          </p:val>
                                        </p:tav>
                                      </p:tavLst>
                                    </p:anim>
                                  </p:childTnLst>
                                </p:cTn>
                              </p:par>
                            </p:childTnLst>
                          </p:cTn>
                        </p:par>
                        <p:par>
                          <p:cTn id="33" fill="hold">
                            <p:stCondLst>
                              <p:cond delay="1000"/>
                            </p:stCondLst>
                            <p:childTnLst>
                              <p:par>
                                <p:cTn id="34" presetID="9" presetClass="entr" presetSubtype="0" fill="hold" grpId="0" nodeType="afterEffect">
                                  <p:stCondLst>
                                    <p:cond delay="0"/>
                                  </p:stCondLst>
                                  <p:childTnLst>
                                    <p:set>
                                      <p:cBhvr>
                                        <p:cTn id="35" dur="1" fill="hold">
                                          <p:stCondLst>
                                            <p:cond delay="0"/>
                                          </p:stCondLst>
                                        </p:cTn>
                                        <p:tgtEl>
                                          <p:spTgt spid="11273"/>
                                        </p:tgtEl>
                                        <p:attrNameLst>
                                          <p:attrName>style.visibility</p:attrName>
                                        </p:attrNameLst>
                                      </p:cBhvr>
                                      <p:to>
                                        <p:strVal val="visible"/>
                                      </p:to>
                                    </p:set>
                                    <p:animEffect transition="in" filter="dissolve">
                                      <p:cBhvr>
                                        <p:cTn id="36" dur="500"/>
                                        <p:tgtEl>
                                          <p:spTgt spid="11273"/>
                                        </p:tgtEl>
                                      </p:cBhvr>
                                    </p:animEffect>
                                  </p:childTnLst>
                                </p:cTn>
                              </p:par>
                            </p:childTnLst>
                          </p:cTn>
                        </p:par>
                        <p:par>
                          <p:cTn id="37" fill="hold">
                            <p:stCondLst>
                              <p:cond delay="1500"/>
                            </p:stCondLst>
                            <p:childTnLst>
                              <p:par>
                                <p:cTn id="38" presetID="9" presetClass="entr" presetSubtype="0" fill="hold" nodeType="afterEffect">
                                  <p:stCondLst>
                                    <p:cond delay="0"/>
                                  </p:stCondLst>
                                  <p:childTnLst>
                                    <p:set>
                                      <p:cBhvr>
                                        <p:cTn id="39" dur="1" fill="hold">
                                          <p:stCondLst>
                                            <p:cond delay="0"/>
                                          </p:stCondLst>
                                        </p:cTn>
                                        <p:tgtEl>
                                          <p:spTgt spid="11276"/>
                                        </p:tgtEl>
                                        <p:attrNameLst>
                                          <p:attrName>style.visibility</p:attrName>
                                        </p:attrNameLst>
                                      </p:cBhvr>
                                      <p:to>
                                        <p:strVal val="visible"/>
                                      </p:to>
                                    </p:set>
                                    <p:animEffect transition="in" filter="dissolve">
                                      <p:cBhvr>
                                        <p:cTn id="40" dur="500"/>
                                        <p:tgtEl>
                                          <p:spTgt spid="11276"/>
                                        </p:tgtEl>
                                      </p:cBhvr>
                                    </p:animEffect>
                                  </p:childTnLst>
                                </p:cTn>
                              </p:par>
                            </p:childTnLst>
                          </p:cTn>
                        </p:par>
                        <p:par>
                          <p:cTn id="41" fill="hold">
                            <p:stCondLst>
                              <p:cond delay="2000"/>
                            </p:stCondLst>
                            <p:childTnLst>
                              <p:par>
                                <p:cTn id="42" presetID="9" presetClass="entr" presetSubtype="0" fill="hold" grpId="0" nodeType="afterEffect">
                                  <p:stCondLst>
                                    <p:cond delay="0"/>
                                  </p:stCondLst>
                                  <p:childTnLst>
                                    <p:set>
                                      <p:cBhvr>
                                        <p:cTn id="43" dur="1" fill="hold">
                                          <p:stCondLst>
                                            <p:cond delay="0"/>
                                          </p:stCondLst>
                                        </p:cTn>
                                        <p:tgtEl>
                                          <p:spTgt spid="11274"/>
                                        </p:tgtEl>
                                        <p:attrNameLst>
                                          <p:attrName>style.visibility</p:attrName>
                                        </p:attrNameLst>
                                      </p:cBhvr>
                                      <p:to>
                                        <p:strVal val="visible"/>
                                      </p:to>
                                    </p:set>
                                    <p:animEffect transition="in" filter="dissolve">
                                      <p:cBhvr>
                                        <p:cTn id="44" dur="500"/>
                                        <p:tgtEl>
                                          <p:spTgt spid="11274"/>
                                        </p:tgtEl>
                                      </p:cBhvr>
                                    </p:animEffect>
                                  </p:childTnLst>
                                </p:cTn>
                              </p:par>
                            </p:childTnLst>
                          </p:cTn>
                        </p:par>
                        <p:par>
                          <p:cTn id="45" fill="hold">
                            <p:stCondLst>
                              <p:cond delay="2500"/>
                            </p:stCondLst>
                            <p:childTnLst>
                              <p:par>
                                <p:cTn id="46" presetID="9" presetClass="entr" presetSubtype="0" fill="hold" nodeType="afterEffect">
                                  <p:stCondLst>
                                    <p:cond delay="0"/>
                                  </p:stCondLst>
                                  <p:childTnLst>
                                    <p:set>
                                      <p:cBhvr>
                                        <p:cTn id="47" dur="1" fill="hold">
                                          <p:stCondLst>
                                            <p:cond delay="0"/>
                                          </p:stCondLst>
                                        </p:cTn>
                                        <p:tgtEl>
                                          <p:spTgt spid="11277"/>
                                        </p:tgtEl>
                                        <p:attrNameLst>
                                          <p:attrName>style.visibility</p:attrName>
                                        </p:attrNameLst>
                                      </p:cBhvr>
                                      <p:to>
                                        <p:strVal val="visible"/>
                                      </p:to>
                                    </p:set>
                                    <p:animEffect transition="in" filter="dissolve">
                                      <p:cBhvr>
                                        <p:cTn id="48" dur="500"/>
                                        <p:tgtEl>
                                          <p:spTgt spid="11277"/>
                                        </p:tgtEl>
                                      </p:cBhvr>
                                    </p:animEffect>
                                  </p:childTnLst>
                                </p:cTn>
                              </p:par>
                            </p:childTnLst>
                          </p:cTn>
                        </p:par>
                        <p:par>
                          <p:cTn id="49" fill="hold">
                            <p:stCondLst>
                              <p:cond delay="3000"/>
                            </p:stCondLst>
                            <p:childTnLst>
                              <p:par>
                                <p:cTn id="50" presetID="9" presetClass="entr" presetSubtype="0" fill="hold" grpId="0" nodeType="afterEffect">
                                  <p:stCondLst>
                                    <p:cond delay="0"/>
                                  </p:stCondLst>
                                  <p:childTnLst>
                                    <p:set>
                                      <p:cBhvr>
                                        <p:cTn id="51" dur="1" fill="hold">
                                          <p:stCondLst>
                                            <p:cond delay="0"/>
                                          </p:stCondLst>
                                        </p:cTn>
                                        <p:tgtEl>
                                          <p:spTgt spid="11275"/>
                                        </p:tgtEl>
                                        <p:attrNameLst>
                                          <p:attrName>style.visibility</p:attrName>
                                        </p:attrNameLst>
                                      </p:cBhvr>
                                      <p:to>
                                        <p:strVal val="visible"/>
                                      </p:to>
                                    </p:set>
                                    <p:animEffect transition="in" filter="dissolve">
                                      <p:cBhvr>
                                        <p:cTn id="52" dur="500"/>
                                        <p:tgtEl>
                                          <p:spTgt spid="11275"/>
                                        </p:tgtEl>
                                      </p:cBhvr>
                                    </p:animEffect>
                                  </p:childTnLst>
                                </p:cTn>
                              </p:par>
                            </p:childTnLst>
                          </p:cTn>
                        </p:par>
                        <p:par>
                          <p:cTn id="53" fill="hold">
                            <p:stCondLst>
                              <p:cond delay="3500"/>
                            </p:stCondLst>
                            <p:childTnLst>
                              <p:par>
                                <p:cTn id="54" presetID="9" presetClass="entr" presetSubtype="0" fill="hold" nodeType="afterEffect">
                                  <p:stCondLst>
                                    <p:cond delay="0"/>
                                  </p:stCondLst>
                                  <p:childTnLst>
                                    <p:set>
                                      <p:cBhvr>
                                        <p:cTn id="55" dur="1" fill="hold">
                                          <p:stCondLst>
                                            <p:cond delay="0"/>
                                          </p:stCondLst>
                                        </p:cTn>
                                        <p:tgtEl>
                                          <p:spTgt spid="11278"/>
                                        </p:tgtEl>
                                        <p:attrNameLst>
                                          <p:attrName>style.visibility</p:attrName>
                                        </p:attrNameLst>
                                      </p:cBhvr>
                                      <p:to>
                                        <p:strVal val="visible"/>
                                      </p:to>
                                    </p:set>
                                    <p:animEffect transition="in" filter="dissolve">
                                      <p:cBhvr>
                                        <p:cTn id="56" dur="500"/>
                                        <p:tgtEl>
                                          <p:spTgt spid="11278"/>
                                        </p:tgtEl>
                                      </p:cBhvr>
                                    </p:animEffect>
                                  </p:childTnLst>
                                </p:cTn>
                              </p:par>
                            </p:childTnLst>
                          </p:cTn>
                        </p:par>
                      </p:childTnLst>
                    </p:cTn>
                  </p:par>
                  <p:par>
                    <p:cTn id="57" fill="hold">
                      <p:stCondLst>
                        <p:cond delay="indefinite"/>
                      </p:stCondLst>
                      <p:childTnLst>
                        <p:par>
                          <p:cTn id="58" fill="hold">
                            <p:stCondLst>
                              <p:cond delay="0"/>
                            </p:stCondLst>
                            <p:childTnLst>
                              <p:par>
                                <p:cTn id="59" presetID="5" presetClass="entr" presetSubtype="10" fill="hold" nodeType="clickEffect">
                                  <p:stCondLst>
                                    <p:cond delay="0"/>
                                  </p:stCondLst>
                                  <p:childTnLst>
                                    <p:set>
                                      <p:cBhvr>
                                        <p:cTn id="60" dur="1" fill="hold">
                                          <p:stCondLst>
                                            <p:cond delay="0"/>
                                          </p:stCondLst>
                                        </p:cTn>
                                        <p:tgtEl>
                                          <p:spTgt spid="11268"/>
                                        </p:tgtEl>
                                        <p:attrNameLst>
                                          <p:attrName>style.visibility</p:attrName>
                                        </p:attrNameLst>
                                      </p:cBhvr>
                                      <p:to>
                                        <p:strVal val="visible"/>
                                      </p:to>
                                    </p:set>
                                    <p:animEffect transition="in" filter="checkerboard(across)">
                                      <p:cBhvr>
                                        <p:cTn id="61" dur="500"/>
                                        <p:tgtEl>
                                          <p:spTgt spid="11268"/>
                                        </p:tgtEl>
                                      </p:cBhvr>
                                    </p:animEffect>
                                  </p:childTnLst>
                                </p:cTn>
                              </p:par>
                            </p:childTnLst>
                          </p:cTn>
                        </p:par>
                      </p:childTnLst>
                    </p:cTn>
                  </p:par>
                  <p:par>
                    <p:cTn id="62" fill="hold">
                      <p:stCondLst>
                        <p:cond delay="indefinite"/>
                      </p:stCondLst>
                      <p:childTnLst>
                        <p:par>
                          <p:cTn id="63" fill="hold">
                            <p:stCondLst>
                              <p:cond delay="0"/>
                            </p:stCondLst>
                            <p:childTnLst>
                              <p:par>
                                <p:cTn id="64" presetID="5" presetClass="entr" presetSubtype="10" fill="hold" nodeType="clickEffect">
                                  <p:stCondLst>
                                    <p:cond delay="0"/>
                                  </p:stCondLst>
                                  <p:childTnLst>
                                    <p:set>
                                      <p:cBhvr>
                                        <p:cTn id="65" dur="1" fill="hold">
                                          <p:stCondLst>
                                            <p:cond delay="0"/>
                                          </p:stCondLst>
                                        </p:cTn>
                                        <p:tgtEl>
                                          <p:spTgt spid="11269"/>
                                        </p:tgtEl>
                                        <p:attrNameLst>
                                          <p:attrName>style.visibility</p:attrName>
                                        </p:attrNameLst>
                                      </p:cBhvr>
                                      <p:to>
                                        <p:strVal val="visible"/>
                                      </p:to>
                                    </p:set>
                                    <p:animEffect transition="in" filter="checkerboard(across)">
                                      <p:cBhvr>
                                        <p:cTn id="66" dur="500"/>
                                        <p:tgtEl>
                                          <p:spTgt spid="11269"/>
                                        </p:tgtEl>
                                      </p:cBhvr>
                                    </p:animEffect>
                                  </p:childTnLst>
                                </p:cTn>
                              </p:par>
                            </p:childTnLst>
                          </p:cTn>
                        </p:par>
                        <p:par>
                          <p:cTn id="67" fill="hold">
                            <p:stCondLst>
                              <p:cond delay="500"/>
                            </p:stCondLst>
                            <p:childTnLst>
                              <p:par>
                                <p:cTn id="68" presetID="9" presetClass="entr" presetSubtype="0" fill="hold" grpId="0" nodeType="afterEffect">
                                  <p:stCondLst>
                                    <p:cond delay="0"/>
                                  </p:stCondLst>
                                  <p:childTnLst>
                                    <p:set>
                                      <p:cBhvr>
                                        <p:cTn id="69" dur="1" fill="hold">
                                          <p:stCondLst>
                                            <p:cond delay="0"/>
                                          </p:stCondLst>
                                        </p:cTn>
                                        <p:tgtEl>
                                          <p:spTgt spid="2"/>
                                        </p:tgtEl>
                                        <p:attrNameLst>
                                          <p:attrName>style.visibility</p:attrName>
                                        </p:attrNameLst>
                                      </p:cBhvr>
                                      <p:to>
                                        <p:strVal val="visible"/>
                                      </p:to>
                                    </p:set>
                                    <p:animEffect transition="in" filter="dissolve">
                                      <p:cBhvr>
                                        <p:cTn id="70" dur="500"/>
                                        <p:tgtEl>
                                          <p:spTgt spid="2"/>
                                        </p:tgtEl>
                                      </p:cBhvr>
                                    </p:animEffect>
                                  </p:childTnLst>
                                </p:cTn>
                              </p:par>
                            </p:childTnLst>
                          </p:cTn>
                        </p:par>
                        <p:par>
                          <p:cTn id="71" fill="hold">
                            <p:stCondLst>
                              <p:cond delay="1000"/>
                            </p:stCondLst>
                            <p:childTnLst>
                              <p:par>
                                <p:cTn id="72" presetID="9" presetClass="entr" presetSubtype="0" fill="hold" grpId="0" nodeType="afterEffect">
                                  <p:stCondLst>
                                    <p:cond delay="0"/>
                                  </p:stCondLst>
                                  <p:childTnLst>
                                    <p:set>
                                      <p:cBhvr>
                                        <p:cTn id="73" dur="1" fill="hold">
                                          <p:stCondLst>
                                            <p:cond delay="0"/>
                                          </p:stCondLst>
                                        </p:cTn>
                                        <p:tgtEl>
                                          <p:spTgt spid="3"/>
                                        </p:tgtEl>
                                        <p:attrNameLst>
                                          <p:attrName>style.visibility</p:attrName>
                                        </p:attrNameLst>
                                      </p:cBhvr>
                                      <p:to>
                                        <p:strVal val="visible"/>
                                      </p:to>
                                    </p:set>
                                    <p:animEffect transition="in" filter="dissolve">
                                      <p:cBhvr>
                                        <p:cTn id="7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p:bldP spid="11273" grpId="0" bldLvl="0" animBg="1"/>
      <p:bldP spid="11274" grpId="0" animBg="1"/>
      <p:bldP spid="11275" grpId="0" bldLvl="0" animBg="1"/>
      <p:bldP spid="11280" grpId="0"/>
      <p:bldP spid="11281" grpId="0" bldLvl="0" animBg="1"/>
      <p:bldP spid="2" grpId="0" bldLvl="0" animBg="1"/>
      <p:bldP spid="3"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04449"/>
          <p:cNvSpPr>
            <a:spLocks noGrp="1"/>
          </p:cNvSpPr>
          <p:nvPr>
            <p:ph type="title"/>
          </p:nvPr>
        </p:nvSpPr>
        <p:spPr>
          <a:noFill/>
          <a:ln>
            <a:noFill/>
          </a:ln>
        </p:spPr>
        <p:txBody>
          <a:bodyPr anchor="ctr"/>
          <a:lstStyle/>
          <a:p>
            <a:r>
              <a:rPr lang="zh-CN" altLang="en-US" sz="3200" b="1" dirty="0">
                <a:solidFill>
                  <a:schemeClr val="tx1"/>
                </a:solidFill>
              </a:rPr>
              <a:t>清洁干燥的空气，其组成为</a:t>
            </a:r>
          </a:p>
        </p:txBody>
      </p:sp>
      <p:sp>
        <p:nvSpPr>
          <p:cNvPr id="104451" name="内容占位符 104450"/>
          <p:cNvSpPr>
            <a:spLocks noGrp="1"/>
          </p:cNvSpPr>
          <p:nvPr>
            <p:ph idx="1"/>
          </p:nvPr>
        </p:nvSpPr>
        <p:spPr>
          <a:xfrm>
            <a:off x="457200" y="1417955"/>
            <a:ext cx="8229600" cy="4525963"/>
          </a:xfrm>
          <a:noFill/>
          <a:ln>
            <a:noFill/>
          </a:ln>
        </p:spPr>
        <p:txBody>
          <a:bodyPr anchor="t"/>
          <a:lstStyle/>
          <a:p>
            <a:pPr>
              <a:lnSpc>
                <a:spcPct val="130000"/>
              </a:lnSpc>
              <a:spcBef>
                <a:spcPct val="0"/>
              </a:spcBef>
              <a:buNone/>
            </a:pPr>
            <a:r>
              <a:rPr lang="en-US" altLang="zh-CN" sz="2400">
                <a:solidFill>
                  <a:srgbClr val="FFFF00"/>
                </a:solidFill>
              </a:rPr>
              <a:t>     </a:t>
            </a:r>
            <a:r>
              <a:rPr lang="en-US" altLang="zh-CN" sz="2400" b="1">
                <a:gradFill>
                  <a:gsLst>
                    <a:gs pos="0">
                      <a:srgbClr val="7B32B2"/>
                    </a:gs>
                    <a:gs pos="100000">
                      <a:srgbClr val="401A5D"/>
                    </a:gs>
                  </a:gsLst>
                  <a:lin ang="5400000" scaled="0"/>
                </a:gradFill>
              </a:rPr>
              <a:t>N</a:t>
            </a:r>
            <a:r>
              <a:rPr lang="en-US" altLang="zh-CN" sz="2400" b="1" baseline="-25000">
                <a:gradFill>
                  <a:gsLst>
                    <a:gs pos="0">
                      <a:srgbClr val="7B32B2"/>
                    </a:gs>
                    <a:gs pos="100000">
                      <a:srgbClr val="401A5D"/>
                    </a:gs>
                  </a:gsLst>
                  <a:lin ang="5400000" scaled="0"/>
                </a:gradFill>
              </a:rPr>
              <a:t>2</a:t>
            </a:r>
            <a:r>
              <a:rPr lang="en-US" altLang="zh-CN" sz="2400" b="1">
                <a:gradFill>
                  <a:gsLst>
                    <a:gs pos="0">
                      <a:srgbClr val="7B32B2"/>
                    </a:gs>
                    <a:gs pos="100000">
                      <a:srgbClr val="401A5D"/>
                    </a:gs>
                  </a:gsLst>
                  <a:lin ang="5400000" scaled="0"/>
                </a:gradFill>
              </a:rPr>
              <a:t>            O</a:t>
            </a:r>
            <a:r>
              <a:rPr lang="en-US" altLang="zh-CN" sz="2400" b="1" baseline="-25000">
                <a:gradFill>
                  <a:gsLst>
                    <a:gs pos="0">
                      <a:srgbClr val="7B32B2"/>
                    </a:gs>
                    <a:gs pos="100000">
                      <a:srgbClr val="401A5D"/>
                    </a:gs>
                  </a:gsLst>
                  <a:lin ang="5400000" scaled="0"/>
                </a:gradFill>
              </a:rPr>
              <a:t>2</a:t>
            </a:r>
            <a:r>
              <a:rPr lang="en-US" altLang="zh-CN" sz="2400" b="1" err="1">
                <a:gradFill>
                  <a:gsLst>
                    <a:gs pos="0">
                      <a:srgbClr val="7B32B2"/>
                    </a:gs>
                    <a:gs pos="100000">
                      <a:srgbClr val="401A5D"/>
                    </a:gs>
                  </a:gsLst>
                  <a:lin ang="5400000" scaled="0"/>
                </a:gradFill>
              </a:rPr>
              <a:t>          Ar</a:t>
            </a:r>
            <a:r>
              <a:rPr lang="en-US" altLang="zh-CN" sz="2400" b="1">
                <a:gradFill>
                  <a:gsLst>
                    <a:gs pos="0">
                      <a:srgbClr val="7B32B2"/>
                    </a:gs>
                    <a:gs pos="100000">
                      <a:srgbClr val="401A5D"/>
                    </a:gs>
                  </a:gsLst>
                  <a:lin ang="5400000" scaled="0"/>
                </a:gradFill>
              </a:rPr>
              <a:t>         CO</a:t>
            </a:r>
            <a:r>
              <a:rPr lang="en-US" altLang="zh-CN" sz="2400" b="1" baseline="-25000">
                <a:gradFill>
                  <a:gsLst>
                    <a:gs pos="0">
                      <a:srgbClr val="7B32B2"/>
                    </a:gs>
                    <a:gs pos="100000">
                      <a:srgbClr val="401A5D"/>
                    </a:gs>
                  </a:gsLst>
                  <a:lin ang="5400000" scaled="0"/>
                </a:gradFill>
              </a:rPr>
              <a:t>2</a:t>
            </a:r>
            <a:r>
              <a:rPr lang="en-US" altLang="zh-CN" sz="2400" b="1">
                <a:gradFill>
                  <a:gsLst>
                    <a:gs pos="0">
                      <a:srgbClr val="7B32B2"/>
                    </a:gs>
                    <a:gs pos="100000">
                      <a:srgbClr val="401A5D"/>
                    </a:gs>
                  </a:gsLst>
                  <a:lin ang="5400000" scaled="0"/>
                </a:gradFill>
              </a:rPr>
              <a:t>     </a:t>
            </a:r>
          </a:p>
          <a:p>
            <a:pPr>
              <a:lnSpc>
                <a:spcPct val="130000"/>
              </a:lnSpc>
              <a:spcBef>
                <a:spcPct val="0"/>
              </a:spcBef>
              <a:buNone/>
            </a:pPr>
            <a:r>
              <a:rPr lang="en-US" altLang="zh-CN" sz="2400" b="1">
                <a:gradFill>
                  <a:gsLst>
                    <a:gs pos="0">
                      <a:srgbClr val="7B32B2"/>
                    </a:gs>
                    <a:gs pos="100000">
                      <a:srgbClr val="401A5D"/>
                    </a:gs>
                  </a:gsLst>
                  <a:lin ang="5400000" scaled="0"/>
                </a:gradFill>
              </a:rPr>
              <a:t>78.08%    20.95%    0.93%    0.03%</a:t>
            </a:r>
          </a:p>
          <a:p>
            <a:pPr>
              <a:lnSpc>
                <a:spcPct val="130000"/>
              </a:lnSpc>
              <a:spcBef>
                <a:spcPct val="0"/>
              </a:spcBef>
              <a:buNone/>
            </a:pPr>
            <a:r>
              <a:rPr lang="en-US" altLang="zh-CN" sz="2400" b="1">
                <a:gradFill>
                  <a:gsLst>
                    <a:gs pos="0">
                      <a:srgbClr val="7B32B2"/>
                    </a:gs>
                    <a:gs pos="100000">
                      <a:srgbClr val="401A5D"/>
                    </a:gs>
                  </a:gsLst>
                  <a:lin ang="5400000" scaled="0"/>
                </a:gradFill>
              </a:rPr>
              <a:t>                         99.99%</a:t>
            </a:r>
          </a:p>
          <a:p>
            <a:pPr>
              <a:lnSpc>
                <a:spcPct val="130000"/>
              </a:lnSpc>
              <a:spcBef>
                <a:spcPct val="0"/>
              </a:spcBef>
              <a:buNone/>
            </a:pPr>
            <a:r>
              <a:rPr lang="en-US" altLang="zh-CN" sz="2400" b="1" dirty="0">
                <a:gradFill>
                  <a:gsLst>
                    <a:gs pos="0">
                      <a:srgbClr val="7B32B2"/>
                    </a:gs>
                    <a:gs pos="100000">
                      <a:srgbClr val="401A5D"/>
                    </a:gs>
                  </a:gsLst>
                  <a:lin ang="5400000" scaled="0"/>
                </a:gradFill>
              </a:rPr>
              <a:t>( </a:t>
            </a:r>
            <a:r>
              <a:rPr lang="zh-CN" altLang="en-US" sz="2400" b="1" dirty="0">
                <a:gradFill>
                  <a:gsLst>
                    <a:gs pos="0">
                      <a:srgbClr val="7B32B2"/>
                    </a:gs>
                    <a:gs pos="100000">
                      <a:srgbClr val="401A5D"/>
                    </a:gs>
                  </a:gsLst>
                  <a:lin ang="5400000" scaled="0"/>
                </a:gradFill>
              </a:rPr>
              <a:t>其他：</a:t>
            </a:r>
            <a:r>
              <a:rPr lang="en-US" altLang="zh-CN" sz="2400" b="1" err="1">
                <a:gradFill>
                  <a:gsLst>
                    <a:gs pos="0">
                      <a:srgbClr val="7B32B2"/>
                    </a:gs>
                    <a:gs pos="100000">
                      <a:srgbClr val="401A5D"/>
                    </a:gs>
                  </a:gsLst>
                  <a:lin ang="5400000" scaled="0"/>
                </a:gradFill>
              </a:rPr>
              <a:t>Ne  He  Xe</a:t>
            </a:r>
            <a:r>
              <a:rPr lang="en-US" altLang="zh-CN" sz="2400" b="1">
                <a:gradFill>
                  <a:gsLst>
                    <a:gs pos="0">
                      <a:srgbClr val="7B32B2"/>
                    </a:gs>
                    <a:gs pos="100000">
                      <a:srgbClr val="401A5D"/>
                    </a:gs>
                  </a:gsLst>
                  <a:lin ang="5400000" scaled="0"/>
                </a:gradFill>
              </a:rPr>
              <a:t>  Kr  H</a:t>
            </a:r>
            <a:r>
              <a:rPr lang="en-US" altLang="zh-CN" sz="2400" b="1" baseline="-25000">
                <a:gradFill>
                  <a:gsLst>
                    <a:gs pos="0">
                      <a:srgbClr val="7B32B2"/>
                    </a:gs>
                    <a:gs pos="100000">
                      <a:srgbClr val="401A5D"/>
                    </a:gs>
                  </a:gsLst>
                  <a:lin ang="5400000" scaled="0"/>
                </a:gradFill>
              </a:rPr>
              <a:t>2</a:t>
            </a:r>
            <a:r>
              <a:rPr lang="en-US" altLang="zh-CN" sz="2400" b="1">
                <a:gradFill>
                  <a:gsLst>
                    <a:gs pos="0">
                      <a:srgbClr val="7B32B2"/>
                    </a:gs>
                    <a:gs pos="100000">
                      <a:srgbClr val="401A5D"/>
                    </a:gs>
                  </a:gsLst>
                  <a:lin ang="5400000" scaled="0"/>
                </a:gradFill>
              </a:rPr>
              <a:t>  O</a:t>
            </a:r>
            <a:r>
              <a:rPr lang="en-US" altLang="zh-CN" sz="2400" b="1" baseline="-25000">
                <a:gradFill>
                  <a:gsLst>
                    <a:gs pos="0">
                      <a:srgbClr val="7B32B2"/>
                    </a:gs>
                    <a:gs pos="100000">
                      <a:srgbClr val="401A5D"/>
                    </a:gs>
                  </a:gsLst>
                  <a:lin ang="5400000" scaled="0"/>
                </a:gradFill>
              </a:rPr>
              <a:t>3</a:t>
            </a:r>
            <a:r>
              <a:rPr lang="en-US" altLang="zh-CN" sz="2400" b="1">
                <a:gradFill>
                  <a:gsLst>
                    <a:gs pos="0">
                      <a:srgbClr val="7B32B2"/>
                    </a:gs>
                    <a:gs pos="100000">
                      <a:srgbClr val="401A5D"/>
                    </a:gs>
                  </a:gsLst>
                  <a:lin ang="5400000" scaled="0"/>
                </a:gradFill>
              </a:rPr>
              <a:t>  NO</a:t>
            </a:r>
            <a:r>
              <a:rPr lang="en-US" altLang="zh-CN" sz="2400" b="1" baseline="-25000">
                <a:gradFill>
                  <a:gsLst>
                    <a:gs pos="0">
                      <a:srgbClr val="7B32B2"/>
                    </a:gs>
                    <a:gs pos="100000">
                      <a:srgbClr val="401A5D"/>
                    </a:gs>
                  </a:gsLst>
                  <a:lin ang="5400000" scaled="0"/>
                </a:gradFill>
              </a:rPr>
              <a:t>2</a:t>
            </a:r>
            <a:r>
              <a:rPr lang="en-US" altLang="zh-CN" sz="2400" b="1" dirty="0">
                <a:gradFill>
                  <a:gsLst>
                    <a:gs pos="0">
                      <a:srgbClr val="7B32B2"/>
                    </a:gs>
                    <a:gs pos="100000">
                      <a:srgbClr val="401A5D"/>
                    </a:gs>
                  </a:gsLst>
                  <a:lin ang="5400000" scaled="0"/>
                </a:gradFill>
              </a:rPr>
              <a:t> </a:t>
            </a:r>
            <a:r>
              <a:rPr lang="zh-CN" altLang="en-US" sz="2400" b="1" dirty="0">
                <a:gradFill>
                  <a:gsLst>
                    <a:gs pos="0">
                      <a:srgbClr val="7B32B2"/>
                    </a:gs>
                    <a:gs pos="100000">
                      <a:srgbClr val="401A5D"/>
                    </a:gs>
                  </a:gsLst>
                  <a:lin ang="5400000" scaled="0"/>
                </a:gradFill>
              </a:rPr>
              <a:t>等</a:t>
            </a:r>
            <a:r>
              <a:rPr lang="en-US" altLang="zh-CN" sz="2400" b="1">
                <a:gradFill>
                  <a:gsLst>
                    <a:gs pos="0">
                      <a:srgbClr val="7B32B2"/>
                    </a:gs>
                    <a:gs pos="100000">
                      <a:srgbClr val="401A5D"/>
                    </a:gs>
                  </a:gsLst>
                  <a:lin ang="5400000" scaled="0"/>
                </a:gradFill>
              </a:rPr>
              <a:t>)</a:t>
            </a:r>
          </a:p>
          <a:p>
            <a:pPr>
              <a:lnSpc>
                <a:spcPct val="130000"/>
              </a:lnSpc>
              <a:spcBef>
                <a:spcPct val="0"/>
              </a:spcBef>
              <a:buNone/>
            </a:pPr>
            <a:r>
              <a:rPr lang="en-US" altLang="zh-CN" sz="2400" b="1">
                <a:gradFill>
                  <a:gsLst>
                    <a:gs pos="0">
                      <a:srgbClr val="7B32B2"/>
                    </a:gs>
                    <a:gs pos="100000">
                      <a:srgbClr val="401A5D"/>
                    </a:gs>
                  </a:gsLst>
                  <a:lin ang="5400000" scaled="0"/>
                </a:gradFill>
              </a:rPr>
              <a:t>                        0.001%</a:t>
            </a:r>
          </a:p>
        </p:txBody>
      </p:sp>
      <p:pic>
        <p:nvPicPr>
          <p:cNvPr id="104452" name="图片 104451" descr="0101"/>
          <p:cNvPicPr>
            <a:picLocks noChangeAspect="1"/>
          </p:cNvPicPr>
          <p:nvPr/>
        </p:nvPicPr>
        <p:blipFill>
          <a:blip r:embed="rId2" cstate="print"/>
          <a:stretch>
            <a:fillRect/>
          </a:stretch>
        </p:blipFill>
        <p:spPr>
          <a:xfrm>
            <a:off x="228600" y="1417955"/>
            <a:ext cx="8686800" cy="5054600"/>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4451"/>
                                        </p:tgtEl>
                                        <p:attrNameLst>
                                          <p:attrName>style.visibility</p:attrName>
                                        </p:attrNameLst>
                                      </p:cBhvr>
                                      <p:to>
                                        <p:strVal val="visible"/>
                                      </p:to>
                                    </p:set>
                                    <p:animEffect transition="in" filter="blinds(horizontal)">
                                      <p:cBhvr>
                                        <p:cTn id="7" dur="500"/>
                                        <p:tgtEl>
                                          <p:spTgt spid="10445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04452"/>
                                        </p:tgtEl>
                                        <p:attrNameLst>
                                          <p:attrName>style.visibility</p:attrName>
                                        </p:attrNameLst>
                                      </p:cBhvr>
                                      <p:to>
                                        <p:strVal val="visible"/>
                                      </p:to>
                                    </p:set>
                                    <p:animEffect transition="in" filter="box(out)">
                                      <p:cBhvr>
                                        <p:cTn id="12" dur="500"/>
                                        <p:tgtEl>
                                          <p:spTgt spid="104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23553"/>
          <p:cNvSpPr>
            <a:spLocks noGrp="1"/>
          </p:cNvSpPr>
          <p:nvPr>
            <p:ph type="title"/>
          </p:nvPr>
        </p:nvSpPr>
        <p:spPr>
          <a:noFill/>
          <a:ln>
            <a:noFill/>
          </a:ln>
        </p:spPr>
        <p:txBody>
          <a:bodyPr anchor="ctr"/>
          <a:lstStyle/>
          <a:p>
            <a:r>
              <a:rPr lang="zh-CN" altLang="en-US" sz="3200" b="1" dirty="0">
                <a:solidFill>
                  <a:srgbClr val="FF0000"/>
                </a:solidFill>
              </a:rPr>
              <a:t>环境科学对大气组成的分类：</a:t>
            </a:r>
          </a:p>
        </p:txBody>
      </p:sp>
      <p:sp>
        <p:nvSpPr>
          <p:cNvPr id="23555" name="内容占位符 23554"/>
          <p:cNvSpPr>
            <a:spLocks noGrp="1"/>
          </p:cNvSpPr>
          <p:nvPr>
            <p:ph idx="1"/>
          </p:nvPr>
        </p:nvSpPr>
        <p:spPr>
          <a:noFill/>
          <a:ln>
            <a:noFill/>
          </a:ln>
        </p:spPr>
        <p:txBody>
          <a:bodyPr anchor="t"/>
          <a:lstStyle/>
          <a:p>
            <a:pPr>
              <a:buChar char="（"/>
            </a:pPr>
            <a:r>
              <a:rPr lang="en-US" altLang="zh-CN" sz="2800" b="1" dirty="0">
                <a:solidFill>
                  <a:schemeClr val="tx1"/>
                </a:solidFill>
              </a:rPr>
              <a:t>1</a:t>
            </a:r>
            <a:r>
              <a:rPr lang="zh-CN" altLang="en-US" sz="2800" b="1" dirty="0">
                <a:solidFill>
                  <a:schemeClr val="tx1"/>
                </a:solidFill>
              </a:rPr>
              <a:t>）恒</a:t>
            </a:r>
            <a:r>
              <a:rPr lang="zh-CN" altLang="en-US" sz="2800" b="1" dirty="0"/>
              <a:t>定组分：</a:t>
            </a:r>
            <a:r>
              <a:rPr lang="en-US" altLang="zh-CN" sz="2800" b="1"/>
              <a:t>N</a:t>
            </a:r>
            <a:r>
              <a:rPr lang="en-US" altLang="zh-CN" sz="2800" b="1" baseline="-25000"/>
              <a:t>2</a:t>
            </a:r>
            <a:r>
              <a:rPr lang="zh-CN" altLang="en-US" sz="2800" b="1"/>
              <a:t>、</a:t>
            </a:r>
            <a:r>
              <a:rPr lang="en-US" altLang="zh-CN" sz="2800" b="1"/>
              <a:t>O</a:t>
            </a:r>
            <a:r>
              <a:rPr lang="en-US" altLang="zh-CN" sz="2800" b="1" baseline="-25000"/>
              <a:t>2</a:t>
            </a:r>
            <a:r>
              <a:rPr lang="zh-CN" altLang="en-US" sz="2800" b="1" err="1"/>
              <a:t>、</a:t>
            </a:r>
            <a:r>
              <a:rPr lang="en-US" altLang="zh-CN" sz="2800" b="1" err="1"/>
              <a:t>Ar</a:t>
            </a:r>
            <a:r>
              <a:rPr lang="zh-CN" altLang="en-US" sz="2800" b="1" dirty="0"/>
              <a:t>、</a:t>
            </a:r>
            <a:r>
              <a:rPr lang="en-US" altLang="zh-CN" sz="2800" b="1" dirty="0"/>
              <a:t>Ne</a:t>
            </a:r>
            <a:r>
              <a:rPr lang="zh-CN" altLang="en-US" sz="2800" b="1" dirty="0"/>
              <a:t>、</a:t>
            </a:r>
            <a:r>
              <a:rPr lang="en-US" altLang="zh-CN" sz="2800" b="1" dirty="0"/>
              <a:t>Kr</a:t>
            </a:r>
            <a:r>
              <a:rPr lang="zh-CN" altLang="en-US" sz="2800" b="1" dirty="0"/>
              <a:t>等气体，</a:t>
            </a:r>
          </a:p>
          <a:p>
            <a:pPr>
              <a:buNone/>
            </a:pPr>
            <a:endParaRPr lang="zh-CN" altLang="en-US" sz="2800" b="1" dirty="0"/>
          </a:p>
          <a:p>
            <a:pPr>
              <a:buChar char="（"/>
            </a:pPr>
            <a:r>
              <a:rPr lang="en-US" altLang="zh-CN" sz="2800" b="1" dirty="0"/>
              <a:t>2</a:t>
            </a:r>
            <a:r>
              <a:rPr lang="zh-CN" altLang="en-US" sz="2800" b="1" dirty="0"/>
              <a:t>）可变组分：</a:t>
            </a:r>
            <a:r>
              <a:rPr lang="en-US" altLang="zh-CN" sz="2800" b="1"/>
              <a:t>CO</a:t>
            </a:r>
            <a:r>
              <a:rPr lang="en-US" altLang="zh-CN" sz="2800" b="1" baseline="-25000"/>
              <a:t>2</a:t>
            </a:r>
            <a:r>
              <a:rPr lang="en-US" altLang="zh-CN" sz="2800" b="1"/>
              <a:t> (0.03~0.033%)</a:t>
            </a:r>
            <a:r>
              <a:rPr lang="zh-CN" altLang="en-US" sz="2800" b="1"/>
              <a:t>、</a:t>
            </a:r>
            <a:r>
              <a:rPr lang="en-US" altLang="zh-CN" sz="2800" b="1"/>
              <a:t>H</a:t>
            </a:r>
            <a:r>
              <a:rPr lang="en-US" altLang="zh-CN" sz="2800" b="1" baseline="-25000"/>
              <a:t>2</a:t>
            </a:r>
            <a:r>
              <a:rPr lang="en-US" altLang="zh-CN" sz="2800" b="1"/>
              <a:t>O(g) (0~4%)</a:t>
            </a:r>
          </a:p>
          <a:p>
            <a:pPr>
              <a:buNone/>
            </a:pPr>
            <a:endParaRPr lang="en-US" altLang="zh-CN" sz="2800" b="1"/>
          </a:p>
          <a:p>
            <a:pPr>
              <a:buChar char="（"/>
            </a:pPr>
            <a:r>
              <a:rPr lang="en-US" altLang="zh-CN" sz="2800" b="1" dirty="0"/>
              <a:t>3</a:t>
            </a:r>
            <a:r>
              <a:rPr lang="zh-CN" altLang="en-US" sz="2800" b="1" dirty="0"/>
              <a:t>）不定组分：煤烟、粉尘、含</a:t>
            </a:r>
            <a:r>
              <a:rPr lang="en-US" altLang="zh-CN" sz="2800" b="1" dirty="0"/>
              <a:t>S  N  C</a:t>
            </a:r>
            <a:r>
              <a:rPr lang="zh-CN" altLang="en-US" sz="2800" b="1" dirty="0"/>
              <a:t>的化和物</a:t>
            </a:r>
          </a:p>
          <a:p>
            <a:pPr>
              <a:buNone/>
            </a:pPr>
            <a:r>
              <a:rPr lang="zh-CN" altLang="en-US" sz="2800" b="1" dirty="0"/>
              <a:t>                            （</a:t>
            </a:r>
            <a:r>
              <a:rPr lang="en-US" altLang="zh-CN" sz="2800" b="1"/>
              <a:t>NO</a:t>
            </a:r>
            <a:r>
              <a:rPr lang="en-US" altLang="zh-CN" sz="2800" b="1" baseline="-25000"/>
              <a:t>2</a:t>
            </a:r>
            <a:r>
              <a:rPr lang="zh-CN" altLang="en-US" sz="2800" b="1"/>
              <a:t>、</a:t>
            </a:r>
            <a:r>
              <a:rPr lang="en-US" altLang="zh-CN" sz="2800" b="1"/>
              <a:t>H</a:t>
            </a:r>
            <a:r>
              <a:rPr lang="en-US" altLang="zh-CN" sz="2800" b="1" baseline="-25000"/>
              <a:t>2</a:t>
            </a:r>
            <a:r>
              <a:rPr lang="en-US" altLang="zh-CN" sz="2800" b="1" err="1"/>
              <a:t>S</a:t>
            </a:r>
            <a:r>
              <a:rPr lang="zh-CN" altLang="en-US" sz="2800" b="1" err="1"/>
              <a:t>、</a:t>
            </a:r>
            <a:r>
              <a:rPr lang="en-US" altLang="zh-CN" sz="2800" b="1" err="1"/>
              <a:t>SOx</a:t>
            </a:r>
            <a:r>
              <a:rPr lang="zh-CN" altLang="en-US" sz="2800" b="1"/>
              <a:t>）</a:t>
            </a:r>
          </a:p>
          <a:p>
            <a:pPr algn="just">
              <a:buNone/>
            </a:pPr>
            <a:r>
              <a:rPr lang="zh-CN" altLang="en-US" sz="2800" b="1" dirty="0"/>
              <a:t>                             </a:t>
            </a:r>
            <a:r>
              <a:rPr lang="zh-CN" altLang="en-US" sz="2800" b="1"/>
              <a:t> </a:t>
            </a:r>
            <a:r>
              <a:rPr lang="en-US" altLang="zh-CN" sz="2800" b="1"/>
              <a:t>——</a:t>
            </a:r>
            <a:r>
              <a:rPr lang="zh-CN" altLang="en-US" sz="2800" b="1" dirty="0"/>
              <a:t>是大气中的主要污染成分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3555"/>
                                        </p:tgtEl>
                                        <p:attrNameLst>
                                          <p:attrName>style.visibility</p:attrName>
                                        </p:attrNameLst>
                                      </p:cBhvr>
                                      <p:to>
                                        <p:strVal val="visible"/>
                                      </p:to>
                                    </p:set>
                                    <p:anim calcmode="lin" valueType="num">
                                      <p:cBhvr>
                                        <p:cTn id="7" dur="500" fill="hold"/>
                                        <p:tgtEl>
                                          <p:spTgt spid="23555"/>
                                        </p:tgtEl>
                                        <p:attrNameLst>
                                          <p:attrName>ppt_w</p:attrName>
                                        </p:attrNameLst>
                                      </p:cBhvr>
                                      <p:tavLst>
                                        <p:tav tm="0">
                                          <p:val>
                                            <p:fltVal val="0"/>
                                          </p:val>
                                        </p:tav>
                                        <p:tav tm="100000">
                                          <p:val>
                                            <p:strVal val="#ppt_w"/>
                                          </p:val>
                                        </p:tav>
                                      </p:tavLst>
                                    </p:anim>
                                    <p:anim calcmode="lin" valueType="num">
                                      <p:cBhvr>
                                        <p:cTn id="8" dur="500" fill="hold"/>
                                        <p:tgtEl>
                                          <p:spTgt spid="2355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2289"/>
          <p:cNvSpPr>
            <a:spLocks noGrp="1"/>
          </p:cNvSpPr>
          <p:nvPr>
            <p:ph type="title"/>
          </p:nvPr>
        </p:nvSpPr>
        <p:spPr>
          <a:noFill/>
          <a:ln>
            <a:noFill/>
          </a:ln>
        </p:spPr>
        <p:txBody>
          <a:bodyPr anchor="ctr"/>
          <a:lstStyle/>
          <a:p>
            <a:r>
              <a:rPr lang="zh-CN" altLang="en-US" sz="3200" dirty="0">
                <a:solidFill>
                  <a:srgbClr val="FF3300"/>
                </a:solidFill>
                <a:latin typeface="隶书" panose="02010509060101010101" pitchFamily="49" charset="-122"/>
                <a:ea typeface="隶书" panose="02010509060101010101" pitchFamily="49" charset="-122"/>
              </a:rPr>
              <a:t>大气污染概况</a:t>
            </a:r>
          </a:p>
        </p:txBody>
      </p:sp>
      <p:sp>
        <p:nvSpPr>
          <p:cNvPr id="12291" name="内容占位符 12290"/>
          <p:cNvSpPr>
            <a:spLocks noGrp="1"/>
          </p:cNvSpPr>
          <p:nvPr>
            <p:ph idx="1"/>
          </p:nvPr>
        </p:nvSpPr>
        <p:spPr>
          <a:xfrm>
            <a:off x="457200" y="1341120"/>
            <a:ext cx="8229600" cy="4525963"/>
          </a:xfrm>
          <a:noFill/>
          <a:ln>
            <a:noFill/>
          </a:ln>
        </p:spPr>
        <p:txBody>
          <a:bodyPr anchor="t"/>
          <a:lstStyle/>
          <a:p>
            <a:pPr>
              <a:lnSpc>
                <a:spcPct val="90000"/>
              </a:lnSpc>
              <a:buNone/>
            </a:pPr>
            <a:r>
              <a:rPr lang="zh-CN" altLang="en-US" sz="2400" b="1" dirty="0"/>
              <a:t>大气污染</a:t>
            </a:r>
            <a:r>
              <a:rPr lang="en-US" altLang="zh-CN" sz="2400" b="1"/>
              <a:t>——</a:t>
            </a:r>
            <a:r>
              <a:rPr lang="zh-CN" altLang="en-US" sz="2400" b="1" dirty="0"/>
              <a:t>大气中有害物质含量超过一定指标，使大气质量恶化，对人、动植物、  设备财产造成危害的现象。 </a:t>
            </a:r>
            <a:endParaRPr lang="zh-CN" altLang="en-US" sz="2400" b="1" dirty="0">
              <a:ea typeface="隶书" panose="02010509060101010101" pitchFamily="49" charset="-122"/>
            </a:endParaRPr>
          </a:p>
        </p:txBody>
      </p:sp>
      <p:sp>
        <p:nvSpPr>
          <p:cNvPr id="12296" name="文本框 12295"/>
          <p:cNvSpPr txBox="1"/>
          <p:nvPr/>
        </p:nvSpPr>
        <p:spPr>
          <a:xfrm>
            <a:off x="609600" y="5867400"/>
            <a:ext cx="7772400" cy="641350"/>
          </a:xfrm>
          <a:prstGeom prst="rect">
            <a:avLst/>
          </a:prstGeom>
          <a:noFill/>
          <a:ln w="9525">
            <a:noFill/>
          </a:ln>
        </p:spPr>
        <p:txBody>
          <a:bodyPr anchor="t">
            <a:spAutoFit/>
          </a:bodyPr>
          <a:lstStyle/>
          <a:p>
            <a:pPr>
              <a:spcBef>
                <a:spcPct val="50000"/>
              </a:spcBef>
            </a:pPr>
            <a:r>
              <a:rPr lang="en-US" altLang="zh-CN" sz="1800" b="1" dirty="0">
                <a:solidFill>
                  <a:srgbClr val="002060"/>
                </a:solidFill>
                <a:latin typeface="Times New Roman" panose="02020603050405020304" pitchFamily="18" charset="0"/>
                <a:ea typeface="宋体" panose="02010600030101010101" pitchFamily="2" charset="-122"/>
              </a:rPr>
              <a:t>* </a:t>
            </a:r>
            <a:r>
              <a:rPr lang="zh-CN" altLang="en-US" sz="1800" b="1" dirty="0">
                <a:solidFill>
                  <a:srgbClr val="002060"/>
                </a:solidFill>
                <a:latin typeface="Times New Roman" panose="02020603050405020304" pitchFamily="18" charset="0"/>
                <a:ea typeface="宋体" panose="02010600030101010101" pitchFamily="2" charset="-122"/>
              </a:rPr>
              <a:t>以城市空气中</a:t>
            </a:r>
            <a:r>
              <a:rPr lang="en-US" altLang="zh-CN" sz="1800" b="1">
                <a:solidFill>
                  <a:srgbClr val="002060"/>
                </a:solidFill>
                <a:latin typeface="Times New Roman" panose="02020603050405020304" pitchFamily="18" charset="0"/>
                <a:ea typeface="宋体" panose="02010600030101010101" pitchFamily="2" charset="-122"/>
              </a:rPr>
              <a:t>SO</a:t>
            </a:r>
            <a:r>
              <a:rPr lang="en-US" altLang="zh-CN" sz="1800" b="1" baseline="-25000">
                <a:solidFill>
                  <a:srgbClr val="002060"/>
                </a:solidFill>
                <a:latin typeface="Times New Roman" panose="02020603050405020304" pitchFamily="18" charset="0"/>
                <a:ea typeface="宋体" panose="02010600030101010101" pitchFamily="2" charset="-122"/>
              </a:rPr>
              <a:t>2</a:t>
            </a:r>
            <a:r>
              <a:rPr lang="zh-CN" altLang="en-US" sz="1800" b="1">
                <a:solidFill>
                  <a:srgbClr val="002060"/>
                </a:solidFill>
                <a:latin typeface="Times New Roman" panose="02020603050405020304" pitchFamily="18" charset="0"/>
                <a:ea typeface="宋体" panose="02010600030101010101" pitchFamily="2" charset="-122"/>
              </a:rPr>
              <a:t>、</a:t>
            </a:r>
            <a:r>
              <a:rPr lang="en-US" altLang="zh-CN" sz="1800" b="1">
                <a:solidFill>
                  <a:srgbClr val="002060"/>
                </a:solidFill>
                <a:latin typeface="Times New Roman" panose="02020603050405020304" pitchFamily="18" charset="0"/>
                <a:ea typeface="宋体" panose="02010600030101010101" pitchFamily="2" charset="-122"/>
              </a:rPr>
              <a:t>NO</a:t>
            </a:r>
            <a:r>
              <a:rPr lang="en-US" altLang="zh-CN" sz="1800" b="1" baseline="-25000">
                <a:solidFill>
                  <a:srgbClr val="002060"/>
                </a:solidFill>
                <a:latin typeface="Times New Roman" panose="02020603050405020304" pitchFamily="18" charset="0"/>
                <a:ea typeface="宋体" panose="02010600030101010101" pitchFamily="2" charset="-122"/>
              </a:rPr>
              <a:t>2</a:t>
            </a:r>
            <a:r>
              <a:rPr lang="zh-CN" altLang="en-US" sz="1800" b="1" dirty="0">
                <a:solidFill>
                  <a:srgbClr val="002060"/>
                </a:solidFill>
                <a:latin typeface="Times New Roman" panose="02020603050405020304" pitchFamily="18" charset="0"/>
                <a:ea typeface="宋体" panose="02010600030101010101" pitchFamily="2" charset="-122"/>
              </a:rPr>
              <a:t>和可吸入颗粒物</a:t>
            </a:r>
            <a:r>
              <a:rPr lang="en-US" altLang="zh-CN" sz="1800" b="1">
                <a:solidFill>
                  <a:srgbClr val="002060"/>
                </a:solidFill>
                <a:latin typeface="Times New Roman" panose="02020603050405020304" pitchFamily="18" charset="0"/>
                <a:ea typeface="宋体" panose="02010600030101010101" pitchFamily="2" charset="-122"/>
              </a:rPr>
              <a:t>(PM</a:t>
            </a:r>
            <a:r>
              <a:rPr lang="en-US" altLang="zh-CN" sz="1800" b="1" baseline="-25000">
                <a:solidFill>
                  <a:srgbClr val="002060"/>
                </a:solidFill>
                <a:latin typeface="Times New Roman" panose="02020603050405020304" pitchFamily="18" charset="0"/>
                <a:ea typeface="宋体" panose="02010600030101010101" pitchFamily="2" charset="-122"/>
              </a:rPr>
              <a:t>10</a:t>
            </a:r>
            <a:r>
              <a:rPr lang="en-US" altLang="zh-CN" sz="1800" b="1" dirty="0">
                <a:solidFill>
                  <a:srgbClr val="002060"/>
                </a:solidFill>
                <a:latin typeface="Times New Roman" panose="02020603050405020304" pitchFamily="18" charset="0"/>
                <a:ea typeface="宋体" panose="02010600030101010101" pitchFamily="2" charset="-122"/>
              </a:rPr>
              <a:t>)</a:t>
            </a:r>
            <a:r>
              <a:rPr lang="zh-CN" altLang="en-US" sz="1800" b="1" dirty="0">
                <a:solidFill>
                  <a:srgbClr val="002060"/>
                </a:solidFill>
                <a:latin typeface="Times New Roman" panose="02020603050405020304" pitchFamily="18" charset="0"/>
                <a:ea typeface="宋体" panose="02010600030101010101" pitchFamily="2" charset="-122"/>
              </a:rPr>
              <a:t>的浓度为依据换算成空气污染指数即</a:t>
            </a:r>
            <a:r>
              <a:rPr lang="en-US" altLang="zh-CN" sz="1800" b="1" dirty="0">
                <a:solidFill>
                  <a:srgbClr val="002060"/>
                </a:solidFill>
                <a:latin typeface="Times New Roman" panose="02020603050405020304" pitchFamily="18" charset="0"/>
                <a:ea typeface="宋体" panose="02010600030101010101" pitchFamily="2" charset="-122"/>
              </a:rPr>
              <a:t>API</a:t>
            </a:r>
            <a:r>
              <a:rPr lang="zh-CN" altLang="en-US" sz="1800" b="1" dirty="0">
                <a:solidFill>
                  <a:srgbClr val="002060"/>
                </a:solidFill>
                <a:latin typeface="Times New Roman" panose="02020603050405020304" pitchFamily="18" charset="0"/>
                <a:ea typeface="宋体" panose="02010600030101010101" pitchFamily="2" charset="-122"/>
              </a:rPr>
              <a:t>和空气质量级别</a:t>
            </a:r>
          </a:p>
        </p:txBody>
      </p:sp>
      <p:sp>
        <p:nvSpPr>
          <p:cNvPr id="12297" name="文本框 12296"/>
          <p:cNvSpPr txBox="1"/>
          <p:nvPr/>
        </p:nvSpPr>
        <p:spPr>
          <a:xfrm>
            <a:off x="2133600" y="2133600"/>
            <a:ext cx="3810000" cy="457200"/>
          </a:xfrm>
          <a:prstGeom prst="rect">
            <a:avLst/>
          </a:prstGeom>
          <a:noFill/>
          <a:ln w="9525">
            <a:noFill/>
          </a:ln>
        </p:spPr>
        <p:txBody>
          <a:bodyPr anchor="t">
            <a:spAutoFit/>
          </a:bodyPr>
          <a:lstStyle/>
          <a:p>
            <a:pPr>
              <a:spcBef>
                <a:spcPct val="50000"/>
              </a:spcBef>
            </a:pPr>
            <a:r>
              <a:rPr lang="en-US" altLang="zh-CN" b="1" dirty="0">
                <a:solidFill>
                  <a:srgbClr val="FFFF00"/>
                </a:solidFill>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空气质量 日报</a:t>
            </a:r>
            <a:r>
              <a:rPr lang="en-US" altLang="zh-CN" b="1" baseline="30000" dirty="0">
                <a:latin typeface="Times New Roman" panose="02020603050405020304" pitchFamily="18" charset="0"/>
                <a:ea typeface="宋体" panose="02010600030101010101" pitchFamily="2" charset="-122"/>
              </a:rPr>
              <a:t>*</a:t>
            </a:r>
          </a:p>
        </p:txBody>
      </p:sp>
      <p:graphicFrame>
        <p:nvGraphicFramePr>
          <p:cNvPr id="12396" name="表格 12395"/>
          <p:cNvGraphicFramePr/>
          <p:nvPr/>
        </p:nvGraphicFramePr>
        <p:xfrm>
          <a:off x="457200" y="2590800"/>
          <a:ext cx="8382000" cy="3041650"/>
        </p:xfrm>
        <a:graphic>
          <a:graphicData uri="http://schemas.openxmlformats.org/drawingml/2006/table">
            <a:tbl>
              <a:tblPr/>
              <a:tblGrid>
                <a:gridCol w="1295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1676400">
                  <a:extLst>
                    <a:ext uri="{9D8B030D-6E8A-4147-A177-3AD203B41FA5}">
                      <a16:colId xmlns:a16="http://schemas.microsoft.com/office/drawing/2014/main" val="20004"/>
                    </a:ext>
                  </a:extLst>
                </a:gridCol>
                <a:gridCol w="2743200">
                  <a:extLst>
                    <a:ext uri="{9D8B030D-6E8A-4147-A177-3AD203B41FA5}">
                      <a16:colId xmlns:a16="http://schemas.microsoft.com/office/drawing/2014/main" val="20005"/>
                    </a:ext>
                  </a:extLst>
                </a:gridCol>
              </a:tblGrid>
              <a:tr h="695325">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en-US" altLang="zh-CN" sz="1800" b="1">
                          <a:solidFill>
                            <a:schemeClr val="tx1"/>
                          </a:solidFill>
                        </a:rPr>
                        <a:t>API</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en-US" altLang="zh-CN" sz="1800" b="1">
                          <a:solidFill>
                            <a:schemeClr val="tx1"/>
                          </a:solidFill>
                        </a:rPr>
                        <a:t>PM</a:t>
                      </a:r>
                      <a:r>
                        <a:rPr lang="en-US" altLang="zh-CN" sz="1800" b="1" baseline="-25000">
                          <a:solidFill>
                            <a:schemeClr val="tx1"/>
                          </a:solidFill>
                        </a:rPr>
                        <a:t>10</a:t>
                      </a:r>
                    </a:p>
                    <a:p>
                      <a:pPr marL="0" lvl="0" indent="0">
                        <a:buNone/>
                      </a:pPr>
                      <a:r>
                        <a:rPr lang="en-US" altLang="zh-CN" sz="1800" b="1">
                          <a:solidFill>
                            <a:schemeClr val="tx1"/>
                          </a:solidFill>
                        </a:rPr>
                        <a:t>mg/m</a:t>
                      </a:r>
                      <a:r>
                        <a:rPr lang="en-US" altLang="zh-CN" sz="1800" b="1" baseline="30000">
                          <a:solidFill>
                            <a:schemeClr val="tx1"/>
                          </a:solidFill>
                        </a:rPr>
                        <a:t>3</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en-US" altLang="zh-CN" sz="1800" b="1">
                          <a:solidFill>
                            <a:schemeClr val="tx1"/>
                          </a:solidFill>
                        </a:rPr>
                        <a:t>SO</a:t>
                      </a:r>
                      <a:r>
                        <a:rPr lang="en-US" altLang="zh-CN" sz="1800" b="1" baseline="-25000">
                          <a:solidFill>
                            <a:schemeClr val="tx1"/>
                          </a:solidFill>
                        </a:rPr>
                        <a:t>2</a:t>
                      </a:r>
                    </a:p>
                    <a:p>
                      <a:pPr marL="0" lvl="0" indent="0">
                        <a:buNone/>
                      </a:pPr>
                      <a:r>
                        <a:rPr lang="en-US" altLang="zh-CN" sz="1800" b="1">
                          <a:solidFill>
                            <a:schemeClr val="tx1"/>
                          </a:solidFill>
                        </a:rPr>
                        <a:t>mg/m</a:t>
                      </a:r>
                      <a:r>
                        <a:rPr lang="en-US" altLang="zh-CN" sz="1800" b="1" baseline="30000">
                          <a:solidFill>
                            <a:schemeClr val="tx1"/>
                          </a:solidFill>
                        </a:rPr>
                        <a:t>3</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en-US" altLang="zh-CN" sz="1800" b="1">
                          <a:solidFill>
                            <a:schemeClr val="tx1"/>
                          </a:solidFill>
                        </a:rPr>
                        <a:t>NO</a:t>
                      </a:r>
                      <a:r>
                        <a:rPr lang="en-US" altLang="zh-CN" sz="1800" b="1" baseline="-25000">
                          <a:solidFill>
                            <a:schemeClr val="tx1"/>
                          </a:solidFill>
                        </a:rPr>
                        <a:t>2</a:t>
                      </a:r>
                    </a:p>
                    <a:p>
                      <a:pPr marL="0" lvl="0" indent="0">
                        <a:buNone/>
                      </a:pPr>
                      <a:r>
                        <a:rPr lang="en-US" altLang="zh-CN" sz="1800" b="1">
                          <a:solidFill>
                            <a:schemeClr val="tx1"/>
                          </a:solidFill>
                        </a:rPr>
                        <a:t>mg/m</a:t>
                      </a:r>
                      <a:r>
                        <a:rPr lang="en-US" altLang="zh-CN" sz="1800" b="1" baseline="30000">
                          <a:solidFill>
                            <a:schemeClr val="tx1"/>
                          </a:solidFill>
                        </a:rPr>
                        <a:t>3</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1800" b="1" dirty="0">
                          <a:solidFill>
                            <a:schemeClr val="tx1"/>
                          </a:solidFill>
                        </a:rPr>
                        <a:t>空气质量级别</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1800" b="1" dirty="0">
                          <a:solidFill>
                            <a:schemeClr val="tx1"/>
                          </a:solidFill>
                        </a:rPr>
                        <a:t>空气质量状况 </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46325">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en-US" altLang="zh-CN" sz="1800" b="1">
                          <a:solidFill>
                            <a:schemeClr val="tx1"/>
                          </a:solidFill>
                        </a:rPr>
                        <a:t>0~50</a:t>
                      </a:r>
                    </a:p>
                    <a:p>
                      <a:pPr marL="0" lvl="0" indent="0">
                        <a:buNone/>
                      </a:pPr>
                      <a:r>
                        <a:rPr lang="en-US" altLang="zh-CN" sz="1800" b="1">
                          <a:solidFill>
                            <a:schemeClr val="tx1"/>
                          </a:solidFill>
                        </a:rPr>
                        <a:t>51~100</a:t>
                      </a:r>
                    </a:p>
                    <a:p>
                      <a:pPr marL="0" lvl="0" indent="0">
                        <a:buNone/>
                      </a:pPr>
                      <a:r>
                        <a:rPr lang="en-US" altLang="zh-CN" sz="1800" b="1" dirty="0">
                          <a:solidFill>
                            <a:schemeClr val="tx1"/>
                          </a:solidFill>
                        </a:rPr>
                        <a:t>101~200</a:t>
                      </a:r>
                      <a:r>
                        <a:rPr lang="zh-CN" altLang="en-US" sz="1800" b="1" dirty="0">
                          <a:solidFill>
                            <a:schemeClr val="tx1"/>
                          </a:solidFill>
                        </a:rPr>
                        <a:t>　</a:t>
                      </a:r>
                    </a:p>
                    <a:p>
                      <a:pPr marL="0" lvl="0" indent="0">
                        <a:buNone/>
                      </a:pPr>
                      <a:r>
                        <a:rPr lang="en-US" altLang="zh-CN" sz="1800" b="1" dirty="0">
                          <a:solidFill>
                            <a:schemeClr val="tx1"/>
                          </a:solidFill>
                        </a:rPr>
                        <a:t>201~300</a:t>
                      </a:r>
                      <a:r>
                        <a:rPr lang="zh-CN" altLang="en-US" sz="1800" b="1" dirty="0">
                          <a:solidFill>
                            <a:schemeClr val="tx1"/>
                          </a:solidFill>
                        </a:rPr>
                        <a:t>　</a:t>
                      </a:r>
                    </a:p>
                    <a:p>
                      <a:pPr marL="0" lvl="0" indent="0">
                        <a:buNone/>
                      </a:pPr>
                      <a:endParaRPr lang="zh-CN" altLang="en-US" sz="1800" b="1" dirty="0">
                        <a:solidFill>
                          <a:schemeClr val="tx1"/>
                        </a:solidFill>
                      </a:endParaRPr>
                    </a:p>
                    <a:p>
                      <a:pPr marL="0" lvl="0" indent="0">
                        <a:buNone/>
                      </a:pPr>
                      <a:r>
                        <a:rPr lang="en-US" altLang="zh-CN" sz="1800" b="1">
                          <a:solidFill>
                            <a:schemeClr val="tx1"/>
                          </a:solidFill>
                        </a:rPr>
                        <a:t>301~400</a:t>
                      </a:r>
                    </a:p>
                    <a:p>
                      <a:pPr marL="0" lvl="0" indent="0">
                        <a:buNone/>
                      </a:pPr>
                      <a:r>
                        <a:rPr lang="en-US" altLang="zh-CN" sz="1800" b="1" dirty="0">
                          <a:solidFill>
                            <a:schemeClr val="tx1"/>
                          </a:solidFill>
                        </a:rPr>
                        <a:t>401~500</a:t>
                      </a:r>
                      <a:r>
                        <a:rPr lang="zh-CN" altLang="en-US" sz="1800" b="1" dirty="0">
                          <a:solidFill>
                            <a:schemeClr val="tx1"/>
                          </a:solidFill>
                        </a:rPr>
                        <a:t>　 </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en-US" altLang="zh-CN" sz="1800" b="1">
                          <a:solidFill>
                            <a:schemeClr val="tx1"/>
                          </a:solidFill>
                        </a:rPr>
                        <a:t>0.05</a:t>
                      </a:r>
                    </a:p>
                    <a:p>
                      <a:pPr marL="0" lvl="0" indent="0">
                        <a:buNone/>
                      </a:pPr>
                      <a:r>
                        <a:rPr lang="en-US" altLang="zh-CN" sz="1800" b="1">
                          <a:solidFill>
                            <a:schemeClr val="tx1"/>
                          </a:solidFill>
                        </a:rPr>
                        <a:t>0.15</a:t>
                      </a:r>
                    </a:p>
                    <a:p>
                      <a:pPr marL="0" lvl="0" indent="0">
                        <a:buNone/>
                      </a:pPr>
                      <a:r>
                        <a:rPr lang="en-US" altLang="zh-CN" sz="1800" b="1">
                          <a:solidFill>
                            <a:schemeClr val="tx1"/>
                          </a:solidFill>
                        </a:rPr>
                        <a:t>0.35</a:t>
                      </a:r>
                    </a:p>
                    <a:p>
                      <a:pPr marL="0" lvl="0" indent="0">
                        <a:buNone/>
                      </a:pPr>
                      <a:r>
                        <a:rPr lang="en-US" altLang="zh-CN" sz="1800" b="1">
                          <a:solidFill>
                            <a:schemeClr val="tx1"/>
                          </a:solidFill>
                        </a:rPr>
                        <a:t>0.42</a:t>
                      </a:r>
                    </a:p>
                    <a:p>
                      <a:pPr marL="0" lvl="0" indent="0">
                        <a:buNone/>
                      </a:pPr>
                      <a:endParaRPr lang="en-US" altLang="zh-CN" sz="1800" b="1">
                        <a:solidFill>
                          <a:schemeClr val="tx1"/>
                        </a:solidFill>
                      </a:endParaRPr>
                    </a:p>
                    <a:p>
                      <a:pPr marL="0" lvl="0" indent="0">
                        <a:buNone/>
                      </a:pPr>
                      <a:r>
                        <a:rPr lang="en-US" altLang="zh-CN" sz="1800" b="1">
                          <a:solidFill>
                            <a:schemeClr val="tx1"/>
                          </a:solidFill>
                        </a:rPr>
                        <a:t>0.50</a:t>
                      </a:r>
                    </a:p>
                    <a:p>
                      <a:pPr marL="0" lvl="0" indent="0">
                        <a:buNone/>
                      </a:pPr>
                      <a:r>
                        <a:rPr lang="en-US" altLang="zh-CN" sz="1800" b="1">
                          <a:solidFill>
                            <a:schemeClr val="tx1"/>
                          </a:solidFill>
                        </a:rPr>
                        <a:t>0.60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en-US" altLang="zh-CN" sz="1800" b="1">
                          <a:solidFill>
                            <a:schemeClr val="tx1"/>
                          </a:solidFill>
                        </a:rPr>
                        <a:t>0.05</a:t>
                      </a:r>
                    </a:p>
                    <a:p>
                      <a:pPr marL="0" lvl="0" indent="0">
                        <a:buNone/>
                      </a:pPr>
                      <a:r>
                        <a:rPr lang="en-US" altLang="zh-CN" sz="1800" b="1">
                          <a:solidFill>
                            <a:schemeClr val="tx1"/>
                          </a:solidFill>
                        </a:rPr>
                        <a:t>0.15</a:t>
                      </a:r>
                    </a:p>
                    <a:p>
                      <a:pPr marL="0" lvl="0" indent="0">
                        <a:buNone/>
                      </a:pPr>
                      <a:r>
                        <a:rPr lang="en-US" altLang="zh-CN" sz="1800" b="1">
                          <a:solidFill>
                            <a:schemeClr val="tx1"/>
                          </a:solidFill>
                        </a:rPr>
                        <a:t>0.80</a:t>
                      </a:r>
                    </a:p>
                    <a:p>
                      <a:pPr marL="0" lvl="0" indent="0">
                        <a:buNone/>
                      </a:pPr>
                      <a:r>
                        <a:rPr lang="en-US" altLang="zh-CN" sz="1800" b="1">
                          <a:solidFill>
                            <a:schemeClr val="tx1"/>
                          </a:solidFill>
                        </a:rPr>
                        <a:t>1.60</a:t>
                      </a:r>
                    </a:p>
                    <a:p>
                      <a:pPr marL="0" lvl="0" indent="0">
                        <a:buNone/>
                      </a:pPr>
                      <a:endParaRPr lang="en-US" altLang="zh-CN" sz="1800" b="1">
                        <a:solidFill>
                          <a:schemeClr val="tx1"/>
                        </a:solidFill>
                      </a:endParaRPr>
                    </a:p>
                    <a:p>
                      <a:pPr marL="0" lvl="0" indent="0">
                        <a:buNone/>
                      </a:pPr>
                      <a:r>
                        <a:rPr lang="en-US" altLang="zh-CN" sz="1800" b="1">
                          <a:solidFill>
                            <a:schemeClr val="tx1"/>
                          </a:solidFill>
                        </a:rPr>
                        <a:t>2.10</a:t>
                      </a:r>
                    </a:p>
                    <a:p>
                      <a:pPr marL="0" lvl="0" indent="0">
                        <a:buNone/>
                      </a:pPr>
                      <a:r>
                        <a:rPr lang="en-US" altLang="zh-CN" sz="1800" b="1">
                          <a:solidFill>
                            <a:schemeClr val="tx1"/>
                          </a:solidFill>
                        </a:rPr>
                        <a:t>2.62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en-US" altLang="zh-CN" sz="1800" b="1">
                          <a:solidFill>
                            <a:schemeClr val="tx1"/>
                          </a:solidFill>
                        </a:rPr>
                        <a:t>0.08</a:t>
                      </a:r>
                    </a:p>
                    <a:p>
                      <a:pPr marL="0" lvl="0" indent="0">
                        <a:buNone/>
                      </a:pPr>
                      <a:r>
                        <a:rPr lang="en-US" altLang="zh-CN" sz="1800" b="1">
                          <a:solidFill>
                            <a:schemeClr val="tx1"/>
                          </a:solidFill>
                        </a:rPr>
                        <a:t>0.12</a:t>
                      </a:r>
                    </a:p>
                    <a:p>
                      <a:pPr marL="0" lvl="0" indent="0">
                        <a:buNone/>
                      </a:pPr>
                      <a:r>
                        <a:rPr lang="en-US" altLang="zh-CN" sz="1800" b="1">
                          <a:solidFill>
                            <a:schemeClr val="tx1"/>
                          </a:solidFill>
                        </a:rPr>
                        <a:t>0.28</a:t>
                      </a:r>
                    </a:p>
                    <a:p>
                      <a:pPr marL="0" lvl="0" indent="0">
                        <a:buNone/>
                      </a:pPr>
                      <a:r>
                        <a:rPr lang="en-US" altLang="zh-CN" sz="1800" b="1">
                          <a:solidFill>
                            <a:schemeClr val="tx1"/>
                          </a:solidFill>
                        </a:rPr>
                        <a:t>0.56</a:t>
                      </a:r>
                    </a:p>
                    <a:p>
                      <a:pPr marL="0" lvl="0" indent="0">
                        <a:buNone/>
                      </a:pPr>
                      <a:endParaRPr lang="en-US" altLang="zh-CN" sz="1800" b="1">
                        <a:solidFill>
                          <a:schemeClr val="tx1"/>
                        </a:solidFill>
                      </a:endParaRPr>
                    </a:p>
                    <a:p>
                      <a:pPr marL="0" lvl="0" indent="0">
                        <a:buNone/>
                      </a:pPr>
                      <a:r>
                        <a:rPr lang="en-US" altLang="zh-CN" sz="1800" b="1">
                          <a:solidFill>
                            <a:schemeClr val="tx1"/>
                          </a:solidFill>
                        </a:rPr>
                        <a:t>0.75</a:t>
                      </a:r>
                    </a:p>
                    <a:p>
                      <a:pPr marL="0" lvl="0" indent="0">
                        <a:buNone/>
                      </a:pPr>
                      <a:r>
                        <a:rPr lang="en-US" altLang="zh-CN" sz="1800" b="1">
                          <a:solidFill>
                            <a:schemeClr val="tx1"/>
                          </a:solidFill>
                        </a:rPr>
                        <a:t>0.94</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en-US" altLang="zh-CN" sz="1800" b="1" dirty="0">
                          <a:solidFill>
                            <a:schemeClr val="tx1"/>
                          </a:solidFill>
                        </a:rPr>
                        <a:t>    </a:t>
                      </a:r>
                      <a:r>
                        <a:rPr lang="en-US" altLang="zh-CN" sz="1800" b="1">
                          <a:solidFill>
                            <a:schemeClr val="tx1"/>
                          </a:solidFill>
                        </a:rPr>
                        <a:t>Ⅰ</a:t>
                      </a:r>
                    </a:p>
                    <a:p>
                      <a:pPr marL="0" lvl="0" indent="0">
                        <a:buNone/>
                      </a:pPr>
                      <a:r>
                        <a:rPr lang="en-US" altLang="zh-CN" sz="1800" b="1">
                          <a:solidFill>
                            <a:schemeClr val="tx1"/>
                          </a:solidFill>
                        </a:rPr>
                        <a:t>     Ⅱ</a:t>
                      </a:r>
                    </a:p>
                    <a:p>
                      <a:pPr marL="0" lvl="0" indent="0">
                        <a:buNone/>
                      </a:pPr>
                      <a:r>
                        <a:rPr lang="zh-CN" altLang="en-US" sz="1800" b="1" dirty="0">
                          <a:solidFill>
                            <a:schemeClr val="tx1"/>
                          </a:solidFill>
                        </a:rPr>
                        <a:t>　 </a:t>
                      </a:r>
                      <a:r>
                        <a:rPr lang="en-US" altLang="zh-CN" sz="1800" b="1">
                          <a:solidFill>
                            <a:schemeClr val="tx1"/>
                          </a:solidFill>
                        </a:rPr>
                        <a:t>Ⅲ</a:t>
                      </a:r>
                    </a:p>
                    <a:p>
                      <a:pPr marL="0" lvl="0" indent="0">
                        <a:buNone/>
                      </a:pPr>
                      <a:r>
                        <a:rPr lang="en-US" altLang="zh-CN" sz="1800" b="1">
                          <a:solidFill>
                            <a:schemeClr val="tx1"/>
                          </a:solidFill>
                        </a:rPr>
                        <a:t>     Ⅳ</a:t>
                      </a:r>
                    </a:p>
                    <a:p>
                      <a:pPr marL="0" lvl="0" indent="0">
                        <a:buNone/>
                      </a:pPr>
                      <a:r>
                        <a:rPr lang="en-US" altLang="zh-CN" sz="1800" b="1">
                          <a:solidFill>
                            <a:schemeClr val="tx1"/>
                          </a:solidFill>
                        </a:rPr>
                        <a:t>     </a:t>
                      </a:r>
                    </a:p>
                    <a:p>
                      <a:pPr marL="0" lvl="0" indent="0">
                        <a:buNone/>
                      </a:pPr>
                      <a:r>
                        <a:rPr lang="en-US" altLang="zh-CN" sz="1800" b="1">
                          <a:solidFill>
                            <a:schemeClr val="tx1"/>
                          </a:solidFill>
                        </a:rPr>
                        <a:t>     Ⅴ  </a:t>
                      </a:r>
                    </a:p>
                    <a:p>
                      <a:pPr marL="0" lvl="0" indent="0">
                        <a:buNone/>
                      </a:pPr>
                      <a:r>
                        <a:rPr lang="en-US" altLang="zh-CN" sz="1800" b="1">
                          <a:solidFill>
                            <a:schemeClr val="tx1"/>
                          </a:solidFill>
                        </a:rPr>
                        <a:t>     Ⅴ </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en-US" altLang="zh-CN" sz="1800" b="1" dirty="0">
                          <a:solidFill>
                            <a:schemeClr val="tx1"/>
                          </a:solidFill>
                        </a:rPr>
                        <a:t> </a:t>
                      </a:r>
                      <a:r>
                        <a:rPr lang="zh-CN" altLang="en-US" sz="1800" b="1" dirty="0">
                          <a:solidFill>
                            <a:schemeClr val="tx1"/>
                          </a:solidFill>
                        </a:rPr>
                        <a:t>优      可正常活动</a:t>
                      </a:r>
                    </a:p>
                    <a:p>
                      <a:pPr marL="0" lvl="0" indent="0">
                        <a:buNone/>
                      </a:pPr>
                      <a:r>
                        <a:rPr lang="zh-CN" altLang="en-US" sz="1800" b="1" dirty="0">
                          <a:solidFill>
                            <a:schemeClr val="tx1"/>
                          </a:solidFill>
                        </a:rPr>
                        <a:t>良好    可正常活动</a:t>
                      </a:r>
                    </a:p>
                    <a:p>
                      <a:pPr marL="0" lvl="0" indent="0">
                        <a:buNone/>
                      </a:pPr>
                      <a:r>
                        <a:rPr lang="zh-CN" altLang="en-US" sz="1800" b="1" dirty="0">
                          <a:solidFill>
                            <a:schemeClr val="tx1"/>
                          </a:solidFill>
                        </a:rPr>
                        <a:t>轻度污染  不亦长期接触</a:t>
                      </a:r>
                    </a:p>
                    <a:p>
                      <a:pPr marL="0" lvl="0" indent="0">
                        <a:buNone/>
                      </a:pPr>
                      <a:r>
                        <a:rPr lang="zh-CN" altLang="en-US" sz="1800" b="1" dirty="0">
                          <a:solidFill>
                            <a:schemeClr val="tx1"/>
                          </a:solidFill>
                        </a:rPr>
                        <a:t>中度污染  接触一段时间可出现不良症状</a:t>
                      </a:r>
                    </a:p>
                    <a:p>
                      <a:pPr marL="0" lvl="0" indent="0">
                        <a:buNone/>
                      </a:pPr>
                      <a:r>
                        <a:rPr lang="zh-CN" altLang="en-US" sz="1800" b="1" dirty="0">
                          <a:solidFill>
                            <a:schemeClr val="tx1"/>
                          </a:solidFill>
                        </a:rPr>
                        <a:t>重度污染  影响正常活动</a:t>
                      </a:r>
                    </a:p>
                    <a:p>
                      <a:pPr marL="0" lvl="0" indent="0">
                        <a:buNone/>
                      </a:pPr>
                      <a:r>
                        <a:rPr lang="zh-CN" altLang="en-US" sz="1800" b="1" dirty="0">
                          <a:solidFill>
                            <a:schemeClr val="tx1"/>
                          </a:solidFill>
                        </a:rPr>
                        <a:t>重度污染  影响正常活动 </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2291"/>
                                        </p:tgtEl>
                                        <p:attrNameLst>
                                          <p:attrName>style.visibility</p:attrName>
                                        </p:attrNameLst>
                                      </p:cBhvr>
                                      <p:to>
                                        <p:strVal val="visible"/>
                                      </p:to>
                                    </p:set>
                                    <p:animEffect transition="in" filter="blinds(vertical)">
                                      <p:cBhvr>
                                        <p:cTn id="7" dur="500"/>
                                        <p:tgtEl>
                                          <p:spTgt spid="12291"/>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2297"/>
                                        </p:tgtEl>
                                        <p:attrNameLst>
                                          <p:attrName>style.visibility</p:attrName>
                                        </p:attrNameLst>
                                      </p:cBhvr>
                                      <p:to>
                                        <p:strVal val="visible"/>
                                      </p:to>
                                    </p:set>
                                    <p:anim calcmode="lin" valueType="num">
                                      <p:cBhvr>
                                        <p:cTn id="12" dur="500" fill="hold"/>
                                        <p:tgtEl>
                                          <p:spTgt spid="12297"/>
                                        </p:tgtEl>
                                        <p:attrNameLst>
                                          <p:attrName>ppt_w</p:attrName>
                                        </p:attrNameLst>
                                      </p:cBhvr>
                                      <p:tavLst>
                                        <p:tav tm="0">
                                          <p:val>
                                            <p:fltVal val="0"/>
                                          </p:val>
                                        </p:tav>
                                        <p:tav tm="100000">
                                          <p:val>
                                            <p:strVal val="#ppt_w"/>
                                          </p:val>
                                        </p:tav>
                                      </p:tavLst>
                                    </p:anim>
                                    <p:anim calcmode="lin" valueType="num">
                                      <p:cBhvr>
                                        <p:cTn id="13" dur="500" fill="hold"/>
                                        <p:tgtEl>
                                          <p:spTgt spid="12297"/>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2396"/>
                                        </p:tgtEl>
                                        <p:attrNameLst>
                                          <p:attrName>style.visibility</p:attrName>
                                        </p:attrNameLst>
                                      </p:cBhvr>
                                      <p:to>
                                        <p:strVal val="visible"/>
                                      </p:to>
                                    </p:set>
                                    <p:animEffect transition="in" filter="box(out)">
                                      <p:cBhvr>
                                        <p:cTn id="18" dur="500"/>
                                        <p:tgtEl>
                                          <p:spTgt spid="12396"/>
                                        </p:tgtEl>
                                      </p:cBhvr>
                                    </p:animEffect>
                                  </p:childTnLst>
                                </p:cTn>
                              </p:par>
                            </p:childTnLst>
                          </p:cTn>
                        </p:par>
                        <p:par>
                          <p:cTn id="19" fill="hold">
                            <p:stCondLst>
                              <p:cond delay="500"/>
                            </p:stCondLst>
                            <p:childTnLst>
                              <p:par>
                                <p:cTn id="20" presetID="17" presetClass="entr" presetSubtype="4" fill="hold" grpId="0" nodeType="afterEffect">
                                  <p:stCondLst>
                                    <p:cond delay="0"/>
                                  </p:stCondLst>
                                  <p:childTnLst>
                                    <p:set>
                                      <p:cBhvr>
                                        <p:cTn id="21" dur="1" fill="hold">
                                          <p:stCondLst>
                                            <p:cond delay="0"/>
                                          </p:stCondLst>
                                        </p:cTn>
                                        <p:tgtEl>
                                          <p:spTgt spid="12296"/>
                                        </p:tgtEl>
                                        <p:attrNameLst>
                                          <p:attrName>style.visibility</p:attrName>
                                        </p:attrNameLst>
                                      </p:cBhvr>
                                      <p:to>
                                        <p:strVal val="visible"/>
                                      </p:to>
                                    </p:set>
                                    <p:anim calcmode="lin" valueType="num">
                                      <p:cBhvr>
                                        <p:cTn id="22" dur="500" fill="hold"/>
                                        <p:tgtEl>
                                          <p:spTgt spid="12296"/>
                                        </p:tgtEl>
                                        <p:attrNameLst>
                                          <p:attrName>ppt_x</p:attrName>
                                        </p:attrNameLst>
                                      </p:cBhvr>
                                      <p:tavLst>
                                        <p:tav tm="0">
                                          <p:val>
                                            <p:strVal val="#ppt_x"/>
                                          </p:val>
                                        </p:tav>
                                        <p:tav tm="100000">
                                          <p:val>
                                            <p:strVal val="#ppt_x"/>
                                          </p:val>
                                        </p:tav>
                                      </p:tavLst>
                                    </p:anim>
                                    <p:anim calcmode="lin" valueType="num">
                                      <p:cBhvr>
                                        <p:cTn id="23" dur="500" fill="hold"/>
                                        <p:tgtEl>
                                          <p:spTgt spid="12296"/>
                                        </p:tgtEl>
                                        <p:attrNameLst>
                                          <p:attrName>ppt_y</p:attrName>
                                        </p:attrNameLst>
                                      </p:cBhvr>
                                      <p:tavLst>
                                        <p:tav tm="0">
                                          <p:val>
                                            <p:strVal val="#ppt_y+#ppt_h/2"/>
                                          </p:val>
                                        </p:tav>
                                        <p:tav tm="100000">
                                          <p:val>
                                            <p:strVal val="#ppt_y"/>
                                          </p:val>
                                        </p:tav>
                                      </p:tavLst>
                                    </p:anim>
                                    <p:anim calcmode="lin" valueType="num">
                                      <p:cBhvr>
                                        <p:cTn id="24" dur="500" fill="hold"/>
                                        <p:tgtEl>
                                          <p:spTgt spid="12296"/>
                                        </p:tgtEl>
                                        <p:attrNameLst>
                                          <p:attrName>ppt_w</p:attrName>
                                        </p:attrNameLst>
                                      </p:cBhvr>
                                      <p:tavLst>
                                        <p:tav tm="0">
                                          <p:val>
                                            <p:strVal val="#ppt_w"/>
                                          </p:val>
                                        </p:tav>
                                        <p:tav tm="100000">
                                          <p:val>
                                            <p:strVal val="#ppt_w"/>
                                          </p:val>
                                        </p:tav>
                                      </p:tavLst>
                                    </p:anim>
                                    <p:anim calcmode="lin" valueType="num">
                                      <p:cBhvr>
                                        <p:cTn id="25" dur="500" fill="hold"/>
                                        <p:tgtEl>
                                          <p:spTgt spid="1229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p:bldP spid="12296" grpId="0"/>
      <p:bldP spid="1229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15361"/>
          <p:cNvSpPr>
            <a:spLocks noGrp="1"/>
          </p:cNvSpPr>
          <p:nvPr>
            <p:ph type="title"/>
          </p:nvPr>
        </p:nvSpPr>
        <p:spPr>
          <a:noFill/>
          <a:ln>
            <a:noFill/>
          </a:ln>
        </p:spPr>
        <p:txBody>
          <a:bodyPr anchor="ctr"/>
          <a:lstStyle/>
          <a:p>
            <a:r>
              <a:rPr lang="zh-CN" altLang="en-US" sz="3200" dirty="0">
                <a:solidFill>
                  <a:srgbClr val="C00000"/>
                </a:solidFill>
                <a:latin typeface="隶书" panose="02010509060101010101" pitchFamily="49" charset="-122"/>
                <a:ea typeface="隶书" panose="02010509060101010101" pitchFamily="49" charset="-122"/>
              </a:rPr>
              <a:t>大气的主要污染物</a:t>
            </a:r>
          </a:p>
        </p:txBody>
      </p:sp>
      <p:sp>
        <p:nvSpPr>
          <p:cNvPr id="15363" name="内容占位符 15362"/>
          <p:cNvSpPr>
            <a:spLocks noGrp="1"/>
          </p:cNvSpPr>
          <p:nvPr>
            <p:ph idx="1"/>
          </p:nvPr>
        </p:nvSpPr>
        <p:spPr>
          <a:xfrm>
            <a:off x="457200" y="1165860"/>
            <a:ext cx="8229600" cy="4525963"/>
          </a:xfrm>
          <a:noFill/>
          <a:ln>
            <a:noFill/>
          </a:ln>
        </p:spPr>
        <p:txBody>
          <a:bodyPr anchor="t"/>
          <a:lstStyle/>
          <a:p>
            <a:pPr lvl="2">
              <a:buNone/>
            </a:pPr>
            <a:r>
              <a:rPr lang="en-US" altLang="zh-CN" dirty="0"/>
              <a:t>            </a:t>
            </a:r>
            <a:r>
              <a:rPr lang="zh-CN" altLang="en-US" sz="2000" b="1" dirty="0">
                <a:cs typeface="Arial" panose="020B0604020202020204" pitchFamily="34" charset="0"/>
              </a:rPr>
              <a:t>一次污染物</a:t>
            </a:r>
            <a:r>
              <a:rPr lang="en-US" altLang="zh-CN" sz="2000" b="1"/>
              <a:t>——</a:t>
            </a:r>
            <a:r>
              <a:rPr lang="zh-CN" altLang="en-US" sz="2000" b="1" dirty="0">
                <a:cs typeface="Arial" panose="020B0604020202020204" pitchFamily="34" charset="0"/>
              </a:rPr>
              <a:t>从不同污染源直接向大气排放的有害</a:t>
            </a:r>
          </a:p>
          <a:p>
            <a:pPr lvl="2">
              <a:buNone/>
            </a:pPr>
            <a:r>
              <a:rPr lang="zh-CN" altLang="en-US" sz="2000" b="1" dirty="0">
                <a:cs typeface="Arial" panose="020B0604020202020204" pitchFamily="34" charset="0"/>
              </a:rPr>
              <a:t>                                           气体和粉尘等。</a:t>
            </a:r>
          </a:p>
          <a:p>
            <a:pPr>
              <a:buNone/>
            </a:pPr>
            <a:r>
              <a:rPr lang="zh-CN" altLang="en-US" sz="2000" b="1" dirty="0"/>
              <a:t>  </a:t>
            </a:r>
          </a:p>
          <a:p>
            <a:pPr>
              <a:buNone/>
            </a:pPr>
            <a:r>
              <a:rPr lang="zh-CN" altLang="en-US" sz="2000" b="1" dirty="0"/>
              <a:t>                             二次污染物</a:t>
            </a:r>
            <a:r>
              <a:rPr lang="en-US" altLang="zh-CN" sz="2000" b="1"/>
              <a:t>——</a:t>
            </a:r>
            <a:r>
              <a:rPr lang="zh-CN" altLang="en-US" sz="2000" b="1" dirty="0"/>
              <a:t>大气污染物之间相互作用或污染物与    </a:t>
            </a:r>
          </a:p>
          <a:p>
            <a:pPr>
              <a:buNone/>
            </a:pPr>
            <a:r>
              <a:rPr lang="zh-CN" altLang="en-US" sz="2000" b="1" dirty="0"/>
              <a:t>                                                      大气中的正常成分作用或因太阳光引</a:t>
            </a:r>
          </a:p>
          <a:p>
            <a:pPr>
              <a:buNone/>
            </a:pPr>
            <a:r>
              <a:rPr lang="zh-CN" altLang="en-US" sz="2000" b="1" dirty="0"/>
              <a:t>                                                      起光化学反应等使污染物转换、产生</a:t>
            </a:r>
          </a:p>
          <a:p>
            <a:pPr>
              <a:buNone/>
            </a:pPr>
            <a:r>
              <a:rPr lang="zh-CN" altLang="en-US" sz="2000" b="1" dirty="0"/>
              <a:t>                                                      的新的污染物。</a:t>
            </a:r>
          </a:p>
          <a:p>
            <a:pPr>
              <a:buNone/>
            </a:pPr>
            <a:endParaRPr lang="zh-CN" altLang="en-US" sz="2000" b="1" dirty="0"/>
          </a:p>
        </p:txBody>
      </p:sp>
      <p:sp>
        <p:nvSpPr>
          <p:cNvPr id="15365" name="左大括号 15364"/>
          <p:cNvSpPr/>
          <p:nvPr/>
        </p:nvSpPr>
        <p:spPr>
          <a:xfrm>
            <a:off x="2209800" y="1417955"/>
            <a:ext cx="228600" cy="1295400"/>
          </a:xfrm>
          <a:prstGeom prst="leftBrace">
            <a:avLst>
              <a:gd name="adj1" fmla="val 47117"/>
              <a:gd name="adj2" fmla="val 50000"/>
            </a:avLst>
          </a:prstGeom>
          <a:noFill/>
          <a:ln w="28575" cap="flat" cmpd="sng">
            <a:solidFill>
              <a:srgbClr val="EC8C0C"/>
            </a:solidFill>
            <a:prstDash val="solid"/>
            <a:round/>
            <a:headEnd type="none" w="med" len="med"/>
            <a:tailEnd type="none" w="med" len="med"/>
          </a:ln>
        </p:spPr>
        <p:txBody>
          <a:bodyPr anchor="t"/>
          <a:lstStyle/>
          <a:p>
            <a:endParaRPr lang="zh-CN" altLang="en-US">
              <a:latin typeface="Times New Roman" panose="02020603050405020304" pitchFamily="18" charset="0"/>
              <a:ea typeface="宋体" panose="02010600030101010101" pitchFamily="2" charset="-122"/>
            </a:endParaRPr>
          </a:p>
        </p:txBody>
      </p:sp>
      <p:sp>
        <p:nvSpPr>
          <p:cNvPr id="15366" name="文本框 15365"/>
          <p:cNvSpPr txBox="1"/>
          <p:nvPr/>
        </p:nvSpPr>
        <p:spPr>
          <a:xfrm>
            <a:off x="2209800" y="3733800"/>
            <a:ext cx="3810000" cy="396875"/>
          </a:xfrm>
          <a:prstGeom prst="rect">
            <a:avLst/>
          </a:prstGeom>
          <a:noFill/>
          <a:ln w="9525">
            <a:noFill/>
          </a:ln>
        </p:spPr>
        <p:txBody>
          <a:bodyPr anchor="t">
            <a:spAutoFit/>
          </a:bodyPr>
          <a:lstStyle/>
          <a:p>
            <a:r>
              <a:rPr lang="en-US" altLang="zh-CN" sz="2000" b="1" dirty="0">
                <a:solidFill>
                  <a:srgbClr val="FFFF00"/>
                </a:solidFill>
                <a:latin typeface="Times New Roman" panose="02020603050405020304" pitchFamily="18" charset="0"/>
                <a:ea typeface="宋体" panose="02010600030101010101" pitchFamily="2" charset="-122"/>
              </a:rPr>
              <a:t>            </a:t>
            </a:r>
            <a:r>
              <a:rPr lang="zh-CN" altLang="en-US" sz="2000" b="1" dirty="0">
                <a:latin typeface="Times New Roman" panose="02020603050405020304" pitchFamily="18" charset="0"/>
                <a:ea typeface="宋体" panose="02010600030101010101" pitchFamily="2" charset="-122"/>
              </a:rPr>
              <a:t>主要大气污染物</a:t>
            </a:r>
          </a:p>
        </p:txBody>
      </p:sp>
      <p:graphicFrame>
        <p:nvGraphicFramePr>
          <p:cNvPr id="15367" name="对象 15366"/>
          <p:cNvGraphicFramePr>
            <a:graphicFrameLocks/>
          </p:cNvGraphicFramePr>
          <p:nvPr/>
        </p:nvGraphicFramePr>
        <p:xfrm>
          <a:off x="617538" y="4130675"/>
          <a:ext cx="7907337" cy="2498725"/>
        </p:xfrm>
        <a:graphic>
          <a:graphicData uri="http://schemas.openxmlformats.org/presentationml/2006/ole">
            <mc:AlternateContent xmlns:mc="http://schemas.openxmlformats.org/markup-compatibility/2006">
              <mc:Choice xmlns:v="urn:schemas-microsoft-com:vml" Requires="v">
                <p:oleObj r:id="rId3" imgW="44424600" imgH="14116050" progId="Word.Document.8">
                  <p:embed/>
                </p:oleObj>
              </mc:Choice>
              <mc:Fallback>
                <p:oleObj r:id="rId3" imgW="44424600" imgH="14116050" progId="Word.Document.8">
                  <p:embed/>
                  <p:pic>
                    <p:nvPicPr>
                      <p:cNvPr id="0" name="Picture 1" descr="image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538" y="4130675"/>
                        <a:ext cx="7907337" cy="2498725"/>
                      </a:xfrm>
                      <a:prstGeom prst="rect">
                        <a:avLst/>
                      </a:prstGeom>
                      <a:solidFill>
                        <a:srgbClr val="3C8C93"/>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368" name="文本框 15367"/>
          <p:cNvSpPr txBox="1"/>
          <p:nvPr/>
        </p:nvSpPr>
        <p:spPr>
          <a:xfrm>
            <a:off x="457200" y="1676400"/>
            <a:ext cx="1676400" cy="396875"/>
          </a:xfrm>
          <a:prstGeom prst="rect">
            <a:avLst/>
          </a:prstGeom>
          <a:noFill/>
          <a:ln w="9525">
            <a:noFill/>
          </a:ln>
        </p:spPr>
        <p:txBody>
          <a:bodyPr anchor="t">
            <a:spAutoFit/>
          </a:bodyPr>
          <a:lstStyle/>
          <a:p>
            <a:pPr>
              <a:spcBef>
                <a:spcPct val="50000"/>
              </a:spcBef>
            </a:pPr>
            <a:r>
              <a:rPr lang="en-US" altLang="zh-CN" sz="1800" b="1">
                <a:solidFill>
                  <a:schemeClr val="bg1"/>
                </a:solidFill>
                <a:latin typeface="Times New Roman" panose="02020603050405020304" pitchFamily="18" charset="0"/>
                <a:ea typeface="宋体" panose="02010600030101010101" pitchFamily="2" charset="-122"/>
              </a:rPr>
              <a:t> </a:t>
            </a:r>
            <a:r>
              <a:rPr lang="zh-CN" altLang="en-US" sz="2000" b="1" dirty="0">
                <a:solidFill>
                  <a:srgbClr val="C00000"/>
                </a:solidFill>
                <a:latin typeface="Times New Roman" panose="02020603050405020304" pitchFamily="18" charset="0"/>
                <a:ea typeface="宋体" panose="02010600030101010101" pitchFamily="2" charset="-122"/>
              </a:rPr>
              <a:t>大气污染物</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8"/>
                                        </p:tgtEl>
                                        <p:attrNameLst>
                                          <p:attrName>style.visibility</p:attrName>
                                        </p:attrNameLst>
                                      </p:cBhvr>
                                      <p:to>
                                        <p:strVal val="visible"/>
                                      </p:to>
                                    </p:set>
                                    <p:animEffect transition="in" filter="blinds(horizontal)">
                                      <p:cBhvr>
                                        <p:cTn id="7" dur="500"/>
                                        <p:tgtEl>
                                          <p:spTgt spid="15368"/>
                                        </p:tgtEl>
                                      </p:cBhvr>
                                    </p:animEffect>
                                  </p:childTnLst>
                                </p:cTn>
                              </p:par>
                            </p:childTnLst>
                          </p:cTn>
                        </p:par>
                        <p:par>
                          <p:cTn id="8" fill="hold">
                            <p:stCondLst>
                              <p:cond delay="500"/>
                            </p:stCondLst>
                            <p:childTnLst>
                              <p:par>
                                <p:cTn id="9" presetID="5" presetClass="entr" presetSubtype="5" fill="hold" nodeType="afterEffect">
                                  <p:stCondLst>
                                    <p:cond delay="0"/>
                                  </p:stCondLst>
                                  <p:childTnLst>
                                    <p:set>
                                      <p:cBhvr>
                                        <p:cTn id="10" dur="1" fill="hold">
                                          <p:stCondLst>
                                            <p:cond delay="0"/>
                                          </p:stCondLst>
                                        </p:cTn>
                                        <p:tgtEl>
                                          <p:spTgt spid="15365"/>
                                        </p:tgtEl>
                                        <p:attrNameLst>
                                          <p:attrName>style.visibility</p:attrName>
                                        </p:attrNameLst>
                                      </p:cBhvr>
                                      <p:to>
                                        <p:strVal val="visible"/>
                                      </p:to>
                                    </p:set>
                                    <p:animEffect transition="in" filter="checkerboard(down)">
                                      <p:cBhvr>
                                        <p:cTn id="11" dur="500"/>
                                        <p:tgtEl>
                                          <p:spTgt spid="1536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5363"/>
                                        </p:tgtEl>
                                        <p:attrNameLst>
                                          <p:attrName>style.visibility</p:attrName>
                                        </p:attrNameLst>
                                      </p:cBhvr>
                                      <p:to>
                                        <p:strVal val="visible"/>
                                      </p:to>
                                    </p:set>
                                    <p:animEffect transition="in" filter="blinds(horizontal)">
                                      <p:cBhvr>
                                        <p:cTn id="16" dur="500"/>
                                        <p:tgtEl>
                                          <p:spTgt spid="1536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5366"/>
                                        </p:tgtEl>
                                        <p:attrNameLst>
                                          <p:attrName>style.visibility</p:attrName>
                                        </p:attrNameLst>
                                      </p:cBhvr>
                                      <p:to>
                                        <p:strVal val="visible"/>
                                      </p:to>
                                    </p:set>
                                    <p:animEffect transition="in" filter="dissolve">
                                      <p:cBhvr>
                                        <p:cTn id="21" dur="500"/>
                                        <p:tgtEl>
                                          <p:spTgt spid="15366"/>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15367"/>
                                        </p:tgtEl>
                                        <p:attrNameLst>
                                          <p:attrName>style.visibility</p:attrName>
                                        </p:attrNameLst>
                                      </p:cBhvr>
                                      <p:to>
                                        <p:strVal val="visible"/>
                                      </p:to>
                                    </p:set>
                                    <p:animEffect transition="in" filter="box(out)">
                                      <p:cBhvr>
                                        <p:cTn id="26" dur="500"/>
                                        <p:tgtEl>
                                          <p:spTgt spid="15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p:bldP spid="15366" grpId="0"/>
      <p:bldP spid="1536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7409"/>
          <p:cNvSpPr>
            <a:spLocks noGrp="1"/>
          </p:cNvSpPr>
          <p:nvPr>
            <p:ph type="title"/>
          </p:nvPr>
        </p:nvSpPr>
        <p:spPr>
          <a:xfrm>
            <a:off x="304800" y="619443"/>
            <a:ext cx="8229600" cy="1143000"/>
          </a:xfrm>
          <a:noFill/>
          <a:ln>
            <a:noFill/>
          </a:ln>
        </p:spPr>
        <p:txBody>
          <a:bodyPr anchor="ctr"/>
          <a:lstStyle/>
          <a:p>
            <a:r>
              <a:rPr lang="zh-CN" altLang="en-US" sz="3200" b="1" dirty="0">
                <a:solidFill>
                  <a:srgbClr val="C00000"/>
                </a:solidFill>
                <a:latin typeface="隶书" panose="02010509060101010101" pitchFamily="49" charset="-122"/>
                <a:ea typeface="隶书" panose="02010509060101010101" pitchFamily="49" charset="-122"/>
              </a:rPr>
              <a:t>（</a:t>
            </a:r>
            <a:r>
              <a:rPr lang="en-US" altLang="zh-CN" sz="3200" b="1" dirty="0">
                <a:solidFill>
                  <a:srgbClr val="C00000"/>
                </a:solidFill>
                <a:latin typeface="隶书" panose="02010509060101010101" pitchFamily="49" charset="-122"/>
                <a:ea typeface="隶书" panose="02010509060101010101" pitchFamily="49" charset="-122"/>
              </a:rPr>
              <a:t>1</a:t>
            </a:r>
            <a:r>
              <a:rPr lang="zh-CN" altLang="en-US" sz="3200" b="1" dirty="0">
                <a:solidFill>
                  <a:srgbClr val="C00000"/>
                </a:solidFill>
                <a:latin typeface="隶书" panose="02010509060101010101" pitchFamily="49" charset="-122"/>
                <a:ea typeface="隶书" panose="02010509060101010101" pitchFamily="49" charset="-122"/>
              </a:rPr>
              <a:t>）颗粒物（煤烟、粉尘）</a:t>
            </a:r>
            <a:endParaRPr lang="zh-CN" altLang="en-US" sz="3600" dirty="0">
              <a:solidFill>
                <a:srgbClr val="C00000"/>
              </a:solidFill>
              <a:latin typeface="隶书" panose="02010509060101010101" pitchFamily="49" charset="-122"/>
              <a:ea typeface="隶书" panose="02010509060101010101" pitchFamily="49" charset="-122"/>
            </a:endParaRPr>
          </a:p>
        </p:txBody>
      </p:sp>
      <p:sp>
        <p:nvSpPr>
          <p:cNvPr id="17411" name="内容占位符 17410"/>
          <p:cNvSpPr>
            <a:spLocks noGrp="1"/>
          </p:cNvSpPr>
          <p:nvPr>
            <p:ph idx="1"/>
          </p:nvPr>
        </p:nvSpPr>
        <p:spPr>
          <a:xfrm>
            <a:off x="457200" y="1584960"/>
            <a:ext cx="7927975" cy="3103880"/>
          </a:xfrm>
          <a:noFill/>
          <a:ln>
            <a:noFill/>
          </a:ln>
        </p:spPr>
        <p:txBody>
          <a:bodyPr anchor="t"/>
          <a:lstStyle/>
          <a:p>
            <a:pPr>
              <a:buNone/>
            </a:pPr>
            <a:r>
              <a:rPr lang="zh-CN" altLang="en-US" sz="2400" b="1" dirty="0">
                <a:solidFill>
                  <a:schemeClr val="tx1"/>
                </a:solidFill>
              </a:rPr>
              <a:t>污染源</a:t>
            </a:r>
          </a:p>
          <a:p>
            <a:pPr>
              <a:buNone/>
            </a:pPr>
            <a:r>
              <a:rPr lang="en-US" altLang="zh-CN" sz="2400" b="1" dirty="0">
                <a:solidFill>
                  <a:schemeClr val="tx1"/>
                </a:solidFill>
              </a:rPr>
              <a:t>①</a:t>
            </a:r>
            <a:r>
              <a:rPr lang="zh-CN" altLang="en-US" sz="2400" b="1" dirty="0">
                <a:solidFill>
                  <a:schemeClr val="tx1"/>
                </a:solidFill>
              </a:rPr>
              <a:t>煤、石油燃烧（占</a:t>
            </a:r>
            <a:r>
              <a:rPr lang="en-US" altLang="zh-CN" sz="2400" b="1" dirty="0">
                <a:solidFill>
                  <a:schemeClr val="tx1"/>
                </a:solidFill>
              </a:rPr>
              <a:t>60%</a:t>
            </a:r>
            <a:r>
              <a:rPr lang="zh-CN" altLang="en-US" sz="2400" b="1" dirty="0">
                <a:solidFill>
                  <a:schemeClr val="tx1"/>
                </a:solidFill>
              </a:rPr>
              <a:t>）</a:t>
            </a:r>
            <a:r>
              <a:rPr lang="en-US" altLang="zh-CN" sz="2400" b="1" dirty="0">
                <a:solidFill>
                  <a:schemeClr val="tx1"/>
                </a:solidFill>
              </a:rPr>
              <a:t>②</a:t>
            </a:r>
            <a:r>
              <a:rPr lang="zh-CN" altLang="en-US" sz="2400" b="1" dirty="0">
                <a:solidFill>
                  <a:schemeClr val="tx1"/>
                </a:solidFill>
              </a:rPr>
              <a:t>矿山、金属冶炼等  </a:t>
            </a:r>
            <a:r>
              <a:rPr lang="en-US" altLang="zh-CN" sz="2400" b="1" dirty="0">
                <a:solidFill>
                  <a:schemeClr val="tx1"/>
                </a:solidFill>
              </a:rPr>
              <a:t>③</a:t>
            </a:r>
            <a:r>
              <a:rPr lang="zh-CN" altLang="en-US" sz="2400" b="1" dirty="0">
                <a:solidFill>
                  <a:schemeClr val="tx1"/>
                </a:solidFill>
              </a:rPr>
              <a:t>火山、岩石风化。</a:t>
            </a:r>
          </a:p>
          <a:p>
            <a:pPr>
              <a:buNone/>
            </a:pPr>
            <a:r>
              <a:rPr lang="en-US" altLang="zh-CN" sz="2400" b="1" dirty="0">
                <a:solidFill>
                  <a:schemeClr val="tx1"/>
                </a:solidFill>
              </a:rPr>
              <a:t>1</a:t>
            </a:r>
            <a:r>
              <a:rPr lang="zh-CN" altLang="en-US" sz="2400" b="1" dirty="0">
                <a:solidFill>
                  <a:schemeClr val="tx1"/>
                </a:solidFill>
              </a:rPr>
              <a:t>）降尘</a:t>
            </a:r>
            <a:r>
              <a:rPr lang="en-US" altLang="zh-CN" sz="2400" b="1">
                <a:solidFill>
                  <a:schemeClr val="tx1"/>
                </a:solidFill>
              </a:rPr>
              <a:t>——</a:t>
            </a:r>
            <a:r>
              <a:rPr lang="en-US" altLang="zh-CN" sz="2400" b="1" dirty="0">
                <a:solidFill>
                  <a:schemeClr val="tx1"/>
                </a:solidFill>
              </a:rPr>
              <a:t> </a:t>
            </a:r>
            <a:r>
              <a:rPr lang="zh-CN" altLang="en-US" sz="2400" b="1" dirty="0">
                <a:solidFill>
                  <a:schemeClr val="tx1"/>
                </a:solidFill>
              </a:rPr>
              <a:t>直径＞</a:t>
            </a:r>
            <a:r>
              <a:rPr lang="en-US" altLang="zh-CN" sz="2400" b="1" dirty="0">
                <a:solidFill>
                  <a:schemeClr val="tx1"/>
                </a:solidFill>
              </a:rPr>
              <a:t>10μm</a:t>
            </a:r>
            <a:r>
              <a:rPr lang="zh-CN" altLang="en-US" sz="2400" b="1" dirty="0">
                <a:solidFill>
                  <a:schemeClr val="tx1"/>
                </a:solidFill>
              </a:rPr>
              <a:t>，可因重力很快降落到地面。</a:t>
            </a:r>
          </a:p>
          <a:p>
            <a:pPr>
              <a:buNone/>
            </a:pPr>
            <a:r>
              <a:rPr lang="zh-CN" altLang="en-US" sz="2400" b="1" dirty="0">
                <a:solidFill>
                  <a:schemeClr val="tx1"/>
                </a:solidFill>
              </a:rPr>
              <a:t> </a:t>
            </a:r>
            <a:r>
              <a:rPr lang="en-US" altLang="zh-CN" sz="2400" b="1" dirty="0">
                <a:solidFill>
                  <a:schemeClr val="tx1"/>
                </a:solidFill>
              </a:rPr>
              <a:t>2</a:t>
            </a:r>
            <a:r>
              <a:rPr lang="zh-CN" altLang="en-US" sz="2400" b="1" dirty="0">
                <a:solidFill>
                  <a:schemeClr val="tx1"/>
                </a:solidFill>
              </a:rPr>
              <a:t>）飘尘</a:t>
            </a:r>
            <a:r>
              <a:rPr lang="en-US" altLang="zh-CN" sz="2400" b="1">
                <a:solidFill>
                  <a:schemeClr val="tx1"/>
                </a:solidFill>
              </a:rPr>
              <a:t>——</a:t>
            </a:r>
            <a:r>
              <a:rPr lang="en-US" altLang="zh-CN" sz="2400" b="1" dirty="0">
                <a:solidFill>
                  <a:schemeClr val="tx1"/>
                </a:solidFill>
              </a:rPr>
              <a:t> </a:t>
            </a:r>
            <a:r>
              <a:rPr lang="zh-CN" altLang="en-US" sz="2400" b="1" dirty="0">
                <a:solidFill>
                  <a:schemeClr val="tx1"/>
                </a:solidFill>
              </a:rPr>
              <a:t>直径＜</a:t>
            </a:r>
            <a:r>
              <a:rPr lang="en-US" altLang="zh-CN" sz="2400" b="1" dirty="0">
                <a:solidFill>
                  <a:schemeClr val="tx1"/>
                </a:solidFill>
              </a:rPr>
              <a:t>10μm</a:t>
            </a:r>
            <a:r>
              <a:rPr lang="zh-CN" altLang="en-US" sz="2400" b="1" dirty="0">
                <a:solidFill>
                  <a:schemeClr val="tx1"/>
                </a:solidFill>
              </a:rPr>
              <a:t>，以气溶胶的形式长期飘浮在空中。</a:t>
            </a:r>
          </a:p>
          <a:p>
            <a:pPr>
              <a:buNone/>
            </a:pPr>
            <a:r>
              <a:rPr lang="zh-CN" altLang="en-US" sz="2400" b="1" dirty="0">
                <a:solidFill>
                  <a:schemeClr val="tx1"/>
                </a:solidFill>
              </a:rPr>
              <a:t>其中</a:t>
            </a:r>
            <a:r>
              <a:rPr lang="en-US" altLang="zh-CN" sz="2400" b="1" dirty="0">
                <a:solidFill>
                  <a:schemeClr val="tx1"/>
                </a:solidFill>
              </a:rPr>
              <a:t>0.5~5μm</a:t>
            </a:r>
            <a:r>
              <a:rPr lang="zh-CN" altLang="en-US" sz="2400" b="1" dirty="0">
                <a:solidFill>
                  <a:schemeClr val="tx1"/>
                </a:solidFill>
              </a:rPr>
              <a:t>的飘尘 对人体危害最大。</a:t>
            </a:r>
          </a:p>
        </p:txBody>
      </p:sp>
      <p:sp>
        <p:nvSpPr>
          <p:cNvPr id="17413" name="动作按钮: 自定义 17412">
            <a:hlinkClick r:id="rId2" action="ppaction://hlinksldjump"/>
          </p:cNvPr>
          <p:cNvSpPr/>
          <p:nvPr/>
        </p:nvSpPr>
        <p:spPr>
          <a:xfrm>
            <a:off x="8534400" y="6324600"/>
            <a:ext cx="381000" cy="304800"/>
          </a:xfrm>
          <a:prstGeom prst="actionButtonBlank">
            <a:avLst/>
          </a:prstGeom>
          <a:solidFill>
            <a:schemeClr val="accent1"/>
          </a:solidFill>
          <a:ln w="9525">
            <a:noFill/>
          </a:ln>
        </p:spPr>
        <p:txBody>
          <a:bodyPr anchor="t"/>
          <a:lstStyle/>
          <a:p>
            <a:endParaRPr lang="zh-CN" altLang="en-US">
              <a:latin typeface="Times New Roman" panose="02020603050405020304" pitchFamily="18" charset="0"/>
              <a:ea typeface="宋体" panose="02010600030101010101" pitchFamily="2"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blinds(horizontal)">
                                      <p:cBhvr>
                                        <p:cTn id="7" dur="5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12" dur="500"/>
                                        <p:tgtEl>
                                          <p:spTgt spid="174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7" dur="500"/>
                                        <p:tgtEl>
                                          <p:spTgt spid="174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411">
                                            <p:txEl>
                                              <p:pRg st="3" end="3"/>
                                            </p:txEl>
                                          </p:spTgt>
                                        </p:tgtEl>
                                        <p:attrNameLst>
                                          <p:attrName>style.visibility</p:attrName>
                                        </p:attrNameLst>
                                      </p:cBhvr>
                                      <p:to>
                                        <p:strVal val="visible"/>
                                      </p:to>
                                    </p:set>
                                    <p:animEffect transition="in" filter="blinds(horizontal)">
                                      <p:cBhvr>
                                        <p:cTn id="22" dur="500"/>
                                        <p:tgtEl>
                                          <p:spTgt spid="174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411">
                                            <p:txEl>
                                              <p:pRg st="4" end="4"/>
                                            </p:txEl>
                                          </p:spTgt>
                                        </p:tgtEl>
                                        <p:attrNameLst>
                                          <p:attrName>style.visibility</p:attrName>
                                        </p:attrNameLst>
                                      </p:cBhvr>
                                      <p:to>
                                        <p:strVal val="visible"/>
                                      </p:to>
                                    </p:set>
                                    <p:animEffect transition="in" filter="blinds(horizontal)">
                                      <p:cBhvr>
                                        <p:cTn id="27" dur="500"/>
                                        <p:tgtEl>
                                          <p:spTgt spid="174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7413"/>
                                        </p:tgtEl>
                                        <p:attrNameLst>
                                          <p:attrName>style.visibility</p:attrName>
                                        </p:attrNameLst>
                                      </p:cBhvr>
                                      <p:to>
                                        <p:strVal val="visible"/>
                                      </p:to>
                                    </p:set>
                                    <p:animEffect transition="in" filter="dissolve">
                                      <p:cBhvr>
                                        <p:cTn id="32" dur="500"/>
                                        <p:tgtEl>
                                          <p:spTgt spid="17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文本框 17413"/>
          <p:cNvSpPr txBox="1"/>
          <p:nvPr/>
        </p:nvSpPr>
        <p:spPr>
          <a:xfrm>
            <a:off x="49530" y="1151890"/>
            <a:ext cx="9372600" cy="5015865"/>
          </a:xfrm>
          <a:prstGeom prst="rect">
            <a:avLst/>
          </a:prstGeom>
          <a:noFill/>
          <a:ln w="9525">
            <a:noFill/>
          </a:ln>
        </p:spPr>
        <p:txBody>
          <a:bodyPr wrap="square" anchor="t">
            <a:spAutoFit/>
          </a:bodyPr>
          <a:lstStyle/>
          <a:p>
            <a:pPr>
              <a:spcBef>
                <a:spcPct val="20000"/>
              </a:spcBef>
            </a:pPr>
            <a:r>
              <a:rPr lang="en-US" altLang="zh-CN" sz="2800" dirty="0">
                <a:solidFill>
                  <a:srgbClr val="FF3300"/>
                </a:solidFill>
                <a:latin typeface="Times New Roman" panose="02020603050405020304" pitchFamily="18" charset="0"/>
                <a:ea typeface="宋体" panose="02010600030101010101" pitchFamily="2" charset="-122"/>
              </a:rPr>
              <a:t>    </a:t>
            </a:r>
            <a:r>
              <a:rPr lang="zh-CN" altLang="en-US" sz="3200" b="1" dirty="0">
                <a:solidFill>
                  <a:srgbClr val="FF3300"/>
                </a:solidFill>
                <a:latin typeface="Times New Roman" panose="02020603050405020304" pitchFamily="18" charset="0"/>
                <a:ea typeface="宋体" panose="02010600030101010101" pitchFamily="2" charset="-122"/>
              </a:rPr>
              <a:t>飘尘的危害：</a:t>
            </a:r>
            <a:endParaRPr lang="zh-CN" altLang="en-US" b="1" dirty="0">
              <a:solidFill>
                <a:schemeClr val="tx1"/>
              </a:solidFill>
              <a:latin typeface="Times New Roman" panose="02020603050405020304" pitchFamily="18" charset="0"/>
              <a:ea typeface="宋体" panose="02010600030101010101" pitchFamily="2" charset="-122"/>
            </a:endParaRPr>
          </a:p>
          <a:p>
            <a:pPr lvl="1" indent="0">
              <a:lnSpc>
                <a:spcPct val="150000"/>
              </a:lnSpc>
              <a:spcBef>
                <a:spcPts val="0"/>
              </a:spcBef>
              <a:buFont typeface="Wingdings" panose="05000000000000000000" pitchFamily="2" charset="2"/>
              <a:buChar char="l"/>
            </a:pPr>
            <a:r>
              <a:rPr lang="zh-CN" altLang="en-US" b="1" dirty="0">
                <a:solidFill>
                  <a:schemeClr val="tx1"/>
                </a:solidFill>
                <a:latin typeface="Times New Roman" panose="02020603050405020304" pitchFamily="18" charset="0"/>
                <a:ea typeface="宋体" panose="02010600030101010101" pitchFamily="2" charset="-122"/>
              </a:rPr>
              <a:t>可直接到达人体肺部，造成矽肺、呼吸道疾病。</a:t>
            </a:r>
          </a:p>
          <a:p>
            <a:pPr lvl="1" indent="0">
              <a:lnSpc>
                <a:spcPct val="150000"/>
              </a:lnSpc>
              <a:spcBef>
                <a:spcPts val="0"/>
              </a:spcBef>
              <a:buFont typeface="Wingdings" panose="05000000000000000000" pitchFamily="2" charset="2"/>
              <a:buChar char="l"/>
            </a:pPr>
            <a:r>
              <a:rPr lang="zh-CN" altLang="en-US" b="1" dirty="0">
                <a:solidFill>
                  <a:schemeClr val="tx1"/>
                </a:solidFill>
                <a:latin typeface="Times New Roman" panose="02020603050405020304" pitchFamily="18" charset="0"/>
                <a:ea typeface="宋体" panose="02010600030101010101" pitchFamily="2" charset="-122"/>
              </a:rPr>
              <a:t>表面积巨大，可吸附污染物，造成粉尘与污染物协同作用（如伦敦型烟雾）</a:t>
            </a:r>
          </a:p>
          <a:p>
            <a:pPr lvl="1" indent="0">
              <a:lnSpc>
                <a:spcPct val="150000"/>
              </a:lnSpc>
              <a:spcBef>
                <a:spcPts val="0"/>
              </a:spcBef>
              <a:buFont typeface="Wingdings" panose="05000000000000000000" pitchFamily="2" charset="2"/>
              <a:buChar char="l"/>
            </a:pPr>
            <a:r>
              <a:rPr lang="zh-CN" altLang="en-US" b="1" dirty="0">
                <a:solidFill>
                  <a:schemeClr val="tx1"/>
                </a:solidFill>
                <a:latin typeface="Times New Roman" panose="02020603050405020304" pitchFamily="18" charset="0"/>
                <a:ea typeface="宋体" panose="02010600030101010101" pitchFamily="2" charset="-122"/>
              </a:rPr>
              <a:t>颗粒物中的烟黑含有</a:t>
            </a:r>
            <a:r>
              <a:rPr lang="en-US" altLang="zh-CN" b="1" dirty="0">
                <a:solidFill>
                  <a:schemeClr val="tx1"/>
                </a:solidFill>
                <a:latin typeface="Times New Roman" panose="02020603050405020304" pitchFamily="18" charset="0"/>
                <a:ea typeface="宋体" panose="02010600030101010101" pitchFamily="2" charset="-122"/>
              </a:rPr>
              <a:t>C</a:t>
            </a:r>
            <a:r>
              <a:rPr lang="zh-CN" altLang="en-US" b="1" dirty="0">
                <a:solidFill>
                  <a:schemeClr val="tx1"/>
                </a:solidFill>
                <a:latin typeface="Times New Roman" panose="02020603050405020304" pitchFamily="18" charset="0"/>
                <a:ea typeface="宋体" panose="02010600030101010101" pitchFamily="2" charset="-122"/>
              </a:rPr>
              <a:t>、</a:t>
            </a:r>
            <a:r>
              <a:rPr lang="en-US" altLang="zh-CN" b="1" dirty="0">
                <a:solidFill>
                  <a:schemeClr val="tx1"/>
                </a:solidFill>
                <a:latin typeface="Times New Roman" panose="02020603050405020304" pitchFamily="18" charset="0"/>
                <a:ea typeface="宋体" panose="02010600030101010101" pitchFamily="2" charset="-122"/>
              </a:rPr>
              <a:t>H</a:t>
            </a:r>
            <a:r>
              <a:rPr lang="zh-CN" altLang="en-US" b="1" dirty="0">
                <a:solidFill>
                  <a:schemeClr val="tx1"/>
                </a:solidFill>
                <a:latin typeface="Times New Roman" panose="02020603050405020304" pitchFamily="18" charset="0"/>
                <a:ea typeface="宋体" panose="02010600030101010101" pitchFamily="2" charset="-122"/>
              </a:rPr>
              <a:t>、</a:t>
            </a:r>
            <a:r>
              <a:rPr lang="en-US" altLang="zh-CN" b="1" dirty="0">
                <a:solidFill>
                  <a:schemeClr val="tx1"/>
                </a:solidFill>
                <a:latin typeface="Times New Roman" panose="02020603050405020304" pitchFamily="18" charset="0"/>
                <a:ea typeface="宋体" panose="02010600030101010101" pitchFamily="2" charset="-122"/>
              </a:rPr>
              <a:t>O</a:t>
            </a:r>
            <a:r>
              <a:rPr lang="zh-CN" altLang="en-US" b="1" dirty="0">
                <a:solidFill>
                  <a:schemeClr val="tx1"/>
                </a:solidFill>
                <a:latin typeface="Times New Roman" panose="02020603050405020304" pitchFamily="18" charset="0"/>
                <a:ea typeface="宋体" panose="02010600030101010101" pitchFamily="2" charset="-122"/>
              </a:rPr>
              <a:t>、</a:t>
            </a:r>
            <a:r>
              <a:rPr lang="en-US" altLang="zh-CN" b="1" dirty="0">
                <a:solidFill>
                  <a:schemeClr val="tx1"/>
                </a:solidFill>
                <a:latin typeface="Times New Roman" panose="02020603050405020304" pitchFamily="18" charset="0"/>
                <a:ea typeface="宋体" panose="02010600030101010101" pitchFamily="2" charset="-122"/>
              </a:rPr>
              <a:t>S</a:t>
            </a:r>
            <a:r>
              <a:rPr lang="zh-CN" altLang="en-US" b="1" dirty="0">
                <a:solidFill>
                  <a:schemeClr val="tx1"/>
                </a:solidFill>
                <a:latin typeface="Times New Roman" panose="02020603050405020304" pitchFamily="18" charset="0"/>
                <a:ea typeface="宋体" panose="02010600030101010101" pitchFamily="2" charset="-122"/>
              </a:rPr>
              <a:t>的复杂有机化合物及多种稠环芳烃。如： </a:t>
            </a:r>
            <a:r>
              <a:rPr lang="en-US" altLang="zh-CN" b="1" dirty="0">
                <a:solidFill>
                  <a:schemeClr val="tx1"/>
                </a:solidFill>
                <a:latin typeface="Times New Roman" panose="02020603050405020304" pitchFamily="18" charset="0"/>
                <a:ea typeface="宋体" panose="02010600030101010101" pitchFamily="2" charset="-122"/>
              </a:rPr>
              <a:t>3</a:t>
            </a:r>
            <a:r>
              <a:rPr lang="zh-CN" altLang="en-US" b="1" dirty="0">
                <a:solidFill>
                  <a:schemeClr val="tx1"/>
                </a:solidFill>
                <a:latin typeface="Times New Roman" panose="02020603050405020304" pitchFamily="18" charset="0"/>
                <a:ea typeface="宋体" panose="02010600030101010101" pitchFamily="2" charset="-122"/>
              </a:rPr>
              <a:t>，</a:t>
            </a:r>
            <a:r>
              <a:rPr lang="en-US" altLang="zh-CN" b="1">
                <a:solidFill>
                  <a:schemeClr val="tx1"/>
                </a:solidFill>
                <a:latin typeface="Times New Roman" panose="02020603050405020304" pitchFamily="18" charset="0"/>
                <a:ea typeface="宋体" panose="02010600030101010101" pitchFamily="2" charset="-122"/>
              </a:rPr>
              <a:t>4-</a:t>
            </a:r>
            <a:r>
              <a:rPr lang="zh-CN" altLang="en-US" b="1" dirty="0">
                <a:solidFill>
                  <a:schemeClr val="tx1"/>
                </a:solidFill>
                <a:latin typeface="Times New Roman" panose="02020603050405020304" pitchFamily="18" charset="0"/>
                <a:ea typeface="宋体" panose="02010600030101010101" pitchFamily="2" charset="-122"/>
              </a:rPr>
              <a:t>苯并芘，一种强致癌物。</a:t>
            </a:r>
          </a:p>
          <a:p>
            <a:pPr lvl="1" indent="0">
              <a:lnSpc>
                <a:spcPct val="150000"/>
              </a:lnSpc>
              <a:spcBef>
                <a:spcPts val="0"/>
              </a:spcBef>
              <a:buFont typeface="Wingdings" panose="05000000000000000000" pitchFamily="2" charset="2"/>
              <a:buChar char="l"/>
            </a:pPr>
            <a:r>
              <a:rPr lang="zh-CN" altLang="en-US" b="1" dirty="0">
                <a:solidFill>
                  <a:schemeClr val="tx1"/>
                </a:solidFill>
                <a:latin typeface="Times New Roman" panose="02020603050405020304" pitchFamily="18" charset="0"/>
                <a:ea typeface="宋体" panose="02010600030101010101" pitchFamily="2" charset="-122"/>
              </a:rPr>
              <a:t>对气候产生影响，使大气可见度降低，减少阳光的辐射，具有冷却效应。</a:t>
            </a:r>
          </a:p>
          <a:p>
            <a:pPr>
              <a:spcBef>
                <a:spcPct val="50000"/>
              </a:spcBef>
            </a:pPr>
            <a:endParaRPr lang="zh-CN" altLang="en-US" b="1"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4">
                                            <p:txEl>
                                              <p:pRg st="0" end="0"/>
                                            </p:txEl>
                                          </p:spTgt>
                                        </p:tgtEl>
                                        <p:attrNameLst>
                                          <p:attrName>style.visibility</p:attrName>
                                        </p:attrNameLst>
                                      </p:cBhvr>
                                      <p:to>
                                        <p:strVal val="visible"/>
                                      </p:to>
                                    </p:set>
                                    <p:animEffect transition="in" filter="blinds(horizontal)">
                                      <p:cBhvr>
                                        <p:cTn id="7" dur="500"/>
                                        <p:tgtEl>
                                          <p:spTgt spid="174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14">
                                            <p:txEl>
                                              <p:pRg st="1" end="1"/>
                                            </p:txEl>
                                          </p:spTgt>
                                        </p:tgtEl>
                                        <p:attrNameLst>
                                          <p:attrName>style.visibility</p:attrName>
                                        </p:attrNameLst>
                                      </p:cBhvr>
                                      <p:to>
                                        <p:strVal val="visible"/>
                                      </p:to>
                                    </p:set>
                                    <p:animEffect transition="in" filter="blinds(horizontal)">
                                      <p:cBhvr>
                                        <p:cTn id="12" dur="500"/>
                                        <p:tgtEl>
                                          <p:spTgt spid="174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414">
                                            <p:txEl>
                                              <p:pRg st="2" end="2"/>
                                            </p:txEl>
                                          </p:spTgt>
                                        </p:tgtEl>
                                        <p:attrNameLst>
                                          <p:attrName>style.visibility</p:attrName>
                                        </p:attrNameLst>
                                      </p:cBhvr>
                                      <p:to>
                                        <p:strVal val="visible"/>
                                      </p:to>
                                    </p:set>
                                    <p:animEffect transition="in" filter="blinds(horizontal)">
                                      <p:cBhvr>
                                        <p:cTn id="17" dur="500"/>
                                        <p:tgtEl>
                                          <p:spTgt spid="174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414">
                                            <p:txEl>
                                              <p:pRg st="3" end="3"/>
                                            </p:txEl>
                                          </p:spTgt>
                                        </p:tgtEl>
                                        <p:attrNameLst>
                                          <p:attrName>style.visibility</p:attrName>
                                        </p:attrNameLst>
                                      </p:cBhvr>
                                      <p:to>
                                        <p:strVal val="visible"/>
                                      </p:to>
                                    </p:set>
                                    <p:animEffect transition="in" filter="blinds(horizontal)">
                                      <p:cBhvr>
                                        <p:cTn id="22" dur="500"/>
                                        <p:tgtEl>
                                          <p:spTgt spid="174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414">
                                            <p:txEl>
                                              <p:pRg st="4" end="4"/>
                                            </p:txEl>
                                          </p:spTgt>
                                        </p:tgtEl>
                                        <p:attrNameLst>
                                          <p:attrName>style.visibility</p:attrName>
                                        </p:attrNameLst>
                                      </p:cBhvr>
                                      <p:to>
                                        <p:strVal val="visible"/>
                                      </p:to>
                                    </p:set>
                                    <p:animEffect transition="in" filter="blinds(horizontal)">
                                      <p:cBhvr>
                                        <p:cTn id="27" dur="500"/>
                                        <p:tgtEl>
                                          <p:spTgt spid="174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4" grpId="0" uiExpand="1" build="p" bldLvl="2"/>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9457"/>
          <p:cNvSpPr>
            <a:spLocks noGrp="1"/>
          </p:cNvSpPr>
          <p:nvPr>
            <p:ph type="title"/>
          </p:nvPr>
        </p:nvSpPr>
        <p:spPr>
          <a:noFill/>
          <a:ln>
            <a:noFill/>
          </a:ln>
        </p:spPr>
        <p:txBody>
          <a:bodyPr anchor="ctr"/>
          <a:lstStyle/>
          <a:p>
            <a:r>
              <a:rPr lang="zh-CN" altLang="en-US" sz="3600" b="1" dirty="0">
                <a:solidFill>
                  <a:srgbClr val="C00000"/>
                </a:solidFill>
                <a:ea typeface="隶书" panose="02010509060101010101" pitchFamily="49" charset="-122"/>
              </a:rPr>
              <a:t>（</a:t>
            </a:r>
            <a:r>
              <a:rPr lang="en-US" altLang="zh-CN" sz="3600" b="1" dirty="0">
                <a:solidFill>
                  <a:srgbClr val="C00000"/>
                </a:solidFill>
                <a:ea typeface="隶书" panose="02010509060101010101" pitchFamily="49" charset="-122"/>
              </a:rPr>
              <a:t>2</a:t>
            </a:r>
            <a:r>
              <a:rPr lang="zh-CN" altLang="en-US" sz="3600" b="1" dirty="0">
                <a:solidFill>
                  <a:srgbClr val="C00000"/>
                </a:solidFill>
                <a:ea typeface="隶书" panose="02010509060101010101" pitchFamily="49" charset="-122"/>
              </a:rPr>
              <a:t>）</a:t>
            </a:r>
            <a:r>
              <a:rPr lang="en-US" altLang="zh-CN" sz="3600" b="1">
                <a:solidFill>
                  <a:srgbClr val="C00000"/>
                </a:solidFill>
                <a:ea typeface="隶书" panose="02010509060101010101" pitchFamily="49" charset="-122"/>
              </a:rPr>
              <a:t>SO</a:t>
            </a:r>
            <a:r>
              <a:rPr lang="en-US" altLang="zh-CN" sz="3600" b="1" baseline="-25000">
                <a:solidFill>
                  <a:srgbClr val="C00000"/>
                </a:solidFill>
                <a:ea typeface="隶书" panose="02010509060101010101" pitchFamily="49" charset="-122"/>
              </a:rPr>
              <a:t>2</a:t>
            </a:r>
            <a:br>
              <a:rPr lang="en-US" altLang="zh-CN" sz="3600" b="1">
                <a:solidFill>
                  <a:srgbClr val="C00000"/>
                </a:solidFill>
                <a:ea typeface="隶书" panose="02010509060101010101" pitchFamily="49" charset="-122"/>
              </a:rPr>
            </a:br>
            <a:endParaRPr lang="en-US" altLang="zh-CN" sz="3600" b="1">
              <a:solidFill>
                <a:srgbClr val="C00000"/>
              </a:solidFill>
              <a:ea typeface="隶书" panose="02010509060101010101" pitchFamily="49" charset="-122"/>
            </a:endParaRPr>
          </a:p>
        </p:txBody>
      </p:sp>
      <p:sp>
        <p:nvSpPr>
          <p:cNvPr id="19459" name="内容占位符 19458"/>
          <p:cNvSpPr>
            <a:spLocks noGrp="1"/>
          </p:cNvSpPr>
          <p:nvPr>
            <p:ph idx="1"/>
          </p:nvPr>
        </p:nvSpPr>
        <p:spPr>
          <a:xfrm>
            <a:off x="381000" y="894715"/>
            <a:ext cx="8229600" cy="4525963"/>
          </a:xfrm>
          <a:noFill/>
          <a:ln>
            <a:noFill/>
          </a:ln>
        </p:spPr>
        <p:txBody>
          <a:bodyPr anchor="t"/>
          <a:lstStyle/>
          <a:p>
            <a:pPr>
              <a:lnSpc>
                <a:spcPct val="90000"/>
              </a:lnSpc>
              <a:buNone/>
            </a:pPr>
            <a:r>
              <a:rPr lang="zh-CN" altLang="en-US" sz="2000" b="1" dirty="0">
                <a:solidFill>
                  <a:schemeClr val="tx1"/>
                </a:solidFill>
              </a:rPr>
              <a:t>污染源：煤、石油的燃烧（占</a:t>
            </a:r>
            <a:r>
              <a:rPr lang="en-US" altLang="zh-CN" sz="2000" b="1" dirty="0">
                <a:solidFill>
                  <a:schemeClr val="tx1"/>
                </a:solidFill>
              </a:rPr>
              <a:t>90%</a:t>
            </a:r>
            <a:r>
              <a:rPr lang="zh-CN" altLang="en-US" sz="2000" b="1" dirty="0">
                <a:solidFill>
                  <a:schemeClr val="tx1"/>
                </a:solidFill>
              </a:rPr>
              <a:t>），如火力发电 厂、钢铁厂、石油化工厂等。</a:t>
            </a:r>
            <a:endParaRPr lang="zh-CN" altLang="en-US" sz="2400" b="1" dirty="0">
              <a:solidFill>
                <a:schemeClr val="tx1"/>
              </a:solidFill>
            </a:endParaRPr>
          </a:p>
        </p:txBody>
      </p:sp>
      <p:sp>
        <p:nvSpPr>
          <p:cNvPr id="19462" name="文本框 19461"/>
          <p:cNvSpPr txBox="1"/>
          <p:nvPr/>
        </p:nvSpPr>
        <p:spPr>
          <a:xfrm>
            <a:off x="206375" y="1647825"/>
            <a:ext cx="3151179" cy="3877985"/>
          </a:xfrm>
          <a:prstGeom prst="rect">
            <a:avLst/>
          </a:prstGeom>
          <a:noFill/>
          <a:ln w="9525">
            <a:noFill/>
          </a:ln>
        </p:spPr>
        <p:txBody>
          <a:bodyPr wrap="square" anchor="t">
            <a:spAutoFit/>
          </a:bodyPr>
          <a:lstStyle/>
          <a:p>
            <a:pPr>
              <a:spcBef>
                <a:spcPct val="20000"/>
              </a:spcBef>
            </a:pPr>
            <a:r>
              <a:rPr lang="en-US" altLang="zh-CN" sz="2000" b="1" dirty="0">
                <a:solidFill>
                  <a:schemeClr val="tx1"/>
                </a:solidFill>
                <a:latin typeface="Times New Roman" panose="02020603050405020304" pitchFamily="18" charset="0"/>
                <a:ea typeface="宋体" panose="02010600030101010101" pitchFamily="2" charset="-122"/>
              </a:rPr>
              <a:t>SO</a:t>
            </a:r>
            <a:r>
              <a:rPr lang="en-US" altLang="zh-CN" sz="2000" b="1" baseline="-25000" dirty="0">
                <a:solidFill>
                  <a:schemeClr val="tx1"/>
                </a:solidFill>
                <a:latin typeface="Times New Roman" panose="02020603050405020304" pitchFamily="18" charset="0"/>
                <a:ea typeface="宋体" panose="02010600030101010101" pitchFamily="2" charset="-122"/>
              </a:rPr>
              <a:t>2</a:t>
            </a:r>
            <a:r>
              <a:rPr lang="zh-CN" altLang="en-US" sz="2000" b="1" dirty="0">
                <a:solidFill>
                  <a:schemeClr val="tx1"/>
                </a:solidFill>
                <a:latin typeface="Times New Roman" panose="02020603050405020304" pitchFamily="18" charset="0"/>
                <a:ea typeface="宋体" panose="02010600030101010101" pitchFamily="2" charset="-122"/>
              </a:rPr>
              <a:t>的危害：</a:t>
            </a:r>
          </a:p>
          <a:p>
            <a:pPr>
              <a:spcBef>
                <a:spcPct val="20000"/>
              </a:spcBef>
            </a:pPr>
            <a:r>
              <a:rPr lang="zh-CN" altLang="en-US" sz="2000" b="1" dirty="0">
                <a:solidFill>
                  <a:schemeClr val="tx1"/>
                </a:solidFill>
                <a:latin typeface="Times New Roman" panose="02020603050405020304" pitchFamily="18" charset="0"/>
                <a:ea typeface="宋体" panose="02010600030101010101" pitchFamily="2" charset="-122"/>
              </a:rPr>
              <a:t>    </a:t>
            </a:r>
            <a:r>
              <a:rPr lang="en-US" altLang="zh-CN" sz="2000" b="1" dirty="0">
                <a:solidFill>
                  <a:schemeClr val="tx1"/>
                </a:solidFill>
                <a:latin typeface="Times New Roman" panose="02020603050405020304" pitchFamily="18" charset="0"/>
                <a:ea typeface="宋体" panose="02010600030101010101" pitchFamily="2" charset="-122"/>
              </a:rPr>
              <a:t>1</a:t>
            </a:r>
            <a:r>
              <a:rPr lang="zh-CN" altLang="en-US" sz="2000" b="1" dirty="0">
                <a:solidFill>
                  <a:schemeClr val="tx1"/>
                </a:solidFill>
                <a:latin typeface="Times New Roman" panose="02020603050405020304" pitchFamily="18" charset="0"/>
                <a:ea typeface="宋体" panose="02010600030101010101" pitchFamily="2" charset="-122"/>
              </a:rPr>
              <a:t>）具有刺激性的无色气体，空气中浓度为</a:t>
            </a:r>
          </a:p>
          <a:p>
            <a:pPr>
              <a:spcBef>
                <a:spcPct val="20000"/>
              </a:spcBef>
            </a:pPr>
            <a:r>
              <a:rPr lang="zh-CN" altLang="en-US" sz="2000" b="1" dirty="0">
                <a:solidFill>
                  <a:schemeClr val="tx1"/>
                </a:solidFill>
                <a:latin typeface="Times New Roman" panose="02020603050405020304" pitchFamily="18" charset="0"/>
                <a:ea typeface="宋体" panose="02010600030101010101" pitchFamily="2" charset="-122"/>
              </a:rPr>
              <a:t> </a:t>
            </a:r>
            <a:r>
              <a:rPr lang="en-US" altLang="zh-CN" sz="2000" b="1" dirty="0">
                <a:solidFill>
                  <a:schemeClr val="tx1"/>
                </a:solidFill>
                <a:latin typeface="Times New Roman" panose="02020603050405020304" pitchFamily="18" charset="0"/>
                <a:ea typeface="宋体" panose="02010600030101010101" pitchFamily="2" charset="-122"/>
              </a:rPr>
              <a:t>6~12ppm</a:t>
            </a:r>
            <a:r>
              <a:rPr lang="zh-CN" altLang="en-US" sz="2000" b="1" dirty="0">
                <a:solidFill>
                  <a:schemeClr val="tx1"/>
                </a:solidFill>
                <a:latin typeface="Times New Roman" panose="02020603050405020304" pitchFamily="18" charset="0"/>
                <a:ea typeface="宋体" panose="02010600030101010101" pitchFamily="2" charset="-122"/>
              </a:rPr>
              <a:t>时，可引起鼻腔、咽喉刺激性反应， 高浓度时引起支气管炎，窒息。</a:t>
            </a:r>
          </a:p>
          <a:p>
            <a:pPr>
              <a:spcBef>
                <a:spcPct val="20000"/>
              </a:spcBef>
            </a:pPr>
            <a:r>
              <a:rPr lang="zh-CN" altLang="en-US" sz="2000" b="1" dirty="0">
                <a:solidFill>
                  <a:schemeClr val="tx1"/>
                </a:solidFill>
                <a:latin typeface="Times New Roman" panose="02020603050405020304" pitchFamily="18" charset="0"/>
                <a:ea typeface="宋体" panose="02010600030101010101" pitchFamily="2" charset="-122"/>
              </a:rPr>
              <a:t>     </a:t>
            </a:r>
            <a:r>
              <a:rPr lang="en-US" altLang="zh-CN" sz="2000" b="1" dirty="0">
                <a:solidFill>
                  <a:schemeClr val="tx1"/>
                </a:solidFill>
                <a:latin typeface="Times New Roman" panose="02020603050405020304" pitchFamily="18" charset="0"/>
                <a:ea typeface="宋体" panose="02010600030101010101" pitchFamily="2" charset="-122"/>
              </a:rPr>
              <a:t>2</a:t>
            </a:r>
            <a:r>
              <a:rPr lang="zh-CN" altLang="en-US" sz="2000" b="1" dirty="0">
                <a:solidFill>
                  <a:schemeClr val="tx1"/>
                </a:solidFill>
                <a:latin typeface="Times New Roman" panose="02020603050405020304" pitchFamily="18" charset="0"/>
                <a:ea typeface="宋体" panose="02010600030101010101" pitchFamily="2" charset="-122"/>
              </a:rPr>
              <a:t>）可破坏叶绿素，使植物叶片枯黄、脱落、树 干枯死，水稻减产。</a:t>
            </a:r>
          </a:p>
          <a:p>
            <a:pPr>
              <a:spcBef>
                <a:spcPct val="20000"/>
              </a:spcBef>
            </a:pPr>
            <a:r>
              <a:rPr lang="zh-CN" altLang="en-US" sz="2000" b="1" dirty="0">
                <a:solidFill>
                  <a:schemeClr val="tx1"/>
                </a:solidFill>
                <a:latin typeface="Times New Roman" panose="02020603050405020304" pitchFamily="18" charset="0"/>
                <a:ea typeface="宋体" panose="02010600030101010101" pitchFamily="2" charset="-122"/>
              </a:rPr>
              <a:t>     </a:t>
            </a:r>
            <a:r>
              <a:rPr lang="en-US" altLang="zh-CN" sz="2000" b="1" dirty="0">
                <a:solidFill>
                  <a:schemeClr val="tx1"/>
                </a:solidFill>
                <a:latin typeface="Times New Roman" panose="02020603050405020304" pitchFamily="18" charset="0"/>
                <a:ea typeface="宋体" panose="02010600030101010101" pitchFamily="2" charset="-122"/>
              </a:rPr>
              <a:t>3</a:t>
            </a:r>
            <a:r>
              <a:rPr lang="zh-CN" altLang="en-US" sz="2000" b="1" dirty="0">
                <a:solidFill>
                  <a:schemeClr val="tx1"/>
                </a:solidFill>
                <a:latin typeface="Times New Roman" panose="02020603050405020304" pitchFamily="18" charset="0"/>
                <a:ea typeface="宋体" panose="02010600030101010101" pitchFamily="2" charset="-122"/>
              </a:rPr>
              <a:t>）形成酸雨。</a:t>
            </a:r>
          </a:p>
          <a:p>
            <a:pPr>
              <a:spcBef>
                <a:spcPct val="50000"/>
              </a:spcBef>
            </a:pPr>
            <a:endParaRPr lang="zh-CN" altLang="en-US" sz="2000" b="1" dirty="0">
              <a:solidFill>
                <a:schemeClr val="tx1"/>
              </a:solidFill>
              <a:latin typeface="Times New Roman" panose="02020603050405020304" pitchFamily="18" charset="0"/>
              <a:ea typeface="宋体" panose="02010600030101010101" pitchFamily="2" charset="-122"/>
            </a:endParaRPr>
          </a:p>
        </p:txBody>
      </p:sp>
      <p:pic>
        <p:nvPicPr>
          <p:cNvPr id="19464" name="图片 19463"/>
          <p:cNvPicPr>
            <a:picLocks noChangeAspect="1"/>
          </p:cNvPicPr>
          <p:nvPr/>
        </p:nvPicPr>
        <p:blipFill>
          <a:blip r:embed="rId2" cstate="print"/>
          <a:stretch>
            <a:fillRect/>
          </a:stretch>
        </p:blipFill>
        <p:spPr>
          <a:xfrm>
            <a:off x="3200400" y="3962400"/>
            <a:ext cx="2667000" cy="2667000"/>
          </a:xfrm>
          <a:prstGeom prst="rect">
            <a:avLst/>
          </a:prstGeom>
          <a:noFill/>
          <a:ln w="9525">
            <a:noFill/>
          </a:ln>
        </p:spPr>
      </p:pic>
      <p:pic>
        <p:nvPicPr>
          <p:cNvPr id="19465" name="图片 19464"/>
          <p:cNvPicPr>
            <a:picLocks noChangeAspect="1"/>
          </p:cNvPicPr>
          <p:nvPr/>
        </p:nvPicPr>
        <p:blipFill>
          <a:blip r:embed="rId3" cstate="print"/>
          <a:stretch>
            <a:fillRect/>
          </a:stretch>
        </p:blipFill>
        <p:spPr>
          <a:xfrm>
            <a:off x="5943600" y="3886200"/>
            <a:ext cx="2971800" cy="2682875"/>
          </a:xfrm>
          <a:prstGeom prst="rect">
            <a:avLst/>
          </a:prstGeom>
          <a:noFill/>
          <a:ln w="9525">
            <a:noFill/>
          </a:ln>
        </p:spPr>
      </p:pic>
      <p:pic>
        <p:nvPicPr>
          <p:cNvPr id="19466" name="图片 19465" descr="腐蚀1"/>
          <p:cNvPicPr>
            <a:picLocks noChangeAspect="1"/>
          </p:cNvPicPr>
          <p:nvPr/>
        </p:nvPicPr>
        <p:blipFill>
          <a:blip r:embed="rId4" cstate="print"/>
          <a:srcRect r="2890" b="1790"/>
          <a:stretch>
            <a:fillRect/>
          </a:stretch>
        </p:blipFill>
        <p:spPr>
          <a:xfrm>
            <a:off x="3374390" y="2819400"/>
            <a:ext cx="2778125" cy="3810000"/>
          </a:xfrm>
          <a:prstGeom prst="rect">
            <a:avLst/>
          </a:prstGeom>
          <a:noFill/>
          <a:ln w="9525">
            <a:noFill/>
          </a:ln>
        </p:spPr>
      </p:pic>
      <p:pic>
        <p:nvPicPr>
          <p:cNvPr id="19467" name="图片 19466" descr="腐蚀2"/>
          <p:cNvPicPr>
            <a:picLocks noChangeAspect="1"/>
          </p:cNvPicPr>
          <p:nvPr/>
        </p:nvPicPr>
        <p:blipFill>
          <a:blip r:embed="rId5" cstate="print"/>
          <a:srcRect r="5263" b="1672"/>
          <a:stretch>
            <a:fillRect/>
          </a:stretch>
        </p:blipFill>
        <p:spPr>
          <a:xfrm>
            <a:off x="6152515" y="2667000"/>
            <a:ext cx="2971800" cy="4114800"/>
          </a:xfrm>
          <a:prstGeom prst="rect">
            <a:avLst/>
          </a:prstGeom>
          <a:noFill/>
          <a:ln w="9525">
            <a:noFill/>
          </a:ln>
        </p:spPr>
      </p:pic>
      <p:sp>
        <p:nvSpPr>
          <p:cNvPr id="19469" name="椭圆形标注 19468"/>
          <p:cNvSpPr/>
          <p:nvPr/>
        </p:nvSpPr>
        <p:spPr>
          <a:xfrm>
            <a:off x="381000" y="5029200"/>
            <a:ext cx="2667000" cy="1600200"/>
          </a:xfrm>
          <a:prstGeom prst="wedgeEllipseCallout">
            <a:avLst>
              <a:gd name="adj1" fmla="val 92620"/>
              <a:gd name="adj2" fmla="val -74505"/>
            </a:avLst>
          </a:prstGeom>
          <a:solidFill>
            <a:srgbClr val="FF9933"/>
          </a:solidFill>
          <a:ln w="9525" cap="flat" cmpd="sng">
            <a:solidFill>
              <a:schemeClr val="tx1"/>
            </a:solidFill>
            <a:prstDash val="solid"/>
            <a:miter/>
            <a:headEnd type="none" w="med" len="med"/>
            <a:tailEnd type="none" w="med" len="med"/>
          </a:ln>
          <a:effectLst>
            <a:outerShdw dist="107763" dir="2699999" algn="ctr" rotWithShape="0">
              <a:schemeClr val="tx1"/>
            </a:outerShdw>
          </a:effectLst>
        </p:spPr>
        <p:txBody>
          <a:bodyPr anchor="t"/>
          <a:lstStyle/>
          <a:p>
            <a:pPr>
              <a:spcBef>
                <a:spcPct val="50000"/>
              </a:spcBef>
            </a:pPr>
            <a:r>
              <a:rPr lang="zh-CN" altLang="en-US" sz="1800" b="1" dirty="0">
                <a:latin typeface="Times New Roman" panose="02020603050405020304" pitchFamily="18" charset="0"/>
                <a:ea typeface="宋体" panose="02010600030101010101" pitchFamily="2" charset="-122"/>
              </a:rPr>
              <a:t>建于：</a:t>
            </a:r>
            <a:r>
              <a:rPr lang="en-US" altLang="zh-CN" sz="1800" b="1" dirty="0">
                <a:latin typeface="Times New Roman" panose="02020603050405020304" pitchFamily="18" charset="0"/>
                <a:ea typeface="宋体" panose="02010600030101010101" pitchFamily="2" charset="-122"/>
              </a:rPr>
              <a:t>1702</a:t>
            </a:r>
            <a:r>
              <a:rPr lang="zh-CN" altLang="en-US" sz="1800" b="1" dirty="0">
                <a:latin typeface="Times New Roman" panose="02020603050405020304" pitchFamily="18" charset="0"/>
                <a:ea typeface="宋体" panose="02010600030101010101" pitchFamily="2" charset="-122"/>
              </a:rPr>
              <a:t>年</a:t>
            </a:r>
          </a:p>
          <a:p>
            <a:pPr>
              <a:spcBef>
                <a:spcPct val="50000"/>
              </a:spcBef>
            </a:pPr>
            <a:r>
              <a:rPr lang="zh-CN" altLang="en-US" sz="1800" b="1" dirty="0">
                <a:latin typeface="Times New Roman" panose="02020603050405020304" pitchFamily="18" charset="0"/>
                <a:ea typeface="宋体" panose="02010600030101010101" pitchFamily="2" charset="-122"/>
              </a:rPr>
              <a:t>左图：</a:t>
            </a:r>
            <a:r>
              <a:rPr lang="en-US" altLang="zh-CN" sz="1800" b="1" dirty="0">
                <a:latin typeface="Times New Roman" panose="02020603050405020304" pitchFamily="18" charset="0"/>
                <a:ea typeface="宋体" panose="02010600030101010101" pitchFamily="2" charset="-122"/>
              </a:rPr>
              <a:t>1908</a:t>
            </a:r>
            <a:r>
              <a:rPr lang="zh-CN" altLang="en-US" sz="1800" b="1" dirty="0">
                <a:latin typeface="Times New Roman" panose="02020603050405020304" pitchFamily="18" charset="0"/>
                <a:ea typeface="宋体" panose="02010600030101010101" pitchFamily="2" charset="-122"/>
              </a:rPr>
              <a:t>年</a:t>
            </a:r>
          </a:p>
          <a:p>
            <a:pPr>
              <a:spcBef>
                <a:spcPct val="50000"/>
              </a:spcBef>
            </a:pPr>
            <a:r>
              <a:rPr lang="zh-CN" altLang="en-US" sz="1800" b="1" dirty="0">
                <a:latin typeface="Times New Roman" panose="02020603050405020304" pitchFamily="18" charset="0"/>
                <a:ea typeface="宋体" panose="02010600030101010101" pitchFamily="2" charset="-122"/>
              </a:rPr>
              <a:t>右图：</a:t>
            </a:r>
            <a:r>
              <a:rPr lang="en-US" altLang="zh-CN" sz="1800" b="1" dirty="0">
                <a:latin typeface="Times New Roman" panose="02020603050405020304" pitchFamily="18" charset="0"/>
                <a:ea typeface="宋体" panose="02010600030101010101" pitchFamily="2" charset="-122"/>
              </a:rPr>
              <a:t>1969</a:t>
            </a:r>
            <a:r>
              <a:rPr lang="zh-CN" altLang="en-US" sz="1800" b="1" dirty="0">
                <a:latin typeface="Times New Roman" panose="02020603050405020304" pitchFamily="18" charset="0"/>
                <a:ea typeface="宋体" panose="02010600030101010101" pitchFamily="2" charset="-122"/>
              </a:rPr>
              <a:t>年</a:t>
            </a:r>
            <a:endParaRPr lang="zh-CN" altLang="en-US" sz="1800" b="1">
              <a:latin typeface="Times New Roman" panose="02020603050405020304" pitchFamily="18" charset="0"/>
              <a:ea typeface="宋体" panose="02010600030101010101" pitchFamily="2"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blinds(vertical)">
                                      <p:cBhvr>
                                        <p:cTn id="7" dur="500"/>
                                        <p:tgtEl>
                                          <p:spTgt spid="1945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462"/>
                                        </p:tgtEl>
                                        <p:attrNameLst>
                                          <p:attrName>style.visibility</p:attrName>
                                        </p:attrNameLst>
                                      </p:cBhvr>
                                      <p:to>
                                        <p:strVal val="visible"/>
                                      </p:to>
                                    </p:set>
                                    <p:animEffect transition="in" filter="blinds(horizontal)">
                                      <p:cBhvr>
                                        <p:cTn id="12" dur="500"/>
                                        <p:tgtEl>
                                          <p:spTgt spid="1946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9464"/>
                                        </p:tgtEl>
                                        <p:attrNameLst>
                                          <p:attrName>style.visibility</p:attrName>
                                        </p:attrNameLst>
                                      </p:cBhvr>
                                      <p:to>
                                        <p:strVal val="visible"/>
                                      </p:to>
                                    </p:set>
                                    <p:animEffect transition="in" filter="dissolve">
                                      <p:cBhvr>
                                        <p:cTn id="17" dur="500"/>
                                        <p:tgtEl>
                                          <p:spTgt spid="19464"/>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19465"/>
                                        </p:tgtEl>
                                        <p:attrNameLst>
                                          <p:attrName>style.visibility</p:attrName>
                                        </p:attrNameLst>
                                      </p:cBhvr>
                                      <p:to>
                                        <p:strVal val="visible"/>
                                      </p:to>
                                    </p:set>
                                    <p:animEffect transition="in" filter="dissolve">
                                      <p:cBhvr>
                                        <p:cTn id="21" dur="500"/>
                                        <p:tgtEl>
                                          <p:spTgt spid="19465"/>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19466"/>
                                        </p:tgtEl>
                                        <p:attrNameLst>
                                          <p:attrName>style.visibility</p:attrName>
                                        </p:attrNameLst>
                                      </p:cBhvr>
                                      <p:to>
                                        <p:strVal val="visible"/>
                                      </p:to>
                                    </p:set>
                                    <p:animEffect transition="in" filter="box(out)">
                                      <p:cBhvr>
                                        <p:cTn id="26" dur="500"/>
                                        <p:tgtEl>
                                          <p:spTgt spid="19466"/>
                                        </p:tgtEl>
                                      </p:cBhvr>
                                    </p:animEffect>
                                  </p:childTnLst>
                                </p:cTn>
                              </p:par>
                            </p:childTnLst>
                          </p:cTn>
                        </p:par>
                        <p:par>
                          <p:cTn id="27" fill="hold">
                            <p:stCondLst>
                              <p:cond delay="500"/>
                            </p:stCondLst>
                            <p:childTnLst>
                              <p:par>
                                <p:cTn id="28" presetID="4" presetClass="entr" presetSubtype="32" fill="hold" nodeType="afterEffect">
                                  <p:stCondLst>
                                    <p:cond delay="0"/>
                                  </p:stCondLst>
                                  <p:childTnLst>
                                    <p:set>
                                      <p:cBhvr>
                                        <p:cTn id="29" dur="1" fill="hold">
                                          <p:stCondLst>
                                            <p:cond delay="0"/>
                                          </p:stCondLst>
                                        </p:cTn>
                                        <p:tgtEl>
                                          <p:spTgt spid="19467"/>
                                        </p:tgtEl>
                                        <p:attrNameLst>
                                          <p:attrName>style.visibility</p:attrName>
                                        </p:attrNameLst>
                                      </p:cBhvr>
                                      <p:to>
                                        <p:strVal val="visible"/>
                                      </p:to>
                                    </p:set>
                                    <p:animEffect transition="in" filter="box(out)">
                                      <p:cBhvr>
                                        <p:cTn id="30" dur="500"/>
                                        <p:tgtEl>
                                          <p:spTgt spid="19467"/>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9469"/>
                                        </p:tgtEl>
                                        <p:attrNameLst>
                                          <p:attrName>style.visibility</p:attrName>
                                        </p:attrNameLst>
                                      </p:cBhvr>
                                      <p:to>
                                        <p:strVal val="visible"/>
                                      </p:to>
                                    </p:set>
                                    <p:animEffect transition="in" filter="box(out)">
                                      <p:cBhvr>
                                        <p:cTn id="35" dur="500"/>
                                        <p:tgtEl>
                                          <p:spTgt spid="19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19462" grpId="0"/>
      <p:bldP spid="1946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20481"/>
          <p:cNvSpPr>
            <a:spLocks noGrp="1"/>
          </p:cNvSpPr>
          <p:nvPr>
            <p:ph type="title"/>
          </p:nvPr>
        </p:nvSpPr>
        <p:spPr>
          <a:noFill/>
          <a:ln>
            <a:noFill/>
          </a:ln>
        </p:spPr>
        <p:txBody>
          <a:bodyPr anchor="ctr"/>
          <a:lstStyle/>
          <a:p>
            <a:r>
              <a:rPr lang="en-US" altLang="zh-CN" sz="3600" b="1">
                <a:solidFill>
                  <a:srgbClr val="C00000"/>
                </a:solidFill>
                <a:ea typeface="隶书" panose="02010509060101010101" pitchFamily="49" charset="-122"/>
              </a:rPr>
              <a:t>(3) CO</a:t>
            </a:r>
            <a:br>
              <a:rPr lang="en-US" altLang="zh-CN">
                <a:solidFill>
                  <a:srgbClr val="C00000"/>
                </a:solidFill>
                <a:ea typeface="隶书" panose="02010509060101010101" pitchFamily="49" charset="-122"/>
              </a:rPr>
            </a:br>
            <a:endParaRPr lang="en-US" altLang="zh-CN">
              <a:solidFill>
                <a:srgbClr val="C00000"/>
              </a:solidFill>
              <a:ea typeface="隶书" panose="02010509060101010101" pitchFamily="49" charset="-122"/>
            </a:endParaRPr>
          </a:p>
        </p:txBody>
      </p:sp>
      <p:sp>
        <p:nvSpPr>
          <p:cNvPr id="20483" name="内容占位符 20482"/>
          <p:cNvSpPr>
            <a:spLocks noGrp="1"/>
          </p:cNvSpPr>
          <p:nvPr>
            <p:ph idx="1"/>
          </p:nvPr>
        </p:nvSpPr>
        <p:spPr>
          <a:xfrm>
            <a:off x="304800" y="972820"/>
            <a:ext cx="8229600" cy="4525963"/>
          </a:xfrm>
          <a:noFill/>
          <a:ln>
            <a:noFill/>
          </a:ln>
        </p:spPr>
        <p:txBody>
          <a:bodyPr anchor="t"/>
          <a:lstStyle/>
          <a:p>
            <a:pPr>
              <a:buNone/>
            </a:pPr>
            <a:r>
              <a:rPr lang="en-US" altLang="zh-CN" dirty="0"/>
              <a:t> </a:t>
            </a:r>
            <a:r>
              <a:rPr lang="zh-CN" altLang="en-US" sz="2400" b="1" dirty="0">
                <a:solidFill>
                  <a:schemeClr val="tx1"/>
                </a:solidFill>
              </a:rPr>
              <a:t>主要污染源：汽车尾气的排放。</a:t>
            </a:r>
          </a:p>
          <a:p>
            <a:pPr>
              <a:buNone/>
            </a:pPr>
            <a:r>
              <a:rPr lang="zh-CN" altLang="en-US" sz="2400" b="1" dirty="0">
                <a:solidFill>
                  <a:schemeClr val="tx1"/>
                </a:solidFill>
              </a:rPr>
              <a:t> 危害：</a:t>
            </a:r>
            <a:r>
              <a:rPr lang="en-US" altLang="zh-CN" sz="2400" b="1" dirty="0">
                <a:solidFill>
                  <a:schemeClr val="tx1"/>
                </a:solidFill>
              </a:rPr>
              <a:t>CO</a:t>
            </a:r>
            <a:r>
              <a:rPr lang="zh-CN" altLang="en-US" sz="2400" b="1" dirty="0">
                <a:solidFill>
                  <a:schemeClr val="tx1"/>
                </a:solidFill>
              </a:rPr>
              <a:t>是一种无色、无味、无嗅的气体</a:t>
            </a:r>
            <a:r>
              <a:rPr lang="en-US" altLang="zh-CN" sz="2400" b="1" dirty="0">
                <a:solidFill>
                  <a:schemeClr val="tx1"/>
                </a:solidFill>
              </a:rPr>
              <a:t>,</a:t>
            </a:r>
            <a:r>
              <a:rPr lang="zh-CN" altLang="en-US" sz="2400" b="1" dirty="0">
                <a:solidFill>
                  <a:schemeClr val="tx1"/>
                </a:solidFill>
              </a:rPr>
              <a:t>可破坏血红</a:t>
            </a:r>
          </a:p>
          <a:p>
            <a:pPr>
              <a:buNone/>
            </a:pPr>
            <a:r>
              <a:rPr lang="zh-CN" altLang="en-US" sz="2400" b="1" dirty="0">
                <a:solidFill>
                  <a:schemeClr val="tx1"/>
                </a:solidFill>
              </a:rPr>
              <a:t>             蛋白的输氧功能。当空气中 </a:t>
            </a:r>
            <a:r>
              <a:rPr lang="en-US" altLang="zh-CN" sz="2400" b="1" dirty="0">
                <a:solidFill>
                  <a:schemeClr val="tx1"/>
                </a:solidFill>
              </a:rPr>
              <a:t>CO</a:t>
            </a:r>
            <a:r>
              <a:rPr lang="zh-CN" altLang="en-US" sz="2400" b="1" dirty="0">
                <a:solidFill>
                  <a:schemeClr val="tx1"/>
                </a:solidFill>
              </a:rPr>
              <a:t>浓度达</a:t>
            </a:r>
            <a:r>
              <a:rPr lang="en-US" altLang="zh-CN" sz="2400" b="1" dirty="0">
                <a:solidFill>
                  <a:schemeClr val="tx1"/>
                </a:solidFill>
              </a:rPr>
              <a:t>1%</a:t>
            </a:r>
            <a:r>
              <a:rPr lang="zh-CN" altLang="en-US" sz="2400" b="1" dirty="0">
                <a:solidFill>
                  <a:schemeClr val="tx1"/>
                </a:solidFill>
              </a:rPr>
              <a:t>时，</a:t>
            </a:r>
          </a:p>
          <a:p>
            <a:pPr>
              <a:buNone/>
            </a:pPr>
            <a:r>
              <a:rPr lang="zh-CN" altLang="en-US" sz="2400" b="1" dirty="0">
                <a:solidFill>
                  <a:schemeClr val="tx1"/>
                </a:solidFill>
              </a:rPr>
              <a:t>            可使人</a:t>
            </a:r>
            <a:r>
              <a:rPr lang="en-US" altLang="zh-CN" sz="2400" b="1" dirty="0">
                <a:solidFill>
                  <a:schemeClr val="tx1"/>
                </a:solidFill>
              </a:rPr>
              <a:t>2</a:t>
            </a:r>
            <a:r>
              <a:rPr lang="zh-CN" altLang="en-US" sz="2400" b="1" dirty="0">
                <a:solidFill>
                  <a:schemeClr val="tx1"/>
                </a:solidFill>
              </a:rPr>
              <a:t>分钟内死亡。</a:t>
            </a:r>
          </a:p>
          <a:p>
            <a:pPr>
              <a:buNone/>
            </a:pPr>
            <a:endParaRPr lang="zh-CN" altLang="en-US" sz="2400" b="1" dirty="0">
              <a:solidFill>
                <a:schemeClr val="tx1"/>
              </a:solidFill>
            </a:endParaRPr>
          </a:p>
        </p:txBody>
      </p:sp>
      <p:sp>
        <p:nvSpPr>
          <p:cNvPr id="20484" name="文本框 20483"/>
          <p:cNvSpPr txBox="1"/>
          <p:nvPr/>
        </p:nvSpPr>
        <p:spPr>
          <a:xfrm>
            <a:off x="381000" y="3139440"/>
            <a:ext cx="8382000" cy="579438"/>
          </a:xfrm>
          <a:prstGeom prst="rect">
            <a:avLst/>
          </a:prstGeom>
          <a:noFill/>
          <a:ln w="9525">
            <a:noFill/>
          </a:ln>
        </p:spPr>
        <p:txBody>
          <a:bodyPr anchor="t">
            <a:spAutoFit/>
          </a:bodyPr>
          <a:lstStyle/>
          <a:p>
            <a:pPr>
              <a:spcBef>
                <a:spcPct val="50000"/>
              </a:spcBef>
            </a:pPr>
            <a:r>
              <a:rPr lang="zh-CN" altLang="en-US" sz="3200" b="1" dirty="0">
                <a:solidFill>
                  <a:srgbClr val="C00000"/>
                </a:solidFill>
                <a:latin typeface="Times New Roman" panose="02020603050405020304" pitchFamily="18" charset="0"/>
                <a:ea typeface="宋体" panose="02010600030101010101" pitchFamily="2" charset="-122"/>
              </a:rPr>
              <a:t>（</a:t>
            </a:r>
            <a:r>
              <a:rPr lang="en-US" altLang="zh-CN" sz="3200" b="1" dirty="0">
                <a:solidFill>
                  <a:srgbClr val="C00000"/>
                </a:solidFill>
                <a:latin typeface="Times New Roman" panose="02020603050405020304" pitchFamily="18" charset="0"/>
                <a:ea typeface="宋体" panose="02010600030101010101" pitchFamily="2" charset="-122"/>
              </a:rPr>
              <a:t>4</a:t>
            </a:r>
            <a:r>
              <a:rPr lang="zh-CN" altLang="en-US" sz="3200" b="1" dirty="0">
                <a:solidFill>
                  <a:srgbClr val="C00000"/>
                </a:solidFill>
                <a:latin typeface="Times New Roman" panose="02020603050405020304" pitchFamily="18" charset="0"/>
                <a:ea typeface="宋体" panose="02010600030101010101" pitchFamily="2" charset="-122"/>
              </a:rPr>
              <a:t>）</a:t>
            </a:r>
            <a:r>
              <a:rPr lang="en-US" altLang="zh-CN" sz="3200" b="1" err="1">
                <a:solidFill>
                  <a:srgbClr val="C00000"/>
                </a:solidFill>
                <a:latin typeface="Times New Roman" panose="02020603050405020304" pitchFamily="18" charset="0"/>
                <a:ea typeface="宋体" panose="02010600030101010101" pitchFamily="2" charset="-122"/>
              </a:rPr>
              <a:t>NOx</a:t>
            </a:r>
            <a:r>
              <a:rPr lang="en-US" altLang="zh-CN" sz="3200" b="1">
                <a:solidFill>
                  <a:srgbClr val="C00000"/>
                </a:solidFill>
                <a:latin typeface="Times New Roman" panose="02020603050405020304" pitchFamily="18" charset="0"/>
                <a:ea typeface="宋体" panose="02010600030101010101" pitchFamily="2" charset="-122"/>
              </a:rPr>
              <a:t>  ——NO</a:t>
            </a:r>
            <a:r>
              <a:rPr lang="zh-CN" altLang="en-US" sz="3200" b="1">
                <a:solidFill>
                  <a:srgbClr val="C00000"/>
                </a:solidFill>
                <a:latin typeface="Times New Roman" panose="02020603050405020304" pitchFamily="18" charset="0"/>
                <a:ea typeface="宋体" panose="02010600030101010101" pitchFamily="2" charset="-122"/>
              </a:rPr>
              <a:t>、</a:t>
            </a:r>
            <a:r>
              <a:rPr lang="en-US" altLang="zh-CN" sz="3200" b="1">
                <a:solidFill>
                  <a:srgbClr val="C00000"/>
                </a:solidFill>
                <a:latin typeface="Times New Roman" panose="02020603050405020304" pitchFamily="18" charset="0"/>
                <a:ea typeface="宋体" panose="02010600030101010101" pitchFamily="2" charset="-122"/>
              </a:rPr>
              <a:t>NO</a:t>
            </a:r>
            <a:r>
              <a:rPr lang="en-US" altLang="zh-CN" sz="3200" b="1" baseline="-25000">
                <a:solidFill>
                  <a:srgbClr val="C00000"/>
                </a:solidFill>
                <a:latin typeface="Times New Roman" panose="02020603050405020304" pitchFamily="18" charset="0"/>
                <a:ea typeface="宋体" panose="02010600030101010101" pitchFamily="2" charset="-122"/>
              </a:rPr>
              <a:t>2</a:t>
            </a:r>
            <a:r>
              <a:rPr lang="zh-CN" altLang="en-US" sz="3200" b="1">
                <a:solidFill>
                  <a:srgbClr val="C00000"/>
                </a:solidFill>
                <a:latin typeface="Times New Roman" panose="02020603050405020304" pitchFamily="18" charset="0"/>
                <a:ea typeface="宋体" panose="02010600030101010101" pitchFamily="2" charset="-122"/>
              </a:rPr>
              <a:t>、</a:t>
            </a:r>
            <a:r>
              <a:rPr lang="en-US" altLang="zh-CN" sz="3200" b="1">
                <a:solidFill>
                  <a:srgbClr val="C00000"/>
                </a:solidFill>
                <a:latin typeface="Times New Roman" panose="02020603050405020304" pitchFamily="18" charset="0"/>
                <a:ea typeface="宋体" panose="02010600030101010101" pitchFamily="2" charset="-122"/>
              </a:rPr>
              <a:t>N</a:t>
            </a:r>
            <a:r>
              <a:rPr lang="en-US" altLang="zh-CN" sz="3200" b="1" baseline="-25000">
                <a:solidFill>
                  <a:srgbClr val="C00000"/>
                </a:solidFill>
                <a:latin typeface="Times New Roman" panose="02020603050405020304" pitchFamily="18" charset="0"/>
                <a:ea typeface="宋体" panose="02010600030101010101" pitchFamily="2" charset="-122"/>
              </a:rPr>
              <a:t>2</a:t>
            </a:r>
            <a:r>
              <a:rPr lang="en-US" altLang="zh-CN" sz="3200" b="1">
                <a:solidFill>
                  <a:srgbClr val="C00000"/>
                </a:solidFill>
                <a:latin typeface="Times New Roman" panose="02020603050405020304" pitchFamily="18" charset="0"/>
                <a:ea typeface="宋体" panose="02010600030101010101" pitchFamily="2" charset="-122"/>
              </a:rPr>
              <a:t>O</a:t>
            </a:r>
            <a:r>
              <a:rPr lang="en-US" altLang="zh-CN" sz="3200" b="1" baseline="-25000">
                <a:solidFill>
                  <a:srgbClr val="C00000"/>
                </a:solidFill>
                <a:latin typeface="Times New Roman" panose="02020603050405020304" pitchFamily="18" charset="0"/>
                <a:ea typeface="宋体" panose="02010600030101010101" pitchFamily="2" charset="-122"/>
              </a:rPr>
              <a:t>3</a:t>
            </a:r>
            <a:r>
              <a:rPr lang="en-US" altLang="zh-CN" sz="3200" b="1">
                <a:solidFill>
                  <a:srgbClr val="C00000"/>
                </a:solidFill>
                <a:latin typeface="Times New Roman" panose="02020603050405020304" pitchFamily="18" charset="0"/>
                <a:ea typeface="宋体" panose="02010600030101010101" pitchFamily="2" charset="-122"/>
              </a:rPr>
              <a:t> </a:t>
            </a:r>
            <a:r>
              <a:rPr lang="zh-CN" altLang="en-US" sz="3200" b="1">
                <a:solidFill>
                  <a:srgbClr val="C00000"/>
                </a:solidFill>
                <a:latin typeface="Times New Roman" panose="02020603050405020304" pitchFamily="18" charset="0"/>
                <a:ea typeface="宋体" panose="02010600030101010101" pitchFamily="2" charset="-122"/>
              </a:rPr>
              <a:t>、</a:t>
            </a:r>
            <a:r>
              <a:rPr lang="en-US" altLang="zh-CN" sz="3200" b="1">
                <a:solidFill>
                  <a:srgbClr val="C00000"/>
                </a:solidFill>
                <a:latin typeface="Times New Roman" panose="02020603050405020304" pitchFamily="18" charset="0"/>
                <a:ea typeface="宋体" panose="02010600030101010101" pitchFamily="2" charset="-122"/>
              </a:rPr>
              <a:t>N</a:t>
            </a:r>
            <a:r>
              <a:rPr lang="en-US" altLang="zh-CN" sz="3200" b="1" baseline="-25000">
                <a:solidFill>
                  <a:srgbClr val="C00000"/>
                </a:solidFill>
                <a:latin typeface="Times New Roman" panose="02020603050405020304" pitchFamily="18" charset="0"/>
                <a:ea typeface="宋体" panose="02010600030101010101" pitchFamily="2" charset="-122"/>
              </a:rPr>
              <a:t>2</a:t>
            </a:r>
            <a:r>
              <a:rPr lang="en-US" altLang="zh-CN" sz="3200" b="1">
                <a:solidFill>
                  <a:srgbClr val="C00000"/>
                </a:solidFill>
                <a:latin typeface="Times New Roman" panose="02020603050405020304" pitchFamily="18" charset="0"/>
                <a:ea typeface="宋体" panose="02010600030101010101" pitchFamily="2" charset="-122"/>
              </a:rPr>
              <a:t>O</a:t>
            </a:r>
            <a:r>
              <a:rPr lang="en-US" altLang="zh-CN" sz="3200" b="1" baseline="-25000">
                <a:solidFill>
                  <a:srgbClr val="C00000"/>
                </a:solidFill>
                <a:latin typeface="Times New Roman" panose="02020603050405020304" pitchFamily="18" charset="0"/>
                <a:ea typeface="宋体" panose="02010600030101010101" pitchFamily="2" charset="-122"/>
              </a:rPr>
              <a:t>5</a:t>
            </a:r>
            <a:r>
              <a:rPr lang="zh-CN" altLang="en-US" sz="3200" b="1">
                <a:solidFill>
                  <a:srgbClr val="C00000"/>
                </a:solidFill>
                <a:latin typeface="Times New Roman" panose="02020603050405020304" pitchFamily="18" charset="0"/>
                <a:ea typeface="宋体" panose="02010600030101010101" pitchFamily="2" charset="-122"/>
              </a:rPr>
              <a:t>等</a:t>
            </a:r>
          </a:p>
        </p:txBody>
      </p:sp>
      <p:sp>
        <p:nvSpPr>
          <p:cNvPr id="20485" name="文本框 20484"/>
          <p:cNvSpPr txBox="1"/>
          <p:nvPr/>
        </p:nvSpPr>
        <p:spPr>
          <a:xfrm>
            <a:off x="762000" y="4138930"/>
            <a:ext cx="7772400" cy="2209800"/>
          </a:xfrm>
          <a:prstGeom prst="rect">
            <a:avLst/>
          </a:prstGeom>
          <a:noFill/>
          <a:ln w="9525">
            <a:noFill/>
          </a:ln>
        </p:spPr>
        <p:txBody>
          <a:bodyPr anchor="t">
            <a:spAutoFit/>
          </a:bodyPr>
          <a:lstStyle/>
          <a:p>
            <a:pPr>
              <a:spcBef>
                <a:spcPct val="20000"/>
              </a:spcBef>
            </a:pPr>
            <a:r>
              <a:rPr lang="zh-CN" altLang="en-US" b="1" dirty="0">
                <a:solidFill>
                  <a:schemeClr val="tx1"/>
                </a:solidFill>
                <a:latin typeface="Times New Roman" panose="02020603050405020304" pitchFamily="18" charset="0"/>
                <a:ea typeface="宋体" panose="02010600030101010101" pitchFamily="2" charset="-122"/>
              </a:rPr>
              <a:t>主要污染源：</a:t>
            </a:r>
            <a:r>
              <a:rPr lang="en-US" altLang="zh-CN" b="1" dirty="0">
                <a:solidFill>
                  <a:schemeClr val="tx1"/>
                </a:solidFill>
                <a:latin typeface="Times New Roman" panose="02020603050405020304" pitchFamily="18" charset="0"/>
                <a:ea typeface="宋体" panose="02010600030101010101" pitchFamily="2" charset="-122"/>
              </a:rPr>
              <a:t>1</a:t>
            </a:r>
            <a:r>
              <a:rPr lang="zh-CN" altLang="en-US" b="1" dirty="0">
                <a:solidFill>
                  <a:schemeClr val="tx1"/>
                </a:solidFill>
                <a:latin typeface="Times New Roman" panose="02020603050405020304" pitchFamily="18" charset="0"/>
                <a:ea typeface="宋体" panose="02010600030101010101" pitchFamily="2" charset="-122"/>
              </a:rPr>
              <a:t>）煤、石油的燃烧，</a:t>
            </a:r>
          </a:p>
          <a:p>
            <a:pPr>
              <a:spcBef>
                <a:spcPct val="20000"/>
              </a:spcBef>
            </a:pPr>
            <a:r>
              <a:rPr lang="zh-CN" altLang="en-US" b="1" dirty="0">
                <a:solidFill>
                  <a:schemeClr val="tx1"/>
                </a:solidFill>
                <a:latin typeface="Times New Roman" panose="02020603050405020304" pitchFamily="18" charset="0"/>
                <a:ea typeface="宋体" panose="02010600030101010101" pitchFamily="2" charset="-122"/>
              </a:rPr>
              <a:t>                        </a:t>
            </a:r>
            <a:r>
              <a:rPr lang="en-US" altLang="zh-CN" b="1" dirty="0">
                <a:solidFill>
                  <a:schemeClr val="tx1"/>
                </a:solidFill>
                <a:latin typeface="Times New Roman" panose="02020603050405020304" pitchFamily="18" charset="0"/>
                <a:ea typeface="宋体" panose="02010600030101010101" pitchFamily="2" charset="-122"/>
              </a:rPr>
              <a:t>2</a:t>
            </a:r>
            <a:r>
              <a:rPr lang="zh-CN" altLang="en-US" b="1" dirty="0">
                <a:solidFill>
                  <a:schemeClr val="tx1"/>
                </a:solidFill>
                <a:latin typeface="Times New Roman" panose="02020603050405020304" pitchFamily="18" charset="0"/>
                <a:ea typeface="宋体" panose="02010600030101010101" pitchFamily="2" charset="-122"/>
              </a:rPr>
              <a:t>）汽车尾气的排放。</a:t>
            </a:r>
          </a:p>
          <a:p>
            <a:pPr>
              <a:spcBef>
                <a:spcPct val="20000"/>
              </a:spcBef>
            </a:pPr>
            <a:r>
              <a:rPr lang="zh-CN" altLang="en-US" b="1" dirty="0">
                <a:solidFill>
                  <a:schemeClr val="tx1"/>
                </a:solidFill>
                <a:latin typeface="Times New Roman" panose="02020603050405020304" pitchFamily="18" charset="0"/>
                <a:ea typeface="宋体" panose="02010600030101010101" pitchFamily="2" charset="-122"/>
              </a:rPr>
              <a:t> 危害：</a:t>
            </a:r>
            <a:r>
              <a:rPr lang="en-US" altLang="zh-CN" b="1" dirty="0">
                <a:solidFill>
                  <a:schemeClr val="tx1"/>
                </a:solidFill>
                <a:latin typeface="Times New Roman" panose="02020603050405020304" pitchFamily="18" charset="0"/>
                <a:ea typeface="宋体" panose="02010600030101010101" pitchFamily="2" charset="-122"/>
              </a:rPr>
              <a:t>1</a:t>
            </a:r>
            <a:r>
              <a:rPr lang="zh-CN" altLang="en-US" b="1" dirty="0">
                <a:solidFill>
                  <a:schemeClr val="tx1"/>
                </a:solidFill>
                <a:latin typeface="Times New Roman" panose="02020603050405020304" pitchFamily="18" charset="0"/>
                <a:ea typeface="宋体" panose="02010600030101010101" pitchFamily="2" charset="-122"/>
              </a:rPr>
              <a:t>）刺激呼吸系统。</a:t>
            </a:r>
          </a:p>
          <a:p>
            <a:pPr>
              <a:spcBef>
                <a:spcPct val="20000"/>
              </a:spcBef>
            </a:pPr>
            <a:r>
              <a:rPr lang="zh-CN" altLang="en-US" b="1" dirty="0">
                <a:solidFill>
                  <a:schemeClr val="tx1"/>
                </a:solidFill>
                <a:latin typeface="Times New Roman" panose="02020603050405020304" pitchFamily="18" charset="0"/>
                <a:ea typeface="宋体" panose="02010600030101010101" pitchFamily="2" charset="-122"/>
              </a:rPr>
              <a:t>             </a:t>
            </a:r>
            <a:r>
              <a:rPr lang="en-US" altLang="zh-CN" b="1" dirty="0">
                <a:solidFill>
                  <a:schemeClr val="tx1"/>
                </a:solidFill>
                <a:latin typeface="Times New Roman" panose="02020603050405020304" pitchFamily="18" charset="0"/>
                <a:ea typeface="宋体" panose="02010600030101010101" pitchFamily="2" charset="-122"/>
              </a:rPr>
              <a:t>2</a:t>
            </a:r>
            <a:r>
              <a:rPr lang="zh-CN" altLang="en-US" b="1" dirty="0">
                <a:solidFill>
                  <a:schemeClr val="tx1"/>
                </a:solidFill>
                <a:latin typeface="Times New Roman" panose="02020603050405020304" pitchFamily="18" charset="0"/>
                <a:ea typeface="宋体" panose="02010600030101010101" pitchFamily="2" charset="-122"/>
              </a:rPr>
              <a:t>）使血红素硝基化，从而使人中毒。</a:t>
            </a:r>
          </a:p>
          <a:p>
            <a:pPr>
              <a:spcBef>
                <a:spcPct val="20000"/>
              </a:spcBef>
            </a:pPr>
            <a:r>
              <a:rPr lang="zh-CN" altLang="en-US" b="1" dirty="0">
                <a:solidFill>
                  <a:schemeClr val="tx1"/>
                </a:solidFill>
                <a:latin typeface="Times New Roman" panose="02020603050405020304" pitchFamily="18" charset="0"/>
                <a:ea typeface="宋体" panose="02010600030101010101" pitchFamily="2" charset="-122"/>
              </a:rPr>
              <a:t>             </a:t>
            </a:r>
            <a:r>
              <a:rPr lang="en-US" altLang="zh-CN" b="1" dirty="0">
                <a:solidFill>
                  <a:schemeClr val="tx1"/>
                </a:solidFill>
                <a:latin typeface="Times New Roman" panose="02020603050405020304" pitchFamily="18" charset="0"/>
                <a:ea typeface="宋体" panose="02010600030101010101" pitchFamily="2" charset="-122"/>
              </a:rPr>
              <a:t>3</a:t>
            </a:r>
            <a:r>
              <a:rPr lang="zh-CN" altLang="en-US" b="1" dirty="0">
                <a:solidFill>
                  <a:schemeClr val="tx1"/>
                </a:solidFill>
                <a:latin typeface="Times New Roman" panose="02020603050405020304" pitchFamily="18" charset="0"/>
                <a:ea typeface="宋体" panose="02010600030101010101" pitchFamily="2" charset="-122"/>
              </a:rPr>
              <a:t>）形成酸雨，光化学烟雾。</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500" fill="hold"/>
                                        <p:tgtEl>
                                          <p:spTgt spid="20483"/>
                                        </p:tgtEl>
                                        <p:attrNameLst>
                                          <p:attrName>ppt_x</p:attrName>
                                        </p:attrNameLst>
                                      </p:cBhvr>
                                      <p:tavLst>
                                        <p:tav tm="0">
                                          <p:val>
                                            <p:strVal val="#ppt_x"/>
                                          </p:val>
                                        </p:tav>
                                        <p:tav tm="100000">
                                          <p:val>
                                            <p:strVal val="#ppt_x"/>
                                          </p:val>
                                        </p:tav>
                                      </p:tavLst>
                                    </p:anim>
                                    <p:anim calcmode="lin" valueType="num">
                                      <p:cBhvr>
                                        <p:cTn id="8" dur="500" fill="hold"/>
                                        <p:tgtEl>
                                          <p:spTgt spid="20483"/>
                                        </p:tgtEl>
                                        <p:attrNameLst>
                                          <p:attrName>ppt_y</p:attrName>
                                        </p:attrNameLst>
                                      </p:cBhvr>
                                      <p:tavLst>
                                        <p:tav tm="0">
                                          <p:val>
                                            <p:strVal val="#ppt_y-#ppt_h/2"/>
                                          </p:val>
                                        </p:tav>
                                        <p:tav tm="100000">
                                          <p:val>
                                            <p:strVal val="#ppt_y"/>
                                          </p:val>
                                        </p:tav>
                                      </p:tavLst>
                                    </p:anim>
                                    <p:anim calcmode="lin" valueType="num">
                                      <p:cBhvr>
                                        <p:cTn id="9" dur="500" fill="hold"/>
                                        <p:tgtEl>
                                          <p:spTgt spid="20483"/>
                                        </p:tgtEl>
                                        <p:attrNameLst>
                                          <p:attrName>ppt_w</p:attrName>
                                        </p:attrNameLst>
                                      </p:cBhvr>
                                      <p:tavLst>
                                        <p:tav tm="0">
                                          <p:val>
                                            <p:strVal val="#ppt_w"/>
                                          </p:val>
                                        </p:tav>
                                        <p:tav tm="100000">
                                          <p:val>
                                            <p:strVal val="#ppt_w"/>
                                          </p:val>
                                        </p:tav>
                                      </p:tavLst>
                                    </p:anim>
                                    <p:anim calcmode="lin" valueType="num">
                                      <p:cBhvr>
                                        <p:cTn id="10" dur="500" fill="hold"/>
                                        <p:tgtEl>
                                          <p:spTgt spid="20483"/>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0484"/>
                                        </p:tgtEl>
                                        <p:attrNameLst>
                                          <p:attrName>style.visibility</p:attrName>
                                        </p:attrNameLst>
                                      </p:cBhvr>
                                      <p:to>
                                        <p:strVal val="visible"/>
                                      </p:to>
                                    </p:set>
                                    <p:animEffect transition="in" filter="blinds(horizontal)">
                                      <p:cBhvr>
                                        <p:cTn id="15" dur="500"/>
                                        <p:tgtEl>
                                          <p:spTgt spid="2048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0485"/>
                                        </p:tgtEl>
                                        <p:attrNameLst>
                                          <p:attrName>style.visibility</p:attrName>
                                        </p:attrNameLst>
                                      </p:cBhvr>
                                      <p:to>
                                        <p:strVal val="visible"/>
                                      </p:to>
                                    </p:set>
                                    <p:animEffect transition="in" filter="blinds(horizontal)">
                                      <p:cBhvr>
                                        <p:cTn id="20" dur="500"/>
                                        <p:tgtEl>
                                          <p:spTgt spid="20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P spid="20484" grpId="0"/>
      <p:bldP spid="2048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33793"/>
          <p:cNvSpPr>
            <a:spLocks noGrp="1"/>
          </p:cNvSpPr>
          <p:nvPr>
            <p:ph type="title"/>
          </p:nvPr>
        </p:nvSpPr>
        <p:spPr>
          <a:noFill/>
          <a:ln>
            <a:noFill/>
          </a:ln>
        </p:spPr>
        <p:txBody>
          <a:bodyPr anchor="ctr"/>
          <a:lstStyle/>
          <a:p>
            <a:r>
              <a:rPr lang="zh-CN" altLang="en-US" sz="3200" b="1" dirty="0">
                <a:solidFill>
                  <a:srgbClr val="C00000"/>
                </a:solidFill>
                <a:latin typeface="隶书" panose="02010509060101010101" pitchFamily="49" charset="-122"/>
                <a:ea typeface="隶书" panose="02010509060101010101" pitchFamily="49" charset="-122"/>
              </a:rPr>
              <a:t>（</a:t>
            </a:r>
            <a:r>
              <a:rPr lang="en-US" altLang="zh-CN" sz="3200" b="1" dirty="0">
                <a:solidFill>
                  <a:srgbClr val="C00000"/>
                </a:solidFill>
                <a:latin typeface="隶书" panose="02010509060101010101" pitchFamily="49" charset="-122"/>
                <a:ea typeface="隶书" panose="02010509060101010101" pitchFamily="49" charset="-122"/>
              </a:rPr>
              <a:t>5</a:t>
            </a:r>
            <a:r>
              <a:rPr lang="zh-CN" altLang="en-US" sz="3200" b="1" dirty="0">
                <a:solidFill>
                  <a:srgbClr val="C00000"/>
                </a:solidFill>
                <a:latin typeface="隶书" panose="02010509060101010101" pitchFamily="49" charset="-122"/>
                <a:ea typeface="隶书" panose="02010509060101010101" pitchFamily="49" charset="-122"/>
              </a:rPr>
              <a:t>）碳氢化合物</a:t>
            </a:r>
            <a:r>
              <a:rPr lang="en-US" altLang="zh-CN" sz="3200" b="1" dirty="0">
                <a:solidFill>
                  <a:srgbClr val="C00000"/>
                </a:solidFill>
                <a:latin typeface="隶书" panose="02010509060101010101" pitchFamily="49" charset="-122"/>
                <a:ea typeface="隶书" panose="02010509060101010101" pitchFamily="49" charset="-122"/>
              </a:rPr>
              <a:t>HC</a:t>
            </a:r>
            <a:r>
              <a:rPr lang="zh-CN" altLang="en-US" sz="3200" b="1" dirty="0">
                <a:solidFill>
                  <a:srgbClr val="C00000"/>
                </a:solidFill>
                <a:latin typeface="隶书" panose="02010509060101010101" pitchFamily="49" charset="-122"/>
                <a:ea typeface="隶书" panose="02010509060101010101" pitchFamily="49" charset="-122"/>
              </a:rPr>
              <a:t>（烃类）</a:t>
            </a:r>
            <a:br>
              <a:rPr lang="zh-CN" altLang="en-US" sz="4000" dirty="0">
                <a:solidFill>
                  <a:srgbClr val="C00000"/>
                </a:solidFill>
                <a:latin typeface="隶书" panose="02010509060101010101" pitchFamily="49" charset="-122"/>
                <a:ea typeface="隶书" panose="02010509060101010101" pitchFamily="49" charset="-122"/>
              </a:rPr>
            </a:br>
            <a:endParaRPr lang="zh-CN" altLang="en-US" sz="4000" dirty="0">
              <a:solidFill>
                <a:srgbClr val="C00000"/>
              </a:solidFill>
              <a:latin typeface="隶书" panose="02010509060101010101" pitchFamily="49" charset="-122"/>
              <a:ea typeface="隶书" panose="02010509060101010101" pitchFamily="49" charset="-122"/>
            </a:endParaRPr>
          </a:p>
        </p:txBody>
      </p:sp>
      <p:sp>
        <p:nvSpPr>
          <p:cNvPr id="33795" name="内容占位符 33794"/>
          <p:cNvSpPr>
            <a:spLocks noGrp="1"/>
          </p:cNvSpPr>
          <p:nvPr>
            <p:ph idx="1"/>
          </p:nvPr>
        </p:nvSpPr>
        <p:spPr>
          <a:noFill/>
          <a:ln>
            <a:noFill/>
          </a:ln>
        </p:spPr>
        <p:txBody>
          <a:bodyPr anchor="t"/>
          <a:lstStyle/>
          <a:p>
            <a:pPr>
              <a:buNone/>
            </a:pPr>
            <a:r>
              <a:rPr lang="zh-CN" altLang="en-US" sz="2400" b="1" dirty="0">
                <a:solidFill>
                  <a:schemeClr val="tx1"/>
                </a:solidFill>
              </a:rPr>
              <a:t>污染源：</a:t>
            </a:r>
            <a:r>
              <a:rPr lang="en-US" altLang="zh-CN" sz="2400" b="1" dirty="0">
                <a:solidFill>
                  <a:schemeClr val="tx1"/>
                </a:solidFill>
              </a:rPr>
              <a:t>1</a:t>
            </a:r>
            <a:r>
              <a:rPr lang="zh-CN" altLang="en-US" sz="2400" b="1" dirty="0">
                <a:solidFill>
                  <a:schemeClr val="tx1"/>
                </a:solidFill>
              </a:rPr>
              <a:t>）炼油厂</a:t>
            </a:r>
          </a:p>
          <a:p>
            <a:pPr>
              <a:buNone/>
            </a:pPr>
            <a:r>
              <a:rPr lang="zh-CN" altLang="en-US" sz="2400" b="1" dirty="0">
                <a:solidFill>
                  <a:schemeClr val="tx1"/>
                </a:solidFill>
              </a:rPr>
              <a:t>                </a:t>
            </a:r>
            <a:r>
              <a:rPr lang="en-US" altLang="zh-CN" sz="2400" b="1" dirty="0">
                <a:solidFill>
                  <a:schemeClr val="tx1"/>
                </a:solidFill>
              </a:rPr>
              <a:t>2</a:t>
            </a:r>
            <a:r>
              <a:rPr lang="zh-CN" altLang="en-US" sz="2400" b="1" dirty="0">
                <a:solidFill>
                  <a:schemeClr val="tx1"/>
                </a:solidFill>
              </a:rPr>
              <a:t>）汽车尾气</a:t>
            </a:r>
          </a:p>
          <a:p>
            <a:pPr>
              <a:buNone/>
            </a:pPr>
            <a:r>
              <a:rPr lang="zh-CN" altLang="en-US" sz="2400" b="1" dirty="0">
                <a:solidFill>
                  <a:schemeClr val="tx1"/>
                </a:solidFill>
              </a:rPr>
              <a:t>危害：</a:t>
            </a:r>
            <a:r>
              <a:rPr lang="en-US" altLang="zh-CN" sz="2400" b="1" dirty="0">
                <a:solidFill>
                  <a:schemeClr val="tx1"/>
                </a:solidFill>
              </a:rPr>
              <a:t>1</a:t>
            </a:r>
            <a:r>
              <a:rPr lang="zh-CN" altLang="en-US" sz="2400" b="1" dirty="0">
                <a:solidFill>
                  <a:schemeClr val="tx1"/>
                </a:solidFill>
              </a:rPr>
              <a:t>）有害有机物</a:t>
            </a:r>
          </a:p>
          <a:p>
            <a:pPr>
              <a:buNone/>
            </a:pPr>
            <a:r>
              <a:rPr lang="zh-CN" altLang="en-US" sz="2400" b="1" dirty="0">
                <a:solidFill>
                  <a:schemeClr val="tx1"/>
                </a:solidFill>
              </a:rPr>
              <a:t>                如：</a:t>
            </a:r>
            <a:r>
              <a:rPr lang="en-US" altLang="zh-CN" sz="2400" b="1" dirty="0">
                <a:solidFill>
                  <a:schemeClr val="tx1"/>
                </a:solidFill>
              </a:rPr>
              <a:t>3</a:t>
            </a:r>
            <a:r>
              <a:rPr lang="zh-CN" altLang="en-US" sz="2400" b="1" dirty="0">
                <a:solidFill>
                  <a:schemeClr val="tx1"/>
                </a:solidFill>
              </a:rPr>
              <a:t>，</a:t>
            </a:r>
            <a:r>
              <a:rPr lang="en-US" altLang="zh-CN" sz="2400" b="1">
                <a:solidFill>
                  <a:schemeClr val="tx1"/>
                </a:solidFill>
              </a:rPr>
              <a:t>4—</a:t>
            </a:r>
            <a:r>
              <a:rPr lang="zh-CN" altLang="en-US" sz="2400" b="1" dirty="0">
                <a:solidFill>
                  <a:schemeClr val="tx1"/>
                </a:solidFill>
              </a:rPr>
              <a:t>苯并芘   一种强致癌物</a:t>
            </a:r>
          </a:p>
          <a:p>
            <a:pPr>
              <a:buNone/>
            </a:pPr>
            <a:r>
              <a:rPr lang="zh-CN" altLang="en-US" sz="2400" b="1" dirty="0">
                <a:solidFill>
                  <a:schemeClr val="tx1"/>
                </a:solidFill>
              </a:rPr>
              <a:t>            </a:t>
            </a:r>
            <a:r>
              <a:rPr lang="en-US" altLang="zh-CN" sz="2400" b="1" dirty="0">
                <a:solidFill>
                  <a:schemeClr val="tx1"/>
                </a:solidFill>
              </a:rPr>
              <a:t>2</a:t>
            </a:r>
            <a:r>
              <a:rPr lang="zh-CN" altLang="en-US" sz="2400" b="1" dirty="0">
                <a:solidFill>
                  <a:schemeClr val="tx1"/>
                </a:solidFill>
              </a:rPr>
              <a:t>）形成光化学烟雾</a:t>
            </a:r>
          </a:p>
        </p:txBody>
      </p:sp>
      <p:sp>
        <p:nvSpPr>
          <p:cNvPr id="33796" name="文本框 33795"/>
          <p:cNvSpPr txBox="1"/>
          <p:nvPr/>
        </p:nvSpPr>
        <p:spPr>
          <a:xfrm>
            <a:off x="1371600" y="4648200"/>
            <a:ext cx="6096000" cy="1311275"/>
          </a:xfrm>
          <a:prstGeom prst="rect">
            <a:avLst/>
          </a:prstGeom>
          <a:solidFill>
            <a:srgbClr val="FF9B37"/>
          </a:solidFill>
          <a:ln w="9525">
            <a:noFill/>
          </a:ln>
          <a:effectLst>
            <a:outerShdw dist="107763" dir="2699999" algn="ctr" rotWithShape="0">
              <a:schemeClr val="tx1"/>
            </a:outerShdw>
          </a:effectLst>
        </p:spPr>
        <p:txBody>
          <a:bodyPr anchor="t">
            <a:spAutoFit/>
          </a:bodyPr>
          <a:lstStyle/>
          <a:p>
            <a:pPr>
              <a:spcBef>
                <a:spcPct val="50000"/>
              </a:spcBef>
            </a:pPr>
            <a:r>
              <a:rPr lang="en-US" altLang="zh-CN" sz="2000" b="1" dirty="0">
                <a:latin typeface="Times New Roman" panose="02020603050405020304" pitchFamily="18" charset="0"/>
                <a:ea typeface="宋体" panose="02010600030101010101" pitchFamily="2" charset="-122"/>
              </a:rPr>
              <a:t>        </a:t>
            </a:r>
            <a:r>
              <a:rPr lang="zh-CN" altLang="en-US" sz="2000" b="1" dirty="0">
                <a:latin typeface="Times New Roman" panose="02020603050405020304" pitchFamily="18" charset="0"/>
                <a:ea typeface="宋体" panose="02010600030101010101" pitchFamily="2" charset="-122"/>
              </a:rPr>
              <a:t>汽车尾气中每</a:t>
            </a:r>
            <a:r>
              <a:rPr lang="en-US" altLang="zh-CN" sz="2000" b="1" dirty="0">
                <a:latin typeface="Times New Roman" panose="02020603050405020304" pitchFamily="18" charset="0"/>
                <a:ea typeface="宋体" panose="02010600030101010101" pitchFamily="2" charset="-122"/>
              </a:rPr>
              <a:t>1g</a:t>
            </a:r>
            <a:r>
              <a:rPr lang="zh-CN" altLang="en-US" sz="2000" b="1" dirty="0">
                <a:latin typeface="Times New Roman" panose="02020603050405020304" pitchFamily="18" charset="0"/>
                <a:ea typeface="宋体" panose="02010600030101010101" pitchFamily="2" charset="-122"/>
              </a:rPr>
              <a:t>烟尘约含</a:t>
            </a:r>
            <a:r>
              <a:rPr lang="en-US" altLang="zh-CN" sz="2000" b="1" dirty="0">
                <a:latin typeface="Times New Roman" panose="02020603050405020304" pitchFamily="18" charset="0"/>
                <a:ea typeface="宋体" panose="02010600030101010101" pitchFamily="2" charset="-122"/>
              </a:rPr>
              <a:t>3</a:t>
            </a:r>
            <a:r>
              <a:rPr lang="zh-CN" altLang="en-US" sz="2000" b="1" dirty="0">
                <a:latin typeface="Times New Roman" panose="02020603050405020304" pitchFamily="18" charset="0"/>
                <a:ea typeface="宋体" panose="02010600030101010101" pitchFamily="2" charset="-122"/>
              </a:rPr>
              <a:t>，</a:t>
            </a:r>
            <a:r>
              <a:rPr lang="en-US" altLang="zh-CN" sz="2000" b="1">
                <a:latin typeface="Times New Roman" panose="02020603050405020304" pitchFamily="18" charset="0"/>
                <a:ea typeface="宋体" panose="02010600030101010101" pitchFamily="2" charset="-122"/>
              </a:rPr>
              <a:t>4—</a:t>
            </a:r>
            <a:r>
              <a:rPr lang="zh-CN" altLang="en-US" sz="2000" b="1" dirty="0">
                <a:latin typeface="Times New Roman" panose="02020603050405020304" pitchFamily="18" charset="0"/>
                <a:ea typeface="宋体" panose="02010600030101010101" pitchFamily="2" charset="-122"/>
              </a:rPr>
              <a:t>苯并芘 </a:t>
            </a:r>
            <a:r>
              <a:rPr lang="en-US" altLang="zh-CN" sz="2000" b="1">
                <a:latin typeface="Times New Roman" panose="02020603050405020304" pitchFamily="18" charset="0"/>
                <a:ea typeface="宋体" panose="02010600030101010101" pitchFamily="2" charset="-122"/>
              </a:rPr>
              <a:t>70μg</a:t>
            </a:r>
          </a:p>
          <a:p>
            <a:pPr>
              <a:spcBef>
                <a:spcPct val="50000"/>
              </a:spcBef>
            </a:pPr>
            <a:r>
              <a:rPr lang="en-US" altLang="zh-CN" sz="2000" b="1" dirty="0">
                <a:latin typeface="Times New Roman" panose="02020603050405020304" pitchFamily="18" charset="0"/>
                <a:ea typeface="宋体" panose="02010600030101010101" pitchFamily="2" charset="-122"/>
              </a:rPr>
              <a:t>        </a:t>
            </a:r>
            <a:r>
              <a:rPr lang="zh-CN" altLang="en-US" sz="2000" b="1" dirty="0">
                <a:latin typeface="Times New Roman" panose="02020603050405020304" pitchFamily="18" charset="0"/>
                <a:ea typeface="宋体" panose="02010600030101010101" pitchFamily="2" charset="-122"/>
              </a:rPr>
              <a:t>汽车行驶</a:t>
            </a:r>
            <a:r>
              <a:rPr lang="en-US" altLang="zh-CN" sz="2000" b="1" dirty="0">
                <a:latin typeface="Times New Roman" panose="02020603050405020304" pitchFamily="18" charset="0"/>
                <a:ea typeface="宋体" panose="02010600030101010101" pitchFamily="2" charset="-122"/>
              </a:rPr>
              <a:t>1</a:t>
            </a:r>
            <a:r>
              <a:rPr lang="zh-CN" altLang="en-US" sz="2000" b="1" dirty="0">
                <a:latin typeface="Times New Roman" panose="02020603050405020304" pitchFamily="18" charset="0"/>
                <a:ea typeface="宋体" panose="02010600030101010101" pitchFamily="2" charset="-122"/>
              </a:rPr>
              <a:t>小时可排放</a:t>
            </a:r>
            <a:r>
              <a:rPr lang="en-US" altLang="zh-CN" sz="2000" b="1">
                <a:latin typeface="Times New Roman" panose="02020603050405020304" pitchFamily="18" charset="0"/>
                <a:ea typeface="宋体" panose="02010600030101010101" pitchFamily="2" charset="-122"/>
              </a:rPr>
              <a:t>300μg 3</a:t>
            </a:r>
            <a:r>
              <a:rPr lang="zh-CN" altLang="en-US" sz="2000" b="1">
                <a:latin typeface="Times New Roman" panose="02020603050405020304" pitchFamily="18" charset="0"/>
                <a:ea typeface="宋体" panose="02010600030101010101" pitchFamily="2" charset="-122"/>
              </a:rPr>
              <a:t>，</a:t>
            </a:r>
            <a:r>
              <a:rPr lang="en-US" altLang="zh-CN" sz="2000" b="1">
                <a:latin typeface="Times New Roman" panose="02020603050405020304" pitchFamily="18" charset="0"/>
                <a:ea typeface="宋体" panose="02010600030101010101" pitchFamily="2" charset="-122"/>
              </a:rPr>
              <a:t>4—</a:t>
            </a:r>
            <a:r>
              <a:rPr lang="zh-CN" altLang="en-US" sz="2000" b="1" dirty="0">
                <a:latin typeface="Times New Roman" panose="02020603050405020304" pitchFamily="18" charset="0"/>
                <a:ea typeface="宋体" panose="02010600030101010101" pitchFamily="2" charset="-122"/>
              </a:rPr>
              <a:t>苯并芘 </a:t>
            </a:r>
          </a:p>
          <a:p>
            <a:pPr>
              <a:spcBef>
                <a:spcPct val="50000"/>
              </a:spcBef>
            </a:pPr>
            <a:r>
              <a:rPr lang="zh-CN" altLang="en-US" sz="2000" b="1" dirty="0">
                <a:latin typeface="Times New Roman" panose="02020603050405020304" pitchFamily="18" charset="0"/>
                <a:ea typeface="宋体" panose="02010600030101010101" pitchFamily="2" charset="-122"/>
              </a:rPr>
              <a:t>        </a:t>
            </a:r>
            <a:r>
              <a:rPr lang="en-US" altLang="zh-CN" sz="2000" b="1" dirty="0">
                <a:latin typeface="Times New Roman" panose="02020603050405020304" pitchFamily="18" charset="0"/>
                <a:ea typeface="宋体" panose="02010600030101010101" pitchFamily="2" charset="-122"/>
              </a:rPr>
              <a:t>3</a:t>
            </a:r>
            <a:r>
              <a:rPr lang="zh-CN" altLang="en-US" sz="2000" b="1" dirty="0">
                <a:latin typeface="Times New Roman" panose="02020603050405020304" pitchFamily="18" charset="0"/>
                <a:ea typeface="宋体" panose="02010600030101010101" pitchFamily="2" charset="-122"/>
              </a:rPr>
              <a:t>，</a:t>
            </a:r>
            <a:r>
              <a:rPr lang="en-US" altLang="zh-CN" sz="2000" b="1">
                <a:latin typeface="Times New Roman" panose="02020603050405020304" pitchFamily="18" charset="0"/>
                <a:ea typeface="宋体" panose="02010600030101010101" pitchFamily="2" charset="-122"/>
              </a:rPr>
              <a:t>4—</a:t>
            </a:r>
            <a:r>
              <a:rPr lang="zh-CN" altLang="en-US" sz="2000" b="1" dirty="0">
                <a:latin typeface="Times New Roman" panose="02020603050405020304" pitchFamily="18" charset="0"/>
                <a:ea typeface="宋体" panose="02010600030101010101" pitchFamily="2" charset="-122"/>
              </a:rPr>
              <a:t>苯并芘 的最小致癌量为：</a:t>
            </a:r>
            <a:r>
              <a:rPr lang="en-US" altLang="zh-CN" sz="2000" b="1">
                <a:latin typeface="Times New Roman" panose="02020603050405020304" pitchFamily="18" charset="0"/>
                <a:ea typeface="宋体" panose="02010600030101010101" pitchFamily="2" charset="-122"/>
              </a:rPr>
              <a:t>0.4~2μg</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linds(vertical)">
                                      <p:cBhvr>
                                        <p:cTn id="7" dur="500"/>
                                        <p:tgtEl>
                                          <p:spTgt spid="3379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796"/>
                                        </p:tgtEl>
                                        <p:attrNameLst>
                                          <p:attrName>style.visibility</p:attrName>
                                        </p:attrNameLst>
                                      </p:cBhvr>
                                      <p:to>
                                        <p:strVal val="visible"/>
                                      </p:to>
                                    </p:set>
                                    <p:animEffect transition="in" filter="blinds(horizontal)">
                                      <p:cBhvr>
                                        <p:cTn id="12" dur="500"/>
                                        <p:tgtEl>
                                          <p:spTgt spid="33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p:bldP spid="3379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34817"/>
          <p:cNvSpPr>
            <a:spLocks noGrp="1"/>
          </p:cNvSpPr>
          <p:nvPr>
            <p:ph type="title"/>
          </p:nvPr>
        </p:nvSpPr>
        <p:spPr>
          <a:noFill/>
          <a:ln>
            <a:noFill/>
          </a:ln>
        </p:spPr>
        <p:txBody>
          <a:bodyPr anchor="ctr"/>
          <a:lstStyle/>
          <a:p>
            <a:br>
              <a:rPr lang="zh-CN" altLang="en-US" sz="3600" dirty="0">
                <a:solidFill>
                  <a:srgbClr val="FFFF00"/>
                </a:solidFill>
                <a:latin typeface="隶书" panose="02010509060101010101" pitchFamily="49" charset="-122"/>
                <a:ea typeface="隶书" panose="02010509060101010101" pitchFamily="49" charset="-122"/>
              </a:rPr>
            </a:br>
            <a:endParaRPr lang="zh-CN" altLang="en-US" sz="3600" dirty="0">
              <a:solidFill>
                <a:srgbClr val="FFFF00"/>
              </a:solidFill>
              <a:latin typeface="隶书" panose="02010509060101010101" pitchFamily="49" charset="-122"/>
              <a:ea typeface="隶书" panose="02010509060101010101" pitchFamily="49" charset="-122"/>
            </a:endParaRPr>
          </a:p>
        </p:txBody>
      </p:sp>
      <p:sp>
        <p:nvSpPr>
          <p:cNvPr id="34819" name="内容占位符 34818"/>
          <p:cNvSpPr>
            <a:spLocks noGrp="1"/>
          </p:cNvSpPr>
          <p:nvPr>
            <p:ph idx="1"/>
          </p:nvPr>
        </p:nvSpPr>
        <p:spPr>
          <a:xfrm>
            <a:off x="419100" y="1047115"/>
            <a:ext cx="8803640" cy="4526280"/>
          </a:xfrm>
          <a:noFill/>
          <a:ln>
            <a:noFill/>
          </a:ln>
        </p:spPr>
        <p:txBody>
          <a:bodyPr anchor="t"/>
          <a:lstStyle/>
          <a:p>
            <a:pPr>
              <a:lnSpc>
                <a:spcPct val="90000"/>
              </a:lnSpc>
              <a:buNone/>
            </a:pPr>
            <a:endParaRPr lang="en-US" altLang="zh-CN" b="1" dirty="0">
              <a:solidFill>
                <a:srgbClr val="FFFF00"/>
              </a:solidFill>
            </a:endParaRPr>
          </a:p>
          <a:p>
            <a:pPr lvl="1">
              <a:lnSpc>
                <a:spcPct val="90000"/>
              </a:lnSpc>
              <a:buNone/>
            </a:pPr>
            <a:r>
              <a:rPr lang="en-US" altLang="zh-CN" b="1" dirty="0">
                <a:solidFill>
                  <a:schemeClr val="bg1"/>
                </a:solidFill>
              </a:rPr>
              <a:t> </a:t>
            </a:r>
            <a:endParaRPr lang="en-US" altLang="zh-CN" b="1" dirty="0"/>
          </a:p>
          <a:p>
            <a:pPr lvl="1">
              <a:lnSpc>
                <a:spcPct val="90000"/>
              </a:lnSpc>
              <a:buNone/>
            </a:pPr>
            <a:r>
              <a:rPr lang="zh-CN" altLang="en-US" sz="2400" b="1" dirty="0">
                <a:solidFill>
                  <a:schemeClr val="tx1"/>
                </a:solidFill>
                <a:cs typeface="Arial" panose="020B0604020202020204" pitchFamily="34" charset="0"/>
              </a:rPr>
              <a:t>主要反应：                      </a:t>
            </a:r>
            <a:r>
              <a:rPr lang="en-US" altLang="zh-CN" sz="2400" b="1">
                <a:solidFill>
                  <a:schemeClr val="tx1"/>
                </a:solidFill>
              </a:rPr>
              <a:t>hν</a:t>
            </a:r>
          </a:p>
          <a:p>
            <a:pPr lvl="1">
              <a:lnSpc>
                <a:spcPct val="90000"/>
              </a:lnSpc>
              <a:buNone/>
            </a:pPr>
            <a:r>
              <a:rPr lang="en-US" altLang="zh-CN" sz="2400" b="1">
                <a:solidFill>
                  <a:schemeClr val="tx1"/>
                </a:solidFill>
              </a:rPr>
              <a:t>                               NO</a:t>
            </a:r>
            <a:r>
              <a:rPr lang="en-US" altLang="zh-CN" sz="2400" b="1" baseline="-25000">
                <a:solidFill>
                  <a:schemeClr val="tx1"/>
                </a:solidFill>
              </a:rPr>
              <a:t>2</a:t>
            </a:r>
            <a:r>
              <a:rPr lang="en-US" altLang="zh-CN" sz="2400" b="1" dirty="0">
                <a:solidFill>
                  <a:schemeClr val="tx1"/>
                </a:solidFill>
              </a:rPr>
              <a:t>                 NO + O(</a:t>
            </a:r>
            <a:r>
              <a:rPr lang="zh-CN" altLang="en-US" sz="2400" b="1" dirty="0">
                <a:solidFill>
                  <a:schemeClr val="tx1"/>
                </a:solidFill>
                <a:cs typeface="Arial" panose="020B0604020202020204" pitchFamily="34" charset="0"/>
              </a:rPr>
              <a:t>原子氧</a:t>
            </a:r>
            <a:r>
              <a:rPr lang="en-US" altLang="zh-CN" sz="2400" b="1">
                <a:solidFill>
                  <a:schemeClr val="tx1"/>
                </a:solidFill>
              </a:rPr>
              <a:t>)</a:t>
            </a:r>
          </a:p>
          <a:p>
            <a:pPr lvl="1">
              <a:lnSpc>
                <a:spcPct val="90000"/>
              </a:lnSpc>
              <a:buNone/>
            </a:pPr>
            <a:r>
              <a:rPr lang="en-US" altLang="zh-CN" sz="2400" b="1">
                <a:solidFill>
                  <a:schemeClr val="tx1"/>
                </a:solidFill>
              </a:rPr>
              <a:t>                                       λ=392nm</a:t>
            </a:r>
          </a:p>
          <a:p>
            <a:pPr lvl="1">
              <a:lnSpc>
                <a:spcPct val="90000"/>
              </a:lnSpc>
              <a:buNone/>
            </a:pPr>
            <a:r>
              <a:rPr lang="en-US" altLang="zh-CN" sz="2400" b="1">
                <a:solidFill>
                  <a:schemeClr val="tx1"/>
                </a:solidFill>
              </a:rPr>
              <a:t>                               O + O</a:t>
            </a:r>
            <a:r>
              <a:rPr lang="en-US" altLang="zh-CN" sz="2400" b="1" baseline="-25000">
                <a:solidFill>
                  <a:schemeClr val="tx1"/>
                </a:solidFill>
              </a:rPr>
              <a:t>2</a:t>
            </a:r>
            <a:r>
              <a:rPr lang="en-US" altLang="zh-CN" sz="2400" b="1">
                <a:solidFill>
                  <a:schemeClr val="tx1"/>
                </a:solidFill>
              </a:rPr>
              <a:t> → O</a:t>
            </a:r>
            <a:r>
              <a:rPr lang="en-US" altLang="zh-CN" sz="2400" b="1" baseline="-25000">
                <a:solidFill>
                  <a:schemeClr val="tx1"/>
                </a:solidFill>
              </a:rPr>
              <a:t>3</a:t>
            </a:r>
            <a:r>
              <a:rPr lang="en-US" altLang="zh-CN" sz="2400" b="1">
                <a:solidFill>
                  <a:schemeClr val="tx1"/>
                </a:solidFill>
              </a:rPr>
              <a:t>                         O·</a:t>
            </a:r>
          </a:p>
          <a:p>
            <a:pPr lvl="1">
              <a:lnSpc>
                <a:spcPct val="90000"/>
              </a:lnSpc>
              <a:buNone/>
            </a:pPr>
            <a:r>
              <a:rPr lang="en-US" altLang="zh-CN" sz="2400" b="1">
                <a:solidFill>
                  <a:schemeClr val="tx1"/>
                </a:solidFill>
              </a:rPr>
              <a:t>                               O</a:t>
            </a:r>
            <a:r>
              <a:rPr lang="en-US" altLang="zh-CN" sz="2400" b="1" baseline="-25000">
                <a:solidFill>
                  <a:schemeClr val="tx1"/>
                </a:solidFill>
              </a:rPr>
              <a:t>3</a:t>
            </a:r>
            <a:r>
              <a:rPr lang="en-US" altLang="zh-CN" sz="2400" b="1">
                <a:solidFill>
                  <a:schemeClr val="tx1"/>
                </a:solidFill>
              </a:rPr>
              <a:t> + HC → R—COH + R—C =O</a:t>
            </a:r>
          </a:p>
          <a:p>
            <a:pPr lvl="1">
              <a:lnSpc>
                <a:spcPct val="90000"/>
              </a:lnSpc>
              <a:buNone/>
            </a:pPr>
            <a:r>
              <a:rPr lang="en-US" altLang="zh-CN" sz="2400" b="1">
                <a:solidFill>
                  <a:schemeClr val="tx1"/>
                </a:solidFill>
              </a:rPr>
              <a:t>                                    O·</a:t>
            </a:r>
            <a:r>
              <a:rPr lang="en-US" altLang="zh-CN" sz="2400" b="1" dirty="0">
                <a:solidFill>
                  <a:schemeClr val="tx1"/>
                </a:solidFill>
              </a:rPr>
              <a:t>            </a:t>
            </a:r>
            <a:r>
              <a:rPr lang="zh-CN" altLang="en-US" sz="2400" b="1" dirty="0">
                <a:solidFill>
                  <a:schemeClr val="tx1"/>
                </a:solidFill>
                <a:cs typeface="Arial" panose="020B0604020202020204" pitchFamily="34" charset="0"/>
              </a:rPr>
              <a:t>（醛）       </a:t>
            </a:r>
            <a:r>
              <a:rPr lang="en-US" altLang="zh-CN" sz="2400" b="1" dirty="0">
                <a:solidFill>
                  <a:schemeClr val="tx1"/>
                </a:solidFill>
              </a:rPr>
              <a:t>(</a:t>
            </a:r>
            <a:r>
              <a:rPr lang="zh-CN" altLang="en-US" sz="2400" b="1" dirty="0">
                <a:solidFill>
                  <a:schemeClr val="tx1"/>
                </a:solidFill>
                <a:cs typeface="Arial" panose="020B0604020202020204" pitchFamily="34" charset="0"/>
              </a:rPr>
              <a:t>酰氧基</a:t>
            </a:r>
            <a:r>
              <a:rPr lang="en-US" altLang="zh-CN" sz="2400" b="1">
                <a:solidFill>
                  <a:schemeClr val="tx1"/>
                </a:solidFill>
              </a:rPr>
              <a:t>)</a:t>
            </a:r>
          </a:p>
          <a:p>
            <a:pPr lvl="1">
              <a:lnSpc>
                <a:spcPct val="90000"/>
              </a:lnSpc>
              <a:buNone/>
            </a:pPr>
            <a:r>
              <a:rPr lang="en-US" altLang="zh-CN" sz="2400" b="1">
                <a:solidFill>
                  <a:schemeClr val="tx1"/>
                </a:solidFill>
              </a:rPr>
              <a:t>                             R—C =O + O</a:t>
            </a:r>
            <a:r>
              <a:rPr lang="en-US" altLang="zh-CN" sz="2400" b="1" baseline="-25000">
                <a:solidFill>
                  <a:schemeClr val="tx1"/>
                </a:solidFill>
              </a:rPr>
              <a:t>2</a:t>
            </a:r>
            <a:r>
              <a:rPr lang="en-US" altLang="zh-CN" sz="2400" b="1">
                <a:solidFill>
                  <a:schemeClr val="tx1"/>
                </a:solidFill>
              </a:rPr>
              <a:t> + NO  → R—C = O</a:t>
            </a:r>
          </a:p>
          <a:p>
            <a:pPr lvl="1">
              <a:lnSpc>
                <a:spcPct val="90000"/>
              </a:lnSpc>
              <a:buNone/>
            </a:pPr>
            <a:r>
              <a:rPr lang="en-US" altLang="zh-CN" sz="2400" b="1">
                <a:solidFill>
                  <a:schemeClr val="tx1"/>
                </a:solidFill>
              </a:rPr>
              <a:t>                                                                              O—O—NO</a:t>
            </a:r>
            <a:r>
              <a:rPr lang="en-US" altLang="zh-CN" sz="2400" b="1" baseline="-25000">
                <a:solidFill>
                  <a:schemeClr val="tx1"/>
                </a:solidFill>
              </a:rPr>
              <a:t>2</a:t>
            </a:r>
          </a:p>
          <a:p>
            <a:pPr lvl="1">
              <a:lnSpc>
                <a:spcPct val="90000"/>
              </a:lnSpc>
              <a:buNone/>
            </a:pPr>
            <a:r>
              <a:rPr lang="en-US" altLang="zh-CN" sz="2400" b="1">
                <a:solidFill>
                  <a:schemeClr val="tx1"/>
                </a:solidFill>
              </a:rPr>
              <a:t>                                                                          (PAN)</a:t>
            </a:r>
          </a:p>
          <a:p>
            <a:pPr>
              <a:lnSpc>
                <a:spcPct val="90000"/>
              </a:lnSpc>
              <a:buNone/>
            </a:pPr>
            <a:endParaRPr lang="en-US" altLang="zh-CN" sz="2400" b="1">
              <a:solidFill>
                <a:schemeClr val="tx1"/>
              </a:solidFill>
            </a:endParaRPr>
          </a:p>
        </p:txBody>
      </p:sp>
      <p:sp>
        <p:nvSpPr>
          <p:cNvPr id="34820" name="直接连接符 34819"/>
          <p:cNvSpPr/>
          <p:nvPr/>
        </p:nvSpPr>
        <p:spPr>
          <a:xfrm>
            <a:off x="4391025" y="2627630"/>
            <a:ext cx="990600" cy="0"/>
          </a:xfrm>
          <a:prstGeom prst="line">
            <a:avLst/>
          </a:prstGeom>
          <a:ln w="28575" cap="flat" cmpd="sng">
            <a:solidFill>
              <a:srgbClr val="FF6600"/>
            </a:solidFill>
            <a:prstDash val="solid"/>
            <a:round/>
            <a:headEnd type="none" w="med" len="med"/>
            <a:tailEnd type="triangle" w="med" len="med"/>
          </a:ln>
        </p:spPr>
      </p:sp>
      <p:sp>
        <p:nvSpPr>
          <p:cNvPr id="34821" name="直接连接符 34820"/>
          <p:cNvSpPr/>
          <p:nvPr/>
        </p:nvSpPr>
        <p:spPr>
          <a:xfrm>
            <a:off x="7086600" y="4038600"/>
            <a:ext cx="0" cy="152400"/>
          </a:xfrm>
          <a:prstGeom prst="line">
            <a:avLst/>
          </a:prstGeom>
          <a:ln w="9525" cap="flat" cmpd="sng">
            <a:solidFill>
              <a:schemeClr val="bg1"/>
            </a:solidFill>
            <a:prstDash val="solid"/>
            <a:round/>
            <a:headEnd type="none" w="med" len="med"/>
            <a:tailEnd type="none" w="med" len="med"/>
          </a:ln>
        </p:spPr>
      </p:sp>
      <p:sp>
        <p:nvSpPr>
          <p:cNvPr id="34822" name="直接连接符 34821"/>
          <p:cNvSpPr/>
          <p:nvPr/>
        </p:nvSpPr>
        <p:spPr>
          <a:xfrm>
            <a:off x="3886200" y="4800600"/>
            <a:ext cx="0" cy="228600"/>
          </a:xfrm>
          <a:prstGeom prst="line">
            <a:avLst/>
          </a:prstGeom>
          <a:ln w="9525" cap="flat" cmpd="sng">
            <a:solidFill>
              <a:schemeClr val="bg1"/>
            </a:solidFill>
            <a:prstDash val="solid"/>
            <a:round/>
            <a:headEnd type="none" w="med" len="med"/>
            <a:tailEnd type="none" w="med" len="med"/>
          </a:ln>
        </p:spPr>
      </p:sp>
      <p:sp>
        <p:nvSpPr>
          <p:cNvPr id="34823" name="直接连接符 34822"/>
          <p:cNvSpPr/>
          <p:nvPr/>
        </p:nvSpPr>
        <p:spPr>
          <a:xfrm>
            <a:off x="7010400" y="5257800"/>
            <a:ext cx="0" cy="228600"/>
          </a:xfrm>
          <a:prstGeom prst="line">
            <a:avLst/>
          </a:prstGeom>
          <a:ln w="9525" cap="flat" cmpd="sng">
            <a:solidFill>
              <a:schemeClr val="bg1"/>
            </a:solidFill>
            <a:prstDash val="solid"/>
            <a:round/>
            <a:headEnd type="none" w="med" len="med"/>
            <a:tailEnd type="none" w="med" len="med"/>
          </a:ln>
        </p:spPr>
      </p:sp>
      <p:sp>
        <p:nvSpPr>
          <p:cNvPr id="34824" name="文本框 34823"/>
          <p:cNvSpPr txBox="1"/>
          <p:nvPr/>
        </p:nvSpPr>
        <p:spPr>
          <a:xfrm>
            <a:off x="533400" y="533400"/>
            <a:ext cx="5410200" cy="644525"/>
          </a:xfrm>
          <a:prstGeom prst="rect">
            <a:avLst/>
          </a:prstGeom>
          <a:noFill/>
          <a:ln w="9525">
            <a:noFill/>
          </a:ln>
        </p:spPr>
        <p:txBody>
          <a:bodyPr anchor="t">
            <a:spAutoFit/>
          </a:bodyPr>
          <a:lstStyle/>
          <a:p>
            <a:r>
              <a:rPr lang="en-US" altLang="zh-CN" sz="3600" b="1" dirty="0">
                <a:solidFill>
                  <a:srgbClr val="C00000"/>
                </a:solidFill>
                <a:latin typeface="楷体" panose="02010609060101010101" charset="-122"/>
                <a:ea typeface="楷体" panose="02010609060101010101" charset="-122"/>
              </a:rPr>
              <a:t>1</a:t>
            </a:r>
            <a:r>
              <a:rPr lang="zh-CN" altLang="en-US" sz="3600" b="1" dirty="0">
                <a:solidFill>
                  <a:srgbClr val="C00000"/>
                </a:solidFill>
                <a:latin typeface="楷体" panose="02010609060101010101" charset="-122"/>
                <a:ea typeface="楷体" panose="02010609060101010101" charset="-122"/>
              </a:rPr>
              <a:t>、光化学烟雾</a:t>
            </a:r>
          </a:p>
        </p:txBody>
      </p:sp>
      <p:sp>
        <p:nvSpPr>
          <p:cNvPr id="34825" name="文本框 34824"/>
          <p:cNvSpPr txBox="1"/>
          <p:nvPr/>
        </p:nvSpPr>
        <p:spPr>
          <a:xfrm>
            <a:off x="683260" y="1417955"/>
            <a:ext cx="4953000" cy="1004888"/>
          </a:xfrm>
          <a:prstGeom prst="rect">
            <a:avLst/>
          </a:prstGeom>
          <a:noFill/>
          <a:ln w="9525">
            <a:noFill/>
          </a:ln>
        </p:spPr>
        <p:txBody>
          <a:bodyPr anchor="t">
            <a:spAutoFit/>
          </a:bodyPr>
          <a:lstStyle/>
          <a:p>
            <a:pPr lvl="1" indent="0"/>
            <a:r>
              <a:rPr lang="zh-CN" altLang="en-US" b="1" dirty="0">
                <a:solidFill>
                  <a:schemeClr val="tx1"/>
                </a:solidFill>
                <a:latin typeface="Times New Roman" panose="02020603050405020304" pitchFamily="18" charset="0"/>
                <a:ea typeface="宋体" panose="02010600030101010101" pitchFamily="2" charset="-122"/>
              </a:rPr>
              <a:t>光化学烟雾的形成机理</a:t>
            </a:r>
          </a:p>
          <a:p>
            <a:pPr>
              <a:spcBef>
                <a:spcPct val="50000"/>
              </a:spcBef>
            </a:pPr>
            <a:endParaRPr lang="zh-CN" altLang="en-US" b="1" dirty="0">
              <a:solidFill>
                <a:schemeClr val="tx1"/>
              </a:solidFill>
              <a:latin typeface="Times New Roman" panose="02020603050405020304" pitchFamily="18" charset="0"/>
              <a:ea typeface="宋体" panose="02010600030101010101" pitchFamily="2" charset="-122"/>
            </a:endParaRPr>
          </a:p>
        </p:txBody>
      </p:sp>
      <p:sp>
        <p:nvSpPr>
          <p:cNvPr id="34826" name="文本框 34825"/>
          <p:cNvSpPr txBox="1"/>
          <p:nvPr/>
        </p:nvSpPr>
        <p:spPr>
          <a:xfrm>
            <a:off x="381000" y="4953000"/>
            <a:ext cx="4648200" cy="1609725"/>
          </a:xfrm>
          <a:prstGeom prst="rect">
            <a:avLst/>
          </a:prstGeom>
          <a:solidFill>
            <a:srgbClr val="A50021"/>
          </a:solidFill>
          <a:ln w="9525">
            <a:noFill/>
          </a:ln>
          <a:effectLst>
            <a:outerShdw dist="107763" dir="2699999" algn="ctr" rotWithShape="0">
              <a:schemeClr val="tx1"/>
            </a:outerShdw>
          </a:effectLst>
        </p:spPr>
        <p:txBody>
          <a:bodyPr anchor="t">
            <a:spAutoFit/>
          </a:bodyPr>
          <a:lstStyle/>
          <a:p>
            <a:pPr>
              <a:spcBef>
                <a:spcPct val="5000"/>
              </a:spcBef>
            </a:pPr>
            <a:r>
              <a:rPr lang="en-US" altLang="zh-CN" b="1" dirty="0">
                <a:solidFill>
                  <a:schemeClr val="bg1"/>
                </a:solidFill>
                <a:latin typeface="Times New Roman" panose="02020603050405020304" pitchFamily="18" charset="0"/>
                <a:ea typeface="宋体" panose="02010600030101010101" pitchFamily="2" charset="-122"/>
              </a:rPr>
              <a:t>   </a:t>
            </a:r>
            <a:r>
              <a:rPr lang="zh-CN" altLang="en-US" b="1" dirty="0">
                <a:solidFill>
                  <a:schemeClr val="bg1"/>
                </a:solidFill>
                <a:latin typeface="Times New Roman" panose="02020603050405020304" pitchFamily="18" charset="0"/>
                <a:ea typeface="宋体" panose="02010600030101010101" pitchFamily="2" charset="-122"/>
              </a:rPr>
              <a:t>光化学烟雾中的主要产物为：</a:t>
            </a:r>
          </a:p>
          <a:p>
            <a:pPr>
              <a:spcBef>
                <a:spcPct val="5000"/>
              </a:spcBef>
            </a:pPr>
            <a:r>
              <a:rPr lang="zh-CN" altLang="en-US" b="1" dirty="0">
                <a:solidFill>
                  <a:schemeClr val="bg1"/>
                </a:solidFill>
                <a:latin typeface="Times New Roman" panose="02020603050405020304" pitchFamily="18" charset="0"/>
                <a:ea typeface="宋体" panose="02010600030101010101" pitchFamily="2" charset="-122"/>
              </a:rPr>
              <a:t>  </a:t>
            </a:r>
            <a:r>
              <a:rPr lang="en-US" altLang="zh-CN" b="1">
                <a:solidFill>
                  <a:schemeClr val="bg1"/>
                </a:solidFill>
                <a:latin typeface="Times New Roman" panose="02020603050405020304" pitchFamily="18" charset="0"/>
                <a:ea typeface="宋体" panose="02010600030101010101" pitchFamily="2" charset="-122"/>
              </a:rPr>
              <a:t>O</a:t>
            </a:r>
            <a:r>
              <a:rPr lang="en-US" altLang="zh-CN" b="1" baseline="-25000">
                <a:solidFill>
                  <a:schemeClr val="bg1"/>
                </a:solidFill>
                <a:latin typeface="Times New Roman" panose="02020603050405020304" pitchFamily="18" charset="0"/>
                <a:ea typeface="宋体" panose="02010600030101010101" pitchFamily="2" charset="-122"/>
              </a:rPr>
              <a:t>3</a:t>
            </a:r>
            <a:r>
              <a:rPr lang="zh-CN" altLang="en-US" b="1" dirty="0">
                <a:solidFill>
                  <a:schemeClr val="bg1"/>
                </a:solidFill>
                <a:latin typeface="Times New Roman" panose="02020603050405020304" pitchFamily="18" charset="0"/>
                <a:ea typeface="宋体" panose="02010600030101010101" pitchFamily="2" charset="-122"/>
              </a:rPr>
              <a:t>、醛、酮、</a:t>
            </a:r>
            <a:r>
              <a:rPr lang="en-US" altLang="zh-CN" b="1" dirty="0">
                <a:solidFill>
                  <a:schemeClr val="bg1"/>
                </a:solidFill>
                <a:latin typeface="Times New Roman" panose="02020603050405020304" pitchFamily="18" charset="0"/>
                <a:ea typeface="宋体" panose="02010600030101010101" pitchFamily="2" charset="-122"/>
              </a:rPr>
              <a:t>PAN</a:t>
            </a:r>
            <a:r>
              <a:rPr lang="zh-CN" altLang="en-US" b="1" dirty="0">
                <a:solidFill>
                  <a:schemeClr val="bg1"/>
                </a:solidFill>
                <a:latin typeface="Times New Roman" panose="02020603050405020304" pitchFamily="18" charset="0"/>
                <a:ea typeface="宋体" panose="02010600030101010101" pitchFamily="2" charset="-122"/>
              </a:rPr>
              <a:t>、</a:t>
            </a:r>
            <a:r>
              <a:rPr lang="en-US" altLang="zh-CN" b="1" dirty="0">
                <a:solidFill>
                  <a:schemeClr val="bg1"/>
                </a:solidFill>
                <a:latin typeface="Times New Roman" panose="02020603050405020304" pitchFamily="18" charset="0"/>
                <a:ea typeface="宋体" panose="02010600030101010101" pitchFamily="2" charset="-122"/>
              </a:rPr>
              <a:t>PAB</a:t>
            </a:r>
            <a:r>
              <a:rPr lang="zh-CN" altLang="en-US" b="1" dirty="0">
                <a:solidFill>
                  <a:schemeClr val="bg1"/>
                </a:solidFill>
                <a:latin typeface="Times New Roman" panose="02020603050405020304" pitchFamily="18" charset="0"/>
                <a:ea typeface="宋体" panose="02010600030101010101" pitchFamily="2" charset="-122"/>
              </a:rPr>
              <a:t>等，</a:t>
            </a:r>
          </a:p>
          <a:p>
            <a:pPr>
              <a:spcBef>
                <a:spcPct val="5000"/>
              </a:spcBef>
            </a:pPr>
            <a:r>
              <a:rPr lang="zh-CN" altLang="en-US" b="1">
                <a:solidFill>
                  <a:schemeClr val="bg1"/>
                </a:solidFill>
                <a:latin typeface="Times New Roman" panose="02020603050405020304" pitchFamily="18" charset="0"/>
                <a:ea typeface="宋体" panose="02010600030101010101" pitchFamily="2" charset="-122"/>
              </a:rPr>
              <a:t>  </a:t>
            </a:r>
            <a:r>
              <a:rPr lang="en-US" altLang="zh-CN" b="1">
                <a:solidFill>
                  <a:schemeClr val="bg1"/>
                </a:solidFill>
                <a:latin typeface="Times New Roman" panose="02020603050405020304" pitchFamily="18" charset="0"/>
                <a:ea typeface="宋体" panose="02010600030101010101" pitchFamily="2" charset="-122"/>
              </a:rPr>
              <a:t>PAN——</a:t>
            </a:r>
            <a:r>
              <a:rPr lang="zh-CN" altLang="en-US" b="1" dirty="0">
                <a:solidFill>
                  <a:schemeClr val="bg1"/>
                </a:solidFill>
                <a:latin typeface="Times New Roman" panose="02020603050405020304" pitchFamily="18" charset="0"/>
                <a:ea typeface="宋体" panose="02010600030101010101" pitchFamily="2" charset="-122"/>
              </a:rPr>
              <a:t>过氧乙酰硝酸酯，</a:t>
            </a:r>
          </a:p>
          <a:p>
            <a:pPr>
              <a:spcBef>
                <a:spcPct val="5000"/>
              </a:spcBef>
            </a:pPr>
            <a:r>
              <a:rPr lang="zh-CN" altLang="en-US" b="1">
                <a:solidFill>
                  <a:schemeClr val="bg1"/>
                </a:solidFill>
                <a:latin typeface="Times New Roman" panose="02020603050405020304" pitchFamily="18" charset="0"/>
                <a:ea typeface="宋体" panose="02010600030101010101" pitchFamily="2" charset="-122"/>
              </a:rPr>
              <a:t>  </a:t>
            </a:r>
            <a:r>
              <a:rPr lang="en-US" altLang="zh-CN" b="1">
                <a:solidFill>
                  <a:schemeClr val="bg1"/>
                </a:solidFill>
                <a:latin typeface="Times New Roman" panose="02020603050405020304" pitchFamily="18" charset="0"/>
                <a:ea typeface="宋体" panose="02010600030101010101" pitchFamily="2" charset="-122"/>
              </a:rPr>
              <a:t>PAB——</a:t>
            </a:r>
            <a:r>
              <a:rPr lang="zh-CN" altLang="en-US" b="1" dirty="0">
                <a:solidFill>
                  <a:schemeClr val="bg1"/>
                </a:solidFill>
                <a:latin typeface="Times New Roman" panose="02020603050405020304" pitchFamily="18" charset="0"/>
                <a:ea typeface="宋体" panose="02010600030101010101" pitchFamily="2" charset="-122"/>
              </a:rPr>
              <a:t>过氧苯酰基硝酸酯</a:t>
            </a:r>
            <a:endParaRPr lang="zh-CN" altLang="en-US" b="1">
              <a:solidFill>
                <a:schemeClr val="bg1"/>
              </a:solidFill>
              <a:latin typeface="Times New Roman" panose="02020603050405020304" pitchFamily="18" charset="0"/>
              <a:ea typeface="宋体" panose="02010600030101010101" pitchFamily="2"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4824"/>
                                        </p:tgtEl>
                                        <p:attrNameLst>
                                          <p:attrName>style.visibility</p:attrName>
                                        </p:attrNameLst>
                                      </p:cBhvr>
                                      <p:to>
                                        <p:strVal val="visible"/>
                                      </p:to>
                                    </p:set>
                                    <p:anim calcmode="lin" valueType="num">
                                      <p:cBhvr>
                                        <p:cTn id="7" dur="500" fill="hold"/>
                                        <p:tgtEl>
                                          <p:spTgt spid="34824"/>
                                        </p:tgtEl>
                                        <p:attrNameLst>
                                          <p:attrName>ppt_w</p:attrName>
                                        </p:attrNameLst>
                                      </p:cBhvr>
                                      <p:tavLst>
                                        <p:tav tm="0">
                                          <p:val>
                                            <p:fltVal val="0"/>
                                          </p:val>
                                        </p:tav>
                                        <p:tav tm="100000">
                                          <p:val>
                                            <p:strVal val="#ppt_w"/>
                                          </p:val>
                                        </p:tav>
                                      </p:tavLst>
                                    </p:anim>
                                    <p:anim calcmode="lin" valueType="num">
                                      <p:cBhvr>
                                        <p:cTn id="8" dur="500" fill="hold"/>
                                        <p:tgtEl>
                                          <p:spTgt spid="3482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34825"/>
                                        </p:tgtEl>
                                        <p:attrNameLst>
                                          <p:attrName>style.visibility</p:attrName>
                                        </p:attrNameLst>
                                      </p:cBhvr>
                                      <p:to>
                                        <p:strVal val="visible"/>
                                      </p:to>
                                    </p:set>
                                    <p:anim calcmode="lin" valueType="num">
                                      <p:cBhvr>
                                        <p:cTn id="13" dur="500" fill="hold"/>
                                        <p:tgtEl>
                                          <p:spTgt spid="34825"/>
                                        </p:tgtEl>
                                        <p:attrNameLst>
                                          <p:attrName>ppt_w</p:attrName>
                                        </p:attrNameLst>
                                      </p:cBhvr>
                                      <p:tavLst>
                                        <p:tav tm="0">
                                          <p:val>
                                            <p:fltVal val="0"/>
                                          </p:val>
                                        </p:tav>
                                        <p:tav tm="100000">
                                          <p:val>
                                            <p:strVal val="#ppt_w"/>
                                          </p:val>
                                        </p:tav>
                                      </p:tavLst>
                                    </p:anim>
                                    <p:anim calcmode="lin" valueType="num">
                                      <p:cBhvr>
                                        <p:cTn id="14" dur="500" fill="hold"/>
                                        <p:tgtEl>
                                          <p:spTgt spid="34825"/>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34819">
                                            <p:txEl>
                                              <p:pRg st="1" end="1"/>
                                            </p:txEl>
                                          </p:spTgt>
                                        </p:tgtEl>
                                        <p:attrNameLst>
                                          <p:attrName>style.visibility</p:attrName>
                                        </p:attrNameLst>
                                      </p:cBhvr>
                                      <p:to>
                                        <p:strVal val="visible"/>
                                      </p:to>
                                    </p:set>
                                    <p:animEffect transition="in" filter="box(out)">
                                      <p:cBhvr>
                                        <p:cTn id="19" dur="500"/>
                                        <p:tgtEl>
                                          <p:spTgt spid="34819">
                                            <p:txEl>
                                              <p:pRg st="1" end="1"/>
                                            </p:txEl>
                                          </p:spTgt>
                                        </p:tgtEl>
                                      </p:cBhvr>
                                    </p:animEffect>
                                  </p:childTnLst>
                                </p:cTn>
                              </p:par>
                              <p:par>
                                <p:cTn id="20" presetID="4" presetClass="entr" presetSubtype="32" fill="hold" grpId="0" nodeType="withEffect">
                                  <p:stCondLst>
                                    <p:cond delay="0"/>
                                  </p:stCondLst>
                                  <p:childTnLst>
                                    <p:set>
                                      <p:cBhvr>
                                        <p:cTn id="21" dur="1" fill="hold">
                                          <p:stCondLst>
                                            <p:cond delay="0"/>
                                          </p:stCondLst>
                                        </p:cTn>
                                        <p:tgtEl>
                                          <p:spTgt spid="34819">
                                            <p:txEl>
                                              <p:pRg st="2" end="2"/>
                                            </p:txEl>
                                          </p:spTgt>
                                        </p:tgtEl>
                                        <p:attrNameLst>
                                          <p:attrName>style.visibility</p:attrName>
                                        </p:attrNameLst>
                                      </p:cBhvr>
                                      <p:to>
                                        <p:strVal val="visible"/>
                                      </p:to>
                                    </p:set>
                                    <p:animEffect transition="in" filter="box(out)">
                                      <p:cBhvr>
                                        <p:cTn id="22" dur="500"/>
                                        <p:tgtEl>
                                          <p:spTgt spid="34819">
                                            <p:txEl>
                                              <p:pRg st="2" end="2"/>
                                            </p:txEl>
                                          </p:spTgt>
                                        </p:tgtEl>
                                      </p:cBhvr>
                                    </p:animEffect>
                                  </p:childTnLst>
                                </p:cTn>
                              </p:par>
                              <p:par>
                                <p:cTn id="23" presetID="4" presetClass="entr" presetSubtype="32" fill="hold" grpId="0" nodeType="withEffect">
                                  <p:stCondLst>
                                    <p:cond delay="0"/>
                                  </p:stCondLst>
                                  <p:childTnLst>
                                    <p:set>
                                      <p:cBhvr>
                                        <p:cTn id="24" dur="1" fill="hold">
                                          <p:stCondLst>
                                            <p:cond delay="0"/>
                                          </p:stCondLst>
                                        </p:cTn>
                                        <p:tgtEl>
                                          <p:spTgt spid="34819">
                                            <p:txEl>
                                              <p:pRg st="3" end="3"/>
                                            </p:txEl>
                                          </p:spTgt>
                                        </p:tgtEl>
                                        <p:attrNameLst>
                                          <p:attrName>style.visibility</p:attrName>
                                        </p:attrNameLst>
                                      </p:cBhvr>
                                      <p:to>
                                        <p:strVal val="visible"/>
                                      </p:to>
                                    </p:set>
                                    <p:animEffect transition="in" filter="box(out)">
                                      <p:cBhvr>
                                        <p:cTn id="25" dur="500"/>
                                        <p:tgtEl>
                                          <p:spTgt spid="34819">
                                            <p:txEl>
                                              <p:pRg st="3" end="3"/>
                                            </p:txEl>
                                          </p:spTgt>
                                        </p:tgtEl>
                                      </p:cBhvr>
                                    </p:animEffect>
                                  </p:childTnLst>
                                </p:cTn>
                              </p:par>
                              <p:par>
                                <p:cTn id="26" presetID="4" presetClass="entr" presetSubtype="32" fill="hold" grpId="0" nodeType="withEffect">
                                  <p:stCondLst>
                                    <p:cond delay="0"/>
                                  </p:stCondLst>
                                  <p:childTnLst>
                                    <p:set>
                                      <p:cBhvr>
                                        <p:cTn id="27" dur="1" fill="hold">
                                          <p:stCondLst>
                                            <p:cond delay="0"/>
                                          </p:stCondLst>
                                        </p:cTn>
                                        <p:tgtEl>
                                          <p:spTgt spid="34819">
                                            <p:txEl>
                                              <p:pRg st="4" end="4"/>
                                            </p:txEl>
                                          </p:spTgt>
                                        </p:tgtEl>
                                        <p:attrNameLst>
                                          <p:attrName>style.visibility</p:attrName>
                                        </p:attrNameLst>
                                      </p:cBhvr>
                                      <p:to>
                                        <p:strVal val="visible"/>
                                      </p:to>
                                    </p:set>
                                    <p:animEffect transition="in" filter="box(out)">
                                      <p:cBhvr>
                                        <p:cTn id="28" dur="500"/>
                                        <p:tgtEl>
                                          <p:spTgt spid="34819">
                                            <p:txEl>
                                              <p:pRg st="4" end="4"/>
                                            </p:txEl>
                                          </p:spTgt>
                                        </p:tgtEl>
                                      </p:cBhvr>
                                    </p:animEffect>
                                  </p:childTnLst>
                                </p:cTn>
                              </p:par>
                              <p:par>
                                <p:cTn id="29" presetID="4" presetClass="entr" presetSubtype="32" fill="hold" grpId="0" nodeType="withEffect">
                                  <p:stCondLst>
                                    <p:cond delay="0"/>
                                  </p:stCondLst>
                                  <p:childTnLst>
                                    <p:set>
                                      <p:cBhvr>
                                        <p:cTn id="30" dur="1" fill="hold">
                                          <p:stCondLst>
                                            <p:cond delay="0"/>
                                          </p:stCondLst>
                                        </p:cTn>
                                        <p:tgtEl>
                                          <p:spTgt spid="34819">
                                            <p:txEl>
                                              <p:pRg st="5" end="5"/>
                                            </p:txEl>
                                          </p:spTgt>
                                        </p:tgtEl>
                                        <p:attrNameLst>
                                          <p:attrName>style.visibility</p:attrName>
                                        </p:attrNameLst>
                                      </p:cBhvr>
                                      <p:to>
                                        <p:strVal val="visible"/>
                                      </p:to>
                                    </p:set>
                                    <p:animEffect transition="in" filter="box(out)">
                                      <p:cBhvr>
                                        <p:cTn id="31" dur="500"/>
                                        <p:tgtEl>
                                          <p:spTgt spid="34819">
                                            <p:txEl>
                                              <p:pRg st="5" end="5"/>
                                            </p:txEl>
                                          </p:spTgt>
                                        </p:tgtEl>
                                      </p:cBhvr>
                                    </p:animEffect>
                                  </p:childTnLst>
                                </p:cTn>
                              </p:par>
                              <p:par>
                                <p:cTn id="32" presetID="4" presetClass="entr" presetSubtype="32" fill="hold" grpId="0" nodeType="withEffect">
                                  <p:stCondLst>
                                    <p:cond delay="0"/>
                                  </p:stCondLst>
                                  <p:childTnLst>
                                    <p:set>
                                      <p:cBhvr>
                                        <p:cTn id="33" dur="1" fill="hold">
                                          <p:stCondLst>
                                            <p:cond delay="0"/>
                                          </p:stCondLst>
                                        </p:cTn>
                                        <p:tgtEl>
                                          <p:spTgt spid="34819">
                                            <p:txEl>
                                              <p:pRg st="6" end="6"/>
                                            </p:txEl>
                                          </p:spTgt>
                                        </p:tgtEl>
                                        <p:attrNameLst>
                                          <p:attrName>style.visibility</p:attrName>
                                        </p:attrNameLst>
                                      </p:cBhvr>
                                      <p:to>
                                        <p:strVal val="visible"/>
                                      </p:to>
                                    </p:set>
                                    <p:animEffect transition="in" filter="box(out)">
                                      <p:cBhvr>
                                        <p:cTn id="34" dur="500"/>
                                        <p:tgtEl>
                                          <p:spTgt spid="34819">
                                            <p:txEl>
                                              <p:pRg st="6" end="6"/>
                                            </p:txEl>
                                          </p:spTgt>
                                        </p:tgtEl>
                                      </p:cBhvr>
                                    </p:animEffect>
                                  </p:childTnLst>
                                </p:cTn>
                              </p:par>
                              <p:par>
                                <p:cTn id="35" presetID="4" presetClass="entr" presetSubtype="32" fill="hold" grpId="0" nodeType="withEffect">
                                  <p:stCondLst>
                                    <p:cond delay="0"/>
                                  </p:stCondLst>
                                  <p:childTnLst>
                                    <p:set>
                                      <p:cBhvr>
                                        <p:cTn id="36" dur="1" fill="hold">
                                          <p:stCondLst>
                                            <p:cond delay="0"/>
                                          </p:stCondLst>
                                        </p:cTn>
                                        <p:tgtEl>
                                          <p:spTgt spid="34819">
                                            <p:txEl>
                                              <p:pRg st="7" end="7"/>
                                            </p:txEl>
                                          </p:spTgt>
                                        </p:tgtEl>
                                        <p:attrNameLst>
                                          <p:attrName>style.visibility</p:attrName>
                                        </p:attrNameLst>
                                      </p:cBhvr>
                                      <p:to>
                                        <p:strVal val="visible"/>
                                      </p:to>
                                    </p:set>
                                    <p:animEffect transition="in" filter="box(out)">
                                      <p:cBhvr>
                                        <p:cTn id="37" dur="500"/>
                                        <p:tgtEl>
                                          <p:spTgt spid="34819">
                                            <p:txEl>
                                              <p:pRg st="7" end="7"/>
                                            </p:txEl>
                                          </p:spTgt>
                                        </p:tgtEl>
                                      </p:cBhvr>
                                    </p:animEffect>
                                  </p:childTnLst>
                                </p:cTn>
                              </p:par>
                              <p:par>
                                <p:cTn id="38" presetID="4" presetClass="entr" presetSubtype="32" fill="hold" grpId="0" nodeType="withEffect">
                                  <p:stCondLst>
                                    <p:cond delay="0"/>
                                  </p:stCondLst>
                                  <p:childTnLst>
                                    <p:set>
                                      <p:cBhvr>
                                        <p:cTn id="39" dur="1" fill="hold">
                                          <p:stCondLst>
                                            <p:cond delay="0"/>
                                          </p:stCondLst>
                                        </p:cTn>
                                        <p:tgtEl>
                                          <p:spTgt spid="34819">
                                            <p:txEl>
                                              <p:pRg st="8" end="8"/>
                                            </p:txEl>
                                          </p:spTgt>
                                        </p:tgtEl>
                                        <p:attrNameLst>
                                          <p:attrName>style.visibility</p:attrName>
                                        </p:attrNameLst>
                                      </p:cBhvr>
                                      <p:to>
                                        <p:strVal val="visible"/>
                                      </p:to>
                                    </p:set>
                                    <p:animEffect transition="in" filter="box(out)">
                                      <p:cBhvr>
                                        <p:cTn id="40" dur="500"/>
                                        <p:tgtEl>
                                          <p:spTgt spid="34819">
                                            <p:txEl>
                                              <p:pRg st="8" end="8"/>
                                            </p:txEl>
                                          </p:spTgt>
                                        </p:tgtEl>
                                      </p:cBhvr>
                                    </p:animEffect>
                                  </p:childTnLst>
                                </p:cTn>
                              </p:par>
                              <p:par>
                                <p:cTn id="41" presetID="4" presetClass="entr" presetSubtype="32" fill="hold" grpId="0" nodeType="withEffect">
                                  <p:stCondLst>
                                    <p:cond delay="0"/>
                                  </p:stCondLst>
                                  <p:childTnLst>
                                    <p:set>
                                      <p:cBhvr>
                                        <p:cTn id="42" dur="1" fill="hold">
                                          <p:stCondLst>
                                            <p:cond delay="0"/>
                                          </p:stCondLst>
                                        </p:cTn>
                                        <p:tgtEl>
                                          <p:spTgt spid="34819">
                                            <p:txEl>
                                              <p:pRg st="9" end="9"/>
                                            </p:txEl>
                                          </p:spTgt>
                                        </p:tgtEl>
                                        <p:attrNameLst>
                                          <p:attrName>style.visibility</p:attrName>
                                        </p:attrNameLst>
                                      </p:cBhvr>
                                      <p:to>
                                        <p:strVal val="visible"/>
                                      </p:to>
                                    </p:set>
                                    <p:animEffect transition="in" filter="box(out)">
                                      <p:cBhvr>
                                        <p:cTn id="43" dur="500"/>
                                        <p:tgtEl>
                                          <p:spTgt spid="34819">
                                            <p:txEl>
                                              <p:pRg st="9" end="9"/>
                                            </p:txEl>
                                          </p:spTgt>
                                        </p:tgtEl>
                                      </p:cBhvr>
                                    </p:animEffect>
                                  </p:childTnLst>
                                </p:cTn>
                              </p:par>
                              <p:par>
                                <p:cTn id="44" presetID="4" presetClass="entr" presetSubtype="32" fill="hold" grpId="0" nodeType="withEffect">
                                  <p:stCondLst>
                                    <p:cond delay="0"/>
                                  </p:stCondLst>
                                  <p:childTnLst>
                                    <p:set>
                                      <p:cBhvr>
                                        <p:cTn id="45" dur="1" fill="hold">
                                          <p:stCondLst>
                                            <p:cond delay="0"/>
                                          </p:stCondLst>
                                        </p:cTn>
                                        <p:tgtEl>
                                          <p:spTgt spid="34819">
                                            <p:txEl>
                                              <p:pRg st="10" end="10"/>
                                            </p:txEl>
                                          </p:spTgt>
                                        </p:tgtEl>
                                        <p:attrNameLst>
                                          <p:attrName>style.visibility</p:attrName>
                                        </p:attrNameLst>
                                      </p:cBhvr>
                                      <p:to>
                                        <p:strVal val="visible"/>
                                      </p:to>
                                    </p:set>
                                    <p:animEffect transition="in" filter="box(out)">
                                      <p:cBhvr>
                                        <p:cTn id="46" dur="500"/>
                                        <p:tgtEl>
                                          <p:spTgt spid="34819">
                                            <p:txEl>
                                              <p:pRg st="10" end="10"/>
                                            </p:txEl>
                                          </p:spTgt>
                                        </p:tgtEl>
                                      </p:cBhvr>
                                    </p:animEffect>
                                  </p:childTnLst>
                                </p:cTn>
                              </p:par>
                            </p:childTnLst>
                          </p:cTn>
                        </p:par>
                        <p:par>
                          <p:cTn id="47" fill="hold">
                            <p:stCondLst>
                              <p:cond delay="500"/>
                            </p:stCondLst>
                            <p:childTnLst>
                              <p:par>
                                <p:cTn id="48" presetID="5" presetClass="entr" presetSubtype="10" fill="hold" nodeType="afterEffect">
                                  <p:stCondLst>
                                    <p:cond delay="0"/>
                                  </p:stCondLst>
                                  <p:childTnLst>
                                    <p:set>
                                      <p:cBhvr>
                                        <p:cTn id="49" dur="1" fill="hold">
                                          <p:stCondLst>
                                            <p:cond delay="0"/>
                                          </p:stCondLst>
                                        </p:cTn>
                                        <p:tgtEl>
                                          <p:spTgt spid="34820"/>
                                        </p:tgtEl>
                                        <p:attrNameLst>
                                          <p:attrName>style.visibility</p:attrName>
                                        </p:attrNameLst>
                                      </p:cBhvr>
                                      <p:to>
                                        <p:strVal val="visible"/>
                                      </p:to>
                                    </p:set>
                                    <p:animEffect transition="in" filter="checkerboard(across)">
                                      <p:cBhvr>
                                        <p:cTn id="50" dur="500"/>
                                        <p:tgtEl>
                                          <p:spTgt spid="34820"/>
                                        </p:tgtEl>
                                      </p:cBhvr>
                                    </p:animEffect>
                                  </p:childTnLst>
                                </p:cTn>
                              </p:par>
                            </p:childTnLst>
                          </p:cTn>
                        </p:par>
                        <p:par>
                          <p:cTn id="51" fill="hold">
                            <p:stCondLst>
                              <p:cond delay="1000"/>
                            </p:stCondLst>
                            <p:childTnLst>
                              <p:par>
                                <p:cTn id="52" presetID="5" presetClass="entr" presetSubtype="5" fill="hold" nodeType="afterEffect">
                                  <p:stCondLst>
                                    <p:cond delay="0"/>
                                  </p:stCondLst>
                                  <p:childTnLst>
                                    <p:set>
                                      <p:cBhvr>
                                        <p:cTn id="53" dur="1" fill="hold">
                                          <p:stCondLst>
                                            <p:cond delay="0"/>
                                          </p:stCondLst>
                                        </p:cTn>
                                        <p:tgtEl>
                                          <p:spTgt spid="34821"/>
                                        </p:tgtEl>
                                        <p:attrNameLst>
                                          <p:attrName>style.visibility</p:attrName>
                                        </p:attrNameLst>
                                      </p:cBhvr>
                                      <p:to>
                                        <p:strVal val="visible"/>
                                      </p:to>
                                    </p:set>
                                    <p:animEffect transition="in" filter="checkerboard(down)">
                                      <p:cBhvr>
                                        <p:cTn id="54" dur="500"/>
                                        <p:tgtEl>
                                          <p:spTgt spid="34821"/>
                                        </p:tgtEl>
                                      </p:cBhvr>
                                    </p:animEffect>
                                  </p:childTnLst>
                                </p:cTn>
                              </p:par>
                            </p:childTnLst>
                          </p:cTn>
                        </p:par>
                        <p:par>
                          <p:cTn id="55" fill="hold">
                            <p:stCondLst>
                              <p:cond delay="1500"/>
                            </p:stCondLst>
                            <p:childTnLst>
                              <p:par>
                                <p:cTn id="56" presetID="5" presetClass="entr" presetSubtype="5" fill="hold" nodeType="afterEffect">
                                  <p:stCondLst>
                                    <p:cond delay="0"/>
                                  </p:stCondLst>
                                  <p:childTnLst>
                                    <p:set>
                                      <p:cBhvr>
                                        <p:cTn id="57" dur="1" fill="hold">
                                          <p:stCondLst>
                                            <p:cond delay="0"/>
                                          </p:stCondLst>
                                        </p:cTn>
                                        <p:tgtEl>
                                          <p:spTgt spid="34822"/>
                                        </p:tgtEl>
                                        <p:attrNameLst>
                                          <p:attrName>style.visibility</p:attrName>
                                        </p:attrNameLst>
                                      </p:cBhvr>
                                      <p:to>
                                        <p:strVal val="visible"/>
                                      </p:to>
                                    </p:set>
                                    <p:animEffect transition="in" filter="checkerboard(down)">
                                      <p:cBhvr>
                                        <p:cTn id="58" dur="500"/>
                                        <p:tgtEl>
                                          <p:spTgt spid="34822"/>
                                        </p:tgtEl>
                                      </p:cBhvr>
                                    </p:animEffect>
                                  </p:childTnLst>
                                </p:cTn>
                              </p:par>
                            </p:childTnLst>
                          </p:cTn>
                        </p:par>
                        <p:par>
                          <p:cTn id="59" fill="hold">
                            <p:stCondLst>
                              <p:cond delay="2000"/>
                            </p:stCondLst>
                            <p:childTnLst>
                              <p:par>
                                <p:cTn id="60" presetID="5" presetClass="entr" presetSubtype="5" fill="hold" nodeType="afterEffect">
                                  <p:stCondLst>
                                    <p:cond delay="0"/>
                                  </p:stCondLst>
                                  <p:childTnLst>
                                    <p:set>
                                      <p:cBhvr>
                                        <p:cTn id="61" dur="1" fill="hold">
                                          <p:stCondLst>
                                            <p:cond delay="0"/>
                                          </p:stCondLst>
                                        </p:cTn>
                                        <p:tgtEl>
                                          <p:spTgt spid="34823"/>
                                        </p:tgtEl>
                                        <p:attrNameLst>
                                          <p:attrName>style.visibility</p:attrName>
                                        </p:attrNameLst>
                                      </p:cBhvr>
                                      <p:to>
                                        <p:strVal val="visible"/>
                                      </p:to>
                                    </p:set>
                                    <p:animEffect transition="in" filter="checkerboard(down)">
                                      <p:cBhvr>
                                        <p:cTn id="62" dur="500"/>
                                        <p:tgtEl>
                                          <p:spTgt spid="34823"/>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34826"/>
                                        </p:tgtEl>
                                        <p:attrNameLst>
                                          <p:attrName>style.visibility</p:attrName>
                                        </p:attrNameLst>
                                      </p:cBhvr>
                                      <p:to>
                                        <p:strVal val="visible"/>
                                      </p:to>
                                    </p:set>
                                    <p:animEffect transition="in" filter="box(in)">
                                      <p:cBhvr>
                                        <p:cTn id="67" dur="500"/>
                                        <p:tgtEl>
                                          <p:spTgt spid="34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P spid="34824" grpId="0"/>
      <p:bldP spid="34825" grpId="0"/>
      <p:bldP spid="3482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46081"/>
          <p:cNvSpPr>
            <a:spLocks noGrp="1"/>
          </p:cNvSpPr>
          <p:nvPr>
            <p:ph type="title"/>
          </p:nvPr>
        </p:nvSpPr>
        <p:spPr>
          <a:xfrm>
            <a:off x="457200" y="690880"/>
            <a:ext cx="4368800" cy="680720"/>
          </a:xfrm>
        </p:spPr>
        <p:txBody>
          <a:bodyPr anchor="ctr"/>
          <a:lstStyle/>
          <a:p>
            <a:pPr algn="l" fontAlgn="base"/>
            <a:r>
              <a:rPr lang="en-US" altLang="zh-CN" sz="3600" b="1" strike="noStrike" noProof="1">
                <a:solidFill>
                  <a:srgbClr val="C00000"/>
                </a:solidFill>
                <a:latin typeface="楷体" panose="02010609060101010101" charset="-122"/>
                <a:ea typeface="楷体" panose="02010609060101010101" charset="-122"/>
              </a:rPr>
              <a:t>2</a:t>
            </a:r>
            <a:r>
              <a:rPr lang="zh-CN" altLang="en-US" sz="3600" b="1" strike="noStrike" noProof="1">
                <a:solidFill>
                  <a:srgbClr val="C00000"/>
                </a:solidFill>
                <a:latin typeface="楷体" panose="02010609060101010101" charset="-122"/>
                <a:ea typeface="楷体" panose="02010609060101010101" charset="-122"/>
              </a:rPr>
              <a:t>、</a:t>
            </a:r>
            <a:r>
              <a:rPr lang="zh-CN" altLang="en-US" sz="3600" b="1" strike="noStrike" noProof="1">
                <a:ln>
                  <a:solidFill>
                    <a:srgbClr val="FF0000"/>
                  </a:solidFill>
                </a:ln>
                <a:solidFill>
                  <a:srgbClr val="C00000"/>
                </a:solidFill>
                <a:latin typeface="楷体" panose="02010609060101010101" charset="-122"/>
                <a:ea typeface="楷体" panose="02010609060101010101" charset="-122"/>
                <a:hlinkClick r:id="rId2" action="ppaction://hlinkfile"/>
              </a:rPr>
              <a:t>臭氧层</a:t>
            </a:r>
            <a:r>
              <a:rPr lang="zh-CN" altLang="en-US" sz="3600" b="1" strike="noStrike" noProof="1">
                <a:solidFill>
                  <a:srgbClr val="C00000"/>
                </a:solidFill>
                <a:latin typeface="楷体" panose="02010609060101010101" charset="-122"/>
                <a:ea typeface="楷体" panose="02010609060101010101" charset="-122"/>
              </a:rPr>
              <a:t>的破坏</a:t>
            </a:r>
            <a:br>
              <a:rPr lang="zh-CN" altLang="en-US" dirty="0">
                <a:solidFill>
                  <a:schemeClr val="accent2"/>
                </a:solidFill>
                <a:latin typeface="隶书" panose="02010509060101010101" pitchFamily="49" charset="-122"/>
                <a:ea typeface="隶书" panose="02010509060101010101" pitchFamily="49" charset="-122"/>
              </a:rPr>
            </a:br>
            <a:endParaRPr lang="zh-CN" altLang="en-US" strike="noStrike" noProof="1">
              <a:solidFill>
                <a:schemeClr val="accent2"/>
              </a:solidFill>
              <a:latin typeface="隶书" panose="02010509060101010101" pitchFamily="49" charset="-122"/>
              <a:ea typeface="隶书" panose="02010509060101010101" pitchFamily="49" charset="-122"/>
            </a:endParaRPr>
          </a:p>
        </p:txBody>
      </p:sp>
      <p:sp>
        <p:nvSpPr>
          <p:cNvPr id="46083" name="内容占位符 46082"/>
          <p:cNvSpPr>
            <a:spLocks noGrp="1"/>
          </p:cNvSpPr>
          <p:nvPr>
            <p:ph idx="1"/>
          </p:nvPr>
        </p:nvSpPr>
        <p:spPr>
          <a:noFill/>
          <a:ln>
            <a:noFill/>
          </a:ln>
        </p:spPr>
        <p:txBody>
          <a:bodyPr anchor="t"/>
          <a:lstStyle/>
          <a:p>
            <a:pPr>
              <a:buNone/>
            </a:pPr>
            <a:r>
              <a:rPr lang="en-US" altLang="zh-CN" sz="2400" b="1" dirty="0">
                <a:solidFill>
                  <a:srgbClr val="FFFF00"/>
                </a:solidFill>
              </a:rPr>
              <a:t> </a:t>
            </a:r>
          </a:p>
          <a:p>
            <a:pPr>
              <a:buNone/>
            </a:pPr>
            <a:r>
              <a:rPr lang="en-US" altLang="zh-CN" sz="2400" b="1" dirty="0"/>
              <a:t> </a:t>
            </a:r>
            <a:r>
              <a:rPr lang="zh-CN" altLang="en-US" sz="2400" b="1" dirty="0">
                <a:solidFill>
                  <a:schemeClr val="tx1"/>
                </a:solidFill>
              </a:rPr>
              <a:t>生成反应： </a:t>
            </a:r>
            <a:r>
              <a:rPr lang="en-US" altLang="zh-CN" sz="2400" b="1">
                <a:solidFill>
                  <a:schemeClr val="tx1"/>
                </a:solidFill>
              </a:rPr>
              <a:t>O</a:t>
            </a:r>
            <a:r>
              <a:rPr lang="en-US" altLang="zh-CN" sz="2400" b="1" baseline="-25000">
                <a:solidFill>
                  <a:schemeClr val="tx1"/>
                </a:solidFill>
              </a:rPr>
              <a:t>2</a:t>
            </a:r>
            <a:r>
              <a:rPr lang="en-US" altLang="zh-CN" sz="2400" b="1" dirty="0">
                <a:solidFill>
                  <a:schemeClr val="tx1"/>
                </a:solidFill>
              </a:rPr>
              <a:t> + hν(λ</a:t>
            </a:r>
            <a:r>
              <a:rPr lang="zh-CN" altLang="en-US" sz="2400" b="1" dirty="0">
                <a:solidFill>
                  <a:schemeClr val="tx1"/>
                </a:solidFill>
              </a:rPr>
              <a:t>＜</a:t>
            </a:r>
            <a:r>
              <a:rPr lang="en-US" altLang="zh-CN" sz="2400" b="1" dirty="0">
                <a:solidFill>
                  <a:schemeClr val="tx1"/>
                </a:solidFill>
              </a:rPr>
              <a:t>240nm) → 2O (</a:t>
            </a:r>
            <a:r>
              <a:rPr lang="zh-CN" altLang="en-US" sz="2400" b="1" dirty="0">
                <a:solidFill>
                  <a:schemeClr val="tx1"/>
                </a:solidFill>
              </a:rPr>
              <a:t>激发态氧原子</a:t>
            </a:r>
            <a:r>
              <a:rPr lang="en-US" altLang="zh-CN" sz="2400" b="1">
                <a:solidFill>
                  <a:schemeClr val="tx1"/>
                </a:solidFill>
              </a:rPr>
              <a:t>)</a:t>
            </a:r>
          </a:p>
          <a:p>
            <a:pPr>
              <a:buNone/>
            </a:pPr>
            <a:r>
              <a:rPr lang="en-US" altLang="zh-CN" sz="2400" b="1">
                <a:solidFill>
                  <a:schemeClr val="tx1"/>
                </a:solidFill>
              </a:rPr>
              <a:t>                       O + O</a:t>
            </a:r>
            <a:r>
              <a:rPr lang="en-US" altLang="zh-CN" sz="2400" b="1" baseline="-25000">
                <a:solidFill>
                  <a:schemeClr val="tx1"/>
                </a:solidFill>
              </a:rPr>
              <a:t>2</a:t>
            </a:r>
            <a:r>
              <a:rPr lang="en-US" altLang="zh-CN" sz="2400" b="1">
                <a:solidFill>
                  <a:schemeClr val="tx1"/>
                </a:solidFill>
              </a:rPr>
              <a:t> → O</a:t>
            </a:r>
            <a:r>
              <a:rPr lang="en-US" altLang="zh-CN" sz="2400" b="1" baseline="-25000">
                <a:solidFill>
                  <a:schemeClr val="tx1"/>
                </a:solidFill>
              </a:rPr>
              <a:t>3</a:t>
            </a:r>
            <a:endParaRPr lang="en-US" altLang="zh-CN" sz="2400" b="1">
              <a:solidFill>
                <a:schemeClr val="tx1"/>
              </a:solidFill>
            </a:endParaRPr>
          </a:p>
          <a:p>
            <a:pPr>
              <a:buNone/>
            </a:pPr>
            <a:r>
              <a:rPr lang="en-US" altLang="zh-CN" sz="2400" b="1" dirty="0">
                <a:solidFill>
                  <a:schemeClr val="tx1"/>
                </a:solidFill>
              </a:rPr>
              <a:t>  </a:t>
            </a:r>
            <a:r>
              <a:rPr lang="zh-CN" altLang="en-US" sz="2400" b="1" dirty="0">
                <a:solidFill>
                  <a:schemeClr val="tx1"/>
                </a:solidFill>
              </a:rPr>
              <a:t>分解反应： </a:t>
            </a:r>
            <a:r>
              <a:rPr lang="en-US" altLang="zh-CN" sz="2400" b="1">
                <a:solidFill>
                  <a:schemeClr val="tx1"/>
                </a:solidFill>
              </a:rPr>
              <a:t>O</a:t>
            </a:r>
            <a:r>
              <a:rPr lang="en-US" altLang="zh-CN" sz="2400" b="1" baseline="-25000">
                <a:solidFill>
                  <a:schemeClr val="tx1"/>
                </a:solidFill>
              </a:rPr>
              <a:t>3</a:t>
            </a:r>
            <a:r>
              <a:rPr lang="en-US" altLang="zh-CN" sz="2400" b="1">
                <a:solidFill>
                  <a:schemeClr val="tx1"/>
                </a:solidFill>
              </a:rPr>
              <a:t> + hν(λ</a:t>
            </a:r>
            <a:r>
              <a:rPr lang="zh-CN" altLang="en-US" sz="2400" b="1">
                <a:solidFill>
                  <a:schemeClr val="tx1"/>
                </a:solidFill>
              </a:rPr>
              <a:t>＜</a:t>
            </a:r>
            <a:r>
              <a:rPr lang="en-US" altLang="zh-CN" sz="2400" b="1">
                <a:solidFill>
                  <a:schemeClr val="tx1"/>
                </a:solidFill>
              </a:rPr>
              <a:t>290nm) → O</a:t>
            </a:r>
            <a:r>
              <a:rPr lang="en-US" altLang="zh-CN" sz="2400" b="1" baseline="-25000">
                <a:solidFill>
                  <a:schemeClr val="tx1"/>
                </a:solidFill>
              </a:rPr>
              <a:t>2</a:t>
            </a:r>
            <a:r>
              <a:rPr lang="en-US" altLang="zh-CN" sz="2400" b="1">
                <a:solidFill>
                  <a:schemeClr val="tx1"/>
                </a:solidFill>
              </a:rPr>
              <a:t> + O</a:t>
            </a:r>
          </a:p>
          <a:p>
            <a:pPr>
              <a:buNone/>
            </a:pPr>
            <a:r>
              <a:rPr lang="en-US" altLang="zh-CN" sz="2400" b="1" dirty="0">
                <a:solidFill>
                  <a:schemeClr val="tx1"/>
                </a:solidFill>
              </a:rPr>
              <a:t>  </a:t>
            </a:r>
            <a:r>
              <a:rPr lang="zh-CN" altLang="en-US" sz="2400" b="1" dirty="0">
                <a:solidFill>
                  <a:schemeClr val="tx1"/>
                </a:solidFill>
              </a:rPr>
              <a:t>消除反应：  </a:t>
            </a:r>
            <a:r>
              <a:rPr lang="en-US" altLang="zh-CN" sz="2400" b="1">
                <a:solidFill>
                  <a:schemeClr val="tx1"/>
                </a:solidFill>
              </a:rPr>
              <a:t>O</a:t>
            </a:r>
            <a:r>
              <a:rPr lang="en-US" altLang="zh-CN" sz="2400" b="1" baseline="-25000">
                <a:solidFill>
                  <a:schemeClr val="tx1"/>
                </a:solidFill>
              </a:rPr>
              <a:t>3</a:t>
            </a:r>
            <a:r>
              <a:rPr lang="en-US" altLang="zh-CN" sz="2400" b="1">
                <a:solidFill>
                  <a:schemeClr val="tx1"/>
                </a:solidFill>
              </a:rPr>
              <a:t> + O → 2O</a:t>
            </a:r>
            <a:r>
              <a:rPr lang="en-US" altLang="zh-CN" sz="2400" b="1" baseline="-25000">
                <a:solidFill>
                  <a:schemeClr val="tx1"/>
                </a:solidFill>
              </a:rPr>
              <a:t>2</a:t>
            </a:r>
          </a:p>
          <a:p>
            <a:pPr>
              <a:buNone/>
            </a:pPr>
            <a:r>
              <a:rPr lang="zh-CN" altLang="en-US" sz="2400" b="1" dirty="0">
                <a:solidFill>
                  <a:schemeClr val="tx1"/>
                </a:solidFill>
              </a:rPr>
              <a:t>在</a:t>
            </a:r>
            <a:r>
              <a:rPr lang="en-US" altLang="zh-CN" sz="2400" b="1" dirty="0">
                <a:solidFill>
                  <a:schemeClr val="tx1"/>
                </a:solidFill>
              </a:rPr>
              <a:t>25km</a:t>
            </a:r>
            <a:r>
              <a:rPr lang="zh-CN" altLang="en-US" sz="2400" b="1" dirty="0">
                <a:solidFill>
                  <a:schemeClr val="tx1"/>
                </a:solidFill>
              </a:rPr>
              <a:t>高度，</a:t>
            </a:r>
            <a:r>
              <a:rPr lang="en-US" altLang="zh-CN" sz="2400" b="1">
                <a:solidFill>
                  <a:schemeClr val="tx1"/>
                </a:solidFill>
              </a:rPr>
              <a:t>O</a:t>
            </a:r>
            <a:r>
              <a:rPr lang="en-US" altLang="zh-CN" sz="2400" b="1" baseline="-25000">
                <a:solidFill>
                  <a:schemeClr val="tx1"/>
                </a:solidFill>
              </a:rPr>
              <a:t>3</a:t>
            </a:r>
            <a:r>
              <a:rPr lang="zh-CN" altLang="en-US" sz="2400" b="1" dirty="0">
                <a:solidFill>
                  <a:schemeClr val="tx1"/>
                </a:solidFill>
              </a:rPr>
              <a:t>的浓度可达</a:t>
            </a:r>
            <a:r>
              <a:rPr lang="en-US" altLang="zh-CN" sz="2400" b="1">
                <a:solidFill>
                  <a:schemeClr val="tx1"/>
                </a:solidFill>
              </a:rPr>
              <a:t>5×10</a:t>
            </a:r>
            <a:r>
              <a:rPr lang="en-US" altLang="zh-CN" sz="2400" b="1" baseline="30000">
                <a:solidFill>
                  <a:schemeClr val="tx1"/>
                </a:solidFill>
              </a:rPr>
              <a:t>12</a:t>
            </a:r>
            <a:r>
              <a:rPr lang="zh-CN" altLang="en-US" sz="2400" b="1" dirty="0">
                <a:solidFill>
                  <a:schemeClr val="tx1"/>
                </a:solidFill>
              </a:rPr>
              <a:t>分子</a:t>
            </a:r>
            <a:r>
              <a:rPr lang="en-US" altLang="zh-CN" sz="2400" b="1">
                <a:solidFill>
                  <a:schemeClr val="tx1"/>
                </a:solidFill>
              </a:rPr>
              <a:t>/cm</a:t>
            </a:r>
            <a:r>
              <a:rPr lang="en-US" altLang="zh-CN" sz="2400" b="1" baseline="30000">
                <a:solidFill>
                  <a:schemeClr val="tx1"/>
                </a:solidFill>
              </a:rPr>
              <a:t>3</a:t>
            </a:r>
          </a:p>
        </p:txBody>
      </p:sp>
      <p:sp>
        <p:nvSpPr>
          <p:cNvPr id="46084" name="右大括号 46083"/>
          <p:cNvSpPr/>
          <p:nvPr/>
        </p:nvSpPr>
        <p:spPr>
          <a:xfrm>
            <a:off x="5029200" y="5715000"/>
            <a:ext cx="228600" cy="609600"/>
          </a:xfrm>
          <a:prstGeom prst="rightBrace">
            <a:avLst>
              <a:gd name="adj1" fmla="val 22172"/>
              <a:gd name="adj2" fmla="val 50000"/>
            </a:avLst>
          </a:prstGeom>
          <a:noFill/>
          <a:ln w="9525" cap="flat" cmpd="sng">
            <a:solidFill>
              <a:srgbClr val="FF0000"/>
            </a:solidFill>
            <a:prstDash val="solid"/>
            <a:round/>
            <a:headEnd type="none" w="med" len="med"/>
            <a:tailEnd type="none" w="med" len="med"/>
          </a:ln>
        </p:spPr>
        <p:txBody>
          <a:bodyPr anchor="t"/>
          <a:lstStyle/>
          <a:p>
            <a:endParaRPr lang="zh-CN" altLang="en-US">
              <a:latin typeface="Times New Roman" panose="02020603050405020304" pitchFamily="18" charset="0"/>
              <a:ea typeface="宋体" panose="02010600030101010101" pitchFamily="2" charset="-122"/>
            </a:endParaRPr>
          </a:p>
        </p:txBody>
      </p:sp>
      <p:sp>
        <p:nvSpPr>
          <p:cNvPr id="46085" name="文本框 46084"/>
          <p:cNvSpPr txBox="1"/>
          <p:nvPr/>
        </p:nvSpPr>
        <p:spPr>
          <a:xfrm>
            <a:off x="685800" y="4354513"/>
            <a:ext cx="7772400" cy="1771650"/>
          </a:xfrm>
          <a:prstGeom prst="rect">
            <a:avLst/>
          </a:prstGeom>
          <a:noFill/>
          <a:ln w="9525">
            <a:noFill/>
          </a:ln>
        </p:spPr>
        <p:txBody>
          <a:bodyPr anchor="t">
            <a:spAutoFit/>
          </a:bodyPr>
          <a:lstStyle/>
          <a:p>
            <a:pPr>
              <a:spcBef>
                <a:spcPct val="20000"/>
              </a:spcBef>
            </a:pPr>
            <a:r>
              <a:rPr lang="zh-CN" altLang="en-US" b="1" dirty="0">
                <a:solidFill>
                  <a:schemeClr val="tx1"/>
                </a:solidFill>
                <a:latin typeface="Times New Roman" panose="02020603050405020304" pitchFamily="18" charset="0"/>
                <a:ea typeface="宋体" panose="02010600030101010101" pitchFamily="2" charset="-122"/>
              </a:rPr>
              <a:t>太阳紫外线分为三个波段：</a:t>
            </a:r>
          </a:p>
          <a:p>
            <a:pPr>
              <a:spcBef>
                <a:spcPct val="20000"/>
              </a:spcBef>
            </a:pPr>
            <a:r>
              <a:rPr lang="zh-CN" altLang="en-US" b="1" dirty="0">
                <a:solidFill>
                  <a:schemeClr val="tx1"/>
                </a:solidFill>
                <a:latin typeface="Times New Roman" panose="02020603050405020304" pitchFamily="18" charset="0"/>
                <a:ea typeface="宋体" panose="02010600030101010101" pitchFamily="2" charset="-122"/>
              </a:rPr>
              <a:t>               </a:t>
            </a:r>
            <a:r>
              <a:rPr lang="en-US" altLang="zh-CN" b="1">
                <a:solidFill>
                  <a:schemeClr val="tx1"/>
                </a:solidFill>
                <a:latin typeface="Times New Roman" panose="02020603050405020304" pitchFamily="18" charset="0"/>
                <a:ea typeface="宋体" panose="02010600030101010101" pitchFamily="2" charset="-122"/>
              </a:rPr>
              <a:t>UV—</a:t>
            </a:r>
            <a:r>
              <a:rPr lang="en-US" altLang="zh-CN" b="1" dirty="0">
                <a:solidFill>
                  <a:schemeClr val="tx1"/>
                </a:solidFill>
                <a:latin typeface="Times New Roman" panose="02020603050405020304" pitchFamily="18" charset="0"/>
                <a:ea typeface="宋体" panose="02010600030101010101" pitchFamily="2" charset="-122"/>
              </a:rPr>
              <a:t>C (100~295nm) </a:t>
            </a:r>
            <a:r>
              <a:rPr lang="zh-CN" altLang="en-US" b="1" dirty="0">
                <a:solidFill>
                  <a:schemeClr val="tx1"/>
                </a:solidFill>
                <a:latin typeface="Times New Roman" panose="02020603050405020304" pitchFamily="18" charset="0"/>
                <a:ea typeface="宋体" panose="02010600030101010101" pitchFamily="2" charset="-122"/>
              </a:rPr>
              <a:t>有害      </a:t>
            </a:r>
            <a:r>
              <a:rPr lang="en-US" altLang="zh-CN" b="1">
                <a:solidFill>
                  <a:schemeClr val="tx1"/>
                </a:solidFill>
                <a:latin typeface="Times New Roman" panose="02020603050405020304" pitchFamily="18" charset="0"/>
                <a:ea typeface="宋体" panose="02010600030101010101" pitchFamily="2" charset="-122"/>
              </a:rPr>
              <a:t>O</a:t>
            </a:r>
            <a:r>
              <a:rPr lang="en-US" altLang="zh-CN" b="1" baseline="-25000">
                <a:solidFill>
                  <a:schemeClr val="tx1"/>
                </a:solidFill>
                <a:latin typeface="Times New Roman" panose="02020603050405020304" pitchFamily="18" charset="0"/>
                <a:ea typeface="宋体" panose="02010600030101010101" pitchFamily="2" charset="-122"/>
              </a:rPr>
              <a:t>3</a:t>
            </a:r>
            <a:r>
              <a:rPr lang="zh-CN" altLang="en-US" b="1" dirty="0">
                <a:solidFill>
                  <a:schemeClr val="tx1"/>
                </a:solidFill>
                <a:latin typeface="Times New Roman" panose="02020603050405020304" pitchFamily="18" charset="0"/>
                <a:ea typeface="宋体" panose="02010600030101010101" pitchFamily="2" charset="-122"/>
              </a:rPr>
              <a:t>吸收</a:t>
            </a:r>
            <a:r>
              <a:rPr lang="en-US" altLang="zh-CN" b="1" dirty="0">
                <a:solidFill>
                  <a:schemeClr val="tx1"/>
                </a:solidFill>
                <a:latin typeface="Times New Roman" panose="02020603050405020304" pitchFamily="18" charset="0"/>
                <a:ea typeface="宋体" panose="02010600030101010101" pitchFamily="2" charset="-122"/>
              </a:rPr>
              <a:t>90%</a:t>
            </a:r>
            <a:r>
              <a:rPr lang="zh-CN" altLang="en-US" b="1" dirty="0">
                <a:solidFill>
                  <a:schemeClr val="tx1"/>
                </a:solidFill>
                <a:latin typeface="Times New Roman" panose="02020603050405020304" pitchFamily="18" charset="0"/>
                <a:ea typeface="宋体" panose="02010600030101010101" pitchFamily="2" charset="-122"/>
              </a:rPr>
              <a:t>以上</a:t>
            </a:r>
          </a:p>
          <a:p>
            <a:pPr>
              <a:spcBef>
                <a:spcPct val="20000"/>
              </a:spcBef>
            </a:pPr>
            <a:r>
              <a:rPr lang="zh-CN" altLang="en-US" b="1" dirty="0">
                <a:solidFill>
                  <a:schemeClr val="tx1"/>
                </a:solidFill>
                <a:latin typeface="Times New Roman" panose="02020603050405020304" pitchFamily="18" charset="0"/>
                <a:ea typeface="宋体" panose="02010600030101010101" pitchFamily="2" charset="-122"/>
              </a:rPr>
              <a:t>               </a:t>
            </a:r>
            <a:r>
              <a:rPr lang="en-US" altLang="zh-CN" b="1">
                <a:solidFill>
                  <a:schemeClr val="tx1"/>
                </a:solidFill>
                <a:latin typeface="Times New Roman" panose="02020603050405020304" pitchFamily="18" charset="0"/>
                <a:ea typeface="宋体" panose="02010600030101010101" pitchFamily="2" charset="-122"/>
              </a:rPr>
              <a:t>UV—</a:t>
            </a:r>
            <a:r>
              <a:rPr lang="en-US" altLang="zh-CN" b="1" dirty="0">
                <a:solidFill>
                  <a:schemeClr val="tx1"/>
                </a:solidFill>
                <a:latin typeface="Times New Roman" panose="02020603050405020304" pitchFamily="18" charset="0"/>
                <a:ea typeface="宋体" panose="02010600030101010101" pitchFamily="2" charset="-122"/>
              </a:rPr>
              <a:t>B (295~320nm) </a:t>
            </a:r>
            <a:r>
              <a:rPr lang="zh-CN" altLang="en-US" b="1" dirty="0">
                <a:solidFill>
                  <a:schemeClr val="tx1"/>
                </a:solidFill>
                <a:latin typeface="Times New Roman" panose="02020603050405020304" pitchFamily="18" charset="0"/>
                <a:ea typeface="宋体" panose="02010600030101010101" pitchFamily="2" charset="-122"/>
              </a:rPr>
              <a:t>有害</a:t>
            </a:r>
          </a:p>
          <a:p>
            <a:pPr>
              <a:spcBef>
                <a:spcPct val="20000"/>
              </a:spcBef>
            </a:pPr>
            <a:r>
              <a:rPr lang="zh-CN" altLang="en-US" b="1" dirty="0">
                <a:solidFill>
                  <a:schemeClr val="tx1"/>
                </a:solidFill>
                <a:latin typeface="Times New Roman" panose="02020603050405020304" pitchFamily="18" charset="0"/>
                <a:ea typeface="宋体" panose="02010600030101010101" pitchFamily="2" charset="-122"/>
              </a:rPr>
              <a:t>               </a:t>
            </a:r>
            <a:r>
              <a:rPr lang="en-US" altLang="zh-CN" b="1">
                <a:solidFill>
                  <a:schemeClr val="tx1"/>
                </a:solidFill>
                <a:latin typeface="Times New Roman" panose="02020603050405020304" pitchFamily="18" charset="0"/>
                <a:ea typeface="宋体" panose="02010600030101010101" pitchFamily="2" charset="-122"/>
              </a:rPr>
              <a:t>UV—</a:t>
            </a:r>
            <a:r>
              <a:rPr lang="en-US" altLang="zh-CN" b="1" dirty="0">
                <a:solidFill>
                  <a:schemeClr val="tx1"/>
                </a:solidFill>
                <a:latin typeface="Times New Roman" panose="02020603050405020304" pitchFamily="18" charset="0"/>
                <a:ea typeface="宋体" panose="02010600030101010101" pitchFamily="2" charset="-122"/>
              </a:rPr>
              <a:t>A (320~400nm)              </a:t>
            </a:r>
            <a:r>
              <a:rPr lang="zh-CN" altLang="en-US" b="1" dirty="0">
                <a:solidFill>
                  <a:schemeClr val="tx1"/>
                </a:solidFill>
                <a:latin typeface="Times New Roman" panose="02020603050405020304" pitchFamily="18" charset="0"/>
                <a:ea typeface="宋体" panose="02010600030101010101" pitchFamily="2" charset="-122"/>
              </a:rPr>
              <a:t>全部通过</a:t>
            </a:r>
          </a:p>
        </p:txBody>
      </p:sp>
      <p:sp>
        <p:nvSpPr>
          <p:cNvPr id="46086" name="文本框 46085"/>
          <p:cNvSpPr txBox="1"/>
          <p:nvPr/>
        </p:nvSpPr>
        <p:spPr>
          <a:xfrm>
            <a:off x="381000" y="1371600"/>
            <a:ext cx="6019800" cy="522288"/>
          </a:xfrm>
          <a:prstGeom prst="rect">
            <a:avLst/>
          </a:prstGeom>
          <a:noFill/>
          <a:ln w="9525">
            <a:noFill/>
          </a:ln>
        </p:spPr>
        <p:txBody>
          <a:bodyPr anchor="t">
            <a:spAutoFit/>
          </a:bodyPr>
          <a:lstStyle/>
          <a:p>
            <a:pPr>
              <a:spcBef>
                <a:spcPct val="20000"/>
              </a:spcBef>
            </a:pPr>
            <a:r>
              <a:rPr lang="en-US" altLang="zh-CN" sz="2800" b="1" dirty="0">
                <a:solidFill>
                  <a:srgbClr val="3C37FD"/>
                </a:solidFill>
                <a:latin typeface="Times New Roman" panose="02020603050405020304" pitchFamily="18" charset="0"/>
                <a:ea typeface="宋体" panose="02010600030101010101" pitchFamily="2" charset="-122"/>
              </a:rPr>
              <a:t>1</a:t>
            </a:r>
            <a:r>
              <a:rPr lang="zh-CN" altLang="en-US" sz="2800" b="1" dirty="0">
                <a:solidFill>
                  <a:srgbClr val="3C37FD"/>
                </a:solidFill>
                <a:latin typeface="Times New Roman" panose="02020603050405020304" pitchFamily="18" charset="0"/>
                <a:ea typeface="宋体" panose="02010600030101010101" pitchFamily="2" charset="-122"/>
              </a:rPr>
              <a:t>）平流层中</a:t>
            </a:r>
            <a:r>
              <a:rPr lang="en-US" altLang="zh-CN" sz="2800" b="1">
                <a:solidFill>
                  <a:srgbClr val="3C37FD"/>
                </a:solidFill>
                <a:latin typeface="Times New Roman" panose="02020603050405020304" pitchFamily="18" charset="0"/>
                <a:ea typeface="宋体" panose="02010600030101010101" pitchFamily="2" charset="-122"/>
              </a:rPr>
              <a:t>O</a:t>
            </a:r>
            <a:r>
              <a:rPr lang="en-US" altLang="zh-CN" sz="2800" b="1" baseline="-25000">
                <a:solidFill>
                  <a:srgbClr val="3C37FD"/>
                </a:solidFill>
                <a:latin typeface="Times New Roman" panose="02020603050405020304" pitchFamily="18" charset="0"/>
                <a:ea typeface="宋体" panose="02010600030101010101" pitchFamily="2" charset="-122"/>
              </a:rPr>
              <a:t>3</a:t>
            </a:r>
            <a:r>
              <a:rPr lang="zh-CN" altLang="en-US" sz="2800" b="1" dirty="0">
                <a:solidFill>
                  <a:srgbClr val="3C37FD"/>
                </a:solidFill>
                <a:latin typeface="Times New Roman" panose="02020603050405020304" pitchFamily="18" charset="0"/>
                <a:ea typeface="宋体" panose="02010600030101010101" pitchFamily="2" charset="-122"/>
              </a:rPr>
              <a:t>的形成</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6086"/>
                                        </p:tgtEl>
                                        <p:attrNameLst>
                                          <p:attrName>style.visibility</p:attrName>
                                        </p:attrNameLst>
                                      </p:cBhvr>
                                      <p:to>
                                        <p:strVal val="visible"/>
                                      </p:to>
                                    </p:set>
                                    <p:anim calcmode="lin" valueType="num">
                                      <p:cBhvr>
                                        <p:cTn id="7" dur="500" fill="hold"/>
                                        <p:tgtEl>
                                          <p:spTgt spid="46086"/>
                                        </p:tgtEl>
                                        <p:attrNameLst>
                                          <p:attrName>ppt_x</p:attrName>
                                        </p:attrNameLst>
                                      </p:cBhvr>
                                      <p:tavLst>
                                        <p:tav tm="0">
                                          <p:val>
                                            <p:strVal val="0-#ppt_w/2"/>
                                          </p:val>
                                        </p:tav>
                                        <p:tav tm="100000">
                                          <p:val>
                                            <p:strVal val="#ppt_x"/>
                                          </p:val>
                                        </p:tav>
                                      </p:tavLst>
                                    </p:anim>
                                    <p:anim calcmode="lin" valueType="num">
                                      <p:cBhvr>
                                        <p:cTn id="8" dur="500" fill="hold"/>
                                        <p:tgtEl>
                                          <p:spTgt spid="460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6083"/>
                                        </p:tgtEl>
                                        <p:attrNameLst>
                                          <p:attrName>style.visibility</p:attrName>
                                        </p:attrNameLst>
                                      </p:cBhvr>
                                      <p:to>
                                        <p:strVal val="visible"/>
                                      </p:to>
                                    </p:set>
                                    <p:animEffect transition="in" filter="blinds(horizontal)">
                                      <p:cBhvr>
                                        <p:cTn id="13" dur="500"/>
                                        <p:tgtEl>
                                          <p:spTgt spid="46083"/>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6085"/>
                                        </p:tgtEl>
                                        <p:attrNameLst>
                                          <p:attrName>style.visibility</p:attrName>
                                        </p:attrNameLst>
                                      </p:cBhvr>
                                      <p:to>
                                        <p:strVal val="visible"/>
                                      </p:to>
                                    </p:set>
                                    <p:animEffect transition="in" filter="blinds(horizontal)">
                                      <p:cBhvr>
                                        <p:cTn id="18" dur="500"/>
                                        <p:tgtEl>
                                          <p:spTgt spid="46085"/>
                                        </p:tgtEl>
                                      </p:cBhvr>
                                    </p:animEffect>
                                  </p:childTnLst>
                                </p:cTn>
                              </p:par>
                            </p:childTnLst>
                          </p:cTn>
                        </p:par>
                        <p:par>
                          <p:cTn id="19" fill="hold">
                            <p:stCondLst>
                              <p:cond delay="500"/>
                            </p:stCondLst>
                            <p:childTnLst>
                              <p:par>
                                <p:cTn id="20" presetID="5" presetClass="entr" presetSubtype="5" fill="hold" nodeType="afterEffect">
                                  <p:stCondLst>
                                    <p:cond delay="0"/>
                                  </p:stCondLst>
                                  <p:childTnLst>
                                    <p:set>
                                      <p:cBhvr>
                                        <p:cTn id="21" dur="1" fill="hold">
                                          <p:stCondLst>
                                            <p:cond delay="0"/>
                                          </p:stCondLst>
                                        </p:cTn>
                                        <p:tgtEl>
                                          <p:spTgt spid="46084"/>
                                        </p:tgtEl>
                                        <p:attrNameLst>
                                          <p:attrName>style.visibility</p:attrName>
                                        </p:attrNameLst>
                                      </p:cBhvr>
                                      <p:to>
                                        <p:strVal val="visible"/>
                                      </p:to>
                                    </p:set>
                                    <p:animEffect transition="in" filter="checkerboard(down)">
                                      <p:cBhvr>
                                        <p:cTn id="22" dur="500"/>
                                        <p:tgtEl>
                                          <p:spTgt spid="46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p:bldP spid="46085" grpId="0"/>
      <p:bldP spid="4608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47105"/>
          <p:cNvSpPr>
            <a:spLocks noGrp="1"/>
          </p:cNvSpPr>
          <p:nvPr>
            <p:ph type="title"/>
          </p:nvPr>
        </p:nvSpPr>
        <p:spPr>
          <a:xfrm>
            <a:off x="425450" y="157163"/>
            <a:ext cx="8229600" cy="1143000"/>
          </a:xfrm>
          <a:noFill/>
          <a:ln>
            <a:noFill/>
          </a:ln>
        </p:spPr>
        <p:txBody>
          <a:bodyPr anchor="ctr"/>
          <a:lstStyle/>
          <a:p>
            <a:r>
              <a:rPr lang="en-US" altLang="zh-CN" sz="3200" b="1" dirty="0">
                <a:solidFill>
                  <a:srgbClr val="3C37FD"/>
                </a:solidFill>
              </a:rPr>
              <a:t>2</a:t>
            </a:r>
            <a:r>
              <a:rPr lang="zh-CN" altLang="en-US" sz="3200" b="1" dirty="0">
                <a:solidFill>
                  <a:srgbClr val="3C37FD"/>
                </a:solidFill>
              </a:rPr>
              <a:t>）臭氧层破坏的现状</a:t>
            </a:r>
          </a:p>
        </p:txBody>
      </p:sp>
      <p:sp>
        <p:nvSpPr>
          <p:cNvPr id="47107" name="内容占位符 47106"/>
          <p:cNvSpPr>
            <a:spLocks noGrp="1"/>
          </p:cNvSpPr>
          <p:nvPr>
            <p:ph idx="1"/>
          </p:nvPr>
        </p:nvSpPr>
        <p:spPr>
          <a:noFill/>
          <a:ln>
            <a:noFill/>
          </a:ln>
        </p:spPr>
        <p:txBody>
          <a:bodyPr anchor="t"/>
          <a:lstStyle/>
          <a:p>
            <a:pPr lvl="1">
              <a:buFont typeface="Wingdings" panose="05000000000000000000" pitchFamily="2" charset="2"/>
              <a:buNone/>
            </a:pPr>
            <a:r>
              <a:rPr lang="en-US" altLang="zh-CN" b="1" dirty="0"/>
              <a:t> </a:t>
            </a:r>
          </a:p>
          <a:p>
            <a:pPr lvl="1">
              <a:buFont typeface="Wingdings" panose="05000000000000000000" pitchFamily="2" charset="2"/>
              <a:buChar char="l"/>
            </a:pPr>
            <a:r>
              <a:rPr lang="zh-CN" altLang="en-US" b="1" dirty="0">
                <a:solidFill>
                  <a:schemeClr val="tx1"/>
                </a:solidFill>
                <a:cs typeface="Arial" panose="020B0604020202020204" pitchFamily="34" charset="0"/>
              </a:rPr>
              <a:t>北极上空臭氧逐年减少</a:t>
            </a:r>
          </a:p>
          <a:p>
            <a:pPr lvl="1">
              <a:buFont typeface="Wingdings" panose="05000000000000000000" pitchFamily="2" charset="2"/>
              <a:buChar char="l"/>
            </a:pPr>
            <a:r>
              <a:rPr lang="zh-CN" altLang="en-US" b="1" dirty="0">
                <a:solidFill>
                  <a:schemeClr val="tx1"/>
                </a:solidFill>
                <a:cs typeface="Arial" panose="020B0604020202020204" pitchFamily="34" charset="0"/>
              </a:rPr>
              <a:t>臭氧层破坏已从两极向中纬度地区扩散</a:t>
            </a:r>
            <a:endParaRPr lang="zh-CN" altLang="en-US" b="1" dirty="0">
              <a:solidFill>
                <a:schemeClr val="tx1"/>
              </a:solidFill>
              <a:ea typeface="Arial" panose="020B0604020202020204" pitchFamily="34" charset="0"/>
              <a:cs typeface="Arial" panose="020B0604020202020204" pitchFamily="34" charset="0"/>
            </a:endParaRPr>
          </a:p>
        </p:txBody>
      </p:sp>
      <p:pic>
        <p:nvPicPr>
          <p:cNvPr id="47108" name="图片 47107" descr="5"/>
          <p:cNvPicPr>
            <a:picLocks noChangeAspect="1"/>
          </p:cNvPicPr>
          <p:nvPr/>
        </p:nvPicPr>
        <p:blipFill>
          <a:blip r:embed="rId2" cstate="print"/>
          <a:srcRect l="30508" t="2983" r="3391"/>
          <a:stretch>
            <a:fillRect/>
          </a:stretch>
        </p:blipFill>
        <p:spPr>
          <a:xfrm>
            <a:off x="2126579" y="3300412"/>
            <a:ext cx="4267200" cy="3557588"/>
          </a:xfrm>
          <a:prstGeom prst="rect">
            <a:avLst/>
          </a:prstGeom>
          <a:noFill/>
          <a:ln w="9525">
            <a:noFill/>
          </a:ln>
        </p:spPr>
      </p:pic>
      <p:sp>
        <p:nvSpPr>
          <p:cNvPr id="47109" name="文本框 47108"/>
          <p:cNvSpPr txBox="1"/>
          <p:nvPr/>
        </p:nvSpPr>
        <p:spPr>
          <a:xfrm>
            <a:off x="425450" y="1173480"/>
            <a:ext cx="8261350" cy="583565"/>
          </a:xfrm>
          <a:prstGeom prst="rect">
            <a:avLst/>
          </a:prstGeom>
          <a:noFill/>
          <a:ln w="9525">
            <a:noFill/>
          </a:ln>
        </p:spPr>
        <p:txBody>
          <a:bodyPr wrap="square" anchor="t">
            <a:spAutoFit/>
          </a:bodyPr>
          <a:lstStyle/>
          <a:p>
            <a:pPr lvl="1" indent="0">
              <a:buFont typeface="Wingdings" panose="05000000000000000000" pitchFamily="2" charset="2"/>
              <a:buChar char="l"/>
            </a:pPr>
            <a:r>
              <a:rPr lang="zh-CN" altLang="en-US" sz="3200" dirty="0">
                <a:solidFill>
                  <a:schemeClr val="tx1"/>
                </a:solidFill>
                <a:latin typeface="Times New Roman" panose="02020603050405020304" pitchFamily="18" charset="0"/>
                <a:ea typeface="宋体" panose="02010600030101010101" pitchFamily="2" charset="-122"/>
              </a:rPr>
              <a:t>南极臭氧洞的形成</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47109"/>
                                        </p:tgtEl>
                                        <p:attrNameLst>
                                          <p:attrName>style.visibility</p:attrName>
                                        </p:attrNameLst>
                                      </p:cBhvr>
                                      <p:to>
                                        <p:strVal val="visible"/>
                                      </p:to>
                                    </p:set>
                                    <p:anim calcmode="lin" valueType="num">
                                      <p:cBhvr>
                                        <p:cTn id="7" dur="500" fill="hold"/>
                                        <p:tgtEl>
                                          <p:spTgt spid="47109"/>
                                        </p:tgtEl>
                                        <p:attrNameLst>
                                          <p:attrName>ppt_w</p:attrName>
                                        </p:attrNameLst>
                                      </p:cBhvr>
                                      <p:tavLst>
                                        <p:tav tm="0">
                                          <p:val>
                                            <p:fltVal val="0"/>
                                          </p:val>
                                        </p:tav>
                                        <p:tav tm="100000">
                                          <p:val>
                                            <p:strVal val="#ppt_w"/>
                                          </p:val>
                                        </p:tav>
                                      </p:tavLst>
                                    </p:anim>
                                    <p:anim calcmode="lin" valueType="num">
                                      <p:cBhvr>
                                        <p:cTn id="8" dur="500" fill="hold"/>
                                        <p:tgtEl>
                                          <p:spTgt spid="47109"/>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47108"/>
                                        </p:tgtEl>
                                        <p:attrNameLst>
                                          <p:attrName>style.visibility</p:attrName>
                                        </p:attrNameLst>
                                      </p:cBhvr>
                                      <p:to>
                                        <p:strVal val="visible"/>
                                      </p:to>
                                    </p:set>
                                    <p:animEffect transition="in" filter="box(out)">
                                      <p:cBhvr>
                                        <p:cTn id="13" dur="500"/>
                                        <p:tgtEl>
                                          <p:spTgt spid="47108"/>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47107">
                                            <p:txEl>
                                              <p:pRg st="0" end="0"/>
                                            </p:txEl>
                                          </p:spTgt>
                                        </p:tgtEl>
                                        <p:attrNameLst>
                                          <p:attrName>style.visibility</p:attrName>
                                        </p:attrNameLst>
                                      </p:cBhvr>
                                      <p:to>
                                        <p:strVal val="visible"/>
                                      </p:to>
                                    </p:set>
                                    <p:anim calcmode="lin" valueType="num">
                                      <p:cBhvr>
                                        <p:cTn id="18" dur="500" fill="hold"/>
                                        <p:tgtEl>
                                          <p:spTgt spid="47107">
                                            <p:txEl>
                                              <p:pRg st="0" end="0"/>
                                            </p:txEl>
                                          </p:spTgt>
                                        </p:tgtEl>
                                        <p:attrNameLst>
                                          <p:attrName>ppt_w</p:attrName>
                                        </p:attrNameLst>
                                      </p:cBhvr>
                                      <p:tavLst>
                                        <p:tav tm="0">
                                          <p:val>
                                            <p:fltVal val="0"/>
                                          </p:val>
                                        </p:tav>
                                        <p:tav tm="100000">
                                          <p:val>
                                            <p:strVal val="#ppt_w"/>
                                          </p:val>
                                        </p:tav>
                                      </p:tavLst>
                                    </p:anim>
                                    <p:anim calcmode="lin" valueType="num">
                                      <p:cBhvr>
                                        <p:cTn id="19" dur="500" fill="hold"/>
                                        <p:tgtEl>
                                          <p:spTgt spid="4710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7" presetClass="entr" presetSubtype="10" fill="hold" grpId="0" nodeType="clickEffect">
                                  <p:stCondLst>
                                    <p:cond delay="0"/>
                                  </p:stCondLst>
                                  <p:childTnLst>
                                    <p:set>
                                      <p:cBhvr>
                                        <p:cTn id="23" dur="1" fill="hold">
                                          <p:stCondLst>
                                            <p:cond delay="0"/>
                                          </p:stCondLst>
                                        </p:cTn>
                                        <p:tgtEl>
                                          <p:spTgt spid="47107">
                                            <p:txEl>
                                              <p:pRg st="1" end="1"/>
                                            </p:txEl>
                                          </p:spTgt>
                                        </p:tgtEl>
                                        <p:attrNameLst>
                                          <p:attrName>style.visibility</p:attrName>
                                        </p:attrNameLst>
                                      </p:cBhvr>
                                      <p:to>
                                        <p:strVal val="visible"/>
                                      </p:to>
                                    </p:set>
                                    <p:anim calcmode="lin" valueType="num">
                                      <p:cBhvr>
                                        <p:cTn id="24" dur="500" fill="hold"/>
                                        <p:tgtEl>
                                          <p:spTgt spid="47107">
                                            <p:txEl>
                                              <p:pRg st="1" end="1"/>
                                            </p:txEl>
                                          </p:spTgt>
                                        </p:tgtEl>
                                        <p:attrNameLst>
                                          <p:attrName>ppt_w</p:attrName>
                                        </p:attrNameLst>
                                      </p:cBhvr>
                                      <p:tavLst>
                                        <p:tav tm="0">
                                          <p:val>
                                            <p:fltVal val="0"/>
                                          </p:val>
                                        </p:tav>
                                        <p:tav tm="100000">
                                          <p:val>
                                            <p:strVal val="#ppt_w"/>
                                          </p:val>
                                        </p:tav>
                                      </p:tavLst>
                                    </p:anim>
                                    <p:anim calcmode="lin" valueType="num">
                                      <p:cBhvr>
                                        <p:cTn id="25" dur="500" fill="hold"/>
                                        <p:tgtEl>
                                          <p:spTgt spid="4710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17" presetClass="entr" presetSubtype="10" fill="hold" grpId="0" nodeType="clickEffect">
                                  <p:stCondLst>
                                    <p:cond delay="0"/>
                                  </p:stCondLst>
                                  <p:childTnLst>
                                    <p:set>
                                      <p:cBhvr>
                                        <p:cTn id="29" dur="1" fill="hold">
                                          <p:stCondLst>
                                            <p:cond delay="0"/>
                                          </p:stCondLst>
                                        </p:cTn>
                                        <p:tgtEl>
                                          <p:spTgt spid="47107">
                                            <p:txEl>
                                              <p:pRg st="2" end="2"/>
                                            </p:txEl>
                                          </p:spTgt>
                                        </p:tgtEl>
                                        <p:attrNameLst>
                                          <p:attrName>style.visibility</p:attrName>
                                        </p:attrNameLst>
                                      </p:cBhvr>
                                      <p:to>
                                        <p:strVal val="visible"/>
                                      </p:to>
                                    </p:set>
                                    <p:anim calcmode="lin" valueType="num">
                                      <p:cBhvr>
                                        <p:cTn id="30" dur="500" fill="hold"/>
                                        <p:tgtEl>
                                          <p:spTgt spid="47107">
                                            <p:txEl>
                                              <p:pRg st="2" end="2"/>
                                            </p:txEl>
                                          </p:spTgt>
                                        </p:tgtEl>
                                        <p:attrNameLst>
                                          <p:attrName>ppt_w</p:attrName>
                                        </p:attrNameLst>
                                      </p:cBhvr>
                                      <p:tavLst>
                                        <p:tav tm="0">
                                          <p:val>
                                            <p:fltVal val="0"/>
                                          </p:val>
                                        </p:tav>
                                        <p:tav tm="100000">
                                          <p:val>
                                            <p:strVal val="#ppt_w"/>
                                          </p:val>
                                        </p:tav>
                                      </p:tavLst>
                                    </p:anim>
                                    <p:anim calcmode="lin" valueType="num">
                                      <p:cBhvr>
                                        <p:cTn id="31" dur="500" fill="hold"/>
                                        <p:tgtEl>
                                          <p:spTgt spid="47107">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bldLvl="2"/>
      <p:bldP spid="4710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49153"/>
          <p:cNvSpPr>
            <a:spLocks noGrp="1"/>
          </p:cNvSpPr>
          <p:nvPr>
            <p:ph type="title"/>
          </p:nvPr>
        </p:nvSpPr>
        <p:spPr>
          <a:noFill/>
          <a:ln>
            <a:noFill/>
          </a:ln>
        </p:spPr>
        <p:txBody>
          <a:bodyPr anchor="ctr"/>
          <a:lstStyle/>
          <a:p>
            <a:r>
              <a:rPr lang="en-US" altLang="zh-CN" sz="3200" b="1" dirty="0">
                <a:solidFill>
                  <a:srgbClr val="3C37FD"/>
                </a:solidFill>
              </a:rPr>
              <a:t>3</a:t>
            </a:r>
            <a:r>
              <a:rPr lang="zh-CN" altLang="en-US" sz="3200" b="1" dirty="0">
                <a:solidFill>
                  <a:srgbClr val="3C37FD"/>
                </a:solidFill>
              </a:rPr>
              <a:t>）臭氧层耗减对环境、生态的影响</a:t>
            </a:r>
          </a:p>
        </p:txBody>
      </p:sp>
      <p:sp>
        <p:nvSpPr>
          <p:cNvPr id="49155" name="内容占位符 49154"/>
          <p:cNvSpPr>
            <a:spLocks noGrp="1"/>
          </p:cNvSpPr>
          <p:nvPr>
            <p:ph idx="1"/>
          </p:nvPr>
        </p:nvSpPr>
        <p:spPr>
          <a:noFill/>
          <a:ln>
            <a:noFill/>
          </a:ln>
        </p:spPr>
        <p:txBody>
          <a:bodyPr anchor="t"/>
          <a:lstStyle/>
          <a:p>
            <a:pPr>
              <a:buClr>
                <a:schemeClr val="tx1"/>
              </a:buClr>
              <a:buFont typeface="Wingdings" panose="05000000000000000000" pitchFamily="2" charset="2"/>
              <a:buChar char="Ø"/>
            </a:pPr>
            <a:r>
              <a:rPr lang="zh-CN" altLang="en-US" sz="2400" b="1" dirty="0">
                <a:solidFill>
                  <a:schemeClr val="tx1"/>
                </a:solidFill>
              </a:rPr>
              <a:t>植物生长缓慢</a:t>
            </a:r>
            <a:r>
              <a:rPr lang="en-US" altLang="zh-CN" sz="2400" b="1" dirty="0">
                <a:solidFill>
                  <a:schemeClr val="tx1"/>
                </a:solidFill>
              </a:rPr>
              <a:t>,</a:t>
            </a:r>
            <a:r>
              <a:rPr lang="zh-CN" altLang="en-US" sz="2400" b="1" dirty="0">
                <a:solidFill>
                  <a:schemeClr val="tx1"/>
                </a:solidFill>
              </a:rPr>
              <a:t>叶绿素含量降低。</a:t>
            </a:r>
          </a:p>
          <a:p>
            <a:pPr marL="0" indent="0">
              <a:buClr>
                <a:schemeClr val="tx1"/>
              </a:buClr>
              <a:buFont typeface="Wingdings" panose="05000000000000000000" pitchFamily="2" charset="2"/>
              <a:buNone/>
            </a:pPr>
            <a:endParaRPr lang="zh-CN" altLang="en-US" sz="2400" b="1" dirty="0">
              <a:solidFill>
                <a:schemeClr val="tx1"/>
              </a:solidFill>
            </a:endParaRPr>
          </a:p>
          <a:p>
            <a:pPr>
              <a:buClr>
                <a:schemeClr val="tx1"/>
              </a:buClr>
              <a:buFont typeface="Wingdings" panose="05000000000000000000" pitchFamily="2" charset="2"/>
              <a:buChar char="Ø"/>
            </a:pPr>
            <a:r>
              <a:rPr lang="zh-CN" altLang="en-US" sz="2400" b="1" dirty="0">
                <a:solidFill>
                  <a:schemeClr val="tx1"/>
                </a:solidFill>
              </a:rPr>
              <a:t>白内障患者增加，人体免疫系统失调。</a:t>
            </a:r>
          </a:p>
          <a:p>
            <a:pPr>
              <a:buClr>
                <a:schemeClr val="tx1"/>
              </a:buClr>
              <a:buFont typeface="Wingdings" panose="05000000000000000000" pitchFamily="2" charset="2"/>
              <a:buChar char="Ø"/>
            </a:pPr>
            <a:endParaRPr lang="zh-CN" altLang="en-US" sz="2400" b="1" dirty="0">
              <a:solidFill>
                <a:schemeClr val="tx1"/>
              </a:solidFill>
            </a:endParaRPr>
          </a:p>
          <a:p>
            <a:pPr>
              <a:buClr>
                <a:schemeClr val="tx1"/>
              </a:buClr>
              <a:buFont typeface="Wingdings" panose="05000000000000000000" pitchFamily="2" charset="2"/>
              <a:buChar char="Ø"/>
            </a:pPr>
            <a:r>
              <a:rPr lang="zh-CN" altLang="en-US" sz="2400" b="1" dirty="0">
                <a:solidFill>
                  <a:schemeClr val="tx1"/>
                </a:solidFill>
              </a:rPr>
              <a:t>易发生光化学烟雾。</a:t>
            </a:r>
          </a:p>
          <a:p>
            <a:pPr>
              <a:buClr>
                <a:schemeClr val="tx1"/>
              </a:buClr>
              <a:buFont typeface="Wingdings" panose="05000000000000000000" pitchFamily="2" charset="2"/>
              <a:buChar char="Ø"/>
            </a:pPr>
            <a:endParaRPr lang="zh-CN" altLang="en-US" sz="2400" b="1" dirty="0">
              <a:solidFill>
                <a:schemeClr val="tx1"/>
              </a:solidFill>
            </a:endParaRPr>
          </a:p>
          <a:p>
            <a:pPr>
              <a:buClr>
                <a:schemeClr val="tx1"/>
              </a:buClr>
              <a:buFont typeface="Wingdings" panose="05000000000000000000" pitchFamily="2" charset="2"/>
              <a:buChar char="Ø"/>
            </a:pPr>
            <a:r>
              <a:rPr lang="zh-CN" altLang="en-US" sz="2400" b="1" dirty="0">
                <a:solidFill>
                  <a:schemeClr val="tx1"/>
                </a:solidFill>
              </a:rPr>
              <a:t>塑料易老化，油漆变质。</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iterate type="lt">
                                    <p:tmPct val="10000"/>
                                  </p:iterate>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blinds(horizontal)">
                                      <p:cBhvr>
                                        <p:cTn id="7" dur="500"/>
                                        <p:tgtEl>
                                          <p:spTgt spid="49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iterate type="lt">
                                    <p:tmPct val="10000"/>
                                  </p:iterate>
                                  <p:childTnLst>
                                    <p:set>
                                      <p:cBhvr>
                                        <p:cTn id="11" dur="1" fill="hold">
                                          <p:stCondLst>
                                            <p:cond delay="0"/>
                                          </p:stCondLst>
                                        </p:cTn>
                                        <p:tgtEl>
                                          <p:spTgt spid="49155">
                                            <p:txEl>
                                              <p:pRg st="2" end="2"/>
                                            </p:txEl>
                                          </p:spTgt>
                                        </p:tgtEl>
                                        <p:attrNameLst>
                                          <p:attrName>style.visibility</p:attrName>
                                        </p:attrNameLst>
                                      </p:cBhvr>
                                      <p:to>
                                        <p:strVal val="visible"/>
                                      </p:to>
                                    </p:set>
                                    <p:animEffect transition="in" filter="blinds(horizontal)">
                                      <p:cBhvr>
                                        <p:cTn id="12" dur="500"/>
                                        <p:tgtEl>
                                          <p:spTgt spid="4915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iterate type="lt">
                                    <p:tmPct val="10000"/>
                                  </p:iterate>
                                  <p:childTnLst>
                                    <p:set>
                                      <p:cBhvr>
                                        <p:cTn id="16" dur="1" fill="hold">
                                          <p:stCondLst>
                                            <p:cond delay="0"/>
                                          </p:stCondLst>
                                        </p:cTn>
                                        <p:tgtEl>
                                          <p:spTgt spid="49155">
                                            <p:txEl>
                                              <p:pRg st="4" end="4"/>
                                            </p:txEl>
                                          </p:spTgt>
                                        </p:tgtEl>
                                        <p:attrNameLst>
                                          <p:attrName>style.visibility</p:attrName>
                                        </p:attrNameLst>
                                      </p:cBhvr>
                                      <p:to>
                                        <p:strVal val="visible"/>
                                      </p:to>
                                    </p:set>
                                    <p:animEffect transition="in" filter="blinds(horizontal)">
                                      <p:cBhvr>
                                        <p:cTn id="17" dur="500"/>
                                        <p:tgtEl>
                                          <p:spTgt spid="4915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iterate type="lt">
                                    <p:tmPct val="10000"/>
                                  </p:iterate>
                                  <p:childTnLst>
                                    <p:set>
                                      <p:cBhvr>
                                        <p:cTn id="21" dur="1" fill="hold">
                                          <p:stCondLst>
                                            <p:cond delay="0"/>
                                          </p:stCondLst>
                                        </p:cTn>
                                        <p:tgtEl>
                                          <p:spTgt spid="49155">
                                            <p:txEl>
                                              <p:pRg st="6" end="6"/>
                                            </p:txEl>
                                          </p:spTgt>
                                        </p:tgtEl>
                                        <p:attrNameLst>
                                          <p:attrName>style.visibility</p:attrName>
                                        </p:attrNameLst>
                                      </p:cBhvr>
                                      <p:to>
                                        <p:strVal val="visible"/>
                                      </p:to>
                                    </p:set>
                                    <p:animEffect transition="in" filter="blinds(horizontal)">
                                      <p:cBhvr>
                                        <p:cTn id="22" dur="500"/>
                                        <p:tgtEl>
                                          <p:spTgt spid="491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uiExpand="1" build="allAtOnce" bldLvl="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48129"/>
          <p:cNvSpPr>
            <a:spLocks noGrp="1"/>
          </p:cNvSpPr>
          <p:nvPr>
            <p:ph type="title"/>
          </p:nvPr>
        </p:nvSpPr>
        <p:spPr>
          <a:xfrm>
            <a:off x="419100" y="506095"/>
            <a:ext cx="4726940" cy="504190"/>
          </a:xfrm>
          <a:noFill/>
          <a:ln>
            <a:noFill/>
          </a:ln>
        </p:spPr>
        <p:txBody>
          <a:bodyPr anchor="ctr"/>
          <a:lstStyle/>
          <a:p>
            <a:r>
              <a:rPr lang="en-US" altLang="zh-CN" sz="3200" b="1" dirty="0">
                <a:solidFill>
                  <a:srgbClr val="3C37FD"/>
                </a:solidFill>
              </a:rPr>
              <a:t>4</a:t>
            </a:r>
            <a:r>
              <a:rPr lang="zh-CN" altLang="en-US" sz="3200" b="1" dirty="0">
                <a:solidFill>
                  <a:srgbClr val="3C37FD"/>
                </a:solidFill>
              </a:rPr>
              <a:t>）臭氧层破坏的机理</a:t>
            </a:r>
            <a:endParaRPr lang="zh-CN" altLang="en-US" b="1" dirty="0">
              <a:solidFill>
                <a:schemeClr val="tx1"/>
              </a:solidFill>
            </a:endParaRPr>
          </a:p>
        </p:txBody>
      </p:sp>
      <p:sp>
        <p:nvSpPr>
          <p:cNvPr id="48131" name="内容占位符 48130"/>
          <p:cNvSpPr>
            <a:spLocks noGrp="1"/>
          </p:cNvSpPr>
          <p:nvPr>
            <p:ph idx="1"/>
          </p:nvPr>
        </p:nvSpPr>
        <p:spPr>
          <a:noFill/>
          <a:ln>
            <a:noFill/>
          </a:ln>
        </p:spPr>
        <p:txBody>
          <a:bodyPr anchor="t"/>
          <a:lstStyle/>
          <a:p>
            <a:pPr lvl="1">
              <a:buFont typeface="Wingdings" panose="05000000000000000000" pitchFamily="2" charset="2"/>
              <a:buNone/>
            </a:pPr>
            <a:r>
              <a:rPr lang="en-US" altLang="zh-CN" sz="3200" b="1"/>
              <a:t> </a:t>
            </a:r>
            <a:r>
              <a:rPr lang="en-US" altLang="zh-CN" sz="2000" b="1">
                <a:solidFill>
                  <a:srgbClr val="FFCC00"/>
                </a:solidFill>
              </a:rPr>
              <a:t> </a:t>
            </a:r>
          </a:p>
          <a:p>
            <a:pPr>
              <a:buNone/>
            </a:pPr>
            <a:r>
              <a:rPr lang="en-US" altLang="zh-CN" sz="2000" b="1"/>
              <a:t>      </a:t>
            </a:r>
            <a:r>
              <a:rPr lang="en-US" altLang="zh-CN" sz="2000" b="1">
                <a:solidFill>
                  <a:schemeClr val="tx1"/>
                </a:solidFill>
              </a:rPr>
              <a:t>                 CF</a:t>
            </a:r>
            <a:r>
              <a:rPr lang="en-US" altLang="zh-CN" sz="2000" b="1" baseline="-25000">
                <a:solidFill>
                  <a:schemeClr val="tx1"/>
                </a:solidFill>
              </a:rPr>
              <a:t>2</a:t>
            </a:r>
            <a:r>
              <a:rPr lang="en-US" altLang="zh-CN" sz="2000" b="1">
                <a:solidFill>
                  <a:schemeClr val="tx1"/>
                </a:solidFill>
              </a:rPr>
              <a:t>Cl</a:t>
            </a:r>
            <a:r>
              <a:rPr lang="en-US" altLang="zh-CN" sz="2000" b="1" baseline="-25000">
                <a:solidFill>
                  <a:schemeClr val="tx1"/>
                </a:solidFill>
              </a:rPr>
              <a:t> 2</a:t>
            </a:r>
            <a:r>
              <a:rPr lang="en-US" altLang="zh-CN" sz="2000" b="1" err="1">
                <a:solidFill>
                  <a:schemeClr val="tx1"/>
                </a:solidFill>
              </a:rPr>
              <a:t> + hν→ Cl</a:t>
            </a:r>
            <a:r>
              <a:rPr lang="en-US" altLang="zh-CN" sz="2000" b="1">
                <a:solidFill>
                  <a:schemeClr val="tx1"/>
                </a:solidFill>
              </a:rPr>
              <a:t> + CF</a:t>
            </a:r>
            <a:r>
              <a:rPr lang="en-US" altLang="zh-CN" sz="2000" b="1" baseline="-25000">
                <a:solidFill>
                  <a:schemeClr val="tx1"/>
                </a:solidFill>
              </a:rPr>
              <a:t>2</a:t>
            </a:r>
            <a:r>
              <a:rPr lang="en-US" altLang="zh-CN" sz="2000" b="1">
                <a:solidFill>
                  <a:schemeClr val="tx1"/>
                </a:solidFill>
              </a:rPr>
              <a:t>Cl</a:t>
            </a:r>
          </a:p>
          <a:p>
            <a:pPr>
              <a:buNone/>
            </a:pPr>
            <a:r>
              <a:rPr lang="en-US" altLang="zh-CN" sz="2000" b="1" err="1">
                <a:solidFill>
                  <a:schemeClr val="tx1"/>
                </a:solidFill>
              </a:rPr>
              <a:t>                            Cl</a:t>
            </a:r>
            <a:r>
              <a:rPr lang="en-US" altLang="zh-CN" sz="2000" b="1">
                <a:solidFill>
                  <a:schemeClr val="tx1"/>
                </a:solidFill>
              </a:rPr>
              <a:t> + O</a:t>
            </a:r>
            <a:r>
              <a:rPr lang="en-US" altLang="zh-CN" sz="2000" b="1" baseline="-25000">
                <a:solidFill>
                  <a:schemeClr val="tx1"/>
                </a:solidFill>
              </a:rPr>
              <a:t>3</a:t>
            </a:r>
            <a:r>
              <a:rPr lang="en-US" altLang="zh-CN" sz="2000" b="1" err="1">
                <a:solidFill>
                  <a:schemeClr val="tx1"/>
                </a:solidFill>
              </a:rPr>
              <a:t> → ClO</a:t>
            </a:r>
            <a:r>
              <a:rPr lang="en-US" altLang="zh-CN" sz="2000" b="1">
                <a:solidFill>
                  <a:schemeClr val="tx1"/>
                </a:solidFill>
              </a:rPr>
              <a:t> + O</a:t>
            </a:r>
            <a:r>
              <a:rPr lang="en-US" altLang="zh-CN" sz="2000" b="1" baseline="-25000">
                <a:solidFill>
                  <a:schemeClr val="tx1"/>
                </a:solidFill>
              </a:rPr>
              <a:t>2</a:t>
            </a:r>
            <a:endParaRPr lang="en-US" altLang="zh-CN" sz="2000" b="1">
              <a:solidFill>
                <a:schemeClr val="tx1"/>
              </a:solidFill>
            </a:endParaRPr>
          </a:p>
          <a:p>
            <a:pPr>
              <a:buNone/>
            </a:pPr>
            <a:r>
              <a:rPr lang="en-US" altLang="zh-CN" sz="2000" b="1" err="1">
                <a:solidFill>
                  <a:schemeClr val="tx1"/>
                </a:solidFill>
              </a:rPr>
              <a:t>                            ClO + O → Cl</a:t>
            </a:r>
            <a:r>
              <a:rPr lang="en-US" altLang="zh-CN" sz="2000" b="1">
                <a:solidFill>
                  <a:schemeClr val="tx1"/>
                </a:solidFill>
              </a:rPr>
              <a:t> + O</a:t>
            </a:r>
            <a:r>
              <a:rPr lang="en-US" altLang="zh-CN" sz="2000" b="1" baseline="-25000">
                <a:solidFill>
                  <a:schemeClr val="tx1"/>
                </a:solidFill>
              </a:rPr>
              <a:t>2</a:t>
            </a:r>
            <a:r>
              <a:rPr lang="en-US" altLang="zh-CN" sz="2000" b="1">
                <a:solidFill>
                  <a:schemeClr val="tx1"/>
                </a:solidFill>
              </a:rPr>
              <a:t> </a:t>
            </a:r>
          </a:p>
          <a:p>
            <a:pPr algn="just">
              <a:buNone/>
            </a:pPr>
            <a:r>
              <a:rPr lang="en-US" altLang="zh-CN" sz="2000" b="1" dirty="0">
                <a:solidFill>
                  <a:schemeClr val="tx1"/>
                </a:solidFill>
              </a:rPr>
              <a:t>            </a:t>
            </a:r>
            <a:r>
              <a:rPr lang="zh-CN" altLang="en-US" sz="2000" b="1" dirty="0">
                <a:solidFill>
                  <a:schemeClr val="tx1"/>
                </a:solidFill>
              </a:rPr>
              <a:t>总反应：</a:t>
            </a:r>
            <a:r>
              <a:rPr lang="en-US" altLang="zh-CN" sz="2000" b="1">
                <a:solidFill>
                  <a:schemeClr val="tx1"/>
                </a:solidFill>
              </a:rPr>
              <a:t>O</a:t>
            </a:r>
            <a:r>
              <a:rPr lang="en-US" altLang="zh-CN" sz="2000" b="1" baseline="-25000">
                <a:solidFill>
                  <a:schemeClr val="tx1"/>
                </a:solidFill>
              </a:rPr>
              <a:t>3</a:t>
            </a:r>
            <a:r>
              <a:rPr lang="en-US" altLang="zh-CN" sz="2000" b="1">
                <a:solidFill>
                  <a:schemeClr val="tx1"/>
                </a:solidFill>
              </a:rPr>
              <a:t> + O → 2O</a:t>
            </a:r>
            <a:r>
              <a:rPr lang="en-US" altLang="zh-CN" sz="2000" b="1" baseline="-25000">
                <a:solidFill>
                  <a:schemeClr val="tx1"/>
                </a:solidFill>
              </a:rPr>
              <a:t>2</a:t>
            </a:r>
            <a:r>
              <a:rPr lang="en-US" altLang="zh-CN" sz="2000" b="1">
                <a:solidFill>
                  <a:schemeClr val="tx1"/>
                </a:solidFill>
              </a:rPr>
              <a:t> </a:t>
            </a:r>
          </a:p>
          <a:p>
            <a:pPr>
              <a:buNone/>
            </a:pPr>
            <a:r>
              <a:rPr lang="en-US" altLang="zh-CN" sz="2000" b="1" dirty="0">
                <a:solidFill>
                  <a:schemeClr val="tx1"/>
                </a:solidFill>
              </a:rPr>
              <a:t>                 </a:t>
            </a:r>
            <a:r>
              <a:rPr lang="zh-CN" altLang="en-US" sz="2000" b="1" dirty="0">
                <a:solidFill>
                  <a:schemeClr val="tx1"/>
                </a:solidFill>
              </a:rPr>
              <a:t>一个</a:t>
            </a:r>
            <a:r>
              <a:rPr lang="en-US" altLang="zh-CN" sz="2000" b="1" err="1">
                <a:solidFill>
                  <a:schemeClr val="tx1"/>
                </a:solidFill>
              </a:rPr>
              <a:t>Cl</a:t>
            </a:r>
            <a:r>
              <a:rPr lang="zh-CN" altLang="en-US" sz="2000" b="1" dirty="0">
                <a:solidFill>
                  <a:schemeClr val="tx1"/>
                </a:solidFill>
              </a:rPr>
              <a:t>原子可破坏</a:t>
            </a:r>
            <a:r>
              <a:rPr lang="en-US" altLang="zh-CN" sz="2000" b="1" dirty="0">
                <a:solidFill>
                  <a:schemeClr val="tx1"/>
                </a:solidFill>
              </a:rPr>
              <a:t>10</a:t>
            </a:r>
            <a:r>
              <a:rPr lang="zh-CN" altLang="en-US" sz="2000" b="1" dirty="0">
                <a:solidFill>
                  <a:schemeClr val="tx1"/>
                </a:solidFill>
              </a:rPr>
              <a:t>万个</a:t>
            </a:r>
            <a:r>
              <a:rPr lang="en-US" altLang="zh-CN" sz="2000" b="1">
                <a:solidFill>
                  <a:schemeClr val="tx1"/>
                </a:solidFill>
              </a:rPr>
              <a:t>O</a:t>
            </a:r>
            <a:r>
              <a:rPr lang="en-US" altLang="zh-CN" sz="2000" b="1" baseline="-25000">
                <a:solidFill>
                  <a:schemeClr val="tx1"/>
                </a:solidFill>
              </a:rPr>
              <a:t>3</a:t>
            </a:r>
            <a:r>
              <a:rPr lang="zh-CN" altLang="en-US" sz="2000" b="1" dirty="0">
                <a:solidFill>
                  <a:schemeClr val="tx1"/>
                </a:solidFill>
              </a:rPr>
              <a:t>分子</a:t>
            </a:r>
          </a:p>
        </p:txBody>
      </p:sp>
      <p:sp>
        <p:nvSpPr>
          <p:cNvPr id="48132" name="文本框 48131"/>
          <p:cNvSpPr txBox="1"/>
          <p:nvPr/>
        </p:nvSpPr>
        <p:spPr>
          <a:xfrm>
            <a:off x="304800" y="3886200"/>
            <a:ext cx="8534400" cy="762000"/>
          </a:xfrm>
          <a:prstGeom prst="rect">
            <a:avLst/>
          </a:prstGeom>
          <a:noFill/>
          <a:ln w="9525">
            <a:noFill/>
          </a:ln>
        </p:spPr>
        <p:txBody>
          <a:bodyPr anchor="t">
            <a:spAutoFit/>
          </a:bodyPr>
          <a:lstStyle/>
          <a:p>
            <a:pPr>
              <a:spcBef>
                <a:spcPct val="20000"/>
              </a:spcBef>
            </a:pPr>
            <a:r>
              <a:rPr lang="zh-CN" altLang="en-US" sz="2000" b="1" dirty="0">
                <a:solidFill>
                  <a:schemeClr val="tx1"/>
                </a:solidFill>
                <a:latin typeface="Times New Roman" panose="02020603050405020304" pitchFamily="18" charset="0"/>
                <a:ea typeface="宋体" panose="02010600030101010101" pitchFamily="2" charset="-122"/>
              </a:rPr>
              <a:t>其他卤代烷烃：</a:t>
            </a:r>
            <a:r>
              <a:rPr lang="en-US" altLang="zh-CN" sz="2000" b="1">
                <a:solidFill>
                  <a:schemeClr val="tx1"/>
                </a:solidFill>
                <a:latin typeface="Times New Roman" panose="02020603050405020304" pitchFamily="18" charset="0"/>
                <a:ea typeface="宋体" panose="02010600030101010101" pitchFamily="2" charset="-122"/>
              </a:rPr>
              <a:t>CF</a:t>
            </a:r>
            <a:r>
              <a:rPr lang="en-US" altLang="zh-CN" sz="2000" b="1" baseline="-25000">
                <a:solidFill>
                  <a:schemeClr val="tx1"/>
                </a:solidFill>
                <a:latin typeface="Times New Roman" panose="02020603050405020304" pitchFamily="18" charset="0"/>
                <a:ea typeface="宋体" panose="02010600030101010101" pitchFamily="2" charset="-122"/>
              </a:rPr>
              <a:t>3</a:t>
            </a:r>
            <a:r>
              <a:rPr lang="en-US" altLang="zh-CN" sz="2000" b="1" dirty="0">
                <a:solidFill>
                  <a:schemeClr val="tx1"/>
                </a:solidFill>
                <a:latin typeface="Times New Roman" panose="02020603050405020304" pitchFamily="18" charset="0"/>
                <a:ea typeface="宋体" panose="02010600030101010101" pitchFamily="2" charset="-122"/>
              </a:rPr>
              <a:t>Br (</a:t>
            </a:r>
            <a:r>
              <a:rPr lang="zh-CN" altLang="en-US" sz="2000" b="1" dirty="0">
                <a:solidFill>
                  <a:schemeClr val="tx1"/>
                </a:solidFill>
                <a:latin typeface="Times New Roman" panose="02020603050405020304" pitchFamily="18" charset="0"/>
                <a:ea typeface="宋体" panose="02010600030101010101" pitchFamily="2" charset="-122"/>
              </a:rPr>
              <a:t>哈龙</a:t>
            </a:r>
            <a:r>
              <a:rPr lang="en-US" altLang="zh-CN" sz="2000" b="1" dirty="0">
                <a:solidFill>
                  <a:schemeClr val="tx1"/>
                </a:solidFill>
                <a:latin typeface="Times New Roman" panose="02020603050405020304" pitchFamily="18" charset="0"/>
                <a:ea typeface="宋体" panose="02010600030101010101" pitchFamily="2" charset="-122"/>
              </a:rPr>
              <a:t>)</a:t>
            </a:r>
            <a:r>
              <a:rPr lang="zh-CN" altLang="en-US" sz="2000" b="1" dirty="0">
                <a:solidFill>
                  <a:schemeClr val="tx1"/>
                </a:solidFill>
                <a:latin typeface="Times New Roman" panose="02020603050405020304" pitchFamily="18" charset="0"/>
                <a:ea typeface="宋体" panose="02010600030101010101" pitchFamily="2" charset="-122"/>
              </a:rPr>
              <a:t>、</a:t>
            </a:r>
            <a:r>
              <a:rPr lang="en-US" altLang="zh-CN" sz="2000" b="1">
                <a:solidFill>
                  <a:schemeClr val="tx1"/>
                </a:solidFill>
                <a:latin typeface="Times New Roman" panose="02020603050405020304" pitchFamily="18" charset="0"/>
                <a:ea typeface="宋体" panose="02010600030101010101" pitchFamily="2" charset="-122"/>
              </a:rPr>
              <a:t>CCl</a:t>
            </a:r>
            <a:r>
              <a:rPr lang="en-US" altLang="zh-CN" sz="2000" b="1" baseline="-25000">
                <a:solidFill>
                  <a:schemeClr val="tx1"/>
                </a:solidFill>
                <a:latin typeface="Times New Roman" panose="02020603050405020304" pitchFamily="18" charset="0"/>
                <a:ea typeface="宋体" panose="02010600030101010101" pitchFamily="2" charset="-122"/>
              </a:rPr>
              <a:t>4</a:t>
            </a:r>
            <a:r>
              <a:rPr lang="en-US" altLang="zh-CN" sz="2000" b="1" dirty="0">
                <a:solidFill>
                  <a:schemeClr val="tx1"/>
                </a:solidFill>
                <a:latin typeface="Times New Roman" panose="02020603050405020304" pitchFamily="18" charset="0"/>
                <a:ea typeface="宋体" panose="02010600030101010101" pitchFamily="2" charset="-122"/>
              </a:rPr>
              <a:t>(</a:t>
            </a:r>
            <a:r>
              <a:rPr lang="zh-CN" altLang="en-US" sz="2000" b="1" dirty="0">
                <a:solidFill>
                  <a:schemeClr val="tx1"/>
                </a:solidFill>
                <a:latin typeface="Times New Roman" panose="02020603050405020304" pitchFamily="18" charset="0"/>
                <a:ea typeface="宋体" panose="02010600030101010101" pitchFamily="2" charset="-122"/>
              </a:rPr>
              <a:t>氯仿</a:t>
            </a:r>
            <a:r>
              <a:rPr lang="en-US" altLang="zh-CN" sz="2000" b="1" dirty="0">
                <a:solidFill>
                  <a:schemeClr val="tx1"/>
                </a:solidFill>
                <a:latin typeface="Times New Roman" panose="02020603050405020304" pitchFamily="18" charset="0"/>
                <a:ea typeface="宋体" panose="02010600030101010101" pitchFamily="2" charset="-122"/>
              </a:rPr>
              <a:t>)</a:t>
            </a:r>
            <a:r>
              <a:rPr lang="zh-CN" altLang="en-US" sz="2000" b="1" dirty="0">
                <a:solidFill>
                  <a:schemeClr val="tx1"/>
                </a:solidFill>
                <a:latin typeface="Times New Roman" panose="02020603050405020304" pitchFamily="18" charset="0"/>
                <a:ea typeface="宋体" panose="02010600030101010101" pitchFamily="2" charset="-122"/>
              </a:rPr>
              <a:t>、</a:t>
            </a:r>
            <a:r>
              <a:rPr lang="en-US" altLang="zh-CN" sz="2000" b="1">
                <a:solidFill>
                  <a:schemeClr val="tx1"/>
                </a:solidFill>
                <a:latin typeface="Times New Roman" panose="02020603050405020304" pitchFamily="18" charset="0"/>
                <a:ea typeface="宋体" panose="02010600030101010101" pitchFamily="2" charset="-122"/>
              </a:rPr>
              <a:t>CH</a:t>
            </a:r>
            <a:r>
              <a:rPr lang="en-US" altLang="zh-CN" sz="2000" b="1" baseline="-25000">
                <a:solidFill>
                  <a:schemeClr val="tx1"/>
                </a:solidFill>
                <a:latin typeface="Times New Roman" panose="02020603050405020304" pitchFamily="18" charset="0"/>
                <a:ea typeface="宋体" panose="02010600030101010101" pitchFamily="2" charset="-122"/>
              </a:rPr>
              <a:t>3</a:t>
            </a:r>
            <a:r>
              <a:rPr lang="en-US" altLang="zh-CN" sz="2000" b="1" dirty="0">
                <a:solidFill>
                  <a:schemeClr val="tx1"/>
                </a:solidFill>
                <a:latin typeface="Times New Roman" panose="02020603050405020304" pitchFamily="18" charset="0"/>
                <a:ea typeface="宋体" panose="02010600030101010101" pitchFamily="2" charset="-122"/>
              </a:rPr>
              <a:t>Br</a:t>
            </a:r>
            <a:r>
              <a:rPr lang="zh-CN" altLang="en-US" sz="2000" b="1" dirty="0">
                <a:solidFill>
                  <a:schemeClr val="tx1"/>
                </a:solidFill>
                <a:latin typeface="Times New Roman" panose="02020603050405020304" pitchFamily="18" charset="0"/>
                <a:ea typeface="宋体" panose="02010600030101010101" pitchFamily="2" charset="-122"/>
              </a:rPr>
              <a:t>（甲基溴）等同样</a:t>
            </a:r>
          </a:p>
          <a:p>
            <a:pPr>
              <a:spcBef>
                <a:spcPct val="20000"/>
              </a:spcBef>
            </a:pPr>
            <a:r>
              <a:rPr lang="zh-CN" altLang="en-US" sz="2000" b="1" dirty="0">
                <a:solidFill>
                  <a:schemeClr val="tx1"/>
                </a:solidFill>
                <a:latin typeface="Times New Roman" panose="02020603050405020304" pitchFamily="18" charset="0"/>
                <a:ea typeface="宋体" panose="02010600030101010101" pitchFamily="2" charset="-122"/>
              </a:rPr>
              <a:t>                            会破坏</a:t>
            </a:r>
            <a:r>
              <a:rPr lang="en-US" altLang="zh-CN" sz="2000" b="1">
                <a:solidFill>
                  <a:schemeClr val="tx1"/>
                </a:solidFill>
                <a:latin typeface="Times New Roman" panose="02020603050405020304" pitchFamily="18" charset="0"/>
                <a:ea typeface="宋体" panose="02010600030101010101" pitchFamily="2" charset="-122"/>
              </a:rPr>
              <a:t>O</a:t>
            </a:r>
            <a:r>
              <a:rPr lang="en-US" altLang="zh-CN" sz="2000" b="1" baseline="-25000">
                <a:solidFill>
                  <a:schemeClr val="tx1"/>
                </a:solidFill>
                <a:latin typeface="Times New Roman" panose="02020603050405020304" pitchFamily="18" charset="0"/>
                <a:ea typeface="宋体" panose="02010600030101010101" pitchFamily="2" charset="-122"/>
              </a:rPr>
              <a:t>3</a:t>
            </a:r>
            <a:r>
              <a:rPr lang="zh-CN" altLang="en-US" sz="2000" b="1" dirty="0">
                <a:solidFill>
                  <a:schemeClr val="tx1"/>
                </a:solidFill>
                <a:latin typeface="Times New Roman" panose="02020603050405020304" pitchFamily="18" charset="0"/>
                <a:ea typeface="宋体" panose="02010600030101010101" pitchFamily="2" charset="-122"/>
              </a:rPr>
              <a:t>，且</a:t>
            </a:r>
            <a:r>
              <a:rPr lang="en-US" altLang="zh-CN" sz="2000" b="1" dirty="0">
                <a:solidFill>
                  <a:schemeClr val="tx1"/>
                </a:solidFill>
                <a:latin typeface="Times New Roman" panose="02020603050405020304" pitchFamily="18" charset="0"/>
                <a:ea typeface="宋体" panose="02010600030101010101" pitchFamily="2" charset="-122"/>
              </a:rPr>
              <a:t>Br</a:t>
            </a:r>
            <a:r>
              <a:rPr lang="zh-CN" altLang="en-US" sz="2000" b="1" dirty="0">
                <a:solidFill>
                  <a:schemeClr val="tx1"/>
                </a:solidFill>
                <a:latin typeface="Times New Roman" panose="02020603050405020304" pitchFamily="18" charset="0"/>
                <a:ea typeface="宋体" panose="02010600030101010101" pitchFamily="2" charset="-122"/>
              </a:rPr>
              <a:t>破坏</a:t>
            </a:r>
            <a:r>
              <a:rPr lang="en-US" altLang="zh-CN" sz="2000" b="1">
                <a:solidFill>
                  <a:schemeClr val="tx1"/>
                </a:solidFill>
                <a:latin typeface="Times New Roman" panose="02020603050405020304" pitchFamily="18" charset="0"/>
                <a:ea typeface="宋体" panose="02010600030101010101" pitchFamily="2" charset="-122"/>
              </a:rPr>
              <a:t>O</a:t>
            </a:r>
            <a:r>
              <a:rPr lang="en-US" altLang="zh-CN" sz="2000" b="1" baseline="-25000">
                <a:solidFill>
                  <a:schemeClr val="tx1"/>
                </a:solidFill>
                <a:latin typeface="Times New Roman" panose="02020603050405020304" pitchFamily="18" charset="0"/>
                <a:ea typeface="宋体" panose="02010600030101010101" pitchFamily="2" charset="-122"/>
              </a:rPr>
              <a:t>3</a:t>
            </a:r>
            <a:r>
              <a:rPr lang="zh-CN" altLang="en-US" sz="2000" b="1" dirty="0">
                <a:solidFill>
                  <a:schemeClr val="tx1"/>
                </a:solidFill>
                <a:latin typeface="Times New Roman" panose="02020603050405020304" pitchFamily="18" charset="0"/>
                <a:ea typeface="宋体" panose="02010600030101010101" pitchFamily="2" charset="-122"/>
              </a:rPr>
              <a:t>的能力比</a:t>
            </a:r>
            <a:r>
              <a:rPr lang="en-US" altLang="zh-CN" sz="2000" b="1" err="1">
                <a:solidFill>
                  <a:schemeClr val="tx1"/>
                </a:solidFill>
                <a:latin typeface="Times New Roman" panose="02020603050405020304" pitchFamily="18" charset="0"/>
                <a:ea typeface="宋体" panose="02010600030101010101" pitchFamily="2" charset="-122"/>
              </a:rPr>
              <a:t>Cl</a:t>
            </a:r>
            <a:r>
              <a:rPr lang="zh-CN" altLang="en-US" sz="2000" b="1" dirty="0">
                <a:solidFill>
                  <a:schemeClr val="tx1"/>
                </a:solidFill>
                <a:latin typeface="Times New Roman" panose="02020603050405020304" pitchFamily="18" charset="0"/>
                <a:ea typeface="宋体" panose="02010600030101010101" pitchFamily="2" charset="-122"/>
              </a:rPr>
              <a:t>更强。</a:t>
            </a:r>
          </a:p>
        </p:txBody>
      </p:sp>
      <p:sp>
        <p:nvSpPr>
          <p:cNvPr id="48133" name="文本框 48132"/>
          <p:cNvSpPr txBox="1"/>
          <p:nvPr/>
        </p:nvSpPr>
        <p:spPr>
          <a:xfrm>
            <a:off x="457200" y="4953000"/>
            <a:ext cx="4572000" cy="1492250"/>
          </a:xfrm>
          <a:prstGeom prst="rect">
            <a:avLst/>
          </a:prstGeom>
          <a:noFill/>
          <a:ln w="9525">
            <a:noFill/>
          </a:ln>
        </p:spPr>
        <p:txBody>
          <a:bodyPr anchor="t">
            <a:spAutoFit/>
          </a:bodyPr>
          <a:lstStyle/>
          <a:p>
            <a:pPr>
              <a:spcBef>
                <a:spcPct val="20000"/>
              </a:spcBef>
            </a:pPr>
            <a:r>
              <a:rPr lang="en-US" altLang="zh-CN" sz="2000" b="1">
                <a:solidFill>
                  <a:srgbClr val="FFCC00"/>
                </a:solidFill>
                <a:latin typeface="Times New Roman" panose="02020603050405020304" pitchFamily="18" charset="0"/>
                <a:ea typeface="宋体" panose="02010600030101010101" pitchFamily="2" charset="-122"/>
              </a:rPr>
              <a:t> </a:t>
            </a:r>
            <a:endParaRPr lang="en-US" altLang="zh-CN" sz="2000" b="1">
              <a:solidFill>
                <a:schemeClr val="tx1"/>
              </a:solidFill>
              <a:latin typeface="Times New Roman" panose="02020603050405020304" pitchFamily="18" charset="0"/>
              <a:ea typeface="宋体" panose="02010600030101010101" pitchFamily="2" charset="-122"/>
            </a:endParaRPr>
          </a:p>
          <a:p>
            <a:pPr lvl="2" indent="0">
              <a:spcBef>
                <a:spcPct val="20000"/>
              </a:spcBef>
            </a:pPr>
            <a:r>
              <a:rPr lang="en-US" altLang="zh-CN" sz="2000" b="1">
                <a:solidFill>
                  <a:schemeClr val="tx1"/>
                </a:solidFill>
                <a:latin typeface="Times New Roman" panose="02020603050405020304" pitchFamily="18" charset="0"/>
                <a:ea typeface="宋体" panose="02010600030101010101" pitchFamily="2" charset="-122"/>
              </a:rPr>
              <a:t>         NO + O</a:t>
            </a:r>
            <a:r>
              <a:rPr lang="en-US" altLang="zh-CN" sz="2000" b="1" baseline="-25000">
                <a:solidFill>
                  <a:schemeClr val="tx1"/>
                </a:solidFill>
                <a:latin typeface="Times New Roman" panose="02020603050405020304" pitchFamily="18" charset="0"/>
                <a:ea typeface="宋体" panose="02010600030101010101" pitchFamily="2" charset="-122"/>
              </a:rPr>
              <a:t>3</a:t>
            </a:r>
            <a:r>
              <a:rPr lang="en-US" altLang="zh-CN" sz="2000" b="1">
                <a:solidFill>
                  <a:schemeClr val="tx1"/>
                </a:solidFill>
                <a:latin typeface="Times New Roman" panose="02020603050405020304" pitchFamily="18" charset="0"/>
                <a:ea typeface="宋体" panose="02010600030101010101" pitchFamily="2" charset="-122"/>
              </a:rPr>
              <a:t> → NO</a:t>
            </a:r>
            <a:r>
              <a:rPr lang="en-US" altLang="zh-CN" sz="2000" b="1" baseline="-25000">
                <a:solidFill>
                  <a:schemeClr val="tx1"/>
                </a:solidFill>
                <a:latin typeface="Times New Roman" panose="02020603050405020304" pitchFamily="18" charset="0"/>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 + O</a:t>
            </a:r>
            <a:r>
              <a:rPr lang="en-US" altLang="zh-CN" sz="2000" b="1" baseline="-25000">
                <a:solidFill>
                  <a:schemeClr val="tx1"/>
                </a:solidFill>
                <a:latin typeface="Times New Roman" panose="02020603050405020304" pitchFamily="18" charset="0"/>
                <a:ea typeface="宋体" panose="02010600030101010101" pitchFamily="2" charset="-122"/>
              </a:rPr>
              <a:t>2</a:t>
            </a:r>
            <a:endParaRPr lang="en-US" altLang="zh-CN" sz="2000" b="1">
              <a:solidFill>
                <a:schemeClr val="tx1"/>
              </a:solidFill>
              <a:latin typeface="Times New Roman" panose="02020603050405020304" pitchFamily="18" charset="0"/>
              <a:ea typeface="宋体" panose="02010600030101010101" pitchFamily="2" charset="-122"/>
            </a:endParaRPr>
          </a:p>
          <a:p>
            <a:pPr lvl="2" indent="0">
              <a:spcBef>
                <a:spcPct val="20000"/>
              </a:spcBef>
            </a:pPr>
            <a:r>
              <a:rPr lang="en-US" altLang="zh-CN" sz="2000" b="1">
                <a:solidFill>
                  <a:schemeClr val="tx1"/>
                </a:solidFill>
                <a:latin typeface="Times New Roman" panose="02020603050405020304" pitchFamily="18" charset="0"/>
                <a:ea typeface="宋体" panose="02010600030101010101" pitchFamily="2" charset="-122"/>
              </a:rPr>
              <a:t>          NO</a:t>
            </a:r>
            <a:r>
              <a:rPr lang="en-US" altLang="zh-CN" sz="2000" b="1" baseline="-25000">
                <a:solidFill>
                  <a:schemeClr val="tx1"/>
                </a:solidFill>
                <a:latin typeface="Times New Roman" panose="02020603050405020304" pitchFamily="18" charset="0"/>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 + O → NO + O</a:t>
            </a:r>
            <a:r>
              <a:rPr lang="en-US" altLang="zh-CN" sz="2000" b="1" baseline="-25000">
                <a:solidFill>
                  <a:schemeClr val="tx1"/>
                </a:solidFill>
                <a:latin typeface="Times New Roman" panose="02020603050405020304" pitchFamily="18" charset="0"/>
                <a:ea typeface="宋体" panose="02010600030101010101" pitchFamily="2" charset="-122"/>
              </a:rPr>
              <a:t>2</a:t>
            </a:r>
            <a:endParaRPr lang="en-US" altLang="zh-CN" sz="2000" b="1">
              <a:solidFill>
                <a:schemeClr val="tx1"/>
              </a:solidFill>
              <a:latin typeface="Times New Roman" panose="02020603050405020304" pitchFamily="18" charset="0"/>
              <a:ea typeface="宋体" panose="02010600030101010101" pitchFamily="2" charset="-122"/>
            </a:endParaRPr>
          </a:p>
          <a:p>
            <a:pPr lvl="2" indent="0">
              <a:spcBef>
                <a:spcPct val="20000"/>
              </a:spcBef>
            </a:pPr>
            <a:r>
              <a:rPr lang="zh-CN" altLang="en-US" sz="2000" b="1" dirty="0">
                <a:solidFill>
                  <a:schemeClr val="tx1"/>
                </a:solidFill>
                <a:latin typeface="Times New Roman" panose="02020603050405020304" pitchFamily="18" charset="0"/>
                <a:ea typeface="宋体" panose="02010600030101010101" pitchFamily="2" charset="-122"/>
              </a:rPr>
              <a:t>总反应    </a:t>
            </a:r>
            <a:r>
              <a:rPr lang="en-US" altLang="zh-CN" sz="2000" b="1">
                <a:solidFill>
                  <a:schemeClr val="tx1"/>
                </a:solidFill>
                <a:latin typeface="Times New Roman" panose="02020603050405020304" pitchFamily="18" charset="0"/>
                <a:ea typeface="宋体" panose="02010600030101010101" pitchFamily="2" charset="-122"/>
              </a:rPr>
              <a:t>O</a:t>
            </a:r>
            <a:r>
              <a:rPr lang="en-US" altLang="zh-CN" sz="2000" b="1" baseline="-25000">
                <a:solidFill>
                  <a:schemeClr val="tx1"/>
                </a:solidFill>
                <a:latin typeface="Times New Roman" panose="02020603050405020304" pitchFamily="18" charset="0"/>
                <a:ea typeface="宋体" panose="02010600030101010101" pitchFamily="2" charset="-122"/>
              </a:rPr>
              <a:t>3</a:t>
            </a:r>
            <a:r>
              <a:rPr lang="en-US" altLang="zh-CN" sz="2000" b="1">
                <a:solidFill>
                  <a:schemeClr val="tx1"/>
                </a:solidFill>
                <a:latin typeface="Times New Roman" panose="02020603050405020304" pitchFamily="18" charset="0"/>
                <a:ea typeface="宋体" panose="02010600030101010101" pitchFamily="2" charset="-122"/>
              </a:rPr>
              <a:t> + O → 2O</a:t>
            </a:r>
            <a:r>
              <a:rPr lang="en-US" altLang="zh-CN" sz="2000" b="1" baseline="-25000">
                <a:solidFill>
                  <a:schemeClr val="tx1"/>
                </a:solidFill>
                <a:latin typeface="Times New Roman" panose="02020603050405020304" pitchFamily="18" charset="0"/>
                <a:ea typeface="宋体" panose="02010600030101010101" pitchFamily="2" charset="-122"/>
              </a:rPr>
              <a:t>2</a:t>
            </a:r>
          </a:p>
        </p:txBody>
      </p:sp>
      <p:sp>
        <p:nvSpPr>
          <p:cNvPr id="48134" name="文本框 48133"/>
          <p:cNvSpPr txBox="1"/>
          <p:nvPr/>
        </p:nvSpPr>
        <p:spPr>
          <a:xfrm>
            <a:off x="0" y="1447800"/>
            <a:ext cx="4572000" cy="457200"/>
          </a:xfrm>
          <a:prstGeom prst="rect">
            <a:avLst/>
          </a:prstGeom>
          <a:noFill/>
          <a:ln w="9525">
            <a:noFill/>
          </a:ln>
        </p:spPr>
        <p:txBody>
          <a:bodyPr anchor="t">
            <a:spAutoFit/>
          </a:bodyPr>
          <a:lstStyle/>
          <a:p>
            <a:pPr lvl="1" indent="0">
              <a:spcBef>
                <a:spcPct val="20000"/>
              </a:spcBef>
              <a:buClr>
                <a:srgbClr val="FFCC00"/>
              </a:buClr>
              <a:buFont typeface="Wingdings" panose="05000000000000000000" pitchFamily="2" charset="2"/>
              <a:buBlip>
                <a:blip r:embed="rId2"/>
              </a:buBlip>
            </a:pPr>
            <a:r>
              <a:rPr lang="en-US" altLang="zh-CN" b="1" dirty="0">
                <a:solidFill>
                  <a:srgbClr val="FFCC00"/>
                </a:solidFill>
                <a:latin typeface="Times New Roman" panose="02020603050405020304" pitchFamily="18" charset="0"/>
                <a:ea typeface="宋体" panose="02010600030101010101" pitchFamily="2" charset="-122"/>
              </a:rPr>
              <a:t>  </a:t>
            </a:r>
            <a:r>
              <a:rPr lang="zh-CN" altLang="en-US" b="1" dirty="0">
                <a:solidFill>
                  <a:schemeClr val="tx1"/>
                </a:solidFill>
                <a:latin typeface="Times New Roman" panose="02020603050405020304" pitchFamily="18" charset="0"/>
                <a:ea typeface="宋体" panose="02010600030101010101" pitchFamily="2" charset="-122"/>
              </a:rPr>
              <a:t>氯氟烃破坏</a:t>
            </a:r>
            <a:r>
              <a:rPr lang="en-US" altLang="zh-CN" b="1">
                <a:solidFill>
                  <a:schemeClr val="tx1"/>
                </a:solidFill>
                <a:latin typeface="Times New Roman" panose="02020603050405020304" pitchFamily="18" charset="0"/>
                <a:ea typeface="宋体" panose="02010600030101010101" pitchFamily="2" charset="-122"/>
              </a:rPr>
              <a:t>O</a:t>
            </a:r>
            <a:r>
              <a:rPr lang="en-US" altLang="zh-CN" b="1" baseline="-25000">
                <a:solidFill>
                  <a:schemeClr val="tx1"/>
                </a:solidFill>
                <a:latin typeface="Times New Roman" panose="02020603050405020304" pitchFamily="18" charset="0"/>
                <a:ea typeface="宋体" panose="02010600030101010101" pitchFamily="2" charset="-122"/>
              </a:rPr>
              <a:t>3</a:t>
            </a:r>
          </a:p>
        </p:txBody>
      </p:sp>
      <p:sp>
        <p:nvSpPr>
          <p:cNvPr id="48135" name="文本框 48134"/>
          <p:cNvSpPr txBox="1"/>
          <p:nvPr/>
        </p:nvSpPr>
        <p:spPr>
          <a:xfrm>
            <a:off x="381000" y="4724400"/>
            <a:ext cx="4038600" cy="457200"/>
          </a:xfrm>
          <a:prstGeom prst="rect">
            <a:avLst/>
          </a:prstGeom>
          <a:noFill/>
          <a:ln w="9525">
            <a:noFill/>
          </a:ln>
        </p:spPr>
        <p:txBody>
          <a:bodyPr anchor="t">
            <a:spAutoFit/>
          </a:bodyPr>
          <a:lstStyle/>
          <a:p>
            <a:pPr>
              <a:spcBef>
                <a:spcPct val="20000"/>
              </a:spcBef>
              <a:buClr>
                <a:srgbClr val="FFCC00"/>
              </a:buClr>
              <a:buBlip>
                <a:blip r:embed="rId2"/>
              </a:buBlip>
            </a:pPr>
            <a:r>
              <a:rPr lang="en-US" altLang="zh-CN" b="1" err="1">
                <a:solidFill>
                  <a:srgbClr val="FFCC00"/>
                </a:solidFill>
                <a:latin typeface="Times New Roman" panose="02020603050405020304" pitchFamily="18" charset="0"/>
                <a:ea typeface="宋体" panose="02010600030101010101" pitchFamily="2" charset="-122"/>
              </a:rPr>
              <a:t>  </a:t>
            </a:r>
            <a:r>
              <a:rPr lang="en-US" altLang="zh-CN" b="1" err="1">
                <a:solidFill>
                  <a:schemeClr val="tx1"/>
                </a:solidFill>
                <a:latin typeface="Times New Roman" panose="02020603050405020304" pitchFamily="18" charset="0"/>
                <a:ea typeface="宋体" panose="02010600030101010101" pitchFamily="2" charset="-122"/>
              </a:rPr>
              <a:t>NOx</a:t>
            </a:r>
            <a:r>
              <a:rPr lang="zh-CN" altLang="en-US" b="1" dirty="0">
                <a:solidFill>
                  <a:schemeClr val="tx1"/>
                </a:solidFill>
                <a:latin typeface="Times New Roman" panose="02020603050405020304" pitchFamily="18" charset="0"/>
                <a:ea typeface="宋体" panose="02010600030101010101" pitchFamily="2" charset="-122"/>
              </a:rPr>
              <a:t>破坏</a:t>
            </a:r>
            <a:r>
              <a:rPr lang="en-US" altLang="zh-CN" b="1">
                <a:solidFill>
                  <a:schemeClr val="tx1"/>
                </a:solidFill>
                <a:latin typeface="Times New Roman" panose="02020603050405020304" pitchFamily="18" charset="0"/>
                <a:ea typeface="宋体" panose="02010600030101010101" pitchFamily="2" charset="-122"/>
              </a:rPr>
              <a:t>O</a:t>
            </a:r>
            <a:r>
              <a:rPr lang="en-US" altLang="zh-CN" b="1" baseline="-25000">
                <a:solidFill>
                  <a:schemeClr val="tx1"/>
                </a:solidFill>
                <a:latin typeface="Times New Roman" panose="02020603050405020304" pitchFamily="18" charset="0"/>
                <a:ea typeface="宋体" panose="02010600030101010101" pitchFamily="2" charset="-122"/>
              </a:rPr>
              <a:t>3</a:t>
            </a:r>
          </a:p>
        </p:txBody>
      </p:sp>
      <p:pic>
        <p:nvPicPr>
          <p:cNvPr id="48136" name="图片 48135" descr="Amx13Hview1"/>
          <p:cNvPicPr>
            <a:picLocks noChangeAspect="1"/>
          </p:cNvPicPr>
          <p:nvPr/>
        </p:nvPicPr>
        <p:blipFill>
          <a:blip r:embed="rId3" cstate="print"/>
          <a:srcRect l="7571" t="7831" r="9148" b="6036"/>
          <a:stretch>
            <a:fillRect/>
          </a:stretch>
        </p:blipFill>
        <p:spPr>
          <a:xfrm>
            <a:off x="5562600" y="1524000"/>
            <a:ext cx="3276600" cy="4419600"/>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8134"/>
                                        </p:tgtEl>
                                        <p:attrNameLst>
                                          <p:attrName>style.visibility</p:attrName>
                                        </p:attrNameLst>
                                      </p:cBhvr>
                                      <p:to>
                                        <p:strVal val="visible"/>
                                      </p:to>
                                    </p:set>
                                    <p:anim calcmode="lin" valueType="num">
                                      <p:cBhvr>
                                        <p:cTn id="7" dur="500" fill="hold"/>
                                        <p:tgtEl>
                                          <p:spTgt spid="48134"/>
                                        </p:tgtEl>
                                        <p:attrNameLst>
                                          <p:attrName>ppt_x</p:attrName>
                                        </p:attrNameLst>
                                      </p:cBhvr>
                                      <p:tavLst>
                                        <p:tav tm="0">
                                          <p:val>
                                            <p:strVal val="0-#ppt_w/2"/>
                                          </p:val>
                                        </p:tav>
                                        <p:tav tm="100000">
                                          <p:val>
                                            <p:strVal val="#ppt_x"/>
                                          </p:val>
                                        </p:tav>
                                      </p:tavLst>
                                    </p:anim>
                                    <p:anim calcmode="lin" valueType="num">
                                      <p:cBhvr>
                                        <p:cTn id="8" dur="500" fill="hold"/>
                                        <p:tgtEl>
                                          <p:spTgt spid="481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8131"/>
                                        </p:tgtEl>
                                        <p:attrNameLst>
                                          <p:attrName>style.visibility</p:attrName>
                                        </p:attrNameLst>
                                      </p:cBhvr>
                                      <p:to>
                                        <p:strVal val="visible"/>
                                      </p:to>
                                    </p:set>
                                    <p:animEffect transition="in" filter="blinds(horizontal)">
                                      <p:cBhvr>
                                        <p:cTn id="13" dur="500"/>
                                        <p:tgtEl>
                                          <p:spTgt spid="48131"/>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8132"/>
                                        </p:tgtEl>
                                        <p:attrNameLst>
                                          <p:attrName>style.visibility</p:attrName>
                                        </p:attrNameLst>
                                      </p:cBhvr>
                                      <p:to>
                                        <p:strVal val="visible"/>
                                      </p:to>
                                    </p:set>
                                    <p:animEffect transition="in" filter="blinds(horizontal)">
                                      <p:cBhvr>
                                        <p:cTn id="18" dur="500"/>
                                        <p:tgtEl>
                                          <p:spTgt spid="48132"/>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48136"/>
                                        </p:tgtEl>
                                        <p:attrNameLst>
                                          <p:attrName>style.visibility</p:attrName>
                                        </p:attrNameLst>
                                      </p:cBhvr>
                                      <p:to>
                                        <p:strVal val="visible"/>
                                      </p:to>
                                    </p:set>
                                    <p:anim calcmode="lin" valueType="num">
                                      <p:cBhvr>
                                        <p:cTn id="23" dur="500" fill="hold"/>
                                        <p:tgtEl>
                                          <p:spTgt spid="48136"/>
                                        </p:tgtEl>
                                        <p:attrNameLst>
                                          <p:attrName>ppt_x</p:attrName>
                                        </p:attrNameLst>
                                      </p:cBhvr>
                                      <p:tavLst>
                                        <p:tav tm="0">
                                          <p:val>
                                            <p:strVal val="1+#ppt_w/2"/>
                                          </p:val>
                                        </p:tav>
                                        <p:tav tm="100000">
                                          <p:val>
                                            <p:strVal val="#ppt_x"/>
                                          </p:val>
                                        </p:tav>
                                      </p:tavLst>
                                    </p:anim>
                                    <p:anim calcmode="lin" valueType="num">
                                      <p:cBhvr>
                                        <p:cTn id="24" dur="500" fill="hold"/>
                                        <p:tgtEl>
                                          <p:spTgt spid="4813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48135"/>
                                        </p:tgtEl>
                                        <p:attrNameLst>
                                          <p:attrName>style.visibility</p:attrName>
                                        </p:attrNameLst>
                                      </p:cBhvr>
                                      <p:to>
                                        <p:strVal val="visible"/>
                                      </p:to>
                                    </p:set>
                                    <p:anim calcmode="lin" valueType="num">
                                      <p:cBhvr>
                                        <p:cTn id="29" dur="500" fill="hold"/>
                                        <p:tgtEl>
                                          <p:spTgt spid="48135"/>
                                        </p:tgtEl>
                                        <p:attrNameLst>
                                          <p:attrName>ppt_x</p:attrName>
                                        </p:attrNameLst>
                                      </p:cBhvr>
                                      <p:tavLst>
                                        <p:tav tm="0">
                                          <p:val>
                                            <p:strVal val="0-#ppt_w/2"/>
                                          </p:val>
                                        </p:tav>
                                        <p:tav tm="100000">
                                          <p:val>
                                            <p:strVal val="#ppt_x"/>
                                          </p:val>
                                        </p:tav>
                                      </p:tavLst>
                                    </p:anim>
                                    <p:anim calcmode="lin" valueType="num">
                                      <p:cBhvr>
                                        <p:cTn id="30" dur="500" fill="hold"/>
                                        <p:tgtEl>
                                          <p:spTgt spid="48135"/>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48133"/>
                                        </p:tgtEl>
                                        <p:attrNameLst>
                                          <p:attrName>style.visibility</p:attrName>
                                        </p:attrNameLst>
                                      </p:cBhvr>
                                      <p:to>
                                        <p:strVal val="visible"/>
                                      </p:to>
                                    </p:set>
                                    <p:animEffect transition="in" filter="blinds(horizontal)">
                                      <p:cBhvr>
                                        <p:cTn id="35" dur="500"/>
                                        <p:tgtEl>
                                          <p:spTgt spid="48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P spid="48132" grpId="0"/>
      <p:bldP spid="48133" grpId="0"/>
      <p:bldP spid="48134" grpId="0"/>
      <p:bldP spid="4813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37889"/>
          <p:cNvSpPr>
            <a:spLocks noGrp="1"/>
          </p:cNvSpPr>
          <p:nvPr>
            <p:ph type="title"/>
          </p:nvPr>
        </p:nvSpPr>
        <p:spPr>
          <a:noFill/>
          <a:ln>
            <a:noFill/>
          </a:ln>
        </p:spPr>
        <p:txBody>
          <a:bodyPr anchor="ctr"/>
          <a:lstStyle/>
          <a:p>
            <a:r>
              <a:rPr lang="en-US" altLang="zh-CN" sz="3600" b="1" dirty="0">
                <a:solidFill>
                  <a:srgbClr val="C00000"/>
                </a:solidFill>
                <a:latin typeface="楷体" panose="02010609060101010101" charset="-122"/>
                <a:ea typeface="楷体" panose="02010609060101010101" charset="-122"/>
              </a:rPr>
              <a:t>3</a:t>
            </a:r>
            <a:r>
              <a:rPr lang="zh-CN" altLang="en-US" sz="3600" b="1" dirty="0">
                <a:solidFill>
                  <a:srgbClr val="C00000"/>
                </a:solidFill>
                <a:latin typeface="楷体" panose="02010609060101010101" charset="-122"/>
                <a:ea typeface="楷体" panose="02010609060101010101" charset="-122"/>
              </a:rPr>
              <a:t>、酸雨</a:t>
            </a:r>
            <a:br>
              <a:rPr lang="zh-CN" altLang="en-US" sz="4000" dirty="0">
                <a:solidFill>
                  <a:srgbClr val="C00000"/>
                </a:solidFill>
                <a:latin typeface="楷体" panose="02010609060101010101" charset="-122"/>
                <a:ea typeface="楷体" panose="02010609060101010101" charset="-122"/>
              </a:rPr>
            </a:br>
            <a:endParaRPr lang="zh-CN" altLang="en-US" sz="4000" dirty="0">
              <a:solidFill>
                <a:srgbClr val="C00000"/>
              </a:solidFill>
              <a:latin typeface="楷体" panose="02010609060101010101" charset="-122"/>
              <a:ea typeface="楷体" panose="02010609060101010101" charset="-122"/>
            </a:endParaRPr>
          </a:p>
        </p:txBody>
      </p:sp>
      <p:sp>
        <p:nvSpPr>
          <p:cNvPr id="37891" name="内容占位符 37890"/>
          <p:cNvSpPr>
            <a:spLocks noGrp="1"/>
          </p:cNvSpPr>
          <p:nvPr>
            <p:ph idx="1"/>
          </p:nvPr>
        </p:nvSpPr>
        <p:spPr>
          <a:noFill/>
          <a:ln>
            <a:noFill/>
          </a:ln>
        </p:spPr>
        <p:txBody>
          <a:bodyPr anchor="t"/>
          <a:lstStyle/>
          <a:p>
            <a:pPr>
              <a:buNone/>
            </a:pPr>
            <a:r>
              <a:rPr lang="zh-CN" altLang="en-US" sz="2000" b="1" dirty="0">
                <a:solidFill>
                  <a:schemeClr val="tx1"/>
                </a:solidFill>
              </a:rPr>
              <a:t>正常的雨水 </a:t>
            </a:r>
            <a:r>
              <a:rPr lang="en-US" altLang="zh-CN" sz="2000" b="1" err="1">
                <a:solidFill>
                  <a:schemeClr val="tx1"/>
                </a:solidFill>
              </a:rPr>
              <a:t>pH = 6~7   pH = -lgc(H</a:t>
            </a:r>
            <a:r>
              <a:rPr lang="en-US" altLang="zh-CN" sz="2000" b="1" baseline="30000">
                <a:solidFill>
                  <a:schemeClr val="tx1"/>
                </a:solidFill>
              </a:rPr>
              <a:t>+</a:t>
            </a:r>
            <a:r>
              <a:rPr lang="en-US" altLang="zh-CN" sz="2000" b="1">
                <a:solidFill>
                  <a:schemeClr val="tx1"/>
                </a:solidFill>
              </a:rPr>
              <a:t>) </a:t>
            </a:r>
          </a:p>
          <a:p>
            <a:pPr>
              <a:buNone/>
            </a:pPr>
            <a:r>
              <a:rPr lang="en-US" altLang="zh-CN" sz="2000" b="1">
                <a:solidFill>
                  <a:schemeClr val="tx1"/>
                </a:solidFill>
              </a:rPr>
              <a:t> ∵ CO</a:t>
            </a:r>
            <a:r>
              <a:rPr lang="en-US" altLang="zh-CN" sz="2000" b="1" baseline="-25000">
                <a:solidFill>
                  <a:schemeClr val="tx1"/>
                </a:solidFill>
              </a:rPr>
              <a:t>2</a:t>
            </a:r>
            <a:r>
              <a:rPr lang="en-US" altLang="zh-CN" sz="2000" b="1">
                <a:solidFill>
                  <a:schemeClr val="tx1"/>
                </a:solidFill>
              </a:rPr>
              <a:t> (g) + H</a:t>
            </a:r>
            <a:r>
              <a:rPr lang="en-US" altLang="zh-CN" sz="2000" b="1" baseline="-25000">
                <a:solidFill>
                  <a:schemeClr val="tx1"/>
                </a:solidFill>
              </a:rPr>
              <a:t>2</a:t>
            </a:r>
            <a:r>
              <a:rPr lang="en-US" altLang="zh-CN" sz="2000" b="1">
                <a:solidFill>
                  <a:schemeClr val="tx1"/>
                </a:solidFill>
              </a:rPr>
              <a:t>O</a:t>
            </a:r>
            <a:r>
              <a:rPr lang="zh-CN" altLang="en-US" sz="2000" b="1">
                <a:solidFill>
                  <a:schemeClr val="tx1"/>
                </a:solidFill>
              </a:rPr>
              <a:t>（</a:t>
            </a:r>
            <a:r>
              <a:rPr lang="en-US" altLang="zh-CN" sz="2000" b="1">
                <a:solidFill>
                  <a:schemeClr val="tx1"/>
                </a:solidFill>
              </a:rPr>
              <a:t>g</a:t>
            </a:r>
            <a:r>
              <a:rPr lang="zh-CN" altLang="en-US" sz="2000" b="1">
                <a:solidFill>
                  <a:schemeClr val="tx1"/>
                </a:solidFill>
              </a:rPr>
              <a:t>）</a:t>
            </a:r>
            <a:r>
              <a:rPr lang="en-US" altLang="zh-CN" sz="2000" b="1">
                <a:solidFill>
                  <a:schemeClr val="tx1"/>
                </a:solidFill>
              </a:rPr>
              <a:t>= H</a:t>
            </a:r>
            <a:r>
              <a:rPr lang="en-US" altLang="zh-CN" sz="2000" b="1" baseline="-25000">
                <a:solidFill>
                  <a:schemeClr val="tx1"/>
                </a:solidFill>
              </a:rPr>
              <a:t>2</a:t>
            </a:r>
            <a:r>
              <a:rPr lang="en-US" altLang="zh-CN" sz="2000" b="1">
                <a:solidFill>
                  <a:schemeClr val="tx1"/>
                </a:solidFill>
              </a:rPr>
              <a:t>CO</a:t>
            </a:r>
            <a:r>
              <a:rPr lang="en-US" altLang="zh-CN" sz="2000" b="1" baseline="-25000">
                <a:solidFill>
                  <a:schemeClr val="tx1"/>
                </a:solidFill>
              </a:rPr>
              <a:t>3</a:t>
            </a:r>
            <a:r>
              <a:rPr lang="en-US" altLang="zh-CN" sz="2000" b="1" dirty="0">
                <a:solidFill>
                  <a:schemeClr val="tx1"/>
                </a:solidFill>
              </a:rPr>
              <a:t>             </a:t>
            </a:r>
            <a:r>
              <a:rPr lang="zh-CN" altLang="en-US" sz="2000" b="1" dirty="0">
                <a:solidFill>
                  <a:schemeClr val="tx1"/>
                </a:solidFill>
              </a:rPr>
              <a:t>按平衡计算</a:t>
            </a:r>
            <a:r>
              <a:rPr lang="en-US" altLang="zh-CN" sz="2000" b="1">
                <a:solidFill>
                  <a:schemeClr val="tx1"/>
                </a:solidFill>
              </a:rPr>
              <a:t>pH = 5.6</a:t>
            </a:r>
          </a:p>
          <a:p>
            <a:pPr>
              <a:buNone/>
            </a:pPr>
            <a:endParaRPr lang="en-US" altLang="zh-CN" sz="2000" b="1">
              <a:solidFill>
                <a:schemeClr val="tx1"/>
              </a:solidFill>
            </a:endParaRPr>
          </a:p>
          <a:p>
            <a:pPr>
              <a:buNone/>
            </a:pPr>
            <a:r>
              <a:rPr lang="zh-CN" altLang="en-US" sz="2000" b="1" dirty="0">
                <a:solidFill>
                  <a:schemeClr val="tx1"/>
                </a:solidFill>
              </a:rPr>
              <a:t>酸雨</a:t>
            </a:r>
            <a:r>
              <a:rPr lang="en-US" altLang="zh-CN" sz="2000" b="1">
                <a:solidFill>
                  <a:schemeClr val="tx1"/>
                </a:solidFill>
              </a:rPr>
              <a:t>——</a:t>
            </a:r>
            <a:r>
              <a:rPr lang="en-US" altLang="zh-CN" sz="2000" b="1" dirty="0">
                <a:solidFill>
                  <a:schemeClr val="tx1"/>
                </a:solidFill>
              </a:rPr>
              <a:t>pH </a:t>
            </a:r>
            <a:r>
              <a:rPr lang="zh-CN" altLang="en-US" sz="2000" b="1" dirty="0">
                <a:solidFill>
                  <a:schemeClr val="tx1"/>
                </a:solidFill>
              </a:rPr>
              <a:t>＜ </a:t>
            </a:r>
            <a:r>
              <a:rPr lang="en-US" altLang="zh-CN" sz="2000" b="1" dirty="0">
                <a:solidFill>
                  <a:schemeClr val="tx1"/>
                </a:solidFill>
              </a:rPr>
              <a:t>5.6</a:t>
            </a:r>
            <a:r>
              <a:rPr lang="zh-CN" altLang="en-US" sz="2000" b="1" dirty="0">
                <a:solidFill>
                  <a:schemeClr val="tx1"/>
                </a:solidFill>
              </a:rPr>
              <a:t>的降水</a:t>
            </a:r>
          </a:p>
          <a:p>
            <a:pPr>
              <a:buNone/>
            </a:pPr>
            <a:endParaRPr lang="zh-CN" altLang="en-US" sz="2000" b="1" dirty="0">
              <a:solidFill>
                <a:schemeClr val="tx1"/>
              </a:solidFill>
            </a:endParaRPr>
          </a:p>
          <a:p>
            <a:pPr>
              <a:buNone/>
            </a:pPr>
            <a:r>
              <a:rPr lang="zh-CN" altLang="en-US" sz="2000" b="1" dirty="0">
                <a:solidFill>
                  <a:schemeClr val="tx1"/>
                </a:solidFill>
              </a:rPr>
              <a:t>酸雨形成中的主要化学过程可表示为：</a:t>
            </a:r>
          </a:p>
          <a:p>
            <a:pPr lvl="2">
              <a:buNone/>
            </a:pPr>
            <a:r>
              <a:rPr lang="zh-CN" altLang="en-US" sz="2000" b="1" dirty="0">
                <a:solidFill>
                  <a:schemeClr val="tx1"/>
                </a:solidFill>
                <a:cs typeface="Arial" panose="020B0604020202020204" pitchFamily="34" charset="0"/>
              </a:rPr>
              <a:t>  </a:t>
            </a:r>
            <a:endParaRPr lang="zh-CN" altLang="en-US" sz="2000" b="1" dirty="0">
              <a:solidFill>
                <a:schemeClr val="tx1"/>
              </a:solidFill>
              <a:ea typeface="Arial" panose="020B0604020202020204" pitchFamily="34" charset="0"/>
              <a:cs typeface="Arial" panose="020B0604020202020204" pitchFamily="34" charset="0"/>
            </a:endParaRPr>
          </a:p>
        </p:txBody>
      </p:sp>
      <p:sp>
        <p:nvSpPr>
          <p:cNvPr id="37892" name="文本框 37891"/>
          <p:cNvSpPr txBox="1"/>
          <p:nvPr/>
        </p:nvSpPr>
        <p:spPr>
          <a:xfrm>
            <a:off x="304800" y="4178300"/>
            <a:ext cx="8610600" cy="2222500"/>
          </a:xfrm>
          <a:prstGeom prst="rect">
            <a:avLst/>
          </a:prstGeom>
          <a:noFill/>
          <a:ln w="9525">
            <a:noFill/>
          </a:ln>
        </p:spPr>
        <p:txBody>
          <a:bodyPr anchor="t">
            <a:spAutoFit/>
          </a:bodyPr>
          <a:lstStyle/>
          <a:p>
            <a:pPr lvl="2" indent="0">
              <a:spcBef>
                <a:spcPct val="20000"/>
              </a:spcBef>
            </a:pPr>
            <a:r>
              <a:rPr lang="en-US" altLang="zh-CN" sz="2000" b="1">
                <a:solidFill>
                  <a:schemeClr val="tx1"/>
                </a:solidFill>
                <a:latin typeface="Times New Roman" panose="02020603050405020304" pitchFamily="18" charset="0"/>
                <a:ea typeface="宋体" panose="02010600030101010101" pitchFamily="2" charset="-122"/>
              </a:rPr>
              <a:t>SO</a:t>
            </a:r>
            <a:r>
              <a:rPr lang="en-US" altLang="zh-CN" sz="2000" b="1" baseline="-25000">
                <a:solidFill>
                  <a:schemeClr val="tx1"/>
                </a:solidFill>
                <a:latin typeface="Times New Roman" panose="02020603050405020304" pitchFamily="18" charset="0"/>
                <a:ea typeface="宋体" panose="02010600030101010101" pitchFamily="2" charset="-122"/>
              </a:rPr>
              <a:t>2</a:t>
            </a:r>
            <a:r>
              <a:rPr lang="zh-CN" altLang="en-US" sz="2000" b="1" dirty="0">
                <a:solidFill>
                  <a:schemeClr val="tx1"/>
                </a:solidFill>
                <a:latin typeface="Times New Roman" panose="02020603050405020304" pitchFamily="18" charset="0"/>
                <a:ea typeface="宋体" panose="02010600030101010101" pitchFamily="2" charset="-122"/>
              </a:rPr>
              <a:t>型      </a:t>
            </a:r>
            <a:r>
              <a:rPr lang="en-US" altLang="zh-CN" sz="2000" b="1" dirty="0">
                <a:solidFill>
                  <a:schemeClr val="tx1"/>
                </a:solidFill>
                <a:latin typeface="Times New Roman" panose="02020603050405020304" pitchFamily="18" charset="0"/>
                <a:ea typeface="宋体" panose="02010600030101010101" pitchFamily="2" charset="-122"/>
              </a:rPr>
              <a:t>1</a:t>
            </a:r>
            <a:r>
              <a:rPr lang="zh-CN" altLang="en-US" sz="2000" b="1" dirty="0">
                <a:solidFill>
                  <a:schemeClr val="tx1"/>
                </a:solidFill>
                <a:latin typeface="Times New Roman" panose="02020603050405020304" pitchFamily="18" charset="0"/>
                <a:ea typeface="宋体" panose="02010600030101010101" pitchFamily="2" charset="-122"/>
              </a:rPr>
              <a:t>）液相催化学反应   </a:t>
            </a:r>
            <a:r>
              <a:rPr lang="en-US" altLang="zh-CN" sz="2000" b="1">
                <a:solidFill>
                  <a:schemeClr val="tx1"/>
                </a:solidFill>
                <a:latin typeface="Times New Roman" panose="02020603050405020304" pitchFamily="18" charset="0"/>
                <a:ea typeface="宋体" panose="02010600030101010101" pitchFamily="2" charset="-122"/>
              </a:rPr>
              <a:t>SO</a:t>
            </a:r>
            <a:r>
              <a:rPr lang="en-US" altLang="zh-CN" sz="2000" b="1" baseline="-25000">
                <a:solidFill>
                  <a:schemeClr val="tx1"/>
                </a:solidFill>
                <a:latin typeface="Times New Roman" panose="02020603050405020304" pitchFamily="18" charset="0"/>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 + H</a:t>
            </a:r>
            <a:r>
              <a:rPr lang="en-US" altLang="zh-CN" sz="2000" b="1" baseline="-25000">
                <a:solidFill>
                  <a:schemeClr val="tx1"/>
                </a:solidFill>
                <a:latin typeface="Times New Roman" panose="02020603050405020304" pitchFamily="18" charset="0"/>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O(l) </a:t>
            </a:r>
            <a:r>
              <a:rPr lang="en-US" altLang="zh-CN" sz="2000" b="1">
                <a:solidFill>
                  <a:schemeClr val="tx1"/>
                </a:solidFill>
                <a:latin typeface="宋体" panose="02010600030101010101" pitchFamily="2" charset="-122"/>
                <a:ea typeface="宋体" panose="02010600030101010101" pitchFamily="2" charset="-122"/>
              </a:rPr>
              <a:t>→</a:t>
            </a:r>
            <a:r>
              <a:rPr lang="en-US" altLang="zh-CN" sz="2000" b="1">
                <a:solidFill>
                  <a:schemeClr val="tx1"/>
                </a:solidFill>
                <a:latin typeface="Times New Roman" panose="02020603050405020304" pitchFamily="18" charset="0"/>
                <a:ea typeface="宋体" panose="02010600030101010101" pitchFamily="2" charset="-122"/>
              </a:rPr>
              <a:t>H</a:t>
            </a:r>
            <a:r>
              <a:rPr lang="en-US" altLang="zh-CN" sz="2000" b="1" baseline="-25000">
                <a:solidFill>
                  <a:schemeClr val="tx1"/>
                </a:solidFill>
                <a:latin typeface="Times New Roman" panose="02020603050405020304" pitchFamily="18" charset="0"/>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SO</a:t>
            </a:r>
            <a:r>
              <a:rPr lang="en-US" altLang="zh-CN" sz="2000" b="1" baseline="-25000">
                <a:solidFill>
                  <a:schemeClr val="tx1"/>
                </a:solidFill>
                <a:latin typeface="Times New Roman" panose="02020603050405020304" pitchFamily="18" charset="0"/>
                <a:ea typeface="宋体" panose="02010600030101010101" pitchFamily="2" charset="-122"/>
              </a:rPr>
              <a:t>3</a:t>
            </a:r>
            <a:endParaRPr lang="en-US" altLang="zh-CN" sz="2000" b="1">
              <a:solidFill>
                <a:schemeClr val="tx1"/>
              </a:solidFill>
              <a:latin typeface="Times New Roman" panose="02020603050405020304" pitchFamily="18" charset="0"/>
              <a:ea typeface="宋体" panose="02010600030101010101" pitchFamily="2" charset="-122"/>
            </a:endParaRPr>
          </a:p>
          <a:p>
            <a:pPr lvl="2" indent="0">
              <a:spcBef>
                <a:spcPct val="20000"/>
              </a:spcBef>
            </a:pPr>
            <a:r>
              <a:rPr lang="en-US" altLang="zh-CN" sz="2000" b="1">
                <a:solidFill>
                  <a:schemeClr val="tx1"/>
                </a:solidFill>
                <a:latin typeface="Times New Roman" panose="02020603050405020304" pitchFamily="18" charset="0"/>
                <a:ea typeface="宋体" panose="02010600030101010101" pitchFamily="2" charset="-122"/>
              </a:rPr>
              <a:t>                                                       2 H</a:t>
            </a:r>
            <a:r>
              <a:rPr lang="en-US" altLang="zh-CN" sz="2000" b="1" baseline="-25000">
                <a:solidFill>
                  <a:schemeClr val="tx1"/>
                </a:solidFill>
                <a:latin typeface="Times New Roman" panose="02020603050405020304" pitchFamily="18" charset="0"/>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SO</a:t>
            </a:r>
            <a:r>
              <a:rPr lang="en-US" altLang="zh-CN" sz="2000" b="1" baseline="-25000">
                <a:solidFill>
                  <a:schemeClr val="tx1"/>
                </a:solidFill>
                <a:latin typeface="Times New Roman" panose="02020603050405020304" pitchFamily="18" charset="0"/>
                <a:ea typeface="宋体" panose="02010600030101010101" pitchFamily="2" charset="-122"/>
              </a:rPr>
              <a:t>3</a:t>
            </a:r>
            <a:r>
              <a:rPr lang="en-US" altLang="zh-CN" sz="2000" b="1">
                <a:solidFill>
                  <a:schemeClr val="tx1"/>
                </a:solidFill>
                <a:latin typeface="Times New Roman" panose="02020603050405020304" pitchFamily="18" charset="0"/>
                <a:ea typeface="宋体" panose="02010600030101010101" pitchFamily="2" charset="-122"/>
              </a:rPr>
              <a:t> + O</a:t>
            </a:r>
            <a:r>
              <a:rPr lang="en-US" altLang="zh-CN" sz="2000" b="1" baseline="-25000">
                <a:solidFill>
                  <a:schemeClr val="tx1"/>
                </a:solidFill>
                <a:latin typeface="Times New Roman" panose="02020603050405020304" pitchFamily="18" charset="0"/>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 </a:t>
            </a:r>
            <a:r>
              <a:rPr lang="en-US" altLang="zh-CN" sz="2000" b="1">
                <a:solidFill>
                  <a:schemeClr val="tx1"/>
                </a:solidFill>
                <a:latin typeface="宋体" panose="02010600030101010101" pitchFamily="2" charset="-122"/>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H</a:t>
            </a:r>
            <a:r>
              <a:rPr lang="en-US" altLang="zh-CN" sz="2000" b="1" baseline="-25000">
                <a:solidFill>
                  <a:schemeClr val="tx1"/>
                </a:solidFill>
                <a:latin typeface="Times New Roman" panose="02020603050405020304" pitchFamily="18" charset="0"/>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SO</a:t>
            </a:r>
            <a:r>
              <a:rPr lang="en-US" altLang="zh-CN" sz="2000" b="1" baseline="-25000">
                <a:solidFill>
                  <a:schemeClr val="tx1"/>
                </a:solidFill>
                <a:latin typeface="Times New Roman" panose="02020603050405020304" pitchFamily="18" charset="0"/>
                <a:ea typeface="宋体" panose="02010600030101010101" pitchFamily="2" charset="-122"/>
              </a:rPr>
              <a:t>4</a:t>
            </a:r>
            <a:endParaRPr lang="en-US" altLang="zh-CN" sz="2000" b="1">
              <a:solidFill>
                <a:schemeClr val="tx1"/>
              </a:solidFill>
              <a:latin typeface="Times New Roman" panose="02020603050405020304" pitchFamily="18" charset="0"/>
              <a:ea typeface="宋体" panose="02010600030101010101" pitchFamily="2" charset="-122"/>
            </a:endParaRPr>
          </a:p>
          <a:p>
            <a:pPr lvl="2" indent="0">
              <a:spcBef>
                <a:spcPct val="20000"/>
              </a:spcBef>
            </a:pPr>
            <a:r>
              <a:rPr lang="en-US" altLang="zh-CN" sz="2000" b="1" dirty="0">
                <a:solidFill>
                  <a:schemeClr val="tx1"/>
                </a:solidFill>
                <a:latin typeface="Times New Roman" panose="02020603050405020304" pitchFamily="18" charset="0"/>
                <a:ea typeface="宋体" panose="02010600030101010101" pitchFamily="2" charset="-122"/>
              </a:rPr>
              <a:t>                  2)</a:t>
            </a:r>
            <a:r>
              <a:rPr lang="zh-CN" altLang="en-US" sz="2000" b="1" dirty="0">
                <a:solidFill>
                  <a:schemeClr val="tx1"/>
                </a:solidFill>
                <a:latin typeface="Times New Roman" panose="02020603050405020304" pitchFamily="18" charset="0"/>
                <a:ea typeface="宋体" panose="02010600030101010101" pitchFamily="2" charset="-122"/>
              </a:rPr>
              <a:t>气相反应  </a:t>
            </a:r>
            <a:r>
              <a:rPr lang="en-US" altLang="zh-CN" sz="2000" b="1">
                <a:solidFill>
                  <a:schemeClr val="tx1"/>
                </a:solidFill>
                <a:latin typeface="Times New Roman" panose="02020603050405020304" pitchFamily="18" charset="0"/>
                <a:ea typeface="宋体" panose="02010600030101010101" pitchFamily="2" charset="-122"/>
              </a:rPr>
              <a:t>SO</a:t>
            </a:r>
            <a:r>
              <a:rPr lang="en-US" altLang="zh-CN" sz="2000" b="1" baseline="-25000">
                <a:solidFill>
                  <a:schemeClr val="tx1"/>
                </a:solidFill>
                <a:latin typeface="Times New Roman" panose="02020603050405020304" pitchFamily="18" charset="0"/>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 + O</a:t>
            </a:r>
            <a:r>
              <a:rPr lang="en-US" altLang="zh-CN" sz="2000" b="1" baseline="-25000">
                <a:solidFill>
                  <a:schemeClr val="tx1"/>
                </a:solidFill>
                <a:latin typeface="Times New Roman" panose="02020603050405020304" pitchFamily="18" charset="0"/>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 </a:t>
            </a:r>
            <a:r>
              <a:rPr lang="en-US" altLang="zh-CN" sz="2000" b="1">
                <a:solidFill>
                  <a:schemeClr val="tx1"/>
                </a:solidFill>
                <a:latin typeface="宋体" panose="02010600030101010101" pitchFamily="2" charset="-122"/>
                <a:ea typeface="宋体" panose="02010600030101010101" pitchFamily="2" charset="-122"/>
              </a:rPr>
              <a:t>→</a:t>
            </a:r>
            <a:r>
              <a:rPr lang="en-US" altLang="zh-CN" sz="2000" b="1">
                <a:solidFill>
                  <a:schemeClr val="tx1"/>
                </a:solidFill>
                <a:latin typeface="Times New Roman" panose="02020603050405020304" pitchFamily="18" charset="0"/>
                <a:ea typeface="宋体" panose="02010600030101010101" pitchFamily="2" charset="-122"/>
              </a:rPr>
              <a:t> SO</a:t>
            </a:r>
            <a:r>
              <a:rPr lang="en-US" altLang="zh-CN" sz="2000" b="1" baseline="-25000">
                <a:solidFill>
                  <a:schemeClr val="tx1"/>
                </a:solidFill>
                <a:latin typeface="Times New Roman" panose="02020603050405020304" pitchFamily="18" charset="0"/>
                <a:ea typeface="宋体" panose="02010600030101010101" pitchFamily="2" charset="-122"/>
              </a:rPr>
              <a:t>3</a:t>
            </a:r>
            <a:r>
              <a:rPr lang="en-US" altLang="zh-CN" sz="2000" b="1">
                <a:solidFill>
                  <a:schemeClr val="tx1"/>
                </a:solidFill>
                <a:latin typeface="Times New Roman" panose="02020603050405020304" pitchFamily="18" charset="0"/>
                <a:ea typeface="宋体" panose="02010600030101010101" pitchFamily="2" charset="-122"/>
              </a:rPr>
              <a:t> + O</a:t>
            </a:r>
          </a:p>
          <a:p>
            <a:pPr lvl="2" indent="0">
              <a:spcBef>
                <a:spcPct val="20000"/>
              </a:spcBef>
            </a:pPr>
            <a:r>
              <a:rPr lang="en-US" altLang="zh-CN" sz="2000" b="1">
                <a:solidFill>
                  <a:schemeClr val="tx1"/>
                </a:solidFill>
                <a:latin typeface="Times New Roman" panose="02020603050405020304" pitchFamily="18" charset="0"/>
                <a:ea typeface="宋体" panose="02010600030101010101" pitchFamily="2" charset="-122"/>
              </a:rPr>
              <a:t>                                       SO</a:t>
            </a:r>
            <a:r>
              <a:rPr lang="en-US" altLang="zh-CN" sz="2000" b="1" baseline="-25000">
                <a:solidFill>
                  <a:schemeClr val="tx1"/>
                </a:solidFill>
                <a:latin typeface="Times New Roman" panose="02020603050405020304" pitchFamily="18" charset="0"/>
                <a:ea typeface="宋体" panose="02010600030101010101" pitchFamily="2" charset="-122"/>
              </a:rPr>
              <a:t>3</a:t>
            </a:r>
            <a:r>
              <a:rPr lang="en-US" altLang="zh-CN" sz="2000" b="1">
                <a:solidFill>
                  <a:schemeClr val="tx1"/>
                </a:solidFill>
                <a:latin typeface="Times New Roman" panose="02020603050405020304" pitchFamily="18" charset="0"/>
                <a:ea typeface="宋体" panose="02010600030101010101" pitchFamily="2" charset="-122"/>
              </a:rPr>
              <a:t> + H</a:t>
            </a:r>
            <a:r>
              <a:rPr lang="en-US" altLang="zh-CN" sz="2000" b="1" baseline="-25000">
                <a:solidFill>
                  <a:schemeClr val="tx1"/>
                </a:solidFill>
                <a:latin typeface="Times New Roman" panose="02020603050405020304" pitchFamily="18" charset="0"/>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O </a:t>
            </a:r>
            <a:r>
              <a:rPr lang="en-US" altLang="zh-CN" sz="2000" b="1">
                <a:solidFill>
                  <a:schemeClr val="tx1"/>
                </a:solidFill>
                <a:latin typeface="宋体" panose="02010600030101010101" pitchFamily="2" charset="-122"/>
                <a:ea typeface="宋体" panose="02010600030101010101" pitchFamily="2" charset="-122"/>
              </a:rPr>
              <a:t>→ </a:t>
            </a:r>
            <a:r>
              <a:rPr lang="en-US" altLang="zh-CN" sz="2000" b="1">
                <a:solidFill>
                  <a:schemeClr val="tx1"/>
                </a:solidFill>
                <a:latin typeface="Times New Roman" panose="02020603050405020304" pitchFamily="18" charset="0"/>
                <a:ea typeface="宋体" panose="02010600030101010101" pitchFamily="2" charset="-122"/>
              </a:rPr>
              <a:t>H</a:t>
            </a:r>
            <a:r>
              <a:rPr lang="en-US" altLang="zh-CN" sz="2000" b="1" baseline="-25000">
                <a:solidFill>
                  <a:schemeClr val="tx1"/>
                </a:solidFill>
                <a:latin typeface="Times New Roman" panose="02020603050405020304" pitchFamily="18" charset="0"/>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SO</a:t>
            </a:r>
            <a:r>
              <a:rPr lang="en-US" altLang="zh-CN" sz="2000" b="1" baseline="-25000">
                <a:solidFill>
                  <a:schemeClr val="tx1"/>
                </a:solidFill>
                <a:latin typeface="Times New Roman" panose="02020603050405020304" pitchFamily="18" charset="0"/>
                <a:ea typeface="宋体" panose="02010600030101010101" pitchFamily="2" charset="-122"/>
              </a:rPr>
              <a:t>4</a:t>
            </a:r>
            <a:endParaRPr lang="en-US" altLang="zh-CN" sz="2000" b="1">
              <a:solidFill>
                <a:schemeClr val="tx1"/>
              </a:solidFill>
              <a:latin typeface="Times New Roman" panose="02020603050405020304" pitchFamily="18" charset="0"/>
              <a:ea typeface="宋体" panose="02010600030101010101" pitchFamily="2" charset="-122"/>
            </a:endParaRPr>
          </a:p>
          <a:p>
            <a:pPr lvl="2" indent="0">
              <a:spcBef>
                <a:spcPct val="20000"/>
              </a:spcBef>
            </a:pPr>
            <a:r>
              <a:rPr lang="en-US" altLang="zh-CN" sz="2000" b="1" err="1">
                <a:solidFill>
                  <a:schemeClr val="tx1"/>
                </a:solidFill>
                <a:latin typeface="Times New Roman" panose="02020603050405020304" pitchFamily="18" charset="0"/>
                <a:ea typeface="宋体" panose="02010600030101010101" pitchFamily="2" charset="-122"/>
              </a:rPr>
              <a:t>  NOx</a:t>
            </a:r>
            <a:r>
              <a:rPr lang="en-US" altLang="zh-CN" sz="2000" b="1" dirty="0">
                <a:solidFill>
                  <a:schemeClr val="tx1"/>
                </a:solidFill>
                <a:latin typeface="Times New Roman" panose="02020603050405020304" pitchFamily="18" charset="0"/>
                <a:ea typeface="宋体" panose="02010600030101010101" pitchFamily="2" charset="-122"/>
              </a:rPr>
              <a:t> </a:t>
            </a:r>
            <a:r>
              <a:rPr lang="zh-CN" altLang="en-US" sz="2000" b="1" dirty="0">
                <a:solidFill>
                  <a:schemeClr val="tx1"/>
                </a:solidFill>
                <a:latin typeface="Times New Roman" panose="02020603050405020304" pitchFamily="18" charset="0"/>
                <a:ea typeface="宋体" panose="02010600030101010101" pitchFamily="2" charset="-122"/>
              </a:rPr>
              <a:t>型    </a:t>
            </a:r>
            <a:r>
              <a:rPr lang="en-US" altLang="zh-CN" sz="2000" b="1">
                <a:solidFill>
                  <a:schemeClr val="tx1"/>
                </a:solidFill>
                <a:latin typeface="Times New Roman" panose="02020603050405020304" pitchFamily="18" charset="0"/>
                <a:ea typeface="宋体" panose="02010600030101010101" pitchFamily="2" charset="-122"/>
              </a:rPr>
              <a:t>2NO + O</a:t>
            </a:r>
            <a:r>
              <a:rPr lang="en-US" altLang="zh-CN" sz="2000" b="1" baseline="-25000">
                <a:solidFill>
                  <a:schemeClr val="tx1"/>
                </a:solidFill>
                <a:latin typeface="Times New Roman" panose="02020603050405020304" pitchFamily="18" charset="0"/>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 </a:t>
            </a:r>
            <a:r>
              <a:rPr lang="en-US" altLang="zh-CN" sz="2000" b="1">
                <a:solidFill>
                  <a:schemeClr val="tx1"/>
                </a:solidFill>
                <a:latin typeface="宋体" panose="02010600030101010101" pitchFamily="2" charset="-122"/>
                <a:ea typeface="宋体" panose="02010600030101010101" pitchFamily="2" charset="-122"/>
              </a:rPr>
              <a:t>→ </a:t>
            </a:r>
            <a:r>
              <a:rPr lang="en-US" altLang="zh-CN" sz="2000" b="1">
                <a:solidFill>
                  <a:schemeClr val="tx1"/>
                </a:solidFill>
                <a:latin typeface="Times New Roman" panose="02020603050405020304" pitchFamily="18" charset="0"/>
                <a:ea typeface="宋体" panose="02010600030101010101" pitchFamily="2" charset="-122"/>
              </a:rPr>
              <a:t>2NO</a:t>
            </a:r>
            <a:r>
              <a:rPr lang="en-US" altLang="zh-CN" sz="2000" b="1" baseline="-25000">
                <a:solidFill>
                  <a:schemeClr val="tx1"/>
                </a:solidFill>
                <a:latin typeface="Times New Roman" panose="02020603050405020304" pitchFamily="18" charset="0"/>
                <a:ea typeface="宋体" panose="02010600030101010101" pitchFamily="2" charset="-122"/>
              </a:rPr>
              <a:t>2</a:t>
            </a:r>
            <a:endParaRPr lang="en-US" altLang="zh-CN" sz="2000" b="1">
              <a:solidFill>
                <a:schemeClr val="tx1"/>
              </a:solidFill>
              <a:latin typeface="Times New Roman" panose="02020603050405020304" pitchFamily="18" charset="0"/>
              <a:ea typeface="宋体" panose="02010600030101010101" pitchFamily="2" charset="-122"/>
            </a:endParaRPr>
          </a:p>
          <a:p>
            <a:pPr lvl="2" indent="0">
              <a:spcBef>
                <a:spcPct val="20000"/>
              </a:spcBef>
            </a:pPr>
            <a:r>
              <a:rPr lang="en-US" altLang="zh-CN" sz="2000" b="1">
                <a:solidFill>
                  <a:schemeClr val="tx1"/>
                </a:solidFill>
                <a:latin typeface="Times New Roman" panose="02020603050405020304" pitchFamily="18" charset="0"/>
                <a:ea typeface="宋体" panose="02010600030101010101" pitchFamily="2" charset="-122"/>
              </a:rPr>
              <a:t>                </a:t>
            </a:r>
            <a:r>
              <a:rPr lang="en-US" altLang="zh-CN" sz="2000" b="1">
                <a:solidFill>
                  <a:schemeClr val="tx1"/>
                </a:solidFill>
                <a:latin typeface="宋体" panose="02010600030101010101" pitchFamily="2" charset="-122"/>
                <a:ea typeface="宋体" panose="02010600030101010101" pitchFamily="2" charset="-122"/>
              </a:rPr>
              <a:t> </a:t>
            </a:r>
            <a:r>
              <a:rPr lang="en-US" altLang="zh-CN" sz="2000" b="1">
                <a:solidFill>
                  <a:schemeClr val="tx1"/>
                </a:solidFill>
                <a:latin typeface="Times New Roman" panose="02020603050405020304" pitchFamily="18" charset="0"/>
                <a:ea typeface="宋体" panose="02010600030101010101" pitchFamily="2" charset="-122"/>
              </a:rPr>
              <a:t>2NO</a:t>
            </a:r>
            <a:r>
              <a:rPr lang="en-US" altLang="zh-CN" sz="2000" b="1" baseline="-25000">
                <a:solidFill>
                  <a:schemeClr val="tx1"/>
                </a:solidFill>
                <a:latin typeface="Times New Roman" panose="02020603050405020304" pitchFamily="18" charset="0"/>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 + H</a:t>
            </a:r>
            <a:r>
              <a:rPr lang="en-US" altLang="zh-CN" sz="2000" b="1" baseline="-25000">
                <a:solidFill>
                  <a:schemeClr val="tx1"/>
                </a:solidFill>
                <a:latin typeface="Times New Roman" panose="02020603050405020304" pitchFamily="18" charset="0"/>
                <a:ea typeface="宋体" panose="02010600030101010101" pitchFamily="2" charset="-122"/>
              </a:rPr>
              <a:t>2</a:t>
            </a:r>
            <a:r>
              <a:rPr lang="en-US" altLang="zh-CN" sz="2000" b="1">
                <a:solidFill>
                  <a:schemeClr val="tx1"/>
                </a:solidFill>
                <a:latin typeface="Times New Roman" panose="02020603050405020304" pitchFamily="18" charset="0"/>
                <a:ea typeface="宋体" panose="02010600030101010101" pitchFamily="2" charset="-122"/>
              </a:rPr>
              <a:t>O </a:t>
            </a:r>
            <a:r>
              <a:rPr lang="en-US" altLang="zh-CN" sz="2000" b="1">
                <a:solidFill>
                  <a:schemeClr val="tx1"/>
                </a:solidFill>
                <a:latin typeface="宋体" panose="02010600030101010101" pitchFamily="2" charset="-122"/>
                <a:ea typeface="宋体" panose="02010600030101010101" pitchFamily="2" charset="-122"/>
              </a:rPr>
              <a:t>→ </a:t>
            </a:r>
            <a:r>
              <a:rPr lang="en-US" altLang="zh-CN" sz="2000" b="1">
                <a:solidFill>
                  <a:schemeClr val="tx1"/>
                </a:solidFill>
                <a:latin typeface="Times New Roman" panose="02020603050405020304" pitchFamily="18" charset="0"/>
                <a:ea typeface="宋体" panose="02010600030101010101" pitchFamily="2" charset="-122"/>
              </a:rPr>
              <a:t>HNO</a:t>
            </a:r>
            <a:r>
              <a:rPr lang="en-US" altLang="zh-CN" sz="2000" b="1" baseline="-25000">
                <a:solidFill>
                  <a:schemeClr val="tx1"/>
                </a:solidFill>
                <a:latin typeface="Times New Roman" panose="02020603050405020304" pitchFamily="18" charset="0"/>
                <a:ea typeface="宋体" panose="02010600030101010101" pitchFamily="2" charset="-122"/>
              </a:rPr>
              <a:t>3</a:t>
            </a:r>
            <a:r>
              <a:rPr lang="en-US" altLang="zh-CN" sz="2000" b="1">
                <a:solidFill>
                  <a:schemeClr val="tx1"/>
                </a:solidFill>
                <a:latin typeface="Times New Roman" panose="02020603050405020304" pitchFamily="18" charset="0"/>
                <a:ea typeface="宋体" panose="02010600030101010101" pitchFamily="2" charset="-122"/>
              </a:rPr>
              <a:t> + HNO</a:t>
            </a:r>
            <a:r>
              <a:rPr lang="en-US" altLang="zh-CN" sz="2000" b="1" baseline="-25000">
                <a:solidFill>
                  <a:schemeClr val="tx1"/>
                </a:solidFill>
                <a:latin typeface="Times New Roman" panose="02020603050405020304" pitchFamily="18" charset="0"/>
                <a:ea typeface="宋体" panose="02010600030101010101" pitchFamily="2" charset="-122"/>
              </a:rPr>
              <a:t>2</a:t>
            </a:r>
          </a:p>
        </p:txBody>
      </p:sp>
      <p:pic>
        <p:nvPicPr>
          <p:cNvPr id="37893" name="图片 37892" descr="酸雨"/>
          <p:cNvPicPr>
            <a:picLocks noChangeAspect="1"/>
          </p:cNvPicPr>
          <p:nvPr/>
        </p:nvPicPr>
        <p:blipFill>
          <a:blip r:embed="rId2" cstate="print"/>
          <a:srcRect t="3419" r="33199" b="53847"/>
          <a:stretch>
            <a:fillRect/>
          </a:stretch>
        </p:blipFill>
        <p:spPr>
          <a:xfrm>
            <a:off x="4419600" y="246063"/>
            <a:ext cx="4419600" cy="3562350"/>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p:cTn id="7" dur="500" fill="hold"/>
                                        <p:tgtEl>
                                          <p:spTgt spid="37891">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37891">
                                            <p:txEl>
                                              <p:pRg st="0" end="0"/>
                                            </p:txEl>
                                          </p:spTgt>
                                        </p:tgtEl>
                                        <p:attrNameLst>
                                          <p:attrName>ppt_y</p:attrName>
                                        </p:attrNameLst>
                                      </p:cBhvr>
                                      <p:tavLst>
                                        <p:tav tm="0">
                                          <p:val>
                                            <p:strVal val="#ppt_y-#ppt_h/2"/>
                                          </p:val>
                                        </p:tav>
                                        <p:tav tm="100000">
                                          <p:val>
                                            <p:strVal val="#ppt_y"/>
                                          </p:val>
                                        </p:tav>
                                      </p:tavLst>
                                    </p:anim>
                                    <p:anim calcmode="lin" valueType="num">
                                      <p:cBhvr>
                                        <p:cTn id="9" dur="500" fill="hold"/>
                                        <p:tgtEl>
                                          <p:spTgt spid="37891">
                                            <p:txEl>
                                              <p:pRg st="0" end="0"/>
                                            </p:txEl>
                                          </p:spTgt>
                                        </p:tgtEl>
                                        <p:attrNameLst>
                                          <p:attrName>ppt_w</p:attrName>
                                        </p:attrNameLst>
                                      </p:cBhvr>
                                      <p:tavLst>
                                        <p:tav tm="0">
                                          <p:val>
                                            <p:strVal val="#ppt_w"/>
                                          </p:val>
                                        </p:tav>
                                        <p:tav tm="100000">
                                          <p:val>
                                            <p:strVal val="#ppt_w"/>
                                          </p:val>
                                        </p:tav>
                                      </p:tavLst>
                                    </p:anim>
                                    <p:anim calcmode="lin" valueType="num">
                                      <p:cBhvr>
                                        <p:cTn id="10" dur="500" fill="hold"/>
                                        <p:tgtEl>
                                          <p:spTgt spid="37891">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37891">
                                            <p:txEl>
                                              <p:pRg st="1" end="1"/>
                                            </p:txEl>
                                          </p:spTgt>
                                        </p:tgtEl>
                                        <p:attrNameLst>
                                          <p:attrName>style.visibility</p:attrName>
                                        </p:attrNameLst>
                                      </p:cBhvr>
                                      <p:to>
                                        <p:strVal val="visible"/>
                                      </p:to>
                                    </p:set>
                                    <p:anim calcmode="lin" valueType="num">
                                      <p:cBhvr>
                                        <p:cTn id="15"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37891">
                                            <p:txEl>
                                              <p:pRg st="1" end="1"/>
                                            </p:txEl>
                                          </p:spTgt>
                                        </p:tgtEl>
                                        <p:attrNameLst>
                                          <p:attrName>ppt_y</p:attrName>
                                        </p:attrNameLst>
                                      </p:cBhvr>
                                      <p:tavLst>
                                        <p:tav tm="0">
                                          <p:val>
                                            <p:strVal val="#ppt_y-#ppt_h/2"/>
                                          </p:val>
                                        </p:tav>
                                        <p:tav tm="100000">
                                          <p:val>
                                            <p:strVal val="#ppt_y"/>
                                          </p:val>
                                        </p:tav>
                                      </p:tavLst>
                                    </p:anim>
                                    <p:anim calcmode="lin" valueType="num">
                                      <p:cBhvr>
                                        <p:cTn id="17" dur="500" fill="hold"/>
                                        <p:tgtEl>
                                          <p:spTgt spid="37891">
                                            <p:txEl>
                                              <p:pRg st="1" end="1"/>
                                            </p:txEl>
                                          </p:spTgt>
                                        </p:tgtEl>
                                        <p:attrNameLst>
                                          <p:attrName>ppt_w</p:attrName>
                                        </p:attrNameLst>
                                      </p:cBhvr>
                                      <p:tavLst>
                                        <p:tav tm="0">
                                          <p:val>
                                            <p:strVal val="#ppt_w"/>
                                          </p:val>
                                        </p:tav>
                                        <p:tav tm="100000">
                                          <p:val>
                                            <p:strVal val="#ppt_w"/>
                                          </p:val>
                                        </p:tav>
                                      </p:tavLst>
                                    </p:anim>
                                    <p:anim calcmode="lin" valueType="num">
                                      <p:cBhvr>
                                        <p:cTn id="18" dur="500" fill="hold"/>
                                        <p:tgtEl>
                                          <p:spTgt spid="37891">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 fill="hold" grpId="0" nodeType="clickEffect">
                                  <p:stCondLst>
                                    <p:cond delay="0"/>
                                  </p:stCondLst>
                                  <p:childTnLst>
                                    <p:set>
                                      <p:cBhvr>
                                        <p:cTn id="22" dur="1" fill="hold">
                                          <p:stCondLst>
                                            <p:cond delay="0"/>
                                          </p:stCondLst>
                                        </p:cTn>
                                        <p:tgtEl>
                                          <p:spTgt spid="37891">
                                            <p:txEl>
                                              <p:pRg st="3" end="3"/>
                                            </p:txEl>
                                          </p:spTgt>
                                        </p:tgtEl>
                                        <p:attrNameLst>
                                          <p:attrName>style.visibility</p:attrName>
                                        </p:attrNameLst>
                                      </p:cBhvr>
                                      <p:to>
                                        <p:strVal val="visible"/>
                                      </p:to>
                                    </p:set>
                                    <p:anim calcmode="lin" valueType="num">
                                      <p:cBhvr>
                                        <p:cTn id="23" dur="500" fill="hold"/>
                                        <p:tgtEl>
                                          <p:spTgt spid="37891">
                                            <p:txEl>
                                              <p:pRg st="3" end="3"/>
                                            </p:txEl>
                                          </p:spTgt>
                                        </p:tgtEl>
                                        <p:attrNameLst>
                                          <p:attrName>ppt_x</p:attrName>
                                        </p:attrNameLst>
                                      </p:cBhvr>
                                      <p:tavLst>
                                        <p:tav tm="0">
                                          <p:val>
                                            <p:strVal val="#ppt_x"/>
                                          </p:val>
                                        </p:tav>
                                        <p:tav tm="100000">
                                          <p:val>
                                            <p:strVal val="#ppt_x"/>
                                          </p:val>
                                        </p:tav>
                                      </p:tavLst>
                                    </p:anim>
                                    <p:anim calcmode="lin" valueType="num">
                                      <p:cBhvr>
                                        <p:cTn id="24" dur="500" fill="hold"/>
                                        <p:tgtEl>
                                          <p:spTgt spid="37891">
                                            <p:txEl>
                                              <p:pRg st="3" end="3"/>
                                            </p:txEl>
                                          </p:spTgt>
                                        </p:tgtEl>
                                        <p:attrNameLst>
                                          <p:attrName>ppt_y</p:attrName>
                                        </p:attrNameLst>
                                      </p:cBhvr>
                                      <p:tavLst>
                                        <p:tav tm="0">
                                          <p:val>
                                            <p:strVal val="#ppt_y-#ppt_h/2"/>
                                          </p:val>
                                        </p:tav>
                                        <p:tav tm="100000">
                                          <p:val>
                                            <p:strVal val="#ppt_y"/>
                                          </p:val>
                                        </p:tav>
                                      </p:tavLst>
                                    </p:anim>
                                    <p:anim calcmode="lin" valueType="num">
                                      <p:cBhvr>
                                        <p:cTn id="25" dur="500" fill="hold"/>
                                        <p:tgtEl>
                                          <p:spTgt spid="37891">
                                            <p:txEl>
                                              <p:pRg st="3" end="3"/>
                                            </p:txEl>
                                          </p:spTgt>
                                        </p:tgtEl>
                                        <p:attrNameLst>
                                          <p:attrName>ppt_w</p:attrName>
                                        </p:attrNameLst>
                                      </p:cBhvr>
                                      <p:tavLst>
                                        <p:tav tm="0">
                                          <p:val>
                                            <p:strVal val="#ppt_w"/>
                                          </p:val>
                                        </p:tav>
                                        <p:tav tm="100000">
                                          <p:val>
                                            <p:strVal val="#ppt_w"/>
                                          </p:val>
                                        </p:tav>
                                      </p:tavLst>
                                    </p:anim>
                                    <p:anim calcmode="lin" valueType="num">
                                      <p:cBhvr>
                                        <p:cTn id="26" dur="500" fill="hold"/>
                                        <p:tgtEl>
                                          <p:spTgt spid="37891">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 fill="hold" grpId="0" nodeType="clickEffect">
                                  <p:stCondLst>
                                    <p:cond delay="0"/>
                                  </p:stCondLst>
                                  <p:childTnLst>
                                    <p:set>
                                      <p:cBhvr>
                                        <p:cTn id="30" dur="1" fill="hold">
                                          <p:stCondLst>
                                            <p:cond delay="0"/>
                                          </p:stCondLst>
                                        </p:cTn>
                                        <p:tgtEl>
                                          <p:spTgt spid="37891">
                                            <p:txEl>
                                              <p:pRg st="5" end="5"/>
                                            </p:txEl>
                                          </p:spTgt>
                                        </p:tgtEl>
                                        <p:attrNameLst>
                                          <p:attrName>style.visibility</p:attrName>
                                        </p:attrNameLst>
                                      </p:cBhvr>
                                      <p:to>
                                        <p:strVal val="visible"/>
                                      </p:to>
                                    </p:set>
                                    <p:anim calcmode="lin" valueType="num">
                                      <p:cBhvr>
                                        <p:cTn id="31" dur="500" fill="hold"/>
                                        <p:tgtEl>
                                          <p:spTgt spid="37891">
                                            <p:txEl>
                                              <p:pRg st="5" end="5"/>
                                            </p:txEl>
                                          </p:spTgt>
                                        </p:tgtEl>
                                        <p:attrNameLst>
                                          <p:attrName>ppt_x</p:attrName>
                                        </p:attrNameLst>
                                      </p:cBhvr>
                                      <p:tavLst>
                                        <p:tav tm="0">
                                          <p:val>
                                            <p:strVal val="#ppt_x"/>
                                          </p:val>
                                        </p:tav>
                                        <p:tav tm="100000">
                                          <p:val>
                                            <p:strVal val="#ppt_x"/>
                                          </p:val>
                                        </p:tav>
                                      </p:tavLst>
                                    </p:anim>
                                    <p:anim calcmode="lin" valueType="num">
                                      <p:cBhvr>
                                        <p:cTn id="32" dur="500" fill="hold"/>
                                        <p:tgtEl>
                                          <p:spTgt spid="37891">
                                            <p:txEl>
                                              <p:pRg st="5" end="5"/>
                                            </p:txEl>
                                          </p:spTgt>
                                        </p:tgtEl>
                                        <p:attrNameLst>
                                          <p:attrName>ppt_y</p:attrName>
                                        </p:attrNameLst>
                                      </p:cBhvr>
                                      <p:tavLst>
                                        <p:tav tm="0">
                                          <p:val>
                                            <p:strVal val="#ppt_y-#ppt_h/2"/>
                                          </p:val>
                                        </p:tav>
                                        <p:tav tm="100000">
                                          <p:val>
                                            <p:strVal val="#ppt_y"/>
                                          </p:val>
                                        </p:tav>
                                      </p:tavLst>
                                    </p:anim>
                                    <p:anim calcmode="lin" valueType="num">
                                      <p:cBhvr>
                                        <p:cTn id="33" dur="500" fill="hold"/>
                                        <p:tgtEl>
                                          <p:spTgt spid="37891">
                                            <p:txEl>
                                              <p:pRg st="5" end="5"/>
                                            </p:txEl>
                                          </p:spTgt>
                                        </p:tgtEl>
                                        <p:attrNameLst>
                                          <p:attrName>ppt_w</p:attrName>
                                        </p:attrNameLst>
                                      </p:cBhvr>
                                      <p:tavLst>
                                        <p:tav tm="0">
                                          <p:val>
                                            <p:strVal val="#ppt_w"/>
                                          </p:val>
                                        </p:tav>
                                        <p:tav tm="100000">
                                          <p:val>
                                            <p:strVal val="#ppt_w"/>
                                          </p:val>
                                        </p:tav>
                                      </p:tavLst>
                                    </p:anim>
                                    <p:anim calcmode="lin" valueType="num">
                                      <p:cBhvr>
                                        <p:cTn id="34" dur="500" fill="hold"/>
                                        <p:tgtEl>
                                          <p:spTgt spid="37891">
                                            <p:txEl>
                                              <p:pRg st="5" end="5"/>
                                            </p:txEl>
                                          </p:spTgt>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1" fill="hold" grpId="0" nodeType="clickEffect">
                                  <p:stCondLst>
                                    <p:cond delay="0"/>
                                  </p:stCondLst>
                                  <p:childTnLst>
                                    <p:set>
                                      <p:cBhvr>
                                        <p:cTn id="38" dur="1" fill="hold">
                                          <p:stCondLst>
                                            <p:cond delay="0"/>
                                          </p:stCondLst>
                                        </p:cTn>
                                        <p:tgtEl>
                                          <p:spTgt spid="37891">
                                            <p:txEl>
                                              <p:pRg st="6" end="6"/>
                                            </p:txEl>
                                          </p:spTgt>
                                        </p:tgtEl>
                                        <p:attrNameLst>
                                          <p:attrName>style.visibility</p:attrName>
                                        </p:attrNameLst>
                                      </p:cBhvr>
                                      <p:to>
                                        <p:strVal val="visible"/>
                                      </p:to>
                                    </p:set>
                                    <p:anim calcmode="lin" valueType="num">
                                      <p:cBhvr>
                                        <p:cTn id="39" dur="500" fill="hold"/>
                                        <p:tgtEl>
                                          <p:spTgt spid="37891">
                                            <p:txEl>
                                              <p:pRg st="6" end="6"/>
                                            </p:txEl>
                                          </p:spTgt>
                                        </p:tgtEl>
                                        <p:attrNameLst>
                                          <p:attrName>ppt_x</p:attrName>
                                        </p:attrNameLst>
                                      </p:cBhvr>
                                      <p:tavLst>
                                        <p:tav tm="0">
                                          <p:val>
                                            <p:strVal val="#ppt_x"/>
                                          </p:val>
                                        </p:tav>
                                        <p:tav tm="100000">
                                          <p:val>
                                            <p:strVal val="#ppt_x"/>
                                          </p:val>
                                        </p:tav>
                                      </p:tavLst>
                                    </p:anim>
                                    <p:anim calcmode="lin" valueType="num">
                                      <p:cBhvr>
                                        <p:cTn id="40" dur="500" fill="hold"/>
                                        <p:tgtEl>
                                          <p:spTgt spid="37891">
                                            <p:txEl>
                                              <p:pRg st="6" end="6"/>
                                            </p:txEl>
                                          </p:spTgt>
                                        </p:tgtEl>
                                        <p:attrNameLst>
                                          <p:attrName>ppt_y</p:attrName>
                                        </p:attrNameLst>
                                      </p:cBhvr>
                                      <p:tavLst>
                                        <p:tav tm="0">
                                          <p:val>
                                            <p:strVal val="#ppt_y-#ppt_h/2"/>
                                          </p:val>
                                        </p:tav>
                                        <p:tav tm="100000">
                                          <p:val>
                                            <p:strVal val="#ppt_y"/>
                                          </p:val>
                                        </p:tav>
                                      </p:tavLst>
                                    </p:anim>
                                    <p:anim calcmode="lin" valueType="num">
                                      <p:cBhvr>
                                        <p:cTn id="41" dur="500" fill="hold"/>
                                        <p:tgtEl>
                                          <p:spTgt spid="37891">
                                            <p:txEl>
                                              <p:pRg st="6" end="6"/>
                                            </p:txEl>
                                          </p:spTgt>
                                        </p:tgtEl>
                                        <p:attrNameLst>
                                          <p:attrName>ppt_w</p:attrName>
                                        </p:attrNameLst>
                                      </p:cBhvr>
                                      <p:tavLst>
                                        <p:tav tm="0">
                                          <p:val>
                                            <p:strVal val="#ppt_w"/>
                                          </p:val>
                                        </p:tav>
                                        <p:tav tm="100000">
                                          <p:val>
                                            <p:strVal val="#ppt_w"/>
                                          </p:val>
                                        </p:tav>
                                      </p:tavLst>
                                    </p:anim>
                                    <p:anim calcmode="lin" valueType="num">
                                      <p:cBhvr>
                                        <p:cTn id="42" dur="500" fill="hold"/>
                                        <p:tgtEl>
                                          <p:spTgt spid="37891">
                                            <p:txEl>
                                              <p:pRg st="6" end="6"/>
                                            </p:txEl>
                                          </p:spTgt>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37893"/>
                                        </p:tgtEl>
                                        <p:attrNameLst>
                                          <p:attrName>style.visibility</p:attrName>
                                        </p:attrNameLst>
                                      </p:cBhvr>
                                      <p:to>
                                        <p:strVal val="visible"/>
                                      </p:to>
                                    </p:set>
                                    <p:animEffect transition="in" filter="box(in)">
                                      <p:cBhvr>
                                        <p:cTn id="47" dur="500"/>
                                        <p:tgtEl>
                                          <p:spTgt spid="3789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7892"/>
                                        </p:tgtEl>
                                        <p:attrNameLst>
                                          <p:attrName>style.visibility</p:attrName>
                                        </p:attrNameLst>
                                      </p:cBhvr>
                                      <p:to>
                                        <p:strVal val="visible"/>
                                      </p:to>
                                    </p:set>
                                    <p:animEffect transition="in" filter="blinds(horizontal)">
                                      <p:cBhvr>
                                        <p:cTn id="52" dur="500"/>
                                        <p:tgtEl>
                                          <p:spTgt spid="37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bldLvl="3"/>
      <p:bldP spid="3789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39937"/>
          <p:cNvSpPr>
            <a:spLocks noGrp="1"/>
          </p:cNvSpPr>
          <p:nvPr>
            <p:ph type="title"/>
          </p:nvPr>
        </p:nvSpPr>
        <p:spPr>
          <a:noFill/>
          <a:ln>
            <a:noFill/>
          </a:ln>
        </p:spPr>
        <p:txBody>
          <a:bodyPr anchor="ctr"/>
          <a:lstStyle/>
          <a:p>
            <a:r>
              <a:rPr lang="zh-CN" altLang="en-US" sz="3600" b="1" dirty="0">
                <a:solidFill>
                  <a:srgbClr val="FF0000"/>
                </a:solidFill>
                <a:ea typeface="隶书" panose="02010509060101010101" pitchFamily="49" charset="-122"/>
              </a:rPr>
              <a:t>酸雨的危害</a:t>
            </a:r>
          </a:p>
        </p:txBody>
      </p:sp>
      <p:sp>
        <p:nvSpPr>
          <p:cNvPr id="39939" name="内容占位符 39938"/>
          <p:cNvSpPr>
            <a:spLocks noGrp="1"/>
          </p:cNvSpPr>
          <p:nvPr>
            <p:ph idx="1"/>
          </p:nvPr>
        </p:nvSpPr>
        <p:spPr>
          <a:noFill/>
          <a:ln>
            <a:noFill/>
          </a:ln>
        </p:spPr>
        <p:txBody>
          <a:bodyPr anchor="t"/>
          <a:lstStyle/>
          <a:p>
            <a:pPr>
              <a:buNone/>
            </a:pPr>
            <a:r>
              <a:rPr lang="en-US" altLang="zh-CN" sz="2400" b="1" dirty="0">
                <a:solidFill>
                  <a:schemeClr val="tx1"/>
                </a:solidFill>
              </a:rPr>
              <a:t>1</a:t>
            </a:r>
            <a:r>
              <a:rPr lang="zh-CN" altLang="en-US" sz="2400" b="1" dirty="0">
                <a:solidFill>
                  <a:schemeClr val="tx1"/>
                </a:solidFill>
              </a:rPr>
              <a:t>）使水体、土壤严重酸化，鱼类、农作物受到影响。当</a:t>
            </a:r>
            <a:r>
              <a:rPr lang="en-US" altLang="zh-CN" sz="2400" b="1" dirty="0">
                <a:solidFill>
                  <a:schemeClr val="tx1"/>
                </a:solidFill>
              </a:rPr>
              <a:t>pH</a:t>
            </a:r>
            <a:r>
              <a:rPr lang="zh-CN" altLang="en-US" sz="2400" b="1" dirty="0">
                <a:solidFill>
                  <a:schemeClr val="tx1"/>
                </a:solidFill>
              </a:rPr>
              <a:t>＜</a:t>
            </a:r>
            <a:r>
              <a:rPr lang="en-US" altLang="zh-CN" sz="2400" b="1" dirty="0">
                <a:solidFill>
                  <a:schemeClr val="tx1"/>
                </a:solidFill>
              </a:rPr>
              <a:t>4.8</a:t>
            </a:r>
            <a:r>
              <a:rPr lang="zh-CN" altLang="en-US" sz="2400" b="1" dirty="0">
                <a:solidFill>
                  <a:schemeClr val="tx1"/>
                </a:solidFill>
              </a:rPr>
              <a:t>，鱼类就会死亡。</a:t>
            </a:r>
          </a:p>
          <a:p>
            <a:pPr>
              <a:buNone/>
            </a:pPr>
            <a:r>
              <a:rPr lang="en-US" altLang="zh-CN" sz="2400" b="1" dirty="0">
                <a:solidFill>
                  <a:schemeClr val="tx1"/>
                </a:solidFill>
              </a:rPr>
              <a:t>2</a:t>
            </a:r>
            <a:r>
              <a:rPr lang="zh-CN" altLang="en-US" sz="2400" b="1" dirty="0">
                <a:solidFill>
                  <a:schemeClr val="tx1"/>
                </a:solidFill>
              </a:rPr>
              <a:t>）破坏森林、植物的生长。</a:t>
            </a:r>
          </a:p>
          <a:p>
            <a:pPr>
              <a:buNone/>
            </a:pPr>
            <a:r>
              <a:rPr lang="en-US" altLang="zh-CN" sz="2400" b="1" dirty="0">
                <a:solidFill>
                  <a:schemeClr val="tx1"/>
                </a:solidFill>
              </a:rPr>
              <a:t>3</a:t>
            </a:r>
            <a:r>
              <a:rPr lang="zh-CN" altLang="en-US" sz="2400" b="1" dirty="0">
                <a:solidFill>
                  <a:schemeClr val="tx1"/>
                </a:solidFill>
              </a:rPr>
              <a:t>）使建筑物、材料、金属制品被腐蚀。</a:t>
            </a:r>
          </a:p>
          <a:p>
            <a:pPr>
              <a:buNone/>
            </a:pPr>
            <a:endParaRPr lang="zh-CN" altLang="en-US" sz="2400" b="1" dirty="0">
              <a:solidFill>
                <a:schemeClr val="tx1"/>
              </a:solidFill>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39939"/>
                                        </p:tgtEl>
                                        <p:attrNameLst>
                                          <p:attrName>style.visibility</p:attrName>
                                        </p:attrNameLst>
                                      </p:cBhvr>
                                      <p:to>
                                        <p:strVal val="visible"/>
                                      </p:to>
                                    </p:set>
                                    <p:animEffect transition="in" filter="blinds(vertical)">
                                      <p:cBhvr>
                                        <p:cTn id="7" dur="500"/>
                                        <p:tgtEl>
                                          <p:spTgt spid="39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40961"/>
          <p:cNvSpPr>
            <a:spLocks noGrp="1"/>
          </p:cNvSpPr>
          <p:nvPr>
            <p:ph type="title"/>
          </p:nvPr>
        </p:nvSpPr>
        <p:spPr/>
        <p:txBody>
          <a:bodyPr anchor="ctr"/>
          <a:lstStyle/>
          <a:p>
            <a:pPr algn="l" fontAlgn="base"/>
            <a:r>
              <a:rPr lang="en-US" altLang="zh-CN" sz="3600" b="1" strike="noStrike" noProof="1">
                <a:solidFill>
                  <a:srgbClr val="C00000"/>
                </a:solidFill>
                <a:latin typeface="楷体" panose="02010609060101010101" charset="-122"/>
                <a:ea typeface="楷体" panose="02010609060101010101" charset="-122"/>
              </a:rPr>
              <a:t>4</a:t>
            </a:r>
            <a:r>
              <a:rPr lang="zh-CN" altLang="en-US" sz="3600" b="1" strike="noStrike" noProof="1">
                <a:solidFill>
                  <a:srgbClr val="C00000"/>
                </a:solidFill>
                <a:latin typeface="楷体" panose="02010609060101010101" charset="-122"/>
                <a:ea typeface="楷体" panose="02010609060101010101" charset="-122"/>
              </a:rPr>
              <a:t>、</a:t>
            </a:r>
            <a:r>
              <a:rPr lang="zh-CN" altLang="en-US" sz="3600" b="1" strike="noStrike" noProof="1">
                <a:ln>
                  <a:solidFill>
                    <a:srgbClr val="FF0000"/>
                  </a:solidFill>
                </a:ln>
                <a:solidFill>
                  <a:srgbClr val="C00000"/>
                </a:solidFill>
                <a:latin typeface="楷体" panose="02010609060101010101" charset="-122"/>
                <a:ea typeface="楷体" panose="02010609060101010101" charset="-122"/>
                <a:hlinkClick r:id="rId2" action="ppaction://hlinkfile"/>
              </a:rPr>
              <a:t>温室效应加剧</a:t>
            </a:r>
            <a:br>
              <a:rPr lang="zh-CN" altLang="en-US" dirty="0">
                <a:solidFill>
                  <a:srgbClr val="C00000"/>
                </a:solidFill>
                <a:latin typeface="楷体" panose="02010609060101010101" charset="-122"/>
                <a:ea typeface="楷体" panose="02010609060101010101" charset="-122"/>
              </a:rPr>
            </a:br>
            <a:endParaRPr lang="zh-CN" altLang="en-US" strike="noStrike" noProof="1">
              <a:solidFill>
                <a:srgbClr val="C00000"/>
              </a:solidFill>
              <a:latin typeface="楷体" panose="02010609060101010101" charset="-122"/>
              <a:ea typeface="楷体" panose="02010609060101010101" charset="-122"/>
            </a:endParaRPr>
          </a:p>
        </p:txBody>
      </p:sp>
      <p:sp>
        <p:nvSpPr>
          <p:cNvPr id="40963" name="内容占位符 40962"/>
          <p:cNvSpPr>
            <a:spLocks noGrp="1"/>
          </p:cNvSpPr>
          <p:nvPr>
            <p:ph idx="1"/>
          </p:nvPr>
        </p:nvSpPr>
        <p:spPr>
          <a:xfrm>
            <a:off x="457200" y="1417955"/>
            <a:ext cx="8229600" cy="4525963"/>
          </a:xfrm>
          <a:noFill/>
          <a:ln>
            <a:noFill/>
          </a:ln>
        </p:spPr>
        <p:txBody>
          <a:bodyPr anchor="t"/>
          <a:lstStyle/>
          <a:p>
            <a:pPr>
              <a:buNone/>
            </a:pPr>
            <a:r>
              <a:rPr lang="en-US" altLang="zh-CN" sz="2800" b="1" dirty="0">
                <a:solidFill>
                  <a:srgbClr val="FFFF66"/>
                </a:solidFill>
              </a:rPr>
              <a:t> </a:t>
            </a:r>
            <a:endParaRPr lang="en-US" altLang="zh-CN" sz="2800" b="1" dirty="0"/>
          </a:p>
          <a:p>
            <a:pPr>
              <a:buNone/>
            </a:pPr>
            <a:endParaRPr lang="en-US" altLang="zh-CN" sz="1800" b="1" dirty="0">
              <a:solidFill>
                <a:schemeClr val="bg1"/>
              </a:solidFill>
            </a:endParaRPr>
          </a:p>
          <a:p>
            <a:pPr>
              <a:buNone/>
            </a:pPr>
            <a:r>
              <a:rPr lang="zh-CN" altLang="en-US" sz="2000" b="1" dirty="0">
                <a:solidFill>
                  <a:schemeClr val="tx1"/>
                </a:solidFill>
              </a:rPr>
              <a:t>太阳辐射能量的</a:t>
            </a:r>
            <a:r>
              <a:rPr lang="en-US" altLang="zh-CN" sz="2000" b="1" dirty="0">
                <a:solidFill>
                  <a:schemeClr val="tx1"/>
                </a:solidFill>
              </a:rPr>
              <a:t>99%</a:t>
            </a:r>
            <a:r>
              <a:rPr lang="zh-CN" altLang="en-US" sz="2000" b="1" dirty="0">
                <a:solidFill>
                  <a:schemeClr val="tx1"/>
                </a:solidFill>
              </a:rPr>
              <a:t>在波长</a:t>
            </a:r>
            <a:r>
              <a:rPr lang="en-US" altLang="zh-CN" sz="2000" b="1">
                <a:solidFill>
                  <a:schemeClr val="tx1"/>
                </a:solidFill>
              </a:rPr>
              <a:t>150~4000nm </a:t>
            </a:r>
          </a:p>
          <a:p>
            <a:pPr>
              <a:buNone/>
            </a:pPr>
            <a:r>
              <a:rPr lang="en-US" altLang="zh-CN" sz="2000" b="1">
                <a:solidFill>
                  <a:schemeClr val="tx1"/>
                </a:solidFill>
              </a:rPr>
              <a:t>        </a:t>
            </a:r>
            <a:r>
              <a:rPr lang="zh-CN" altLang="en-US" sz="2000" b="1" dirty="0">
                <a:solidFill>
                  <a:schemeClr val="tx1"/>
                </a:solidFill>
              </a:rPr>
              <a:t>＜</a:t>
            </a:r>
            <a:r>
              <a:rPr lang="en-US" altLang="zh-CN" sz="2000" b="1" dirty="0">
                <a:solidFill>
                  <a:schemeClr val="tx1"/>
                </a:solidFill>
              </a:rPr>
              <a:t>400nm </a:t>
            </a:r>
            <a:r>
              <a:rPr lang="zh-CN" altLang="en-US" sz="2000" b="1" dirty="0">
                <a:solidFill>
                  <a:schemeClr val="tx1"/>
                </a:solidFill>
              </a:rPr>
              <a:t>紫外光，</a:t>
            </a:r>
          </a:p>
          <a:p>
            <a:pPr>
              <a:buNone/>
            </a:pPr>
            <a:r>
              <a:rPr lang="zh-CN" altLang="en-US" sz="2000" b="1" dirty="0">
                <a:solidFill>
                  <a:schemeClr val="tx1"/>
                </a:solidFill>
              </a:rPr>
              <a:t>    </a:t>
            </a:r>
            <a:r>
              <a:rPr lang="en-US" altLang="zh-CN" sz="2000" b="1" dirty="0">
                <a:solidFill>
                  <a:schemeClr val="tx1"/>
                </a:solidFill>
              </a:rPr>
              <a:t>400~800nm </a:t>
            </a:r>
            <a:r>
              <a:rPr lang="zh-CN" altLang="en-US" sz="2000" b="1" dirty="0">
                <a:solidFill>
                  <a:schemeClr val="tx1"/>
                </a:solidFill>
              </a:rPr>
              <a:t>可见光，</a:t>
            </a:r>
          </a:p>
          <a:p>
            <a:pPr>
              <a:buNone/>
            </a:pPr>
            <a:r>
              <a:rPr lang="zh-CN" altLang="en-US" sz="2000" b="1" dirty="0">
                <a:solidFill>
                  <a:schemeClr val="tx1"/>
                </a:solidFill>
              </a:rPr>
              <a:t>        ＞</a:t>
            </a:r>
            <a:r>
              <a:rPr lang="en-US" altLang="zh-CN" sz="2000" b="1" dirty="0">
                <a:solidFill>
                  <a:schemeClr val="tx1"/>
                </a:solidFill>
              </a:rPr>
              <a:t>800nm </a:t>
            </a:r>
            <a:r>
              <a:rPr lang="zh-CN" altLang="en-US" sz="2000" b="1" dirty="0">
                <a:solidFill>
                  <a:schemeClr val="tx1"/>
                </a:solidFill>
              </a:rPr>
              <a:t>红外光</a:t>
            </a:r>
          </a:p>
          <a:p>
            <a:pPr>
              <a:buNone/>
            </a:pPr>
            <a:r>
              <a:rPr lang="en-US" altLang="zh-CN" sz="2000" b="1">
                <a:solidFill>
                  <a:schemeClr val="tx1"/>
                </a:solidFill>
              </a:rPr>
              <a:t>CO</a:t>
            </a:r>
            <a:r>
              <a:rPr lang="en-US" altLang="zh-CN" sz="2000" b="1" baseline="-25000">
                <a:solidFill>
                  <a:schemeClr val="tx1"/>
                </a:solidFill>
              </a:rPr>
              <a:t>2</a:t>
            </a:r>
            <a:r>
              <a:rPr lang="zh-CN" altLang="en-US" sz="2000" b="1" dirty="0">
                <a:solidFill>
                  <a:schemeClr val="tx1"/>
                </a:solidFill>
              </a:rPr>
              <a:t>在</a:t>
            </a:r>
            <a:r>
              <a:rPr lang="en-US" altLang="zh-CN" sz="2000" b="1" dirty="0">
                <a:solidFill>
                  <a:schemeClr val="tx1"/>
                </a:solidFill>
              </a:rPr>
              <a:t>4300nm</a:t>
            </a:r>
            <a:r>
              <a:rPr lang="zh-CN" altLang="en-US" sz="2000" b="1" dirty="0">
                <a:solidFill>
                  <a:schemeClr val="tx1"/>
                </a:solidFill>
              </a:rPr>
              <a:t>附近有一个强吸收带</a:t>
            </a:r>
          </a:p>
        </p:txBody>
      </p:sp>
      <p:sp>
        <p:nvSpPr>
          <p:cNvPr id="40983" name="文本框 40982"/>
          <p:cNvSpPr txBox="1"/>
          <p:nvPr/>
        </p:nvSpPr>
        <p:spPr>
          <a:xfrm>
            <a:off x="609600" y="1273175"/>
            <a:ext cx="4419600" cy="519113"/>
          </a:xfrm>
          <a:prstGeom prst="rect">
            <a:avLst/>
          </a:prstGeom>
          <a:noFill/>
          <a:ln w="9525">
            <a:noFill/>
          </a:ln>
        </p:spPr>
        <p:txBody>
          <a:bodyPr anchor="t">
            <a:spAutoFit/>
          </a:bodyPr>
          <a:lstStyle/>
          <a:p>
            <a:pPr>
              <a:spcBef>
                <a:spcPct val="50000"/>
              </a:spcBef>
            </a:pPr>
            <a:r>
              <a:rPr lang="en-US" altLang="zh-CN" sz="2800" noProof="1">
                <a:solidFill>
                  <a:schemeClr val="tx1"/>
                </a:solidFill>
                <a:latin typeface="Times New Roman" panose="02020603050405020304" pitchFamily="18" charset="0"/>
                <a:ea typeface="宋体" panose="02010600030101010101" pitchFamily="2" charset="-122"/>
                <a:cs typeface="+mn-cs"/>
              </a:rPr>
              <a:t>1</a:t>
            </a:r>
            <a:r>
              <a:rPr lang="zh-CN" altLang="en-US" sz="2800" noProof="1">
                <a:solidFill>
                  <a:schemeClr val="tx1"/>
                </a:solidFill>
                <a:latin typeface="Times New Roman" panose="02020603050405020304" pitchFamily="18" charset="0"/>
                <a:ea typeface="宋体" panose="02010600030101010101" pitchFamily="2" charset="-122"/>
                <a:cs typeface="+mn-cs"/>
              </a:rPr>
              <a:t>）</a:t>
            </a:r>
            <a:r>
              <a:rPr lang="en-US" altLang="zh-CN" sz="2800" noProof="1">
                <a:solidFill>
                  <a:schemeClr val="tx1"/>
                </a:solidFill>
                <a:latin typeface="Times New Roman" panose="02020603050405020304" pitchFamily="18" charset="0"/>
                <a:ea typeface="宋体" panose="02010600030101010101" pitchFamily="2" charset="-122"/>
                <a:cs typeface="+mn-cs"/>
              </a:rPr>
              <a:t>CO</a:t>
            </a:r>
            <a:r>
              <a:rPr lang="en-US" altLang="zh-CN" sz="2800" baseline="-25000" noProof="1">
                <a:solidFill>
                  <a:schemeClr val="tx1"/>
                </a:solidFill>
                <a:latin typeface="Times New Roman" panose="02020603050405020304" pitchFamily="18" charset="0"/>
                <a:ea typeface="宋体" panose="02010600030101010101" pitchFamily="2" charset="-122"/>
                <a:cs typeface="+mn-cs"/>
              </a:rPr>
              <a:t>2</a:t>
            </a:r>
            <a:r>
              <a:rPr lang="zh-CN" altLang="en-US" sz="2800" noProof="1">
                <a:solidFill>
                  <a:schemeClr val="tx1"/>
                </a:solidFill>
                <a:latin typeface="Times New Roman" panose="02020603050405020304" pitchFamily="18" charset="0"/>
                <a:ea typeface="宋体" panose="02010600030101010101" pitchFamily="2" charset="-122"/>
                <a:cs typeface="+mn-cs"/>
              </a:rPr>
              <a:t>与</a:t>
            </a:r>
            <a:r>
              <a:rPr lang="zh-CN" altLang="en-US" sz="2800" noProof="1">
                <a:ln>
                  <a:solidFill>
                    <a:srgbClr val="FF0000"/>
                  </a:solidFill>
                </a:ln>
                <a:solidFill>
                  <a:schemeClr val="tx1"/>
                </a:solidFill>
                <a:latin typeface="Times New Roman" panose="02020603050405020304" pitchFamily="18" charset="0"/>
                <a:ea typeface="宋体" panose="02010600030101010101" pitchFamily="2" charset="-122"/>
                <a:cs typeface="+mn-cs"/>
                <a:hlinkClick r:id="rId3" action="ppaction://hlinkfile"/>
              </a:rPr>
              <a:t>温室效应</a:t>
            </a:r>
          </a:p>
        </p:txBody>
      </p:sp>
      <p:sp>
        <p:nvSpPr>
          <p:cNvPr id="40977" name="文本框 40976"/>
          <p:cNvSpPr txBox="1"/>
          <p:nvPr/>
        </p:nvSpPr>
        <p:spPr>
          <a:xfrm>
            <a:off x="457200" y="4495800"/>
            <a:ext cx="5410200" cy="1552575"/>
          </a:xfrm>
          <a:prstGeom prst="rect">
            <a:avLst/>
          </a:prstGeom>
          <a:solidFill>
            <a:srgbClr val="A50021"/>
          </a:solidFill>
          <a:ln w="9525">
            <a:noFill/>
          </a:ln>
          <a:effectLst>
            <a:outerShdw dist="107763" dir="2699999" algn="ctr" rotWithShape="0">
              <a:schemeClr val="tx1"/>
            </a:outerShdw>
          </a:effectLst>
        </p:spPr>
        <p:txBody>
          <a:bodyPr anchor="t">
            <a:spAutoFit/>
          </a:bodyPr>
          <a:lstStyle/>
          <a:p>
            <a:r>
              <a:rPr lang="en-US" altLang="zh-CN" b="1">
                <a:solidFill>
                  <a:schemeClr val="bg1"/>
                </a:solidFill>
                <a:latin typeface="Times New Roman" panose="02020603050405020304" pitchFamily="18" charset="0"/>
                <a:ea typeface="宋体" panose="02010600030101010101" pitchFamily="2" charset="-122"/>
              </a:rPr>
              <a:t>CO</a:t>
            </a:r>
            <a:r>
              <a:rPr lang="en-US" altLang="zh-CN" b="1" baseline="-25000">
                <a:solidFill>
                  <a:schemeClr val="bg1"/>
                </a:solidFill>
                <a:latin typeface="Times New Roman" panose="02020603050405020304" pitchFamily="18" charset="0"/>
                <a:ea typeface="宋体" panose="02010600030101010101" pitchFamily="2" charset="-122"/>
              </a:rPr>
              <a:t>2</a:t>
            </a:r>
            <a:r>
              <a:rPr lang="zh-CN" altLang="en-US" b="1" dirty="0">
                <a:solidFill>
                  <a:schemeClr val="bg1"/>
                </a:solidFill>
                <a:latin typeface="Times New Roman" panose="02020603050405020304" pitchFamily="18" charset="0"/>
                <a:ea typeface="宋体" panose="02010600030101010101" pitchFamily="2" charset="-122"/>
              </a:rPr>
              <a:t>的排放量：  </a:t>
            </a:r>
            <a:r>
              <a:rPr lang="en-US" altLang="zh-CN" b="1" dirty="0">
                <a:solidFill>
                  <a:schemeClr val="bg1"/>
                </a:solidFill>
                <a:latin typeface="Times New Roman" panose="02020603050405020304" pitchFamily="18" charset="0"/>
                <a:ea typeface="宋体" panose="02010600030101010101" pitchFamily="2" charset="-122"/>
              </a:rPr>
              <a:t>20</a:t>
            </a:r>
            <a:r>
              <a:rPr lang="zh-CN" altLang="en-US" b="1" dirty="0">
                <a:solidFill>
                  <a:schemeClr val="bg1"/>
                </a:solidFill>
                <a:latin typeface="Times New Roman" panose="02020603050405020304" pitchFamily="18" charset="0"/>
                <a:ea typeface="宋体" panose="02010600030101010101" pitchFamily="2" charset="-122"/>
              </a:rPr>
              <a:t>世纪初   </a:t>
            </a:r>
            <a:r>
              <a:rPr lang="en-US" altLang="zh-CN" b="1" dirty="0">
                <a:solidFill>
                  <a:schemeClr val="bg1"/>
                </a:solidFill>
                <a:latin typeface="Times New Roman" panose="02020603050405020304" pitchFamily="18" charset="0"/>
                <a:ea typeface="宋体" panose="02010600030101010101" pitchFamily="2" charset="-122"/>
              </a:rPr>
              <a:t>1</a:t>
            </a:r>
            <a:r>
              <a:rPr lang="zh-CN" altLang="en-US" b="1" dirty="0">
                <a:solidFill>
                  <a:schemeClr val="bg1"/>
                </a:solidFill>
                <a:latin typeface="Times New Roman" panose="02020603050405020304" pitchFamily="18" charset="0"/>
                <a:ea typeface="宋体" panose="02010600030101010101" pitchFamily="2" charset="-122"/>
              </a:rPr>
              <a:t>亿吨</a:t>
            </a:r>
          </a:p>
          <a:p>
            <a:r>
              <a:rPr lang="zh-CN" altLang="en-US" b="1" dirty="0">
                <a:solidFill>
                  <a:schemeClr val="bg1"/>
                </a:solidFill>
                <a:latin typeface="Times New Roman" panose="02020603050405020304" pitchFamily="18" charset="0"/>
                <a:ea typeface="宋体" panose="02010600030101010101" pitchFamily="2" charset="-122"/>
              </a:rPr>
              <a:t>                                </a:t>
            </a:r>
            <a:r>
              <a:rPr lang="en-US" altLang="zh-CN" b="1" dirty="0">
                <a:solidFill>
                  <a:schemeClr val="bg1"/>
                </a:solidFill>
                <a:latin typeface="Times New Roman" panose="02020603050405020304" pitchFamily="18" charset="0"/>
                <a:ea typeface="宋体" panose="02010600030101010101" pitchFamily="2" charset="-122"/>
              </a:rPr>
              <a:t>50</a:t>
            </a:r>
            <a:r>
              <a:rPr lang="zh-CN" altLang="en-US" b="1" dirty="0">
                <a:solidFill>
                  <a:schemeClr val="bg1"/>
                </a:solidFill>
                <a:latin typeface="Times New Roman" panose="02020603050405020304" pitchFamily="18" charset="0"/>
                <a:ea typeface="宋体" panose="02010600030101010101" pitchFamily="2" charset="-122"/>
              </a:rPr>
              <a:t>年代    </a:t>
            </a:r>
            <a:r>
              <a:rPr lang="en-US" altLang="zh-CN" b="1" dirty="0">
                <a:solidFill>
                  <a:schemeClr val="bg1"/>
                </a:solidFill>
                <a:latin typeface="Times New Roman" panose="02020603050405020304" pitchFamily="18" charset="0"/>
                <a:ea typeface="宋体" panose="02010600030101010101" pitchFamily="2" charset="-122"/>
              </a:rPr>
              <a:t>16</a:t>
            </a:r>
            <a:r>
              <a:rPr lang="zh-CN" altLang="en-US" b="1" dirty="0">
                <a:solidFill>
                  <a:schemeClr val="bg1"/>
                </a:solidFill>
                <a:latin typeface="Times New Roman" panose="02020603050405020304" pitchFamily="18" charset="0"/>
                <a:ea typeface="宋体" panose="02010600030101010101" pitchFamily="2" charset="-122"/>
              </a:rPr>
              <a:t>亿吨</a:t>
            </a:r>
          </a:p>
          <a:p>
            <a:r>
              <a:rPr lang="zh-CN" altLang="en-US" b="1" dirty="0">
                <a:solidFill>
                  <a:schemeClr val="bg1"/>
                </a:solidFill>
                <a:latin typeface="Times New Roman" panose="02020603050405020304" pitchFamily="18" charset="0"/>
                <a:ea typeface="宋体" panose="02010600030101010101" pitchFamily="2" charset="-122"/>
              </a:rPr>
              <a:t>                                </a:t>
            </a:r>
            <a:r>
              <a:rPr lang="en-US" altLang="zh-CN" b="1" dirty="0">
                <a:solidFill>
                  <a:schemeClr val="bg1"/>
                </a:solidFill>
                <a:latin typeface="Times New Roman" panose="02020603050405020304" pitchFamily="18" charset="0"/>
                <a:ea typeface="宋体" panose="02010600030101010101" pitchFamily="2" charset="-122"/>
              </a:rPr>
              <a:t>80</a:t>
            </a:r>
            <a:r>
              <a:rPr lang="zh-CN" altLang="en-US" b="1" dirty="0">
                <a:solidFill>
                  <a:schemeClr val="bg1"/>
                </a:solidFill>
                <a:latin typeface="Times New Roman" panose="02020603050405020304" pitchFamily="18" charset="0"/>
                <a:ea typeface="宋体" panose="02010600030101010101" pitchFamily="2" charset="-122"/>
              </a:rPr>
              <a:t>年代    </a:t>
            </a:r>
            <a:r>
              <a:rPr lang="en-US" altLang="zh-CN" b="1" dirty="0">
                <a:solidFill>
                  <a:schemeClr val="bg1"/>
                </a:solidFill>
                <a:latin typeface="Times New Roman" panose="02020603050405020304" pitchFamily="18" charset="0"/>
                <a:ea typeface="宋体" panose="02010600030101010101" pitchFamily="2" charset="-122"/>
              </a:rPr>
              <a:t>55</a:t>
            </a:r>
            <a:r>
              <a:rPr lang="zh-CN" altLang="en-US" b="1" dirty="0">
                <a:solidFill>
                  <a:schemeClr val="bg1"/>
                </a:solidFill>
                <a:latin typeface="Times New Roman" panose="02020603050405020304" pitchFamily="18" charset="0"/>
                <a:ea typeface="宋体" panose="02010600030101010101" pitchFamily="2" charset="-122"/>
              </a:rPr>
              <a:t>亿吨</a:t>
            </a:r>
          </a:p>
          <a:p>
            <a:r>
              <a:rPr lang="zh-CN" altLang="en-US" b="1" dirty="0">
                <a:solidFill>
                  <a:schemeClr val="bg1"/>
                </a:solidFill>
                <a:latin typeface="Times New Roman" panose="02020603050405020304" pitchFamily="18" charset="0"/>
                <a:ea typeface="宋体" panose="02010600030101010101" pitchFamily="2" charset="-122"/>
              </a:rPr>
              <a:t>                                </a:t>
            </a:r>
            <a:r>
              <a:rPr lang="en-US" altLang="zh-CN" b="1" dirty="0">
                <a:solidFill>
                  <a:schemeClr val="bg1"/>
                </a:solidFill>
                <a:latin typeface="Times New Roman" panose="02020603050405020304" pitchFamily="18" charset="0"/>
                <a:ea typeface="宋体" panose="02010600030101010101" pitchFamily="2" charset="-122"/>
              </a:rPr>
              <a:t>90</a:t>
            </a:r>
            <a:r>
              <a:rPr lang="zh-CN" altLang="en-US" b="1" dirty="0">
                <a:solidFill>
                  <a:schemeClr val="bg1"/>
                </a:solidFill>
                <a:latin typeface="Times New Roman" panose="02020603050405020304" pitchFamily="18" charset="0"/>
                <a:ea typeface="宋体" panose="02010600030101010101" pitchFamily="2" charset="-122"/>
              </a:rPr>
              <a:t>年代</a:t>
            </a:r>
            <a:endParaRPr lang="zh-CN" altLang="en-US" b="1">
              <a:solidFill>
                <a:schemeClr val="bg1"/>
              </a:solidFill>
              <a:latin typeface="Times New Roman" panose="02020603050405020304" pitchFamily="18" charset="0"/>
              <a:ea typeface="宋体" panose="02010600030101010101" pitchFamily="2"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983"/>
                                        </p:tgtEl>
                                        <p:attrNameLst>
                                          <p:attrName>style.visibility</p:attrName>
                                        </p:attrNameLst>
                                      </p:cBhvr>
                                      <p:to>
                                        <p:strVal val="visible"/>
                                      </p:to>
                                    </p:set>
                                    <p:anim calcmode="lin" valueType="num">
                                      <p:cBhvr additive="base">
                                        <p:cTn id="7" dur="500" fill="hold"/>
                                        <p:tgtEl>
                                          <p:spTgt spid="40983"/>
                                        </p:tgtEl>
                                        <p:attrNameLst>
                                          <p:attrName>ppt_x</p:attrName>
                                        </p:attrNameLst>
                                      </p:cBhvr>
                                      <p:tavLst>
                                        <p:tav tm="0">
                                          <p:val>
                                            <p:strVal val="0-#ppt_w/2"/>
                                          </p:val>
                                        </p:tav>
                                        <p:tav tm="100000">
                                          <p:val>
                                            <p:strVal val="#ppt_x"/>
                                          </p:val>
                                        </p:tav>
                                      </p:tavLst>
                                    </p:anim>
                                    <p:anim calcmode="lin" valueType="num">
                                      <p:cBhvr additive="base">
                                        <p:cTn id="8" dur="500" fill="hold"/>
                                        <p:tgtEl>
                                          <p:spTgt spid="409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0963"/>
                                        </p:tgtEl>
                                        <p:attrNameLst>
                                          <p:attrName>style.visibility</p:attrName>
                                        </p:attrNameLst>
                                      </p:cBhvr>
                                      <p:to>
                                        <p:strVal val="visible"/>
                                      </p:to>
                                    </p:set>
                                    <p:animEffect transition="in" filter="blinds(horizontal)">
                                      <p:cBhvr>
                                        <p:cTn id="13" dur="500"/>
                                        <p:tgtEl>
                                          <p:spTgt spid="40963"/>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40977"/>
                                        </p:tgtEl>
                                        <p:attrNameLst>
                                          <p:attrName>style.visibility</p:attrName>
                                        </p:attrNameLst>
                                      </p:cBhvr>
                                      <p:to>
                                        <p:strVal val="visible"/>
                                      </p:to>
                                    </p:set>
                                    <p:animEffect transition="in" filter="barn(outVertical)">
                                      <p:cBhvr>
                                        <p:cTn id="18" dur="500"/>
                                        <p:tgtEl>
                                          <p:spTgt spid="409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p:bldP spid="40983" grpId="0"/>
      <p:bldP spid="4097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44033"/>
          <p:cNvSpPr>
            <a:spLocks noGrp="1"/>
          </p:cNvSpPr>
          <p:nvPr>
            <p:ph type="title"/>
          </p:nvPr>
        </p:nvSpPr>
        <p:spPr>
          <a:noFill/>
          <a:ln>
            <a:noFill/>
          </a:ln>
        </p:spPr>
        <p:txBody>
          <a:bodyPr anchor="ctr"/>
          <a:lstStyle/>
          <a:p>
            <a:r>
              <a:rPr lang="en-US" altLang="zh-CN" sz="3200" b="1" dirty="0">
                <a:solidFill>
                  <a:schemeClr val="tx1"/>
                </a:solidFill>
              </a:rPr>
              <a:t>2</a:t>
            </a:r>
            <a:r>
              <a:rPr lang="zh-CN" altLang="en-US" sz="3200" b="1" dirty="0">
                <a:solidFill>
                  <a:schemeClr val="tx1"/>
                </a:solidFill>
              </a:rPr>
              <a:t>）其他温室气体</a:t>
            </a:r>
          </a:p>
        </p:txBody>
      </p:sp>
      <p:sp>
        <p:nvSpPr>
          <p:cNvPr id="44035" name="内容占位符 44034"/>
          <p:cNvSpPr>
            <a:spLocks noGrp="1"/>
          </p:cNvSpPr>
          <p:nvPr>
            <p:ph idx="1"/>
          </p:nvPr>
        </p:nvSpPr>
        <p:spPr>
          <a:xfrm>
            <a:off x="457200" y="1600200"/>
            <a:ext cx="3062605" cy="4526280"/>
          </a:xfrm>
          <a:noFill/>
          <a:ln>
            <a:noFill/>
          </a:ln>
        </p:spPr>
        <p:txBody>
          <a:bodyPr anchor="t"/>
          <a:lstStyle/>
          <a:p>
            <a:pPr>
              <a:lnSpc>
                <a:spcPct val="90000"/>
              </a:lnSpc>
              <a:buNone/>
            </a:pPr>
            <a:r>
              <a:rPr lang="en-US" altLang="zh-CN" sz="2400" b="1">
                <a:solidFill>
                  <a:schemeClr val="tx1"/>
                </a:solidFill>
              </a:rPr>
              <a:t>H</a:t>
            </a:r>
            <a:r>
              <a:rPr lang="en-US" altLang="zh-CN" sz="2400" b="1" baseline="-25000">
                <a:solidFill>
                  <a:schemeClr val="tx1"/>
                </a:solidFill>
              </a:rPr>
              <a:t>2</a:t>
            </a:r>
            <a:r>
              <a:rPr lang="en-US" altLang="zh-CN" sz="2400" b="1">
                <a:solidFill>
                  <a:schemeClr val="tx1"/>
                </a:solidFill>
              </a:rPr>
              <a:t>O  CH</a:t>
            </a:r>
            <a:r>
              <a:rPr lang="en-US" altLang="zh-CN" sz="2400" b="1" baseline="-25000">
                <a:solidFill>
                  <a:schemeClr val="tx1"/>
                </a:solidFill>
              </a:rPr>
              <a:t>4</a:t>
            </a:r>
            <a:r>
              <a:rPr lang="en-US" altLang="zh-CN" sz="2400" b="1">
                <a:solidFill>
                  <a:schemeClr val="tx1"/>
                </a:solidFill>
              </a:rPr>
              <a:t>  N</a:t>
            </a:r>
            <a:r>
              <a:rPr lang="en-US" altLang="zh-CN" sz="2400" b="1" baseline="-25000">
                <a:solidFill>
                  <a:schemeClr val="tx1"/>
                </a:solidFill>
              </a:rPr>
              <a:t>2</a:t>
            </a:r>
            <a:r>
              <a:rPr lang="en-US" altLang="zh-CN" sz="2400" b="1">
                <a:solidFill>
                  <a:schemeClr val="tx1"/>
                </a:solidFill>
              </a:rPr>
              <a:t>O  O</a:t>
            </a:r>
            <a:r>
              <a:rPr lang="en-US" altLang="zh-CN" sz="2400" b="1" baseline="-25000">
                <a:solidFill>
                  <a:schemeClr val="tx1"/>
                </a:solidFill>
              </a:rPr>
              <a:t>3</a:t>
            </a:r>
            <a:r>
              <a:rPr lang="en-US" altLang="zh-CN" sz="2400" b="1" dirty="0">
                <a:solidFill>
                  <a:schemeClr val="tx1"/>
                </a:solidFill>
              </a:rPr>
              <a:t>  CFC</a:t>
            </a:r>
            <a:r>
              <a:rPr lang="zh-CN" altLang="en-US" sz="2400" b="1" dirty="0">
                <a:solidFill>
                  <a:schemeClr val="tx1"/>
                </a:solidFill>
              </a:rPr>
              <a:t>等多原子分子（</a:t>
            </a:r>
            <a:r>
              <a:rPr lang="en-US" altLang="zh-CN" sz="2400" b="1" dirty="0">
                <a:solidFill>
                  <a:schemeClr val="tx1"/>
                </a:solidFill>
              </a:rPr>
              <a:t>30</a:t>
            </a:r>
            <a:r>
              <a:rPr lang="zh-CN" altLang="en-US" sz="2400" b="1" dirty="0">
                <a:solidFill>
                  <a:schemeClr val="tx1"/>
                </a:solidFill>
              </a:rPr>
              <a:t>多种）</a:t>
            </a:r>
          </a:p>
          <a:p>
            <a:pPr lvl="2">
              <a:lnSpc>
                <a:spcPct val="90000"/>
              </a:lnSpc>
              <a:buNone/>
            </a:pPr>
            <a:r>
              <a:rPr lang="zh-CN" altLang="en-US" sz="2000" b="1" dirty="0">
                <a:solidFill>
                  <a:schemeClr val="tx1"/>
                </a:solidFill>
                <a:cs typeface="Arial" panose="020B0604020202020204" pitchFamily="34" charset="0"/>
              </a:rPr>
              <a:t> </a:t>
            </a:r>
            <a:endParaRPr lang="zh-CN" altLang="en-US" sz="2000" b="1" dirty="0">
              <a:solidFill>
                <a:schemeClr val="tx1"/>
              </a:solidFill>
              <a:ea typeface="Arial" panose="020B0604020202020204" pitchFamily="34" charset="0"/>
              <a:cs typeface="Arial" panose="020B0604020202020204" pitchFamily="34" charset="0"/>
            </a:endParaRPr>
          </a:p>
        </p:txBody>
      </p:sp>
      <p:pic>
        <p:nvPicPr>
          <p:cNvPr id="44039" name="图片 44038" descr="CG_Figure_22"/>
          <p:cNvPicPr>
            <a:picLocks noChangeAspect="1"/>
          </p:cNvPicPr>
          <p:nvPr/>
        </p:nvPicPr>
        <p:blipFill>
          <a:blip r:embed="rId2" cstate="print"/>
          <a:stretch>
            <a:fillRect/>
          </a:stretch>
        </p:blipFill>
        <p:spPr>
          <a:xfrm>
            <a:off x="3520440" y="1158240"/>
            <a:ext cx="4749800" cy="5410200"/>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blinds(horizontal)">
                                      <p:cBhvr>
                                        <p:cTn id="7" dur="500"/>
                                        <p:tgtEl>
                                          <p:spTgt spid="4403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4035">
                                            <p:txEl>
                                              <p:pRg st="1" end="1"/>
                                            </p:txEl>
                                          </p:spTgt>
                                        </p:tgtEl>
                                        <p:attrNameLst>
                                          <p:attrName>style.visibility</p:attrName>
                                        </p:attrNameLst>
                                      </p:cBhvr>
                                      <p:to>
                                        <p:strVal val="visible"/>
                                      </p:to>
                                    </p:set>
                                    <p:animEffect transition="in" filter="blinds(horizontal)">
                                      <p:cBhvr>
                                        <p:cTn id="10" dur="500"/>
                                        <p:tgtEl>
                                          <p:spTgt spid="4403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44039"/>
                                        </p:tgtEl>
                                        <p:attrNameLst>
                                          <p:attrName>style.visibility</p:attrName>
                                        </p:attrNameLst>
                                      </p:cBhvr>
                                      <p:to>
                                        <p:strVal val="visible"/>
                                      </p:to>
                                    </p:set>
                                    <p:animEffect transition="in" filter="dissolve">
                                      <p:cBhvr>
                                        <p:cTn id="15" dur="500"/>
                                        <p:tgtEl>
                                          <p:spTgt spid="440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45057"/>
          <p:cNvSpPr>
            <a:spLocks noGrp="1"/>
          </p:cNvSpPr>
          <p:nvPr>
            <p:ph type="title"/>
          </p:nvPr>
        </p:nvSpPr>
        <p:spPr/>
        <p:txBody>
          <a:bodyPr anchor="ctr"/>
          <a:lstStyle/>
          <a:p>
            <a:pPr algn="l" fontAlgn="base"/>
            <a:r>
              <a:rPr lang="en-US" altLang="zh-CN" sz="3200" b="1" strike="noStrike" noProof="1">
                <a:solidFill>
                  <a:schemeClr val="tx1"/>
                </a:solidFill>
              </a:rPr>
              <a:t>3</a:t>
            </a:r>
            <a:r>
              <a:rPr lang="zh-CN" altLang="en-US" sz="3200" b="1" strike="noStrike" noProof="1">
                <a:solidFill>
                  <a:schemeClr val="tx1"/>
                </a:solidFill>
              </a:rPr>
              <a:t>） </a:t>
            </a:r>
            <a:r>
              <a:rPr lang="zh-CN" altLang="en-US" sz="3200" b="1" strike="noStrike" noProof="1">
                <a:ln>
                  <a:solidFill>
                    <a:srgbClr val="FF0000"/>
                  </a:solidFill>
                </a:ln>
                <a:solidFill>
                  <a:schemeClr val="tx1"/>
                </a:solidFill>
                <a:hlinkClick r:id="rId2" action="ppaction://hlinkfile"/>
              </a:rPr>
              <a:t>温室效应对人类的影响</a:t>
            </a:r>
          </a:p>
        </p:txBody>
      </p:sp>
      <p:sp>
        <p:nvSpPr>
          <p:cNvPr id="45059" name="内容占位符 45058"/>
          <p:cNvSpPr>
            <a:spLocks noGrp="1"/>
          </p:cNvSpPr>
          <p:nvPr>
            <p:ph idx="1"/>
          </p:nvPr>
        </p:nvSpPr>
        <p:spPr>
          <a:noFill/>
          <a:ln>
            <a:noFill/>
          </a:ln>
        </p:spPr>
        <p:txBody>
          <a:bodyPr anchor="t"/>
          <a:lstStyle/>
          <a:p>
            <a:pPr>
              <a:buNone/>
            </a:pPr>
            <a:endParaRPr lang="en-US" altLang="zh-CN" b="1" dirty="0"/>
          </a:p>
          <a:p>
            <a:pPr>
              <a:buNone/>
            </a:pPr>
            <a:r>
              <a:rPr lang="en-US" altLang="zh-CN" sz="2400" b="1" dirty="0"/>
              <a:t>《</a:t>
            </a:r>
            <a:r>
              <a:rPr lang="zh-CN" altLang="en-US" sz="2400" b="1" dirty="0"/>
              <a:t>联合国气候变化框架公约</a:t>
            </a:r>
            <a:r>
              <a:rPr lang="en-US" altLang="zh-CN" sz="2400" b="1" dirty="0"/>
              <a:t>》 1992</a:t>
            </a:r>
            <a:r>
              <a:rPr lang="zh-CN" altLang="en-US" sz="2400" b="1" dirty="0"/>
              <a:t>年（</a:t>
            </a:r>
            <a:r>
              <a:rPr lang="en-US" altLang="zh-CN" sz="2400" b="1" dirty="0"/>
              <a:t>155</a:t>
            </a:r>
            <a:r>
              <a:rPr lang="zh-CN" altLang="en-US" sz="2400" b="1" dirty="0"/>
              <a:t>个国家签署）</a:t>
            </a:r>
          </a:p>
          <a:p>
            <a:pPr>
              <a:buNone/>
            </a:pPr>
            <a:r>
              <a:rPr lang="zh-CN" altLang="en-US" sz="2400" b="1" dirty="0"/>
              <a:t>主要原则：</a:t>
            </a:r>
          </a:p>
          <a:p>
            <a:r>
              <a:rPr lang="zh-CN" altLang="en-US" sz="2400" b="1" dirty="0"/>
              <a:t>气候变化是“人类共同关心的问题”</a:t>
            </a:r>
          </a:p>
          <a:p>
            <a:r>
              <a:rPr lang="zh-CN" altLang="en-US" sz="2400" b="1" dirty="0"/>
              <a:t>缔约国遵守“共同但又有区别的责任”</a:t>
            </a:r>
          </a:p>
          <a:p>
            <a:r>
              <a:rPr lang="zh-CN" altLang="en-US" sz="2400" b="1" dirty="0"/>
              <a:t>预防原则</a:t>
            </a:r>
          </a:p>
          <a:p>
            <a:r>
              <a:rPr lang="zh-CN" altLang="en-US" sz="2400" b="1" dirty="0"/>
              <a:t>可持续发展原则</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059"/>
                                        </p:tgtEl>
                                        <p:attrNameLst>
                                          <p:attrName>style.visibility</p:attrName>
                                        </p:attrNameLst>
                                      </p:cBhvr>
                                      <p:to>
                                        <p:strVal val="visible"/>
                                      </p:to>
                                    </p:set>
                                    <p:animEffect transition="in" filter="blinds(horizontal)">
                                      <p:cBhvr>
                                        <p:cTn id="7" dur="500"/>
                                        <p:tgtEl>
                                          <p:spTgt spid="45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55297"/>
          <p:cNvSpPr>
            <a:spLocks noGrp="1"/>
          </p:cNvSpPr>
          <p:nvPr>
            <p:ph type="title"/>
          </p:nvPr>
        </p:nvSpPr>
        <p:spPr>
          <a:noFill/>
          <a:ln>
            <a:noFill/>
          </a:ln>
        </p:spPr>
        <p:txBody>
          <a:bodyPr anchor="ctr"/>
          <a:lstStyle/>
          <a:p>
            <a:r>
              <a:rPr lang="en-US" altLang="zh-CN" sz="3200" b="1" dirty="0">
                <a:solidFill>
                  <a:schemeClr val="tx1"/>
                </a:solidFill>
              </a:rPr>
              <a:t>CFC</a:t>
            </a:r>
            <a:r>
              <a:rPr lang="zh-CN" altLang="en-US" sz="3200" b="1" dirty="0">
                <a:solidFill>
                  <a:schemeClr val="tx1"/>
                </a:solidFill>
              </a:rPr>
              <a:t>的替代品：</a:t>
            </a:r>
          </a:p>
        </p:txBody>
      </p:sp>
      <p:sp>
        <p:nvSpPr>
          <p:cNvPr id="55299" name="内容占位符 55298"/>
          <p:cNvSpPr>
            <a:spLocks noGrp="1"/>
          </p:cNvSpPr>
          <p:nvPr>
            <p:ph idx="1"/>
          </p:nvPr>
        </p:nvSpPr>
        <p:spPr>
          <a:noFill/>
          <a:ln>
            <a:noFill/>
          </a:ln>
        </p:spPr>
        <p:txBody>
          <a:bodyPr anchor="t"/>
          <a:lstStyle/>
          <a:p>
            <a:pPr lvl="1">
              <a:buNone/>
            </a:pPr>
            <a:r>
              <a:rPr lang="en-US" altLang="zh-CN" sz="2400" b="1" dirty="0">
                <a:solidFill>
                  <a:schemeClr val="tx1"/>
                </a:solidFill>
              </a:rPr>
              <a:t>1</a:t>
            </a:r>
            <a:r>
              <a:rPr lang="zh-CN" altLang="en-US" sz="2400" b="1" dirty="0">
                <a:solidFill>
                  <a:schemeClr val="tx1"/>
                </a:solidFill>
                <a:cs typeface="Arial" panose="020B0604020202020204" pitchFamily="34" charset="0"/>
              </a:rPr>
              <a:t>）氢氟烃（</a:t>
            </a:r>
            <a:r>
              <a:rPr lang="en-US" altLang="zh-CN" sz="2400" b="1" dirty="0">
                <a:solidFill>
                  <a:schemeClr val="tx1"/>
                </a:solidFill>
              </a:rPr>
              <a:t>HFC</a:t>
            </a:r>
            <a:r>
              <a:rPr lang="zh-CN" altLang="en-US" sz="2400" b="1" dirty="0">
                <a:solidFill>
                  <a:schemeClr val="tx1"/>
                </a:solidFill>
                <a:cs typeface="Arial" panose="020B0604020202020204" pitchFamily="34" charset="0"/>
              </a:rPr>
              <a:t>）  不含</a:t>
            </a:r>
            <a:r>
              <a:rPr lang="en-US" altLang="zh-CN" sz="2400" b="1" err="1">
                <a:solidFill>
                  <a:schemeClr val="tx1"/>
                </a:solidFill>
              </a:rPr>
              <a:t>Cl</a:t>
            </a:r>
            <a:r>
              <a:rPr lang="zh-CN" altLang="en-US" sz="2400" b="1" dirty="0">
                <a:solidFill>
                  <a:schemeClr val="tx1"/>
                </a:solidFill>
                <a:cs typeface="Arial" panose="020B0604020202020204" pitchFamily="34" charset="0"/>
              </a:rPr>
              <a:t>，但制冷效果较差</a:t>
            </a:r>
          </a:p>
          <a:p>
            <a:pPr lvl="1">
              <a:buNone/>
            </a:pPr>
            <a:r>
              <a:rPr lang="en-US" altLang="zh-CN" sz="2400" b="1" dirty="0">
                <a:solidFill>
                  <a:schemeClr val="tx1"/>
                </a:solidFill>
              </a:rPr>
              <a:t>2</a:t>
            </a:r>
            <a:r>
              <a:rPr lang="zh-CN" altLang="en-US" sz="2400" b="1" dirty="0">
                <a:solidFill>
                  <a:schemeClr val="tx1"/>
                </a:solidFill>
                <a:cs typeface="Arial" panose="020B0604020202020204" pitchFamily="34" charset="0"/>
              </a:rPr>
              <a:t>）氟碘烃（</a:t>
            </a:r>
            <a:r>
              <a:rPr lang="en-US" altLang="zh-CN" sz="2400" b="1">
                <a:solidFill>
                  <a:schemeClr val="tx1"/>
                </a:solidFill>
              </a:rPr>
              <a:t>CF</a:t>
            </a:r>
            <a:r>
              <a:rPr lang="en-US" altLang="zh-CN" sz="2400" b="1" baseline="-25000">
                <a:solidFill>
                  <a:schemeClr val="tx1"/>
                </a:solidFill>
              </a:rPr>
              <a:t>3</a:t>
            </a:r>
            <a:r>
              <a:rPr lang="en-US" altLang="zh-CN" sz="2400" b="1">
                <a:solidFill>
                  <a:schemeClr val="tx1"/>
                </a:solidFill>
              </a:rPr>
              <a:t>I</a:t>
            </a:r>
            <a:r>
              <a:rPr lang="zh-CN" altLang="en-US" sz="2400" b="1">
                <a:solidFill>
                  <a:schemeClr val="tx1"/>
                </a:solidFill>
                <a:cs typeface="Arial" panose="020B0604020202020204" pitchFamily="34" charset="0"/>
              </a:rPr>
              <a:t>）  </a:t>
            </a:r>
            <a:r>
              <a:rPr lang="en-US" altLang="zh-CN" sz="2400" b="1">
                <a:solidFill>
                  <a:schemeClr val="tx1"/>
                </a:solidFill>
              </a:rPr>
              <a:t>C—</a:t>
            </a:r>
            <a:r>
              <a:rPr lang="en-US" altLang="zh-CN" sz="2400" b="1" dirty="0">
                <a:solidFill>
                  <a:schemeClr val="tx1"/>
                </a:solidFill>
              </a:rPr>
              <a:t>I</a:t>
            </a:r>
            <a:r>
              <a:rPr lang="zh-CN" altLang="en-US" sz="2400" b="1" dirty="0">
                <a:solidFill>
                  <a:schemeClr val="tx1"/>
                </a:solidFill>
                <a:cs typeface="Arial" panose="020B0604020202020204" pitchFamily="34" charset="0"/>
              </a:rPr>
              <a:t>键易吸收紫外线而断裂，</a:t>
            </a:r>
          </a:p>
          <a:p>
            <a:pPr lvl="1">
              <a:buNone/>
            </a:pPr>
            <a:r>
              <a:rPr lang="zh-CN" altLang="en-US" sz="2400" b="1" dirty="0">
                <a:solidFill>
                  <a:schemeClr val="tx1"/>
                </a:solidFill>
                <a:cs typeface="Arial" panose="020B0604020202020204" pitchFamily="34" charset="0"/>
              </a:rPr>
              <a:t>                                   不会滞留在大气层中。</a:t>
            </a:r>
          </a:p>
          <a:p>
            <a:pPr lvl="1">
              <a:buNone/>
            </a:pPr>
            <a:r>
              <a:rPr lang="en-US" altLang="zh-CN" sz="2400" b="1" dirty="0">
                <a:solidFill>
                  <a:schemeClr val="tx1"/>
                </a:solidFill>
              </a:rPr>
              <a:t>3</a:t>
            </a:r>
            <a:r>
              <a:rPr lang="zh-CN" altLang="en-US" sz="2400" b="1" dirty="0">
                <a:solidFill>
                  <a:schemeClr val="tx1"/>
                </a:solidFill>
                <a:cs typeface="Arial" panose="020B0604020202020204" pitchFamily="34" charset="0"/>
              </a:rPr>
              <a:t>）氢氯氟烃（</a:t>
            </a:r>
            <a:r>
              <a:rPr lang="en-US" altLang="zh-CN" sz="2400" b="1">
                <a:solidFill>
                  <a:schemeClr val="tx1"/>
                </a:solidFill>
              </a:rPr>
              <a:t>HCFC</a:t>
            </a:r>
            <a:r>
              <a:rPr lang="zh-CN" altLang="en-US" sz="2400" b="1">
                <a:solidFill>
                  <a:schemeClr val="tx1"/>
                </a:solidFill>
                <a:cs typeface="Arial" panose="020B0604020202020204" pitchFamily="34" charset="0"/>
              </a:rPr>
              <a:t>） 对</a:t>
            </a:r>
            <a:r>
              <a:rPr lang="en-US" altLang="zh-CN" sz="2400" b="1">
                <a:solidFill>
                  <a:schemeClr val="tx1"/>
                </a:solidFill>
              </a:rPr>
              <a:t>O</a:t>
            </a:r>
            <a:r>
              <a:rPr lang="en-US" altLang="zh-CN" sz="2400" b="1" baseline="-25000">
                <a:solidFill>
                  <a:schemeClr val="tx1"/>
                </a:solidFill>
              </a:rPr>
              <a:t>3</a:t>
            </a:r>
            <a:r>
              <a:rPr lang="zh-CN" altLang="en-US" sz="2400" b="1" dirty="0">
                <a:solidFill>
                  <a:schemeClr val="tx1"/>
                </a:solidFill>
                <a:cs typeface="Arial" panose="020B0604020202020204" pitchFamily="34" charset="0"/>
              </a:rPr>
              <a:t>破坏较小，可作为</a:t>
            </a:r>
            <a:r>
              <a:rPr lang="en-US" altLang="zh-CN" sz="2400" b="1" dirty="0">
                <a:solidFill>
                  <a:schemeClr val="tx1"/>
                </a:solidFill>
              </a:rPr>
              <a:t>CFC</a:t>
            </a:r>
            <a:r>
              <a:rPr lang="zh-CN" altLang="en-US" sz="2400" b="1" dirty="0">
                <a:solidFill>
                  <a:schemeClr val="tx1"/>
                </a:solidFill>
                <a:cs typeface="Arial" panose="020B0604020202020204" pitchFamily="34" charset="0"/>
              </a:rPr>
              <a:t>的过渡替代品</a:t>
            </a:r>
            <a:endParaRPr lang="zh-CN" altLang="en-US" sz="2400" b="1" dirty="0">
              <a:solidFill>
                <a:schemeClr val="tx1"/>
              </a:solidFill>
              <a:ea typeface="Arial" panose="020B0604020202020204" pitchFamily="34" charset="0"/>
              <a:cs typeface="Arial" panose="020B0604020202020204" pitchFamily="34" charset="0"/>
            </a:endParaRPr>
          </a:p>
        </p:txBody>
      </p:sp>
      <p:sp>
        <p:nvSpPr>
          <p:cNvPr id="55300" name="文本框 55299"/>
          <p:cNvSpPr txBox="1"/>
          <p:nvPr/>
        </p:nvSpPr>
        <p:spPr>
          <a:xfrm>
            <a:off x="685800" y="4038600"/>
            <a:ext cx="7924800" cy="1881188"/>
          </a:xfrm>
          <a:prstGeom prst="rect">
            <a:avLst/>
          </a:prstGeom>
          <a:noFill/>
          <a:ln w="9525">
            <a:noFill/>
          </a:ln>
        </p:spPr>
        <p:txBody>
          <a:bodyPr anchor="t">
            <a:spAutoFit/>
          </a:bodyPr>
          <a:lstStyle/>
          <a:p>
            <a:pPr lvl="2" indent="0">
              <a:spcBef>
                <a:spcPct val="20000"/>
              </a:spcBef>
            </a:pPr>
            <a:r>
              <a:rPr lang="zh-CN" altLang="en-US" b="1" dirty="0">
                <a:solidFill>
                  <a:schemeClr val="tx1"/>
                </a:solidFill>
                <a:latin typeface="Times New Roman" panose="02020603050405020304" pitchFamily="18" charset="0"/>
                <a:ea typeface="宋体" panose="02010600030101010101" pitchFamily="2" charset="-122"/>
              </a:rPr>
              <a:t>我国冰箱</a:t>
            </a:r>
            <a:r>
              <a:rPr lang="en-US" altLang="zh-CN" b="1" dirty="0">
                <a:solidFill>
                  <a:schemeClr val="tx1"/>
                </a:solidFill>
                <a:latin typeface="Times New Roman" panose="02020603050405020304" pitchFamily="18" charset="0"/>
                <a:ea typeface="宋体" panose="02010600030101010101" pitchFamily="2" charset="-122"/>
              </a:rPr>
              <a:t>CFC</a:t>
            </a:r>
            <a:r>
              <a:rPr lang="zh-CN" altLang="en-US" b="1" dirty="0">
                <a:solidFill>
                  <a:schemeClr val="tx1"/>
                </a:solidFill>
                <a:latin typeface="Times New Roman" panose="02020603050405020304" pitchFamily="18" charset="0"/>
                <a:ea typeface="宋体" panose="02010600030101010101" pitchFamily="2" charset="-122"/>
              </a:rPr>
              <a:t>的替代品主要有：</a:t>
            </a:r>
          </a:p>
          <a:p>
            <a:pPr algn="just">
              <a:spcBef>
                <a:spcPct val="20000"/>
              </a:spcBef>
            </a:pPr>
            <a:r>
              <a:rPr lang="zh-CN" altLang="en-US" b="1" dirty="0">
                <a:solidFill>
                  <a:schemeClr val="tx1"/>
                </a:solidFill>
                <a:latin typeface="Times New Roman" panose="02020603050405020304" pitchFamily="18" charset="0"/>
                <a:ea typeface="宋体" panose="02010600030101010101" pitchFamily="2" charset="-122"/>
              </a:rPr>
              <a:t>                  </a:t>
            </a:r>
            <a:r>
              <a:rPr lang="en-US" altLang="zh-CN" b="1" dirty="0">
                <a:solidFill>
                  <a:schemeClr val="tx1"/>
                </a:solidFill>
                <a:latin typeface="Times New Roman" panose="02020603050405020304" pitchFamily="18" charset="0"/>
                <a:ea typeface="宋体" panose="02010600030101010101" pitchFamily="2" charset="-122"/>
              </a:rPr>
              <a:t>HCFC-1416 </a:t>
            </a:r>
            <a:r>
              <a:rPr lang="zh-CN" altLang="en-US" b="1" dirty="0">
                <a:solidFill>
                  <a:schemeClr val="tx1"/>
                </a:solidFill>
                <a:latin typeface="Times New Roman" panose="02020603050405020304" pitchFamily="18" charset="0"/>
                <a:ea typeface="宋体" panose="02010600030101010101" pitchFamily="2" charset="-122"/>
              </a:rPr>
              <a:t>、  </a:t>
            </a:r>
            <a:r>
              <a:rPr lang="en-US" altLang="zh-CN" b="1" dirty="0">
                <a:solidFill>
                  <a:schemeClr val="tx1"/>
                </a:solidFill>
                <a:latin typeface="Times New Roman" panose="02020603050405020304" pitchFamily="18" charset="0"/>
                <a:ea typeface="宋体" panose="02010600030101010101" pitchFamily="2" charset="-122"/>
              </a:rPr>
              <a:t>HFC-134a  </a:t>
            </a:r>
            <a:r>
              <a:rPr lang="zh-CN" altLang="en-US" b="1" dirty="0">
                <a:solidFill>
                  <a:schemeClr val="tx1"/>
                </a:solidFill>
                <a:latin typeface="Times New Roman" panose="02020603050405020304" pitchFamily="18" charset="0"/>
                <a:ea typeface="宋体" panose="02010600030101010101" pitchFamily="2" charset="-122"/>
              </a:rPr>
              <a:t>、异丁烷  </a:t>
            </a:r>
          </a:p>
          <a:p>
            <a:pPr algn="just">
              <a:spcBef>
                <a:spcPct val="20000"/>
              </a:spcBef>
            </a:pPr>
            <a:r>
              <a:rPr lang="zh-CN" altLang="en-US" b="1" dirty="0">
                <a:solidFill>
                  <a:schemeClr val="tx1"/>
                </a:solidFill>
                <a:latin typeface="Times New Roman" panose="02020603050405020304" pitchFamily="18" charset="0"/>
                <a:ea typeface="宋体" panose="02010600030101010101" pitchFamily="2" charset="-122"/>
              </a:rPr>
              <a:t>                  混合制冷剂（</a:t>
            </a:r>
            <a:r>
              <a:rPr lang="en-US" altLang="zh-CN" b="1">
                <a:solidFill>
                  <a:schemeClr val="tx1"/>
                </a:solidFill>
                <a:latin typeface="Times New Roman" panose="02020603050405020304" pitchFamily="18" charset="0"/>
                <a:ea typeface="宋体" panose="02010600030101010101" pitchFamily="2" charset="-122"/>
              </a:rPr>
              <a:t>CF</a:t>
            </a:r>
            <a:r>
              <a:rPr lang="en-US" altLang="zh-CN" b="1" baseline="-25000">
                <a:solidFill>
                  <a:schemeClr val="tx1"/>
                </a:solidFill>
                <a:latin typeface="Times New Roman" panose="02020603050405020304" pitchFamily="18" charset="0"/>
                <a:ea typeface="宋体" panose="02010600030101010101" pitchFamily="2" charset="-122"/>
              </a:rPr>
              <a:t>3</a:t>
            </a:r>
            <a:r>
              <a:rPr lang="en-US" altLang="zh-CN" b="1">
                <a:solidFill>
                  <a:schemeClr val="tx1"/>
                </a:solidFill>
                <a:latin typeface="Times New Roman" panose="02020603050405020304" pitchFamily="18" charset="0"/>
                <a:ea typeface="宋体" panose="02010600030101010101" pitchFamily="2" charset="-122"/>
              </a:rPr>
              <a:t>I+HFC-152a</a:t>
            </a:r>
            <a:r>
              <a:rPr lang="zh-CN" altLang="en-US" b="1">
                <a:solidFill>
                  <a:schemeClr val="tx1"/>
                </a:solidFill>
                <a:latin typeface="Times New Roman" panose="02020603050405020304" pitchFamily="18" charset="0"/>
                <a:ea typeface="宋体" panose="02010600030101010101" pitchFamily="2" charset="-122"/>
              </a:rPr>
              <a:t>）</a:t>
            </a:r>
          </a:p>
          <a:p>
            <a:pPr>
              <a:spcBef>
                <a:spcPct val="50000"/>
              </a:spcBef>
            </a:pPr>
            <a:endParaRPr lang="zh-CN" altLang="en-US" b="1">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55299"/>
                                        </p:tgtEl>
                                        <p:attrNameLst>
                                          <p:attrName>style.visibility</p:attrName>
                                        </p:attrNameLst>
                                      </p:cBhvr>
                                      <p:to>
                                        <p:strVal val="visible"/>
                                      </p:to>
                                    </p:set>
                                    <p:anim calcmode="lin" valueType="num">
                                      <p:cBhvr>
                                        <p:cTn id="7" dur="500" fill="hold"/>
                                        <p:tgtEl>
                                          <p:spTgt spid="55299"/>
                                        </p:tgtEl>
                                        <p:attrNameLst>
                                          <p:attrName>ppt_x</p:attrName>
                                        </p:attrNameLst>
                                      </p:cBhvr>
                                      <p:tavLst>
                                        <p:tav tm="0">
                                          <p:val>
                                            <p:strVal val="#ppt_x"/>
                                          </p:val>
                                        </p:tav>
                                        <p:tav tm="100000">
                                          <p:val>
                                            <p:strVal val="#ppt_x"/>
                                          </p:val>
                                        </p:tav>
                                      </p:tavLst>
                                    </p:anim>
                                    <p:anim calcmode="lin" valueType="num">
                                      <p:cBhvr>
                                        <p:cTn id="8" dur="500" fill="hold"/>
                                        <p:tgtEl>
                                          <p:spTgt spid="55299"/>
                                        </p:tgtEl>
                                        <p:attrNameLst>
                                          <p:attrName>ppt_y</p:attrName>
                                        </p:attrNameLst>
                                      </p:cBhvr>
                                      <p:tavLst>
                                        <p:tav tm="0">
                                          <p:val>
                                            <p:strVal val="#ppt_y-#ppt_h/2"/>
                                          </p:val>
                                        </p:tav>
                                        <p:tav tm="100000">
                                          <p:val>
                                            <p:strVal val="#ppt_y"/>
                                          </p:val>
                                        </p:tav>
                                      </p:tavLst>
                                    </p:anim>
                                    <p:anim calcmode="lin" valueType="num">
                                      <p:cBhvr>
                                        <p:cTn id="9" dur="500" fill="hold"/>
                                        <p:tgtEl>
                                          <p:spTgt spid="55299"/>
                                        </p:tgtEl>
                                        <p:attrNameLst>
                                          <p:attrName>ppt_w</p:attrName>
                                        </p:attrNameLst>
                                      </p:cBhvr>
                                      <p:tavLst>
                                        <p:tav tm="0">
                                          <p:val>
                                            <p:strVal val="#ppt_w"/>
                                          </p:val>
                                        </p:tav>
                                        <p:tav tm="100000">
                                          <p:val>
                                            <p:strVal val="#ppt_w"/>
                                          </p:val>
                                        </p:tav>
                                      </p:tavLst>
                                    </p:anim>
                                    <p:anim calcmode="lin" valueType="num">
                                      <p:cBhvr>
                                        <p:cTn id="10" dur="500" fill="hold"/>
                                        <p:tgtEl>
                                          <p:spTgt spid="55299"/>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5300"/>
                                        </p:tgtEl>
                                        <p:attrNameLst>
                                          <p:attrName>style.visibility</p:attrName>
                                        </p:attrNameLst>
                                      </p:cBhvr>
                                      <p:to>
                                        <p:strVal val="visible"/>
                                      </p:to>
                                    </p:set>
                                    <p:animEffect transition="in" filter="blinds(horizontal)">
                                      <p:cBhvr>
                                        <p:cTn id="15" dur="500"/>
                                        <p:tgtEl>
                                          <p:spTgt spid="55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p:bldP spid="5530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82945"/>
          <p:cNvSpPr>
            <a:spLocks noGrp="1"/>
          </p:cNvSpPr>
          <p:nvPr>
            <p:ph type="title"/>
          </p:nvPr>
        </p:nvSpPr>
        <p:spPr>
          <a:xfrm>
            <a:off x="196215" y="367665"/>
            <a:ext cx="4836795" cy="1014095"/>
          </a:xfrm>
          <a:prstGeom prst="rect">
            <a:avLst/>
          </a:prstGeom>
          <a:solidFill>
            <a:srgbClr val="22E50D"/>
          </a:solidFill>
          <a:ln>
            <a:noFill/>
          </a:ln>
        </p:spPr>
        <p:txBody>
          <a:bodyPr anchor="ctr"/>
          <a:lstStyle/>
          <a:p>
            <a:pPr defTabSz="914400">
              <a:buNone/>
            </a:pPr>
            <a:r>
              <a:rPr lang="en-US" altLang="zh-CN" sz="3600" b="1" baseline="0" dirty="0">
                <a:solidFill>
                  <a:schemeClr val="tx1"/>
                </a:solidFill>
                <a:latin typeface="隶书" panose="02010509060101010101" pitchFamily="49" charset="-122"/>
                <a:ea typeface="隶书" panose="02010509060101010101" pitchFamily="49" charset="-122"/>
              </a:rPr>
              <a:t>8.2.2 </a:t>
            </a:r>
            <a:r>
              <a:rPr lang="zh-CN" altLang="en-US" sz="3600" b="1" baseline="0" dirty="0">
                <a:solidFill>
                  <a:schemeClr val="tx1"/>
                </a:solidFill>
                <a:latin typeface="隶书" panose="02010509060101010101" pitchFamily="49" charset="-122"/>
                <a:ea typeface="隶书" panose="02010509060101010101" pitchFamily="49" charset="-122"/>
              </a:rPr>
              <a:t>大气污染的防治</a:t>
            </a:r>
          </a:p>
        </p:txBody>
      </p:sp>
      <p:sp>
        <p:nvSpPr>
          <p:cNvPr id="82947" name="副标题 82946"/>
          <p:cNvSpPr>
            <a:spLocks noGrp="1"/>
          </p:cNvSpPr>
          <p:nvPr>
            <p:ph type="subTitle"/>
          </p:nvPr>
        </p:nvSpPr>
        <p:spPr>
          <a:xfrm>
            <a:off x="0" y="1981200"/>
            <a:ext cx="6477000" cy="2971800"/>
          </a:xfrm>
          <a:prstGeom prst="rect">
            <a:avLst/>
          </a:prstGeom>
          <a:noFill/>
          <a:ln w="9525">
            <a:noFill/>
          </a:ln>
        </p:spPr>
        <p:txBody>
          <a:bodyPr anchor="t"/>
          <a:lstStyle>
            <a:lvl1pPr marL="0" lvl="0" indent="0" algn="ctr">
              <a:defRPr/>
            </a:lvl1pPr>
            <a:lvl2pPr marL="457200" lvl="1" indent="0" algn="ctr">
              <a:defRPr/>
            </a:lvl2pPr>
            <a:lvl3pPr marL="914400" lvl="2" indent="0" algn="ctr">
              <a:defRPr/>
            </a:lvl3pPr>
            <a:lvl4pPr marL="1371600" lvl="3" indent="0" algn="ctr">
              <a:defRPr/>
            </a:lvl4pPr>
            <a:lvl5pPr marL="1828800" lvl="4" indent="0" algn="ctr">
              <a:defRPr/>
            </a:lvl5pPr>
          </a:lstStyle>
          <a:p>
            <a:pPr marL="342900" lvl="0" indent="-342900" algn="l" defTabSz="914400">
              <a:spcBef>
                <a:spcPct val="50000"/>
              </a:spcBef>
            </a:pPr>
            <a:r>
              <a:rPr lang="en-US" altLang="zh-CN" sz="2800" b="1" baseline="0" dirty="0">
                <a:solidFill>
                  <a:schemeClr val="bg1"/>
                </a:solidFill>
              </a:rPr>
              <a:t> </a:t>
            </a:r>
            <a:endParaRPr lang="en-US" altLang="zh-CN" sz="2800" b="1" baseline="0" dirty="0"/>
          </a:p>
          <a:p>
            <a:pPr marL="342900" lvl="0" indent="-342900" algn="l" defTabSz="914400">
              <a:spcBef>
                <a:spcPct val="50000"/>
              </a:spcBef>
            </a:pPr>
            <a:r>
              <a:rPr lang="zh-CN" altLang="en-US" sz="2800" b="1" baseline="0" dirty="0">
                <a:solidFill>
                  <a:schemeClr val="tx1"/>
                </a:solidFill>
              </a:rPr>
              <a:t>（</a:t>
            </a:r>
            <a:r>
              <a:rPr lang="en-US" altLang="zh-CN" sz="2800" b="1" baseline="0" dirty="0">
                <a:solidFill>
                  <a:schemeClr val="tx1"/>
                </a:solidFill>
              </a:rPr>
              <a:t>2</a:t>
            </a:r>
            <a:r>
              <a:rPr lang="zh-CN" altLang="en-US" sz="2800" b="1" baseline="0" dirty="0">
                <a:solidFill>
                  <a:schemeClr val="tx1"/>
                </a:solidFill>
              </a:rPr>
              <a:t>）控制污染源。</a:t>
            </a:r>
          </a:p>
          <a:p>
            <a:pPr marL="342900" lvl="0" indent="-342900" algn="l" defTabSz="914400">
              <a:spcBef>
                <a:spcPct val="50000"/>
              </a:spcBef>
            </a:pPr>
            <a:r>
              <a:rPr lang="zh-CN" altLang="en-US" sz="2800" b="1" baseline="0" dirty="0">
                <a:solidFill>
                  <a:schemeClr val="tx1"/>
                </a:solidFill>
              </a:rPr>
              <a:t>（</a:t>
            </a:r>
            <a:r>
              <a:rPr lang="en-US" altLang="zh-CN" sz="2800" b="1" baseline="0" dirty="0">
                <a:solidFill>
                  <a:schemeClr val="tx1"/>
                </a:solidFill>
              </a:rPr>
              <a:t>3</a:t>
            </a:r>
            <a:r>
              <a:rPr lang="zh-CN" altLang="en-US" sz="2800" b="1" baseline="0" dirty="0">
                <a:solidFill>
                  <a:schemeClr val="tx1"/>
                </a:solidFill>
              </a:rPr>
              <a:t>）改革能源结构。</a:t>
            </a:r>
          </a:p>
          <a:p>
            <a:pPr marL="342900" lvl="0" indent="-342900" algn="l" defTabSz="914400">
              <a:spcBef>
                <a:spcPct val="50000"/>
              </a:spcBef>
            </a:pPr>
            <a:r>
              <a:rPr lang="zh-CN" altLang="en-US" sz="2800" b="1" baseline="0" dirty="0">
                <a:solidFill>
                  <a:schemeClr val="tx1"/>
                </a:solidFill>
              </a:rPr>
              <a:t>（</a:t>
            </a:r>
            <a:r>
              <a:rPr lang="en-US" altLang="zh-CN" sz="2800" b="1" baseline="0" dirty="0">
                <a:solidFill>
                  <a:schemeClr val="tx1"/>
                </a:solidFill>
              </a:rPr>
              <a:t>4</a:t>
            </a:r>
            <a:r>
              <a:rPr lang="zh-CN" altLang="en-US" sz="2800" b="1" baseline="0" dirty="0">
                <a:solidFill>
                  <a:schemeClr val="tx1"/>
                </a:solidFill>
              </a:rPr>
              <a:t>）加强汽车尾气的治理。</a:t>
            </a:r>
          </a:p>
          <a:p>
            <a:pPr marL="342900" lvl="0" indent="-342900" algn="l" defTabSz="914400">
              <a:buNone/>
            </a:pPr>
            <a:r>
              <a:rPr lang="zh-CN" altLang="en-US" sz="2800" b="1" baseline="0" dirty="0">
                <a:solidFill>
                  <a:schemeClr val="tx1"/>
                </a:solidFill>
              </a:rPr>
              <a:t>    （</a:t>
            </a:r>
            <a:r>
              <a:rPr lang="en-US" altLang="zh-CN" sz="2800" b="1" baseline="0" dirty="0">
                <a:solidFill>
                  <a:schemeClr val="tx1"/>
                </a:solidFill>
              </a:rPr>
              <a:t>5</a:t>
            </a:r>
            <a:r>
              <a:rPr lang="zh-CN" altLang="en-US" sz="2800" b="1" baseline="0" dirty="0">
                <a:solidFill>
                  <a:schemeClr val="tx1"/>
                </a:solidFill>
              </a:rPr>
              <a:t>）植树造林。</a:t>
            </a:r>
          </a:p>
          <a:p>
            <a:pPr marL="342900" lvl="0" indent="-342900" algn="l" defTabSz="914400"/>
            <a:endParaRPr lang="zh-CN" altLang="en-US" sz="2800" b="1" baseline="0" dirty="0">
              <a:solidFill>
                <a:schemeClr val="tx1"/>
              </a:solidFill>
            </a:endParaRPr>
          </a:p>
        </p:txBody>
      </p:sp>
      <p:pic>
        <p:nvPicPr>
          <p:cNvPr id="82948" name="图片 82947"/>
          <p:cNvPicPr>
            <a:picLocks noChangeAspect="1"/>
          </p:cNvPicPr>
          <p:nvPr/>
        </p:nvPicPr>
        <p:blipFill>
          <a:blip r:embed="rId2" cstate="print"/>
          <a:stretch>
            <a:fillRect/>
          </a:stretch>
        </p:blipFill>
        <p:spPr>
          <a:xfrm>
            <a:off x="5937250" y="2882900"/>
            <a:ext cx="3127375" cy="3962400"/>
          </a:xfrm>
          <a:prstGeom prst="rect">
            <a:avLst/>
          </a:prstGeom>
          <a:noFill/>
          <a:ln w="9525">
            <a:noFill/>
          </a:ln>
        </p:spPr>
      </p:pic>
      <p:sp>
        <p:nvSpPr>
          <p:cNvPr id="82949" name="文本框 82948"/>
          <p:cNvSpPr txBox="1"/>
          <p:nvPr/>
        </p:nvSpPr>
        <p:spPr>
          <a:xfrm>
            <a:off x="327025" y="1981200"/>
            <a:ext cx="6858000" cy="522288"/>
          </a:xfrm>
          <a:prstGeom prst="rect">
            <a:avLst/>
          </a:prstGeom>
          <a:noFill/>
          <a:ln w="9525">
            <a:noFill/>
          </a:ln>
        </p:spPr>
        <p:txBody>
          <a:bodyPr anchor="t">
            <a:spAutoFit/>
          </a:bodyPr>
          <a:lstStyle/>
          <a:p>
            <a:pPr>
              <a:spcBef>
                <a:spcPct val="50000"/>
              </a:spcBef>
            </a:pPr>
            <a:r>
              <a:rPr lang="zh-CN" altLang="en-US" sz="2800" b="1" dirty="0">
                <a:solidFill>
                  <a:schemeClr val="tx1"/>
                </a:solidFill>
                <a:latin typeface="Times New Roman" panose="02020603050405020304" pitchFamily="18" charset="0"/>
                <a:ea typeface="宋体" panose="02010600030101010101" pitchFamily="2" charset="-122"/>
              </a:rPr>
              <a:t>（</a:t>
            </a:r>
            <a:r>
              <a:rPr lang="en-US" altLang="zh-CN" sz="2800" b="1" dirty="0">
                <a:solidFill>
                  <a:schemeClr val="tx1"/>
                </a:solidFill>
                <a:latin typeface="Times New Roman" panose="02020603050405020304" pitchFamily="18" charset="0"/>
                <a:ea typeface="宋体" panose="02010600030101010101" pitchFamily="2" charset="-122"/>
              </a:rPr>
              <a:t>1</a:t>
            </a:r>
            <a:r>
              <a:rPr lang="zh-CN" altLang="en-US" sz="2800" b="1" dirty="0">
                <a:solidFill>
                  <a:schemeClr val="tx1"/>
                </a:solidFill>
                <a:latin typeface="Times New Roman" panose="02020603050405020304" pitchFamily="18" charset="0"/>
                <a:ea typeface="宋体" panose="02010600030101010101" pitchFamily="2" charset="-122"/>
              </a:rPr>
              <a:t>）加强大气质量的管理，随时进行监测</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949"/>
                                        </p:tgtEl>
                                        <p:attrNameLst>
                                          <p:attrName>style.visibility</p:attrName>
                                        </p:attrNameLst>
                                      </p:cBhvr>
                                      <p:to>
                                        <p:strVal val="visible"/>
                                      </p:to>
                                    </p:set>
                                    <p:animEffect transition="in" filter="blinds(horizontal)">
                                      <p:cBhvr>
                                        <p:cTn id="7" dur="500"/>
                                        <p:tgtEl>
                                          <p:spTgt spid="82949"/>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82948"/>
                                        </p:tgtEl>
                                        <p:attrNameLst>
                                          <p:attrName>style.visibility</p:attrName>
                                        </p:attrNameLst>
                                      </p:cBhvr>
                                      <p:to>
                                        <p:strVal val="visible"/>
                                      </p:to>
                                    </p:set>
                                    <p:animEffect transition="in" filter="box(out)">
                                      <p:cBhvr>
                                        <p:cTn id="11" dur="500"/>
                                        <p:tgtEl>
                                          <p:spTgt spid="82948"/>
                                        </p:tgtEl>
                                      </p:cBhvr>
                                    </p:animEffect>
                                  </p:childTnLst>
                                </p:cTn>
                              </p:par>
                            </p:childTnLst>
                          </p:cTn>
                        </p:par>
                        <p:par>
                          <p:cTn id="12" fill="hold">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82947"/>
                                        </p:tgtEl>
                                        <p:attrNameLst>
                                          <p:attrName>style.visibility</p:attrName>
                                        </p:attrNameLst>
                                      </p:cBhvr>
                                      <p:to>
                                        <p:strVal val="visible"/>
                                      </p:to>
                                    </p:set>
                                    <p:anim calcmode="lin" valueType="num">
                                      <p:cBhvr additive="base">
                                        <p:cTn id="15" dur="500" fill="hold"/>
                                        <p:tgtEl>
                                          <p:spTgt spid="82947"/>
                                        </p:tgtEl>
                                        <p:attrNameLst>
                                          <p:attrName>ppt_x</p:attrName>
                                        </p:attrNameLst>
                                      </p:cBhvr>
                                      <p:tavLst>
                                        <p:tav tm="0">
                                          <p:val>
                                            <p:strVal val="0-#ppt_w/2"/>
                                          </p:val>
                                        </p:tav>
                                        <p:tav tm="100000">
                                          <p:val>
                                            <p:strVal val="#ppt_x"/>
                                          </p:val>
                                        </p:tav>
                                      </p:tavLst>
                                    </p:anim>
                                    <p:anim calcmode="lin" valueType="num">
                                      <p:cBhvr additive="base">
                                        <p:cTn id="16" dur="500" fill="hold"/>
                                        <p:tgtEl>
                                          <p:spTgt spid="829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p:bldP spid="8294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83969"/>
          <p:cNvSpPr>
            <a:spLocks noGrp="1"/>
          </p:cNvSpPr>
          <p:nvPr>
            <p:ph type="title"/>
          </p:nvPr>
        </p:nvSpPr>
        <p:spPr>
          <a:noFill/>
          <a:ln>
            <a:noFill/>
          </a:ln>
        </p:spPr>
        <p:txBody>
          <a:bodyPr anchor="ctr"/>
          <a:lstStyle/>
          <a:p>
            <a:r>
              <a:rPr lang="en-US" altLang="zh-CN" sz="3600" b="1">
                <a:solidFill>
                  <a:srgbClr val="C00000"/>
                </a:solidFill>
              </a:rPr>
              <a:t>SO</a:t>
            </a:r>
            <a:r>
              <a:rPr lang="en-US" altLang="zh-CN" sz="3600" b="1" baseline="-25000">
                <a:solidFill>
                  <a:srgbClr val="C00000"/>
                </a:solidFill>
              </a:rPr>
              <a:t>2</a:t>
            </a:r>
            <a:r>
              <a:rPr lang="zh-CN" altLang="en-US" sz="3600" b="1" dirty="0">
                <a:solidFill>
                  <a:srgbClr val="C00000"/>
                </a:solidFill>
              </a:rPr>
              <a:t>的治理</a:t>
            </a:r>
          </a:p>
        </p:txBody>
      </p:sp>
      <p:sp>
        <p:nvSpPr>
          <p:cNvPr id="83971" name="内容占位符 83970"/>
          <p:cNvSpPr>
            <a:spLocks noGrp="1"/>
          </p:cNvSpPr>
          <p:nvPr>
            <p:ph idx="1"/>
          </p:nvPr>
        </p:nvSpPr>
        <p:spPr>
          <a:xfrm>
            <a:off x="231775" y="1165860"/>
            <a:ext cx="8229600" cy="4525963"/>
          </a:xfrm>
          <a:noFill/>
          <a:ln>
            <a:noFill/>
          </a:ln>
        </p:spPr>
        <p:txBody>
          <a:bodyPr anchor="t"/>
          <a:lstStyle/>
          <a:p>
            <a:pPr lvl="1">
              <a:buNone/>
            </a:pPr>
            <a:r>
              <a:rPr lang="en-US" altLang="zh-CN" sz="2400" b="1" dirty="0">
                <a:solidFill>
                  <a:schemeClr val="tx1"/>
                </a:solidFill>
              </a:rPr>
              <a:t>1</a:t>
            </a:r>
            <a:r>
              <a:rPr lang="zh-CN" altLang="en-US" sz="2400" b="1" dirty="0">
                <a:solidFill>
                  <a:schemeClr val="tx1"/>
                </a:solidFill>
                <a:cs typeface="Arial" panose="020B0604020202020204" pitchFamily="34" charset="0"/>
              </a:rPr>
              <a:t>）</a:t>
            </a:r>
            <a:r>
              <a:rPr lang="zh-CN" altLang="en-US" sz="2400" b="1" dirty="0">
                <a:solidFill>
                  <a:schemeClr val="tx1"/>
                </a:solidFill>
                <a:latin typeface="Times New Roman" pitchFamily="18" charset="0"/>
                <a:cs typeface="Times New Roman" pitchFamily="18" charset="0"/>
              </a:rPr>
              <a:t>氨法：用氨水为吸收剂吸收废气中的</a:t>
            </a:r>
            <a:r>
              <a:rPr lang="en-US" altLang="zh-CN" sz="2400" b="1" dirty="0">
                <a:solidFill>
                  <a:schemeClr val="tx1"/>
                </a:solidFill>
                <a:latin typeface="Times New Roman" pitchFamily="18" charset="0"/>
                <a:cs typeface="Times New Roman" pitchFamily="18" charset="0"/>
              </a:rPr>
              <a:t>SO</a:t>
            </a:r>
            <a:r>
              <a:rPr lang="en-US" altLang="zh-CN" sz="2400" b="1" baseline="-25000" dirty="0">
                <a:solidFill>
                  <a:schemeClr val="tx1"/>
                </a:solidFill>
                <a:latin typeface="Times New Roman" pitchFamily="18" charset="0"/>
                <a:cs typeface="Times New Roman" pitchFamily="18" charset="0"/>
              </a:rPr>
              <a:t>2</a:t>
            </a:r>
            <a:r>
              <a:rPr lang="zh-CN" altLang="en-US" sz="2400" b="1" dirty="0">
                <a:solidFill>
                  <a:schemeClr val="tx1"/>
                </a:solidFill>
                <a:latin typeface="Times New Roman" pitchFamily="18" charset="0"/>
                <a:cs typeface="Times New Roman" pitchFamily="18" charset="0"/>
              </a:rPr>
              <a:t>，吸收率＞</a:t>
            </a:r>
            <a:r>
              <a:rPr lang="en-US" altLang="zh-CN" sz="2400" b="1" dirty="0">
                <a:solidFill>
                  <a:schemeClr val="tx1"/>
                </a:solidFill>
                <a:latin typeface="Times New Roman" pitchFamily="18" charset="0"/>
                <a:cs typeface="Times New Roman" pitchFamily="18" charset="0"/>
              </a:rPr>
              <a:t>90% </a:t>
            </a:r>
          </a:p>
          <a:p>
            <a:pPr lvl="1">
              <a:buNone/>
            </a:pPr>
            <a:r>
              <a:rPr lang="zh-CN" altLang="en-US" sz="2400" b="1" dirty="0">
                <a:solidFill>
                  <a:schemeClr val="tx1"/>
                </a:solidFill>
                <a:latin typeface="Times New Roman" pitchFamily="18" charset="0"/>
                <a:cs typeface="Times New Roman" pitchFamily="18" charset="0"/>
              </a:rPr>
              <a:t>主要反应：  </a:t>
            </a:r>
            <a:r>
              <a:rPr lang="en-US" altLang="zh-CN" sz="2400" b="1" dirty="0">
                <a:solidFill>
                  <a:schemeClr val="tx1"/>
                </a:solidFill>
                <a:latin typeface="Times New Roman" pitchFamily="18" charset="0"/>
                <a:cs typeface="Times New Roman" pitchFamily="18" charset="0"/>
              </a:rPr>
              <a:t>SO</a:t>
            </a:r>
            <a:r>
              <a:rPr lang="en-US" altLang="zh-CN" sz="2400" b="1" baseline="-25000" dirty="0">
                <a:solidFill>
                  <a:schemeClr val="tx1"/>
                </a:solidFill>
                <a:latin typeface="Times New Roman" pitchFamily="18" charset="0"/>
                <a:cs typeface="Times New Roman" pitchFamily="18" charset="0"/>
              </a:rPr>
              <a:t>2 </a:t>
            </a:r>
            <a:r>
              <a:rPr lang="en-US" altLang="zh-CN" sz="2400" b="1" dirty="0">
                <a:solidFill>
                  <a:schemeClr val="tx1"/>
                </a:solidFill>
                <a:latin typeface="Times New Roman" pitchFamily="18" charset="0"/>
                <a:cs typeface="Times New Roman" pitchFamily="18" charset="0"/>
              </a:rPr>
              <a:t>+ 2NH</a:t>
            </a:r>
            <a:r>
              <a:rPr lang="en-US" altLang="zh-CN" sz="2400" b="1" baseline="-25000" dirty="0">
                <a:solidFill>
                  <a:schemeClr val="tx1"/>
                </a:solidFill>
                <a:latin typeface="Times New Roman" pitchFamily="18" charset="0"/>
                <a:cs typeface="Times New Roman" pitchFamily="18" charset="0"/>
              </a:rPr>
              <a:t>3</a:t>
            </a:r>
            <a:r>
              <a:rPr lang="en-US" altLang="zh-CN" sz="2400" b="1" dirty="0">
                <a:solidFill>
                  <a:schemeClr val="tx1"/>
                </a:solidFill>
                <a:latin typeface="Times New Roman" pitchFamily="18" charset="0"/>
                <a:cs typeface="Times New Roman" pitchFamily="18" charset="0"/>
              </a:rPr>
              <a:t>·H</a:t>
            </a:r>
            <a:r>
              <a:rPr lang="en-US" altLang="zh-CN" sz="2400" b="1" baseline="-25000" dirty="0">
                <a:solidFill>
                  <a:schemeClr val="tx1"/>
                </a:solidFill>
                <a:latin typeface="Times New Roman" pitchFamily="18" charset="0"/>
                <a:cs typeface="Times New Roman" pitchFamily="18" charset="0"/>
              </a:rPr>
              <a:t>2</a:t>
            </a:r>
            <a:r>
              <a:rPr lang="en-US" altLang="zh-CN" sz="2400" b="1" dirty="0">
                <a:solidFill>
                  <a:schemeClr val="tx1"/>
                </a:solidFill>
                <a:latin typeface="Times New Roman" pitchFamily="18" charset="0"/>
                <a:cs typeface="Times New Roman" pitchFamily="18" charset="0"/>
              </a:rPr>
              <a:t>O = (NH</a:t>
            </a:r>
            <a:r>
              <a:rPr lang="en-US" altLang="zh-CN" sz="2400" b="1" baseline="-25000" dirty="0">
                <a:solidFill>
                  <a:schemeClr val="tx1"/>
                </a:solidFill>
                <a:latin typeface="Times New Roman" pitchFamily="18" charset="0"/>
                <a:cs typeface="Times New Roman" pitchFamily="18" charset="0"/>
              </a:rPr>
              <a:t>4</a:t>
            </a:r>
            <a:r>
              <a:rPr lang="en-US" altLang="zh-CN" sz="2400" b="1" dirty="0">
                <a:solidFill>
                  <a:schemeClr val="tx1"/>
                </a:solidFill>
                <a:latin typeface="Times New Roman" pitchFamily="18" charset="0"/>
                <a:cs typeface="Times New Roman" pitchFamily="18" charset="0"/>
              </a:rPr>
              <a:t>)</a:t>
            </a:r>
            <a:r>
              <a:rPr lang="en-US" altLang="zh-CN" sz="2400" b="1" baseline="-25000" dirty="0">
                <a:solidFill>
                  <a:schemeClr val="tx1"/>
                </a:solidFill>
                <a:latin typeface="Times New Roman" pitchFamily="18" charset="0"/>
                <a:cs typeface="Times New Roman" pitchFamily="18" charset="0"/>
              </a:rPr>
              <a:t>2</a:t>
            </a:r>
            <a:r>
              <a:rPr lang="en-US" altLang="zh-CN" sz="2400" b="1" dirty="0">
                <a:solidFill>
                  <a:schemeClr val="tx1"/>
                </a:solidFill>
                <a:latin typeface="Times New Roman" pitchFamily="18" charset="0"/>
                <a:cs typeface="Times New Roman" pitchFamily="18" charset="0"/>
              </a:rPr>
              <a:t>SO</a:t>
            </a:r>
            <a:r>
              <a:rPr lang="en-US" altLang="zh-CN" sz="2400" b="1" baseline="-25000" dirty="0">
                <a:solidFill>
                  <a:schemeClr val="tx1"/>
                </a:solidFill>
                <a:latin typeface="Times New Roman" pitchFamily="18" charset="0"/>
                <a:cs typeface="Times New Roman" pitchFamily="18" charset="0"/>
              </a:rPr>
              <a:t>3</a:t>
            </a:r>
            <a:endParaRPr lang="en-US" altLang="zh-CN" sz="2400" b="1" dirty="0">
              <a:solidFill>
                <a:schemeClr val="tx1"/>
              </a:solidFill>
              <a:latin typeface="Times New Roman" pitchFamily="18" charset="0"/>
              <a:cs typeface="Times New Roman" pitchFamily="18" charset="0"/>
            </a:endParaRPr>
          </a:p>
          <a:p>
            <a:pPr lvl="1">
              <a:buNone/>
            </a:pPr>
            <a:r>
              <a:rPr lang="en-US" altLang="zh-CN" sz="2400" b="1" dirty="0">
                <a:solidFill>
                  <a:schemeClr val="tx1"/>
                </a:solidFill>
                <a:latin typeface="Times New Roman" pitchFamily="18" charset="0"/>
                <a:cs typeface="Times New Roman" pitchFamily="18" charset="0"/>
              </a:rPr>
              <a:t>                      (NH</a:t>
            </a:r>
            <a:r>
              <a:rPr lang="en-US" altLang="zh-CN" sz="2400" b="1" baseline="-25000" dirty="0">
                <a:solidFill>
                  <a:schemeClr val="tx1"/>
                </a:solidFill>
                <a:latin typeface="Times New Roman" pitchFamily="18" charset="0"/>
                <a:cs typeface="Times New Roman" pitchFamily="18" charset="0"/>
              </a:rPr>
              <a:t>4</a:t>
            </a:r>
            <a:r>
              <a:rPr lang="en-US" altLang="zh-CN" sz="2400" b="1" dirty="0">
                <a:solidFill>
                  <a:schemeClr val="tx1"/>
                </a:solidFill>
                <a:latin typeface="Times New Roman" pitchFamily="18" charset="0"/>
                <a:cs typeface="Times New Roman" pitchFamily="18" charset="0"/>
              </a:rPr>
              <a:t>)</a:t>
            </a:r>
            <a:r>
              <a:rPr lang="en-US" altLang="zh-CN" sz="2400" b="1" baseline="-25000" dirty="0">
                <a:solidFill>
                  <a:schemeClr val="tx1"/>
                </a:solidFill>
                <a:latin typeface="Times New Roman" pitchFamily="18" charset="0"/>
                <a:cs typeface="Times New Roman" pitchFamily="18" charset="0"/>
              </a:rPr>
              <a:t>2</a:t>
            </a:r>
            <a:r>
              <a:rPr lang="en-US" altLang="zh-CN" sz="2400" b="1" dirty="0">
                <a:solidFill>
                  <a:schemeClr val="tx1"/>
                </a:solidFill>
                <a:latin typeface="Times New Roman" pitchFamily="18" charset="0"/>
                <a:cs typeface="Times New Roman" pitchFamily="18" charset="0"/>
              </a:rPr>
              <a:t>SO</a:t>
            </a:r>
            <a:r>
              <a:rPr lang="en-US" altLang="zh-CN" sz="2400" b="1" baseline="-25000" dirty="0">
                <a:solidFill>
                  <a:schemeClr val="tx1"/>
                </a:solidFill>
                <a:latin typeface="Times New Roman" pitchFamily="18" charset="0"/>
                <a:cs typeface="Times New Roman" pitchFamily="18" charset="0"/>
              </a:rPr>
              <a:t>3</a:t>
            </a:r>
            <a:r>
              <a:rPr lang="en-US" altLang="zh-CN" sz="2400" b="1" dirty="0">
                <a:solidFill>
                  <a:schemeClr val="tx1"/>
                </a:solidFill>
                <a:latin typeface="Times New Roman" pitchFamily="18" charset="0"/>
                <a:cs typeface="Times New Roman" pitchFamily="18" charset="0"/>
              </a:rPr>
              <a:t> + SO</a:t>
            </a:r>
            <a:r>
              <a:rPr lang="en-US" altLang="zh-CN" sz="2400" b="1" baseline="-25000" dirty="0">
                <a:solidFill>
                  <a:schemeClr val="tx1"/>
                </a:solidFill>
                <a:latin typeface="Times New Roman" pitchFamily="18" charset="0"/>
                <a:cs typeface="Times New Roman" pitchFamily="18" charset="0"/>
              </a:rPr>
              <a:t>2 </a:t>
            </a:r>
            <a:r>
              <a:rPr lang="en-US" altLang="zh-CN" sz="2400" b="1" dirty="0">
                <a:solidFill>
                  <a:schemeClr val="tx1"/>
                </a:solidFill>
                <a:latin typeface="Times New Roman" pitchFamily="18" charset="0"/>
                <a:cs typeface="Times New Roman" pitchFamily="18" charset="0"/>
              </a:rPr>
              <a:t>+ H</a:t>
            </a:r>
            <a:r>
              <a:rPr lang="en-US" altLang="zh-CN" sz="2400" b="1" baseline="-25000" dirty="0">
                <a:solidFill>
                  <a:schemeClr val="tx1"/>
                </a:solidFill>
                <a:latin typeface="Times New Roman" pitchFamily="18" charset="0"/>
                <a:cs typeface="Times New Roman" pitchFamily="18" charset="0"/>
              </a:rPr>
              <a:t>2</a:t>
            </a:r>
            <a:r>
              <a:rPr lang="en-US" altLang="zh-CN" sz="2400" b="1" dirty="0">
                <a:solidFill>
                  <a:schemeClr val="tx1"/>
                </a:solidFill>
                <a:latin typeface="Times New Roman" pitchFamily="18" charset="0"/>
                <a:cs typeface="Times New Roman" pitchFamily="18" charset="0"/>
              </a:rPr>
              <a:t>O = 2 NH</a:t>
            </a:r>
            <a:r>
              <a:rPr lang="en-US" altLang="zh-CN" sz="2400" b="1" baseline="-25000" dirty="0">
                <a:solidFill>
                  <a:schemeClr val="tx1"/>
                </a:solidFill>
                <a:latin typeface="Times New Roman" pitchFamily="18" charset="0"/>
                <a:cs typeface="Times New Roman" pitchFamily="18" charset="0"/>
              </a:rPr>
              <a:t>4</a:t>
            </a:r>
            <a:r>
              <a:rPr lang="en-US" altLang="zh-CN" sz="2400" b="1" dirty="0">
                <a:solidFill>
                  <a:schemeClr val="tx1"/>
                </a:solidFill>
                <a:latin typeface="Times New Roman" pitchFamily="18" charset="0"/>
                <a:cs typeface="Times New Roman" pitchFamily="18" charset="0"/>
              </a:rPr>
              <a:t>HSO</a:t>
            </a:r>
            <a:r>
              <a:rPr lang="en-US" altLang="zh-CN" sz="2400" b="1" baseline="-25000" dirty="0">
                <a:solidFill>
                  <a:schemeClr val="tx1"/>
                </a:solidFill>
                <a:latin typeface="Times New Roman" pitchFamily="18" charset="0"/>
                <a:cs typeface="Times New Roman" pitchFamily="18" charset="0"/>
              </a:rPr>
              <a:t>3</a:t>
            </a:r>
            <a:endParaRPr lang="en-US" altLang="zh-CN" sz="2400" b="1" dirty="0">
              <a:solidFill>
                <a:schemeClr val="tx1"/>
              </a:solidFill>
              <a:latin typeface="Times New Roman" pitchFamily="18" charset="0"/>
              <a:cs typeface="Times New Roman" pitchFamily="18" charset="0"/>
            </a:endParaRPr>
          </a:p>
          <a:p>
            <a:pPr lvl="1">
              <a:buNone/>
            </a:pPr>
            <a:r>
              <a:rPr lang="en-US" altLang="zh-CN" sz="2400" b="1" dirty="0">
                <a:solidFill>
                  <a:schemeClr val="tx1"/>
                </a:solidFill>
                <a:latin typeface="Times New Roman" pitchFamily="18" charset="0"/>
                <a:cs typeface="Times New Roman" pitchFamily="18" charset="0"/>
              </a:rPr>
              <a:t>                       SO</a:t>
            </a:r>
            <a:r>
              <a:rPr lang="en-US" altLang="zh-CN" sz="2400" b="1" baseline="-25000" dirty="0">
                <a:solidFill>
                  <a:schemeClr val="tx1"/>
                </a:solidFill>
                <a:latin typeface="Times New Roman" pitchFamily="18" charset="0"/>
                <a:cs typeface="Times New Roman" pitchFamily="18" charset="0"/>
              </a:rPr>
              <a:t>2 </a:t>
            </a:r>
            <a:r>
              <a:rPr lang="en-US" altLang="zh-CN" sz="2400" b="1" dirty="0">
                <a:solidFill>
                  <a:schemeClr val="tx1"/>
                </a:solidFill>
                <a:latin typeface="Times New Roman" pitchFamily="18" charset="0"/>
                <a:cs typeface="Times New Roman" pitchFamily="18" charset="0"/>
              </a:rPr>
              <a:t>+ 2NH</a:t>
            </a:r>
            <a:r>
              <a:rPr lang="en-US" altLang="zh-CN" sz="2400" b="1" baseline="-25000" dirty="0">
                <a:solidFill>
                  <a:schemeClr val="tx1"/>
                </a:solidFill>
                <a:latin typeface="Times New Roman" pitchFamily="18" charset="0"/>
                <a:cs typeface="Times New Roman" pitchFamily="18" charset="0"/>
              </a:rPr>
              <a:t>3</a:t>
            </a:r>
            <a:r>
              <a:rPr lang="en-US" altLang="zh-CN" sz="2400" b="1" dirty="0">
                <a:solidFill>
                  <a:schemeClr val="tx1"/>
                </a:solidFill>
                <a:latin typeface="Times New Roman" pitchFamily="18" charset="0"/>
                <a:cs typeface="Times New Roman" pitchFamily="18" charset="0"/>
              </a:rPr>
              <a:t>·H</a:t>
            </a:r>
            <a:r>
              <a:rPr lang="en-US" altLang="zh-CN" sz="2400" b="1" baseline="-25000" dirty="0">
                <a:solidFill>
                  <a:schemeClr val="tx1"/>
                </a:solidFill>
                <a:latin typeface="Times New Roman" pitchFamily="18" charset="0"/>
                <a:cs typeface="Times New Roman" pitchFamily="18" charset="0"/>
              </a:rPr>
              <a:t>2</a:t>
            </a:r>
            <a:r>
              <a:rPr lang="en-US" altLang="zh-CN" sz="2400" b="1" dirty="0">
                <a:solidFill>
                  <a:schemeClr val="tx1"/>
                </a:solidFill>
                <a:latin typeface="Times New Roman" pitchFamily="18" charset="0"/>
                <a:cs typeface="Times New Roman" pitchFamily="18" charset="0"/>
              </a:rPr>
              <a:t>O =  NH</a:t>
            </a:r>
            <a:r>
              <a:rPr lang="en-US" altLang="zh-CN" sz="2400" b="1" baseline="-25000" dirty="0">
                <a:solidFill>
                  <a:schemeClr val="tx1"/>
                </a:solidFill>
                <a:latin typeface="Times New Roman" pitchFamily="18" charset="0"/>
                <a:cs typeface="Times New Roman" pitchFamily="18" charset="0"/>
              </a:rPr>
              <a:t>4</a:t>
            </a:r>
            <a:r>
              <a:rPr lang="en-US" altLang="zh-CN" sz="2400" b="1" dirty="0">
                <a:solidFill>
                  <a:schemeClr val="tx1"/>
                </a:solidFill>
                <a:latin typeface="Times New Roman" pitchFamily="18" charset="0"/>
                <a:cs typeface="Times New Roman" pitchFamily="18" charset="0"/>
              </a:rPr>
              <a:t>HSO</a:t>
            </a:r>
            <a:r>
              <a:rPr lang="en-US" altLang="zh-CN" sz="2400" b="1" baseline="-25000" dirty="0">
                <a:solidFill>
                  <a:schemeClr val="tx1"/>
                </a:solidFill>
                <a:latin typeface="Times New Roman" pitchFamily="18" charset="0"/>
                <a:cs typeface="Times New Roman" pitchFamily="18" charset="0"/>
              </a:rPr>
              <a:t>3</a:t>
            </a:r>
            <a:endParaRPr lang="en-US" altLang="zh-CN" sz="2400" b="1" dirty="0">
              <a:solidFill>
                <a:schemeClr val="tx1"/>
              </a:solidFill>
              <a:latin typeface="Times New Roman" pitchFamily="18" charset="0"/>
              <a:ea typeface="隶书" panose="02010509060101010101" pitchFamily="49" charset="-122"/>
              <a:cs typeface="Times New Roman" pitchFamily="18" charset="0"/>
            </a:endParaRPr>
          </a:p>
          <a:p>
            <a:pPr>
              <a:buNone/>
            </a:pPr>
            <a:endParaRPr lang="en-US" altLang="zh-CN" sz="2400" b="1" dirty="0">
              <a:solidFill>
                <a:schemeClr val="tx1"/>
              </a:solidFill>
              <a:latin typeface="隶书" panose="02010509060101010101" pitchFamily="49" charset="-122"/>
              <a:ea typeface="隶书" panose="02010509060101010101" pitchFamily="49" charset="-122"/>
            </a:endParaRPr>
          </a:p>
        </p:txBody>
      </p:sp>
      <p:sp>
        <p:nvSpPr>
          <p:cNvPr id="83972" name="文本框 83971"/>
          <p:cNvSpPr txBox="1"/>
          <p:nvPr/>
        </p:nvSpPr>
        <p:spPr>
          <a:xfrm>
            <a:off x="231458" y="3326448"/>
            <a:ext cx="8918575" cy="1347787"/>
          </a:xfrm>
          <a:prstGeom prst="rect">
            <a:avLst/>
          </a:prstGeom>
          <a:noFill/>
          <a:ln w="9525">
            <a:noFill/>
          </a:ln>
        </p:spPr>
        <p:txBody>
          <a:bodyPr wrap="square" anchor="t">
            <a:spAutoFit/>
          </a:bodyPr>
          <a:lstStyle/>
          <a:p>
            <a:pPr lvl="1" indent="0">
              <a:spcBef>
                <a:spcPct val="20000"/>
              </a:spcBef>
              <a:buNone/>
            </a:pPr>
            <a:r>
              <a:rPr lang="en-US" altLang="zh-CN" b="1" dirty="0">
                <a:solidFill>
                  <a:schemeClr val="tx1"/>
                </a:solidFill>
                <a:latin typeface="Times New Roman" panose="02020603050405020304" pitchFamily="18" charset="0"/>
                <a:ea typeface="宋体" panose="02010600030101010101" pitchFamily="2" charset="-122"/>
              </a:rPr>
              <a:t>2</a:t>
            </a:r>
            <a:r>
              <a:rPr lang="zh-CN" altLang="en-US" b="1" dirty="0">
                <a:solidFill>
                  <a:schemeClr val="tx1"/>
                </a:solidFill>
                <a:latin typeface="Times New Roman" panose="02020603050405020304" pitchFamily="18" charset="0"/>
                <a:ea typeface="宋体" panose="02010600030101010101" pitchFamily="2" charset="-122"/>
              </a:rPr>
              <a:t>）钠法：用</a:t>
            </a:r>
            <a:r>
              <a:rPr lang="en-US" altLang="zh-CN" b="1" err="1">
                <a:solidFill>
                  <a:schemeClr val="tx1"/>
                </a:solidFill>
                <a:latin typeface="Times New Roman" panose="02020603050405020304" pitchFamily="18" charset="0"/>
                <a:ea typeface="宋体" panose="02010600030101010101" pitchFamily="2" charset="-122"/>
              </a:rPr>
              <a:t>NaOH</a:t>
            </a:r>
            <a:r>
              <a:rPr lang="zh-CN" altLang="en-US" b="1">
                <a:solidFill>
                  <a:schemeClr val="tx1"/>
                </a:solidFill>
                <a:latin typeface="Times New Roman" panose="02020603050405020304" pitchFamily="18" charset="0"/>
                <a:ea typeface="宋体" panose="02010600030101010101" pitchFamily="2" charset="-122"/>
              </a:rPr>
              <a:t>或</a:t>
            </a:r>
            <a:r>
              <a:rPr lang="en-US" altLang="zh-CN" b="1">
                <a:solidFill>
                  <a:schemeClr val="tx1"/>
                </a:solidFill>
                <a:latin typeface="Times New Roman" panose="02020603050405020304" pitchFamily="18" charset="0"/>
                <a:ea typeface="宋体" panose="02010600030101010101" pitchFamily="2" charset="-122"/>
              </a:rPr>
              <a:t>Na</a:t>
            </a:r>
            <a:r>
              <a:rPr lang="en-US" altLang="zh-CN" b="1" baseline="-25000">
                <a:solidFill>
                  <a:schemeClr val="tx1"/>
                </a:solidFill>
                <a:latin typeface="Times New Roman" panose="02020603050405020304" pitchFamily="18" charset="0"/>
                <a:ea typeface="宋体" panose="02010600030101010101" pitchFamily="2" charset="-122"/>
              </a:rPr>
              <a:t>2</a:t>
            </a:r>
            <a:r>
              <a:rPr lang="en-US" altLang="zh-CN" b="1">
                <a:solidFill>
                  <a:schemeClr val="tx1"/>
                </a:solidFill>
                <a:latin typeface="Times New Roman" panose="02020603050405020304" pitchFamily="18" charset="0"/>
                <a:ea typeface="宋体" panose="02010600030101010101" pitchFamily="2" charset="-122"/>
              </a:rPr>
              <a:t>CO</a:t>
            </a:r>
            <a:r>
              <a:rPr lang="en-US" altLang="zh-CN" b="1" baseline="-25000">
                <a:solidFill>
                  <a:schemeClr val="tx1"/>
                </a:solidFill>
                <a:latin typeface="Times New Roman" panose="02020603050405020304" pitchFamily="18" charset="0"/>
                <a:ea typeface="宋体" panose="02010600030101010101" pitchFamily="2" charset="-122"/>
              </a:rPr>
              <a:t>3</a:t>
            </a:r>
            <a:r>
              <a:rPr lang="zh-CN" altLang="en-US" b="1" dirty="0">
                <a:solidFill>
                  <a:schemeClr val="tx1"/>
                </a:solidFill>
                <a:latin typeface="Times New Roman" panose="02020603050405020304" pitchFamily="18" charset="0"/>
                <a:ea typeface="宋体" panose="02010600030101010101" pitchFamily="2" charset="-122"/>
              </a:rPr>
              <a:t>水溶液为吸收剂，吸收率＞</a:t>
            </a:r>
            <a:r>
              <a:rPr lang="en-US" altLang="zh-CN" b="1">
                <a:solidFill>
                  <a:schemeClr val="tx1"/>
                </a:solidFill>
                <a:latin typeface="Times New Roman" panose="02020603050405020304" pitchFamily="18" charset="0"/>
                <a:ea typeface="宋体" panose="02010600030101010101" pitchFamily="2" charset="-122"/>
              </a:rPr>
              <a:t>90% </a:t>
            </a:r>
          </a:p>
          <a:p>
            <a:pPr lvl="1" indent="0">
              <a:spcBef>
                <a:spcPct val="20000"/>
              </a:spcBef>
              <a:buNone/>
            </a:pPr>
            <a:r>
              <a:rPr lang="zh-CN" altLang="en-US" b="1" dirty="0">
                <a:solidFill>
                  <a:schemeClr val="tx1"/>
                </a:solidFill>
                <a:latin typeface="Times New Roman" panose="02020603050405020304" pitchFamily="18" charset="0"/>
                <a:ea typeface="宋体" panose="02010600030101010101" pitchFamily="2" charset="-122"/>
              </a:rPr>
              <a:t>主要反应： </a:t>
            </a:r>
            <a:r>
              <a:rPr lang="en-US" altLang="zh-CN" b="1" err="1">
                <a:solidFill>
                  <a:schemeClr val="tx1"/>
                </a:solidFill>
                <a:latin typeface="Times New Roman" panose="02020603050405020304" pitchFamily="18" charset="0"/>
                <a:ea typeface="宋体" panose="02010600030101010101" pitchFamily="2" charset="-122"/>
              </a:rPr>
              <a:t>2 NaOH</a:t>
            </a:r>
            <a:r>
              <a:rPr lang="en-US" altLang="zh-CN" b="1">
                <a:solidFill>
                  <a:schemeClr val="tx1"/>
                </a:solidFill>
                <a:latin typeface="Times New Roman" panose="02020603050405020304" pitchFamily="18" charset="0"/>
                <a:ea typeface="宋体" panose="02010600030101010101" pitchFamily="2" charset="-122"/>
              </a:rPr>
              <a:t> + SO</a:t>
            </a:r>
            <a:r>
              <a:rPr lang="en-US" altLang="zh-CN" b="1" baseline="-25000">
                <a:solidFill>
                  <a:schemeClr val="tx1"/>
                </a:solidFill>
                <a:latin typeface="Times New Roman" panose="02020603050405020304" pitchFamily="18" charset="0"/>
                <a:ea typeface="宋体" panose="02010600030101010101" pitchFamily="2" charset="-122"/>
              </a:rPr>
              <a:t>2</a:t>
            </a:r>
            <a:r>
              <a:rPr lang="en-US" altLang="zh-CN" b="1">
                <a:solidFill>
                  <a:schemeClr val="tx1"/>
                </a:solidFill>
                <a:latin typeface="Times New Roman" panose="02020603050405020304" pitchFamily="18" charset="0"/>
                <a:ea typeface="宋体" panose="02010600030101010101" pitchFamily="2" charset="-122"/>
              </a:rPr>
              <a:t> = Na</a:t>
            </a:r>
            <a:r>
              <a:rPr lang="en-US" altLang="zh-CN" b="1" baseline="-25000">
                <a:solidFill>
                  <a:schemeClr val="tx1"/>
                </a:solidFill>
                <a:latin typeface="Times New Roman" panose="02020603050405020304" pitchFamily="18" charset="0"/>
                <a:ea typeface="宋体" panose="02010600030101010101" pitchFamily="2" charset="-122"/>
              </a:rPr>
              <a:t>2</a:t>
            </a:r>
            <a:r>
              <a:rPr lang="en-US" altLang="zh-CN" b="1">
                <a:solidFill>
                  <a:schemeClr val="tx1"/>
                </a:solidFill>
                <a:latin typeface="Times New Roman" panose="02020603050405020304" pitchFamily="18" charset="0"/>
                <a:ea typeface="宋体" panose="02010600030101010101" pitchFamily="2" charset="-122"/>
              </a:rPr>
              <a:t>SO</a:t>
            </a:r>
            <a:r>
              <a:rPr lang="en-US" altLang="zh-CN" b="1" baseline="-25000">
                <a:solidFill>
                  <a:schemeClr val="tx1"/>
                </a:solidFill>
                <a:latin typeface="Times New Roman" panose="02020603050405020304" pitchFamily="18" charset="0"/>
                <a:ea typeface="宋体" panose="02010600030101010101" pitchFamily="2" charset="-122"/>
              </a:rPr>
              <a:t>3</a:t>
            </a:r>
            <a:r>
              <a:rPr lang="en-US" altLang="zh-CN" b="1">
                <a:solidFill>
                  <a:schemeClr val="tx1"/>
                </a:solidFill>
                <a:latin typeface="Times New Roman" panose="02020603050405020304" pitchFamily="18" charset="0"/>
                <a:ea typeface="宋体" panose="02010600030101010101" pitchFamily="2" charset="-122"/>
              </a:rPr>
              <a:t> + H</a:t>
            </a:r>
            <a:r>
              <a:rPr lang="en-US" altLang="zh-CN" b="1" baseline="-25000">
                <a:solidFill>
                  <a:schemeClr val="tx1"/>
                </a:solidFill>
                <a:latin typeface="Times New Roman" panose="02020603050405020304" pitchFamily="18" charset="0"/>
                <a:ea typeface="宋体" panose="02010600030101010101" pitchFamily="2" charset="-122"/>
              </a:rPr>
              <a:t>2</a:t>
            </a:r>
            <a:r>
              <a:rPr lang="en-US" altLang="zh-CN" b="1">
                <a:solidFill>
                  <a:schemeClr val="tx1"/>
                </a:solidFill>
                <a:latin typeface="Times New Roman" panose="02020603050405020304" pitchFamily="18" charset="0"/>
                <a:ea typeface="宋体" panose="02010600030101010101" pitchFamily="2" charset="-122"/>
              </a:rPr>
              <a:t>O</a:t>
            </a:r>
          </a:p>
          <a:p>
            <a:pPr lvl="1" indent="0">
              <a:spcBef>
                <a:spcPct val="20000"/>
              </a:spcBef>
              <a:buNone/>
            </a:pPr>
            <a:r>
              <a:rPr lang="en-US" altLang="zh-CN" b="1">
                <a:solidFill>
                  <a:schemeClr val="tx1"/>
                </a:solidFill>
                <a:latin typeface="Times New Roman" panose="02020603050405020304" pitchFamily="18" charset="0"/>
                <a:ea typeface="宋体" panose="02010600030101010101" pitchFamily="2" charset="-122"/>
              </a:rPr>
              <a:t>                     Na</a:t>
            </a:r>
            <a:r>
              <a:rPr lang="en-US" altLang="zh-CN" b="1" baseline="-25000">
                <a:solidFill>
                  <a:schemeClr val="tx1"/>
                </a:solidFill>
                <a:latin typeface="Times New Roman" panose="02020603050405020304" pitchFamily="18" charset="0"/>
                <a:ea typeface="宋体" panose="02010600030101010101" pitchFamily="2" charset="-122"/>
              </a:rPr>
              <a:t>2</a:t>
            </a:r>
            <a:r>
              <a:rPr lang="en-US" altLang="zh-CN" b="1">
                <a:solidFill>
                  <a:schemeClr val="tx1"/>
                </a:solidFill>
                <a:latin typeface="Times New Roman" panose="02020603050405020304" pitchFamily="18" charset="0"/>
                <a:ea typeface="宋体" panose="02010600030101010101" pitchFamily="2" charset="-122"/>
              </a:rPr>
              <a:t>CO</a:t>
            </a:r>
            <a:r>
              <a:rPr lang="en-US" altLang="zh-CN" b="1" baseline="-25000">
                <a:solidFill>
                  <a:schemeClr val="tx1"/>
                </a:solidFill>
                <a:latin typeface="Times New Roman" panose="02020603050405020304" pitchFamily="18" charset="0"/>
                <a:ea typeface="宋体" panose="02010600030101010101" pitchFamily="2" charset="-122"/>
              </a:rPr>
              <a:t>3</a:t>
            </a:r>
            <a:r>
              <a:rPr lang="en-US" altLang="zh-CN" b="1">
                <a:solidFill>
                  <a:schemeClr val="tx1"/>
                </a:solidFill>
                <a:latin typeface="Times New Roman" panose="02020603050405020304" pitchFamily="18" charset="0"/>
                <a:ea typeface="宋体" panose="02010600030101010101" pitchFamily="2" charset="-122"/>
              </a:rPr>
              <a:t> + SO</a:t>
            </a:r>
            <a:r>
              <a:rPr lang="en-US" altLang="zh-CN" b="1" baseline="-25000">
                <a:solidFill>
                  <a:schemeClr val="tx1"/>
                </a:solidFill>
                <a:latin typeface="Times New Roman" panose="02020603050405020304" pitchFamily="18" charset="0"/>
                <a:ea typeface="宋体" panose="02010600030101010101" pitchFamily="2" charset="-122"/>
              </a:rPr>
              <a:t>2</a:t>
            </a:r>
            <a:r>
              <a:rPr lang="en-US" altLang="zh-CN" b="1">
                <a:solidFill>
                  <a:schemeClr val="tx1"/>
                </a:solidFill>
                <a:latin typeface="Times New Roman" panose="02020603050405020304" pitchFamily="18" charset="0"/>
                <a:ea typeface="宋体" panose="02010600030101010101" pitchFamily="2" charset="-122"/>
              </a:rPr>
              <a:t> = Na</a:t>
            </a:r>
            <a:r>
              <a:rPr lang="en-US" altLang="zh-CN" b="1" baseline="-25000">
                <a:solidFill>
                  <a:schemeClr val="tx1"/>
                </a:solidFill>
                <a:latin typeface="Times New Roman" panose="02020603050405020304" pitchFamily="18" charset="0"/>
                <a:ea typeface="宋体" panose="02010600030101010101" pitchFamily="2" charset="-122"/>
              </a:rPr>
              <a:t>2</a:t>
            </a:r>
            <a:r>
              <a:rPr lang="en-US" altLang="zh-CN" b="1">
                <a:solidFill>
                  <a:schemeClr val="tx1"/>
                </a:solidFill>
                <a:latin typeface="Times New Roman" panose="02020603050405020304" pitchFamily="18" charset="0"/>
                <a:ea typeface="宋体" panose="02010600030101010101" pitchFamily="2" charset="-122"/>
              </a:rPr>
              <a:t>SO</a:t>
            </a:r>
            <a:r>
              <a:rPr lang="en-US" altLang="zh-CN" b="1" baseline="-25000">
                <a:solidFill>
                  <a:schemeClr val="tx1"/>
                </a:solidFill>
                <a:latin typeface="Times New Roman" panose="02020603050405020304" pitchFamily="18" charset="0"/>
                <a:ea typeface="宋体" panose="02010600030101010101" pitchFamily="2" charset="-122"/>
              </a:rPr>
              <a:t>3</a:t>
            </a:r>
            <a:r>
              <a:rPr lang="en-US" altLang="zh-CN" b="1">
                <a:solidFill>
                  <a:schemeClr val="tx1"/>
                </a:solidFill>
                <a:latin typeface="Times New Roman" panose="02020603050405020304" pitchFamily="18" charset="0"/>
                <a:ea typeface="宋体" panose="02010600030101010101" pitchFamily="2" charset="-122"/>
              </a:rPr>
              <a:t> + CO</a:t>
            </a:r>
            <a:r>
              <a:rPr lang="en-US" altLang="zh-CN" b="1" baseline="-25000">
                <a:solidFill>
                  <a:schemeClr val="tx1"/>
                </a:solidFill>
                <a:latin typeface="Times New Roman" panose="02020603050405020304" pitchFamily="18" charset="0"/>
                <a:ea typeface="宋体" panose="02010600030101010101" pitchFamily="2" charset="-122"/>
              </a:rPr>
              <a:t>2</a:t>
            </a:r>
          </a:p>
        </p:txBody>
      </p:sp>
      <p:sp>
        <p:nvSpPr>
          <p:cNvPr id="83973" name="文本框 83972"/>
          <p:cNvSpPr txBox="1"/>
          <p:nvPr/>
        </p:nvSpPr>
        <p:spPr>
          <a:xfrm>
            <a:off x="11430" y="4752023"/>
            <a:ext cx="8794750" cy="1789112"/>
          </a:xfrm>
          <a:prstGeom prst="rect">
            <a:avLst/>
          </a:prstGeom>
          <a:noFill/>
          <a:ln w="9525">
            <a:noFill/>
          </a:ln>
        </p:spPr>
        <p:txBody>
          <a:bodyPr wrap="square" anchor="t">
            <a:spAutoFit/>
          </a:bodyPr>
          <a:lstStyle/>
          <a:p>
            <a:pPr lvl="1" indent="0">
              <a:spcBef>
                <a:spcPct val="20000"/>
              </a:spcBef>
              <a:buNone/>
            </a:pPr>
            <a:r>
              <a:rPr lang="en-US" altLang="zh-CN" b="1" dirty="0">
                <a:solidFill>
                  <a:schemeClr val="tx1"/>
                </a:solidFill>
                <a:latin typeface="Times New Roman" panose="02020603050405020304" pitchFamily="18" charset="0"/>
                <a:ea typeface="宋体" panose="02010600030101010101" pitchFamily="2" charset="-122"/>
              </a:rPr>
              <a:t>3</a:t>
            </a:r>
            <a:r>
              <a:rPr lang="zh-CN" altLang="en-US" b="1" dirty="0">
                <a:solidFill>
                  <a:schemeClr val="tx1"/>
                </a:solidFill>
                <a:latin typeface="Times New Roman" panose="02020603050405020304" pitchFamily="18" charset="0"/>
                <a:ea typeface="宋体" panose="02010600030101010101" pitchFamily="2" charset="-122"/>
              </a:rPr>
              <a:t>）钙法：用</a:t>
            </a:r>
            <a:r>
              <a:rPr lang="en-US" altLang="zh-CN" b="1" err="1">
                <a:solidFill>
                  <a:schemeClr val="tx1"/>
                </a:solidFill>
                <a:latin typeface="Times New Roman" panose="02020603050405020304" pitchFamily="18" charset="0"/>
                <a:ea typeface="宋体" panose="02010600030101010101" pitchFamily="2" charset="-122"/>
              </a:rPr>
              <a:t>CaO</a:t>
            </a:r>
            <a:r>
              <a:rPr lang="en-US" altLang="zh-CN" b="1">
                <a:solidFill>
                  <a:schemeClr val="tx1"/>
                </a:solidFill>
                <a:latin typeface="Times New Roman" panose="02020603050405020304" pitchFamily="18" charset="0"/>
                <a:ea typeface="宋体" panose="02010600030101010101" pitchFamily="2" charset="-122"/>
              </a:rPr>
              <a:t>  Ca (OH)</a:t>
            </a:r>
            <a:r>
              <a:rPr lang="en-US" altLang="zh-CN" b="1" baseline="-25000">
                <a:solidFill>
                  <a:schemeClr val="tx1"/>
                </a:solidFill>
                <a:latin typeface="Times New Roman" panose="02020603050405020304" pitchFamily="18" charset="0"/>
                <a:ea typeface="宋体" panose="02010600030101010101" pitchFamily="2" charset="-122"/>
              </a:rPr>
              <a:t>2</a:t>
            </a:r>
            <a:r>
              <a:rPr lang="en-US" altLang="zh-CN" b="1">
                <a:solidFill>
                  <a:schemeClr val="tx1"/>
                </a:solidFill>
                <a:latin typeface="Times New Roman" panose="02020603050405020304" pitchFamily="18" charset="0"/>
                <a:ea typeface="宋体" panose="02010600030101010101" pitchFamily="2" charset="-122"/>
              </a:rPr>
              <a:t> </a:t>
            </a:r>
            <a:r>
              <a:rPr lang="zh-CN" altLang="en-US" b="1">
                <a:solidFill>
                  <a:schemeClr val="tx1"/>
                </a:solidFill>
                <a:latin typeface="Times New Roman" panose="02020603050405020304" pitchFamily="18" charset="0"/>
                <a:ea typeface="宋体" panose="02010600030101010101" pitchFamily="2" charset="-122"/>
              </a:rPr>
              <a:t>或</a:t>
            </a:r>
            <a:r>
              <a:rPr lang="en-US" altLang="zh-CN" b="1">
                <a:solidFill>
                  <a:schemeClr val="tx1"/>
                </a:solidFill>
                <a:latin typeface="Times New Roman" panose="02020603050405020304" pitchFamily="18" charset="0"/>
                <a:ea typeface="宋体" panose="02010600030101010101" pitchFamily="2" charset="-122"/>
              </a:rPr>
              <a:t>CaCO</a:t>
            </a:r>
            <a:r>
              <a:rPr lang="en-US" altLang="zh-CN" b="1" baseline="-25000">
                <a:solidFill>
                  <a:schemeClr val="tx1"/>
                </a:solidFill>
                <a:latin typeface="Times New Roman" panose="02020603050405020304" pitchFamily="18" charset="0"/>
                <a:ea typeface="宋体" panose="02010600030101010101" pitchFamily="2" charset="-122"/>
              </a:rPr>
              <a:t>3</a:t>
            </a:r>
            <a:r>
              <a:rPr lang="zh-CN" altLang="en-US" b="1" dirty="0">
                <a:solidFill>
                  <a:schemeClr val="tx1"/>
                </a:solidFill>
                <a:latin typeface="Times New Roman" panose="02020603050405020304" pitchFamily="18" charset="0"/>
                <a:ea typeface="宋体" panose="02010600030101010101" pitchFamily="2" charset="-122"/>
              </a:rPr>
              <a:t>制成浆液为吸收剂，</a:t>
            </a:r>
          </a:p>
          <a:p>
            <a:pPr lvl="1" indent="0">
              <a:spcBef>
                <a:spcPct val="20000"/>
              </a:spcBef>
              <a:buNone/>
            </a:pPr>
            <a:r>
              <a:rPr lang="zh-CN" altLang="en-US" b="1" dirty="0">
                <a:solidFill>
                  <a:schemeClr val="tx1"/>
                </a:solidFill>
                <a:latin typeface="Times New Roman" panose="02020603050405020304" pitchFamily="18" charset="0"/>
                <a:ea typeface="宋体" panose="02010600030101010101" pitchFamily="2" charset="-122"/>
              </a:rPr>
              <a:t>                  产物为</a:t>
            </a:r>
            <a:r>
              <a:rPr lang="en-US" altLang="zh-CN" b="1">
                <a:solidFill>
                  <a:schemeClr val="tx1"/>
                </a:solidFill>
                <a:latin typeface="Times New Roman" panose="02020603050405020304" pitchFamily="18" charset="0"/>
                <a:ea typeface="宋体" panose="02010600030101010101" pitchFamily="2" charset="-122"/>
              </a:rPr>
              <a:t>CaSO</a:t>
            </a:r>
            <a:r>
              <a:rPr lang="en-US" altLang="zh-CN" b="1" baseline="-25000">
                <a:solidFill>
                  <a:schemeClr val="tx1"/>
                </a:solidFill>
                <a:latin typeface="Times New Roman" panose="02020603050405020304" pitchFamily="18" charset="0"/>
                <a:ea typeface="宋体" panose="02010600030101010101" pitchFamily="2" charset="-122"/>
              </a:rPr>
              <a:t>4</a:t>
            </a:r>
            <a:r>
              <a:rPr lang="zh-CN" altLang="en-US" b="1" dirty="0">
                <a:solidFill>
                  <a:schemeClr val="tx1"/>
                </a:solidFill>
                <a:latin typeface="Times New Roman" panose="02020603050405020304" pitchFamily="18" charset="0"/>
                <a:ea typeface="宋体" panose="02010600030101010101" pitchFamily="2" charset="-122"/>
              </a:rPr>
              <a:t>，脱硫率＞</a:t>
            </a:r>
            <a:r>
              <a:rPr lang="en-US" altLang="zh-CN" b="1">
                <a:solidFill>
                  <a:schemeClr val="tx1"/>
                </a:solidFill>
                <a:latin typeface="Times New Roman" panose="02020603050405020304" pitchFamily="18" charset="0"/>
                <a:ea typeface="宋体" panose="02010600030101010101" pitchFamily="2" charset="-122"/>
              </a:rPr>
              <a:t>96%</a:t>
            </a:r>
          </a:p>
          <a:p>
            <a:pPr lvl="1" indent="0">
              <a:spcBef>
                <a:spcPct val="20000"/>
              </a:spcBef>
              <a:buNone/>
            </a:pPr>
            <a:r>
              <a:rPr lang="zh-CN" altLang="en-US" b="1" dirty="0">
                <a:solidFill>
                  <a:schemeClr val="tx1"/>
                </a:solidFill>
                <a:latin typeface="Times New Roman" panose="02020603050405020304" pitchFamily="18" charset="0"/>
                <a:ea typeface="宋体" panose="02010600030101010101" pitchFamily="2" charset="-122"/>
              </a:rPr>
              <a:t>主要反应： </a:t>
            </a:r>
            <a:r>
              <a:rPr lang="en-US" altLang="zh-CN" b="1">
                <a:solidFill>
                  <a:schemeClr val="tx1"/>
                </a:solidFill>
                <a:latin typeface="Times New Roman" panose="02020603050405020304" pitchFamily="18" charset="0"/>
                <a:ea typeface="宋体" panose="02010600030101010101" pitchFamily="2" charset="-122"/>
              </a:rPr>
              <a:t>CaCO</a:t>
            </a:r>
            <a:r>
              <a:rPr lang="en-US" altLang="zh-CN" b="1" baseline="-25000">
                <a:solidFill>
                  <a:schemeClr val="tx1"/>
                </a:solidFill>
                <a:latin typeface="Times New Roman" panose="02020603050405020304" pitchFamily="18" charset="0"/>
                <a:ea typeface="宋体" panose="02010600030101010101" pitchFamily="2" charset="-122"/>
              </a:rPr>
              <a:t>3</a:t>
            </a:r>
            <a:r>
              <a:rPr lang="en-US" altLang="zh-CN" b="1">
                <a:solidFill>
                  <a:schemeClr val="tx1"/>
                </a:solidFill>
                <a:latin typeface="Times New Roman" panose="02020603050405020304" pitchFamily="18" charset="0"/>
                <a:ea typeface="宋体" panose="02010600030101010101" pitchFamily="2" charset="-122"/>
              </a:rPr>
              <a:t> + SO</a:t>
            </a:r>
            <a:r>
              <a:rPr lang="en-US" altLang="zh-CN" b="1" baseline="-25000">
                <a:solidFill>
                  <a:schemeClr val="tx1"/>
                </a:solidFill>
                <a:latin typeface="Times New Roman" panose="02020603050405020304" pitchFamily="18" charset="0"/>
                <a:ea typeface="宋体" panose="02010600030101010101" pitchFamily="2" charset="-122"/>
              </a:rPr>
              <a:t>2</a:t>
            </a:r>
            <a:r>
              <a:rPr lang="en-US" altLang="zh-CN" b="1">
                <a:solidFill>
                  <a:schemeClr val="tx1"/>
                </a:solidFill>
                <a:latin typeface="Times New Roman" panose="02020603050405020304" pitchFamily="18" charset="0"/>
                <a:ea typeface="宋体" panose="02010600030101010101" pitchFamily="2" charset="-122"/>
              </a:rPr>
              <a:t> + 1/2H</a:t>
            </a:r>
            <a:r>
              <a:rPr lang="en-US" altLang="zh-CN" b="1" baseline="-25000">
                <a:solidFill>
                  <a:schemeClr val="tx1"/>
                </a:solidFill>
                <a:latin typeface="Times New Roman" panose="02020603050405020304" pitchFamily="18" charset="0"/>
                <a:ea typeface="宋体" panose="02010600030101010101" pitchFamily="2" charset="-122"/>
              </a:rPr>
              <a:t>2</a:t>
            </a:r>
            <a:r>
              <a:rPr lang="en-US" altLang="zh-CN" b="1">
                <a:solidFill>
                  <a:schemeClr val="tx1"/>
                </a:solidFill>
                <a:latin typeface="Times New Roman" panose="02020603050405020304" pitchFamily="18" charset="0"/>
                <a:ea typeface="宋体" panose="02010600030101010101" pitchFamily="2" charset="-122"/>
              </a:rPr>
              <a:t>O = CaSO</a:t>
            </a:r>
            <a:r>
              <a:rPr lang="en-US" altLang="zh-CN" b="1" baseline="-25000">
                <a:solidFill>
                  <a:schemeClr val="tx1"/>
                </a:solidFill>
                <a:latin typeface="Times New Roman" panose="02020603050405020304" pitchFamily="18" charset="0"/>
                <a:ea typeface="宋体" panose="02010600030101010101" pitchFamily="2" charset="-122"/>
              </a:rPr>
              <a:t>3</a:t>
            </a:r>
            <a:r>
              <a:rPr lang="en-US" altLang="zh-CN" b="1">
                <a:solidFill>
                  <a:schemeClr val="tx1"/>
                </a:solidFill>
                <a:latin typeface="Times New Roman" panose="02020603050405020304" pitchFamily="18" charset="0"/>
                <a:ea typeface="宋体" panose="02010600030101010101" pitchFamily="2" charset="-122"/>
              </a:rPr>
              <a:t>·1/2H</a:t>
            </a:r>
            <a:r>
              <a:rPr lang="en-US" altLang="zh-CN" b="1" baseline="-25000">
                <a:solidFill>
                  <a:schemeClr val="tx1"/>
                </a:solidFill>
                <a:latin typeface="Times New Roman" panose="02020603050405020304" pitchFamily="18" charset="0"/>
                <a:ea typeface="宋体" panose="02010600030101010101" pitchFamily="2" charset="-122"/>
              </a:rPr>
              <a:t>2</a:t>
            </a:r>
            <a:r>
              <a:rPr lang="en-US" altLang="zh-CN" b="1">
                <a:solidFill>
                  <a:schemeClr val="tx1"/>
                </a:solidFill>
                <a:latin typeface="Times New Roman" panose="02020603050405020304" pitchFamily="18" charset="0"/>
                <a:ea typeface="宋体" panose="02010600030101010101" pitchFamily="2" charset="-122"/>
              </a:rPr>
              <a:t>O + CO</a:t>
            </a:r>
            <a:r>
              <a:rPr lang="en-US" altLang="zh-CN" b="1" baseline="-25000">
                <a:solidFill>
                  <a:schemeClr val="tx1"/>
                </a:solidFill>
                <a:latin typeface="Times New Roman" panose="02020603050405020304" pitchFamily="18" charset="0"/>
                <a:ea typeface="宋体" panose="02010600030101010101" pitchFamily="2" charset="-122"/>
              </a:rPr>
              <a:t>2</a:t>
            </a:r>
            <a:endParaRPr lang="en-US" altLang="zh-CN" b="1">
              <a:solidFill>
                <a:schemeClr val="tx1"/>
              </a:solidFill>
              <a:latin typeface="Times New Roman" panose="02020603050405020304" pitchFamily="18" charset="0"/>
              <a:ea typeface="宋体" panose="02010600030101010101" pitchFamily="2" charset="-122"/>
            </a:endParaRPr>
          </a:p>
          <a:p>
            <a:pPr lvl="1" indent="0">
              <a:spcBef>
                <a:spcPct val="20000"/>
              </a:spcBef>
              <a:buNone/>
            </a:pPr>
            <a:r>
              <a:rPr lang="en-US" altLang="zh-CN" b="1">
                <a:solidFill>
                  <a:schemeClr val="tx1"/>
                </a:solidFill>
                <a:latin typeface="Times New Roman" panose="02020603050405020304" pitchFamily="18" charset="0"/>
                <a:ea typeface="宋体" panose="02010600030101010101" pitchFamily="2" charset="-122"/>
              </a:rPr>
              <a:t>                     2CaSO</a:t>
            </a:r>
            <a:r>
              <a:rPr lang="en-US" altLang="zh-CN" b="1" baseline="-25000">
                <a:solidFill>
                  <a:schemeClr val="tx1"/>
                </a:solidFill>
                <a:latin typeface="Times New Roman" panose="02020603050405020304" pitchFamily="18" charset="0"/>
                <a:ea typeface="宋体" panose="02010600030101010101" pitchFamily="2" charset="-122"/>
              </a:rPr>
              <a:t>3</a:t>
            </a:r>
            <a:r>
              <a:rPr lang="en-US" altLang="zh-CN" b="1">
                <a:solidFill>
                  <a:schemeClr val="tx1"/>
                </a:solidFill>
                <a:latin typeface="Times New Roman" panose="02020603050405020304" pitchFamily="18" charset="0"/>
                <a:ea typeface="宋体" panose="02010600030101010101" pitchFamily="2" charset="-122"/>
              </a:rPr>
              <a:t>·1/2H</a:t>
            </a:r>
            <a:r>
              <a:rPr lang="en-US" altLang="zh-CN" b="1" baseline="-25000">
                <a:solidFill>
                  <a:schemeClr val="tx1"/>
                </a:solidFill>
                <a:latin typeface="Times New Roman" panose="02020603050405020304" pitchFamily="18" charset="0"/>
                <a:ea typeface="宋体" panose="02010600030101010101" pitchFamily="2" charset="-122"/>
              </a:rPr>
              <a:t>2</a:t>
            </a:r>
            <a:r>
              <a:rPr lang="en-US" altLang="zh-CN" b="1">
                <a:solidFill>
                  <a:schemeClr val="tx1"/>
                </a:solidFill>
                <a:latin typeface="Times New Roman" panose="02020603050405020304" pitchFamily="18" charset="0"/>
                <a:ea typeface="宋体" panose="02010600030101010101" pitchFamily="2" charset="-122"/>
              </a:rPr>
              <a:t>O + O</a:t>
            </a:r>
            <a:r>
              <a:rPr lang="en-US" altLang="zh-CN" b="1" baseline="-25000">
                <a:solidFill>
                  <a:schemeClr val="tx1"/>
                </a:solidFill>
                <a:latin typeface="Times New Roman" panose="02020603050405020304" pitchFamily="18" charset="0"/>
                <a:ea typeface="宋体" panose="02010600030101010101" pitchFamily="2" charset="-122"/>
              </a:rPr>
              <a:t>2</a:t>
            </a:r>
            <a:r>
              <a:rPr lang="en-US" altLang="zh-CN" b="1">
                <a:solidFill>
                  <a:schemeClr val="tx1"/>
                </a:solidFill>
                <a:latin typeface="Times New Roman" panose="02020603050405020304" pitchFamily="18" charset="0"/>
                <a:ea typeface="宋体" panose="02010600030101010101" pitchFamily="2" charset="-122"/>
              </a:rPr>
              <a:t> + 3H</a:t>
            </a:r>
            <a:r>
              <a:rPr lang="en-US" altLang="zh-CN" b="1" baseline="-25000">
                <a:solidFill>
                  <a:schemeClr val="tx1"/>
                </a:solidFill>
                <a:latin typeface="Times New Roman" panose="02020603050405020304" pitchFamily="18" charset="0"/>
                <a:ea typeface="宋体" panose="02010600030101010101" pitchFamily="2" charset="-122"/>
              </a:rPr>
              <a:t>2</a:t>
            </a:r>
            <a:r>
              <a:rPr lang="en-US" altLang="zh-CN" b="1">
                <a:solidFill>
                  <a:schemeClr val="tx1"/>
                </a:solidFill>
                <a:latin typeface="Times New Roman" panose="02020603050405020304" pitchFamily="18" charset="0"/>
                <a:ea typeface="宋体" panose="02010600030101010101" pitchFamily="2" charset="-122"/>
              </a:rPr>
              <a:t>O = 2CaSO</a:t>
            </a:r>
            <a:r>
              <a:rPr lang="en-US" altLang="zh-CN" b="1" baseline="-25000">
                <a:solidFill>
                  <a:schemeClr val="tx1"/>
                </a:solidFill>
                <a:latin typeface="Times New Roman" panose="02020603050405020304" pitchFamily="18" charset="0"/>
                <a:ea typeface="宋体" panose="02010600030101010101" pitchFamily="2" charset="-122"/>
              </a:rPr>
              <a:t>4</a:t>
            </a:r>
            <a:r>
              <a:rPr lang="en-US" altLang="zh-CN" b="1">
                <a:solidFill>
                  <a:schemeClr val="tx1"/>
                </a:solidFill>
                <a:latin typeface="Times New Roman" panose="02020603050405020304" pitchFamily="18" charset="0"/>
                <a:ea typeface="宋体" panose="02010600030101010101" pitchFamily="2" charset="-122"/>
              </a:rPr>
              <a:t>·2H</a:t>
            </a:r>
            <a:r>
              <a:rPr lang="en-US" altLang="zh-CN" b="1" baseline="-25000">
                <a:solidFill>
                  <a:schemeClr val="tx1"/>
                </a:solidFill>
                <a:latin typeface="Times New Roman" panose="02020603050405020304" pitchFamily="18" charset="0"/>
                <a:ea typeface="宋体" panose="02010600030101010101" pitchFamily="2" charset="-122"/>
              </a:rPr>
              <a:t>2</a:t>
            </a:r>
            <a:r>
              <a:rPr lang="en-US" altLang="zh-CN" b="1">
                <a:solidFill>
                  <a:schemeClr val="tx1"/>
                </a:solidFill>
                <a:latin typeface="Times New Roman" panose="02020603050405020304" pitchFamily="18" charset="0"/>
                <a:ea typeface="宋体" panose="02010600030101010101" pitchFamily="2" charset="-122"/>
              </a:rPr>
              <a:t>O</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animEffect transition="in" filter="blinds(horizontal)">
                                      <p:cBhvr>
                                        <p:cTn id="7" dur="500"/>
                                        <p:tgtEl>
                                          <p:spTgt spid="8397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3971">
                                            <p:txEl>
                                              <p:pRg st="1" end="1"/>
                                            </p:txEl>
                                          </p:spTgt>
                                        </p:tgtEl>
                                        <p:attrNameLst>
                                          <p:attrName>style.visibility</p:attrName>
                                        </p:attrNameLst>
                                      </p:cBhvr>
                                      <p:to>
                                        <p:strVal val="visible"/>
                                      </p:to>
                                    </p:set>
                                    <p:animEffect transition="in" filter="blinds(horizontal)">
                                      <p:cBhvr>
                                        <p:cTn id="10" dur="500"/>
                                        <p:tgtEl>
                                          <p:spTgt spid="83971">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3971">
                                            <p:txEl>
                                              <p:pRg st="2" end="2"/>
                                            </p:txEl>
                                          </p:spTgt>
                                        </p:tgtEl>
                                        <p:attrNameLst>
                                          <p:attrName>style.visibility</p:attrName>
                                        </p:attrNameLst>
                                      </p:cBhvr>
                                      <p:to>
                                        <p:strVal val="visible"/>
                                      </p:to>
                                    </p:set>
                                    <p:animEffect transition="in" filter="blinds(horizontal)">
                                      <p:cBhvr>
                                        <p:cTn id="13" dur="500"/>
                                        <p:tgtEl>
                                          <p:spTgt spid="83971">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3971">
                                            <p:txEl>
                                              <p:pRg st="3" end="3"/>
                                            </p:txEl>
                                          </p:spTgt>
                                        </p:tgtEl>
                                        <p:attrNameLst>
                                          <p:attrName>style.visibility</p:attrName>
                                        </p:attrNameLst>
                                      </p:cBhvr>
                                      <p:to>
                                        <p:strVal val="visible"/>
                                      </p:to>
                                    </p:set>
                                    <p:animEffect transition="in" filter="blinds(horizontal)">
                                      <p:cBhvr>
                                        <p:cTn id="16" dur="500"/>
                                        <p:tgtEl>
                                          <p:spTgt spid="83971">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83972"/>
                                        </p:tgtEl>
                                        <p:attrNameLst>
                                          <p:attrName>style.visibility</p:attrName>
                                        </p:attrNameLst>
                                      </p:cBhvr>
                                      <p:to>
                                        <p:strVal val="visible"/>
                                      </p:to>
                                    </p:set>
                                    <p:animEffect transition="in" filter="blinds(horizontal)">
                                      <p:cBhvr>
                                        <p:cTn id="21" dur="500"/>
                                        <p:tgtEl>
                                          <p:spTgt spid="8397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83973"/>
                                        </p:tgtEl>
                                        <p:attrNameLst>
                                          <p:attrName>style.visibility</p:attrName>
                                        </p:attrNameLst>
                                      </p:cBhvr>
                                      <p:to>
                                        <p:strVal val="visible"/>
                                      </p:to>
                                    </p:set>
                                    <p:animEffect transition="in" filter="blinds(horizontal)">
                                      <p:cBhvr>
                                        <p:cTn id="26" dur="500"/>
                                        <p:tgtEl>
                                          <p:spTgt spid="83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p:bldP spid="83972" grpId="0"/>
      <p:bldP spid="8397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文本占位符 122882"/>
          <p:cNvSpPr>
            <a:spLocks noGrp="1"/>
          </p:cNvSpPr>
          <p:nvPr>
            <p:ph idx="1"/>
          </p:nvPr>
        </p:nvSpPr>
        <p:spPr>
          <a:noFill/>
          <a:ln>
            <a:noFill/>
          </a:ln>
        </p:spPr>
        <p:txBody>
          <a:bodyPr anchor="t"/>
          <a:lstStyle/>
          <a:p>
            <a:pPr>
              <a:lnSpc>
                <a:spcPct val="120000"/>
              </a:lnSpc>
            </a:pPr>
            <a:r>
              <a:rPr lang="zh-CN" altLang="en-US" b="1" dirty="0">
                <a:solidFill>
                  <a:schemeClr val="tx1"/>
                </a:solidFill>
                <a:ea typeface="楷体_GB2312" panose="02010609030101010101" pitchFamily="49" charset="-122"/>
              </a:rPr>
              <a:t>土壤环境污染的特点</a:t>
            </a:r>
          </a:p>
          <a:p>
            <a:pPr>
              <a:lnSpc>
                <a:spcPct val="120000"/>
              </a:lnSpc>
            </a:pPr>
            <a:r>
              <a:rPr lang="zh-CN" altLang="en-US" b="1" dirty="0">
                <a:solidFill>
                  <a:schemeClr val="tx1"/>
                </a:solidFill>
                <a:ea typeface="楷体_GB2312" panose="02010609030101010101" pitchFamily="49" charset="-122"/>
              </a:rPr>
              <a:t>具有一定的隐蔽性</a:t>
            </a:r>
            <a:r>
              <a:rPr lang="en-US" altLang="zh-CN" b="1" dirty="0">
                <a:solidFill>
                  <a:schemeClr val="tx1"/>
                </a:solidFill>
                <a:ea typeface="楷体_GB2312" panose="02010609030101010101" pitchFamily="49" charset="-122"/>
              </a:rPr>
              <a:t>: </a:t>
            </a:r>
            <a:r>
              <a:rPr lang="zh-CN" altLang="en-US" b="1" dirty="0">
                <a:solidFill>
                  <a:schemeClr val="tx1"/>
                </a:solidFill>
                <a:ea typeface="楷体_GB2312" panose="02010609030101010101" pitchFamily="49" charset="-122"/>
              </a:rPr>
              <a:t>植物吸收入果实</a:t>
            </a:r>
            <a:r>
              <a:rPr lang="en-US" altLang="zh-CN" b="1" dirty="0">
                <a:solidFill>
                  <a:schemeClr val="tx1"/>
                </a:solidFill>
                <a:ea typeface="楷体_GB2312" panose="02010609030101010101" pitchFamily="49" charset="-122"/>
              </a:rPr>
              <a:t>, </a:t>
            </a:r>
            <a:r>
              <a:rPr lang="zh-CN" altLang="en-US" b="1" dirty="0">
                <a:solidFill>
                  <a:schemeClr val="tx1"/>
                </a:solidFill>
                <a:ea typeface="楷体_GB2312" panose="02010609030101010101" pitchFamily="49" charset="-122"/>
              </a:rPr>
              <a:t>人类食用并积累</a:t>
            </a:r>
            <a:r>
              <a:rPr lang="en-US" altLang="zh-CN" b="1" dirty="0">
                <a:solidFill>
                  <a:schemeClr val="tx1"/>
                </a:solidFill>
                <a:ea typeface="楷体_GB2312" panose="02010609030101010101" pitchFamily="49" charset="-122"/>
              </a:rPr>
              <a:t>, </a:t>
            </a:r>
            <a:r>
              <a:rPr lang="zh-CN" altLang="en-US" b="1" dirty="0">
                <a:solidFill>
                  <a:schemeClr val="tx1"/>
                </a:solidFill>
                <a:ea typeface="楷体_GB2312" panose="02010609030101010101" pitchFamily="49" charset="-122"/>
              </a:rPr>
              <a:t>出现病状</a:t>
            </a:r>
            <a:r>
              <a:rPr lang="en-US" altLang="zh-CN" b="1" dirty="0">
                <a:solidFill>
                  <a:schemeClr val="tx1"/>
                </a:solidFill>
                <a:ea typeface="楷体_GB2312" panose="02010609030101010101" pitchFamily="49" charset="-122"/>
              </a:rPr>
              <a:t>,</a:t>
            </a:r>
            <a:r>
              <a:rPr lang="zh-CN" altLang="en-US" b="1" dirty="0">
                <a:solidFill>
                  <a:schemeClr val="tx1"/>
                </a:solidFill>
                <a:ea typeface="楷体_GB2312" panose="02010609030101010101" pitchFamily="49" charset="-122"/>
              </a:rPr>
              <a:t>才发现</a:t>
            </a:r>
            <a:r>
              <a:rPr lang="en-US" altLang="zh-CN" b="1" dirty="0">
                <a:solidFill>
                  <a:schemeClr val="tx1"/>
                </a:solidFill>
                <a:ea typeface="楷体_GB2312" panose="02010609030101010101" pitchFamily="49" charset="-122"/>
              </a:rPr>
              <a:t>.</a:t>
            </a:r>
          </a:p>
          <a:p>
            <a:pPr>
              <a:lnSpc>
                <a:spcPct val="120000"/>
              </a:lnSpc>
            </a:pPr>
            <a:r>
              <a:rPr lang="zh-CN" altLang="en-US" b="1" dirty="0">
                <a:solidFill>
                  <a:schemeClr val="tx1"/>
                </a:solidFill>
                <a:ea typeface="楷体_GB2312" panose="02010609030101010101" pitchFamily="49" charset="-122"/>
              </a:rPr>
              <a:t>难以修复</a:t>
            </a:r>
            <a:r>
              <a:rPr lang="en-US" altLang="zh-CN" b="1" dirty="0">
                <a:solidFill>
                  <a:schemeClr val="tx1"/>
                </a:solidFill>
                <a:ea typeface="楷体_GB2312" panose="02010609030101010101" pitchFamily="49" charset="-122"/>
              </a:rPr>
              <a:t>: </a:t>
            </a:r>
            <a:r>
              <a:rPr lang="zh-CN" altLang="en-US" b="1" dirty="0">
                <a:solidFill>
                  <a:schemeClr val="tx1"/>
                </a:solidFill>
                <a:ea typeface="楷体_GB2312" panose="02010609030101010101" pitchFamily="49" charset="-122"/>
              </a:rPr>
              <a:t>有些重金属污染具有不可逆转性</a:t>
            </a:r>
            <a:r>
              <a:rPr lang="en-US" altLang="zh-CN" b="1" dirty="0">
                <a:solidFill>
                  <a:schemeClr val="tx1"/>
                </a:solidFill>
                <a:ea typeface="楷体_GB2312" panose="02010609030101010101" pitchFamily="49" charset="-122"/>
              </a:rPr>
              <a:t>.</a:t>
            </a:r>
          </a:p>
          <a:p>
            <a:pPr>
              <a:lnSpc>
                <a:spcPct val="120000"/>
              </a:lnSpc>
            </a:pPr>
            <a:r>
              <a:rPr lang="zh-CN" altLang="en-US" b="1" dirty="0">
                <a:solidFill>
                  <a:schemeClr val="tx1"/>
                </a:solidFill>
                <a:ea typeface="楷体_GB2312" panose="02010609030101010101" pitchFamily="49" charset="-122"/>
              </a:rPr>
              <a:t>后果严重</a:t>
            </a:r>
            <a:r>
              <a:rPr lang="en-US" altLang="zh-CN" b="1" dirty="0">
                <a:solidFill>
                  <a:schemeClr val="tx1"/>
                </a:solidFill>
                <a:ea typeface="楷体_GB2312" panose="02010609030101010101" pitchFamily="49" charset="-122"/>
              </a:rPr>
              <a:t>: </a:t>
            </a:r>
            <a:r>
              <a:rPr lang="zh-CN" altLang="en-US" b="1" dirty="0">
                <a:solidFill>
                  <a:schemeClr val="tx1"/>
                </a:solidFill>
                <a:ea typeface="楷体_GB2312" panose="02010609030101010101" pitchFamily="49" charset="-122"/>
              </a:rPr>
              <a:t>土壤资源有限</a:t>
            </a:r>
            <a:r>
              <a:rPr lang="en-US" altLang="zh-CN" b="1" dirty="0">
                <a:solidFill>
                  <a:schemeClr val="tx1"/>
                </a:solidFill>
                <a:ea typeface="楷体_GB2312" panose="02010609030101010101" pitchFamily="49" charset="-122"/>
              </a:rPr>
              <a:t>, </a:t>
            </a:r>
            <a:r>
              <a:rPr lang="zh-CN" altLang="en-US" b="1" dirty="0">
                <a:solidFill>
                  <a:schemeClr val="tx1"/>
                </a:solidFill>
                <a:ea typeface="楷体_GB2312" panose="02010609030101010101" pitchFamily="49" charset="-122"/>
              </a:rPr>
              <a:t>土壤的生成需数万年</a:t>
            </a:r>
            <a:r>
              <a:rPr lang="en-US" altLang="zh-CN" b="1" dirty="0">
                <a:solidFill>
                  <a:schemeClr val="tx1"/>
                </a:solidFill>
                <a:ea typeface="楷体_GB2312" panose="02010609030101010101" pitchFamily="49" charset="-122"/>
              </a:rPr>
              <a:t>.</a:t>
            </a:r>
          </a:p>
        </p:txBody>
      </p:sp>
      <p:sp>
        <p:nvSpPr>
          <p:cNvPr id="7170" name="Rectangle 2"/>
          <p:cNvSpPr>
            <a:spLocks noChangeArrowheads="1"/>
          </p:cNvSpPr>
          <p:nvPr/>
        </p:nvSpPr>
        <p:spPr bwMode="auto">
          <a:xfrm>
            <a:off x="0" y="419100"/>
            <a:ext cx="9144000" cy="720725"/>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chemeClr val="bg1"/>
                </a:solidFill>
                <a:effectLst/>
                <a:uLnTx/>
                <a:uFillTx/>
                <a:latin typeface="楷体_GB2312" panose="02010609030101010101" pitchFamily="49" charset="-122"/>
                <a:ea typeface="楷体_GB2312" panose="02010609030101010101" pitchFamily="49" charset="-122"/>
                <a:cs typeface="+mn-cs"/>
              </a:rPr>
              <a:t>§8</a:t>
            </a:r>
            <a:r>
              <a:rPr kumimoji="0" lang="en-US" altLang="zh-CN" sz="3200" b="1" i="0" u="none" strike="noStrike" kern="1200" cap="none" spc="0" normalizeH="0" baseline="0" noProof="0">
                <a:ln>
                  <a:noFill/>
                </a:ln>
                <a:solidFill>
                  <a:schemeClr val="bg1"/>
                </a:solidFill>
                <a:effectLst/>
                <a:uLnTx/>
                <a:uFillTx/>
                <a:latin typeface="Times New Roman" panose="02020603050405020304" pitchFamily="18" charset="0"/>
                <a:ea typeface="楷体_GB2312" panose="02010609030101010101" pitchFamily="49" charset="-122"/>
                <a:cs typeface="+mn-cs"/>
              </a:rPr>
              <a:t>.3  </a:t>
            </a:r>
            <a:r>
              <a:rPr kumimoji="0" lang="zh-CN" altLang="en-US" sz="3200" b="1" i="0" u="none" strike="noStrike" kern="1200" cap="none" spc="0" normalizeH="0" baseline="0" noProof="0">
                <a:ln>
                  <a:noFill/>
                </a:ln>
                <a:solidFill>
                  <a:schemeClr val="bg1"/>
                </a:solidFill>
                <a:effectLst/>
                <a:uLnTx/>
                <a:uFillTx/>
                <a:latin typeface="Times New Roman" panose="02020603050405020304" pitchFamily="18" charset="0"/>
                <a:ea typeface="楷体_GB2312" panose="02010609030101010101" pitchFamily="49" charset="-122"/>
                <a:cs typeface="+mn-cs"/>
              </a:rPr>
              <a:t>土壤污染及其防治</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7170"/>
                                        </p:tgtEl>
                                        <p:attrNameLst>
                                          <p:attrName>style.visibility</p:attrName>
                                        </p:attrNameLst>
                                      </p:cBhvr>
                                      <p:to>
                                        <p:strVal val="visible"/>
                                      </p:to>
                                    </p:set>
                                    <p:anim calcmode="lin" valueType="num">
                                      <p:cBhvr>
                                        <p:cTn id="7" dur="500" fill="hold"/>
                                        <p:tgtEl>
                                          <p:spTgt spid="717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170"/>
                                        </p:tgtEl>
                                        <p:attrNameLst>
                                          <p:attrName>ppt_y</p:attrName>
                                        </p:attrNameLst>
                                      </p:cBhvr>
                                      <p:tavLst>
                                        <p:tav tm="0">
                                          <p:val>
                                            <p:strVal val="#ppt_y"/>
                                          </p:val>
                                        </p:tav>
                                        <p:tav tm="100000">
                                          <p:val>
                                            <p:strVal val="#ppt_y"/>
                                          </p:val>
                                        </p:tav>
                                      </p:tavLst>
                                    </p:anim>
                                    <p:anim calcmode="lin" valueType="num">
                                      <p:cBhvr>
                                        <p:cTn id="9" dur="500" fill="hold"/>
                                        <p:tgtEl>
                                          <p:spTgt spid="717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17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170"/>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46082">
                                            <p:txEl>
                                              <p:pRg st="0" end="0"/>
                                            </p:txEl>
                                          </p:spTgt>
                                        </p:tgtEl>
                                        <p:attrNameLst>
                                          <p:attrName>style.visibility</p:attrName>
                                        </p:attrNameLst>
                                      </p:cBhvr>
                                      <p:to>
                                        <p:strVal val="visible"/>
                                      </p:to>
                                    </p:set>
                                    <p:animEffect transition="in" filter="checkerboard(across)">
                                      <p:cBhvr>
                                        <p:cTn id="16" dur="500"/>
                                        <p:tgtEl>
                                          <p:spTgt spid="46082">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46082">
                                            <p:txEl>
                                              <p:pRg st="1" end="1"/>
                                            </p:txEl>
                                          </p:spTgt>
                                        </p:tgtEl>
                                        <p:attrNameLst>
                                          <p:attrName>style.visibility</p:attrName>
                                        </p:attrNameLst>
                                      </p:cBhvr>
                                      <p:to>
                                        <p:strVal val="visible"/>
                                      </p:to>
                                    </p:set>
                                    <p:animEffect transition="in" filter="checkerboard(across)">
                                      <p:cBhvr>
                                        <p:cTn id="21" dur="500"/>
                                        <p:tgtEl>
                                          <p:spTgt spid="46082">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46082">
                                            <p:txEl>
                                              <p:pRg st="2" end="2"/>
                                            </p:txEl>
                                          </p:spTgt>
                                        </p:tgtEl>
                                        <p:attrNameLst>
                                          <p:attrName>style.visibility</p:attrName>
                                        </p:attrNameLst>
                                      </p:cBhvr>
                                      <p:to>
                                        <p:strVal val="visible"/>
                                      </p:to>
                                    </p:set>
                                    <p:animEffect transition="in" filter="checkerboard(across)">
                                      <p:cBhvr>
                                        <p:cTn id="26" dur="500"/>
                                        <p:tgtEl>
                                          <p:spTgt spid="46082">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46082">
                                            <p:txEl>
                                              <p:pRg st="3" end="3"/>
                                            </p:txEl>
                                          </p:spTgt>
                                        </p:tgtEl>
                                        <p:attrNameLst>
                                          <p:attrName>style.visibility</p:attrName>
                                        </p:attrNameLst>
                                      </p:cBhvr>
                                      <p:to>
                                        <p:strVal val="visible"/>
                                      </p:to>
                                    </p:set>
                                    <p:animEffect transition="in" filter="checkerboard(across)">
                                      <p:cBhvr>
                                        <p:cTn id="31" dur="500"/>
                                        <p:tgtEl>
                                          <p:spTgt spid="4608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p:cNvSpPr>
            <a:spLocks noGrp="1"/>
          </p:cNvSpPr>
          <p:nvPr>
            <p:ph type="title"/>
          </p:nvPr>
        </p:nvSpPr>
        <p:spPr>
          <a:xfrm>
            <a:off x="500034" y="642918"/>
            <a:ext cx="6608445" cy="892810"/>
          </a:xfrm>
          <a:solidFill>
            <a:srgbClr val="22E50D"/>
          </a:solidFill>
          <a:ln>
            <a:noFill/>
          </a:ln>
        </p:spPr>
        <p:txBody>
          <a:bodyPr anchor="t"/>
          <a:lstStyle/>
          <a:p>
            <a:pPr algn="ctr"/>
            <a:r>
              <a:rPr lang="zh-CN" altLang="en-US" sz="3600" b="1" dirty="0">
                <a:latin typeface="宋体" panose="02010600030101010101" pitchFamily="2" charset="-122"/>
                <a:ea typeface="宋体" panose="02010600030101010101" pitchFamily="2" charset="-122"/>
                <a:cs typeface="宋体" panose="02010600030101010101" pitchFamily="2" charset="-122"/>
              </a:rPr>
              <a:t>8.</a:t>
            </a:r>
            <a:r>
              <a:rPr lang="en-US" altLang="zh-CN" sz="3600" b="1" dirty="0">
                <a:latin typeface="宋体" panose="02010600030101010101" pitchFamily="2" charset="-122"/>
                <a:ea typeface="宋体" panose="02010600030101010101" pitchFamily="2" charset="-122"/>
                <a:cs typeface="宋体" panose="02010600030101010101" pitchFamily="2" charset="-122"/>
              </a:rPr>
              <a:t>3</a:t>
            </a:r>
            <a:r>
              <a:rPr lang="zh-CN" altLang="en-US" sz="3600" b="1" dirty="0">
                <a:latin typeface="宋体" panose="02010600030101010101" pitchFamily="2" charset="-122"/>
                <a:ea typeface="宋体" panose="02010600030101010101" pitchFamily="2" charset="-122"/>
                <a:cs typeface="宋体" panose="02010600030101010101" pitchFamily="2" charset="-122"/>
              </a:rPr>
              <a:t>.1 土壤的组成和结构</a:t>
            </a:r>
          </a:p>
        </p:txBody>
      </p:sp>
      <p:pic>
        <p:nvPicPr>
          <p:cNvPr id="2" name="对象 1"/>
          <p:cNvPicPr/>
          <p:nvPr/>
        </p:nvPicPr>
        <p:blipFill>
          <a:blip r:embed="rId2"/>
          <a:srcRect l="-2328" t="-6873" r="-2124" b="-4327"/>
          <a:stretch>
            <a:fillRect/>
          </a:stretch>
        </p:blipFill>
        <p:spPr>
          <a:xfrm>
            <a:off x="989330" y="2320290"/>
            <a:ext cx="6380480" cy="3387090"/>
          </a:xfrm>
          <a:prstGeom prst="rect">
            <a:avLst/>
          </a:prstGeom>
          <a:noFill/>
          <a:ln w="9525">
            <a:noFill/>
          </a:ln>
        </p:spPr>
      </p:pic>
    </p:spTree>
  </p:cSld>
  <p:clrMapOvr>
    <a:masterClrMapping/>
  </p:clrMapOvr>
  <p:transition spd="slow">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b="1">
                <a:solidFill>
                  <a:srgbClr val="C00000"/>
                </a:solidFill>
                <a:sym typeface="+mn-ea"/>
              </a:rPr>
              <a:t>1. 土壤的物理性质</a:t>
            </a:r>
            <a:br>
              <a:rPr lang="zh-CN" altLang="en-US" sz="4000" b="1">
                <a:solidFill>
                  <a:srgbClr val="C00000"/>
                </a:solidFill>
              </a:rPr>
            </a:br>
            <a:endParaRPr lang="zh-CN" altLang="en-US" sz="4000" b="1">
              <a:solidFill>
                <a:srgbClr val="C00000"/>
              </a:solidFill>
            </a:endParaRPr>
          </a:p>
        </p:txBody>
      </p:sp>
      <p:sp>
        <p:nvSpPr>
          <p:cNvPr id="3" name="内容占位符 2"/>
          <p:cNvSpPr>
            <a:spLocks noGrp="1"/>
          </p:cNvSpPr>
          <p:nvPr>
            <p:ph idx="1"/>
          </p:nvPr>
        </p:nvSpPr>
        <p:spPr>
          <a:xfrm>
            <a:off x="457200" y="1040765"/>
            <a:ext cx="8229600" cy="4525963"/>
          </a:xfrm>
        </p:spPr>
        <p:txBody>
          <a:bodyPr/>
          <a:lstStyle/>
          <a:p>
            <a:pPr latinLnBrk="0">
              <a:lnSpc>
                <a:spcPct val="130000"/>
              </a:lnSpc>
              <a:spcBef>
                <a:spcPts val="0"/>
              </a:spcBef>
              <a:buClr>
                <a:srgbClr val="FF0000"/>
              </a:buClr>
              <a:buFont typeface="Wingdings" panose="05000000000000000000" charset="0"/>
              <a:buChar char="u"/>
            </a:pPr>
            <a:r>
              <a:rPr lang="zh-CN" altLang="en-US" sz="2400" b="1" dirty="0">
                <a:solidFill>
                  <a:srgbClr val="3C37FD"/>
                </a:solidFill>
                <a:sym typeface="+mn-ea"/>
              </a:rPr>
              <a:t>分散性</a:t>
            </a:r>
            <a:r>
              <a:rPr lang="en-US" altLang="zh-CN" sz="2400" b="1" dirty="0">
                <a:sym typeface="+mn-ea"/>
              </a:rPr>
              <a:t>: </a:t>
            </a:r>
            <a:r>
              <a:rPr lang="zh-CN" altLang="en-US" sz="2400" b="1" dirty="0"/>
              <a:t>土壤能表现出一定的胶体的物理性质，如带有电荷（通常为负电荷），并且各胶体微粒间由于带同种电荷相互排斥。</a:t>
            </a:r>
          </a:p>
          <a:p>
            <a:pPr latinLnBrk="0">
              <a:lnSpc>
                <a:spcPct val="130000"/>
              </a:lnSpc>
              <a:spcBef>
                <a:spcPts val="0"/>
              </a:spcBef>
              <a:buClr>
                <a:srgbClr val="FF0000"/>
              </a:buClr>
              <a:buFont typeface="Wingdings" panose="05000000000000000000" charset="0"/>
              <a:buChar char="u"/>
            </a:pPr>
            <a:r>
              <a:rPr lang="zh-CN" altLang="en-US" sz="2400" b="1" dirty="0">
                <a:solidFill>
                  <a:srgbClr val="3C37FD"/>
                </a:solidFill>
                <a:sym typeface="+mn-ea"/>
              </a:rPr>
              <a:t>凝聚性</a:t>
            </a:r>
            <a:r>
              <a:rPr lang="en-US" altLang="zh-CN" sz="2400" b="1" dirty="0">
                <a:sym typeface="+mn-ea"/>
              </a:rPr>
              <a:t>: </a:t>
            </a:r>
            <a:r>
              <a:rPr lang="zh-CN" altLang="en-US" sz="2400" b="1" dirty="0">
                <a:sym typeface="+mn-ea"/>
              </a:rPr>
              <a:t>当外界由于灌溉等原因加入电解质（可在水中电离成带电的离子）时，胶体微粒间的电荷排斥力消失，溶胶变凝胶。</a:t>
            </a:r>
          </a:p>
          <a:p>
            <a:pPr latinLnBrk="0">
              <a:lnSpc>
                <a:spcPct val="130000"/>
              </a:lnSpc>
              <a:spcBef>
                <a:spcPts val="0"/>
              </a:spcBef>
              <a:buClr>
                <a:srgbClr val="FF0000"/>
              </a:buClr>
              <a:buFont typeface="Wingdings" panose="05000000000000000000" charset="0"/>
              <a:buChar char="u"/>
            </a:pPr>
            <a:r>
              <a:rPr lang="zh-CN" altLang="en-US" sz="2400" b="1" dirty="0">
                <a:solidFill>
                  <a:srgbClr val="3C37FD"/>
                </a:solidFill>
                <a:sym typeface="+mn-ea"/>
              </a:rPr>
              <a:t>离子交换吸附</a:t>
            </a:r>
            <a:r>
              <a:rPr lang="en-US" altLang="zh-CN" sz="2400" b="1" dirty="0">
                <a:sym typeface="+mn-ea"/>
              </a:rPr>
              <a:t>: </a:t>
            </a:r>
            <a:r>
              <a:rPr lang="zh-CN" altLang="en-US" sz="2400" b="1" dirty="0">
                <a:sym typeface="+mn-ea"/>
              </a:rPr>
              <a:t>由于土壤微粒带负电性而使其具有一定的吸附土壤中带电阳离子的能力。阳离子的电荷越多、离子半径越小，就与土壤胶粒吸附越紧密，并且能将其他相对吸附不紧密的离子置换下来。例如，钙离子（Ca</a:t>
            </a:r>
            <a:r>
              <a:rPr lang="zh-CN" altLang="en-US" sz="2400" b="1" baseline="30000" dirty="0">
                <a:sym typeface="+mn-ea"/>
              </a:rPr>
              <a:t>2+</a:t>
            </a:r>
            <a:r>
              <a:rPr lang="zh-CN" altLang="en-US" sz="2400" b="1" dirty="0">
                <a:sym typeface="+mn-ea"/>
              </a:rPr>
              <a:t>）能将吸附在土壤胶粒上的钠离子（Na</a:t>
            </a:r>
            <a:r>
              <a:rPr lang="zh-CN" altLang="en-US" sz="2400" b="1" baseline="30000" dirty="0">
                <a:sym typeface="+mn-ea"/>
              </a:rPr>
              <a:t>+</a:t>
            </a:r>
            <a:r>
              <a:rPr lang="zh-CN" altLang="en-US" sz="2400" b="1" dirty="0">
                <a:sym typeface="+mn-ea"/>
              </a:rPr>
              <a:t>）交换下来。</a:t>
            </a:r>
            <a:endParaRPr lang="zh-CN" altLang="en-US" sz="2400" b="1" dirty="0"/>
          </a:p>
        </p:txBody>
      </p:sp>
    </p:spTree>
  </p:cSld>
  <p:clrMapOvr>
    <a:masterClrMapping/>
  </p:clrMapOvr>
  <p:transition spd="slow">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2890" y="149543"/>
            <a:ext cx="8229600" cy="1143000"/>
          </a:xfrm>
        </p:spPr>
        <p:txBody>
          <a:bodyPr/>
          <a:lstStyle/>
          <a:p>
            <a:r>
              <a:rPr lang="zh-CN" altLang="en-US" sz="3600" b="1">
                <a:solidFill>
                  <a:srgbClr val="C00000"/>
                </a:solidFill>
                <a:sym typeface="+mn-ea"/>
              </a:rPr>
              <a:t>2. 土壤的化学性质</a:t>
            </a:r>
            <a:br>
              <a:rPr lang="zh-CN" altLang="en-US" sz="4000" b="1">
                <a:solidFill>
                  <a:srgbClr val="C00000"/>
                </a:solidFill>
              </a:rPr>
            </a:br>
            <a:endParaRPr lang="zh-CN" altLang="en-US" sz="4000" b="1">
              <a:solidFill>
                <a:srgbClr val="C00000"/>
              </a:solidFill>
            </a:endParaRPr>
          </a:p>
        </p:txBody>
      </p:sp>
      <p:sp>
        <p:nvSpPr>
          <p:cNvPr id="3" name="内容占位符 2"/>
          <p:cNvSpPr>
            <a:spLocks noGrp="1"/>
          </p:cNvSpPr>
          <p:nvPr>
            <p:ph idx="1"/>
          </p:nvPr>
        </p:nvSpPr>
        <p:spPr>
          <a:xfrm>
            <a:off x="88900" y="707390"/>
            <a:ext cx="8966200" cy="4650740"/>
          </a:xfrm>
        </p:spPr>
        <p:txBody>
          <a:bodyPr/>
          <a:lstStyle/>
          <a:p>
            <a:pPr marL="0" indent="0">
              <a:buNone/>
            </a:pPr>
            <a:r>
              <a:rPr lang="zh-CN" altLang="en-US" b="1"/>
              <a:t>1)</a:t>
            </a:r>
            <a:r>
              <a:rPr lang="zh-CN" altLang="en-US" b="1">
                <a:solidFill>
                  <a:srgbClr val="3C37FD"/>
                </a:solidFill>
              </a:rPr>
              <a:t>土壤的酸碱性</a:t>
            </a:r>
            <a:endParaRPr lang="zh-CN" altLang="en-US" b="1"/>
          </a:p>
          <a:p>
            <a:r>
              <a:rPr lang="zh-CN" altLang="en-US" sz="2400" b="1"/>
              <a:t>土壤中CO</a:t>
            </a:r>
            <a:r>
              <a:rPr lang="zh-CN" altLang="en-US" sz="2400" b="1" baseline="-25000"/>
              <a:t>2</a:t>
            </a:r>
            <a:r>
              <a:rPr lang="zh-CN" altLang="en-US" sz="2400" b="1"/>
              <a:t>溶于水形成的碳酸，矿物质氧化产生的无机酸，有机物质分解产生的有机酸以及人为施用的无机肥料中残留的无机酸，均能在土壤溶液中电离出H</a:t>
            </a:r>
            <a:r>
              <a:rPr lang="zh-CN" altLang="en-US" sz="2400" b="1" baseline="30000"/>
              <a:t>+</a:t>
            </a:r>
            <a:r>
              <a:rPr lang="zh-CN" altLang="en-US" sz="2400" b="1"/>
              <a:t>，使土壤显酸性，H</a:t>
            </a:r>
            <a:r>
              <a:rPr lang="zh-CN" altLang="en-US" sz="2400" b="1" baseline="30000"/>
              <a:t>+</a:t>
            </a:r>
            <a:r>
              <a:rPr lang="zh-CN" altLang="en-US" sz="2400" b="1"/>
              <a:t>浓度越大，酸性就越强。</a:t>
            </a:r>
          </a:p>
          <a:p>
            <a:r>
              <a:rPr lang="zh-CN" altLang="en-US" sz="2400" b="1"/>
              <a:t>另一方面，由于土壤胶粒的吸附作用，土壤微粒表面往往吸附部分H</a:t>
            </a:r>
            <a:r>
              <a:rPr lang="zh-CN" altLang="en-US" sz="2400" b="1" baseline="30000"/>
              <a:t>+</a:t>
            </a:r>
            <a:r>
              <a:rPr lang="zh-CN" altLang="en-US" sz="2400" b="1"/>
              <a:t>，这些H</a:t>
            </a:r>
            <a:r>
              <a:rPr lang="zh-CN" altLang="en-US" sz="2400" b="1" baseline="30000"/>
              <a:t>+</a:t>
            </a:r>
            <a:r>
              <a:rPr lang="zh-CN" altLang="en-US" sz="2400" b="1"/>
              <a:t>需要其他离子交换下来才能对土壤的酸度做出贡献。同时，在被吸附的离子中有一定含量的Al</a:t>
            </a:r>
            <a:r>
              <a:rPr lang="zh-CN" altLang="en-US" sz="2400" b="1" baseline="30000"/>
              <a:t>3+</a:t>
            </a:r>
            <a:r>
              <a:rPr lang="zh-CN" altLang="en-US" sz="2400" b="1"/>
              <a:t>，它在被其他离子交换下来的时候，容易发生水解，生成H</a:t>
            </a:r>
            <a:r>
              <a:rPr lang="zh-CN" altLang="en-US" sz="2400" b="1" baseline="30000"/>
              <a:t>+</a:t>
            </a:r>
            <a:r>
              <a:rPr lang="zh-CN" altLang="en-US" sz="2400" b="1"/>
              <a:t>，从而使土壤表现出酸性。</a:t>
            </a:r>
          </a:p>
          <a:p>
            <a:r>
              <a:rPr lang="zh-CN" altLang="en-US" sz="2400" b="1"/>
              <a:t>反之，当土壤溶液中存在较大量的弱酸强碱盐类（如NaCO</a:t>
            </a:r>
            <a:r>
              <a:rPr lang="zh-CN" altLang="en-US" sz="2400" b="1" baseline="-25000"/>
              <a:t>3</a:t>
            </a:r>
            <a:r>
              <a:rPr lang="zh-CN" altLang="en-US" sz="2400" b="1"/>
              <a:t>和NaHCO</a:t>
            </a:r>
            <a:r>
              <a:rPr lang="zh-CN" altLang="en-US" sz="2400" b="1" baseline="-25000"/>
              <a:t>3</a:t>
            </a:r>
            <a:r>
              <a:rPr lang="zh-CN" altLang="en-US" sz="2400" b="1"/>
              <a:t>）时，溶液会因为这类盐水解所生成OH</a:t>
            </a:r>
            <a:r>
              <a:rPr lang="zh-CN" altLang="en-US" sz="2400" b="1" baseline="30000"/>
              <a:t>-</a:t>
            </a:r>
            <a:r>
              <a:rPr lang="zh-CN" altLang="en-US" sz="2400" b="1"/>
              <a:t>，并使OH</a:t>
            </a:r>
            <a:r>
              <a:rPr lang="zh-CN" altLang="en-US" sz="2400" b="1" baseline="30000"/>
              <a:t>-</a:t>
            </a:r>
            <a:r>
              <a:rPr lang="zh-CN" altLang="en-US" sz="2400" b="1"/>
              <a:t>浓度高于H</a:t>
            </a:r>
            <a:r>
              <a:rPr lang="zh-CN" altLang="en-US" sz="2400" b="1" baseline="30000"/>
              <a:t>+</a:t>
            </a:r>
            <a:r>
              <a:rPr lang="zh-CN" altLang="en-US" sz="2400" b="1"/>
              <a:t>而显碱性。在通常情况下，NaCO</a:t>
            </a:r>
            <a:r>
              <a:rPr lang="zh-CN" altLang="en-US" sz="2400" b="1" baseline="-25000"/>
              <a:t>3</a:t>
            </a:r>
            <a:r>
              <a:rPr lang="zh-CN" altLang="en-US" sz="2400" b="1"/>
              <a:t>可使土壤呈较强的碱性，pH值高达10以上；NaHCO</a:t>
            </a:r>
            <a:r>
              <a:rPr lang="zh-CN" altLang="en-US" sz="2400" b="1" baseline="-25000"/>
              <a:t>3</a:t>
            </a:r>
            <a:r>
              <a:rPr lang="zh-CN" altLang="en-US" sz="2400" b="1"/>
              <a:t>则使土壤呈较弱的碱性，pH值常为7.5~8.5。碱性的土壤往往不利于农作物的生长。</a:t>
            </a:r>
          </a:p>
        </p:txBody>
      </p:sp>
    </p:spTree>
  </p:cSld>
  <p:clrMapOvr>
    <a:masterClrMapping/>
  </p:clrMapOvr>
  <p:transition spd="slow">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2890" y="486410"/>
            <a:ext cx="8229600" cy="4525963"/>
          </a:xfrm>
        </p:spPr>
        <p:txBody>
          <a:bodyPr/>
          <a:lstStyle/>
          <a:p>
            <a:pPr marL="0" indent="0">
              <a:buNone/>
            </a:pPr>
            <a:r>
              <a:rPr lang="zh-CN" altLang="en-US"/>
              <a:t>2)</a:t>
            </a:r>
            <a:r>
              <a:rPr lang="zh-CN" altLang="en-US" b="1">
                <a:solidFill>
                  <a:srgbClr val="3C37FD"/>
                </a:solidFill>
              </a:rPr>
              <a:t>土壤的氧化还原性</a:t>
            </a:r>
            <a:endParaRPr lang="zh-CN" altLang="en-US" b="1"/>
          </a:p>
          <a:p>
            <a:pPr latinLnBrk="0">
              <a:lnSpc>
                <a:spcPct val="135000"/>
              </a:lnSpc>
              <a:spcBef>
                <a:spcPts val="0"/>
              </a:spcBef>
            </a:pPr>
            <a:r>
              <a:rPr lang="zh-CN" altLang="en-US"/>
              <a:t>    </a:t>
            </a:r>
            <a:r>
              <a:rPr lang="zh-CN" altLang="en-US" sz="2400" b="1"/>
              <a:t>土壤中往往含有一些能发生氧化还原反应的物质，这些物质的氧化态和还原态在溶液中形成一系列的平衡体系，从而使土壤既具有氧化性，又具有还原性。比如，Fe</a:t>
            </a:r>
            <a:r>
              <a:rPr lang="zh-CN" altLang="en-US" sz="2400" b="1" baseline="30000"/>
              <a:t>3+</a:t>
            </a:r>
            <a:r>
              <a:rPr lang="zh-CN" altLang="en-US" sz="2400" b="1"/>
              <a:t>—Fe</a:t>
            </a:r>
            <a:r>
              <a:rPr lang="zh-CN" altLang="en-US" sz="2400" b="1" baseline="30000"/>
              <a:t>2+</a:t>
            </a:r>
            <a:r>
              <a:rPr lang="zh-CN" altLang="en-US" sz="2400" b="1"/>
              <a:t>体系、SO</a:t>
            </a:r>
            <a:r>
              <a:rPr lang="zh-CN" altLang="en-US" sz="2400" b="1" baseline="-25000"/>
              <a:t>4</a:t>
            </a:r>
            <a:r>
              <a:rPr lang="zh-CN" altLang="en-US" sz="2400" b="1" baseline="30000"/>
              <a:t>2-</a:t>
            </a:r>
            <a:r>
              <a:rPr lang="zh-CN" altLang="en-US" sz="2400" b="1"/>
              <a:t>—H</a:t>
            </a:r>
            <a:r>
              <a:rPr lang="zh-CN" altLang="en-US" sz="2400" b="1" baseline="-25000"/>
              <a:t>2</a:t>
            </a:r>
            <a:r>
              <a:rPr lang="zh-CN" altLang="en-US" sz="2400" b="1"/>
              <a:t>S体系、NO</a:t>
            </a:r>
            <a:r>
              <a:rPr lang="zh-CN" altLang="en-US" sz="2400" b="1" baseline="-25000"/>
              <a:t>3</a:t>
            </a:r>
            <a:r>
              <a:rPr lang="zh-CN" altLang="en-US" sz="2400" b="1" baseline="30000"/>
              <a:t>-</a:t>
            </a:r>
            <a:r>
              <a:rPr lang="zh-CN" altLang="en-US" sz="2400" b="1"/>
              <a:t>—NH</a:t>
            </a:r>
            <a:r>
              <a:rPr lang="zh-CN" altLang="en-US" sz="2400" b="1" baseline="-25000"/>
              <a:t>4</a:t>
            </a:r>
            <a:r>
              <a:rPr lang="zh-CN" altLang="en-US" sz="2400" b="1" baseline="30000"/>
              <a:t>+</a:t>
            </a:r>
            <a:r>
              <a:rPr lang="zh-CN" altLang="en-US" sz="2400" b="1"/>
              <a:t>体系等。这些体系的存在对土壤的氧化性、还原性有极大地影响，进而影响到土壤中各种物质的转化和迁移。</a:t>
            </a:r>
          </a:p>
        </p:txBody>
      </p:sp>
    </p:spTree>
  </p:cSld>
  <p:clrMapOvr>
    <a:masterClrMapping/>
  </p:clrMapOvr>
  <p:transition spd="slow">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latinLnBrk="0">
              <a:lnSpc>
                <a:spcPct val="135000"/>
              </a:lnSpc>
              <a:spcBef>
                <a:spcPts val="0"/>
              </a:spcBef>
              <a:buNone/>
            </a:pPr>
            <a:r>
              <a:rPr lang="zh-CN" altLang="en-US"/>
              <a:t> </a:t>
            </a:r>
            <a:r>
              <a:rPr lang="zh-CN" altLang="en-US" b="1"/>
              <a:t>3)</a:t>
            </a:r>
            <a:r>
              <a:rPr lang="zh-CN" altLang="en-US" b="1">
                <a:solidFill>
                  <a:srgbClr val="3C37FD"/>
                </a:solidFill>
              </a:rPr>
              <a:t>土壤的缓冲性</a:t>
            </a:r>
          </a:p>
          <a:p>
            <a:pPr latinLnBrk="0">
              <a:lnSpc>
                <a:spcPct val="135000"/>
              </a:lnSpc>
              <a:spcBef>
                <a:spcPts val="0"/>
              </a:spcBef>
            </a:pPr>
            <a:r>
              <a:rPr lang="zh-CN" altLang="en-US"/>
              <a:t>      </a:t>
            </a:r>
            <a:r>
              <a:rPr lang="zh-CN" altLang="en-US" sz="2800" b="1"/>
              <a:t>土壤的缓冲性是指酸、碱、盐类等外界物质进入土壤后，在一定限度内，土壤酸度、氧化还原等性质的变化能稳定地保持在一定范围内。土壤缓冲性是土壤的重要性质之一，为植物生长和土壤生物的活动创造比较稳定的生活环境。</a:t>
            </a:r>
          </a:p>
        </p:txBody>
      </p:sp>
    </p:spTree>
  </p:cSld>
  <p:clrMapOvr>
    <a:masterClrMapping/>
  </p:clrMapOvr>
  <p:transition spd="slow">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b="1">
                <a:solidFill>
                  <a:srgbClr val="C00000"/>
                </a:solidFill>
                <a:sym typeface="+mn-ea"/>
              </a:rPr>
              <a:t>3. 土壤的生物性质</a:t>
            </a:r>
            <a:br>
              <a:rPr lang="zh-CN" altLang="en-US" sz="3600"/>
            </a:br>
            <a:endParaRPr lang="zh-CN" altLang="en-US" sz="3600"/>
          </a:p>
        </p:txBody>
      </p:sp>
      <p:sp>
        <p:nvSpPr>
          <p:cNvPr id="3" name="内容占位符 2"/>
          <p:cNvSpPr>
            <a:spLocks noGrp="1"/>
          </p:cNvSpPr>
          <p:nvPr>
            <p:ph idx="1"/>
          </p:nvPr>
        </p:nvSpPr>
        <p:spPr>
          <a:xfrm>
            <a:off x="457200" y="1165860"/>
            <a:ext cx="8493760" cy="4526280"/>
          </a:xfrm>
        </p:spPr>
        <p:txBody>
          <a:bodyPr/>
          <a:lstStyle/>
          <a:p>
            <a:pPr marL="0" indent="0">
              <a:buNone/>
            </a:pPr>
            <a:r>
              <a:rPr lang="zh-CN" altLang="en-US" dirty="0"/>
              <a:t>      </a:t>
            </a:r>
            <a:r>
              <a:rPr lang="zh-CN" altLang="en-US" sz="2800" b="1" dirty="0"/>
              <a:t>土壤生物是土壤的重要组成部分，如细菌、真菌、藻类、动物甚至病毒等。从某种意义上说，土壤生物的群落分布反映出该地区土壤的质量（肥力）。</a:t>
            </a:r>
          </a:p>
          <a:p>
            <a:r>
              <a:rPr lang="zh-CN" altLang="en-US" sz="2800" b="1" dirty="0"/>
              <a:t>土壤生物的存在，不仅可以分解土壤有机质和促进腐殖质形成，而且可以影响土壤有机碳、有机氮不断分解进而影响土壤气体的组成；</a:t>
            </a:r>
          </a:p>
          <a:p>
            <a:r>
              <a:rPr lang="zh-CN" altLang="en-US" sz="2800" b="1" dirty="0"/>
              <a:t>不仅可以通过吸收、固定并释放养分，改善和调节植物营养状况，且可以与植物共生促进植物生长；</a:t>
            </a:r>
          </a:p>
          <a:p>
            <a:r>
              <a:rPr lang="zh-CN" altLang="en-US" sz="2800" b="1" dirty="0"/>
              <a:t>同时，土壤生物在土壤的自净功能中也表现突出，在有机物污染和重金属污染治理中起重要作用。</a:t>
            </a:r>
          </a:p>
        </p:txBody>
      </p:sp>
    </p:spTree>
  </p:cSld>
  <p:clrMapOvr>
    <a:masterClrMapping/>
  </p:clrMapOvr>
  <p:transition spd="slow">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02260"/>
            <a:ext cx="5100320" cy="796290"/>
          </a:xfrm>
          <a:solidFill>
            <a:srgbClr val="22E50D"/>
          </a:solidFill>
        </p:spPr>
        <p:txBody>
          <a:bodyPr/>
          <a:lstStyle/>
          <a:p>
            <a:pPr algn="ctr"/>
            <a:r>
              <a:rPr lang="zh-CN" altLang="en-US" sz="4000" b="1"/>
              <a:t>8.</a:t>
            </a:r>
            <a:r>
              <a:rPr lang="en-US" altLang="zh-CN" sz="4000" b="1"/>
              <a:t>3</a:t>
            </a:r>
            <a:r>
              <a:rPr lang="zh-CN" altLang="en-US" sz="4000" b="1"/>
              <a:t>.2 土壤污染</a:t>
            </a:r>
            <a:br>
              <a:rPr lang="zh-CN" altLang="en-US" sz="4000" b="1"/>
            </a:br>
            <a:r>
              <a:rPr lang="zh-CN" altLang="en-US"/>
              <a:t>    </a:t>
            </a:r>
          </a:p>
        </p:txBody>
      </p:sp>
      <p:sp>
        <p:nvSpPr>
          <p:cNvPr id="3" name="内容占位符 2"/>
          <p:cNvSpPr>
            <a:spLocks noGrp="1"/>
          </p:cNvSpPr>
          <p:nvPr>
            <p:ph idx="1"/>
          </p:nvPr>
        </p:nvSpPr>
        <p:spPr>
          <a:xfrm>
            <a:off x="457200" y="1266190"/>
            <a:ext cx="8521700" cy="4526280"/>
          </a:xfrm>
        </p:spPr>
        <p:txBody>
          <a:bodyPr/>
          <a:lstStyle/>
          <a:p>
            <a:pPr marL="0" indent="0" latinLnBrk="0">
              <a:lnSpc>
                <a:spcPct val="135000"/>
              </a:lnSpc>
              <a:spcBef>
                <a:spcPts val="0"/>
              </a:spcBef>
              <a:buNone/>
            </a:pPr>
            <a:r>
              <a:rPr lang="zh-CN" altLang="en-US" sz="3600" b="1">
                <a:solidFill>
                  <a:srgbClr val="C00000"/>
                </a:solidFill>
                <a:sym typeface="+mn-ea"/>
              </a:rPr>
              <a:t>1．土壤污染物的分类及来源</a:t>
            </a:r>
            <a:endParaRPr lang="zh-CN" altLang="en-US" sz="3600" b="1">
              <a:solidFill>
                <a:srgbClr val="C00000"/>
              </a:solidFill>
            </a:endParaRPr>
          </a:p>
          <a:p>
            <a:pPr marL="0" indent="0" latinLnBrk="0">
              <a:lnSpc>
                <a:spcPct val="135000"/>
              </a:lnSpc>
              <a:spcBef>
                <a:spcPts val="0"/>
              </a:spcBef>
              <a:buNone/>
            </a:pPr>
            <a:r>
              <a:rPr lang="zh-CN" altLang="en-US" sz="2800" b="1"/>
              <a:t>(1)</a:t>
            </a:r>
            <a:r>
              <a:rPr lang="zh-CN" altLang="en-US" sz="2800" b="1">
                <a:solidFill>
                  <a:srgbClr val="3C37FD"/>
                </a:solidFill>
              </a:rPr>
              <a:t>化学污染物</a:t>
            </a:r>
            <a:r>
              <a:rPr lang="zh-CN" altLang="en-US" sz="2800" b="1"/>
              <a:t>。包括汞、镉、铅、砷等重金属，过量的氮、磷植物营养元素，氧化物和硫化物等无机污染物；各种化学农药、石油及其裂解产物以及其他有机合成产物等有机污染物。</a:t>
            </a:r>
          </a:p>
          <a:p>
            <a:pPr marL="0" indent="0" latinLnBrk="0">
              <a:lnSpc>
                <a:spcPct val="135000"/>
              </a:lnSpc>
              <a:spcBef>
                <a:spcPts val="0"/>
              </a:spcBef>
              <a:buNone/>
            </a:pPr>
            <a:r>
              <a:rPr lang="zh-CN" altLang="en-US" sz="2800" b="1"/>
              <a:t>(2)</a:t>
            </a:r>
            <a:r>
              <a:rPr lang="zh-CN" altLang="en-US" sz="2800" b="1">
                <a:solidFill>
                  <a:srgbClr val="3C37FD"/>
                </a:solidFill>
              </a:rPr>
              <a:t>物理污染物</a:t>
            </a:r>
            <a:r>
              <a:rPr lang="zh-CN" altLang="en-US" sz="2800" b="1"/>
              <a:t>。包括来自工厂、矿山的固体废弃物如尾矿、废石、粉煤灰和工业垃圾等。</a:t>
            </a:r>
          </a:p>
        </p:txBody>
      </p:sp>
    </p:spTree>
  </p:cSld>
  <p:clrMapOvr>
    <a:masterClrMapping/>
  </p:clrMapOvr>
  <p:transition spd="slow">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latinLnBrk="0">
              <a:lnSpc>
                <a:spcPct val="135000"/>
              </a:lnSpc>
              <a:spcBef>
                <a:spcPts val="0"/>
              </a:spcBef>
              <a:buNone/>
            </a:pPr>
            <a:r>
              <a:rPr lang="zh-CN" altLang="en-US" b="1"/>
              <a:t>(3)</a:t>
            </a:r>
            <a:r>
              <a:rPr lang="zh-CN" altLang="en-US" b="1">
                <a:solidFill>
                  <a:srgbClr val="3C37FD"/>
                </a:solidFill>
              </a:rPr>
              <a:t>生物污染物</a:t>
            </a:r>
            <a:r>
              <a:rPr lang="zh-CN" altLang="en-US" b="1"/>
              <a:t>。指带有各种病菌的城市垃圾和由卫生设施（包括医院）排出的废水、废物以及厩肥等。</a:t>
            </a:r>
          </a:p>
          <a:p>
            <a:pPr marL="0" indent="0" latinLnBrk="0">
              <a:lnSpc>
                <a:spcPct val="135000"/>
              </a:lnSpc>
              <a:spcBef>
                <a:spcPts val="0"/>
              </a:spcBef>
              <a:buNone/>
            </a:pPr>
            <a:r>
              <a:rPr lang="zh-CN" altLang="en-US" b="1"/>
              <a:t>(4)</a:t>
            </a:r>
            <a:r>
              <a:rPr lang="zh-CN" altLang="en-US" b="1">
                <a:solidFill>
                  <a:srgbClr val="3C37FD"/>
                </a:solidFill>
              </a:rPr>
              <a:t>放射性污染物</a:t>
            </a:r>
            <a:r>
              <a:rPr lang="zh-CN" altLang="en-US" b="1"/>
              <a:t>。主要存在于核原料开采和核爆炸地区，以锶和铯等在土壤中生存期较长的放射性元素为主。</a:t>
            </a:r>
          </a:p>
        </p:txBody>
      </p:sp>
    </p:spTree>
  </p:cSld>
  <p:clrMapOvr>
    <a:masterClrMapping/>
  </p:clrMapOvr>
  <p:transition spd="slow">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b="1">
                <a:solidFill>
                  <a:srgbClr val="C00000"/>
                </a:solidFill>
                <a:sym typeface="+mn-ea"/>
              </a:rPr>
              <a:t>2. 土壤污染的特征</a:t>
            </a:r>
            <a:br>
              <a:rPr lang="zh-CN" altLang="en-US" sz="3600" b="1">
                <a:solidFill>
                  <a:srgbClr val="C00000"/>
                </a:solidFill>
              </a:rPr>
            </a:br>
            <a:endParaRPr lang="zh-CN" altLang="en-US" sz="3600" b="1">
              <a:solidFill>
                <a:srgbClr val="C00000"/>
              </a:solidFill>
            </a:endParaRPr>
          </a:p>
        </p:txBody>
      </p:sp>
      <p:sp>
        <p:nvSpPr>
          <p:cNvPr id="3" name="内容占位符 2"/>
          <p:cNvSpPr>
            <a:spLocks noGrp="1"/>
          </p:cNvSpPr>
          <p:nvPr>
            <p:ph idx="1"/>
          </p:nvPr>
        </p:nvSpPr>
        <p:spPr>
          <a:xfrm>
            <a:off x="500034" y="1142984"/>
            <a:ext cx="8229600" cy="4525963"/>
          </a:xfrm>
        </p:spPr>
        <p:txBody>
          <a:bodyPr/>
          <a:lstStyle/>
          <a:p>
            <a:pPr latinLnBrk="0">
              <a:lnSpc>
                <a:spcPct val="135000"/>
              </a:lnSpc>
              <a:spcBef>
                <a:spcPts val="0"/>
              </a:spcBef>
            </a:pPr>
            <a:r>
              <a:rPr lang="zh-CN" altLang="en-US" sz="2800" b="1" dirty="0">
                <a:solidFill>
                  <a:srgbClr val="3C37FD"/>
                </a:solidFill>
                <a:sym typeface="+mn-ea"/>
              </a:rPr>
              <a:t>隐蔽性</a:t>
            </a:r>
            <a:r>
              <a:rPr lang="en-US" altLang="zh-CN" sz="2800" b="1" dirty="0">
                <a:sym typeface="+mn-ea"/>
              </a:rPr>
              <a:t>: </a:t>
            </a:r>
            <a:r>
              <a:rPr lang="zh-CN" altLang="en-US" sz="2800" b="1" dirty="0"/>
              <a:t>与水体污染、大气污染不同，土壤污染一般无法通过人类感观系统直接感知。通常，都是发现对人畜产生危害后，通过现代分析手段对土壤样品进行分析检测才能判定，所以土壤污染不太容易被发现。</a:t>
            </a:r>
          </a:p>
          <a:p>
            <a:pPr latinLnBrk="0">
              <a:lnSpc>
                <a:spcPct val="135000"/>
              </a:lnSpc>
              <a:spcBef>
                <a:spcPts val="0"/>
              </a:spcBef>
            </a:pPr>
            <a:r>
              <a:rPr lang="zh-CN" altLang="en-US" sz="2800" b="1" dirty="0">
                <a:solidFill>
                  <a:srgbClr val="3C37FD"/>
                </a:solidFill>
                <a:sym typeface="+mn-ea"/>
              </a:rPr>
              <a:t>累积性</a:t>
            </a:r>
            <a:r>
              <a:rPr lang="zh-CN" altLang="en-US" sz="2800" b="1" dirty="0">
                <a:sym typeface="+mn-ea"/>
              </a:rPr>
              <a:t>和</a:t>
            </a:r>
            <a:r>
              <a:rPr lang="zh-CN" altLang="en-US" sz="2800" b="1" dirty="0">
                <a:solidFill>
                  <a:srgbClr val="3C37FD"/>
                </a:solidFill>
                <a:sym typeface="+mn-ea"/>
              </a:rPr>
              <a:t>区域性</a:t>
            </a:r>
            <a:r>
              <a:rPr lang="en-US" altLang="zh-CN" sz="2800" b="1" dirty="0">
                <a:sym typeface="+mn-ea"/>
              </a:rPr>
              <a:t>: </a:t>
            </a:r>
            <a:r>
              <a:rPr lang="zh-CN" altLang="en-US" sz="2800" b="1" dirty="0"/>
              <a:t>由于土壤不像水体和大气一样具有较强的流动性，所以土壤中的污染物还具有累积性和区域性</a:t>
            </a:r>
            <a:r>
              <a:rPr lang="en-US" altLang="zh-CN" sz="2800" b="1" dirty="0"/>
              <a:t>;</a:t>
            </a:r>
          </a:p>
          <a:p>
            <a:pPr latinLnBrk="0">
              <a:lnSpc>
                <a:spcPct val="135000"/>
              </a:lnSpc>
              <a:spcBef>
                <a:spcPts val="0"/>
              </a:spcBef>
            </a:pPr>
            <a:r>
              <a:rPr lang="zh-CN" altLang="en-US" sz="2800" b="1" dirty="0">
                <a:solidFill>
                  <a:srgbClr val="3C37FD"/>
                </a:solidFill>
                <a:sym typeface="+mn-ea"/>
              </a:rPr>
              <a:t>难治理性</a:t>
            </a:r>
            <a:r>
              <a:rPr lang="zh-CN" altLang="en-US" sz="2800" b="1" dirty="0"/>
              <a:t>。</a:t>
            </a:r>
          </a:p>
        </p:txBody>
      </p:sp>
    </p:spTree>
  </p:cSld>
  <p:clrMapOvr>
    <a:masterClrMapping/>
  </p:clrMapOvr>
  <p:transition spd="slow">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785794"/>
            <a:ext cx="8590280" cy="1143000"/>
          </a:xfrm>
        </p:spPr>
        <p:txBody>
          <a:bodyPr/>
          <a:lstStyle/>
          <a:p>
            <a:r>
              <a:rPr lang="zh-CN" altLang="en-US" sz="3600" b="1" dirty="0">
                <a:solidFill>
                  <a:srgbClr val="C00000"/>
                </a:solidFill>
              </a:rPr>
              <a:t>3. 土壤污染物在土壤环境中的转化和迁移</a:t>
            </a:r>
          </a:p>
        </p:txBody>
      </p:sp>
      <p:sp>
        <p:nvSpPr>
          <p:cNvPr id="3" name="内容占位符 2"/>
          <p:cNvSpPr>
            <a:spLocks noGrp="1"/>
          </p:cNvSpPr>
          <p:nvPr>
            <p:ph idx="1"/>
          </p:nvPr>
        </p:nvSpPr>
        <p:spPr/>
        <p:txBody>
          <a:bodyPr/>
          <a:lstStyle/>
          <a:p>
            <a:pPr marL="0" indent="0">
              <a:buNone/>
            </a:pPr>
            <a:endParaRPr lang="zh-CN" altLang="en-US"/>
          </a:p>
          <a:p>
            <a:pPr marL="0" indent="0" latinLnBrk="0">
              <a:lnSpc>
                <a:spcPct val="150000"/>
              </a:lnSpc>
              <a:spcBef>
                <a:spcPts val="0"/>
              </a:spcBef>
              <a:buNone/>
            </a:pPr>
            <a:r>
              <a:rPr lang="zh-CN" altLang="en-US" b="1"/>
              <a:t>(1)</a:t>
            </a:r>
            <a:r>
              <a:rPr lang="zh-CN" altLang="en-US" b="1">
                <a:solidFill>
                  <a:srgbClr val="3C37FD"/>
                </a:solidFill>
              </a:rPr>
              <a:t>重金属离子</a:t>
            </a:r>
            <a:r>
              <a:rPr lang="zh-CN" altLang="en-US" b="1"/>
              <a:t>的转化和迁移。</a:t>
            </a:r>
          </a:p>
          <a:p>
            <a:pPr marL="0" indent="0" latinLnBrk="0">
              <a:lnSpc>
                <a:spcPct val="150000"/>
              </a:lnSpc>
              <a:spcBef>
                <a:spcPts val="0"/>
              </a:spcBef>
              <a:buNone/>
            </a:pPr>
            <a:r>
              <a:rPr lang="zh-CN" altLang="en-US" b="1"/>
              <a:t>(2)</a:t>
            </a:r>
            <a:r>
              <a:rPr lang="zh-CN" altLang="en-US" b="1">
                <a:solidFill>
                  <a:srgbClr val="3C37FD"/>
                </a:solidFill>
              </a:rPr>
              <a:t>化学农药</a:t>
            </a:r>
            <a:r>
              <a:rPr lang="zh-CN" altLang="en-US" b="1"/>
              <a:t>的转化和迁移。</a:t>
            </a:r>
          </a:p>
        </p:txBody>
      </p:sp>
    </p:spTree>
  </p:cSld>
  <p:clrMapOvr>
    <a:masterClrMapping/>
  </p:clrMapOvr>
  <p:transition spd="slow">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5795645" cy="837565"/>
          </a:xfrm>
          <a:solidFill>
            <a:srgbClr val="22E50D"/>
          </a:solidFill>
        </p:spPr>
        <p:txBody>
          <a:bodyPr/>
          <a:lstStyle/>
          <a:p>
            <a:pPr algn="ctr"/>
            <a:r>
              <a:rPr lang="zh-CN" altLang="en-US" sz="4000" b="1">
                <a:solidFill>
                  <a:schemeClr val="tx1"/>
                </a:solidFill>
              </a:rPr>
              <a:t>8.</a:t>
            </a:r>
            <a:r>
              <a:rPr lang="en-US" altLang="zh-CN" sz="4000" b="1">
                <a:solidFill>
                  <a:schemeClr val="tx1"/>
                </a:solidFill>
              </a:rPr>
              <a:t>3</a:t>
            </a:r>
            <a:r>
              <a:rPr lang="zh-CN" altLang="en-US" sz="4000" b="1">
                <a:solidFill>
                  <a:schemeClr val="tx1"/>
                </a:solidFill>
              </a:rPr>
              <a:t>.3 土壤污染的防治</a:t>
            </a:r>
          </a:p>
        </p:txBody>
      </p:sp>
      <p:sp>
        <p:nvSpPr>
          <p:cNvPr id="3" name="内容占位符 2"/>
          <p:cNvSpPr>
            <a:spLocks noGrp="1"/>
          </p:cNvSpPr>
          <p:nvPr>
            <p:ph idx="1"/>
          </p:nvPr>
        </p:nvSpPr>
        <p:spPr>
          <a:xfrm>
            <a:off x="457200" y="1600200"/>
            <a:ext cx="8229600" cy="2119630"/>
          </a:xfrm>
        </p:spPr>
        <p:txBody>
          <a:bodyPr/>
          <a:lstStyle/>
          <a:p>
            <a:pPr marL="0" indent="0" latinLnBrk="0">
              <a:lnSpc>
                <a:spcPct val="150000"/>
              </a:lnSpc>
              <a:spcBef>
                <a:spcPts val="0"/>
              </a:spcBef>
              <a:buNone/>
            </a:pPr>
            <a:r>
              <a:rPr lang="zh-CN" altLang="en-US" b="1">
                <a:solidFill>
                  <a:schemeClr val="tx1"/>
                </a:solidFill>
                <a:uFillTx/>
              </a:rPr>
              <a:t>(1) 控制和消除土壤污染源。</a:t>
            </a:r>
          </a:p>
          <a:p>
            <a:pPr marL="0" indent="0" latinLnBrk="0">
              <a:lnSpc>
                <a:spcPct val="150000"/>
              </a:lnSpc>
              <a:spcBef>
                <a:spcPts val="0"/>
              </a:spcBef>
              <a:buNone/>
            </a:pPr>
            <a:r>
              <a:rPr lang="zh-CN" altLang="en-US" b="1">
                <a:solidFill>
                  <a:schemeClr val="tx1"/>
                </a:solidFill>
                <a:uFillTx/>
              </a:rPr>
              <a:t>(2) 增加土壤容量和提高土壤净化能力。</a:t>
            </a:r>
          </a:p>
          <a:p>
            <a:pPr marL="0" indent="0" latinLnBrk="0">
              <a:lnSpc>
                <a:spcPct val="150000"/>
              </a:lnSpc>
              <a:spcBef>
                <a:spcPts val="0"/>
              </a:spcBef>
              <a:buNone/>
            </a:pPr>
            <a:r>
              <a:rPr lang="zh-CN" altLang="en-US" b="1">
                <a:solidFill>
                  <a:schemeClr val="tx1"/>
                </a:solidFill>
                <a:uFillTx/>
              </a:rPr>
              <a:t>(3) 防止土壤污染的其他措施。</a:t>
            </a:r>
          </a:p>
        </p:txBody>
      </p:sp>
    </p:spTree>
  </p:cSld>
  <p:clrMapOvr>
    <a:masterClrMapping/>
  </p:clrMapOvr>
  <p:transition spd="slow">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文本占位符 122882"/>
          <p:cNvSpPr>
            <a:spLocks noGrp="1"/>
          </p:cNvSpPr>
          <p:nvPr>
            <p:ph idx="1"/>
          </p:nvPr>
        </p:nvSpPr>
        <p:spPr>
          <a:xfrm>
            <a:off x="109220" y="1475105"/>
            <a:ext cx="8549640" cy="4526280"/>
          </a:xfrm>
          <a:noFill/>
          <a:ln>
            <a:noFill/>
          </a:ln>
        </p:spPr>
        <p:txBody>
          <a:bodyPr anchor="t"/>
          <a:lstStyle/>
          <a:p>
            <a:pPr>
              <a:lnSpc>
                <a:spcPct val="120000"/>
              </a:lnSpc>
            </a:pPr>
            <a:r>
              <a:rPr lang="zh-CN" altLang="en-US" sz="2400" b="1" dirty="0">
                <a:solidFill>
                  <a:schemeClr val="tx1"/>
                </a:solidFill>
                <a:ea typeface="楷体_GB2312" panose="02010609030101010101" pitchFamily="49" charset="-122"/>
              </a:rPr>
              <a:t>人类在改造自然的过程中，长期以来都是以高投入、高消耗作为发展的手段，对自然资源往往重开发、轻保护，重产品质量和产品效应、轻社会效应和长远利益，违背自然规律，忽视对污染的治理，造成了生态危机，因而遭到自然的频繁报复。如臭氧空洞的出现、全球气温上升、土地沙漠化、生物物种锐减、水资源的污染等。特别是农药和化肥的污染，其范围如此之广，以至于南极的企鹅和北极苔原地带的驯鹿都受到了影响。</a:t>
            </a:r>
          </a:p>
          <a:p>
            <a:pPr>
              <a:lnSpc>
                <a:spcPct val="120000"/>
              </a:lnSpc>
            </a:pPr>
            <a:r>
              <a:rPr lang="zh-CN" altLang="en-US" sz="2400" b="1" dirty="0">
                <a:solidFill>
                  <a:schemeClr val="tx1"/>
                </a:solidFill>
                <a:ea typeface="楷体_GB2312" panose="02010609030101010101" pitchFamily="49" charset="-122"/>
              </a:rPr>
              <a:t>事实迫使人类必须抛弃传统的发展思想，建立资源与人口、环境与发展的协调关系，实行可持续发展战略，以建设更为安全与繁荣、良性循环的美好未来。</a:t>
            </a:r>
          </a:p>
        </p:txBody>
      </p:sp>
      <p:sp>
        <p:nvSpPr>
          <p:cNvPr id="7170" name="Rectangle 2"/>
          <p:cNvSpPr>
            <a:spLocks noChangeArrowheads="1"/>
          </p:cNvSpPr>
          <p:nvPr/>
        </p:nvSpPr>
        <p:spPr bwMode="auto">
          <a:xfrm>
            <a:off x="0" y="419100"/>
            <a:ext cx="9144000" cy="720725"/>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chemeClr val="bg1"/>
                </a:solidFill>
                <a:effectLst/>
                <a:uLnTx/>
                <a:uFillTx/>
                <a:latin typeface="楷体_GB2312" panose="02010609030101010101" pitchFamily="49" charset="-122"/>
                <a:ea typeface="楷体_GB2312" panose="02010609030101010101" pitchFamily="49" charset="-122"/>
                <a:cs typeface="+mn-cs"/>
              </a:rPr>
              <a:t>§8</a:t>
            </a:r>
            <a:r>
              <a:rPr kumimoji="0" lang="en-US" altLang="zh-CN" sz="3200" b="1" i="0" u="none" strike="noStrike" kern="1200" cap="none" spc="0" normalizeH="0" baseline="0" noProof="0">
                <a:ln>
                  <a:noFill/>
                </a:ln>
                <a:solidFill>
                  <a:schemeClr val="bg1"/>
                </a:solidFill>
                <a:effectLst/>
                <a:uLnTx/>
                <a:uFillTx/>
                <a:latin typeface="Times New Roman" panose="02020603050405020304" pitchFamily="18" charset="0"/>
                <a:ea typeface="楷体_GB2312" panose="02010609030101010101" pitchFamily="49" charset="-122"/>
                <a:cs typeface="+mn-cs"/>
              </a:rPr>
              <a:t>.4  </a:t>
            </a:r>
            <a:r>
              <a:rPr kumimoji="0" lang="zh-CN" altLang="en-US" sz="3200" b="1" i="0" u="none" strike="noStrike" kern="1200" cap="none" spc="0" normalizeH="0" baseline="0" noProof="0">
                <a:ln>
                  <a:noFill/>
                </a:ln>
                <a:solidFill>
                  <a:schemeClr val="bg1"/>
                </a:solidFill>
                <a:effectLst/>
                <a:uLnTx/>
                <a:uFillTx/>
                <a:latin typeface="Times New Roman" panose="02020603050405020304" pitchFamily="18" charset="0"/>
                <a:ea typeface="楷体_GB2312" panose="02010609030101010101" pitchFamily="49" charset="-122"/>
                <a:cs typeface="+mn-cs"/>
              </a:rPr>
              <a:t>环境保护与可持续发展</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7170"/>
                                        </p:tgtEl>
                                        <p:attrNameLst>
                                          <p:attrName>style.visibility</p:attrName>
                                        </p:attrNameLst>
                                      </p:cBhvr>
                                      <p:to>
                                        <p:strVal val="visible"/>
                                      </p:to>
                                    </p:set>
                                    <p:anim calcmode="lin" valueType="num">
                                      <p:cBhvr>
                                        <p:cTn id="7" dur="500" fill="hold"/>
                                        <p:tgtEl>
                                          <p:spTgt spid="717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170"/>
                                        </p:tgtEl>
                                        <p:attrNameLst>
                                          <p:attrName>ppt_y</p:attrName>
                                        </p:attrNameLst>
                                      </p:cBhvr>
                                      <p:tavLst>
                                        <p:tav tm="0">
                                          <p:val>
                                            <p:strVal val="#ppt_y"/>
                                          </p:val>
                                        </p:tav>
                                        <p:tav tm="100000">
                                          <p:val>
                                            <p:strVal val="#ppt_y"/>
                                          </p:val>
                                        </p:tav>
                                      </p:tavLst>
                                    </p:anim>
                                    <p:anim calcmode="lin" valueType="num">
                                      <p:cBhvr>
                                        <p:cTn id="9" dur="500" fill="hold"/>
                                        <p:tgtEl>
                                          <p:spTgt spid="717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17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170"/>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46082">
                                            <p:txEl>
                                              <p:pRg st="0" end="0"/>
                                            </p:txEl>
                                          </p:spTgt>
                                        </p:tgtEl>
                                        <p:attrNameLst>
                                          <p:attrName>style.visibility</p:attrName>
                                        </p:attrNameLst>
                                      </p:cBhvr>
                                      <p:to>
                                        <p:strVal val="visible"/>
                                      </p:to>
                                    </p:set>
                                    <p:animEffect transition="in" filter="checkerboard(across)">
                                      <p:cBhvr>
                                        <p:cTn id="16" dur="500"/>
                                        <p:tgtEl>
                                          <p:spTgt spid="46082">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46082">
                                            <p:txEl>
                                              <p:pRg st="1" end="1"/>
                                            </p:txEl>
                                          </p:spTgt>
                                        </p:tgtEl>
                                        <p:attrNameLst>
                                          <p:attrName>style.visibility</p:attrName>
                                        </p:attrNameLst>
                                      </p:cBhvr>
                                      <p:to>
                                        <p:strVal val="visible"/>
                                      </p:to>
                                    </p:set>
                                    <p:animEffect transition="in" filter="checkerboard(across)">
                                      <p:cBhvr>
                                        <p:cTn id="21" dur="500"/>
                                        <p:tgtEl>
                                          <p:spTgt spid="4608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60120"/>
            <a:ext cx="8229600" cy="2119630"/>
          </a:xfrm>
        </p:spPr>
        <p:txBody>
          <a:bodyPr/>
          <a:lstStyle/>
          <a:p>
            <a:pPr marL="0" indent="0" latinLnBrk="0">
              <a:lnSpc>
                <a:spcPct val="150000"/>
              </a:lnSpc>
              <a:spcBef>
                <a:spcPts val="0"/>
              </a:spcBef>
              <a:buNone/>
            </a:pPr>
            <a:r>
              <a:rPr lang="en-US" altLang="zh-CN" sz="2400" b="1">
                <a:solidFill>
                  <a:schemeClr val="tx1"/>
                </a:solidFill>
                <a:uFillTx/>
              </a:rPr>
              <a:t>      </a:t>
            </a:r>
            <a:r>
              <a:rPr lang="zh-CN" altLang="en-US" sz="2400" b="1">
                <a:solidFill>
                  <a:schemeClr val="tx1"/>
                </a:solidFill>
                <a:uFillTx/>
              </a:rPr>
              <a:t>化学及化学工业的发展为人类生活的改善提供了物质基础，但也是造成环境问题的主要原因之—，长久以来饱受争议。但我们也应该认识到污染的产生，主要还是由于人们不科学的发展观，同时，对环境污染的治理仍有赖于化学的方法与手段。</a:t>
            </a:r>
          </a:p>
          <a:p>
            <a:pPr marL="0" indent="0" latinLnBrk="0">
              <a:lnSpc>
                <a:spcPct val="150000"/>
              </a:lnSpc>
              <a:spcBef>
                <a:spcPts val="0"/>
              </a:spcBef>
              <a:buNone/>
            </a:pPr>
            <a:r>
              <a:rPr lang="zh-CN" altLang="en-US" sz="2400" b="1">
                <a:solidFill>
                  <a:schemeClr val="tx1"/>
                </a:solidFill>
                <a:uFillTx/>
              </a:rPr>
              <a:t>       1990年前后，美国科学家提出绿色化学的概念。绿色化学是贯彻可持续发展战略的一个重要组成部分，绿色化学又称环境无害化学、洁净化学，即用化学技术和方法把对人类的健康和安全及对生态环境有害的原材料、产物的使用和生产减少到最低。</a:t>
            </a:r>
          </a:p>
          <a:p>
            <a:pPr marL="0" indent="0" latinLnBrk="0">
              <a:lnSpc>
                <a:spcPct val="150000"/>
              </a:lnSpc>
              <a:spcBef>
                <a:spcPts val="0"/>
              </a:spcBef>
              <a:buNone/>
            </a:pPr>
            <a:endParaRPr lang="zh-CN" altLang="en-US" sz="2400" b="1">
              <a:solidFill>
                <a:schemeClr val="tx1"/>
              </a:solidFill>
              <a:uFillTx/>
            </a:endParaRPr>
          </a:p>
        </p:txBody>
      </p:sp>
    </p:spTree>
  </p:cSld>
  <p:clrMapOvr>
    <a:masterClrMapping/>
  </p:clrMapOvr>
  <p:transition spd="slow">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28955"/>
            <a:ext cx="8229600" cy="2119630"/>
          </a:xfrm>
        </p:spPr>
        <p:txBody>
          <a:bodyPr/>
          <a:lstStyle/>
          <a:p>
            <a:pPr marL="0" indent="0" latinLnBrk="0">
              <a:lnSpc>
                <a:spcPct val="150000"/>
              </a:lnSpc>
              <a:spcBef>
                <a:spcPts val="0"/>
              </a:spcBef>
              <a:buNone/>
            </a:pPr>
            <a:r>
              <a:rPr lang="en-US" altLang="zh-CN" sz="2400" b="1" dirty="0">
                <a:solidFill>
                  <a:schemeClr val="tx1"/>
                </a:solidFill>
                <a:uFillTx/>
              </a:rPr>
              <a:t>       </a:t>
            </a:r>
            <a:r>
              <a:rPr lang="zh-CN" altLang="en-US" sz="2400" b="1" dirty="0">
                <a:solidFill>
                  <a:schemeClr val="tx1"/>
                </a:solidFill>
                <a:uFillTx/>
              </a:rPr>
              <a:t>从绿色化学的目标来看，有两个方面值得必须重视；</a:t>
            </a:r>
          </a:p>
          <a:p>
            <a:pPr marL="0" indent="0" latinLnBrk="0">
              <a:lnSpc>
                <a:spcPct val="150000"/>
              </a:lnSpc>
              <a:spcBef>
                <a:spcPts val="0"/>
              </a:spcBef>
              <a:buNone/>
            </a:pPr>
            <a:r>
              <a:rPr lang="zh-CN" altLang="en-US" sz="2400" b="1" dirty="0">
                <a:solidFill>
                  <a:schemeClr val="tx1"/>
                </a:solidFill>
                <a:uFillTx/>
              </a:rPr>
              <a:t>一是开发以“原子经济性”为基本原则的新化学反应过程；</a:t>
            </a:r>
          </a:p>
          <a:p>
            <a:pPr marL="0" indent="0" latinLnBrk="0">
              <a:lnSpc>
                <a:spcPct val="150000"/>
              </a:lnSpc>
              <a:spcBef>
                <a:spcPts val="0"/>
              </a:spcBef>
              <a:buNone/>
            </a:pPr>
            <a:r>
              <a:rPr lang="zh-CN" altLang="en-US" sz="2400" b="1" dirty="0">
                <a:solidFill>
                  <a:schemeClr val="tx1"/>
                </a:solidFill>
                <a:uFillTx/>
              </a:rPr>
              <a:t>二是改进现有的化学工业，减少和消除污染。</a:t>
            </a:r>
          </a:p>
          <a:p>
            <a:pPr marL="0" indent="0" latinLnBrk="0">
              <a:lnSpc>
                <a:spcPct val="150000"/>
              </a:lnSpc>
              <a:spcBef>
                <a:spcPts val="0"/>
              </a:spcBef>
              <a:buNone/>
            </a:pPr>
            <a:r>
              <a:rPr lang="zh-CN" altLang="en-US" sz="2400" b="1" dirty="0">
                <a:solidFill>
                  <a:schemeClr val="tx1"/>
                </a:solidFill>
                <a:uFillTx/>
              </a:rPr>
              <a:t>       人类也许是地球生命大家庭中一个最重要的成员，有责任与其他成员和谐相处，更有责任保护好共同的家园。洁净的蓝天、和谐的自然才是人类能留给子孙的最宝贵的财富。</a:t>
            </a:r>
          </a:p>
        </p:txBody>
      </p:sp>
      <p:sp>
        <p:nvSpPr>
          <p:cNvPr id="4" name="标题 3"/>
          <p:cNvSpPr>
            <a:spLocks noGrp="1"/>
          </p:cNvSpPr>
          <p:nvPr>
            <p:ph type="title"/>
          </p:nvPr>
        </p:nvSpPr>
        <p:spPr/>
        <p:txBody>
          <a:bodyPr/>
          <a:lstStyle/>
          <a:p>
            <a:r>
              <a:rPr lang="en-US" altLang="zh-CN"/>
              <a:t>     </a:t>
            </a:r>
            <a:br>
              <a:rPr lang="en-US" altLang="zh-CN"/>
            </a:br>
            <a:endParaRPr lang="en-US" altLang="zh-CN"/>
          </a:p>
        </p:txBody>
      </p:sp>
      <p:pic>
        <p:nvPicPr>
          <p:cNvPr id="1073742851" name="图片 1073742850" descr="http://pic10.nipic.com/20101101/5965919_105605769000_2.jpg"/>
          <p:cNvPicPr>
            <a:picLocks noChangeAspect="1"/>
          </p:cNvPicPr>
          <p:nvPr/>
        </p:nvPicPr>
        <p:blipFill>
          <a:blip r:embed="rId2" r:link="rId3"/>
          <a:stretch>
            <a:fillRect/>
          </a:stretch>
        </p:blipFill>
        <p:spPr>
          <a:xfrm>
            <a:off x="2571736" y="3929066"/>
            <a:ext cx="3777615" cy="2543175"/>
          </a:xfrm>
          <a:prstGeom prst="rect">
            <a:avLst/>
          </a:prstGeom>
          <a:noFill/>
          <a:ln w="9525">
            <a:noFill/>
          </a:ln>
        </p:spPr>
      </p:pic>
    </p:spTree>
  </p:cSld>
  <p:clrMapOvr>
    <a:masterClrMapping/>
  </p:clrMapOvr>
  <p:transition spd="slow">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descr="http://pic72.nipic.com/file/20150709/14796214_120825687000_2.jpg"/>
          <p:cNvPicPr>
            <a:picLocks noChangeAspect="1" noChangeArrowheads="1"/>
          </p:cNvPicPr>
          <p:nvPr/>
        </p:nvPicPr>
        <p:blipFill>
          <a:blip r:embed="rId2" cstate="print"/>
          <a:srcRect r="4278" b="4278"/>
          <a:stretch>
            <a:fillRect/>
          </a:stretch>
        </p:blipFill>
        <p:spPr bwMode="auto">
          <a:xfrm>
            <a:off x="0" y="0"/>
            <a:ext cx="9144000" cy="6858000"/>
          </a:xfrm>
          <a:prstGeom prst="rect">
            <a:avLst/>
          </a:prstGeom>
          <a:noFill/>
        </p:spPr>
      </p:pic>
      <p:pic>
        <p:nvPicPr>
          <p:cNvPr id="45067" name="Picture 11"/>
          <p:cNvPicPr>
            <a:picLocks noChangeAspect="1" noChangeArrowheads="1"/>
          </p:cNvPicPr>
          <p:nvPr/>
        </p:nvPicPr>
        <p:blipFill>
          <a:blip r:embed="rId3" cstate="print">
            <a:lum bright="-18000"/>
          </a:blip>
          <a:srcRect/>
          <a:stretch>
            <a:fillRect/>
          </a:stretch>
        </p:blipFill>
        <p:spPr bwMode="auto">
          <a:xfrm>
            <a:off x="6804248" y="5372453"/>
            <a:ext cx="2030190" cy="1160109"/>
          </a:xfrm>
          <a:prstGeom prst="rect">
            <a:avLst/>
          </a:prstGeom>
          <a:noFill/>
          <a:ln w="9525">
            <a:noFill/>
            <a:miter lim="800000"/>
            <a:headEnd/>
            <a:tailEnd/>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5067"/>
                                        </p:tgtEl>
                                        <p:attrNameLst>
                                          <p:attrName>style.visibility</p:attrName>
                                        </p:attrNameLst>
                                      </p:cBhvr>
                                      <p:to>
                                        <p:strVal val="visible"/>
                                      </p:to>
                                    </p:set>
                                    <p:anim calcmode="lin" valueType="num">
                                      <p:cBhvr>
                                        <p:cTn id="7" dur="500" fill="hold"/>
                                        <p:tgtEl>
                                          <p:spTgt spid="45067"/>
                                        </p:tgtEl>
                                        <p:attrNameLst>
                                          <p:attrName>ppt_w</p:attrName>
                                        </p:attrNameLst>
                                      </p:cBhvr>
                                      <p:tavLst>
                                        <p:tav tm="0">
                                          <p:val>
                                            <p:fltVal val="0"/>
                                          </p:val>
                                        </p:tav>
                                        <p:tav tm="100000">
                                          <p:val>
                                            <p:strVal val="#ppt_w"/>
                                          </p:val>
                                        </p:tav>
                                      </p:tavLst>
                                    </p:anim>
                                    <p:anim calcmode="lin" valueType="num">
                                      <p:cBhvr>
                                        <p:cTn id="8" dur="500" fill="hold"/>
                                        <p:tgtEl>
                                          <p:spTgt spid="4506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枫叶PPT模板">
  <a:themeElements>
    <a:clrScheme name="枫叶PPT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枫叶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枫叶PPT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枫叶PPT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枫叶PPT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枫叶PPT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枫叶PPT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枫叶PPT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枫叶PPT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枫叶PPT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枫叶PPT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枫叶PPT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枫叶PPT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枫叶PPT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4553</Words>
  <Application>Microsoft Office PowerPoint</Application>
  <PresentationFormat>全屏显示(4:3)</PresentationFormat>
  <Paragraphs>381</Paragraphs>
  <Slides>55</Slides>
  <Notes>4</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55</vt:i4>
      </vt:variant>
    </vt:vector>
  </HeadingPairs>
  <TitlesOfParts>
    <vt:vector size="64" baseType="lpstr">
      <vt:lpstr>楷体</vt:lpstr>
      <vt:lpstr>楷体_GB2312</vt:lpstr>
      <vt:lpstr>隶书</vt:lpstr>
      <vt:lpstr>宋体</vt:lpstr>
      <vt:lpstr>Arial</vt:lpstr>
      <vt:lpstr>Times New Roman</vt:lpstr>
      <vt:lpstr>Wingdings</vt:lpstr>
      <vt:lpstr>枫叶PPT模板</vt:lpstr>
      <vt:lpstr>Microsoft Word 97 - 2003 Document</vt:lpstr>
      <vt:lpstr>PowerPoint 演示文稿</vt:lpstr>
      <vt:lpstr>PowerPoint 演示文稿</vt:lpstr>
      <vt:lpstr>PowerPoint 演示文稿</vt:lpstr>
      <vt:lpstr>环境问题</vt:lpstr>
      <vt:lpstr>PowerPoint 演示文稿</vt:lpstr>
      <vt:lpstr>8.1.1 水污染 </vt:lpstr>
      <vt:lpstr>PowerPoint 演示文稿</vt:lpstr>
      <vt:lpstr>PowerPoint 演示文稿</vt:lpstr>
      <vt:lpstr>PowerPoint 演示文稿</vt:lpstr>
      <vt:lpstr>水中主要污染物质 </vt:lpstr>
      <vt:lpstr>生物化学需氧量(BOD) </vt:lpstr>
      <vt:lpstr>3. 水体的富营养化 </vt:lpstr>
      <vt:lpstr>PowerPoint 演示文稿</vt:lpstr>
      <vt:lpstr>PowerPoint 演示文稿</vt:lpstr>
      <vt:lpstr>PowerPoint 演示文稿</vt:lpstr>
      <vt:lpstr>PowerPoint 演示文稿</vt:lpstr>
      <vt:lpstr>PowerPoint 演示文稿</vt:lpstr>
      <vt:lpstr>清洁干燥的空气，其组成为</vt:lpstr>
      <vt:lpstr>环境科学对大气组成的分类：</vt:lpstr>
      <vt:lpstr>大气污染概况</vt:lpstr>
      <vt:lpstr>大气的主要污染物</vt:lpstr>
      <vt:lpstr>（1）颗粒物（煤烟、粉尘）</vt:lpstr>
      <vt:lpstr>PowerPoint 演示文稿</vt:lpstr>
      <vt:lpstr>（2）SO2 </vt:lpstr>
      <vt:lpstr>(3) CO </vt:lpstr>
      <vt:lpstr>（5）碳氢化合物HC（烃类） </vt:lpstr>
      <vt:lpstr> </vt:lpstr>
      <vt:lpstr>2、臭氧层的破坏 </vt:lpstr>
      <vt:lpstr>2）臭氧层破坏的现状</vt:lpstr>
      <vt:lpstr>3）臭氧层耗减对环境、生态的影响</vt:lpstr>
      <vt:lpstr>4）臭氧层破坏的机理</vt:lpstr>
      <vt:lpstr>3、酸雨 </vt:lpstr>
      <vt:lpstr>酸雨的危害</vt:lpstr>
      <vt:lpstr>4、温室效应加剧 </vt:lpstr>
      <vt:lpstr>2）其他温室气体</vt:lpstr>
      <vt:lpstr>3） 温室效应对人类的影响</vt:lpstr>
      <vt:lpstr>CFC的替代品：</vt:lpstr>
      <vt:lpstr>8.2.2 大气污染的防治</vt:lpstr>
      <vt:lpstr>SO2的治理</vt:lpstr>
      <vt:lpstr>PowerPoint 演示文稿</vt:lpstr>
      <vt:lpstr>8.3.1 土壤的组成和结构</vt:lpstr>
      <vt:lpstr>1. 土壤的物理性质 </vt:lpstr>
      <vt:lpstr>2. 土壤的化学性质 </vt:lpstr>
      <vt:lpstr>PowerPoint 演示文稿</vt:lpstr>
      <vt:lpstr>PowerPoint 演示文稿</vt:lpstr>
      <vt:lpstr>3. 土壤的生物性质 </vt:lpstr>
      <vt:lpstr>8.3.2 土壤污染     </vt:lpstr>
      <vt:lpstr>PowerPoint 演示文稿</vt:lpstr>
      <vt:lpstr>2. 土壤污染的特征 </vt:lpstr>
      <vt:lpstr>3. 土壤污染物在土壤环境中的转化和迁移</vt:lpstr>
      <vt:lpstr>8.3.3 土壤污染的防治</vt:lpstr>
      <vt:lpstr>PowerPoint 演示文稿</vt:lpstr>
      <vt:lpstr>PowerPoint 演示文稿</vt:lpstr>
      <vt:lpstr>      </vt:lpstr>
      <vt:lpstr>PowerPoint 演示文稿</vt:lpstr>
    </vt:vector>
  </TitlesOfParts>
  <Company>bbb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环境与化学 </dc:title>
  <dc:creator>aaa</dc:creator>
  <cp:lastModifiedBy>训臣 刘</cp:lastModifiedBy>
  <cp:revision>103</cp:revision>
  <dcterms:created xsi:type="dcterms:W3CDTF">2001-03-22T09:50:00Z</dcterms:created>
  <dcterms:modified xsi:type="dcterms:W3CDTF">2026-01-14T02:50:56Z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