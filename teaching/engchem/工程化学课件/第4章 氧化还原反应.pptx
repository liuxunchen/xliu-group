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113"/>
  </p:notesMasterIdLst>
  <p:sldIdLst>
    <p:sldId id="280" r:id="rId3"/>
    <p:sldId id="256" r:id="rId4"/>
    <p:sldId id="343" r:id="rId5"/>
    <p:sldId id="281" r:id="rId6"/>
    <p:sldId id="257" r:id="rId7"/>
    <p:sldId id="289" r:id="rId8"/>
    <p:sldId id="314" r:id="rId9"/>
    <p:sldId id="353" r:id="rId10"/>
    <p:sldId id="315" r:id="rId11"/>
    <p:sldId id="354" r:id="rId12"/>
    <p:sldId id="355" r:id="rId13"/>
    <p:sldId id="356" r:id="rId14"/>
    <p:sldId id="357" r:id="rId15"/>
    <p:sldId id="358" r:id="rId16"/>
    <p:sldId id="359" r:id="rId17"/>
    <p:sldId id="360" r:id="rId18"/>
    <p:sldId id="361" r:id="rId19"/>
    <p:sldId id="362" r:id="rId20"/>
    <p:sldId id="282" r:id="rId21"/>
    <p:sldId id="283" r:id="rId22"/>
    <p:sldId id="332" r:id="rId23"/>
    <p:sldId id="285" r:id="rId24"/>
    <p:sldId id="286" r:id="rId25"/>
    <p:sldId id="287" r:id="rId26"/>
    <p:sldId id="288" r:id="rId27"/>
    <p:sldId id="259" r:id="rId28"/>
    <p:sldId id="292" r:id="rId29"/>
    <p:sldId id="293" r:id="rId30"/>
    <p:sldId id="363" r:id="rId31"/>
    <p:sldId id="379" r:id="rId32"/>
    <p:sldId id="366" r:id="rId33"/>
    <p:sldId id="447" r:id="rId34"/>
    <p:sldId id="448" r:id="rId35"/>
    <p:sldId id="367" r:id="rId36"/>
    <p:sldId id="368" r:id="rId37"/>
    <p:sldId id="369" r:id="rId38"/>
    <p:sldId id="370" r:id="rId39"/>
    <p:sldId id="371" r:id="rId40"/>
    <p:sldId id="372" r:id="rId41"/>
    <p:sldId id="373" r:id="rId42"/>
    <p:sldId id="374" r:id="rId43"/>
    <p:sldId id="375" r:id="rId44"/>
    <p:sldId id="376" r:id="rId45"/>
    <p:sldId id="377" r:id="rId46"/>
    <p:sldId id="378" r:id="rId47"/>
    <p:sldId id="262" r:id="rId48"/>
    <p:sldId id="263" r:id="rId49"/>
    <p:sldId id="333" r:id="rId50"/>
    <p:sldId id="334" r:id="rId51"/>
    <p:sldId id="335" r:id="rId52"/>
    <p:sldId id="336" r:id="rId53"/>
    <p:sldId id="380" r:id="rId54"/>
    <p:sldId id="381" r:id="rId55"/>
    <p:sldId id="382" r:id="rId56"/>
    <p:sldId id="344" r:id="rId57"/>
    <p:sldId id="324" r:id="rId58"/>
    <p:sldId id="337" r:id="rId59"/>
    <p:sldId id="338" r:id="rId60"/>
    <p:sldId id="273" r:id="rId61"/>
    <p:sldId id="349" r:id="rId62"/>
    <p:sldId id="449" r:id="rId63"/>
    <p:sldId id="451" r:id="rId64"/>
    <p:sldId id="458" r:id="rId65"/>
    <p:sldId id="459" r:id="rId66"/>
    <p:sldId id="457" r:id="rId67"/>
    <p:sldId id="339" r:id="rId68"/>
    <p:sldId id="350" r:id="rId69"/>
    <p:sldId id="275" r:id="rId70"/>
    <p:sldId id="274" r:id="rId71"/>
    <p:sldId id="340" r:id="rId72"/>
    <p:sldId id="276" r:id="rId73"/>
    <p:sldId id="316" r:id="rId74"/>
    <p:sldId id="450" r:id="rId75"/>
    <p:sldId id="453" r:id="rId76"/>
    <p:sldId id="452" r:id="rId77"/>
    <p:sldId id="454" r:id="rId78"/>
    <p:sldId id="456" r:id="rId79"/>
    <p:sldId id="455" r:id="rId80"/>
    <p:sldId id="446" r:id="rId81"/>
    <p:sldId id="266" r:id="rId82"/>
    <p:sldId id="329" r:id="rId83"/>
    <p:sldId id="330" r:id="rId84"/>
    <p:sldId id="270" r:id="rId85"/>
    <p:sldId id="299" r:id="rId86"/>
    <p:sldId id="300" r:id="rId87"/>
    <p:sldId id="271" r:id="rId88"/>
    <p:sldId id="345" r:id="rId89"/>
    <p:sldId id="278" r:id="rId90"/>
    <p:sldId id="301" r:id="rId91"/>
    <p:sldId id="302" r:id="rId92"/>
    <p:sldId id="303" r:id="rId93"/>
    <p:sldId id="304" r:id="rId94"/>
    <p:sldId id="346" r:id="rId95"/>
    <p:sldId id="305" r:id="rId96"/>
    <p:sldId id="279" r:id="rId97"/>
    <p:sldId id="347" r:id="rId98"/>
    <p:sldId id="272" r:id="rId99"/>
    <p:sldId id="308" r:id="rId100"/>
    <p:sldId id="306" r:id="rId101"/>
    <p:sldId id="307" r:id="rId102"/>
    <p:sldId id="311" r:id="rId103"/>
    <p:sldId id="341" r:id="rId104"/>
    <p:sldId id="351" r:id="rId105"/>
    <p:sldId id="317" r:id="rId106"/>
    <p:sldId id="318" r:id="rId107"/>
    <p:sldId id="319" r:id="rId108"/>
    <p:sldId id="320" r:id="rId109"/>
    <p:sldId id="326" r:id="rId110"/>
    <p:sldId id="327" r:id="rId111"/>
    <p:sldId id="328" r:id="rId112"/>
  </p:sldIdLst>
  <p:sldSz cx="9144000" cy="5715000" type="screen16x10"/>
  <p:notesSz cx="6858000" cy="9144000"/>
  <p:custDataLst>
    <p:tags r:id="rId114"/>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19" userDrawn="1">
          <p15:clr>
            <a:srgbClr val="A4A3A4"/>
          </p15:clr>
        </p15:guide>
        <p15:guide id="2" pos="2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0000FF"/>
    <a:srgbClr val="CCCCFF"/>
    <a:srgbClr val="9900CC"/>
    <a:srgbClr val="6600CC"/>
    <a:srgbClr val="FF6699"/>
    <a:srgbClr val="CC33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125" d="100"/>
          <a:sy n="125" d="100"/>
        </p:scale>
        <p:origin x="-16" y="4252"/>
      </p:cViewPr>
      <p:guideLst>
        <p:guide orient="horz" pos="1819"/>
        <p:guide pos="2849"/>
      </p:guideLst>
    </p:cSldViewPr>
  </p:slideViewPr>
  <p:notesTextViewPr>
    <p:cViewPr>
      <p:scale>
        <a:sx n="100" d="100"/>
        <a:sy n="100" d="100"/>
      </p:scale>
      <p:origin x="0" y="0"/>
    </p:cViewPr>
  </p:notesTextViewPr>
  <p:sorterViewPr>
    <p:cViewPr>
      <p:scale>
        <a:sx n="100" d="100"/>
        <a:sy n="100" d="100"/>
      </p:scale>
      <p:origin x="0" y="-8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372BE6-34D5-4E1B-8BE2-7CAA97F3DC30}" type="datetimeFigureOut">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2026/1/3</a:t>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4" name="幻灯片图像占位符 3"/>
          <p:cNvSpPr>
            <a:spLocks noGrp="1" noRot="1" noChangeAspect="1"/>
          </p:cNvSpPr>
          <p:nvPr>
            <p:ph type="sldImg"/>
          </p:nvPr>
        </p:nvSpPr>
        <p:spPr>
          <a:xfrm>
            <a:off x="960438" y="1143000"/>
            <a:ext cx="4937125"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buNone/>
            </a:pPr>
            <a:fld id="{9A0DB2DC-4C9A-4742-B13C-FB6460FD3503}" type="slidenum">
              <a:rPr lang="en-US" altLang="en-US" sz="1200" strike="noStrike" noProof="1" dirty="0">
                <a:latin typeface="Arial" panose="020B0604020202020204" pitchFamily="34" charset="0"/>
                <a:ea typeface="宋体" panose="02010600030101010101" pitchFamily="2" charset="-122"/>
                <a:cs typeface="+mn-cs"/>
              </a:rPr>
              <a:t>‹#›</a:t>
            </a:fld>
            <a:endParaRPr lang="en-US"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7"/>
            <a:ext cx="7772400" cy="1225021"/>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31"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31"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27541"/>
            <a:ext cx="3008313" cy="968376"/>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4"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510646"/>
            <a:ext cx="5486400" cy="34290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472784"/>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868"/>
            <a:ext cx="2057400" cy="4876271"/>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28868"/>
            <a:ext cx="6019800" cy="4876271"/>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525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333501"/>
            <a:ext cx="4038600" cy="377163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33501"/>
            <a:ext cx="4038600" cy="377163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525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333501"/>
            <a:ext cx="4038600" cy="377163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剪贴画占位符 3"/>
          <p:cNvSpPr>
            <a:spLocks noGrp="1"/>
          </p:cNvSpPr>
          <p:nvPr>
            <p:ph type="clipArt" sz="half" idx="2"/>
          </p:nvPr>
        </p:nvSpPr>
        <p:spPr>
          <a:xfrm>
            <a:off x="4648200" y="1333501"/>
            <a:ext cx="4038600" cy="3771636"/>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525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333501"/>
            <a:ext cx="4038600" cy="3771636"/>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33502"/>
            <a:ext cx="4038600" cy="182165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282160"/>
            <a:ext cx="4038600" cy="1822979"/>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935302"/>
            <a:ext cx="6858000" cy="1989667"/>
          </a:xfrm>
          <a:prstGeom prst="rect">
            <a:avLst/>
          </a:prstGeo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001698"/>
            <a:ext cx="6858000" cy="137980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29129"/>
            <a:ext cx="8229600" cy="9525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424783"/>
            <a:ext cx="7886700" cy="2377281"/>
          </a:xfrm>
          <a:prstGeom prst="rect">
            <a:avLst/>
          </a:prstGeo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3824554"/>
            <a:ext cx="7886700" cy="1250156"/>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29129"/>
            <a:ext cx="8229600" cy="95250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521354"/>
            <a:ext cx="3886200" cy="362611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521354"/>
            <a:ext cx="3886200" cy="362611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04271"/>
            <a:ext cx="7886700" cy="1104636"/>
          </a:xfrm>
          <a:prstGeom prst="rect">
            <a:avLst/>
          </a:prstGeo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4" y="1482033"/>
            <a:ext cx="3655181" cy="686593"/>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4" y="2221149"/>
            <a:ext cx="3655181" cy="293690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482033"/>
            <a:ext cx="3673182" cy="686593"/>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221149"/>
            <a:ext cx="3673182" cy="293690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灯片编号占位符 32782"/>
          <p:cNvSpPr>
            <a:spLocks noGrp="1"/>
          </p:cNvSpPr>
          <p:nvPr>
            <p:ph type="sldNum" sz="quarter" idx="1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29129"/>
            <a:ext cx="8229600" cy="952500"/>
          </a:xfrm>
          <a:prstGeom prst="rect">
            <a:avLst/>
          </a:prstGeom>
        </p:spPr>
        <p:txBody>
          <a:bodyPr/>
          <a:lstStyle/>
          <a:p>
            <a:pPr fontAlgn="base"/>
            <a:r>
              <a:rPr lang="zh-CN" altLang="en-US" strike="noStrike" noProof="1"/>
              <a:t>单击此处编辑母版标题样式</a:t>
            </a:r>
          </a:p>
        </p:txBody>
      </p:sp>
      <p:sp>
        <p:nvSpPr>
          <p:cNvPr id="3"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0099"/>
        </a:solidFill>
        <a:effectLst/>
      </p:bgPr>
    </p:bg>
    <p:spTree>
      <p:nvGrpSpPr>
        <p:cNvPr id="1" name=""/>
        <p:cNvGrpSpPr/>
        <p:nvPr/>
      </p:nvGrpSpPr>
      <p:grpSpPr>
        <a:xfrm>
          <a:off x="0" y="0"/>
          <a:ext cx="0" cy="0"/>
          <a:chOff x="0" y="0"/>
          <a:chExt cx="0" cy="0"/>
        </a:xfrm>
      </p:grpSpPr>
      <p:sp>
        <p:nvSpPr>
          <p:cNvPr id="3"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81000"/>
            <a:ext cx="2949178" cy="1333500"/>
          </a:xfrm>
          <a:prstGeom prst="rect">
            <a:avLst/>
          </a:prstGeo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822856"/>
            <a:ext cx="4629150" cy="406135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1714500"/>
            <a:ext cx="2949178" cy="3176323"/>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81000"/>
            <a:ext cx="3124012" cy="1333500"/>
          </a:xfrm>
          <a:prstGeom prst="rect">
            <a:avLst/>
          </a:prstGeo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381001"/>
            <a:ext cx="4629150" cy="4503208"/>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accent1"/>
              </a:buClr>
              <a:buSzPct val="90000"/>
              <a:buFont typeface="Monotype Sorts"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714500"/>
            <a:ext cx="3124012" cy="3176323"/>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00009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29129"/>
            <a:ext cx="8229600" cy="952500"/>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rgbClr val="000099"/>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04271"/>
            <a:ext cx="1971675" cy="4843198"/>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28653" y="304271"/>
            <a:ext cx="5800725" cy="4843198"/>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bg>
      <p:bgPr>
        <a:solidFill>
          <a:srgbClr val="000099"/>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304271"/>
            <a:ext cx="7886700" cy="484319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E0F6F8">
                <a:alpha val="100000"/>
              </a:srgbClr>
            </a:gs>
            <a:gs pos="5000">
              <a:srgbClr val="E0F6F8">
                <a:alpha val="100000"/>
              </a:srgbClr>
            </a:gs>
            <a:gs pos="9000">
              <a:srgbClr val="CEF1F4">
                <a:alpha val="100000"/>
              </a:srgbClr>
            </a:gs>
            <a:gs pos="42307">
              <a:srgbClr val="92D050">
                <a:alpha val="100000"/>
              </a:srgbClr>
            </a:gs>
            <a:gs pos="100000">
              <a:srgbClr val="EFFAFB">
                <a:alpha val="100000"/>
              </a:srgbClr>
            </a:gs>
          </a:gsLst>
          <a:lin ang="5400000"/>
          <a:tileRect/>
        </a:gra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28600"/>
            <a:ext cx="8229600" cy="9525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p:nvPr>
        </p:nvSpPr>
        <p:spPr>
          <a:xfrm>
            <a:off x="457200" y="1333500"/>
            <a:ext cx="8229600" cy="37719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5203825"/>
            <a:ext cx="2133600" cy="396875"/>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5203825"/>
            <a:ext cx="2895600" cy="396875"/>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5203825"/>
            <a:ext cx="2133600" cy="396875"/>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99"/>
        </a:solidFill>
        <a:effectLst/>
      </p:bgPr>
    </p:bg>
    <p:spTree>
      <p:nvGrpSpPr>
        <p:cNvPr id="1" name=""/>
        <p:cNvGrpSpPr/>
        <p:nvPr/>
      </p:nvGrpSpPr>
      <p:grpSpPr>
        <a:xfrm>
          <a:off x="0" y="0"/>
          <a:ext cx="0" cy="0"/>
          <a:chOff x="0" y="0"/>
          <a:chExt cx="0" cy="0"/>
        </a:xfrm>
      </p:grpSpPr>
      <p:sp>
        <p:nvSpPr>
          <p:cNvPr id="32783" name="灯片编号占位符 32782"/>
          <p:cNvSpPr>
            <a:spLocks noGrp="1"/>
          </p:cNvSpPr>
          <p:nvPr>
            <p:ph type="sldNum" sz="quarter" idx="4"/>
          </p:nvPr>
        </p:nvSpPr>
        <p:spPr>
          <a:xfrm>
            <a:off x="6553200" y="5203825"/>
            <a:ext cx="2133600" cy="396875"/>
          </a:xfrm>
          <a:prstGeom prst="rect">
            <a:avLst/>
          </a:prstGeom>
          <a:noFill/>
          <a:ln w="9525">
            <a:noFill/>
          </a:ln>
        </p:spPr>
        <p:txBody>
          <a:bodyPr vert="horz" wrap="square" lIns="91440" tIns="45720" rIns="91440" bIns="45720" numCol="1" anchor="t" anchorCtr="0" compatLnSpc="1"/>
          <a:lstStyle>
            <a:lvl1pPr algn="r">
              <a:defRPr sz="1400">
                <a:solidFill>
                  <a:srgbClr val="FFFFFF"/>
                </a:solidFill>
                <a:latin typeface="Times New Roman" panose="02020603050405020304" pitchFamily="18" charset="0"/>
              </a:defRPr>
            </a:lvl1p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Times New Roman" panose="02020603050405020304" pitchFamily="18" charset="0"/>
              </a:rPr>
              <a:t>‹#›</a:t>
            </a:fld>
            <a:endParaRPr lang="zh-CN" altLang="en-US" strike="noStrike" noProof="1">
              <a:latin typeface="Arial" panose="020B0604020202020204" pitchFamily="34"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ransition spd="med">
    <p:random/>
  </p:transition>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1"/>
        </a:buClr>
        <a:buSzPct val="90000"/>
        <a:buFont typeface="Monotype Sorts" pitchFamily="2" charset="2"/>
        <a:buChar char="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1"/>
        </a:buClr>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1"/>
        </a:buClr>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9.pn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oleObject" Target="../embeddings/oleObject6.bin"/><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9.bin"/><Relationship Id="rId4" Type="http://schemas.openxmlformats.org/officeDocument/2006/relationships/image" Target="../media/image22.wmf"/></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image" Target="../media/image26.emf"/><Relationship Id="rId5" Type="http://schemas.openxmlformats.org/officeDocument/2006/relationships/oleObject" Target="../embeddings/oleObject11.bin"/><Relationship Id="rId4" Type="http://schemas.openxmlformats.org/officeDocument/2006/relationships/image" Target="../media/image25.emf"/></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38.wmf"/><Relationship Id="rId4" Type="http://schemas.openxmlformats.org/officeDocument/2006/relationships/oleObject" Target="../embeddings/oleObject16.bin"/><Relationship Id="rId9" Type="http://schemas.openxmlformats.org/officeDocument/2006/relationships/image" Target="../media/image40.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5" Type="http://schemas.openxmlformats.org/officeDocument/2006/relationships/image" Target="../media/image42.wmf"/><Relationship Id="rId4" Type="http://schemas.openxmlformats.org/officeDocument/2006/relationships/oleObject" Target="../embeddings/oleObject20.bin"/><Relationship Id="rId9" Type="http://schemas.openxmlformats.org/officeDocument/2006/relationships/image" Target="../media/image44.wmf"/></Relationships>
</file>

<file path=ppt/slides/_rels/slide4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23.bin"/><Relationship Id="rId1" Type="http://schemas.openxmlformats.org/officeDocument/2006/relationships/slideLayout" Target="../slideLayouts/slideLayout7.xml"/><Relationship Id="rId5" Type="http://schemas.openxmlformats.org/officeDocument/2006/relationships/image" Target="../media/image45.wmf"/><Relationship Id="rId4" Type="http://schemas.openxmlformats.org/officeDocument/2006/relationships/oleObject" Target="../embeddings/oleObject24.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49.wmf"/></Relationships>
</file>

<file path=ppt/slides/_rels/slide51.x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30.bin"/><Relationship Id="rId1" Type="http://schemas.openxmlformats.org/officeDocument/2006/relationships/slideLayout" Target="../slideLayouts/slideLayout7.xml"/><Relationship Id="rId6" Type="http://schemas.openxmlformats.org/officeDocument/2006/relationships/oleObject" Target="../embeddings/oleObject32.bin"/><Relationship Id="rId5" Type="http://schemas.openxmlformats.org/officeDocument/2006/relationships/image" Target="../media/image52.wmf"/><Relationship Id="rId4" Type="http://schemas.openxmlformats.org/officeDocument/2006/relationships/oleObject" Target="../embeddings/oleObject31.bin"/></Relationships>
</file>

<file path=ppt/slides/_rels/slide52.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33.bin"/><Relationship Id="rId1" Type="http://schemas.openxmlformats.org/officeDocument/2006/relationships/slideLayout" Target="../slideLayouts/slideLayout21.xml"/><Relationship Id="rId5" Type="http://schemas.openxmlformats.org/officeDocument/2006/relationships/image" Target="../media/image55.wmf"/><Relationship Id="rId4" Type="http://schemas.openxmlformats.org/officeDocument/2006/relationships/oleObject" Target="../embeddings/oleObject34.bin"/></Relationships>
</file>

<file path=ppt/slides/_rels/slide53.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35.bin"/><Relationship Id="rId1" Type="http://schemas.openxmlformats.org/officeDocument/2006/relationships/slideLayout" Target="../slideLayouts/slideLayout21.xml"/><Relationship Id="rId5" Type="http://schemas.openxmlformats.org/officeDocument/2006/relationships/image" Target="../media/image57.wmf"/><Relationship Id="rId4" Type="http://schemas.openxmlformats.org/officeDocument/2006/relationships/oleObject" Target="../embeddings/oleObject36.bin"/></Relationships>
</file>

<file path=ppt/slides/_rels/slide54.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7.bin"/><Relationship Id="rId1" Type="http://schemas.openxmlformats.org/officeDocument/2006/relationships/slideLayout" Target="../slideLayouts/slideLayout21.xml"/><Relationship Id="rId5" Type="http://schemas.openxmlformats.org/officeDocument/2006/relationships/image" Target="../media/image59.wmf"/><Relationship Id="rId4" Type="http://schemas.openxmlformats.org/officeDocument/2006/relationships/oleObject" Target="../embeddings/oleObject3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oleObject" Target="../embeddings/oleObject41.bin"/><Relationship Id="rId5" Type="http://schemas.openxmlformats.org/officeDocument/2006/relationships/image" Target="../media/image61.wmf"/><Relationship Id="rId4" Type="http://schemas.openxmlformats.org/officeDocument/2006/relationships/oleObject" Target="../embeddings/oleObject40.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5.wmf"/><Relationship Id="rId12" Type="http://schemas.openxmlformats.org/officeDocument/2006/relationships/oleObject" Target="../embeddings/oleObject47.bin"/><Relationship Id="rId17" Type="http://schemas.openxmlformats.org/officeDocument/2006/relationships/image" Target="../media/image70.wmf"/><Relationship Id="rId2" Type="http://schemas.openxmlformats.org/officeDocument/2006/relationships/oleObject" Target="../embeddings/oleObject42.bin"/><Relationship Id="rId16" Type="http://schemas.openxmlformats.org/officeDocument/2006/relationships/oleObject" Target="../embeddings/oleObject49.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66.wmf"/><Relationship Id="rId14" Type="http://schemas.openxmlformats.org/officeDocument/2006/relationships/oleObject" Target="../embeddings/oleObject48.bin"/></Relationships>
</file>

<file path=ppt/slides/_rels/slide59.xml.rels><?xml version="1.0" encoding="UTF-8" standalone="yes"?>
<Relationships xmlns="http://schemas.openxmlformats.org/package/2006/relationships"><Relationship Id="rId2" Type="http://schemas.openxmlformats.org/officeDocument/2006/relationships/hyperlink" Target="&#22270;/&#24178;&#30005;&#27744;.jp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27682;&#27687;&#29123;&#26009;&#30005;&#27744;.swf" TargetMode="External"/><Relationship Id="rId2" Type="http://schemas.openxmlformats.org/officeDocument/2006/relationships/hyperlink" Target="&#21160;&#30011;/&#27682;&#27687;&#29123;&#26009;&#30005;&#27744;.swf"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50.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21160;&#30011;/&#21160;&#30011;3--&#38085;&#33988;&#30005;&#27744;&#30340;&#20805;&#30005;&#21407;&#29702;.swf" TargetMode="External"/><Relationship Id="rId2" Type="http://schemas.openxmlformats.org/officeDocument/2006/relationships/hyperlink" Target="&#21160;&#30011;3--&#38085;&#33988;&#30005;&#27744;&#30340;&#20805;&#30005;&#21407;&#29702;.swf" TargetMode="External"/><Relationship Id="rId1" Type="http://schemas.openxmlformats.org/officeDocument/2006/relationships/slideLayout" Target="../slideLayouts/slideLayout2.xml"/><Relationship Id="rId4" Type="http://schemas.openxmlformats.org/officeDocument/2006/relationships/hyperlink" Target="&#21160;&#30011;/&#21160;&#30011;2--&#38085;&#33988;&#30005;&#27744;&#25918;&#30005;&#21407;&#29702;&#28436;&#31034;.swf" TargetMode="Externa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2.wmf"/><Relationship Id="rId5" Type="http://schemas.openxmlformats.org/officeDocument/2006/relationships/oleObject" Target="../embeddings/oleObject53.bin"/><Relationship Id="rId4" Type="http://schemas.openxmlformats.org/officeDocument/2006/relationships/image" Target="../media/image81.wmf"/></Relationships>
</file>

<file path=ppt/slides/_rels/slide71.xml.rels><?xml version="1.0" encoding="UTF-8" standalone="yes"?>
<Relationships xmlns="http://schemas.openxmlformats.org/package/2006/relationships"><Relationship Id="rId3" Type="http://schemas.openxmlformats.org/officeDocument/2006/relationships/image" Target="../media/image83.wmf"/><Relationship Id="rId7" Type="http://schemas.openxmlformats.org/officeDocument/2006/relationships/image" Target="../media/image85.wmf"/><Relationship Id="rId2"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oleObject" Target="../embeddings/oleObject56.bin"/><Relationship Id="rId5" Type="http://schemas.openxmlformats.org/officeDocument/2006/relationships/image" Target="../media/image84.wmf"/><Relationship Id="rId4" Type="http://schemas.openxmlformats.org/officeDocument/2006/relationships/oleObject" Target="../embeddings/oleObject55.bin"/></Relationships>
</file>

<file path=ppt/slides/_rels/slide72.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7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jpeg"/><Relationship Id="rId1" Type="http://schemas.openxmlformats.org/officeDocument/2006/relationships/slideLayout" Target="../slideLayouts/slideLayout7.xml"/><Relationship Id="rId4" Type="http://schemas.openxmlformats.org/officeDocument/2006/relationships/image" Target="../media/image92.jpg"/></Relationships>
</file>

<file path=ppt/slides/_rels/slide7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96.jp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76.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22270;/&#30005;&#35299;&#21152;&#24037;.jpg"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58.bin"/><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6.wmf"/><Relationship Id="rId7" Type="http://schemas.openxmlformats.org/officeDocument/2006/relationships/image" Target="../media/image108.wmf"/><Relationship Id="rId2" Type="http://schemas.openxmlformats.org/officeDocument/2006/relationships/oleObject" Target="../embeddings/oleObject59.bin"/><Relationship Id="rId1" Type="http://schemas.openxmlformats.org/officeDocument/2006/relationships/slideLayout" Target="../slideLayouts/slideLayout7.xml"/><Relationship Id="rId6" Type="http://schemas.openxmlformats.org/officeDocument/2006/relationships/oleObject" Target="../embeddings/oleObject61.bin"/><Relationship Id="rId5" Type="http://schemas.openxmlformats.org/officeDocument/2006/relationships/image" Target="../media/image107.wmf"/><Relationship Id="rId4" Type="http://schemas.openxmlformats.org/officeDocument/2006/relationships/oleObject" Target="../embeddings/oleObject60.bin"/></Relationships>
</file>

<file path=ppt/slides/_rels/slide8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w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wmf"/><Relationship Id="rId4" Type="http://schemas.openxmlformats.org/officeDocument/2006/relationships/oleObject" Target="../embeddings/oleObject63.bin"/></Relationships>
</file>

<file path=ppt/slides/_rels/slide8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22270;/&#38050;&#38081;&#30340;&#30005;&#21270;&#23398;&#33104;&#34432;.png"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66.bin"/><Relationship Id="rId5" Type="http://schemas.openxmlformats.org/officeDocument/2006/relationships/image" Target="../media/image116.wmf"/><Relationship Id="rId4" Type="http://schemas.openxmlformats.org/officeDocument/2006/relationships/oleObject" Target="../embeddings/oleObject65.bin"/><Relationship Id="rId9" Type="http://schemas.openxmlformats.org/officeDocument/2006/relationships/image" Target="../media/image118.wmf"/></Relationships>
</file>

<file path=ppt/slides/_rels/slide90.xml.rels><?xml version="1.0" encoding="UTF-8" standalone="yes"?>
<Relationships xmlns="http://schemas.openxmlformats.org/package/2006/relationships"><Relationship Id="rId3" Type="http://schemas.openxmlformats.org/officeDocument/2006/relationships/image" Target="../media/image119.wmf"/><Relationship Id="rId7" Type="http://schemas.openxmlformats.org/officeDocument/2006/relationships/image" Target="../media/image121.wmf"/><Relationship Id="rId2" Type="http://schemas.openxmlformats.org/officeDocument/2006/relationships/oleObject" Target="../embeddings/oleObject68.bin"/><Relationship Id="rId1" Type="http://schemas.openxmlformats.org/officeDocument/2006/relationships/slideLayout" Target="../slideLayouts/slideLayout7.xml"/><Relationship Id="rId6" Type="http://schemas.openxmlformats.org/officeDocument/2006/relationships/oleObject" Target="../embeddings/oleObject70.bin"/><Relationship Id="rId5" Type="http://schemas.openxmlformats.org/officeDocument/2006/relationships/image" Target="../media/image120.wmf"/><Relationship Id="rId4" Type="http://schemas.openxmlformats.org/officeDocument/2006/relationships/oleObject" Target="../embeddings/oleObject69.bin"/></Relationships>
</file>

<file path=ppt/slides/_rels/slide91.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oleObject" Target="../embeddings/oleObject71.bin"/><Relationship Id="rId1" Type="http://schemas.openxmlformats.org/officeDocument/2006/relationships/slideLayout" Target="../slideLayouts/slideLayout7.xml"/><Relationship Id="rId6" Type="http://schemas.openxmlformats.org/officeDocument/2006/relationships/image" Target="../media/image122.jpeg"/><Relationship Id="rId5" Type="http://schemas.openxmlformats.org/officeDocument/2006/relationships/image" Target="../media/image118.wmf"/><Relationship Id="rId4" Type="http://schemas.openxmlformats.org/officeDocument/2006/relationships/oleObject" Target="../embeddings/oleObject72.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73.bin"/><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127.wmf"/><Relationship Id="rId7" Type="http://schemas.openxmlformats.org/officeDocument/2006/relationships/image" Target="../media/image129.wmf"/><Relationship Id="rId2" Type="http://schemas.openxmlformats.org/officeDocument/2006/relationships/oleObject" Target="../embeddings/oleObject74.bin"/><Relationship Id="rId1" Type="http://schemas.openxmlformats.org/officeDocument/2006/relationships/slideLayout" Target="../slideLayouts/slideLayout7.xml"/><Relationship Id="rId6" Type="http://schemas.openxmlformats.org/officeDocument/2006/relationships/oleObject" Target="../embeddings/oleObject76.bin"/><Relationship Id="rId5" Type="http://schemas.openxmlformats.org/officeDocument/2006/relationships/image" Target="../media/image128.wmf"/><Relationship Id="rId4" Type="http://schemas.openxmlformats.org/officeDocument/2006/relationships/oleObject" Target="../embeddings/oleObject75.bin"/></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oleObject" Target="../embeddings/oleObject80.bin"/><Relationship Id="rId5" Type="http://schemas.openxmlformats.org/officeDocument/2006/relationships/image" Target="../media/image42.wmf"/><Relationship Id="rId4" Type="http://schemas.openxmlformats.org/officeDocument/2006/relationships/oleObject" Target="../embeddings/oleObject79.bin"/><Relationship Id="rId9" Type="http://schemas.openxmlformats.org/officeDocument/2006/relationships/image" Target="../media/image44.wmf"/></Relationships>
</file>

<file path=ppt/slides/_rels/slide105.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82.bin"/><Relationship Id="rId1" Type="http://schemas.openxmlformats.org/officeDocument/2006/relationships/slideLayout" Target="../slideLayouts/slideLayout7.xml"/><Relationship Id="rId5" Type="http://schemas.openxmlformats.org/officeDocument/2006/relationships/image" Target="../media/image130.wmf"/><Relationship Id="rId4" Type="http://schemas.openxmlformats.org/officeDocument/2006/relationships/oleObject" Target="../embeddings/oleObject83.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image" Target="../media/image131.wmf"/><Relationship Id="rId7" Type="http://schemas.openxmlformats.org/officeDocument/2006/relationships/image" Target="../media/image48.wmf"/><Relationship Id="rId2"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oleObject" Target="../embeddings/oleObject86.bin"/><Relationship Id="rId11" Type="http://schemas.openxmlformats.org/officeDocument/2006/relationships/image" Target="../media/image134.wmf"/><Relationship Id="rId5" Type="http://schemas.openxmlformats.org/officeDocument/2006/relationships/image" Target="../media/image132.wmf"/><Relationship Id="rId10" Type="http://schemas.openxmlformats.org/officeDocument/2006/relationships/oleObject" Target="../embeddings/oleObject88.bin"/><Relationship Id="rId4" Type="http://schemas.openxmlformats.org/officeDocument/2006/relationships/oleObject" Target="../embeddings/oleObject85.bin"/><Relationship Id="rId9" Type="http://schemas.openxmlformats.org/officeDocument/2006/relationships/image" Target="../media/image133.wmf"/></Relationships>
</file>

<file path=ppt/slides/_rels/slide107.xml.rels><?xml version="1.0" encoding="UTF-8" standalone="yes"?>
<Relationships xmlns="http://schemas.openxmlformats.org/package/2006/relationships"><Relationship Id="rId3" Type="http://schemas.openxmlformats.org/officeDocument/2006/relationships/image" Target="../media/image135.wmf"/><Relationship Id="rId7" Type="http://schemas.openxmlformats.org/officeDocument/2006/relationships/image" Target="../media/image137.wmf"/><Relationship Id="rId2" Type="http://schemas.openxmlformats.org/officeDocument/2006/relationships/oleObject" Target="../embeddings/oleObject89.bin"/><Relationship Id="rId1" Type="http://schemas.openxmlformats.org/officeDocument/2006/relationships/slideLayout" Target="../slideLayouts/slideLayout7.xml"/><Relationship Id="rId6" Type="http://schemas.openxmlformats.org/officeDocument/2006/relationships/oleObject" Target="../embeddings/oleObject91.bin"/><Relationship Id="rId5" Type="http://schemas.openxmlformats.org/officeDocument/2006/relationships/image" Target="../media/image136.wmf"/><Relationship Id="rId4" Type="http://schemas.openxmlformats.org/officeDocument/2006/relationships/oleObject" Target="../embeddings/oleObject90.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43.wmf"/><Relationship Id="rId3" Type="http://schemas.openxmlformats.org/officeDocument/2006/relationships/image" Target="../media/image138.wmf"/><Relationship Id="rId7" Type="http://schemas.openxmlformats.org/officeDocument/2006/relationships/image" Target="../media/image140.wmf"/><Relationship Id="rId12" Type="http://schemas.openxmlformats.org/officeDocument/2006/relationships/oleObject" Target="../embeddings/oleObject97.bin"/><Relationship Id="rId2" Type="http://schemas.openxmlformats.org/officeDocument/2006/relationships/oleObject" Target="../embeddings/oleObject92.bin"/><Relationship Id="rId1" Type="http://schemas.openxmlformats.org/officeDocument/2006/relationships/slideLayout" Target="../slideLayouts/slideLayout2.xml"/><Relationship Id="rId6" Type="http://schemas.openxmlformats.org/officeDocument/2006/relationships/oleObject" Target="../embeddings/oleObject94.bin"/><Relationship Id="rId11" Type="http://schemas.openxmlformats.org/officeDocument/2006/relationships/image" Target="../media/image142.wmf"/><Relationship Id="rId5" Type="http://schemas.openxmlformats.org/officeDocument/2006/relationships/image" Target="../media/image139.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41.wmf"/></Relationships>
</file>

<file path=ppt/slides/_rels/slide10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WordArt 3"/>
          <p:cNvSpPr>
            <a:spLocks noTextEdit="1"/>
          </p:cNvSpPr>
          <p:nvPr/>
        </p:nvSpPr>
        <p:spPr>
          <a:xfrm>
            <a:off x="1857375" y="1725613"/>
            <a:ext cx="5616575" cy="1500187"/>
          </a:xfrm>
          <a:prstGeom prst="rect">
            <a:avLst/>
          </a:prstGeom>
        </p:spPr>
        <p:txBody>
          <a:bodyPr wrap="none" fromWordArt="1">
            <a:prstTxWarp prst="textWave1">
              <a:avLst>
                <a:gd name="adj1" fmla="val 13005"/>
                <a:gd name="adj2" fmla="val 0"/>
              </a:avLst>
            </a:prstTxWarp>
            <a:normAutofit/>
          </a:bodyPr>
          <a:lstStyle/>
          <a:p>
            <a:pPr algn="ctr"/>
            <a:r>
              <a:rPr lang="zh-CN" altLang="en-US" sz="3600" b="1">
                <a:ln w="19050" cap="flat" cmpd="sng">
                  <a:solidFill>
                    <a:srgbClr val="993366"/>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第4章  氧化还原反应与电化学 </a:t>
            </a:r>
          </a:p>
        </p:txBody>
      </p:sp>
      <p:pic>
        <p:nvPicPr>
          <p:cNvPr id="16386" name="Picture 4" descr="http://news.cableabc.com/ccqi2/userfiles/images/20170721151455090.jpg"/>
          <p:cNvPicPr>
            <a:picLocks noChangeAspect="1"/>
          </p:cNvPicPr>
          <p:nvPr/>
        </p:nvPicPr>
        <p:blipFill>
          <a:blip r:embed="rId2"/>
          <a:stretch>
            <a:fillRect/>
          </a:stretch>
        </p:blipFill>
        <p:spPr>
          <a:xfrm>
            <a:off x="7442200" y="4392613"/>
            <a:ext cx="1701800" cy="1322387"/>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4"/>
          <p:cNvGrpSpPr/>
          <p:nvPr/>
        </p:nvGrpSpPr>
        <p:grpSpPr>
          <a:xfrm>
            <a:off x="2268538" y="338138"/>
            <a:ext cx="4752975" cy="658812"/>
            <a:chOff x="1338" y="300"/>
            <a:chExt cx="2858" cy="499"/>
          </a:xfrm>
        </p:grpSpPr>
        <p:sp>
          <p:nvSpPr>
            <p:cNvPr id="17410" name="AutoShape 5"/>
            <p:cNvSpPr/>
            <p:nvPr/>
          </p:nvSpPr>
          <p:spPr>
            <a:xfrm>
              <a:off x="1338" y="30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11" name="Rectangle 6"/>
            <p:cNvSpPr/>
            <p:nvPr/>
          </p:nvSpPr>
          <p:spPr>
            <a:xfrm>
              <a:off x="2018" y="346"/>
              <a:ext cx="1597" cy="443"/>
            </a:xfrm>
            <a:prstGeom prst="rect">
              <a:avLst/>
            </a:prstGeom>
            <a:noFill/>
            <a:ln w="9525">
              <a:noFill/>
            </a:ln>
          </p:spPr>
          <p:txBody>
            <a:bodyPr wrap="none" anchor="t" anchorCtr="0">
              <a:spAutoFit/>
            </a:bodyPr>
            <a:lstStyle/>
            <a:p>
              <a:r>
                <a:rPr lang="zh-CN" altLang="en-US" sz="3200" b="1" dirty="0">
                  <a:solidFill>
                    <a:schemeClr val="bg1"/>
                  </a:solidFill>
                  <a:latin typeface="Arial" panose="020B0604020202020204" pitchFamily="34" charset="0"/>
                  <a:ea typeface="楷体_GB2312" panose="02010609030101010101" pitchFamily="49" charset="-122"/>
                </a:rPr>
                <a:t>本章学习要点</a:t>
              </a:r>
            </a:p>
          </p:txBody>
        </p:sp>
      </p:grpSp>
      <p:graphicFrame>
        <p:nvGraphicFramePr>
          <p:cNvPr id="17412" name="Object 7"/>
          <p:cNvGraphicFramePr>
            <a:graphicFrameLocks noChangeAspect="1"/>
          </p:cNvGraphicFramePr>
          <p:nvPr/>
        </p:nvGraphicFramePr>
        <p:xfrm>
          <a:off x="2268538" y="1704975"/>
          <a:ext cx="644525" cy="333375"/>
        </p:xfrm>
        <a:graphic>
          <a:graphicData uri="http://schemas.openxmlformats.org/presentationml/2006/ole">
            <mc:AlternateContent xmlns:mc="http://schemas.openxmlformats.org/markup-compatibility/2006">
              <mc:Choice xmlns:v="urn:schemas-microsoft-com:vml" Requires="v">
                <p:oleObj r:id="rId2" imgW="381000" imgH="241300" progId="Equation.DSMT4">
                  <p:embed/>
                </p:oleObj>
              </mc:Choice>
              <mc:Fallback>
                <p:oleObj r:id="rId2" imgW="381000" imgH="241300" progId="Equation.DSMT4">
                  <p:embed/>
                  <p:pic>
                    <p:nvPicPr>
                      <p:cNvPr id="0" name="图片 3076"/>
                      <p:cNvPicPr/>
                      <p:nvPr/>
                    </p:nvPicPr>
                    <p:blipFill>
                      <a:blip r:embed="rId3"/>
                      <a:stretch>
                        <a:fillRect/>
                      </a:stretch>
                    </p:blipFill>
                    <p:spPr>
                      <a:xfrm>
                        <a:off x="2268538" y="1704975"/>
                        <a:ext cx="644525" cy="333375"/>
                      </a:xfrm>
                      <a:prstGeom prst="rect">
                        <a:avLst/>
                      </a:prstGeom>
                      <a:noFill/>
                      <a:ln w="38100">
                        <a:noFill/>
                        <a:miter/>
                      </a:ln>
                    </p:spPr>
                  </p:pic>
                </p:oleObj>
              </mc:Fallback>
            </mc:AlternateContent>
          </a:graphicData>
        </a:graphic>
      </p:graphicFrame>
      <p:graphicFrame>
        <p:nvGraphicFramePr>
          <p:cNvPr id="15496" name="Group 136"/>
          <p:cNvGraphicFramePr>
            <a:graphicFrameLocks noGrp="1"/>
          </p:cNvGraphicFramePr>
          <p:nvPr/>
        </p:nvGraphicFramePr>
        <p:xfrm>
          <a:off x="577850" y="1128713"/>
          <a:ext cx="8135938" cy="3810084"/>
        </p:xfrm>
        <a:graphic>
          <a:graphicData uri="http://schemas.openxmlformats.org/drawingml/2006/table">
            <a:tbl>
              <a:tblPr/>
              <a:tblGrid>
                <a:gridCol w="1295400">
                  <a:extLst>
                    <a:ext uri="{9D8B030D-6E8A-4147-A177-3AD203B41FA5}">
                      <a16:colId xmlns:a16="http://schemas.microsoft.com/office/drawing/2014/main" val="20000"/>
                    </a:ext>
                  </a:extLst>
                </a:gridCol>
                <a:gridCol w="3954463">
                  <a:extLst>
                    <a:ext uri="{9D8B030D-6E8A-4147-A177-3AD203B41FA5}">
                      <a16:colId xmlns:a16="http://schemas.microsoft.com/office/drawing/2014/main" val="20001"/>
                    </a:ext>
                  </a:extLst>
                </a:gridCol>
                <a:gridCol w="2886075">
                  <a:extLst>
                    <a:ext uri="{9D8B030D-6E8A-4147-A177-3AD203B41FA5}">
                      <a16:colId xmlns:a16="http://schemas.microsoft.com/office/drawing/2014/main" val="20002"/>
                    </a:ext>
                  </a:extLst>
                </a:gridCol>
              </a:tblGrid>
              <a:tr h="33527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知识要点</a:t>
                      </a:r>
                      <a:endParaRPr kumimoji="0" lang="zh-CN" alt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掌握程度</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相关知识</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434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电化学</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掌握氧化还原反应与电化学的联系和区别，       与电能之间的关系</a:t>
                      </a:r>
                      <a:endParaRPr kumimoji="0" lang="en-US" altLang="zh-CN"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氧化反应、还原反应、电化学的定义</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342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原电池</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掌握原电池的组成、原理、表示方法；掌握电动势的有关计算</a:t>
                      </a:r>
                      <a:endParaRPr kumimoji="0" lang="zh-CN" alt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原电池的正负极、半反应式、总反应式、氧化还原电对、能斯特方程</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434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电解池</a:t>
                      </a:r>
                      <a:endParaRPr kumimoji="0" lang="zh-CN" alt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掌握电解池的结构、电解原理、析出规律</a:t>
                      </a:r>
                      <a:endParaRPr kumimoji="0" lang="zh-CN" alt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电解池的阴阳极、分解电压</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825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电极电势</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掌握电极电势产生的原因、测定方法、电极的分类、电极电势的应用</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标准电极电势的应用及电极电势能斯特方程的应用</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434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电化学应用</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了解金属的腐蚀与防腐原理；常见化学电源</a:t>
                      </a:r>
                      <a:endParaRPr kumimoji="0" lang="zh-CN" altLang="en-US" sz="17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金属的腐蚀与防腐原理</a:t>
                      </a:r>
                      <a:endParaRPr kumimoji="0" lang="zh-CN" altLang="en-US" sz="1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103" marB="3810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spd="slow">
    <p:check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39750" y="517525"/>
          <a:ext cx="8353425" cy="4933588"/>
        </p:xfrm>
        <a:graphic>
          <a:graphicData uri="http://schemas.openxmlformats.org/drawingml/2006/table">
            <a:tbl>
              <a:tblPr/>
              <a:tblGrid>
                <a:gridCol w="1261658">
                  <a:extLst>
                    <a:ext uri="{9D8B030D-6E8A-4147-A177-3AD203B41FA5}">
                      <a16:colId xmlns:a16="http://schemas.microsoft.com/office/drawing/2014/main" val="20000"/>
                    </a:ext>
                  </a:extLst>
                </a:gridCol>
                <a:gridCol w="4128984">
                  <a:extLst>
                    <a:ext uri="{9D8B030D-6E8A-4147-A177-3AD203B41FA5}">
                      <a16:colId xmlns:a16="http://schemas.microsoft.com/office/drawing/2014/main" val="20001"/>
                    </a:ext>
                  </a:extLst>
                </a:gridCol>
                <a:gridCol w="2962783">
                  <a:extLst>
                    <a:ext uri="{9D8B030D-6E8A-4147-A177-3AD203B41FA5}">
                      <a16:colId xmlns:a16="http://schemas.microsoft.com/office/drawing/2014/main" val="20002"/>
                    </a:ext>
                  </a:extLst>
                </a:gridCol>
              </a:tblGrid>
              <a:tr h="420000">
                <a:tc>
                  <a:txBody>
                    <a:bodyPr/>
                    <a:lstStyle/>
                    <a:p>
                      <a:pPr algn="ctr">
                        <a:lnSpc>
                          <a:spcPts val="24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知识要点</a:t>
                      </a:r>
                    </a:p>
                  </a:txBody>
                  <a:tcPr marL="68584" marR="68584"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4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掌握程度</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4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相关知识</a:t>
                      </a:r>
                    </a:p>
                  </a:txBody>
                  <a:tcPr marL="68584" marR="68584" marT="0" marB="0">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39586">
                <a:tc>
                  <a:txBody>
                    <a:bodyPr/>
                    <a:lstStyle/>
                    <a:p>
                      <a:pPr algn="ctr">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氧化还原反应</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掌握氧化反应、还原反应、氧化还原反应、氧化数的基本概念，氧化还原反应反应的配平方法。 </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氧化反应、还原反应、氧化数、氧化数法、离子</a:t>
                      </a:r>
                      <a:r>
                        <a:rPr kumimoji="0" lang="en-US"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a:t>
                      </a: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电子法等。</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0349">
                <a:tc>
                  <a:txBody>
                    <a:bodyPr/>
                    <a:lstStyle/>
                    <a:p>
                      <a:pPr algn="ctr">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原电池</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掌握原电池的组成、原理、表示方法；了解电极的类型等。</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原电池的正负极、半反应、总反应、原电池装置的符号</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76299">
                <a:tc>
                  <a:txBody>
                    <a:bodyPr/>
                    <a:lstStyle/>
                    <a:p>
                      <a:pPr algn="ctr">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原电池</a:t>
                      </a:r>
                    </a:p>
                    <a:p>
                      <a:pPr algn="ctr">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电动势</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掌握电极电势产生的原因、测定方法、</a:t>
                      </a:r>
                      <a:r>
                        <a:rPr kumimoji="0" lang="zh-CN" sz="1700" b="1" i="1"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E</a:t>
                      </a: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和</a:t>
                      </a:r>
                      <a:r>
                        <a:rPr kumimoji="0" lang="en-US"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        </a:t>
                      </a: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的关系， 浓度或分压对电极电势的影响。</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标准氢电极、标准电极电势表、能斯特方程等。</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78124">
                <a:tc>
                  <a:txBody>
                    <a:bodyPr/>
                    <a:lstStyle/>
                    <a:p>
                      <a:pPr algn="ctr">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电极电势的应用</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掌握判断原电池正负极、氧化还原反应方向和限度、氧化剂和还原剂相对强弱的基本方法等。</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标准电极电势的应用及电极电势能斯特方程的应用等。</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84199">
                <a:tc>
                  <a:txBody>
                    <a:bodyPr/>
                    <a:lstStyle/>
                    <a:p>
                      <a:pPr algn="ctr">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电解池</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掌握电解的基本原理，了解电解的应用。</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电解池、分解电压、超电势等</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15031">
                <a:tc>
                  <a:txBody>
                    <a:bodyPr/>
                    <a:lstStyle/>
                    <a:p>
                      <a:pPr algn="ctr">
                        <a:lnSpc>
                          <a:spcPts val="2300"/>
                        </a:lnSpc>
                        <a:spcAft>
                          <a:spcPts val="0"/>
                        </a:spcAft>
                      </a:pPr>
                      <a:r>
                        <a:rPr kumimoji="0" lang="zh-CN" sz="17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mn-cs"/>
                        </a:rPr>
                        <a:t>电化学应用</a:t>
                      </a:r>
                    </a:p>
                  </a:txBody>
                  <a:tcPr marL="68584" marR="6858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了解金属的腐蚀与防腐原理；常见化学电源。</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just">
                        <a:lnSpc>
                          <a:spcPts val="2300"/>
                        </a:lnSpc>
                        <a:spcAft>
                          <a:spcPts val="0"/>
                        </a:spcAft>
                      </a:pPr>
                      <a:r>
                        <a:rPr kumimoji="0" lang="zh-CN" sz="17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金属的腐蚀与防腐原理、化学腐蚀、电化学腐蚀等。</a:t>
                      </a: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8467" name="对象 4"/>
          <p:cNvGraphicFramePr>
            <a:graphicFrameLocks noChangeAspect="1"/>
          </p:cNvGraphicFramePr>
          <p:nvPr/>
        </p:nvGraphicFramePr>
        <p:xfrm>
          <a:off x="2124075" y="2784475"/>
          <a:ext cx="431800" cy="250825"/>
        </p:xfrm>
        <a:graphic>
          <a:graphicData uri="http://schemas.openxmlformats.org/presentationml/2006/ole">
            <mc:AlternateContent xmlns:mc="http://schemas.openxmlformats.org/markup-compatibility/2006">
              <mc:Choice xmlns:v="urn:schemas-microsoft-com:vml" Requires="v">
                <p:oleObj r:id="rId2" imgW="255905" imgH="179070" progId="Equation.DSMT4">
                  <p:embed/>
                </p:oleObj>
              </mc:Choice>
              <mc:Fallback>
                <p:oleObj r:id="rId2" imgW="255905" imgH="179070" progId="Equation.DSMT4">
                  <p:embed/>
                  <p:pic>
                    <p:nvPicPr>
                      <p:cNvPr id="0" name="图片 3075"/>
                      <p:cNvPicPr/>
                      <p:nvPr/>
                    </p:nvPicPr>
                    <p:blipFill>
                      <a:blip r:embed="rId3"/>
                      <a:stretch>
                        <a:fillRect/>
                      </a:stretch>
                    </p:blipFill>
                    <p:spPr>
                      <a:xfrm>
                        <a:off x="2124075" y="2784475"/>
                        <a:ext cx="431800" cy="250825"/>
                      </a:xfrm>
                      <a:prstGeom prst="rect">
                        <a:avLst/>
                      </a:prstGeom>
                      <a:noFill/>
                      <a:ln w="38100">
                        <a:noFill/>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Group 2"/>
          <p:cNvGrpSpPr/>
          <p:nvPr/>
        </p:nvGrpSpPr>
        <p:grpSpPr>
          <a:xfrm>
            <a:off x="2051050" y="396875"/>
            <a:ext cx="5113338" cy="660400"/>
            <a:chOff x="1338" y="300"/>
            <a:chExt cx="2858" cy="499"/>
          </a:xfrm>
        </p:grpSpPr>
        <p:sp>
          <p:nvSpPr>
            <p:cNvPr id="19458" name="AutoShape 3"/>
            <p:cNvSpPr/>
            <p:nvPr/>
          </p:nvSpPr>
          <p:spPr>
            <a:xfrm>
              <a:off x="1338" y="30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459" name="Rectangle 4"/>
            <p:cNvSpPr/>
            <p:nvPr/>
          </p:nvSpPr>
          <p:spPr>
            <a:xfrm>
              <a:off x="2018" y="346"/>
              <a:ext cx="1577" cy="442"/>
            </a:xfrm>
            <a:prstGeom prst="rect">
              <a:avLst/>
            </a:prstGeom>
            <a:noFill/>
            <a:ln w="9525">
              <a:noFill/>
            </a:ln>
          </p:spPr>
          <p:txBody>
            <a:bodyPr anchor="t" anchorCtr="0">
              <a:spAutoFit/>
            </a:bodyPr>
            <a:lstStyle/>
            <a:p>
              <a:r>
                <a:rPr lang="zh-CN" altLang="en-US" sz="3200" b="1" dirty="0">
                  <a:solidFill>
                    <a:schemeClr val="bg1"/>
                  </a:solidFill>
                  <a:latin typeface="Arial" panose="020B0604020202020204" pitchFamily="34" charset="0"/>
                  <a:ea typeface="楷体_GB2312" panose="02010609030101010101" pitchFamily="49" charset="-122"/>
                </a:rPr>
                <a:t>本章主要内容</a:t>
              </a:r>
            </a:p>
          </p:txBody>
        </p:sp>
      </p:grpSp>
      <p:sp>
        <p:nvSpPr>
          <p:cNvPr id="19460" name="Rectangle 5"/>
          <p:cNvSpPr/>
          <p:nvPr/>
        </p:nvSpPr>
        <p:spPr>
          <a:xfrm>
            <a:off x="827088" y="2697163"/>
            <a:ext cx="3671887" cy="447675"/>
          </a:xfrm>
          <a:prstGeom prst="rect">
            <a:avLst/>
          </a:prstGeom>
          <a:noFill/>
          <a:ln w="9525">
            <a:noFill/>
          </a:ln>
        </p:spPr>
        <p:txBody>
          <a:bodyPr tIns="76176" bIns="0" anchor="ctr" anchorCtr="0">
            <a:spAutoFit/>
          </a:bodyPr>
          <a:lstStyle/>
          <a:p>
            <a:r>
              <a:rPr lang="en-US" altLang="zh-CN"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19461" name="Rectangle 6"/>
          <p:cNvSpPr/>
          <p:nvPr/>
        </p:nvSpPr>
        <p:spPr>
          <a:xfrm>
            <a:off x="827088" y="3897313"/>
            <a:ext cx="3457575" cy="446087"/>
          </a:xfrm>
          <a:prstGeom prst="rect">
            <a:avLst/>
          </a:prstGeom>
          <a:noFill/>
          <a:ln w="9525">
            <a:noFill/>
          </a:ln>
        </p:spPr>
        <p:txBody>
          <a:bodyPr tIns="76176" bIns="0" anchor="ctr" anchorCtr="0">
            <a:spAutoFit/>
          </a:bodyPr>
          <a:lstStyle/>
          <a:p>
            <a:r>
              <a:rPr lang="en-US" altLang="zh-CN"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39943" name="AutoShape 7"/>
          <p:cNvSpPr/>
          <p:nvPr/>
        </p:nvSpPr>
        <p:spPr>
          <a:xfrm>
            <a:off x="755650" y="2138363"/>
            <a:ext cx="4895850" cy="53975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4.2</a:t>
            </a: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原电池电动势</a:t>
            </a:r>
            <a:endParaRPr lang="zh-CN" altLang="en-US" sz="2800" b="1" dirty="0">
              <a:latin typeface="Times New Roman" panose="02020603050405020304" pitchFamily="18" charset="0"/>
              <a:ea typeface="宋体" panose="02010600030101010101" pitchFamily="2" charset="-122"/>
            </a:endParaRPr>
          </a:p>
        </p:txBody>
      </p:sp>
      <p:sp>
        <p:nvSpPr>
          <p:cNvPr id="39944" name="AutoShape 8"/>
          <p:cNvSpPr/>
          <p:nvPr/>
        </p:nvSpPr>
        <p:spPr>
          <a:xfrm>
            <a:off x="827088" y="1357313"/>
            <a:ext cx="4897437" cy="481012"/>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r>
              <a:rPr lang="en-US" altLang="zh-CN" sz="2800" b="1" dirty="0">
                <a:latin typeface="Times New Roman" panose="02020603050405020304" pitchFamily="18" charset="0"/>
                <a:ea typeface="宋体" panose="02010600030101010101" pitchFamily="2" charset="-122"/>
              </a:rPr>
              <a:t>§4</a:t>
            </a:r>
            <a:r>
              <a:rPr lang="en-US" altLang="en-US" sz="2800" b="1" dirty="0">
                <a:latin typeface="Times New Roman" panose="02020603050405020304" pitchFamily="18" charset="0"/>
                <a:ea typeface="宋体" panose="02010600030101010101" pitchFamily="2" charset="-122"/>
              </a:rPr>
              <a:t>.1 原电池</a:t>
            </a:r>
            <a:endParaRPr lang="zh-CN" altLang="en-US" sz="2800" b="1" dirty="0">
              <a:latin typeface="Times New Roman" panose="02020603050405020304" pitchFamily="18" charset="0"/>
              <a:ea typeface="宋体" panose="02010600030101010101" pitchFamily="2" charset="-122"/>
            </a:endParaRPr>
          </a:p>
        </p:txBody>
      </p:sp>
      <p:sp>
        <p:nvSpPr>
          <p:cNvPr id="39945" name="AutoShape 9"/>
          <p:cNvSpPr/>
          <p:nvPr/>
        </p:nvSpPr>
        <p:spPr>
          <a:xfrm>
            <a:off x="755650" y="3697288"/>
            <a:ext cx="4895850" cy="481012"/>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4.4</a:t>
            </a: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电解的基本原理及应用</a:t>
            </a:r>
            <a:endParaRPr lang="zh-CN" altLang="en-US" sz="2800" b="1" dirty="0">
              <a:latin typeface="Times New Roman" panose="02020603050405020304" pitchFamily="18" charset="0"/>
              <a:ea typeface="宋体" panose="02010600030101010101" pitchFamily="2" charset="-122"/>
            </a:endParaRPr>
          </a:p>
        </p:txBody>
      </p:sp>
      <p:sp>
        <p:nvSpPr>
          <p:cNvPr id="39946" name="AutoShape 10"/>
          <p:cNvSpPr/>
          <p:nvPr/>
        </p:nvSpPr>
        <p:spPr>
          <a:xfrm>
            <a:off x="755650" y="4537075"/>
            <a:ext cx="4895850" cy="481013"/>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4.5</a:t>
            </a: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金属腐蚀与防护</a:t>
            </a:r>
            <a:endParaRPr lang="zh-CN" altLang="en-US" sz="2800" b="1" dirty="0">
              <a:latin typeface="Times New Roman" panose="02020603050405020304" pitchFamily="18" charset="0"/>
              <a:ea typeface="宋体" panose="02010600030101010101" pitchFamily="2" charset="-122"/>
            </a:endParaRPr>
          </a:p>
        </p:txBody>
      </p:sp>
      <p:sp>
        <p:nvSpPr>
          <p:cNvPr id="39947" name="AutoShape 11"/>
          <p:cNvSpPr/>
          <p:nvPr/>
        </p:nvSpPr>
        <p:spPr>
          <a:xfrm>
            <a:off x="755650" y="2917825"/>
            <a:ext cx="4895850" cy="479425"/>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r>
              <a:rPr lang="en-US" altLang="en-US" sz="2800" b="1" dirty="0">
                <a:latin typeface="Times New Roman" panose="02020603050405020304" pitchFamily="18" charset="0"/>
                <a:ea typeface="宋体" panose="02010600030101010101" pitchFamily="2" charset="-122"/>
              </a:rPr>
              <a:t>§4.3</a:t>
            </a: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电极电势的应用</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44"/>
                                        </p:tgtEl>
                                        <p:attrNameLst>
                                          <p:attrName>style.visibility</p:attrName>
                                        </p:attrNameLst>
                                      </p:cBhvr>
                                      <p:to>
                                        <p:strVal val="visible"/>
                                      </p:to>
                                    </p:set>
                                    <p:animEffect transition="in" filter="wipe(left)">
                                      <p:cBhvr>
                                        <p:cTn id="7" dur="500"/>
                                        <p:tgtEl>
                                          <p:spTgt spid="399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43"/>
                                        </p:tgtEl>
                                        <p:attrNameLst>
                                          <p:attrName>style.visibility</p:attrName>
                                        </p:attrNameLst>
                                      </p:cBhvr>
                                      <p:to>
                                        <p:strVal val="visible"/>
                                      </p:to>
                                    </p:set>
                                    <p:animEffect transition="in" filter="wipe(left)">
                                      <p:cBhvr>
                                        <p:cTn id="12" dur="500"/>
                                        <p:tgtEl>
                                          <p:spTgt spid="399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947"/>
                                        </p:tgtEl>
                                        <p:attrNameLst>
                                          <p:attrName>style.visibility</p:attrName>
                                        </p:attrNameLst>
                                      </p:cBhvr>
                                      <p:to>
                                        <p:strVal val="visible"/>
                                      </p:to>
                                    </p:set>
                                    <p:animEffect transition="in" filter="wipe(left)">
                                      <p:cBhvr>
                                        <p:cTn id="17" dur="500"/>
                                        <p:tgtEl>
                                          <p:spTgt spid="399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945"/>
                                        </p:tgtEl>
                                        <p:attrNameLst>
                                          <p:attrName>style.visibility</p:attrName>
                                        </p:attrNameLst>
                                      </p:cBhvr>
                                      <p:to>
                                        <p:strVal val="visible"/>
                                      </p:to>
                                    </p:set>
                                    <p:animEffect transition="in" filter="wipe(left)">
                                      <p:cBhvr>
                                        <p:cTn id="22" dur="500"/>
                                        <p:tgtEl>
                                          <p:spTgt spid="399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946"/>
                                        </p:tgtEl>
                                        <p:attrNameLst>
                                          <p:attrName>style.visibility</p:attrName>
                                        </p:attrNameLst>
                                      </p:cBhvr>
                                      <p:to>
                                        <p:strVal val="visible"/>
                                      </p:to>
                                    </p:set>
                                    <p:animEffect transition="in" filter="wipe(left)">
                                      <p:cBhvr>
                                        <p:cTn id="27" dur="500"/>
                                        <p:tgtEl>
                                          <p:spTgt spid="39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3" grpId="0" animBg="1"/>
      <p:bldP spid="39944" grpId="0" animBg="1"/>
      <p:bldP spid="39945" grpId="0" animBg="1"/>
      <p:bldP spid="39946" grpId="0" animBg="1"/>
      <p:bldP spid="399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3"/>
          <p:cNvSpPr>
            <a:spLocks noGrp="1"/>
          </p:cNvSpPr>
          <p:nvPr>
            <p:ph idx="1"/>
          </p:nvPr>
        </p:nvSpPr>
        <p:spPr>
          <a:xfrm>
            <a:off x="179388" y="1838325"/>
            <a:ext cx="4679950" cy="3322638"/>
          </a:xfrm>
          <a:solidFill>
            <a:srgbClr val="CCFF66"/>
          </a:solidFill>
        </p:spPr>
        <p:txBody>
          <a:bodyPr vert="horz" wrap="square" lIns="91440" tIns="45720" rIns="91440" bIns="45720" anchor="t" anchorCtr="0"/>
          <a:lstStyle/>
          <a:p>
            <a:pPr eaLnBrk="1" hangingPunct="1"/>
            <a:r>
              <a:rPr lang="zh-CN" altLang="en-US" b="1" dirty="0">
                <a:solidFill>
                  <a:srgbClr val="6600CC"/>
                </a:solidFill>
              </a:rPr>
              <a:t>原电池</a:t>
            </a:r>
          </a:p>
          <a:p>
            <a:pPr eaLnBrk="1" hangingPunct="1">
              <a:lnSpc>
                <a:spcPct val="150000"/>
              </a:lnSpc>
            </a:pPr>
            <a:r>
              <a:rPr lang="zh-CN" altLang="en-US" sz="2800" dirty="0"/>
              <a:t>     </a:t>
            </a:r>
            <a:r>
              <a:rPr lang="zh-CN" altLang="en-US" sz="2400" b="1" dirty="0"/>
              <a:t>借助氧化还原反应直接产生电流的装置</a:t>
            </a:r>
            <a:r>
              <a:rPr lang="en-US" altLang="zh-CN" sz="2400" b="1" dirty="0"/>
              <a:t>(</a:t>
            </a:r>
            <a:r>
              <a:rPr lang="zh-CN" altLang="en-US" sz="2400" b="1" dirty="0"/>
              <a:t>或是借助氧化还原反应将化学能直接转化为电能的装置</a:t>
            </a:r>
            <a:r>
              <a:rPr lang="en-US" altLang="zh-CN" sz="2400" b="1" dirty="0"/>
              <a:t>) </a:t>
            </a:r>
            <a:endParaRPr lang="en-US" altLang="zh-CN" sz="2800" b="1" dirty="0"/>
          </a:p>
        </p:txBody>
      </p:sp>
      <p:pic>
        <p:nvPicPr>
          <p:cNvPr id="1030" name="Picture 4"/>
          <p:cNvPicPr>
            <a:picLocks noChangeAspect="1"/>
          </p:cNvPicPr>
          <p:nvPr/>
        </p:nvPicPr>
        <p:blipFill>
          <a:blip r:embed="rId2"/>
          <a:srcRect r="-2370" b="19223"/>
          <a:stretch>
            <a:fillRect/>
          </a:stretch>
        </p:blipFill>
        <p:spPr>
          <a:xfrm>
            <a:off x="5148263" y="2138363"/>
            <a:ext cx="3376612" cy="2125662"/>
          </a:xfrm>
          <a:prstGeom prst="rect">
            <a:avLst/>
          </a:prstGeom>
          <a:noFill/>
          <a:ln w="9525">
            <a:noFill/>
          </a:ln>
        </p:spPr>
      </p:pic>
      <p:sp>
        <p:nvSpPr>
          <p:cNvPr id="20483" name="Rectangle 7"/>
          <p:cNvSpPr/>
          <p:nvPr/>
        </p:nvSpPr>
        <p:spPr>
          <a:xfrm>
            <a:off x="0" y="2208213"/>
            <a:ext cx="184150" cy="369887"/>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0484" name="Rectangle 8"/>
          <p:cNvSpPr/>
          <p:nvPr/>
        </p:nvSpPr>
        <p:spPr>
          <a:xfrm>
            <a:off x="1333500" y="2549525"/>
            <a:ext cx="1211263" cy="400050"/>
          </a:xfrm>
          <a:prstGeom prst="rect">
            <a:avLst/>
          </a:prstGeom>
          <a:noFill/>
          <a:ln w="9525">
            <a:noFill/>
          </a:ln>
        </p:spPr>
        <p:txBody>
          <a:bodyPr wrap="none" anchor="ctr" anchorCtr="0">
            <a:spAutoFit/>
          </a:bodyPr>
          <a:lstStyle/>
          <a:p>
            <a:r>
              <a:rPr lang="zh-CN" altLang="en-US" sz="1000" dirty="0">
                <a:latin typeface="宋体" panose="02010600030101010101" pitchFamily="2" charset="-122"/>
                <a:ea typeface="宋体" panose="02010600030101010101" pitchFamily="2" charset="-122"/>
              </a:rPr>
              <a:t>　　　　　　　　</a:t>
            </a:r>
            <a:endParaRPr lang="zh-CN" altLang="en-US" sz="1000" dirty="0">
              <a:latin typeface="Arial" panose="020B0604020202020204" pitchFamily="34" charset="0"/>
              <a:ea typeface="宋体" panose="02010600030101010101" pitchFamily="2" charset="-122"/>
            </a:endParaRPr>
          </a:p>
          <a:p>
            <a:pPr eaLnBrk="0" hangingPunct="0"/>
            <a:r>
              <a:rPr lang="zh-CN" altLang="en-US" sz="1000"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0485" name="Rectangle 9"/>
          <p:cNvSpPr/>
          <p:nvPr/>
        </p:nvSpPr>
        <p:spPr>
          <a:xfrm>
            <a:off x="0" y="3082925"/>
            <a:ext cx="223838" cy="261938"/>
          </a:xfrm>
          <a:prstGeom prst="rect">
            <a:avLst/>
          </a:prstGeom>
          <a:noFill/>
          <a:ln w="9525">
            <a:noFill/>
          </a:ln>
        </p:spPr>
        <p:txBody>
          <a:bodyPr wrap="none" anchor="ctr" anchorCtr="0">
            <a:spAutoFit/>
          </a:bodyPr>
          <a:lstStyle/>
          <a:p>
            <a:r>
              <a:rPr lang="en-US" altLang="zh-CN" sz="11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1038" name="Rectangle 14"/>
          <p:cNvSpPr>
            <a:spLocks noRot="1"/>
          </p:cNvSpPr>
          <p:nvPr/>
        </p:nvSpPr>
        <p:spPr>
          <a:xfrm>
            <a:off x="0" y="338138"/>
            <a:ext cx="9144000" cy="600075"/>
          </a:xfrm>
          <a:prstGeom prst="rect">
            <a:avLst/>
          </a:prstGeom>
          <a:solidFill>
            <a:srgbClr val="008000"/>
          </a:solidFill>
          <a:ln w="9525">
            <a:noFill/>
          </a:ln>
        </p:spPr>
        <p:txBody>
          <a:bodyPr anchor="ctr" anchorCtr="0"/>
          <a:lstStyle/>
          <a:p>
            <a:pPr algn="ctr" eaLnBrk="0" hangingPunct="0"/>
            <a:r>
              <a:rPr lang="zh-CN" altLang="en-US" sz="3200" b="1" dirty="0">
                <a:solidFill>
                  <a:srgbClr val="FFFFCC"/>
                </a:solidFill>
                <a:latin typeface="Times New Roman" panose="02020603050405020304" pitchFamily="18" charset="0"/>
                <a:ea typeface="宋体" panose="02010600030101010101" pitchFamily="2" charset="-122"/>
              </a:rPr>
              <a:t>§</a:t>
            </a:r>
            <a:r>
              <a:rPr lang="en-US" altLang="zh-CN" sz="3200" b="1" dirty="0">
                <a:solidFill>
                  <a:srgbClr val="FFFFCC"/>
                </a:solidFill>
                <a:latin typeface="Times New Roman" panose="02020603050405020304" pitchFamily="18" charset="0"/>
                <a:ea typeface="宋体" panose="02010600030101010101" pitchFamily="2" charset="-122"/>
              </a:rPr>
              <a:t>4.1</a:t>
            </a:r>
            <a:r>
              <a:rPr lang="en-US" altLang="zh-CN" sz="3200" dirty="0">
                <a:solidFill>
                  <a:srgbClr val="FFFFCC"/>
                </a:solidFill>
                <a:latin typeface="黑体" panose="02010609060101010101" pitchFamily="49" charset="-122"/>
                <a:ea typeface="黑体" panose="02010609060101010101" pitchFamily="49" charset="-122"/>
              </a:rPr>
              <a:t>  </a:t>
            </a:r>
            <a:r>
              <a:rPr lang="zh-CN" altLang="en-US" sz="3200" dirty="0">
                <a:solidFill>
                  <a:srgbClr val="FFFF99"/>
                </a:solidFill>
                <a:latin typeface="黑体" panose="02010609060101010101" pitchFamily="49" charset="-122"/>
                <a:ea typeface="黑体" panose="02010609060101010101" pitchFamily="49" charset="-122"/>
              </a:rPr>
              <a:t>原电池</a:t>
            </a:r>
          </a:p>
        </p:txBody>
      </p:sp>
      <p:sp>
        <p:nvSpPr>
          <p:cNvPr id="1039" name="Rectangle 15"/>
          <p:cNvSpPr/>
          <p:nvPr/>
        </p:nvSpPr>
        <p:spPr>
          <a:xfrm>
            <a:off x="0" y="1177925"/>
            <a:ext cx="2555875" cy="51752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400" b="1" dirty="0">
                <a:solidFill>
                  <a:schemeClr val="tx2"/>
                </a:solidFill>
                <a:latin typeface="Arial" panose="020B0604020202020204" pitchFamily="34" charset="0"/>
                <a:ea typeface="宋体" panose="02010600030101010101" pitchFamily="2" charset="-122"/>
              </a:rPr>
              <a:t>1. </a:t>
            </a:r>
            <a:r>
              <a:rPr lang="zh-CN" altLang="en-US" sz="2400" b="1" dirty="0">
                <a:solidFill>
                  <a:schemeClr val="tx2"/>
                </a:solidFill>
                <a:latin typeface="Arial" panose="020B0604020202020204" pitchFamily="34" charset="0"/>
                <a:ea typeface="宋体" panose="02010600030101010101" pitchFamily="2" charset="-122"/>
              </a:rPr>
              <a:t>原电池的定义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038"/>
                                        </p:tgtEl>
                                        <p:attrNameLst>
                                          <p:attrName>style.visibility</p:attrName>
                                        </p:attrNameLst>
                                      </p:cBhvr>
                                      <p:to>
                                        <p:strVal val="visible"/>
                                      </p:to>
                                    </p:set>
                                    <p:anim calcmode="lin" valueType="num">
                                      <p:cBhvr>
                                        <p:cTn id="7" dur="1000" fill="hold"/>
                                        <p:tgtEl>
                                          <p:spTgt spid="1038"/>
                                        </p:tgtEl>
                                        <p:attrNameLst>
                                          <p:attrName>ppt_x</p:attrName>
                                        </p:attrNameLst>
                                      </p:cBhvr>
                                      <p:tavLst>
                                        <p:tav tm="0">
                                          <p:val>
                                            <p:strVal val="#ppt_x"/>
                                          </p:val>
                                        </p:tav>
                                        <p:tav tm="50000">
                                          <p:val>
                                            <p:strVal val="#ppt_x+.1"/>
                                          </p:val>
                                        </p:tav>
                                        <p:tav tm="100000">
                                          <p:val>
                                            <p:strVal val="#ppt_x"/>
                                          </p:val>
                                        </p:tav>
                                      </p:tavLst>
                                    </p:anim>
                                    <p:anim calcmode="lin" valueType="num">
                                      <p:cBhvr>
                                        <p:cTn id="8" dur="1000" fill="hold"/>
                                        <p:tgtEl>
                                          <p:spTgt spid="1038"/>
                                        </p:tgtEl>
                                        <p:attrNameLst>
                                          <p:attrName>ppt_y</p:attrName>
                                        </p:attrNameLst>
                                      </p:cBhvr>
                                      <p:tavLst>
                                        <p:tav tm="0">
                                          <p:val>
                                            <p:strVal val="#ppt_y"/>
                                          </p:val>
                                        </p:tav>
                                        <p:tav tm="100000">
                                          <p:val>
                                            <p:strVal val="#ppt_y"/>
                                          </p:val>
                                        </p:tav>
                                      </p:tavLst>
                                    </p:anim>
                                    <p:anim calcmode="lin" valueType="num">
                                      <p:cBhvr>
                                        <p:cTn id="9" dur="1000" fill="hold"/>
                                        <p:tgtEl>
                                          <p:spTgt spid="1038"/>
                                        </p:tgtEl>
                                        <p:attrNameLst>
                                          <p:attrName>ppt_h</p:attrName>
                                        </p:attrNameLst>
                                      </p:cBhvr>
                                      <p:tavLst>
                                        <p:tav tm="0">
                                          <p:val>
                                            <p:strVal val="#ppt_h/10"/>
                                          </p:val>
                                        </p:tav>
                                        <p:tav tm="50000">
                                          <p:val>
                                            <p:strVal val="#ppt_h+.01"/>
                                          </p:val>
                                        </p:tav>
                                        <p:tav tm="100000">
                                          <p:val>
                                            <p:strVal val="#ppt_h"/>
                                          </p:val>
                                        </p:tav>
                                      </p:tavLst>
                                    </p:anim>
                                    <p:anim calcmode="lin" valueType="num">
                                      <p:cBhvr>
                                        <p:cTn id="10" dur="1000" fill="hold"/>
                                        <p:tgtEl>
                                          <p:spTgt spid="103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000" tmFilter="0,0; .5, 1; 1, 1"/>
                                        <p:tgtEl>
                                          <p:spTgt spid="1038"/>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039"/>
                                        </p:tgtEl>
                                        <p:attrNameLst>
                                          <p:attrName>style.visibility</p:attrName>
                                        </p:attrNameLst>
                                      </p:cBhvr>
                                      <p:to>
                                        <p:strVal val="visible"/>
                                      </p:to>
                                    </p:set>
                                    <p:animEffect transition="in" filter="checkerboard(across)">
                                      <p:cBhvr>
                                        <p:cTn id="16" dur="1000"/>
                                        <p:tgtEl>
                                          <p:spTgt spid="103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29">
                                            <p:bg/>
                                          </p:spTgt>
                                        </p:tgtEl>
                                        <p:attrNameLst>
                                          <p:attrName>style.visibility</p:attrName>
                                        </p:attrNameLst>
                                      </p:cBhvr>
                                      <p:to>
                                        <p:strVal val="visible"/>
                                      </p:to>
                                    </p:set>
                                    <p:animEffect transition="in" filter="dissolve">
                                      <p:cBhvr>
                                        <p:cTn id="21" dur="500"/>
                                        <p:tgtEl>
                                          <p:spTgt spid="1029">
                                            <p:bg/>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29">
                                            <p:txEl>
                                              <p:pRg st="0" end="0"/>
                                            </p:txEl>
                                          </p:spTgt>
                                        </p:tgtEl>
                                        <p:attrNameLst>
                                          <p:attrName>style.visibility</p:attrName>
                                        </p:attrNameLst>
                                      </p:cBhvr>
                                      <p:to>
                                        <p:strVal val="visible"/>
                                      </p:to>
                                    </p:set>
                                    <p:animEffect transition="in" filter="dissolve">
                                      <p:cBhvr>
                                        <p:cTn id="26" dur="500"/>
                                        <p:tgtEl>
                                          <p:spTgt spid="102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29">
                                            <p:txEl>
                                              <p:pRg st="1" end="1"/>
                                            </p:txEl>
                                          </p:spTgt>
                                        </p:tgtEl>
                                        <p:attrNameLst>
                                          <p:attrName>style.visibility</p:attrName>
                                        </p:attrNameLst>
                                      </p:cBhvr>
                                      <p:to>
                                        <p:strVal val="visible"/>
                                      </p:to>
                                    </p:set>
                                    <p:animEffect transition="in" filter="dissolve">
                                      <p:cBhvr>
                                        <p:cTn id="31" dur="500"/>
                                        <p:tgtEl>
                                          <p:spTgt spid="1029">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dissolve">
                                      <p:cBhvr>
                                        <p:cTn id="36"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build="p" animBg="1"/>
      <p:bldP spid="1038" grpId="0" animBg="1"/>
      <p:bldP spid="10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ph type="body" idx="4294967295"/>
          </p:nvPr>
        </p:nvSpPr>
        <p:spPr>
          <a:xfrm>
            <a:off x="179388" y="1897063"/>
            <a:ext cx="4608512" cy="1379537"/>
          </a:xfrm>
          <a:solidFill>
            <a:srgbClr val="CCFF66"/>
          </a:solidFill>
        </p:spPr>
        <p:txBody>
          <a:bodyPr vert="horz" wrap="square" lIns="91440" tIns="45720" rIns="91440" bIns="45720" anchor="t" anchorCtr="0"/>
          <a:lstStyle/>
          <a:p>
            <a:pPr eaLnBrk="1" hangingPunct="1"/>
            <a:r>
              <a:rPr lang="zh-CN" altLang="en-US" b="1" dirty="0">
                <a:solidFill>
                  <a:srgbClr val="6600CC"/>
                </a:solidFill>
              </a:rPr>
              <a:t>原电池的组成</a:t>
            </a:r>
            <a:endParaRPr lang="zh-CN" altLang="en-US" dirty="0">
              <a:solidFill>
                <a:srgbClr val="6600CC"/>
              </a:solidFill>
            </a:endParaRPr>
          </a:p>
          <a:p>
            <a:pPr eaLnBrk="1" hangingPunct="1">
              <a:buNone/>
            </a:pPr>
            <a:r>
              <a:rPr lang="zh-CN" altLang="en-US" sz="2800" dirty="0"/>
              <a:t>       </a:t>
            </a:r>
            <a:r>
              <a:rPr lang="zh-CN" altLang="en-US" sz="2400" b="1" dirty="0"/>
              <a:t>两个半电池、盐桥和导线。</a:t>
            </a:r>
          </a:p>
        </p:txBody>
      </p:sp>
      <p:pic>
        <p:nvPicPr>
          <p:cNvPr id="48131" name="Picture 4"/>
          <p:cNvPicPr>
            <a:picLocks noChangeAspect="1"/>
          </p:cNvPicPr>
          <p:nvPr/>
        </p:nvPicPr>
        <p:blipFill>
          <a:blip r:embed="rId2"/>
          <a:srcRect r="-2370" b="19223"/>
          <a:stretch>
            <a:fillRect/>
          </a:stretch>
        </p:blipFill>
        <p:spPr>
          <a:xfrm>
            <a:off x="5076825" y="1409700"/>
            <a:ext cx="3376613" cy="2166938"/>
          </a:xfrm>
          <a:prstGeom prst="rect">
            <a:avLst/>
          </a:prstGeom>
          <a:noFill/>
          <a:ln w="9525">
            <a:noFill/>
          </a:ln>
        </p:spPr>
      </p:pic>
      <p:graphicFrame>
        <p:nvGraphicFramePr>
          <p:cNvPr id="48132" name="Object 6"/>
          <p:cNvGraphicFramePr>
            <a:graphicFrameLocks noChangeAspect="1"/>
          </p:cNvGraphicFramePr>
          <p:nvPr/>
        </p:nvGraphicFramePr>
        <p:xfrm>
          <a:off x="611188" y="4057650"/>
          <a:ext cx="3529012" cy="449263"/>
        </p:xfrm>
        <a:graphic>
          <a:graphicData uri="http://schemas.openxmlformats.org/presentationml/2006/ole">
            <mc:AlternateContent xmlns:mc="http://schemas.openxmlformats.org/markup-compatibility/2006">
              <mc:Choice xmlns:v="urn:schemas-microsoft-com:vml" Requires="v">
                <p:oleObj r:id="rId3" imgW="1499235" imgH="228600" progId="Equation.DSMT4">
                  <p:embed/>
                </p:oleObj>
              </mc:Choice>
              <mc:Fallback>
                <p:oleObj r:id="rId3" imgW="1499235" imgH="228600" progId="Equation.DSMT4">
                  <p:embed/>
                  <p:pic>
                    <p:nvPicPr>
                      <p:cNvPr id="0" name="图片 3080"/>
                      <p:cNvPicPr/>
                      <p:nvPr/>
                    </p:nvPicPr>
                    <p:blipFill>
                      <a:blip r:embed="rId4"/>
                      <a:stretch>
                        <a:fillRect/>
                      </a:stretch>
                    </p:blipFill>
                    <p:spPr>
                      <a:xfrm>
                        <a:off x="611188" y="4057650"/>
                        <a:ext cx="3529012" cy="449263"/>
                      </a:xfrm>
                      <a:prstGeom prst="rect">
                        <a:avLst/>
                      </a:prstGeom>
                      <a:solidFill>
                        <a:schemeClr val="accent1"/>
                      </a:solidFill>
                      <a:ln w="38100">
                        <a:noFill/>
                        <a:miter/>
                      </a:ln>
                    </p:spPr>
                  </p:pic>
                </p:oleObj>
              </mc:Fallback>
            </mc:AlternateContent>
          </a:graphicData>
        </a:graphic>
      </p:graphicFrame>
      <p:graphicFrame>
        <p:nvGraphicFramePr>
          <p:cNvPr id="48133" name="Object 5"/>
          <p:cNvGraphicFramePr>
            <a:graphicFrameLocks noChangeAspect="1"/>
          </p:cNvGraphicFramePr>
          <p:nvPr/>
        </p:nvGraphicFramePr>
        <p:xfrm>
          <a:off x="5003800" y="3997325"/>
          <a:ext cx="3455988" cy="430213"/>
        </p:xfrm>
        <a:graphic>
          <a:graphicData uri="http://schemas.openxmlformats.org/presentationml/2006/ole">
            <mc:AlternateContent xmlns:mc="http://schemas.openxmlformats.org/markup-compatibility/2006">
              <mc:Choice xmlns:v="urn:schemas-microsoft-com:vml" Requires="v">
                <p:oleObj r:id="rId5" imgW="1537335" imgH="228600" progId="Equation.DSMT4">
                  <p:embed/>
                </p:oleObj>
              </mc:Choice>
              <mc:Fallback>
                <p:oleObj r:id="rId5" imgW="1537335" imgH="228600" progId="Equation.DSMT4">
                  <p:embed/>
                  <p:pic>
                    <p:nvPicPr>
                      <p:cNvPr id="0" name="图片 3077"/>
                      <p:cNvPicPr/>
                      <p:nvPr/>
                    </p:nvPicPr>
                    <p:blipFill>
                      <a:blip r:embed="rId6"/>
                      <a:stretch>
                        <a:fillRect/>
                      </a:stretch>
                    </p:blipFill>
                    <p:spPr>
                      <a:xfrm>
                        <a:off x="5003800" y="3997325"/>
                        <a:ext cx="3455988" cy="430213"/>
                      </a:xfrm>
                      <a:prstGeom prst="rect">
                        <a:avLst/>
                      </a:prstGeom>
                      <a:solidFill>
                        <a:schemeClr val="accent1"/>
                      </a:solidFill>
                      <a:ln w="38100">
                        <a:noFill/>
                        <a:miter/>
                      </a:ln>
                    </p:spPr>
                  </p:pic>
                </p:oleObj>
              </mc:Fallback>
            </mc:AlternateContent>
          </a:graphicData>
        </a:graphic>
      </p:graphicFrame>
      <p:sp>
        <p:nvSpPr>
          <p:cNvPr id="21509" name="Rectangle 7"/>
          <p:cNvSpPr/>
          <p:nvPr/>
        </p:nvSpPr>
        <p:spPr>
          <a:xfrm>
            <a:off x="0" y="2208213"/>
            <a:ext cx="184150" cy="369887"/>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1510" name="Rectangle 9"/>
          <p:cNvSpPr/>
          <p:nvPr/>
        </p:nvSpPr>
        <p:spPr>
          <a:xfrm>
            <a:off x="0" y="3082925"/>
            <a:ext cx="223838" cy="261938"/>
          </a:xfrm>
          <a:prstGeom prst="rect">
            <a:avLst/>
          </a:prstGeom>
          <a:noFill/>
          <a:ln w="9525">
            <a:noFill/>
          </a:ln>
        </p:spPr>
        <p:txBody>
          <a:bodyPr wrap="none" anchor="ctr" anchorCtr="0">
            <a:spAutoFit/>
          </a:bodyPr>
          <a:lstStyle/>
          <a:p>
            <a:r>
              <a:rPr lang="en-US" altLang="zh-CN" sz="11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48138" name="Rectangle 10"/>
          <p:cNvSpPr/>
          <p:nvPr/>
        </p:nvSpPr>
        <p:spPr>
          <a:xfrm>
            <a:off x="0" y="517525"/>
            <a:ext cx="3635375"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2. </a:t>
            </a:r>
            <a:r>
              <a:rPr lang="zh-CN" altLang="en-US" sz="2800" b="1" dirty="0">
                <a:solidFill>
                  <a:schemeClr val="tx2"/>
                </a:solidFill>
                <a:latin typeface="Arial" panose="020B0604020202020204" pitchFamily="34" charset="0"/>
                <a:ea typeface="宋体" panose="02010600030101010101" pitchFamily="2" charset="-122"/>
              </a:rPr>
              <a:t>原电池的组成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138"/>
                                        </p:tgtEl>
                                        <p:attrNameLst>
                                          <p:attrName>style.visibility</p:attrName>
                                        </p:attrNameLst>
                                      </p:cBhvr>
                                      <p:to>
                                        <p:strVal val="visible"/>
                                      </p:to>
                                    </p:set>
                                    <p:animEffect transition="in" filter="checkerboard(across)">
                                      <p:cBhvr>
                                        <p:cTn id="7" dur="1000"/>
                                        <p:tgtEl>
                                          <p:spTgt spid="481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30">
                                            <p:bg/>
                                          </p:spTgt>
                                        </p:tgtEl>
                                        <p:attrNameLst>
                                          <p:attrName>style.visibility</p:attrName>
                                        </p:attrNameLst>
                                      </p:cBhvr>
                                      <p:to>
                                        <p:strVal val="visible"/>
                                      </p:to>
                                    </p:set>
                                    <p:animEffect transition="in" filter="dissolve">
                                      <p:cBhvr>
                                        <p:cTn id="12" dur="500"/>
                                        <p:tgtEl>
                                          <p:spTgt spid="48130">
                                            <p:bg/>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130">
                                            <p:txEl>
                                              <p:pRg st="0" end="0"/>
                                            </p:txEl>
                                          </p:spTgt>
                                        </p:tgtEl>
                                        <p:attrNameLst>
                                          <p:attrName>style.visibility</p:attrName>
                                        </p:attrNameLst>
                                      </p:cBhvr>
                                      <p:to>
                                        <p:strVal val="visible"/>
                                      </p:to>
                                    </p:set>
                                    <p:animEffect transition="in" filter="dissolve">
                                      <p:cBhvr>
                                        <p:cTn id="17" dur="500"/>
                                        <p:tgtEl>
                                          <p:spTgt spid="4813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130">
                                            <p:txEl>
                                              <p:pRg st="1" end="1"/>
                                            </p:txEl>
                                          </p:spTgt>
                                        </p:tgtEl>
                                        <p:attrNameLst>
                                          <p:attrName>style.visibility</p:attrName>
                                        </p:attrNameLst>
                                      </p:cBhvr>
                                      <p:to>
                                        <p:strVal val="visible"/>
                                      </p:to>
                                    </p:set>
                                    <p:animEffect transition="in" filter="dissolve">
                                      <p:cBhvr>
                                        <p:cTn id="22" dur="500"/>
                                        <p:tgtEl>
                                          <p:spTgt spid="4813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8131"/>
                                        </p:tgtEl>
                                        <p:attrNameLst>
                                          <p:attrName>style.visibility</p:attrName>
                                        </p:attrNameLst>
                                      </p:cBhvr>
                                      <p:to>
                                        <p:strVal val="visible"/>
                                      </p:to>
                                    </p:set>
                                    <p:animEffect transition="in" filter="dissolve">
                                      <p:cBhvr>
                                        <p:cTn id="27" dur="500"/>
                                        <p:tgtEl>
                                          <p:spTgt spid="481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8132"/>
                                        </p:tgtEl>
                                        <p:attrNameLst>
                                          <p:attrName>style.visibility</p:attrName>
                                        </p:attrNameLst>
                                      </p:cBhvr>
                                      <p:to>
                                        <p:strVal val="visible"/>
                                      </p:to>
                                    </p:set>
                                    <p:animEffect transition="in" filter="wipe(left)">
                                      <p:cBhvr>
                                        <p:cTn id="32" dur="500"/>
                                        <p:tgtEl>
                                          <p:spTgt spid="481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8133"/>
                                        </p:tgtEl>
                                        <p:attrNameLst>
                                          <p:attrName>style.visibility</p:attrName>
                                        </p:attrNameLst>
                                      </p:cBhvr>
                                      <p:to>
                                        <p:strVal val="visible"/>
                                      </p:to>
                                    </p:set>
                                    <p:animEffect transition="in" filter="wipe(left)">
                                      <p:cBhvr>
                                        <p:cTn id="37"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animBg="1"/>
      <p:bldP spid="481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4" name="Object 2"/>
          <p:cNvGraphicFramePr>
            <a:graphicFrameLocks noChangeAspect="1"/>
          </p:cNvGraphicFramePr>
          <p:nvPr/>
        </p:nvGraphicFramePr>
        <p:xfrm>
          <a:off x="4284663" y="3217863"/>
          <a:ext cx="4322762" cy="749300"/>
        </p:xfrm>
        <a:graphic>
          <a:graphicData uri="http://schemas.openxmlformats.org/presentationml/2006/ole">
            <mc:AlternateContent xmlns:mc="http://schemas.openxmlformats.org/markup-compatibility/2006">
              <mc:Choice xmlns:v="urn:schemas-microsoft-com:vml" Requires="v">
                <p:oleObj r:id="rId3" imgW="2822575" imgH="599440" progId="Word.Document.8">
                  <p:embed/>
                </p:oleObj>
              </mc:Choice>
              <mc:Fallback>
                <p:oleObj r:id="rId3" imgW="2822575" imgH="599440" progId="Word.Document.8">
                  <p:embed/>
                  <p:pic>
                    <p:nvPicPr>
                      <p:cNvPr id="0" name="图片 3078"/>
                      <p:cNvPicPr/>
                      <p:nvPr/>
                    </p:nvPicPr>
                    <p:blipFill>
                      <a:blip r:embed="rId4"/>
                      <a:stretch>
                        <a:fillRect/>
                      </a:stretch>
                    </p:blipFill>
                    <p:spPr>
                      <a:xfrm>
                        <a:off x="4284663" y="3217863"/>
                        <a:ext cx="4322762" cy="749300"/>
                      </a:xfrm>
                      <a:prstGeom prst="rect">
                        <a:avLst/>
                      </a:prstGeom>
                      <a:noFill/>
                      <a:ln w="38100">
                        <a:noFill/>
                        <a:miter/>
                      </a:ln>
                    </p:spPr>
                  </p:pic>
                </p:oleObj>
              </mc:Fallback>
            </mc:AlternateContent>
          </a:graphicData>
        </a:graphic>
      </p:graphicFrame>
      <p:grpSp>
        <p:nvGrpSpPr>
          <p:cNvPr id="2" name="Group 3"/>
          <p:cNvGrpSpPr/>
          <p:nvPr/>
        </p:nvGrpSpPr>
        <p:grpSpPr>
          <a:xfrm>
            <a:off x="2411413" y="1195388"/>
            <a:ext cx="6408737" cy="1333500"/>
            <a:chOff x="930" y="295"/>
            <a:chExt cx="4546" cy="1118"/>
          </a:xfrm>
        </p:grpSpPr>
        <p:sp>
          <p:nvSpPr>
            <p:cNvPr id="22531" name="Rectangle 4"/>
            <p:cNvSpPr/>
            <p:nvPr/>
          </p:nvSpPr>
          <p:spPr>
            <a:xfrm>
              <a:off x="2069" y="295"/>
              <a:ext cx="3227" cy="387"/>
            </a:xfrm>
            <a:prstGeom prst="rect">
              <a:avLst/>
            </a:prstGeom>
            <a:noFill/>
            <a:ln w="9525">
              <a:noFill/>
            </a:ln>
          </p:spPr>
          <p:txBody>
            <a:bodyPr wrap="none" anchor="ctr" anchorCtr="0">
              <a:spAutoFit/>
            </a:bodyPr>
            <a:lstStyle/>
            <a:p>
              <a:pPr algn="ctr"/>
              <a:r>
                <a:rPr lang="zh-CN" altLang="en-US" sz="2400" b="1" dirty="0">
                  <a:solidFill>
                    <a:schemeClr val="tx2"/>
                  </a:solidFill>
                  <a:latin typeface="Times New Roman" panose="02020603050405020304" pitchFamily="18" charset="0"/>
                  <a:ea typeface="宋体" panose="02010600030101010101" pitchFamily="2" charset="-122"/>
                </a:rPr>
                <a:t>负极：</a:t>
              </a:r>
              <a:r>
                <a:rPr lang="en-US" altLang="zh-CN" sz="2400" b="1" dirty="0">
                  <a:solidFill>
                    <a:schemeClr val="tx2"/>
                  </a:solidFill>
                  <a:latin typeface="Times New Roman" panose="02020603050405020304" pitchFamily="18" charset="0"/>
                  <a:ea typeface="宋体" panose="02010600030101010101" pitchFamily="2" charset="-122"/>
                </a:rPr>
                <a:t>Zn→ Zn</a:t>
              </a:r>
              <a:r>
                <a:rPr lang="en-US" altLang="zh-CN" sz="2400" b="1" baseline="30000" dirty="0">
                  <a:solidFill>
                    <a:schemeClr val="tx2"/>
                  </a:solidFill>
                  <a:latin typeface="Times New Roman" panose="02020603050405020304" pitchFamily="18" charset="0"/>
                  <a:ea typeface="宋体" panose="02010600030101010101" pitchFamily="2" charset="-122"/>
                </a:rPr>
                <a:t>2+</a:t>
              </a:r>
              <a:r>
                <a:rPr lang="en-US" altLang="zh-CN" sz="2400" b="1" dirty="0">
                  <a:solidFill>
                    <a:schemeClr val="tx2"/>
                  </a:solidFill>
                  <a:latin typeface="Times New Roman" panose="02020603050405020304" pitchFamily="18" charset="0"/>
                  <a:ea typeface="宋体" panose="02010600030101010101" pitchFamily="2" charset="-122"/>
                </a:rPr>
                <a:t> + 2e</a:t>
              </a:r>
              <a:r>
                <a:rPr lang="en-US" altLang="zh-CN" sz="2400" b="1" baseline="30000" dirty="0">
                  <a:solidFill>
                    <a:schemeClr val="tx2"/>
                  </a:solidFill>
                  <a:latin typeface="Times New Roman" panose="02020603050405020304" pitchFamily="18" charset="0"/>
                  <a:ea typeface="宋体" panose="02010600030101010101" pitchFamily="2" charset="-122"/>
                </a:rPr>
                <a:t>-</a:t>
              </a: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氧化反应</a:t>
              </a:r>
            </a:p>
          </p:txBody>
        </p:sp>
        <p:sp>
          <p:nvSpPr>
            <p:cNvPr id="22532" name="Rectangle 5"/>
            <p:cNvSpPr/>
            <p:nvPr/>
          </p:nvSpPr>
          <p:spPr>
            <a:xfrm>
              <a:off x="2095" y="1026"/>
              <a:ext cx="3381" cy="387"/>
            </a:xfrm>
            <a:prstGeom prst="rect">
              <a:avLst/>
            </a:prstGeom>
            <a:noFill/>
            <a:ln w="9525">
              <a:noFill/>
            </a:ln>
          </p:spPr>
          <p:txBody>
            <a:bodyPr anchor="t" anchorCtr="0">
              <a:spAutoFit/>
            </a:bodyPr>
            <a:lstStyle/>
            <a:p>
              <a:pPr algn="ctr"/>
              <a:r>
                <a:rPr lang="zh-CN" altLang="en-US" sz="2400" b="1" dirty="0">
                  <a:solidFill>
                    <a:schemeClr val="tx2"/>
                  </a:solidFill>
                  <a:latin typeface="Times New Roman" panose="02020603050405020304" pitchFamily="18" charset="0"/>
                  <a:ea typeface="宋体" panose="02010600030101010101" pitchFamily="2" charset="-122"/>
                </a:rPr>
                <a:t>正极：</a:t>
              </a:r>
              <a:r>
                <a:rPr lang="en-US" altLang="zh-CN" sz="2400" b="1" dirty="0">
                  <a:solidFill>
                    <a:schemeClr val="tx2"/>
                  </a:solidFill>
                  <a:latin typeface="Times New Roman" panose="02020603050405020304" pitchFamily="18" charset="0"/>
                  <a:ea typeface="宋体" panose="02010600030101010101" pitchFamily="2" charset="-122"/>
                </a:rPr>
                <a:t>Cu</a:t>
              </a:r>
              <a:r>
                <a:rPr lang="en-US" altLang="zh-CN" sz="2400" b="1" baseline="30000" dirty="0">
                  <a:solidFill>
                    <a:schemeClr val="tx2"/>
                  </a:solidFill>
                  <a:latin typeface="Times New Roman" panose="02020603050405020304" pitchFamily="18" charset="0"/>
                  <a:ea typeface="宋体" panose="02010600030101010101" pitchFamily="2" charset="-122"/>
                </a:rPr>
                <a:t>2+</a:t>
              </a:r>
              <a:r>
                <a:rPr lang="en-US" altLang="zh-CN" sz="2400" b="1" dirty="0">
                  <a:solidFill>
                    <a:schemeClr val="tx2"/>
                  </a:solidFill>
                  <a:latin typeface="Times New Roman" panose="02020603050405020304" pitchFamily="18" charset="0"/>
                  <a:ea typeface="宋体" panose="02010600030101010101" pitchFamily="2" charset="-122"/>
                </a:rPr>
                <a:t> + 2e</a:t>
              </a:r>
              <a:r>
                <a:rPr lang="en-US" altLang="zh-CN" sz="2400" b="1" baseline="30000" dirty="0">
                  <a:solidFill>
                    <a:schemeClr val="tx2"/>
                  </a:solidFill>
                  <a:latin typeface="Times New Roman" panose="02020603050405020304" pitchFamily="18" charset="0"/>
                  <a:ea typeface="宋体" panose="02010600030101010101" pitchFamily="2" charset="-122"/>
                </a:rPr>
                <a:t>-</a:t>
              </a:r>
              <a:r>
                <a:rPr lang="en-US" altLang="zh-CN" sz="2400" b="1" dirty="0">
                  <a:solidFill>
                    <a:schemeClr val="tx2"/>
                  </a:solidFill>
                  <a:latin typeface="Times New Roman" panose="02020603050405020304" pitchFamily="18" charset="0"/>
                  <a:ea typeface="宋体" panose="02010600030101010101" pitchFamily="2" charset="-122"/>
                </a:rPr>
                <a:t>→ Cu  </a:t>
              </a:r>
              <a:r>
                <a:rPr lang="zh-CN" altLang="en-US" sz="2400" b="1" dirty="0">
                  <a:solidFill>
                    <a:schemeClr val="tx2"/>
                  </a:solidFill>
                  <a:latin typeface="Times New Roman" panose="02020603050405020304" pitchFamily="18" charset="0"/>
                  <a:ea typeface="宋体" panose="02010600030101010101" pitchFamily="2" charset="-122"/>
                </a:rPr>
                <a:t>还原反应</a:t>
              </a:r>
            </a:p>
          </p:txBody>
        </p:sp>
        <p:graphicFrame>
          <p:nvGraphicFramePr>
            <p:cNvPr id="22533" name="Object 6"/>
            <p:cNvGraphicFramePr>
              <a:graphicFrameLocks noChangeAspect="1"/>
            </p:cNvGraphicFramePr>
            <p:nvPr/>
          </p:nvGraphicFramePr>
          <p:xfrm>
            <a:off x="930" y="618"/>
            <a:ext cx="1025" cy="373"/>
          </p:xfrm>
          <a:graphic>
            <a:graphicData uri="http://schemas.openxmlformats.org/presentationml/2006/ole">
              <mc:AlternateContent xmlns:mc="http://schemas.openxmlformats.org/markup-compatibility/2006">
                <mc:Choice xmlns:v="urn:schemas-microsoft-com:vml" Requires="v">
                  <p:oleObj r:id="rId5" imgW="1057910" imgH="388620" progId="Word.Document.8">
                    <p:embed/>
                  </p:oleObj>
                </mc:Choice>
                <mc:Fallback>
                  <p:oleObj r:id="rId5" imgW="1057910" imgH="388620" progId="Word.Document.8">
                    <p:embed/>
                    <p:pic>
                      <p:nvPicPr>
                        <p:cNvPr id="0" name="图片 3079"/>
                        <p:cNvPicPr/>
                        <p:nvPr/>
                      </p:nvPicPr>
                      <p:blipFill>
                        <a:blip r:embed="rId6"/>
                        <a:stretch>
                          <a:fillRect/>
                        </a:stretch>
                      </p:blipFill>
                      <p:spPr>
                        <a:xfrm>
                          <a:off x="930" y="618"/>
                          <a:ext cx="1025" cy="373"/>
                        </a:xfrm>
                        <a:prstGeom prst="rect">
                          <a:avLst/>
                        </a:prstGeom>
                        <a:solidFill>
                          <a:srgbClr val="00CCFF"/>
                        </a:solidFill>
                        <a:ln w="38100">
                          <a:noFill/>
                          <a:miter/>
                        </a:ln>
                      </p:spPr>
                    </p:pic>
                  </p:oleObj>
                </mc:Fallback>
              </mc:AlternateContent>
            </a:graphicData>
          </a:graphic>
        </p:graphicFrame>
        <p:sp>
          <p:nvSpPr>
            <p:cNvPr id="22534" name="AutoShape 7"/>
            <p:cNvSpPr/>
            <p:nvPr/>
          </p:nvSpPr>
          <p:spPr>
            <a:xfrm>
              <a:off x="2064" y="482"/>
              <a:ext cx="91" cy="772"/>
            </a:xfrm>
            <a:prstGeom prst="leftBrace">
              <a:avLst>
                <a:gd name="adj1" fmla="val 70185"/>
                <a:gd name="adj2" fmla="val 50000"/>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74760" name="Rectangle 8"/>
          <p:cNvSpPr/>
          <p:nvPr/>
        </p:nvSpPr>
        <p:spPr>
          <a:xfrm>
            <a:off x="2027238" y="4957763"/>
            <a:ext cx="6573837" cy="461962"/>
          </a:xfrm>
          <a:prstGeom prst="rect">
            <a:avLst/>
          </a:prstGeom>
          <a:solidFill>
            <a:srgbClr val="CC99FF"/>
          </a:solidFill>
          <a:ln w="9525">
            <a:noFill/>
          </a:ln>
        </p:spPr>
        <p:txBody>
          <a:bodyPr wrap="none" anchor="t" anchorCtr="0">
            <a:spAutoFit/>
          </a:bodyPr>
          <a:lstStyle/>
          <a:p>
            <a:pPr algn="ctr"/>
            <a:r>
              <a:rPr lang="en-US" altLang="zh-CN" sz="2400" b="1" dirty="0">
                <a:latin typeface="Times New Roman" panose="02020603050405020304" pitchFamily="18" charset="0"/>
                <a:ea typeface="宋体" panose="02010600030101010101" pitchFamily="2" charset="-122"/>
              </a:rPr>
              <a:t>Zn | ZnSO</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(1mol.Kg</a:t>
            </a:r>
            <a:r>
              <a:rPr lang="en-US" altLang="zh-CN" sz="2400" b="1" baseline="30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┇CuSO</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(1mol.Kg</a:t>
            </a:r>
            <a:r>
              <a:rPr lang="en-US" altLang="zh-CN" sz="2400" b="1" baseline="30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 Cu</a:t>
            </a:r>
            <a:endParaRPr lang="zh-CN" altLang="en-US" sz="2400" b="1" dirty="0">
              <a:latin typeface="Times New Roman" panose="02020603050405020304" pitchFamily="18" charset="0"/>
              <a:ea typeface="宋体" panose="02010600030101010101" pitchFamily="2" charset="-122"/>
            </a:endParaRPr>
          </a:p>
        </p:txBody>
      </p:sp>
      <p:sp>
        <p:nvSpPr>
          <p:cNvPr id="74761" name="Rectangle 9"/>
          <p:cNvSpPr/>
          <p:nvPr/>
        </p:nvSpPr>
        <p:spPr>
          <a:xfrm>
            <a:off x="4716463" y="4357688"/>
            <a:ext cx="1944687" cy="461962"/>
          </a:xfrm>
          <a:prstGeom prst="rect">
            <a:avLst/>
          </a:prstGeom>
          <a:noFill/>
          <a:ln w="9525">
            <a:noFill/>
          </a:ln>
        </p:spPr>
        <p:txBody>
          <a:bodyPr anchor="t" anchorCtr="0">
            <a:spAutoFit/>
          </a:bodyPr>
          <a:lstStyle/>
          <a:p>
            <a:pPr algn="ctr"/>
            <a:r>
              <a:rPr lang="zh-CN" altLang="en-US" sz="2400" b="1" dirty="0">
                <a:latin typeface="宋体" panose="02010600030101010101" pitchFamily="2" charset="-122"/>
                <a:ea typeface="宋体" panose="02010600030101010101" pitchFamily="2" charset="-122"/>
              </a:rPr>
              <a:t>电池符号</a:t>
            </a:r>
          </a:p>
        </p:txBody>
      </p:sp>
      <p:sp>
        <p:nvSpPr>
          <p:cNvPr id="22537" name="Rectangle 11"/>
          <p:cNvSpPr/>
          <p:nvPr/>
        </p:nvSpPr>
        <p:spPr>
          <a:xfrm>
            <a:off x="0" y="576263"/>
            <a:ext cx="4284663"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3.原电池装置的符号表示 </a:t>
            </a:r>
            <a:endParaRPr lang="zh-CN" altLang="en-US" sz="2800" b="1" dirty="0">
              <a:solidFill>
                <a:schemeClr val="tx2"/>
              </a:solidFill>
              <a:latin typeface="Arial" panose="020B0604020202020204" pitchFamily="34" charset="0"/>
              <a:ea typeface="宋体" panose="02010600030101010101" pitchFamily="2" charset="-122"/>
            </a:endParaRPr>
          </a:p>
        </p:txBody>
      </p:sp>
      <p:pic>
        <p:nvPicPr>
          <p:cNvPr id="22538" name="图片 11" descr="截图02"/>
          <p:cNvPicPr>
            <a:picLocks noChangeAspect="1"/>
          </p:cNvPicPr>
          <p:nvPr/>
        </p:nvPicPr>
        <p:blipFill>
          <a:blip r:embed="rId7"/>
          <a:stretch>
            <a:fillRect/>
          </a:stretch>
        </p:blipFill>
        <p:spPr>
          <a:xfrm>
            <a:off x="730250" y="2071688"/>
            <a:ext cx="2657475" cy="2290762"/>
          </a:xfrm>
          <a:prstGeom prst="rect">
            <a:avLst/>
          </a:prstGeom>
          <a:noFill/>
          <a:ln w="9525">
            <a:noFill/>
          </a:ln>
        </p:spPr>
      </p:pic>
      <p:sp>
        <p:nvSpPr>
          <p:cNvPr id="22539" name="矩形 3"/>
          <p:cNvSpPr/>
          <p:nvPr/>
        </p:nvSpPr>
        <p:spPr>
          <a:xfrm>
            <a:off x="-684212" y="4430713"/>
            <a:ext cx="3441700" cy="369887"/>
          </a:xfrm>
          <a:prstGeom prst="rect">
            <a:avLst/>
          </a:prstGeom>
          <a:noFill/>
          <a:ln w="9525">
            <a:noFill/>
          </a:ln>
        </p:spPr>
        <p:txBody>
          <a:bodyPr wrap="none" anchor="t" anchorCtr="0">
            <a:spAutoFit/>
          </a:bodyPr>
          <a:lstStyle/>
          <a:p>
            <a:pPr indent="2311400" algn="just">
              <a:spcAft>
                <a:spcPts val="1000"/>
              </a:spcAft>
            </a:pPr>
            <a:r>
              <a:rPr lang="zh-CN" altLang="zh-CN" dirty="0">
                <a:latin typeface="Tahoma" panose="020B0604030504040204" pitchFamily="34" charset="0"/>
                <a:ea typeface="宋体" panose="02010600030101010101" pitchFamily="2" charset="-122"/>
              </a:rPr>
              <a:t>铜锌电池</a:t>
            </a:r>
            <a:endParaRPr lang="zh-CN" altLang="zh-CN" sz="1400" dirty="0">
              <a:latin typeface="Tahoma" panose="020B0604030504040204" pitchFamily="34"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4754"/>
                                        </p:tgtEl>
                                        <p:attrNameLst>
                                          <p:attrName>style.visibility</p:attrName>
                                        </p:attrNameLst>
                                      </p:cBhvr>
                                      <p:to>
                                        <p:strVal val="visible"/>
                                      </p:to>
                                    </p:set>
                                    <p:anim calcmode="lin" valueType="num">
                                      <p:cBhvr additive="base">
                                        <p:cTn id="12" dur="500" fill="hold"/>
                                        <p:tgtEl>
                                          <p:spTgt spid="74754"/>
                                        </p:tgtEl>
                                        <p:attrNameLst>
                                          <p:attrName>ppt_x</p:attrName>
                                        </p:attrNameLst>
                                      </p:cBhvr>
                                      <p:tavLst>
                                        <p:tav tm="0">
                                          <p:val>
                                            <p:strVal val="0-#ppt_w/2"/>
                                          </p:val>
                                        </p:tav>
                                        <p:tav tm="100000">
                                          <p:val>
                                            <p:strVal val="#ppt_x"/>
                                          </p:val>
                                        </p:tav>
                                      </p:tavLst>
                                    </p:anim>
                                    <p:anim calcmode="lin" valueType="num">
                                      <p:cBhvr additive="base">
                                        <p:cTn id="13" dur="500" fill="hold"/>
                                        <p:tgtEl>
                                          <p:spTgt spid="747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4761"/>
                                        </p:tgtEl>
                                        <p:attrNameLst>
                                          <p:attrName>style.visibility</p:attrName>
                                        </p:attrNameLst>
                                      </p:cBhvr>
                                      <p:to>
                                        <p:strVal val="visible"/>
                                      </p:to>
                                    </p:set>
                                    <p:animEffect transition="in" filter="blinds(horizontal)">
                                      <p:cBhvr>
                                        <p:cTn id="18" dur="500"/>
                                        <p:tgtEl>
                                          <p:spTgt spid="7476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4760"/>
                                        </p:tgtEl>
                                        <p:attrNameLst>
                                          <p:attrName>style.visibility</p:attrName>
                                        </p:attrNameLst>
                                      </p:cBhvr>
                                      <p:to>
                                        <p:strVal val="visible"/>
                                      </p:to>
                                    </p:set>
                                    <p:animEffect transition="in" filter="dissolve">
                                      <p:cBhvr>
                                        <p:cTn id="23"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0" grpId="0" animBg="1"/>
      <p:bldP spid="747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p:txBody>
          <a:bodyPr vert="horz" wrap="square" lIns="91440" tIns="45720" rIns="91440" bIns="45720" anchor="ctr" anchorCtr="0"/>
          <a:lstStyle/>
          <a:p>
            <a:endParaRPr lang="zh-CN" altLang="en-US" dirty="0"/>
          </a:p>
        </p:txBody>
      </p:sp>
      <p:sp>
        <p:nvSpPr>
          <p:cNvPr id="23554" name="Rectangle 3"/>
          <p:cNvSpPr>
            <a:spLocks noGrp="1"/>
          </p:cNvSpPr>
          <p:nvPr>
            <p:ph idx="1"/>
          </p:nvPr>
        </p:nvSpPr>
        <p:spPr/>
        <p:txBody>
          <a:bodyPr vert="horz" wrap="square" lIns="91440" tIns="45720" rIns="91440" bIns="45720" anchor="t" anchorCtr="0"/>
          <a:lstStyle/>
          <a:p>
            <a:endParaRPr lang="zh-CN" altLang="en-US" dirty="0"/>
          </a:p>
        </p:txBody>
      </p:sp>
      <p:pic>
        <p:nvPicPr>
          <p:cNvPr id="23555" name="Picture 4"/>
          <p:cNvPicPr>
            <a:picLocks noChangeAspect="1"/>
          </p:cNvPicPr>
          <p:nvPr/>
        </p:nvPicPr>
        <p:blipFill>
          <a:blip r:embed="rId2"/>
          <a:stretch>
            <a:fillRect/>
          </a:stretch>
        </p:blipFill>
        <p:spPr>
          <a:xfrm>
            <a:off x="395288" y="277813"/>
            <a:ext cx="8353425" cy="51562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p:nvPr/>
        </p:nvSpPr>
        <p:spPr>
          <a:xfrm>
            <a:off x="971550" y="938213"/>
            <a:ext cx="3744913" cy="523875"/>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）电池的表示方法</a:t>
            </a:r>
          </a:p>
        </p:txBody>
      </p:sp>
      <p:sp>
        <p:nvSpPr>
          <p:cNvPr id="75779" name="Text Box 3"/>
          <p:cNvSpPr txBox="1"/>
          <p:nvPr/>
        </p:nvSpPr>
        <p:spPr>
          <a:xfrm>
            <a:off x="611188" y="1506538"/>
            <a:ext cx="8748712" cy="430212"/>
          </a:xfrm>
          <a:prstGeom prst="rect">
            <a:avLst/>
          </a:prstGeom>
          <a:noFill/>
          <a:ln w="12700">
            <a:noFill/>
          </a:ln>
        </p:spPr>
        <p:txBody>
          <a:bodyPr tIns="0" bIns="0" anchor="t" anchorCtr="0">
            <a:spAutoFit/>
          </a:bodyPr>
          <a:lstStyle/>
          <a:p>
            <a:pPr>
              <a:buFont typeface="Symbol" panose="050501020107060205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1.  </a:t>
            </a:r>
            <a:r>
              <a:rPr lang="zh-CN" altLang="en-US" sz="2800" b="1" dirty="0">
                <a:solidFill>
                  <a:srgbClr val="FF3300"/>
                </a:solidFill>
                <a:latin typeface="Times New Roman" panose="02020603050405020304" pitchFamily="18" charset="0"/>
                <a:ea typeface="楷体_GB2312" panose="02010609030101010101" pitchFamily="49" charset="-122"/>
              </a:rPr>
              <a:t>左</a:t>
            </a:r>
            <a:r>
              <a:rPr lang="zh-CN" altLang="en-US" sz="2800" b="1" dirty="0">
                <a:solidFill>
                  <a:srgbClr val="1C1C1C"/>
                </a:solidFill>
                <a:latin typeface="Times New Roman" panose="02020603050405020304" pitchFamily="18" charset="0"/>
                <a:ea typeface="楷体_GB2312" panose="02010609030101010101" pitchFamily="49" charset="-122"/>
              </a:rPr>
              <a:t>边为负极，</a:t>
            </a:r>
            <a:r>
              <a:rPr lang="zh-CN" altLang="en-US" sz="2800" b="1" dirty="0">
                <a:solidFill>
                  <a:srgbClr val="FF3300"/>
                </a:solidFill>
                <a:latin typeface="Times New Roman" panose="02020603050405020304" pitchFamily="18" charset="0"/>
                <a:ea typeface="楷体_GB2312" panose="02010609030101010101" pitchFamily="49" charset="-122"/>
              </a:rPr>
              <a:t>氧化</a:t>
            </a:r>
            <a:r>
              <a:rPr lang="zh-CN" altLang="en-US" sz="2800" b="1" dirty="0">
                <a:solidFill>
                  <a:srgbClr val="1C1C1C"/>
                </a:solidFill>
                <a:latin typeface="Times New Roman" panose="02020603050405020304" pitchFamily="18" charset="0"/>
                <a:ea typeface="楷体_GB2312" panose="02010609030101010101" pitchFamily="49" charset="-122"/>
              </a:rPr>
              <a:t>作用；</a:t>
            </a:r>
            <a:r>
              <a:rPr lang="zh-CN" altLang="en-US" sz="2800" b="1" dirty="0">
                <a:solidFill>
                  <a:srgbClr val="0000FF"/>
                </a:solidFill>
                <a:latin typeface="Times New Roman" panose="02020603050405020304" pitchFamily="18" charset="0"/>
                <a:ea typeface="楷体_GB2312" panose="02010609030101010101" pitchFamily="49" charset="-122"/>
              </a:rPr>
              <a:t>右</a:t>
            </a:r>
            <a:r>
              <a:rPr lang="zh-CN" altLang="en-US" sz="2800" b="1" dirty="0">
                <a:solidFill>
                  <a:srgbClr val="1C1C1C"/>
                </a:solidFill>
                <a:latin typeface="Times New Roman" panose="02020603050405020304" pitchFamily="18" charset="0"/>
                <a:ea typeface="楷体_GB2312" panose="02010609030101010101" pitchFamily="49" charset="-122"/>
              </a:rPr>
              <a:t>边为正极，</a:t>
            </a:r>
            <a:r>
              <a:rPr lang="zh-CN" altLang="en-US" sz="2800" b="1" dirty="0">
                <a:solidFill>
                  <a:srgbClr val="0000FF"/>
                </a:solidFill>
                <a:latin typeface="Times New Roman" panose="02020603050405020304" pitchFamily="18" charset="0"/>
                <a:ea typeface="楷体_GB2312" panose="02010609030101010101" pitchFamily="49" charset="-122"/>
              </a:rPr>
              <a:t>还原</a:t>
            </a:r>
            <a:r>
              <a:rPr lang="zh-CN" altLang="en-US" sz="2800" b="1" dirty="0">
                <a:solidFill>
                  <a:srgbClr val="1C1C1C"/>
                </a:solidFill>
                <a:latin typeface="Times New Roman" panose="02020603050405020304" pitchFamily="18" charset="0"/>
                <a:ea typeface="楷体_GB2312" panose="02010609030101010101" pitchFamily="49" charset="-122"/>
              </a:rPr>
              <a:t>作用。</a:t>
            </a:r>
          </a:p>
        </p:txBody>
      </p:sp>
      <p:sp>
        <p:nvSpPr>
          <p:cNvPr id="75780" name="Text Box 4"/>
          <p:cNvSpPr txBox="1"/>
          <p:nvPr/>
        </p:nvSpPr>
        <p:spPr>
          <a:xfrm>
            <a:off x="684213" y="2017713"/>
            <a:ext cx="5942012" cy="430212"/>
          </a:xfrm>
          <a:prstGeom prst="rect">
            <a:avLst/>
          </a:prstGeom>
          <a:noFill/>
          <a:ln w="12700">
            <a:noFill/>
          </a:ln>
        </p:spPr>
        <p:txBody>
          <a:bodyPr wrap="none" tIns="0" bIns="0" anchor="t" anchorCtr="0">
            <a:spAutoFit/>
          </a:bodyPr>
          <a:lstStyle/>
          <a:p>
            <a:pPr>
              <a:buFont typeface="Symbol" panose="050501020107060205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2.“|”表示相界面，有电势差存在。</a:t>
            </a:r>
          </a:p>
        </p:txBody>
      </p:sp>
      <p:sp>
        <p:nvSpPr>
          <p:cNvPr id="75781" name="Text Box 5"/>
          <p:cNvSpPr txBox="1"/>
          <p:nvPr/>
        </p:nvSpPr>
        <p:spPr>
          <a:xfrm>
            <a:off x="611188" y="2947988"/>
            <a:ext cx="7307262" cy="430212"/>
          </a:xfrm>
          <a:prstGeom prst="rect">
            <a:avLst/>
          </a:prstGeom>
          <a:noFill/>
          <a:ln w="12700">
            <a:noFill/>
          </a:ln>
        </p:spPr>
        <p:txBody>
          <a:bodyPr wrap="none" tIns="0" bIns="0" anchor="t" anchorCtr="0">
            <a:spAutoFit/>
          </a:bodyPr>
          <a:lstStyle/>
          <a:p>
            <a:pPr>
              <a:buFont typeface="Wingdings 2" panose="050201020105070707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4.“</a:t>
            </a:r>
            <a:r>
              <a:rPr lang="zh-CN" altLang="en-US" sz="2800" b="1" dirty="0">
                <a:solidFill>
                  <a:srgbClr val="CC0000"/>
                </a:solidFill>
                <a:latin typeface="宋体" panose="02010600030101010101" pitchFamily="2" charset="-122"/>
                <a:ea typeface="宋体" panose="02010600030101010101" pitchFamily="2" charset="-122"/>
              </a:rPr>
              <a:t>┆</a:t>
            </a:r>
            <a:r>
              <a:rPr lang="zh-CN" altLang="en-US" sz="2800" b="1" dirty="0">
                <a:solidFill>
                  <a:srgbClr val="1C1C1C"/>
                </a:solidFill>
                <a:latin typeface="Times New Roman" panose="02020603050405020304" pitchFamily="18" charset="0"/>
                <a:ea typeface="楷体_GB2312" panose="02010609030101010101" pitchFamily="49" charset="-122"/>
              </a:rPr>
              <a:t>”表示两个液相接界，一般为半透膜。</a:t>
            </a:r>
          </a:p>
        </p:txBody>
      </p:sp>
      <p:sp>
        <p:nvSpPr>
          <p:cNvPr id="75782" name="Text Box 6"/>
          <p:cNvSpPr txBox="1"/>
          <p:nvPr/>
        </p:nvSpPr>
        <p:spPr>
          <a:xfrm>
            <a:off x="576263" y="3457575"/>
            <a:ext cx="8482012" cy="862013"/>
          </a:xfrm>
          <a:prstGeom prst="rect">
            <a:avLst/>
          </a:prstGeom>
          <a:noFill/>
          <a:ln w="12700">
            <a:noFill/>
          </a:ln>
        </p:spPr>
        <p:txBody>
          <a:bodyPr wrap="none" tIns="0" bIns="0" anchor="t" anchorCtr="0">
            <a:spAutoFit/>
          </a:bodyPr>
          <a:lstStyle/>
          <a:p>
            <a:pPr>
              <a:buFont typeface="Wingdings 2" panose="050201020105070707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5.  要注明温度，不注明就是298.15 </a:t>
            </a:r>
            <a:r>
              <a:rPr lang="en-US" altLang="zh-CN" sz="2800" b="1" dirty="0">
                <a:solidFill>
                  <a:srgbClr val="1C1C1C"/>
                </a:solidFill>
                <a:latin typeface="Times New Roman" panose="02020603050405020304" pitchFamily="18" charset="0"/>
                <a:ea typeface="楷体_GB2312" panose="02010609030101010101" pitchFamily="49" charset="-122"/>
              </a:rPr>
              <a:t>K；</a:t>
            </a:r>
            <a:r>
              <a:rPr lang="zh-CN" altLang="en-US" sz="2800" b="1" dirty="0">
                <a:solidFill>
                  <a:srgbClr val="1C1C1C"/>
                </a:solidFill>
                <a:latin typeface="Times New Roman" panose="02020603050405020304" pitchFamily="18" charset="0"/>
                <a:ea typeface="楷体_GB2312" panose="02010609030101010101" pitchFamily="49" charset="-122"/>
              </a:rPr>
              <a:t>要注明物态，</a:t>
            </a:r>
            <a:br>
              <a:rPr lang="zh-CN" altLang="en-US" sz="2800" b="1" dirty="0">
                <a:solidFill>
                  <a:srgbClr val="1C1C1C"/>
                </a:solidFill>
                <a:latin typeface="Times New Roman" panose="02020603050405020304" pitchFamily="18" charset="0"/>
                <a:ea typeface="楷体_GB2312" panose="02010609030101010101" pitchFamily="49" charset="-122"/>
              </a:rPr>
            </a:br>
            <a:r>
              <a:rPr lang="zh-CN" altLang="en-US" sz="2800" b="1" dirty="0">
                <a:solidFill>
                  <a:srgbClr val="1C1C1C"/>
                </a:solidFill>
                <a:latin typeface="Times New Roman" panose="02020603050405020304" pitchFamily="18" charset="0"/>
                <a:ea typeface="楷体_GB2312" panose="02010609030101010101" pitchFamily="49" charset="-122"/>
              </a:rPr>
              <a:t>    气体要注明压力；溶液要注明浓度或活度。</a:t>
            </a:r>
          </a:p>
        </p:txBody>
      </p:sp>
      <p:sp>
        <p:nvSpPr>
          <p:cNvPr id="75783" name="Text Box 7"/>
          <p:cNvSpPr txBox="1"/>
          <p:nvPr/>
        </p:nvSpPr>
        <p:spPr>
          <a:xfrm>
            <a:off x="692150" y="4357688"/>
            <a:ext cx="8567738" cy="862012"/>
          </a:xfrm>
          <a:prstGeom prst="rect">
            <a:avLst/>
          </a:prstGeom>
          <a:noFill/>
          <a:ln w="12700">
            <a:noFill/>
          </a:ln>
        </p:spPr>
        <p:txBody>
          <a:bodyPr wrap="none" tIns="0" bIns="0" anchor="t" anchorCtr="0">
            <a:spAutoFit/>
          </a:bodyPr>
          <a:lstStyle/>
          <a:p>
            <a:pPr>
              <a:buFont typeface="Wingdings 2" panose="050201020105070707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6.  气体电极和氧化还原电极要写出导电的惰性电极，</a:t>
            </a:r>
            <a:br>
              <a:rPr lang="zh-CN" altLang="en-US" sz="2800" b="1" dirty="0">
                <a:solidFill>
                  <a:srgbClr val="1C1C1C"/>
                </a:solidFill>
                <a:latin typeface="Times New Roman" panose="02020603050405020304" pitchFamily="18" charset="0"/>
                <a:ea typeface="楷体_GB2312" panose="02010609030101010101" pitchFamily="49" charset="-122"/>
              </a:rPr>
            </a:br>
            <a:r>
              <a:rPr lang="zh-CN" altLang="en-US" sz="2800" b="1" dirty="0">
                <a:solidFill>
                  <a:srgbClr val="1C1C1C"/>
                </a:solidFill>
                <a:latin typeface="Times New Roman" panose="02020603050405020304" pitchFamily="18" charset="0"/>
                <a:ea typeface="楷体_GB2312" panose="02010609030101010101" pitchFamily="49" charset="-122"/>
              </a:rPr>
              <a:t>    通常是铂电极。</a:t>
            </a:r>
          </a:p>
        </p:txBody>
      </p:sp>
      <p:grpSp>
        <p:nvGrpSpPr>
          <p:cNvPr id="2" name="Group 8"/>
          <p:cNvGrpSpPr/>
          <p:nvPr/>
        </p:nvGrpSpPr>
        <p:grpSpPr>
          <a:xfrm>
            <a:off x="623888" y="2376488"/>
            <a:ext cx="8809037" cy="500062"/>
            <a:chOff x="393" y="1797"/>
            <a:chExt cx="5367" cy="378"/>
          </a:xfrm>
        </p:grpSpPr>
        <p:sp>
          <p:nvSpPr>
            <p:cNvPr id="24584" name="Text Box 9"/>
            <p:cNvSpPr txBox="1"/>
            <p:nvPr/>
          </p:nvSpPr>
          <p:spPr>
            <a:xfrm>
              <a:off x="393" y="1842"/>
              <a:ext cx="5367" cy="326"/>
            </a:xfrm>
            <a:prstGeom prst="rect">
              <a:avLst/>
            </a:prstGeom>
            <a:noFill/>
            <a:ln w="12700">
              <a:noFill/>
            </a:ln>
          </p:spPr>
          <p:txBody>
            <a:bodyPr tIns="0" bIns="0" anchor="t" anchorCtr="0">
              <a:spAutoFit/>
            </a:bodyPr>
            <a:lstStyle/>
            <a:p>
              <a:pPr>
                <a:buFont typeface="Wingdings 2" panose="05020102010507070707" pitchFamily="18" charset="2"/>
              </a:pPr>
              <a:r>
                <a:rPr lang="zh-CN" altLang="en-US" sz="2800" b="1" dirty="0">
                  <a:solidFill>
                    <a:srgbClr val="1C1C1C"/>
                  </a:solidFill>
                  <a:latin typeface="Times New Roman" panose="02020603050405020304" pitchFamily="18" charset="0"/>
                  <a:ea typeface="楷体_GB2312" panose="02010609030101010101" pitchFamily="49" charset="-122"/>
                </a:rPr>
                <a:t>3.“||”或“   </a:t>
              </a:r>
              <a:r>
                <a:rPr lang="zh-CN" altLang="en-US" sz="2800" b="1" dirty="0">
                  <a:latin typeface="楷体" panose="02010609060101010101" pitchFamily="49" charset="-122"/>
                  <a:ea typeface="楷体" panose="02010609060101010101" pitchFamily="49" charset="-122"/>
                </a:rPr>
                <a:t>”</a:t>
              </a:r>
              <a:r>
                <a:rPr lang="zh-CN" altLang="en-US" sz="2800" b="1" dirty="0">
                  <a:solidFill>
                    <a:srgbClr val="1C1C1C"/>
                  </a:solidFill>
                  <a:latin typeface="Times New Roman" panose="02020603050405020304" pitchFamily="18" charset="0"/>
                  <a:ea typeface="楷体_GB2312" panose="02010609030101010101" pitchFamily="49" charset="-122"/>
                </a:rPr>
                <a:t>表示盐桥，使液接电势降到可以不计。</a:t>
              </a:r>
            </a:p>
          </p:txBody>
        </p:sp>
        <p:graphicFrame>
          <p:nvGraphicFramePr>
            <p:cNvPr id="24585" name="Object 10"/>
            <p:cNvGraphicFramePr>
              <a:graphicFrameLocks noChangeAspect="1"/>
            </p:cNvGraphicFramePr>
            <p:nvPr/>
          </p:nvGraphicFramePr>
          <p:xfrm>
            <a:off x="1519" y="1797"/>
            <a:ext cx="227" cy="378"/>
          </p:xfrm>
          <a:graphic>
            <a:graphicData uri="http://schemas.openxmlformats.org/presentationml/2006/ole">
              <mc:AlternateContent xmlns:mc="http://schemas.openxmlformats.org/markup-compatibility/2006">
                <mc:Choice xmlns:v="urn:schemas-microsoft-com:vml" Requires="v">
                  <p:oleObj r:id="rId2" imgW="114300" imgH="190500" progId="Equation.3">
                    <p:embed/>
                  </p:oleObj>
                </mc:Choice>
                <mc:Fallback>
                  <p:oleObj r:id="rId2" imgW="114300" imgH="190500" progId="Equation.3">
                    <p:embed/>
                    <p:pic>
                      <p:nvPicPr>
                        <p:cNvPr id="0" name="图片 3081"/>
                        <p:cNvPicPr/>
                        <p:nvPr/>
                      </p:nvPicPr>
                      <p:blipFill>
                        <a:blip r:embed="rId3"/>
                        <a:stretch>
                          <a:fillRect/>
                        </a:stretch>
                      </p:blipFill>
                      <p:spPr>
                        <a:xfrm>
                          <a:off x="1519" y="1797"/>
                          <a:ext cx="227" cy="378"/>
                        </a:xfrm>
                        <a:prstGeom prst="rect">
                          <a:avLst/>
                        </a:prstGeom>
                        <a:noFill/>
                        <a:ln w="38100">
                          <a:noFill/>
                          <a:miter/>
                        </a:ln>
                      </p:spPr>
                    </p:pic>
                  </p:oleObj>
                </mc:Fallback>
              </mc:AlternateContent>
            </a:graphicData>
          </a:graphic>
        </p:graphicFrame>
      </p:grpSp>
      <p:sp>
        <p:nvSpPr>
          <p:cNvPr id="75787" name="Rectangle 11"/>
          <p:cNvSpPr/>
          <p:nvPr/>
        </p:nvSpPr>
        <p:spPr>
          <a:xfrm>
            <a:off x="1336675" y="427038"/>
            <a:ext cx="6573838" cy="461962"/>
          </a:xfrm>
          <a:prstGeom prst="rect">
            <a:avLst/>
          </a:prstGeom>
          <a:solidFill>
            <a:srgbClr val="00CCFF"/>
          </a:solidFill>
          <a:ln w="9525">
            <a:noFill/>
          </a:ln>
        </p:spPr>
        <p:txBody>
          <a:bodyPr wrap="none" anchor="t" anchorCtr="0">
            <a:spAutoFit/>
          </a:bodyPr>
          <a:lstStyle/>
          <a:p>
            <a:pPr algn="ctr"/>
            <a:r>
              <a:rPr lang="en-US" altLang="zh-CN" sz="2400" b="1" dirty="0">
                <a:latin typeface="Times New Roman" panose="02020603050405020304" pitchFamily="18" charset="0"/>
                <a:ea typeface="宋体" panose="02010600030101010101" pitchFamily="2" charset="-122"/>
              </a:rPr>
              <a:t>Zn | ZnSO</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(1mol.Kg</a:t>
            </a:r>
            <a:r>
              <a:rPr lang="en-US" altLang="zh-CN" sz="2400" b="1" baseline="30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┇CuSO</a:t>
            </a:r>
            <a:r>
              <a:rPr lang="en-US" altLang="zh-CN" sz="2400" b="1" baseline="-25000" dirty="0">
                <a:latin typeface="Times New Roman" panose="02020603050405020304" pitchFamily="18" charset="0"/>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(1mol.Kg</a:t>
            </a:r>
            <a:r>
              <a:rPr lang="en-US" altLang="zh-CN" sz="2400" b="1" baseline="30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 Cu</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787"/>
                                        </p:tgtEl>
                                        <p:attrNameLst>
                                          <p:attrName>style.visibility</p:attrName>
                                        </p:attrNameLst>
                                      </p:cBhvr>
                                      <p:to>
                                        <p:strVal val="visible"/>
                                      </p:to>
                                    </p:set>
                                    <p:animEffect transition="in" filter="dissolve">
                                      <p:cBhvr>
                                        <p:cTn id="7" dur="500"/>
                                        <p:tgtEl>
                                          <p:spTgt spid="757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8"/>
                                        </p:tgtEl>
                                        <p:attrNameLst>
                                          <p:attrName>style.visibility</p:attrName>
                                        </p:attrNameLst>
                                      </p:cBhvr>
                                      <p:to>
                                        <p:strVal val="visible"/>
                                      </p:to>
                                    </p:set>
                                    <p:animEffect transition="in" filter="wipe(left)">
                                      <p:cBhvr>
                                        <p:cTn id="12" dur="500"/>
                                        <p:tgtEl>
                                          <p:spTgt spid="757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gtEl>
                                        <p:attrNameLst>
                                          <p:attrName>style.visibility</p:attrName>
                                        </p:attrNameLst>
                                      </p:cBhvr>
                                      <p:to>
                                        <p:strVal val="visible"/>
                                      </p:to>
                                    </p:set>
                                    <p:animEffect transition="in" filter="wipe(left)">
                                      <p:cBhvr>
                                        <p:cTn id="17" dur="500"/>
                                        <p:tgtEl>
                                          <p:spTgt spid="7577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80"/>
                                        </p:tgtEl>
                                        <p:attrNameLst>
                                          <p:attrName>style.visibility</p:attrName>
                                        </p:attrNameLst>
                                      </p:cBhvr>
                                      <p:to>
                                        <p:strVal val="visible"/>
                                      </p:to>
                                    </p:set>
                                    <p:animEffect transition="in" filter="wipe(left)">
                                      <p:cBhvr>
                                        <p:cTn id="22" dur="500"/>
                                        <p:tgtEl>
                                          <p:spTgt spid="757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2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5781"/>
                                        </p:tgtEl>
                                        <p:attrNameLst>
                                          <p:attrName>style.visibility</p:attrName>
                                        </p:attrNameLst>
                                      </p:cBhvr>
                                      <p:to>
                                        <p:strVal val="visible"/>
                                      </p:to>
                                    </p:set>
                                    <p:animEffect transition="in" filter="wipe(left)">
                                      <p:cBhvr>
                                        <p:cTn id="32" dur="500"/>
                                        <p:tgtEl>
                                          <p:spTgt spid="757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5782"/>
                                        </p:tgtEl>
                                        <p:attrNameLst>
                                          <p:attrName>style.visibility</p:attrName>
                                        </p:attrNameLst>
                                      </p:cBhvr>
                                      <p:to>
                                        <p:strVal val="visible"/>
                                      </p:to>
                                    </p:set>
                                    <p:animEffect transition="in" filter="wipe(left)">
                                      <p:cBhvr>
                                        <p:cTn id="37" dur="500"/>
                                        <p:tgtEl>
                                          <p:spTgt spid="757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5783"/>
                                        </p:tgtEl>
                                        <p:attrNameLst>
                                          <p:attrName>style.visibility</p:attrName>
                                        </p:attrNameLst>
                                      </p:cBhvr>
                                      <p:to>
                                        <p:strVal val="visible"/>
                                      </p:to>
                                    </p:set>
                                    <p:animEffect transition="in" filter="wipe(left)">
                                      <p:cBhvr>
                                        <p:cTn id="42"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79" grpId="0"/>
      <p:bldP spid="75780" grpId="0"/>
      <p:bldP spid="75781" grpId="0"/>
      <p:bldP spid="75782" grpId="0"/>
      <p:bldP spid="75783" grpId="0"/>
      <p:bldP spid="7578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p:cNvSpPr>
          <p:nvPr>
            <p:ph idx="1"/>
          </p:nvPr>
        </p:nvSpPr>
        <p:spPr/>
        <p:txBody>
          <a:bodyPr vert="horz" wrap="square" lIns="91440" tIns="45720" rIns="91440" bIns="45720" anchor="t" anchorCtr="0"/>
          <a:lstStyle/>
          <a:p>
            <a:endParaRPr lang="zh-CN" altLang="en-US" dirty="0"/>
          </a:p>
        </p:txBody>
      </p:sp>
      <p:pic>
        <p:nvPicPr>
          <p:cNvPr id="25602" name="Picture 4"/>
          <p:cNvPicPr>
            <a:picLocks noChangeAspect="1"/>
          </p:cNvPicPr>
          <p:nvPr/>
        </p:nvPicPr>
        <p:blipFill>
          <a:blip r:embed="rId2"/>
          <a:stretch>
            <a:fillRect/>
          </a:stretch>
        </p:blipFill>
        <p:spPr>
          <a:xfrm>
            <a:off x="468313" y="638175"/>
            <a:ext cx="8207375" cy="416560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4"/>
          <p:cNvPicPr>
            <a:picLocks noChangeAspect="1"/>
          </p:cNvPicPr>
          <p:nvPr/>
        </p:nvPicPr>
        <p:blipFill>
          <a:blip r:embed="rId2"/>
          <a:stretch>
            <a:fillRect/>
          </a:stretch>
        </p:blipFill>
        <p:spPr>
          <a:xfrm>
            <a:off x="611188" y="696913"/>
            <a:ext cx="7261225" cy="35433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vert="horz" wrap="square" lIns="91440" tIns="45720" rIns="91440" bIns="45720" anchor="ctr" anchorCtr="0"/>
          <a:lstStyle/>
          <a:p>
            <a:endParaRPr lang="zh-CN" altLang="en-US" dirty="0"/>
          </a:p>
        </p:txBody>
      </p:sp>
      <p:pic>
        <p:nvPicPr>
          <p:cNvPr id="27650" name="Picture 3"/>
          <p:cNvPicPr>
            <a:picLocks noGrp="1" noChangeAspect="1"/>
          </p:cNvPicPr>
          <p:nvPr>
            <p:ph idx="1"/>
          </p:nvPr>
        </p:nvPicPr>
        <p:blipFill>
          <a:blip r:embed="rId2"/>
          <a:srcRect t="5916"/>
          <a:stretch>
            <a:fillRect/>
          </a:stretch>
        </p:blipFill>
        <p:spPr>
          <a:xfrm>
            <a:off x="1619250" y="2857500"/>
            <a:ext cx="5905500" cy="2546350"/>
          </a:xfrm>
        </p:spPr>
      </p:pic>
      <p:pic>
        <p:nvPicPr>
          <p:cNvPr id="27651" name="Picture 4"/>
          <p:cNvPicPr>
            <a:picLocks noChangeAspect="1"/>
          </p:cNvPicPr>
          <p:nvPr/>
        </p:nvPicPr>
        <p:blipFill>
          <a:blip r:embed="rId3"/>
          <a:srcRect r="887" b="8151"/>
          <a:stretch>
            <a:fillRect/>
          </a:stretch>
        </p:blipFill>
        <p:spPr>
          <a:xfrm>
            <a:off x="539750" y="338138"/>
            <a:ext cx="7272338" cy="227965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vert="horz" wrap="square" lIns="91440" tIns="45720" rIns="91440" bIns="45720" anchor="ctr" anchorCtr="0"/>
          <a:lstStyle/>
          <a:p>
            <a:endParaRPr lang="zh-CN" altLang="en-US" dirty="0"/>
          </a:p>
        </p:txBody>
      </p:sp>
      <p:pic>
        <p:nvPicPr>
          <p:cNvPr id="28674" name="Picture 4"/>
          <p:cNvPicPr>
            <a:picLocks noChangeAspect="1"/>
          </p:cNvPicPr>
          <p:nvPr/>
        </p:nvPicPr>
        <p:blipFill>
          <a:blip r:embed="rId2"/>
          <a:srcRect r="1756" b="48859"/>
          <a:stretch>
            <a:fillRect/>
          </a:stretch>
        </p:blipFill>
        <p:spPr>
          <a:xfrm>
            <a:off x="323850" y="457200"/>
            <a:ext cx="7993063" cy="2341563"/>
          </a:xfrm>
          <a:prstGeom prst="rect">
            <a:avLst/>
          </a:prstGeom>
          <a:noFill/>
          <a:ln w="9525">
            <a:noFill/>
          </a:ln>
        </p:spPr>
      </p:pic>
      <p:pic>
        <p:nvPicPr>
          <p:cNvPr id="113669" name="Picture 5"/>
          <p:cNvPicPr>
            <a:picLocks noChangeAspect="1"/>
          </p:cNvPicPr>
          <p:nvPr/>
        </p:nvPicPr>
        <p:blipFill>
          <a:blip r:embed="rId2"/>
          <a:srcRect t="51141"/>
          <a:stretch>
            <a:fillRect/>
          </a:stretch>
        </p:blipFill>
        <p:spPr>
          <a:xfrm>
            <a:off x="539750" y="2798763"/>
            <a:ext cx="8135938" cy="2235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3669"/>
                                        </p:tgtEl>
                                        <p:attrNameLst>
                                          <p:attrName>style.visibility</p:attrName>
                                        </p:attrNameLst>
                                      </p:cBhvr>
                                      <p:to>
                                        <p:strVal val="visible"/>
                                      </p:to>
                                    </p:set>
                                    <p:animEffect transition="in" filter="dissolve">
                                      <p:cBhvr>
                                        <p:cTn id="7" dur="500"/>
                                        <p:tgtEl>
                                          <p:spTgt spid="113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p:txBody>
          <a:bodyPr vert="horz" wrap="square" lIns="91440" tIns="45720" rIns="91440" bIns="45720" anchor="ctr" anchorCtr="0"/>
          <a:lstStyle/>
          <a:p>
            <a:endParaRPr lang="zh-CN" altLang="en-US" dirty="0"/>
          </a:p>
        </p:txBody>
      </p:sp>
      <p:pic>
        <p:nvPicPr>
          <p:cNvPr id="29698" name="Picture 4"/>
          <p:cNvPicPr>
            <a:picLocks noChangeAspect="1"/>
          </p:cNvPicPr>
          <p:nvPr/>
        </p:nvPicPr>
        <p:blipFill>
          <a:blip r:embed="rId2"/>
          <a:srcRect r="2969" b="75583"/>
          <a:stretch>
            <a:fillRect/>
          </a:stretch>
        </p:blipFill>
        <p:spPr>
          <a:xfrm>
            <a:off x="1116013" y="396875"/>
            <a:ext cx="7056437" cy="1079500"/>
          </a:xfrm>
          <a:prstGeom prst="rect">
            <a:avLst/>
          </a:prstGeom>
          <a:noFill/>
          <a:ln w="9525">
            <a:noFill/>
          </a:ln>
        </p:spPr>
      </p:pic>
      <p:pic>
        <p:nvPicPr>
          <p:cNvPr id="114693" name="Picture 5"/>
          <p:cNvPicPr>
            <a:picLocks noChangeAspect="1"/>
          </p:cNvPicPr>
          <p:nvPr/>
        </p:nvPicPr>
        <p:blipFill>
          <a:blip r:embed="rId2"/>
          <a:srcRect t="27139"/>
          <a:stretch>
            <a:fillRect/>
          </a:stretch>
        </p:blipFill>
        <p:spPr>
          <a:xfrm>
            <a:off x="971550" y="1717675"/>
            <a:ext cx="7272338" cy="32210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4693"/>
                                        </p:tgtEl>
                                        <p:attrNameLst>
                                          <p:attrName>style.visibility</p:attrName>
                                        </p:attrNameLst>
                                      </p:cBhvr>
                                      <p:to>
                                        <p:strVal val="visible"/>
                                      </p:to>
                                    </p:set>
                                    <p:animEffect transition="in" filter="dissolve">
                                      <p:cBhvr>
                                        <p:cTn id="7" dur="500"/>
                                        <p:tgtEl>
                                          <p:spTgt spid="11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p:txBody>
          <a:bodyPr vert="horz" wrap="square" lIns="91440" tIns="45720" rIns="91440" bIns="45720" anchor="ctr" anchorCtr="0"/>
          <a:lstStyle/>
          <a:p>
            <a:endParaRPr lang="zh-CN" altLang="en-US" dirty="0"/>
          </a:p>
        </p:txBody>
      </p:sp>
      <p:pic>
        <p:nvPicPr>
          <p:cNvPr id="30722" name="Picture 4"/>
          <p:cNvPicPr>
            <a:picLocks noChangeAspect="1"/>
          </p:cNvPicPr>
          <p:nvPr/>
        </p:nvPicPr>
        <p:blipFill>
          <a:blip r:embed="rId2"/>
          <a:srcRect r="5766" b="75558"/>
          <a:stretch>
            <a:fillRect/>
          </a:stretch>
        </p:blipFill>
        <p:spPr>
          <a:xfrm>
            <a:off x="539750" y="396875"/>
            <a:ext cx="7056438" cy="1200150"/>
          </a:xfrm>
          <a:prstGeom prst="rect">
            <a:avLst/>
          </a:prstGeom>
          <a:noFill/>
          <a:ln w="9525">
            <a:noFill/>
          </a:ln>
        </p:spPr>
      </p:pic>
      <p:pic>
        <p:nvPicPr>
          <p:cNvPr id="115717" name="Picture 5"/>
          <p:cNvPicPr>
            <a:picLocks noChangeAspect="1"/>
          </p:cNvPicPr>
          <p:nvPr/>
        </p:nvPicPr>
        <p:blipFill>
          <a:blip r:embed="rId2"/>
          <a:srcRect l="1929" t="23228"/>
          <a:stretch>
            <a:fillRect/>
          </a:stretch>
        </p:blipFill>
        <p:spPr>
          <a:xfrm>
            <a:off x="684213" y="1536700"/>
            <a:ext cx="7343775" cy="37703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717"/>
                                        </p:tgtEl>
                                        <p:attrNameLst>
                                          <p:attrName>style.visibility</p:attrName>
                                        </p:attrNameLst>
                                      </p:cBhvr>
                                      <p:to>
                                        <p:strVal val="visible"/>
                                      </p:to>
                                    </p:set>
                                    <p:animEffect transition="in" filter="dissolve">
                                      <p:cBhvr>
                                        <p:cTn id="7" dur="500"/>
                                        <p:tgtEl>
                                          <p:spTgt spid="115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a:xfrm>
            <a:off x="457200" y="5203825"/>
            <a:ext cx="2133600" cy="396875"/>
          </a:xfrm>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en-US" sz="1400" dirty="0">
                <a:solidFill>
                  <a:srgbClr val="FFFFFF"/>
                </a:solidFill>
                <a:latin typeface="Times New Roman" panose="02020603050405020304" pitchFamily="18" charset="0"/>
              </a:rPr>
              <a:t>16</a:t>
            </a:fld>
            <a:endParaRPr lang="en-US" altLang="en-US" sz="1400" dirty="0">
              <a:solidFill>
                <a:srgbClr val="FFFFFF"/>
              </a:solidFill>
              <a:latin typeface="Times New Roman" panose="02020603050405020304" pitchFamily="18" charset="0"/>
            </a:endParaRPr>
          </a:p>
        </p:txBody>
      </p:sp>
      <p:sp>
        <p:nvSpPr>
          <p:cNvPr id="1043459" name="矩形 1043458"/>
          <p:cNvSpPr/>
          <p:nvPr/>
        </p:nvSpPr>
        <p:spPr>
          <a:xfrm>
            <a:off x="395288" y="576263"/>
            <a:ext cx="8569325" cy="1385887"/>
          </a:xfrm>
          <a:prstGeom prst="rect">
            <a:avLst/>
          </a:prstGeom>
          <a:noFill/>
          <a:ln w="12700">
            <a:noFill/>
          </a:ln>
        </p:spPr>
        <p:txBody>
          <a:bodyPr anchor="t" anchorCtr="0">
            <a:spAutoFit/>
          </a:bodyPr>
          <a:lstStyle/>
          <a:p>
            <a:pPr>
              <a:lnSpc>
                <a:spcPct val="150000"/>
              </a:lnSpc>
            </a:pPr>
            <a:r>
              <a:rPr lang="zh-CN" altLang="zh-CN" sz="2800" b="1" dirty="0">
                <a:latin typeface="Times New Roman" panose="02020603050405020304" pitchFamily="18" charset="0"/>
                <a:ea typeface="黑体" panose="02010609060101010101" pitchFamily="49" charset="-122"/>
              </a:rPr>
              <a:t>例</a:t>
            </a:r>
            <a:r>
              <a:rPr lang="zh-CN" altLang="en-US" sz="2800" b="1" dirty="0">
                <a:latin typeface="Times New Roman" panose="02020603050405020304" pitchFamily="18" charset="0"/>
                <a:ea typeface="黑体" panose="02010609060101010101" pitchFamily="49" charset="-122"/>
              </a:rPr>
              <a:t>1</a:t>
            </a:r>
            <a:r>
              <a:rPr lang="zh-CN" altLang="zh-CN" sz="2800" b="1" dirty="0">
                <a:latin typeface="Times New Roman" panose="02020603050405020304" pitchFamily="18" charset="0"/>
                <a:ea typeface="黑体" panose="02010609060101010101" pitchFamily="49" charset="-122"/>
              </a:rPr>
              <a:t>，指出下列各电对组成原电池的正、负极，指出电子的</a:t>
            </a:r>
            <a:r>
              <a:rPr lang="zh-CN" altLang="en-US" sz="2800" b="1" dirty="0">
                <a:latin typeface="Times New Roman" panose="02020603050405020304" pitchFamily="18" charset="0"/>
                <a:ea typeface="黑体" panose="02010609060101010101" pitchFamily="49" charset="-122"/>
              </a:rPr>
              <a:t>流动</a:t>
            </a:r>
            <a:r>
              <a:rPr lang="zh-CN" altLang="zh-CN" sz="2800" b="1" dirty="0">
                <a:latin typeface="Times New Roman" panose="02020603050405020304" pitchFamily="18" charset="0"/>
                <a:ea typeface="黑体" panose="02010609060101010101" pitchFamily="49" charset="-122"/>
              </a:rPr>
              <a:t>方向，并分别写出电极反应和电池反应</a:t>
            </a:r>
            <a:endParaRPr lang="zh-CN" altLang="es-ES_tradnl" sz="2800" b="1" dirty="0">
              <a:latin typeface="Times New Roman" panose="02020603050405020304" pitchFamily="18" charset="0"/>
              <a:ea typeface="黑体" panose="02010609060101010101" pitchFamily="49" charset="-122"/>
            </a:endParaRPr>
          </a:p>
        </p:txBody>
      </p:sp>
      <p:sp>
        <p:nvSpPr>
          <p:cNvPr id="1043460" name="矩形 1043459"/>
          <p:cNvSpPr/>
          <p:nvPr/>
        </p:nvSpPr>
        <p:spPr>
          <a:xfrm>
            <a:off x="539750" y="1897063"/>
            <a:ext cx="8137525" cy="1292225"/>
          </a:xfrm>
          <a:prstGeom prst="rect">
            <a:avLst/>
          </a:prstGeom>
          <a:noFill/>
          <a:ln w="12700">
            <a:noFill/>
          </a:ln>
        </p:spPr>
        <p:txBody>
          <a:bodyPr anchor="t" anchorCtr="0">
            <a:spAutoFit/>
          </a:bodyPr>
          <a:lstStyle/>
          <a:p>
            <a:pPr>
              <a:lnSpc>
                <a:spcPct val="150000"/>
              </a:lnSpc>
            </a:pP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1</a:t>
            </a: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Zn(NO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t>
            </a:r>
            <a:r>
              <a:rPr lang="es-ES_tradnl" altLang="zh-CN" sz="2800" b="1" baseline="-25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Zn —— Sn(NO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t>
            </a:r>
            <a:r>
              <a:rPr lang="es-ES_tradnl" altLang="zh-CN" sz="2800" b="1" baseline="-25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Sn</a:t>
            </a:r>
          </a:p>
          <a:p>
            <a:pPr>
              <a:lnSpc>
                <a:spcPct val="150000"/>
              </a:lnSpc>
            </a:pPr>
            <a:r>
              <a:rPr lang="es-ES_tradnl" altLang="zh-CN" sz="2400" b="1" dirty="0">
                <a:latin typeface="Times New Roman" panose="02020603050405020304" pitchFamily="18" charset="0"/>
                <a:ea typeface="黑体" panose="02010609060101010101" pitchFamily="49" charset="-122"/>
              </a:rPr>
              <a:t>                   -0.7618 V                      -0.1375V</a:t>
            </a:r>
          </a:p>
        </p:txBody>
      </p:sp>
      <p:sp>
        <p:nvSpPr>
          <p:cNvPr id="1043461" name="矩形 1043460"/>
          <p:cNvSpPr/>
          <p:nvPr/>
        </p:nvSpPr>
        <p:spPr>
          <a:xfrm>
            <a:off x="755650" y="2971800"/>
            <a:ext cx="8137525" cy="738188"/>
          </a:xfrm>
          <a:prstGeom prst="rect">
            <a:avLst/>
          </a:prstGeom>
          <a:noFill/>
          <a:ln w="12700">
            <a:noFill/>
          </a:ln>
        </p:spPr>
        <p:txBody>
          <a:bodyPr anchor="t" anchorCtr="0">
            <a:spAutoFit/>
          </a:bodyPr>
          <a:lstStyle/>
          <a:p>
            <a:pPr>
              <a:lnSpc>
                <a:spcPct val="150000"/>
              </a:lnSpc>
            </a:pPr>
            <a:r>
              <a:rPr lang="es-ES_tradnl" altLang="zh-CN" sz="2800" b="1" dirty="0">
                <a:latin typeface="Times New Roman" panose="02020603050405020304" pitchFamily="18" charset="0"/>
                <a:ea typeface="黑体" panose="02010609060101010101" pitchFamily="49" charset="-122"/>
              </a:rPr>
              <a:t>    (- )  Zn - 2e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Zn</a:t>
            </a:r>
            <a:r>
              <a:rPr lang="es-ES_tradnl" altLang="zh-CN" sz="2800" b="1" baseline="30000" dirty="0">
                <a:latin typeface="Times New Roman" panose="02020603050405020304" pitchFamily="18" charset="0"/>
                <a:ea typeface="黑体" panose="02010609060101010101" pitchFamily="49" charset="-122"/>
              </a:rPr>
              <a:t>2+</a:t>
            </a:r>
            <a:r>
              <a:rPr lang="es-ES_tradnl" altLang="zh-CN" sz="2800" b="1" dirty="0">
                <a:latin typeface="Times New Roman" panose="02020603050405020304" pitchFamily="18" charset="0"/>
                <a:ea typeface="黑体" panose="02010609060101010101" pitchFamily="49" charset="-122"/>
              </a:rPr>
              <a:t>   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a:t>
            </a:r>
            <a:r>
              <a:rPr lang="zh-CN" altLang="es-ES_tradnl" sz="2800" b="1" dirty="0">
                <a:latin typeface="Times New Roman" panose="02020603050405020304" pitchFamily="18" charset="0"/>
                <a:ea typeface="黑体" panose="02010609060101010101" pitchFamily="49" charset="-122"/>
              </a:rPr>
              <a:t>从 </a:t>
            </a:r>
            <a:r>
              <a:rPr lang="es-ES_tradnl" altLang="zh-CN" sz="2800" b="1" dirty="0">
                <a:latin typeface="Times New Roman" panose="02020603050405020304" pitchFamily="18" charset="0"/>
                <a:ea typeface="黑体" panose="02010609060101010101" pitchFamily="49" charset="-122"/>
              </a:rPr>
              <a:t>Zn</a:t>
            </a:r>
            <a:r>
              <a:rPr lang="zh-CN" altLang="es-ES_tradnl" sz="2800" b="1" dirty="0">
                <a:latin typeface="Times New Roman" panose="02020603050405020304" pitchFamily="18" charset="0"/>
                <a:ea typeface="黑体" panose="02010609060101010101" pitchFamily="49" charset="-122"/>
              </a:rPr>
              <a:t>极 → </a:t>
            </a:r>
            <a:r>
              <a:rPr lang="es-ES_tradnl" altLang="zh-CN" sz="2800" b="1" dirty="0">
                <a:latin typeface="Times New Roman" panose="02020603050405020304" pitchFamily="18" charset="0"/>
                <a:ea typeface="黑体" panose="02010609060101010101" pitchFamily="49" charset="-122"/>
              </a:rPr>
              <a:t>Sn</a:t>
            </a:r>
            <a:r>
              <a:rPr lang="zh-CN" altLang="es-ES_tradnl" sz="2800" b="1" dirty="0">
                <a:latin typeface="Times New Roman" panose="02020603050405020304" pitchFamily="18" charset="0"/>
                <a:ea typeface="黑体" panose="02010609060101010101" pitchFamily="49" charset="-122"/>
              </a:rPr>
              <a:t>极</a:t>
            </a:r>
          </a:p>
        </p:txBody>
      </p:sp>
      <p:sp>
        <p:nvSpPr>
          <p:cNvPr id="1043462" name="矩形 1043461"/>
          <p:cNvSpPr/>
          <p:nvPr/>
        </p:nvSpPr>
        <p:spPr>
          <a:xfrm>
            <a:off x="755650" y="3625850"/>
            <a:ext cx="6480175" cy="738188"/>
          </a:xfrm>
          <a:prstGeom prst="rect">
            <a:avLst/>
          </a:prstGeom>
          <a:noFill/>
          <a:ln w="12700">
            <a:noFill/>
          </a:ln>
        </p:spPr>
        <p:txBody>
          <a:bodyPr anchor="t" anchorCtr="0">
            <a:spAutoFit/>
          </a:bodyPr>
          <a:lstStyle/>
          <a:p>
            <a:pPr>
              <a:lnSpc>
                <a:spcPct val="150000"/>
              </a:lnSpc>
            </a:pPr>
            <a:r>
              <a:rPr lang="es-ES_tradnl" altLang="zh-CN" sz="2800" b="1" dirty="0">
                <a:latin typeface="Times New Roman" panose="02020603050405020304" pitchFamily="18" charset="0"/>
                <a:ea typeface="黑体" panose="02010609060101010101" pitchFamily="49" charset="-122"/>
              </a:rPr>
              <a:t>    (+)  Sn</a:t>
            </a:r>
            <a:r>
              <a:rPr lang="es-ES_tradnl" altLang="zh-CN" sz="2800" b="1" baseline="30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+ 2e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Sn</a:t>
            </a:r>
            <a:endParaRPr lang="en-US" altLang="zh-CN" sz="2800" b="1" dirty="0">
              <a:latin typeface="Times New Roman" panose="02020603050405020304" pitchFamily="18" charset="0"/>
              <a:ea typeface="黑体" panose="02010609060101010101" pitchFamily="49" charset="-122"/>
            </a:endParaRPr>
          </a:p>
        </p:txBody>
      </p:sp>
      <p:sp>
        <p:nvSpPr>
          <p:cNvPr id="1043463" name="矩形 1043462"/>
          <p:cNvSpPr/>
          <p:nvPr/>
        </p:nvSpPr>
        <p:spPr>
          <a:xfrm>
            <a:off x="1187450" y="4418013"/>
            <a:ext cx="5400675" cy="738187"/>
          </a:xfrm>
          <a:prstGeom prst="rect">
            <a:avLst/>
          </a:prstGeom>
          <a:noFill/>
          <a:ln w="12700">
            <a:noFill/>
          </a:ln>
        </p:spPr>
        <p:txBody>
          <a:bodyPr anchor="t" anchorCtr="0">
            <a:spAutoFit/>
          </a:bodyPr>
          <a:lstStyle/>
          <a:p>
            <a:pPr>
              <a:lnSpc>
                <a:spcPct val="150000"/>
              </a:lnSpc>
            </a:pPr>
            <a:r>
              <a:rPr lang="zh-CN" altLang="zh-CN" sz="2800" b="1" dirty="0">
                <a:solidFill>
                  <a:srgbClr val="FF0000"/>
                </a:solidFill>
                <a:latin typeface="Times New Roman" panose="02020603050405020304" pitchFamily="18" charset="0"/>
                <a:ea typeface="黑体" panose="02010609060101010101" pitchFamily="49" charset="-122"/>
              </a:rPr>
              <a:t>电</a:t>
            </a:r>
            <a:r>
              <a:rPr lang="zh-CN" altLang="en-US" sz="2800" b="1" dirty="0">
                <a:solidFill>
                  <a:srgbClr val="FF0000"/>
                </a:solidFill>
                <a:latin typeface="Times New Roman" panose="02020603050405020304" pitchFamily="18" charset="0"/>
                <a:ea typeface="黑体" panose="02010609060101010101" pitchFamily="49" charset="-122"/>
              </a:rPr>
              <a:t>池</a:t>
            </a:r>
            <a:r>
              <a:rPr lang="zh-CN" altLang="zh-CN" sz="2800" b="1" dirty="0">
                <a:solidFill>
                  <a:srgbClr val="FF0000"/>
                </a:solidFill>
                <a:latin typeface="Times New Roman" panose="02020603050405020304" pitchFamily="18" charset="0"/>
                <a:ea typeface="黑体" panose="02010609060101010101" pitchFamily="49" charset="-122"/>
              </a:rPr>
              <a:t>反应</a:t>
            </a:r>
            <a:r>
              <a:rPr lang="zh-CN" altLang="es-ES_tradnl" sz="2800" b="1" dirty="0">
                <a:solidFill>
                  <a:srgbClr val="FF0000"/>
                </a:solidFill>
                <a:latin typeface="Times New Roman" panose="02020603050405020304" pitchFamily="18" charset="0"/>
                <a:ea typeface="黑体" panose="02010609060101010101" pitchFamily="49" charset="-122"/>
              </a:rPr>
              <a:t>   </a:t>
            </a:r>
            <a:r>
              <a:rPr lang="es-ES_tradnl" altLang="zh-CN" sz="2800" b="1" dirty="0">
                <a:solidFill>
                  <a:srgbClr val="FF0000"/>
                </a:solidFill>
                <a:latin typeface="Times New Roman" panose="02020603050405020304" pitchFamily="18" charset="0"/>
                <a:ea typeface="黑体" panose="02010609060101010101" pitchFamily="49" charset="-122"/>
              </a:rPr>
              <a:t>Zn + Sn</a:t>
            </a:r>
            <a:r>
              <a:rPr lang="es-ES_tradnl" altLang="zh-CN" sz="2800" b="1" baseline="30000" dirty="0">
                <a:solidFill>
                  <a:srgbClr val="FF0000"/>
                </a:solidFill>
                <a:latin typeface="Times New Roman" panose="02020603050405020304" pitchFamily="18" charset="0"/>
                <a:ea typeface="黑体" panose="02010609060101010101" pitchFamily="49" charset="-122"/>
              </a:rPr>
              <a:t>2+ </a:t>
            </a:r>
            <a:r>
              <a:rPr lang="es-ES_tradnl" altLang="zh-CN" sz="2800" b="1" dirty="0">
                <a:solidFill>
                  <a:srgbClr val="FF0000"/>
                </a:solidFill>
                <a:latin typeface="Times New Roman" panose="02020603050405020304" pitchFamily="18" charset="0"/>
                <a:ea typeface="黑体" panose="02010609060101010101" pitchFamily="49" charset="-122"/>
              </a:rPr>
              <a:t>= Zn</a:t>
            </a:r>
            <a:r>
              <a:rPr lang="es-ES_tradnl" altLang="zh-CN" sz="2800" b="1" baseline="30000" dirty="0">
                <a:solidFill>
                  <a:srgbClr val="FF0000"/>
                </a:solidFill>
                <a:latin typeface="Times New Roman" panose="02020603050405020304" pitchFamily="18" charset="0"/>
                <a:ea typeface="黑体" panose="02010609060101010101" pitchFamily="49" charset="-122"/>
              </a:rPr>
              <a:t>2+ </a:t>
            </a:r>
            <a:r>
              <a:rPr lang="es-ES_tradnl" altLang="zh-CN" sz="2800" b="1" dirty="0">
                <a:solidFill>
                  <a:srgbClr val="FF0000"/>
                </a:solidFill>
                <a:latin typeface="Times New Roman" panose="02020603050405020304" pitchFamily="18" charset="0"/>
                <a:ea typeface="黑体" panose="02010609060101010101" pitchFamily="49" charset="-122"/>
              </a:rPr>
              <a:t>+ Sn </a:t>
            </a:r>
            <a:endParaRPr lang="en-US" altLang="zh-CN" sz="2800"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3459"/>
                                        </p:tgtEl>
                                        <p:attrNameLst>
                                          <p:attrName>style.visibility</p:attrName>
                                        </p:attrNameLst>
                                      </p:cBhvr>
                                      <p:to>
                                        <p:strVal val="visible"/>
                                      </p:to>
                                    </p:set>
                                    <p:animEffect transition="in" filter="blinds(horizontal)">
                                      <p:cBhvr>
                                        <p:cTn id="7" dur="500"/>
                                        <p:tgtEl>
                                          <p:spTgt spid="104345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3460"/>
                                        </p:tgtEl>
                                        <p:attrNameLst>
                                          <p:attrName>style.visibility</p:attrName>
                                        </p:attrNameLst>
                                      </p:cBhvr>
                                      <p:to>
                                        <p:strVal val="visible"/>
                                      </p:to>
                                    </p:set>
                                    <p:anim calcmode="lin" valueType="num">
                                      <p:cBhvr additive="base">
                                        <p:cTn id="12" dur="500" fill="hold"/>
                                        <p:tgtEl>
                                          <p:spTgt spid="1043460"/>
                                        </p:tgtEl>
                                        <p:attrNameLst>
                                          <p:attrName>ppt_x</p:attrName>
                                        </p:attrNameLst>
                                      </p:cBhvr>
                                      <p:tavLst>
                                        <p:tav tm="0">
                                          <p:val>
                                            <p:strVal val="#ppt_x"/>
                                          </p:val>
                                        </p:tav>
                                        <p:tav tm="100000">
                                          <p:val>
                                            <p:strVal val="#ppt_x"/>
                                          </p:val>
                                        </p:tav>
                                      </p:tavLst>
                                    </p:anim>
                                    <p:anim calcmode="lin" valueType="num">
                                      <p:cBhvr additive="base">
                                        <p:cTn id="13" dur="500" fill="hold"/>
                                        <p:tgtEl>
                                          <p:spTgt spid="104346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43461"/>
                                        </p:tgtEl>
                                        <p:attrNameLst>
                                          <p:attrName>style.visibility</p:attrName>
                                        </p:attrNameLst>
                                      </p:cBhvr>
                                      <p:to>
                                        <p:strVal val="visible"/>
                                      </p:to>
                                    </p:set>
                                    <p:animEffect transition="in" filter="box(in)">
                                      <p:cBhvr>
                                        <p:cTn id="18" dur="500"/>
                                        <p:tgtEl>
                                          <p:spTgt spid="104346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43462"/>
                                        </p:tgtEl>
                                        <p:attrNameLst>
                                          <p:attrName>style.visibility</p:attrName>
                                        </p:attrNameLst>
                                      </p:cBhvr>
                                      <p:to>
                                        <p:strVal val="visible"/>
                                      </p:to>
                                    </p:set>
                                    <p:anim calcmode="lin" valueType="num">
                                      <p:cBhvr additive="base">
                                        <p:cTn id="23" dur="500" fill="hold"/>
                                        <p:tgtEl>
                                          <p:spTgt spid="1043462"/>
                                        </p:tgtEl>
                                        <p:attrNameLst>
                                          <p:attrName>ppt_x</p:attrName>
                                        </p:attrNameLst>
                                      </p:cBhvr>
                                      <p:tavLst>
                                        <p:tav tm="0">
                                          <p:val>
                                            <p:strVal val="#ppt_x"/>
                                          </p:val>
                                        </p:tav>
                                        <p:tav tm="100000">
                                          <p:val>
                                            <p:strVal val="#ppt_x"/>
                                          </p:val>
                                        </p:tav>
                                      </p:tavLst>
                                    </p:anim>
                                    <p:anim calcmode="lin" valueType="num">
                                      <p:cBhvr additive="base">
                                        <p:cTn id="24" dur="500" fill="hold"/>
                                        <p:tgtEl>
                                          <p:spTgt spid="104346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043463"/>
                                        </p:tgtEl>
                                        <p:attrNameLst>
                                          <p:attrName>style.visibility</p:attrName>
                                        </p:attrNameLst>
                                      </p:cBhvr>
                                      <p:to>
                                        <p:strVal val="visible"/>
                                      </p:to>
                                    </p:set>
                                    <p:anim calcmode="lin" valueType="num">
                                      <p:cBhvr additive="base">
                                        <p:cTn id="29" dur="500" fill="hold"/>
                                        <p:tgtEl>
                                          <p:spTgt spid="1043463"/>
                                        </p:tgtEl>
                                        <p:attrNameLst>
                                          <p:attrName>ppt_x</p:attrName>
                                        </p:attrNameLst>
                                      </p:cBhvr>
                                      <p:tavLst>
                                        <p:tav tm="0">
                                          <p:val>
                                            <p:strVal val="1+#ppt_w/2"/>
                                          </p:val>
                                        </p:tav>
                                        <p:tav tm="100000">
                                          <p:val>
                                            <p:strVal val="#ppt_x"/>
                                          </p:val>
                                        </p:tav>
                                      </p:tavLst>
                                    </p:anim>
                                    <p:anim calcmode="lin" valueType="num">
                                      <p:cBhvr additive="base">
                                        <p:cTn id="30" dur="500" fill="hold"/>
                                        <p:tgtEl>
                                          <p:spTgt spid="10434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3459" grpId="0"/>
      <p:bldP spid="1043460" grpId="0"/>
      <p:bldP spid="1043461" grpId="0"/>
      <p:bldP spid="1043462" grpId="0"/>
      <p:bldP spid="104346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a:xfrm>
            <a:off x="457200" y="5203825"/>
            <a:ext cx="2133600" cy="396875"/>
          </a:xfrm>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en-US" sz="1400" dirty="0">
                <a:solidFill>
                  <a:srgbClr val="FFFFFF"/>
                </a:solidFill>
                <a:latin typeface="Times New Roman" panose="02020603050405020304" pitchFamily="18" charset="0"/>
              </a:rPr>
              <a:t>17</a:t>
            </a:fld>
            <a:endParaRPr lang="en-US" altLang="en-US" sz="1400" dirty="0">
              <a:solidFill>
                <a:srgbClr val="FFFFFF"/>
              </a:solidFill>
              <a:latin typeface="Times New Roman" panose="02020603050405020304" pitchFamily="18" charset="0"/>
            </a:endParaRPr>
          </a:p>
        </p:txBody>
      </p:sp>
      <p:sp>
        <p:nvSpPr>
          <p:cNvPr id="32770" name="文本框 1044481"/>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latin typeface="Times New Roman" panose="02020603050405020304" pitchFamily="18" charset="0"/>
              <a:ea typeface="Times New Roman" panose="02020603050405020304" pitchFamily="18" charset="0"/>
            </a:endParaRPr>
          </a:p>
        </p:txBody>
      </p:sp>
      <p:sp>
        <p:nvSpPr>
          <p:cNvPr id="1044483" name="矩形 1044482"/>
          <p:cNvSpPr/>
          <p:nvPr/>
        </p:nvSpPr>
        <p:spPr>
          <a:xfrm>
            <a:off x="611188" y="157163"/>
            <a:ext cx="8137525" cy="1212850"/>
          </a:xfrm>
          <a:prstGeom prst="rect">
            <a:avLst/>
          </a:prstGeom>
          <a:noFill/>
          <a:ln w="12700">
            <a:noFill/>
          </a:ln>
        </p:spPr>
        <p:txBody>
          <a:bodyPr anchor="t" anchorCtr="0">
            <a:spAutoFit/>
          </a:bodyPr>
          <a:lstStyle/>
          <a:p>
            <a:pPr>
              <a:lnSpc>
                <a:spcPct val="140000"/>
              </a:lnSpc>
            </a:pP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2</a:t>
            </a: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Sn(NO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t>
            </a:r>
            <a:r>
              <a:rPr lang="es-ES_tradnl" altLang="zh-CN" sz="2800" b="1" baseline="-25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Sn —— Cu(NO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t>
            </a:r>
            <a:r>
              <a:rPr lang="es-ES_tradnl" altLang="zh-CN" sz="2800" b="1" baseline="-25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Cu</a:t>
            </a:r>
          </a:p>
          <a:p>
            <a:pPr>
              <a:lnSpc>
                <a:spcPct val="140000"/>
              </a:lnSpc>
            </a:pPr>
            <a:r>
              <a:rPr lang="es-ES_tradnl" altLang="zh-CN" sz="2400" b="1" dirty="0">
                <a:latin typeface="Times New Roman" panose="02020603050405020304" pitchFamily="18" charset="0"/>
                <a:ea typeface="黑体" panose="02010609060101010101" pitchFamily="49" charset="-122"/>
              </a:rPr>
              <a:t>                    -0.1375V                         0.345V</a:t>
            </a:r>
            <a:endParaRPr lang="en-US" altLang="zh-CN" sz="2400" b="1" baseline="30000" dirty="0">
              <a:latin typeface="Times New Roman" panose="02020603050405020304" pitchFamily="18" charset="0"/>
              <a:ea typeface="黑体" panose="02010609060101010101" pitchFamily="49" charset="-122"/>
            </a:endParaRPr>
          </a:p>
        </p:txBody>
      </p:sp>
      <p:sp>
        <p:nvSpPr>
          <p:cNvPr id="1044484" name="矩形 1044483"/>
          <p:cNvSpPr/>
          <p:nvPr/>
        </p:nvSpPr>
        <p:spPr>
          <a:xfrm>
            <a:off x="771525" y="996950"/>
            <a:ext cx="8137525" cy="1298575"/>
          </a:xfrm>
          <a:prstGeom prst="rect">
            <a:avLst/>
          </a:prstGeom>
          <a:noFill/>
          <a:ln w="12700">
            <a:noFill/>
          </a:ln>
        </p:spPr>
        <p:txBody>
          <a:bodyPr anchor="t" anchorCtr="0">
            <a:spAutoFit/>
          </a:bodyPr>
          <a:lstStyle/>
          <a:p>
            <a:pPr>
              <a:lnSpc>
                <a:spcPct val="140000"/>
              </a:lnSpc>
            </a:pPr>
            <a:r>
              <a:rPr lang="es-ES_tradnl" altLang="zh-CN" sz="2800" b="1" dirty="0">
                <a:latin typeface="Times New Roman" panose="02020603050405020304" pitchFamily="18" charset="0"/>
                <a:ea typeface="黑体" panose="02010609060101010101" pitchFamily="49" charset="-122"/>
              </a:rPr>
              <a:t>          ( -)  Sn - 2e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Sn</a:t>
            </a:r>
            <a:r>
              <a:rPr lang="es-ES_tradnl" altLang="zh-CN" sz="2800" b="1" baseline="30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a:t>
            </a:r>
            <a:r>
              <a:rPr lang="zh-CN" altLang="es-ES_tradnl" sz="2800" b="1" dirty="0">
                <a:latin typeface="Times New Roman" panose="02020603050405020304" pitchFamily="18" charset="0"/>
                <a:ea typeface="黑体" panose="02010609060101010101" pitchFamily="49" charset="-122"/>
              </a:rPr>
              <a:t>从</a:t>
            </a:r>
            <a:r>
              <a:rPr lang="es-ES_tradnl" altLang="zh-CN" sz="2800" b="1" dirty="0">
                <a:latin typeface="Times New Roman" panose="02020603050405020304" pitchFamily="18" charset="0"/>
                <a:ea typeface="黑体" panose="02010609060101010101" pitchFamily="49" charset="-122"/>
              </a:rPr>
              <a:t>Sn</a:t>
            </a:r>
            <a:r>
              <a:rPr lang="zh-CN" altLang="es-ES_tradnl" sz="2800" b="1" dirty="0">
                <a:latin typeface="Times New Roman" panose="02020603050405020304" pitchFamily="18" charset="0"/>
                <a:ea typeface="黑体" panose="02010609060101010101" pitchFamily="49" charset="-122"/>
              </a:rPr>
              <a:t>极 → </a:t>
            </a:r>
            <a:r>
              <a:rPr lang="es-ES_tradnl" altLang="zh-CN" sz="2800" b="1" dirty="0">
                <a:latin typeface="Times New Roman" panose="02020603050405020304" pitchFamily="18" charset="0"/>
                <a:ea typeface="黑体" panose="02010609060101010101" pitchFamily="49" charset="-122"/>
              </a:rPr>
              <a:t>Cu</a:t>
            </a:r>
            <a:r>
              <a:rPr lang="zh-CN" altLang="es-ES_tradnl" sz="2800" b="1" dirty="0">
                <a:latin typeface="Times New Roman" panose="02020603050405020304" pitchFamily="18" charset="0"/>
                <a:ea typeface="黑体" panose="02010609060101010101" pitchFamily="49" charset="-122"/>
              </a:rPr>
              <a:t>极</a:t>
            </a:r>
            <a:endParaRPr lang="es-ES_tradnl" altLang="zh-CN" sz="2800" b="1" baseline="30000" dirty="0">
              <a:latin typeface="Times New Roman" panose="02020603050405020304" pitchFamily="18" charset="0"/>
              <a:ea typeface="黑体" panose="02010609060101010101" pitchFamily="49" charset="-122"/>
            </a:endParaRPr>
          </a:p>
          <a:p>
            <a:pPr>
              <a:lnSpc>
                <a:spcPct val="140000"/>
              </a:lnSpc>
            </a:pPr>
            <a:r>
              <a:rPr lang="es-ES_tradnl" altLang="zh-CN" sz="2800" b="1" dirty="0">
                <a:latin typeface="Times New Roman" panose="02020603050405020304" pitchFamily="18" charset="0"/>
                <a:ea typeface="黑体" panose="02010609060101010101" pitchFamily="49" charset="-122"/>
              </a:rPr>
              <a:t>          (+)  Cu</a:t>
            </a:r>
            <a:r>
              <a:rPr lang="es-ES_tradnl" altLang="zh-CN" sz="2800" b="1" baseline="30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+ 2e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Cu</a:t>
            </a:r>
            <a:endParaRPr lang="zh-CN" altLang="es-ES_tradnl" sz="2800" b="1" dirty="0">
              <a:latin typeface="Times New Roman" panose="02020603050405020304" pitchFamily="18" charset="0"/>
              <a:ea typeface="黑体" panose="02010609060101010101" pitchFamily="49" charset="-122"/>
            </a:endParaRPr>
          </a:p>
        </p:txBody>
      </p:sp>
      <p:sp>
        <p:nvSpPr>
          <p:cNvPr id="1044485" name="矩形 1044484"/>
          <p:cNvSpPr/>
          <p:nvPr/>
        </p:nvSpPr>
        <p:spPr>
          <a:xfrm>
            <a:off x="1404938" y="2187575"/>
            <a:ext cx="6696075" cy="695325"/>
          </a:xfrm>
          <a:prstGeom prst="rect">
            <a:avLst/>
          </a:prstGeom>
          <a:noFill/>
          <a:ln w="12700">
            <a:noFill/>
          </a:ln>
        </p:spPr>
        <p:txBody>
          <a:bodyPr anchor="t" anchorCtr="0">
            <a:spAutoFit/>
          </a:bodyPr>
          <a:lstStyle/>
          <a:p>
            <a:pPr>
              <a:lnSpc>
                <a:spcPct val="140000"/>
              </a:lnSpc>
            </a:pPr>
            <a:r>
              <a:rPr lang="zh-CN" altLang="es-ES_tradnl" sz="2800" b="1" dirty="0">
                <a:solidFill>
                  <a:srgbClr val="FF0000"/>
                </a:solidFill>
                <a:latin typeface="Times New Roman" panose="02020603050405020304" pitchFamily="18" charset="0"/>
                <a:ea typeface="黑体" panose="02010609060101010101" pitchFamily="49" charset="-122"/>
              </a:rPr>
              <a:t>电池反应   </a:t>
            </a:r>
            <a:r>
              <a:rPr lang="es-ES_tradnl" altLang="zh-CN" sz="2800" b="1" dirty="0">
                <a:solidFill>
                  <a:srgbClr val="FF0000"/>
                </a:solidFill>
                <a:latin typeface="Times New Roman" panose="02020603050405020304" pitchFamily="18" charset="0"/>
                <a:ea typeface="黑体" panose="02010609060101010101" pitchFamily="49" charset="-122"/>
              </a:rPr>
              <a:t>Sn + Cu</a:t>
            </a:r>
            <a:r>
              <a:rPr lang="es-ES_tradnl" altLang="zh-CN" sz="2800" b="1" baseline="30000" dirty="0">
                <a:solidFill>
                  <a:srgbClr val="FF0000"/>
                </a:solidFill>
                <a:latin typeface="Times New Roman" panose="02020603050405020304" pitchFamily="18" charset="0"/>
                <a:ea typeface="黑体" panose="02010609060101010101" pitchFamily="49" charset="-122"/>
              </a:rPr>
              <a:t>2+ </a:t>
            </a:r>
            <a:r>
              <a:rPr lang="es-ES_tradnl" altLang="zh-CN" sz="2800" b="1" dirty="0">
                <a:solidFill>
                  <a:srgbClr val="FF0000"/>
                </a:solidFill>
                <a:latin typeface="Times New Roman" panose="02020603050405020304" pitchFamily="18" charset="0"/>
                <a:ea typeface="黑体" panose="02010609060101010101" pitchFamily="49" charset="-122"/>
              </a:rPr>
              <a:t>= Sn</a:t>
            </a:r>
            <a:r>
              <a:rPr lang="es-ES_tradnl" altLang="zh-CN" sz="2800" b="1" baseline="30000" dirty="0">
                <a:solidFill>
                  <a:srgbClr val="FF0000"/>
                </a:solidFill>
                <a:latin typeface="Times New Roman" panose="02020603050405020304" pitchFamily="18" charset="0"/>
                <a:ea typeface="黑体" panose="02010609060101010101" pitchFamily="49" charset="-122"/>
              </a:rPr>
              <a:t>2+ </a:t>
            </a:r>
            <a:r>
              <a:rPr lang="es-ES_tradnl" altLang="zh-CN" sz="2800" b="1" dirty="0">
                <a:solidFill>
                  <a:srgbClr val="FF0000"/>
                </a:solidFill>
                <a:latin typeface="Times New Roman" panose="02020603050405020304" pitchFamily="18" charset="0"/>
                <a:ea typeface="黑体" panose="02010609060101010101" pitchFamily="49" charset="-122"/>
              </a:rPr>
              <a:t>+ Cu</a:t>
            </a:r>
          </a:p>
        </p:txBody>
      </p:sp>
      <p:sp>
        <p:nvSpPr>
          <p:cNvPr id="1044486" name="矩形 1044485"/>
          <p:cNvSpPr/>
          <p:nvPr/>
        </p:nvSpPr>
        <p:spPr>
          <a:xfrm>
            <a:off x="612775" y="2736850"/>
            <a:ext cx="6696075" cy="1298575"/>
          </a:xfrm>
          <a:prstGeom prst="rect">
            <a:avLst/>
          </a:prstGeom>
          <a:noFill/>
          <a:ln w="12700">
            <a:noFill/>
          </a:ln>
        </p:spPr>
        <p:txBody>
          <a:bodyPr anchor="t" anchorCtr="0">
            <a:spAutoFit/>
          </a:bodyPr>
          <a:lstStyle/>
          <a:p>
            <a:pPr>
              <a:lnSpc>
                <a:spcPct val="140000"/>
              </a:lnSpc>
            </a:pP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3</a:t>
            </a:r>
            <a:r>
              <a:rPr lang="zh-CN" altLang="es-ES_tradnl" sz="2800" b="1"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Cu(NO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t>
            </a:r>
            <a:r>
              <a:rPr lang="es-ES_tradnl" altLang="zh-CN" sz="2800" b="1" baseline="-25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 Cu —— AgNO</a:t>
            </a:r>
            <a:r>
              <a:rPr lang="es-ES_tradnl" altLang="zh-CN" sz="2800" b="1" baseline="-25000" dirty="0">
                <a:latin typeface="Times New Roman" panose="02020603050405020304" pitchFamily="18" charset="0"/>
                <a:ea typeface="黑体" panose="02010609060101010101" pitchFamily="49" charset="-122"/>
              </a:rPr>
              <a:t>3</a:t>
            </a:r>
            <a:r>
              <a:rPr lang="es-ES_tradnl" altLang="zh-CN" sz="2800" b="1" dirty="0">
                <a:latin typeface="Times New Roman" panose="02020603050405020304" pitchFamily="18" charset="0"/>
                <a:ea typeface="黑体" panose="02010609060101010101" pitchFamily="49" charset="-122"/>
              </a:rPr>
              <a:t>/Ag</a:t>
            </a:r>
          </a:p>
          <a:p>
            <a:pPr>
              <a:lnSpc>
                <a:spcPct val="140000"/>
              </a:lnSpc>
            </a:pPr>
            <a:r>
              <a:rPr lang="es-ES_tradnl" altLang="zh-CN" sz="2800" b="1" dirty="0">
                <a:latin typeface="Times New Roman" panose="02020603050405020304" pitchFamily="18" charset="0"/>
                <a:ea typeface="黑体" panose="02010609060101010101" pitchFamily="49" charset="-122"/>
              </a:rPr>
              <a:t>                 </a:t>
            </a:r>
            <a:r>
              <a:rPr lang="es-ES_tradnl" altLang="zh-CN" sz="2400" b="1" dirty="0">
                <a:latin typeface="Times New Roman" panose="02020603050405020304" pitchFamily="18" charset="0"/>
                <a:ea typeface="黑体" panose="02010609060101010101" pitchFamily="49" charset="-122"/>
              </a:rPr>
              <a:t>0.345 V                      0.7996V</a:t>
            </a:r>
          </a:p>
        </p:txBody>
      </p:sp>
      <p:sp>
        <p:nvSpPr>
          <p:cNvPr id="1044487" name="矩形 1044486"/>
          <p:cNvSpPr/>
          <p:nvPr/>
        </p:nvSpPr>
        <p:spPr>
          <a:xfrm>
            <a:off x="828675" y="3636963"/>
            <a:ext cx="6696075" cy="1298575"/>
          </a:xfrm>
          <a:prstGeom prst="rect">
            <a:avLst/>
          </a:prstGeom>
          <a:noFill/>
          <a:ln w="12700">
            <a:noFill/>
          </a:ln>
        </p:spPr>
        <p:txBody>
          <a:bodyPr anchor="t" anchorCtr="0">
            <a:spAutoFit/>
          </a:bodyPr>
          <a:lstStyle/>
          <a:p>
            <a:pPr>
              <a:lnSpc>
                <a:spcPct val="140000"/>
              </a:lnSpc>
            </a:pPr>
            <a:r>
              <a:rPr lang="es-ES_tradnl" altLang="zh-CN" sz="2800" b="1" dirty="0">
                <a:latin typeface="Times New Roman" panose="02020603050405020304" pitchFamily="18" charset="0"/>
                <a:ea typeface="黑体" panose="02010609060101010101" pitchFamily="49" charset="-122"/>
              </a:rPr>
              <a:t>          (- )  Cu - 2e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Cu</a:t>
            </a:r>
            <a:r>
              <a:rPr lang="es-ES_tradnl" altLang="zh-CN" sz="2800" b="1" baseline="30000" dirty="0">
                <a:latin typeface="Times New Roman" panose="02020603050405020304" pitchFamily="18" charset="0"/>
                <a:ea typeface="黑体" panose="02010609060101010101" pitchFamily="49" charset="-122"/>
              </a:rPr>
              <a:t>2+        </a:t>
            </a:r>
            <a:r>
              <a:rPr lang="es-ES_tradnl" altLang="zh-CN" sz="2800" b="1" dirty="0">
                <a:latin typeface="Times New Roman" panose="02020603050405020304" pitchFamily="18" charset="0"/>
                <a:ea typeface="黑体" panose="02010609060101010101" pitchFamily="49" charset="-122"/>
              </a:rPr>
              <a:t>e</a:t>
            </a:r>
            <a:r>
              <a:rPr lang="es-ES_tradnl" altLang="zh-CN" sz="2800" b="1" baseline="30000" dirty="0">
                <a:latin typeface="Times New Roman" panose="02020603050405020304" pitchFamily="18" charset="0"/>
                <a:ea typeface="黑体" panose="02010609060101010101" pitchFamily="49" charset="-122"/>
              </a:rPr>
              <a:t>-</a:t>
            </a:r>
            <a:r>
              <a:rPr lang="zh-CN" altLang="es-ES_tradnl" sz="2800" b="1" dirty="0">
                <a:latin typeface="Times New Roman" panose="02020603050405020304" pitchFamily="18" charset="0"/>
                <a:ea typeface="黑体" panose="02010609060101010101" pitchFamily="49" charset="-122"/>
              </a:rPr>
              <a:t>从</a:t>
            </a:r>
            <a:r>
              <a:rPr lang="es-ES_tradnl" altLang="zh-CN" sz="2800" b="1" dirty="0">
                <a:latin typeface="Times New Roman" panose="02020603050405020304" pitchFamily="18" charset="0"/>
                <a:ea typeface="黑体" panose="02010609060101010101" pitchFamily="49" charset="-122"/>
              </a:rPr>
              <a:t>Cu→Ag</a:t>
            </a:r>
            <a:endParaRPr lang="es-ES_tradnl" altLang="zh-CN" sz="2800" b="1" baseline="30000" dirty="0">
              <a:latin typeface="Times New Roman" panose="02020603050405020304" pitchFamily="18" charset="0"/>
              <a:ea typeface="黑体" panose="02010609060101010101" pitchFamily="49" charset="-122"/>
            </a:endParaRPr>
          </a:p>
          <a:p>
            <a:pPr>
              <a:lnSpc>
                <a:spcPct val="140000"/>
              </a:lnSpc>
            </a:pPr>
            <a:r>
              <a:rPr lang="es-ES_tradnl" altLang="zh-CN" sz="2800" b="1" dirty="0">
                <a:latin typeface="Times New Roman" panose="02020603050405020304" pitchFamily="18" charset="0"/>
                <a:ea typeface="黑体" panose="02010609060101010101" pitchFamily="49" charset="-122"/>
              </a:rPr>
              <a:t>          (+)  Ag</a:t>
            </a:r>
            <a:r>
              <a:rPr lang="es-ES_tradnl" altLang="zh-CN" sz="2800" b="1" baseline="30000" dirty="0">
                <a:latin typeface="Times New Roman" panose="02020603050405020304" pitchFamily="18" charset="0"/>
                <a:ea typeface="黑体" panose="02010609060101010101" pitchFamily="49" charset="-122"/>
              </a:rPr>
              <a:t>+ </a:t>
            </a:r>
            <a:r>
              <a:rPr lang="es-ES_tradnl" altLang="zh-CN" sz="2800" b="1" dirty="0">
                <a:latin typeface="Times New Roman" panose="02020603050405020304" pitchFamily="18" charset="0"/>
                <a:ea typeface="黑体" panose="02010609060101010101" pitchFamily="49" charset="-122"/>
              </a:rPr>
              <a:t>+ e</a:t>
            </a:r>
            <a:r>
              <a:rPr lang="es-ES_tradnl" altLang="zh-CN" sz="2800" b="1" baseline="30000" dirty="0">
                <a:latin typeface="Times New Roman" panose="02020603050405020304" pitchFamily="18" charset="0"/>
                <a:ea typeface="黑体" panose="02010609060101010101" pitchFamily="49" charset="-122"/>
              </a:rPr>
              <a:t>-</a:t>
            </a:r>
            <a:r>
              <a:rPr lang="es-ES_tradnl" altLang="zh-CN" sz="2800" b="1" dirty="0">
                <a:latin typeface="Times New Roman" panose="02020603050405020304" pitchFamily="18" charset="0"/>
                <a:ea typeface="黑体" panose="02010609060101010101" pitchFamily="49" charset="-122"/>
              </a:rPr>
              <a:t> = Ag</a:t>
            </a:r>
          </a:p>
        </p:txBody>
      </p:sp>
      <p:sp>
        <p:nvSpPr>
          <p:cNvPr id="1044488" name="矩形 1044487"/>
          <p:cNvSpPr/>
          <p:nvPr/>
        </p:nvSpPr>
        <p:spPr>
          <a:xfrm>
            <a:off x="1476375" y="4862513"/>
            <a:ext cx="6696075" cy="695325"/>
          </a:xfrm>
          <a:prstGeom prst="rect">
            <a:avLst/>
          </a:prstGeom>
          <a:noFill/>
          <a:ln w="12700">
            <a:noFill/>
          </a:ln>
        </p:spPr>
        <p:txBody>
          <a:bodyPr anchor="t" anchorCtr="0">
            <a:spAutoFit/>
          </a:bodyPr>
          <a:lstStyle/>
          <a:p>
            <a:pPr>
              <a:lnSpc>
                <a:spcPct val="140000"/>
              </a:lnSpc>
            </a:pPr>
            <a:r>
              <a:rPr lang="zh-CN" altLang="es-ES_tradnl" sz="2800" b="1" dirty="0">
                <a:solidFill>
                  <a:srgbClr val="FF0000"/>
                </a:solidFill>
                <a:latin typeface="Times New Roman" panose="02020603050405020304" pitchFamily="18" charset="0"/>
                <a:ea typeface="黑体" panose="02010609060101010101" pitchFamily="49" charset="-122"/>
              </a:rPr>
              <a:t>电池反应  </a:t>
            </a:r>
            <a:r>
              <a:rPr lang="es-ES_tradnl" altLang="zh-CN" sz="2800" b="1" dirty="0">
                <a:solidFill>
                  <a:srgbClr val="FF0000"/>
                </a:solidFill>
                <a:latin typeface="Times New Roman" panose="02020603050405020304" pitchFamily="18" charset="0"/>
                <a:ea typeface="黑体" panose="02010609060101010101" pitchFamily="49" charset="-122"/>
              </a:rPr>
              <a:t>Cu + 2Ag</a:t>
            </a:r>
            <a:r>
              <a:rPr lang="es-ES_tradnl" altLang="zh-CN" sz="2800" b="1" baseline="30000" dirty="0">
                <a:solidFill>
                  <a:srgbClr val="FF0000"/>
                </a:solidFill>
                <a:latin typeface="Times New Roman" panose="02020603050405020304" pitchFamily="18" charset="0"/>
                <a:ea typeface="黑体" panose="02010609060101010101" pitchFamily="49" charset="-122"/>
              </a:rPr>
              <a:t>+ </a:t>
            </a:r>
            <a:r>
              <a:rPr lang="es-ES_tradnl" altLang="zh-CN" sz="2800" b="1" dirty="0">
                <a:solidFill>
                  <a:srgbClr val="FF0000"/>
                </a:solidFill>
                <a:latin typeface="Times New Roman" panose="02020603050405020304" pitchFamily="18" charset="0"/>
                <a:ea typeface="黑体" panose="02010609060101010101" pitchFamily="49" charset="-122"/>
              </a:rPr>
              <a:t>= 2Ag + Cu</a:t>
            </a:r>
            <a:r>
              <a:rPr lang="es-ES_tradnl" altLang="zh-CN" sz="2800" b="1" baseline="30000" dirty="0">
                <a:solidFill>
                  <a:srgbClr val="FF0000"/>
                </a:solidFill>
                <a:latin typeface="Times New Roman" panose="02020603050405020304" pitchFamily="18" charset="0"/>
                <a:ea typeface="黑体" panose="02010609060101010101" pitchFamily="49" charset="-122"/>
              </a:rPr>
              <a:t>2+</a:t>
            </a:r>
            <a:endParaRPr lang="en-US" altLang="zh-CN" sz="2800" b="1" baseline="300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483"/>
                                        </p:tgtEl>
                                        <p:attrNameLst>
                                          <p:attrName>style.visibility</p:attrName>
                                        </p:attrNameLst>
                                      </p:cBhvr>
                                      <p:to>
                                        <p:strVal val="visible"/>
                                      </p:to>
                                    </p:set>
                                    <p:anim calcmode="lin" valueType="num">
                                      <p:cBhvr additive="base">
                                        <p:cTn id="7" dur="500" fill="hold"/>
                                        <p:tgtEl>
                                          <p:spTgt spid="1044483"/>
                                        </p:tgtEl>
                                        <p:attrNameLst>
                                          <p:attrName>ppt_x</p:attrName>
                                        </p:attrNameLst>
                                      </p:cBhvr>
                                      <p:tavLst>
                                        <p:tav tm="0">
                                          <p:val>
                                            <p:strVal val="#ppt_x"/>
                                          </p:val>
                                        </p:tav>
                                        <p:tav tm="100000">
                                          <p:val>
                                            <p:strVal val="#ppt_x"/>
                                          </p:val>
                                        </p:tav>
                                      </p:tavLst>
                                    </p:anim>
                                    <p:anim calcmode="lin" valueType="num">
                                      <p:cBhvr additive="base">
                                        <p:cTn id="8" dur="500" fill="hold"/>
                                        <p:tgtEl>
                                          <p:spTgt spid="10444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44484"/>
                                        </p:tgtEl>
                                        <p:attrNameLst>
                                          <p:attrName>style.visibility</p:attrName>
                                        </p:attrNameLst>
                                      </p:cBhvr>
                                      <p:to>
                                        <p:strVal val="visible"/>
                                      </p:to>
                                    </p:set>
                                    <p:animEffect transition="in" filter="blinds(horizontal)">
                                      <p:cBhvr>
                                        <p:cTn id="13" dur="500"/>
                                        <p:tgtEl>
                                          <p:spTgt spid="104448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44485"/>
                                        </p:tgtEl>
                                        <p:attrNameLst>
                                          <p:attrName>style.visibility</p:attrName>
                                        </p:attrNameLst>
                                      </p:cBhvr>
                                      <p:to>
                                        <p:strVal val="visible"/>
                                      </p:to>
                                    </p:set>
                                    <p:anim calcmode="lin" valueType="num">
                                      <p:cBhvr additive="base">
                                        <p:cTn id="18" dur="500" fill="hold"/>
                                        <p:tgtEl>
                                          <p:spTgt spid="1044485"/>
                                        </p:tgtEl>
                                        <p:attrNameLst>
                                          <p:attrName>ppt_x</p:attrName>
                                        </p:attrNameLst>
                                      </p:cBhvr>
                                      <p:tavLst>
                                        <p:tav tm="0">
                                          <p:val>
                                            <p:strVal val="1+#ppt_w/2"/>
                                          </p:val>
                                        </p:tav>
                                        <p:tav tm="100000">
                                          <p:val>
                                            <p:strVal val="#ppt_x"/>
                                          </p:val>
                                        </p:tav>
                                      </p:tavLst>
                                    </p:anim>
                                    <p:anim calcmode="lin" valueType="num">
                                      <p:cBhvr additive="base">
                                        <p:cTn id="19" dur="500" fill="hold"/>
                                        <p:tgtEl>
                                          <p:spTgt spid="104448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44486"/>
                                        </p:tgtEl>
                                        <p:attrNameLst>
                                          <p:attrName>style.visibility</p:attrName>
                                        </p:attrNameLst>
                                      </p:cBhvr>
                                      <p:to>
                                        <p:strVal val="visible"/>
                                      </p:to>
                                    </p:set>
                                    <p:anim calcmode="lin" valueType="num">
                                      <p:cBhvr additive="base">
                                        <p:cTn id="24" dur="500" fill="hold"/>
                                        <p:tgtEl>
                                          <p:spTgt spid="1044486"/>
                                        </p:tgtEl>
                                        <p:attrNameLst>
                                          <p:attrName>ppt_x</p:attrName>
                                        </p:attrNameLst>
                                      </p:cBhvr>
                                      <p:tavLst>
                                        <p:tav tm="0">
                                          <p:val>
                                            <p:strVal val="#ppt_x"/>
                                          </p:val>
                                        </p:tav>
                                        <p:tav tm="100000">
                                          <p:val>
                                            <p:strVal val="#ppt_x"/>
                                          </p:val>
                                        </p:tav>
                                      </p:tavLst>
                                    </p:anim>
                                    <p:anim calcmode="lin" valueType="num">
                                      <p:cBhvr additive="base">
                                        <p:cTn id="25" dur="500" fill="hold"/>
                                        <p:tgtEl>
                                          <p:spTgt spid="104448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044487"/>
                                        </p:tgtEl>
                                        <p:attrNameLst>
                                          <p:attrName>style.visibility</p:attrName>
                                        </p:attrNameLst>
                                      </p:cBhvr>
                                      <p:to>
                                        <p:strVal val="visible"/>
                                      </p:to>
                                    </p:set>
                                    <p:animEffect transition="in" filter="box(in)">
                                      <p:cBhvr>
                                        <p:cTn id="30" dur="500"/>
                                        <p:tgtEl>
                                          <p:spTgt spid="1044487"/>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044488"/>
                                        </p:tgtEl>
                                        <p:attrNameLst>
                                          <p:attrName>style.visibility</p:attrName>
                                        </p:attrNameLst>
                                      </p:cBhvr>
                                      <p:to>
                                        <p:strVal val="visible"/>
                                      </p:to>
                                    </p:set>
                                    <p:anim calcmode="lin" valueType="num">
                                      <p:cBhvr additive="base">
                                        <p:cTn id="35" dur="500" fill="hold"/>
                                        <p:tgtEl>
                                          <p:spTgt spid="1044488"/>
                                        </p:tgtEl>
                                        <p:attrNameLst>
                                          <p:attrName>ppt_x</p:attrName>
                                        </p:attrNameLst>
                                      </p:cBhvr>
                                      <p:tavLst>
                                        <p:tav tm="0">
                                          <p:val>
                                            <p:strVal val="1+#ppt_w/2"/>
                                          </p:val>
                                        </p:tav>
                                        <p:tav tm="100000">
                                          <p:val>
                                            <p:strVal val="#ppt_x"/>
                                          </p:val>
                                        </p:tav>
                                      </p:tavLst>
                                    </p:anim>
                                    <p:anim calcmode="lin" valueType="num">
                                      <p:cBhvr additive="base">
                                        <p:cTn id="36" dur="500" fill="hold"/>
                                        <p:tgtEl>
                                          <p:spTgt spid="10444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483" grpId="0"/>
      <p:bldP spid="1044484" grpId="0"/>
      <p:bldP spid="1044485" grpId="0"/>
      <p:bldP spid="1044486" grpId="0"/>
      <p:bldP spid="1044487" grpId="0"/>
      <p:bldP spid="10444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a:xfrm>
            <a:off x="457200" y="5203825"/>
            <a:ext cx="2133600" cy="396875"/>
          </a:xfrm>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en-US" sz="1400" dirty="0">
                <a:solidFill>
                  <a:srgbClr val="FFFFFF"/>
                </a:solidFill>
                <a:latin typeface="Times New Roman" panose="02020603050405020304" pitchFamily="18" charset="0"/>
              </a:rPr>
              <a:t>18</a:t>
            </a:fld>
            <a:endParaRPr lang="en-US" altLang="en-US" sz="1400" dirty="0">
              <a:solidFill>
                <a:srgbClr val="FFFFFF"/>
              </a:solidFill>
              <a:latin typeface="Times New Roman" panose="02020603050405020304" pitchFamily="18" charset="0"/>
            </a:endParaRPr>
          </a:p>
        </p:txBody>
      </p:sp>
      <p:sp>
        <p:nvSpPr>
          <p:cNvPr id="33794" name="文本框 1045505"/>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latin typeface="Times New Roman" panose="02020603050405020304" pitchFamily="18" charset="0"/>
              <a:ea typeface="Times New Roman" panose="02020603050405020304" pitchFamily="18" charset="0"/>
            </a:endParaRPr>
          </a:p>
        </p:txBody>
      </p:sp>
      <p:sp>
        <p:nvSpPr>
          <p:cNvPr id="1045507" name="矩形 1045506"/>
          <p:cNvSpPr/>
          <p:nvPr/>
        </p:nvSpPr>
        <p:spPr>
          <a:xfrm>
            <a:off x="468313" y="457200"/>
            <a:ext cx="8137525" cy="3324225"/>
          </a:xfrm>
          <a:prstGeom prst="rect">
            <a:avLst/>
          </a:prstGeom>
          <a:noFill/>
          <a:ln w="12700">
            <a:noFill/>
          </a:ln>
        </p:spPr>
        <p:txBody>
          <a:bodyPr anchor="t" anchorCtr="0">
            <a:spAutoFit/>
          </a:bodyPr>
          <a:lstStyle/>
          <a:p>
            <a:pPr>
              <a:lnSpc>
                <a:spcPct val="150000"/>
              </a:lnSpc>
            </a:pPr>
            <a:r>
              <a:rPr lang="zh-CN" altLang="zh-CN" sz="2800" b="1" dirty="0">
                <a:latin typeface="Times New Roman" panose="02020603050405020304" pitchFamily="18" charset="0"/>
                <a:ea typeface="黑体" panose="02010609060101010101" pitchFamily="49" charset="-122"/>
              </a:rPr>
              <a:t>例</a:t>
            </a:r>
            <a:r>
              <a:rPr lang="es-ES_tradnl" altLang="zh-CN" sz="2800" b="1" dirty="0">
                <a:latin typeface="Times New Roman" panose="02020603050405020304" pitchFamily="18" charset="0"/>
                <a:ea typeface="黑体" panose="02010609060101010101" pitchFamily="49" charset="-122"/>
              </a:rPr>
              <a:t>2</a:t>
            </a:r>
            <a:r>
              <a:rPr lang="zh-CN" altLang="es-ES_tradnl" sz="2800" b="1" dirty="0">
                <a:latin typeface="Times New Roman" panose="02020603050405020304" pitchFamily="18" charset="0"/>
                <a:ea typeface="黑体" panose="02010609060101010101" pitchFamily="49" charset="-122"/>
              </a:rPr>
              <a:t>，酸性溶液中有下列氧化还原反应发生</a:t>
            </a:r>
            <a:endParaRPr lang="zh-CN" altLang="en-US" sz="2800" b="1" dirty="0">
              <a:latin typeface="Times New Roman" panose="02020603050405020304" pitchFamily="18" charset="0"/>
              <a:ea typeface="黑体" panose="02010609060101010101" pitchFamily="49" charset="-122"/>
            </a:endParaRPr>
          </a:p>
          <a:p>
            <a:pPr>
              <a:lnSpc>
                <a:spcPct val="150000"/>
              </a:lnSpc>
            </a:pPr>
            <a:r>
              <a:rPr lang="en-US" altLang="zh-CN" sz="2800" b="1" dirty="0">
                <a:latin typeface="Times New Roman" panose="02020603050405020304" pitchFamily="18" charset="0"/>
                <a:ea typeface="黑体" panose="02010609060101010101" pitchFamily="49" charset="-122"/>
              </a:rPr>
              <a:t>     K</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Cr</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O</a:t>
            </a:r>
            <a:r>
              <a:rPr lang="en-US" altLang="zh-CN" sz="2800" b="1" baseline="-25000" dirty="0">
                <a:latin typeface="Times New Roman" panose="02020603050405020304" pitchFamily="18" charset="0"/>
                <a:ea typeface="黑体" panose="02010609060101010101" pitchFamily="49" charset="-122"/>
              </a:rPr>
              <a:t>7 </a:t>
            </a:r>
            <a:r>
              <a:rPr lang="en-US" altLang="zh-CN" sz="2800" b="1" dirty="0">
                <a:latin typeface="Times New Roman" panose="02020603050405020304" pitchFamily="18" charset="0"/>
                <a:ea typeface="黑体" panose="02010609060101010101" pitchFamily="49" charset="-122"/>
              </a:rPr>
              <a:t>+ 6FeSO</a:t>
            </a:r>
            <a:r>
              <a:rPr lang="en-US" altLang="zh-CN" sz="2800" b="1" baseline="-25000" dirty="0">
                <a:latin typeface="Times New Roman" panose="02020603050405020304" pitchFamily="18" charset="0"/>
                <a:ea typeface="黑体" panose="02010609060101010101" pitchFamily="49" charset="-122"/>
              </a:rPr>
              <a:t>4 </a:t>
            </a:r>
            <a:r>
              <a:rPr lang="en-US" altLang="zh-CN" sz="2800" b="1" dirty="0">
                <a:latin typeface="Times New Roman" panose="02020603050405020304" pitchFamily="18" charset="0"/>
                <a:ea typeface="黑体" panose="02010609060101010101" pitchFamily="49" charset="-122"/>
              </a:rPr>
              <a:t>+ 7H</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SO</a:t>
            </a:r>
            <a:r>
              <a:rPr lang="en-US" altLang="zh-CN" sz="2800" b="1" baseline="-25000" dirty="0">
                <a:latin typeface="Times New Roman" panose="02020603050405020304" pitchFamily="18" charset="0"/>
                <a:ea typeface="黑体" panose="02010609060101010101" pitchFamily="49" charset="-122"/>
              </a:rPr>
              <a:t>4</a:t>
            </a:r>
          </a:p>
          <a:p>
            <a:pPr>
              <a:lnSpc>
                <a:spcPct val="150000"/>
              </a:lnSpc>
            </a:pPr>
            <a:r>
              <a:rPr lang="en-US" altLang="zh-CN" sz="2800" b="1" dirty="0">
                <a:latin typeface="Times New Roman" panose="02020603050405020304" pitchFamily="18" charset="0"/>
                <a:ea typeface="黑体" panose="02010609060101010101" pitchFamily="49" charset="-122"/>
              </a:rPr>
              <a:t>              = Cr</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(SO</a:t>
            </a:r>
            <a:r>
              <a:rPr lang="en-US" altLang="zh-CN" sz="2800" b="1" baseline="-25000" dirty="0">
                <a:latin typeface="Times New Roman" panose="02020603050405020304" pitchFamily="18" charset="0"/>
                <a:ea typeface="黑体" panose="02010609060101010101" pitchFamily="49" charset="-122"/>
              </a:rPr>
              <a:t>4</a:t>
            </a:r>
            <a:r>
              <a:rPr lang="en-US" altLang="zh-CN" sz="2800" b="1" dirty="0">
                <a:latin typeface="Times New Roman" panose="02020603050405020304" pitchFamily="18" charset="0"/>
                <a:ea typeface="黑体" panose="02010609060101010101" pitchFamily="49" charset="-122"/>
              </a:rPr>
              <a:t>)</a:t>
            </a:r>
            <a:r>
              <a:rPr lang="en-US" altLang="zh-CN" sz="2800" b="1" baseline="-25000" dirty="0">
                <a:latin typeface="Times New Roman" panose="02020603050405020304" pitchFamily="18" charset="0"/>
                <a:ea typeface="黑体" panose="02010609060101010101" pitchFamily="49" charset="-122"/>
              </a:rPr>
              <a:t>3 </a:t>
            </a:r>
            <a:r>
              <a:rPr lang="en-US" altLang="zh-CN" sz="2800" b="1" dirty="0">
                <a:latin typeface="Times New Roman" panose="02020603050405020304" pitchFamily="18" charset="0"/>
                <a:ea typeface="黑体" panose="02010609060101010101" pitchFamily="49" charset="-122"/>
              </a:rPr>
              <a:t>+ 3Fe</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(SO</a:t>
            </a:r>
            <a:r>
              <a:rPr lang="en-US" altLang="zh-CN" sz="2800" b="1" baseline="-25000" dirty="0">
                <a:latin typeface="Times New Roman" panose="02020603050405020304" pitchFamily="18" charset="0"/>
                <a:ea typeface="黑体" panose="02010609060101010101" pitchFamily="49" charset="-122"/>
              </a:rPr>
              <a:t>4</a:t>
            </a:r>
            <a:r>
              <a:rPr lang="en-US" altLang="zh-CN" sz="2800" b="1" dirty="0">
                <a:latin typeface="Times New Roman" panose="02020603050405020304" pitchFamily="18" charset="0"/>
                <a:ea typeface="黑体" panose="02010609060101010101" pitchFamily="49" charset="-122"/>
              </a:rPr>
              <a:t>)</a:t>
            </a:r>
            <a:r>
              <a:rPr lang="en-US" altLang="zh-CN" sz="2800" b="1" baseline="-25000" dirty="0">
                <a:latin typeface="Times New Roman" panose="02020603050405020304" pitchFamily="18" charset="0"/>
                <a:ea typeface="黑体" panose="02010609060101010101" pitchFamily="49" charset="-122"/>
              </a:rPr>
              <a:t>3 </a:t>
            </a:r>
            <a:r>
              <a:rPr lang="en-US" altLang="zh-CN" sz="2800" b="1" dirty="0">
                <a:latin typeface="Times New Roman" panose="02020603050405020304" pitchFamily="18" charset="0"/>
                <a:ea typeface="黑体" panose="02010609060101010101" pitchFamily="49" charset="-122"/>
              </a:rPr>
              <a:t>+ K</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SO</a:t>
            </a:r>
            <a:r>
              <a:rPr lang="en-US" altLang="zh-CN" sz="2800" b="1" baseline="-25000" dirty="0">
                <a:latin typeface="Times New Roman" panose="02020603050405020304" pitchFamily="18" charset="0"/>
                <a:ea typeface="黑体" panose="02010609060101010101" pitchFamily="49" charset="-122"/>
              </a:rPr>
              <a:t>4 </a:t>
            </a:r>
            <a:r>
              <a:rPr lang="en-US" altLang="zh-CN" sz="2800" b="1" dirty="0">
                <a:latin typeface="Times New Roman" panose="02020603050405020304" pitchFamily="18" charset="0"/>
                <a:ea typeface="黑体" panose="02010609060101010101" pitchFamily="49" charset="-122"/>
              </a:rPr>
              <a:t>+ 7H</a:t>
            </a:r>
            <a:r>
              <a:rPr lang="en-US" altLang="zh-CN" sz="2800" b="1" baseline="-25000" dirty="0">
                <a:latin typeface="Times New Roman" panose="02020603050405020304" pitchFamily="18" charset="0"/>
                <a:ea typeface="黑体" panose="02010609060101010101" pitchFamily="49" charset="-122"/>
              </a:rPr>
              <a:t>2</a:t>
            </a:r>
            <a:r>
              <a:rPr lang="en-US" altLang="zh-CN" sz="2800" b="1" dirty="0">
                <a:latin typeface="Times New Roman" panose="02020603050405020304" pitchFamily="18" charset="0"/>
                <a:ea typeface="黑体" panose="02010609060101010101" pitchFamily="49" charset="-122"/>
              </a:rPr>
              <a:t>O</a:t>
            </a:r>
          </a:p>
          <a:p>
            <a:pPr>
              <a:lnSpc>
                <a:spcPct val="150000"/>
              </a:lnSpc>
            </a:pPr>
            <a:r>
              <a:rPr lang="zh-CN" altLang="en-US" sz="2800" b="1" dirty="0">
                <a:latin typeface="Times New Roman" panose="02020603050405020304" pitchFamily="18" charset="0"/>
                <a:ea typeface="黑体" panose="02010609060101010101" pitchFamily="49" charset="-122"/>
              </a:rPr>
              <a:t>     试用此反应组成一个原电池，并写出这个电池的表达式</a:t>
            </a:r>
            <a:endParaRPr lang="en-US" altLang="zh-CN" sz="2800" b="1" dirty="0">
              <a:latin typeface="Times New Roman" panose="02020603050405020304" pitchFamily="18" charset="0"/>
              <a:ea typeface="黑体" panose="02010609060101010101" pitchFamily="49" charset="-122"/>
            </a:endParaRPr>
          </a:p>
        </p:txBody>
      </p:sp>
      <p:sp>
        <p:nvSpPr>
          <p:cNvPr id="1045508" name="矩形 1045507"/>
          <p:cNvSpPr/>
          <p:nvPr/>
        </p:nvSpPr>
        <p:spPr>
          <a:xfrm>
            <a:off x="539750" y="3732213"/>
            <a:ext cx="8137525" cy="868362"/>
          </a:xfrm>
          <a:prstGeom prst="rect">
            <a:avLst/>
          </a:prstGeom>
          <a:noFill/>
          <a:ln w="12700">
            <a:noFill/>
          </a:ln>
        </p:spPr>
        <p:txBody>
          <a:bodyPr anchor="t" anchorCtr="0">
            <a:spAutoFit/>
          </a:bodyPr>
          <a:lstStyle/>
          <a:p>
            <a:pPr>
              <a:lnSpc>
                <a:spcPct val="180000"/>
              </a:lnSpc>
            </a:pPr>
            <a:r>
              <a:rPr lang="en-US" altLang="zh-CN" sz="2400" b="1" dirty="0">
                <a:latin typeface="Times New Roman" panose="02020603050405020304" pitchFamily="18" charset="0"/>
                <a:ea typeface="黑体" panose="02010609060101010101" pitchFamily="49" charset="-122"/>
              </a:rPr>
              <a:t> (-) Pt | Fe</a:t>
            </a:r>
            <a:r>
              <a:rPr lang="en-US" altLang="zh-CN" sz="2400" b="1" baseline="30000" dirty="0">
                <a:latin typeface="Times New Roman" panose="02020603050405020304" pitchFamily="18" charset="0"/>
                <a:ea typeface="黑体" panose="02010609060101010101" pitchFamily="49" charset="-122"/>
              </a:rPr>
              <a:t>2+</a:t>
            </a:r>
            <a:r>
              <a:rPr lang="en-US" altLang="zh-CN" sz="2400" b="1" dirty="0">
                <a:latin typeface="Times New Roman" panose="02020603050405020304" pitchFamily="18" charset="0"/>
                <a:ea typeface="黑体" panose="02010609060101010101" pitchFamily="49" charset="-122"/>
              </a:rPr>
              <a:t>, Fe</a:t>
            </a:r>
            <a:r>
              <a:rPr lang="en-US" altLang="zh-CN" sz="2400" b="1" baseline="30000" dirty="0">
                <a:latin typeface="Times New Roman" panose="02020603050405020304" pitchFamily="18" charset="0"/>
                <a:ea typeface="黑体" panose="02010609060101010101" pitchFamily="49" charset="-122"/>
              </a:rPr>
              <a:t>3+</a:t>
            </a:r>
            <a:r>
              <a:rPr lang="en-US" altLang="zh-CN" sz="2400" b="1" dirty="0">
                <a:latin typeface="Times New Roman" panose="02020603050405020304" pitchFamily="18" charset="0"/>
                <a:ea typeface="黑体" panose="02010609060101010101" pitchFamily="49" charset="-122"/>
              </a:rPr>
              <a:t> (1mol</a:t>
            </a:r>
            <a:r>
              <a:rPr lang="en-US" altLang="zh-CN" sz="2400" dirty="0">
                <a:latin typeface="宋体" panose="02010600030101010101" pitchFamily="2" charset="-122"/>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L</a:t>
            </a:r>
            <a:r>
              <a:rPr lang="en-US" altLang="zh-CN" sz="2400" b="1" baseline="30000" dirty="0">
                <a:latin typeface="Times New Roman" panose="02020603050405020304" pitchFamily="18" charset="0"/>
                <a:ea typeface="黑体" panose="02010609060101010101" pitchFamily="49" charset="-122"/>
              </a:rPr>
              <a:t>-1</a:t>
            </a:r>
            <a:r>
              <a:rPr lang="en-US" altLang="zh-CN" sz="2400" b="1" dirty="0">
                <a:latin typeface="Times New Roman" panose="02020603050405020304" pitchFamily="18" charset="0"/>
                <a:ea typeface="黑体" panose="02010609060101010101" pitchFamily="49" charset="-122"/>
              </a:rPr>
              <a:t>) || Cr</a:t>
            </a:r>
            <a:r>
              <a:rPr lang="en-US" altLang="zh-CN" sz="2400" b="1" baseline="-25000" dirty="0">
                <a:latin typeface="Times New Roman" panose="02020603050405020304" pitchFamily="18" charset="0"/>
                <a:ea typeface="黑体" panose="02010609060101010101" pitchFamily="49" charset="-122"/>
              </a:rPr>
              <a:t>2</a:t>
            </a:r>
            <a:r>
              <a:rPr lang="en-US" altLang="zh-CN" sz="2400" b="1" dirty="0">
                <a:latin typeface="Times New Roman" panose="02020603050405020304" pitchFamily="18" charset="0"/>
                <a:ea typeface="黑体" panose="02010609060101010101" pitchFamily="49" charset="-122"/>
              </a:rPr>
              <a:t>O</a:t>
            </a:r>
            <a:r>
              <a:rPr lang="en-US" altLang="zh-CN" sz="2400" b="1" baseline="-25000" dirty="0">
                <a:latin typeface="Times New Roman" panose="02020603050405020304" pitchFamily="18" charset="0"/>
                <a:ea typeface="黑体" panose="02010609060101010101" pitchFamily="49" charset="-122"/>
              </a:rPr>
              <a:t>7</a:t>
            </a:r>
            <a:r>
              <a:rPr lang="en-US" altLang="zh-CN" sz="2400" b="1" baseline="30000" dirty="0">
                <a:latin typeface="Times New Roman" panose="02020603050405020304" pitchFamily="18" charset="0"/>
                <a:ea typeface="黑体" panose="02010609060101010101" pitchFamily="49" charset="-122"/>
              </a:rPr>
              <a:t>2-</a:t>
            </a:r>
            <a:r>
              <a:rPr lang="en-US" altLang="zh-CN" sz="2400" b="1" dirty="0">
                <a:latin typeface="Times New Roman" panose="02020603050405020304" pitchFamily="18" charset="0"/>
                <a:ea typeface="黑体" panose="02010609060101010101" pitchFamily="49" charset="-122"/>
              </a:rPr>
              <a:t>,Cr</a:t>
            </a:r>
            <a:r>
              <a:rPr lang="en-US" altLang="zh-CN" sz="2400" b="1" baseline="30000" dirty="0">
                <a:latin typeface="Times New Roman" panose="02020603050405020304" pitchFamily="18" charset="0"/>
                <a:ea typeface="黑体" panose="02010609060101010101" pitchFamily="49" charset="-122"/>
              </a:rPr>
              <a:t>3+</a:t>
            </a:r>
            <a:r>
              <a:rPr lang="en-US" altLang="zh-CN" sz="2400" b="1" dirty="0">
                <a:latin typeface="Times New Roman" panose="02020603050405020304" pitchFamily="18" charset="0"/>
                <a:ea typeface="黑体" panose="02010609060101010101" pitchFamily="49" charset="-122"/>
              </a:rPr>
              <a:t> (1mol</a:t>
            </a:r>
            <a:r>
              <a:rPr lang="en-US" altLang="zh-CN" sz="2400" dirty="0">
                <a:latin typeface="宋体" panose="02010600030101010101" pitchFamily="2" charset="-122"/>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L</a:t>
            </a:r>
            <a:r>
              <a:rPr lang="en-US" altLang="zh-CN" sz="2400" b="1" baseline="30000" dirty="0">
                <a:latin typeface="Times New Roman" panose="02020603050405020304" pitchFamily="18" charset="0"/>
                <a:ea typeface="黑体" panose="02010609060101010101" pitchFamily="49" charset="-122"/>
              </a:rPr>
              <a:t>-1</a:t>
            </a:r>
            <a:r>
              <a:rPr lang="en-US" altLang="zh-CN" sz="2400" b="1" dirty="0">
                <a:latin typeface="Times New Roman" panose="02020603050405020304" pitchFamily="18" charset="0"/>
                <a:ea typeface="黑体" panose="02010609060101010101" pitchFamily="49" charset="-122"/>
              </a:rPr>
              <a:t>) | Pt (+)</a:t>
            </a:r>
            <a:r>
              <a:rPr lang="zh-CN" altLang="en-US" sz="2800" b="1" dirty="0">
                <a:latin typeface="Times New Roman" panose="02020603050405020304" pitchFamily="18" charset="0"/>
                <a:ea typeface="黑体" panose="02010609060101010101" pitchFamily="49" charset="-122"/>
              </a:rPr>
              <a:t>        </a:t>
            </a:r>
            <a:endParaRPr lang="en-US" altLang="zh-CN" sz="2800" b="1" dirty="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5507"/>
                                        </p:tgtEl>
                                        <p:attrNameLst>
                                          <p:attrName>style.visibility</p:attrName>
                                        </p:attrNameLst>
                                      </p:cBhvr>
                                      <p:to>
                                        <p:strVal val="visible"/>
                                      </p:to>
                                    </p:set>
                                    <p:animEffect transition="in" filter="blinds(horizontal)">
                                      <p:cBhvr>
                                        <p:cTn id="7" dur="500"/>
                                        <p:tgtEl>
                                          <p:spTgt spid="104550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45508">
                                            <p:txEl>
                                              <p:pRg st="0" end="0"/>
                                            </p:txEl>
                                          </p:spTgt>
                                        </p:tgtEl>
                                        <p:attrNameLst>
                                          <p:attrName>style.visibility</p:attrName>
                                        </p:attrNameLst>
                                      </p:cBhvr>
                                      <p:to>
                                        <p:strVal val="visible"/>
                                      </p:to>
                                    </p:set>
                                    <p:anim calcmode="lin" valueType="num">
                                      <p:cBhvr additive="base">
                                        <p:cTn id="12" dur="500" fill="hold"/>
                                        <p:tgtEl>
                                          <p:spTgt spid="104550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4550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Rot="1"/>
          </p:cNvSpPr>
          <p:nvPr/>
        </p:nvSpPr>
        <p:spPr>
          <a:xfrm>
            <a:off x="603250" y="1177925"/>
            <a:ext cx="8540750" cy="857250"/>
          </a:xfrm>
          <a:prstGeom prst="rect">
            <a:avLst/>
          </a:prstGeom>
          <a:noFill/>
          <a:ln w="9525">
            <a:noFill/>
          </a:ln>
        </p:spPr>
        <p:txBody>
          <a:bodyPr anchor="t" anchorCtr="0"/>
          <a:lstStyle/>
          <a:p>
            <a:pPr eaLnBrk="0" hangingPunct="0">
              <a:lnSpc>
                <a:spcPct val="120000"/>
              </a:lnSpc>
            </a:pPr>
            <a:r>
              <a:rPr lang="zh-CN" altLang="en-US"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按照氧化态、还原态物质的状态不同，一般将电极分成如下三类</a:t>
            </a:r>
          </a:p>
        </p:txBody>
      </p:sp>
      <p:sp>
        <p:nvSpPr>
          <p:cNvPr id="40964" name="Rectangle 4"/>
          <p:cNvSpPr/>
          <p:nvPr/>
        </p:nvSpPr>
        <p:spPr>
          <a:xfrm>
            <a:off x="0" y="2017713"/>
            <a:ext cx="5357813" cy="492125"/>
          </a:xfrm>
          <a:prstGeom prst="rect">
            <a:avLst/>
          </a:prstGeom>
          <a:solidFill>
            <a:srgbClr val="008000"/>
          </a:solidFill>
          <a:ln w="9525">
            <a:noFill/>
          </a:ln>
        </p:spPr>
        <p:txBody>
          <a:bodyPr anchor="t" anchorCtr="0">
            <a:spAutoFit/>
          </a:bodyPr>
          <a:lstStyle/>
          <a:p>
            <a:pPr algn="ctr"/>
            <a:r>
              <a:rPr lang="zh-CN" altLang="en-US" sz="2600" b="1" dirty="0">
                <a:solidFill>
                  <a:schemeClr val="bg1"/>
                </a:solidFill>
                <a:latin typeface="Times New Roman" panose="02020603050405020304" pitchFamily="18" charset="0"/>
                <a:ea typeface="宋体" panose="02010600030101010101" pitchFamily="2" charset="-122"/>
              </a:rPr>
              <a:t>一、</a:t>
            </a:r>
            <a:r>
              <a:rPr lang="en-US" altLang="zh-CN" sz="2600" b="1" dirty="0">
                <a:solidFill>
                  <a:schemeClr val="bg1"/>
                </a:solidFill>
                <a:latin typeface="Times New Roman" panose="02020603050405020304" pitchFamily="18" charset="0"/>
                <a:ea typeface="宋体" panose="02010600030101010101" pitchFamily="2" charset="-122"/>
              </a:rPr>
              <a:t> </a:t>
            </a:r>
            <a:r>
              <a:rPr lang="zh-CN" altLang="en-US" sz="2600" b="1" dirty="0">
                <a:solidFill>
                  <a:schemeClr val="bg1"/>
                </a:solidFill>
                <a:latin typeface="Times New Roman" panose="02020603050405020304" pitchFamily="18" charset="0"/>
                <a:ea typeface="宋体" panose="02010600030101010101" pitchFamily="2" charset="-122"/>
              </a:rPr>
              <a:t>第一类电极</a:t>
            </a:r>
            <a:r>
              <a:rPr lang="zh-CN" altLang="en-US" sz="2000" b="1" dirty="0">
                <a:solidFill>
                  <a:schemeClr val="bg1"/>
                </a:solidFill>
                <a:latin typeface="Arial" panose="020B0604020202020204" pitchFamily="34" charset="0"/>
                <a:ea typeface="宋体" panose="02010600030101010101" pitchFamily="2" charset="-122"/>
              </a:rPr>
              <a:t>（金属电极、气体电极）</a:t>
            </a:r>
          </a:p>
        </p:txBody>
      </p:sp>
      <p:sp>
        <p:nvSpPr>
          <p:cNvPr id="40965" name="Rectangle 5"/>
          <p:cNvSpPr/>
          <p:nvPr/>
        </p:nvSpPr>
        <p:spPr>
          <a:xfrm>
            <a:off x="323850" y="2436813"/>
            <a:ext cx="8569325" cy="1384300"/>
          </a:xfrm>
          <a:prstGeom prst="rect">
            <a:avLst/>
          </a:prstGeom>
          <a:noFill/>
          <a:ln w="9525">
            <a:noFill/>
          </a:ln>
        </p:spPr>
        <p:txBody>
          <a:bodyPr anchor="t" anchorCtr="0">
            <a:spAutoFit/>
          </a:bodyPr>
          <a:lstStyle/>
          <a:p>
            <a:pPr>
              <a:lnSpc>
                <a:spcPct val="115000"/>
              </a:lnSpc>
              <a:spcBef>
                <a:spcPct val="5000"/>
              </a:spcBef>
              <a:buClr>
                <a:schemeClr val="folHlink"/>
              </a:buClr>
              <a:buFont typeface="Wingdings" panose="05000000000000000000" pitchFamily="2" charset="2"/>
              <a:buChar char="§"/>
            </a:pPr>
            <a:r>
              <a:rPr lang="zh-CN" altLang="en-US" sz="2400" b="1" dirty="0">
                <a:latin typeface="Arial" panose="020B0604020202020204" pitchFamily="34" charset="0"/>
                <a:ea typeface="宋体" panose="02010600030101010101" pitchFamily="2" charset="-122"/>
              </a:rPr>
              <a:t>构成：</a:t>
            </a:r>
          </a:p>
          <a:p>
            <a:pPr>
              <a:lnSpc>
                <a:spcPct val="115000"/>
              </a:lnSpc>
              <a:spcBef>
                <a:spcPct val="5000"/>
              </a:spcBef>
              <a:buClr>
                <a:schemeClr val="folHlink"/>
              </a:buClr>
              <a:buFont typeface="Wingdings" panose="05000000000000000000" pitchFamily="2" charset="2"/>
            </a:pPr>
            <a:r>
              <a:rPr lang="zh-CN" altLang="en-US" sz="2400" b="1" dirty="0">
                <a:latin typeface="Arial" panose="020B0604020202020204" pitchFamily="34" charset="0"/>
                <a:ea typeface="宋体" panose="02010600030101010101" pitchFamily="2" charset="-122"/>
              </a:rPr>
              <a:t>       将金属浸入含该金属离子的溶液中，或将气体吸附于某惰性金属后再浸入含气体所对应的离子的溶液中。</a:t>
            </a:r>
          </a:p>
        </p:txBody>
      </p:sp>
      <p:sp>
        <p:nvSpPr>
          <p:cNvPr id="40966" name="Rectangle 6"/>
          <p:cNvSpPr>
            <a:spLocks noRot="1"/>
          </p:cNvSpPr>
          <p:nvPr/>
        </p:nvSpPr>
        <p:spPr>
          <a:xfrm>
            <a:off x="539750" y="3697288"/>
            <a:ext cx="7632700" cy="1582737"/>
          </a:xfrm>
          <a:prstGeom prst="rect">
            <a:avLst/>
          </a:prstGeom>
          <a:noFill/>
          <a:ln w="9525">
            <a:noFill/>
          </a:ln>
        </p:spPr>
        <p:txBody>
          <a:bodyPr anchor="t" anchorCtr="0"/>
          <a:lstStyle/>
          <a:p>
            <a:pPr marL="533400" indent="-533400" algn="just" eaLnBrk="0" hangingPunct="0">
              <a:spcBef>
                <a:spcPct val="20000"/>
              </a:spcBef>
            </a:pP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1</a:t>
            </a:r>
            <a:r>
              <a:rPr lang="zh-CN" altLang="en-US" sz="2400" b="1" dirty="0">
                <a:solidFill>
                  <a:srgbClr val="6600CC"/>
                </a:solidFill>
                <a:latin typeface="Times New Roman" panose="02020603050405020304" pitchFamily="18" charset="0"/>
                <a:ea typeface="宋体" panose="02010600030101010101" pitchFamily="2" charset="-122"/>
              </a:rPr>
              <a:t>）金属电极和卤素电极</a:t>
            </a:r>
          </a:p>
          <a:p>
            <a:pPr marL="533400" indent="-533400" algn="just" eaLnBrk="0" hangingPunct="0">
              <a:spcBef>
                <a:spcPct val="20000"/>
              </a:spcBef>
            </a:pPr>
            <a:r>
              <a:rPr lang="zh-CN" altLang="en-US" sz="2400" b="1" dirty="0">
                <a:latin typeface="Times New Roman" panose="02020603050405020304" pitchFamily="18" charset="0"/>
                <a:ea typeface="宋体" panose="02010600030101010101" pitchFamily="2" charset="-122"/>
              </a:rPr>
              <a:t>写法： </a:t>
            </a:r>
            <a:r>
              <a:rPr lang="en-US" altLang="zh-CN" sz="2400" b="1" dirty="0">
                <a:latin typeface="Times New Roman" panose="02020603050405020304" pitchFamily="18" charset="0"/>
                <a:ea typeface="宋体" panose="02010600030101010101" pitchFamily="2" charset="-122"/>
              </a:rPr>
              <a:t>Zn</a:t>
            </a:r>
            <a:r>
              <a:rPr lang="en-US" altLang="zh-CN" sz="2400" b="1" baseline="30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|Zn ； Cl</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(g) |Pt; </a:t>
            </a:r>
          </a:p>
          <a:p>
            <a:pPr marL="533400" indent="-533400" algn="just" eaLnBrk="0" hangingPunct="0">
              <a:spcBef>
                <a:spcPct val="20000"/>
              </a:spcBef>
            </a:pPr>
            <a:r>
              <a:rPr lang="zh-CN" altLang="en-US" sz="2400" b="1" dirty="0">
                <a:latin typeface="Times New Roman" panose="02020603050405020304" pitchFamily="18" charset="0"/>
                <a:ea typeface="宋体" panose="02010600030101010101" pitchFamily="2" charset="-122"/>
              </a:rPr>
              <a:t>电极反应</a:t>
            </a:r>
          </a:p>
          <a:p>
            <a:pPr marL="533400" indent="-533400" algn="just" eaLnBrk="0" hangingPunct="0">
              <a:spcBef>
                <a:spcPct val="20000"/>
              </a:spcBef>
            </a:pPr>
            <a:r>
              <a:rPr lang="en-US" altLang="zh-CN" sz="2400" b="1" dirty="0">
                <a:latin typeface="Times New Roman" panose="02020603050405020304" pitchFamily="18" charset="0"/>
                <a:ea typeface="宋体" panose="02010600030101010101" pitchFamily="2" charset="-122"/>
              </a:rPr>
              <a:t>      M</a:t>
            </a:r>
            <a:r>
              <a:rPr lang="en-US" altLang="zh-CN" sz="2400" b="1" baseline="30000" dirty="0">
                <a:latin typeface="Times New Roman" panose="02020603050405020304" pitchFamily="18" charset="0"/>
                <a:ea typeface="宋体" panose="02010600030101010101" pitchFamily="2" charset="-122"/>
              </a:rPr>
              <a:t>Z+</a:t>
            </a:r>
            <a:r>
              <a:rPr lang="en-US" altLang="zh-CN" sz="2400" b="1" dirty="0">
                <a:latin typeface="Times New Roman" panose="02020603050405020304" pitchFamily="18" charset="0"/>
                <a:ea typeface="宋体" panose="02010600030101010101" pitchFamily="2" charset="-122"/>
              </a:rPr>
              <a:t>  + Ze</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   M         X</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+ 2e</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   2 X</a:t>
            </a:r>
            <a:r>
              <a:rPr lang="en-US" altLang="zh-CN" sz="2400" b="1" baseline="30000" dirty="0">
                <a:latin typeface="Times New Roman" panose="02020603050405020304" pitchFamily="18" charset="0"/>
                <a:ea typeface="宋体" panose="02010600030101010101" pitchFamily="2" charset="-122"/>
              </a:rPr>
              <a:t>-</a:t>
            </a:r>
            <a:endParaRPr lang="zh-CN" altLang="en-US" sz="2400" b="1" baseline="30000" dirty="0">
              <a:latin typeface="Times New Roman" panose="02020603050405020304" pitchFamily="18" charset="0"/>
              <a:ea typeface="宋体" panose="02010600030101010101" pitchFamily="2" charset="-122"/>
            </a:endParaRPr>
          </a:p>
        </p:txBody>
      </p:sp>
      <p:sp>
        <p:nvSpPr>
          <p:cNvPr id="40969" name="Rectangle 9"/>
          <p:cNvSpPr/>
          <p:nvPr/>
        </p:nvSpPr>
        <p:spPr>
          <a:xfrm>
            <a:off x="0" y="576263"/>
            <a:ext cx="2987675" cy="658812"/>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en-US" sz="3200" b="1" dirty="0">
                <a:solidFill>
                  <a:schemeClr val="tx2"/>
                </a:solidFill>
                <a:latin typeface="Arial" panose="020B0604020202020204" pitchFamily="34" charset="0"/>
                <a:ea typeface="宋体" panose="02010600030101010101" pitchFamily="2" charset="-122"/>
              </a:rPr>
              <a:t>4.  电极的类型</a:t>
            </a:r>
            <a:endParaRPr lang="zh-CN" altLang="en-US" sz="3200" b="1" dirty="0">
              <a:solidFill>
                <a:schemeClr val="tx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9"/>
                                        </p:tgtEl>
                                        <p:attrNameLst>
                                          <p:attrName>style.visibility</p:attrName>
                                        </p:attrNameLst>
                                      </p:cBhvr>
                                      <p:to>
                                        <p:strVal val="visible"/>
                                      </p:to>
                                    </p:set>
                                    <p:animEffect transition="in" filter="checkerboard(across)">
                                      <p:cBhvr>
                                        <p:cTn id="7" dur="1000"/>
                                        <p:tgtEl>
                                          <p:spTgt spid="40969"/>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40963"/>
                                        </p:tgtEl>
                                        <p:attrNameLst>
                                          <p:attrName>style.visibility</p:attrName>
                                        </p:attrNameLst>
                                      </p:cBhvr>
                                      <p:to>
                                        <p:strVal val="visible"/>
                                      </p:to>
                                    </p:set>
                                    <p:anim calcmode="discrete" valueType="clr">
                                      <p:cBhvr override="childStyle">
                                        <p:cTn id="12" dur="500"/>
                                        <p:tgtEl>
                                          <p:spTgt spid="40963"/>
                                        </p:tgtEl>
                                        <p:attrNameLst>
                                          <p:attrName>style.color</p:attrName>
                                        </p:attrNameLst>
                                      </p:cBhvr>
                                      <p:tavLst>
                                        <p:tav tm="0">
                                          <p:val>
                                            <p:clrVal>
                                              <a:schemeClr val="accent2"/>
                                            </p:clrVal>
                                          </p:val>
                                        </p:tav>
                                        <p:tav tm="50000">
                                          <p:val>
                                            <p:clrVal>
                                              <a:schemeClr val="hlink"/>
                                            </p:clrVal>
                                          </p:val>
                                        </p:tav>
                                      </p:tavLst>
                                    </p:anim>
                                    <p:anim calcmode="discrete" valueType="clr">
                                      <p:cBhvr>
                                        <p:cTn id="13" dur="500"/>
                                        <p:tgtEl>
                                          <p:spTgt spid="40963"/>
                                        </p:tgtEl>
                                        <p:attrNameLst>
                                          <p:attrName>fillcolor</p:attrName>
                                        </p:attrNameLst>
                                      </p:cBhvr>
                                      <p:tavLst>
                                        <p:tav tm="0">
                                          <p:val>
                                            <p:clrVal>
                                              <a:schemeClr val="accent2"/>
                                            </p:clrVal>
                                          </p:val>
                                        </p:tav>
                                        <p:tav tm="50000">
                                          <p:val>
                                            <p:clrVal>
                                              <a:schemeClr val="hlink"/>
                                            </p:clrVal>
                                          </p:val>
                                        </p:tav>
                                      </p:tavLst>
                                    </p:anim>
                                    <p:set>
                                      <p:cBhvr>
                                        <p:cTn id="14" dur="500"/>
                                        <p:tgtEl>
                                          <p:spTgt spid="40963"/>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40964"/>
                                        </p:tgtEl>
                                        <p:attrNameLst>
                                          <p:attrName>style.visibility</p:attrName>
                                        </p:attrNameLst>
                                      </p:cBhvr>
                                      <p:to>
                                        <p:strVal val="visible"/>
                                      </p:to>
                                    </p:set>
                                    <p:anim calcmode="lin" valueType="num">
                                      <p:cBhvr>
                                        <p:cTn id="19" dur="500" fill="hold"/>
                                        <p:tgtEl>
                                          <p:spTgt spid="4096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0964"/>
                                        </p:tgtEl>
                                        <p:attrNameLst>
                                          <p:attrName>ppt_y</p:attrName>
                                        </p:attrNameLst>
                                      </p:cBhvr>
                                      <p:tavLst>
                                        <p:tav tm="0">
                                          <p:val>
                                            <p:strVal val="#ppt_y"/>
                                          </p:val>
                                        </p:tav>
                                        <p:tav tm="100000">
                                          <p:val>
                                            <p:strVal val="#ppt_y"/>
                                          </p:val>
                                        </p:tav>
                                      </p:tavLst>
                                    </p:anim>
                                    <p:anim calcmode="lin" valueType="num">
                                      <p:cBhvr>
                                        <p:cTn id="21" dur="500" fill="hold"/>
                                        <p:tgtEl>
                                          <p:spTgt spid="4096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096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0964"/>
                                        </p:tgtEl>
                                      </p:cBhvr>
                                    </p:animEffect>
                                  </p:childTnLst>
                                </p:cTn>
                              </p:par>
                            </p:childTnLst>
                          </p:cTn>
                        </p:par>
                      </p:childTnLst>
                    </p:cTn>
                  </p:par>
                  <p:par>
                    <p:cTn id="24" fill="hold">
                      <p:stCondLst>
                        <p:cond delay="indefinite"/>
                      </p:stCondLst>
                      <p:childTnLst>
                        <p:par>
                          <p:cTn id="25" fill="hold">
                            <p:stCondLst>
                              <p:cond delay="0"/>
                            </p:stCondLst>
                            <p:childTnLst>
                              <p:par>
                                <p:cTn id="26" presetID="40" presetClass="entr" presetSubtype="0" fill="hold" grpId="0" nodeType="clickEffect">
                                  <p:stCondLst>
                                    <p:cond delay="0"/>
                                  </p:stCondLst>
                                  <p:iterate type="lt">
                                    <p:tmPct val="10000"/>
                                  </p:iterate>
                                  <p:childTnLst>
                                    <p:set>
                                      <p:cBhvr>
                                        <p:cTn id="27" dur="1" fill="hold">
                                          <p:stCondLst>
                                            <p:cond delay="0"/>
                                          </p:stCondLst>
                                        </p:cTn>
                                        <p:tgtEl>
                                          <p:spTgt spid="40965"/>
                                        </p:tgtEl>
                                        <p:attrNameLst>
                                          <p:attrName>style.visibility</p:attrName>
                                        </p:attrNameLst>
                                      </p:cBhvr>
                                      <p:to>
                                        <p:strVal val="visible"/>
                                      </p:to>
                                    </p:set>
                                    <p:animEffect transition="in" filter="fade">
                                      <p:cBhvr>
                                        <p:cTn id="28" dur="1000"/>
                                        <p:tgtEl>
                                          <p:spTgt spid="40965"/>
                                        </p:tgtEl>
                                      </p:cBhvr>
                                    </p:animEffect>
                                    <p:anim calcmode="lin" valueType="num">
                                      <p:cBhvr>
                                        <p:cTn id="29" dur="1000" fill="hold"/>
                                        <p:tgtEl>
                                          <p:spTgt spid="40965"/>
                                        </p:tgtEl>
                                        <p:attrNameLst>
                                          <p:attrName>ppt_x</p:attrName>
                                        </p:attrNameLst>
                                      </p:cBhvr>
                                      <p:tavLst>
                                        <p:tav tm="0">
                                          <p:val>
                                            <p:strVal val="#ppt_x-.1"/>
                                          </p:val>
                                        </p:tav>
                                        <p:tav tm="100000">
                                          <p:val>
                                            <p:strVal val="#ppt_x"/>
                                          </p:val>
                                        </p:tav>
                                      </p:tavLst>
                                    </p:anim>
                                    <p:anim calcmode="lin" valueType="num">
                                      <p:cBhvr>
                                        <p:cTn id="30" dur="1000" fill="hold"/>
                                        <p:tgtEl>
                                          <p:spTgt spid="4096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40966"/>
                                        </p:tgtEl>
                                        <p:attrNameLst>
                                          <p:attrName>style.visibility</p:attrName>
                                        </p:attrNameLst>
                                      </p:cBhvr>
                                      <p:to>
                                        <p:strVal val="visible"/>
                                      </p:to>
                                    </p:set>
                                    <p:anim calcmode="lin" valueType="num">
                                      <p:cBhvr>
                                        <p:cTn id="35" dur="500" fill="hold"/>
                                        <p:tgtEl>
                                          <p:spTgt spid="40966"/>
                                        </p:tgtEl>
                                        <p:attrNameLst>
                                          <p:attrName>ppt_w</p:attrName>
                                        </p:attrNameLst>
                                      </p:cBhvr>
                                      <p:tavLst>
                                        <p:tav tm="0">
                                          <p:val>
                                            <p:fltVal val="0"/>
                                          </p:val>
                                        </p:tav>
                                        <p:tav tm="100000">
                                          <p:val>
                                            <p:strVal val="#ppt_w"/>
                                          </p:val>
                                        </p:tav>
                                      </p:tavLst>
                                    </p:anim>
                                    <p:anim calcmode="lin" valueType="num">
                                      <p:cBhvr>
                                        <p:cTn id="36" dur="500" fill="hold"/>
                                        <p:tgtEl>
                                          <p:spTgt spid="409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animBg="1"/>
      <p:bldP spid="40965" grpId="0"/>
      <p:bldP spid="40966" grpId="0"/>
      <p:bldP spid="4096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p:nvPr/>
        </p:nvSpPr>
        <p:spPr>
          <a:xfrm>
            <a:off x="458788" y="4081463"/>
            <a:ext cx="8245475" cy="830262"/>
          </a:xfrm>
          <a:prstGeom prst="rect">
            <a:avLst/>
          </a:prstGeom>
          <a:noFill/>
          <a:ln w="25400" cap="flat" cmpd="sng">
            <a:solidFill>
              <a:srgbClr val="6600CC"/>
            </a:solidFill>
            <a:prstDash val="solid"/>
            <a:miter/>
            <a:headEnd type="none" w="med" len="med"/>
            <a:tailEnd type="none" w="med" len="med"/>
          </a:ln>
        </p:spPr>
        <p:txBody>
          <a:bodyPr anchor="t" anchorCtr="0">
            <a:spAutoFit/>
          </a:bodyPr>
          <a:lstStyle/>
          <a:p>
            <a:pPr eaLnBrk="0" hangingPunct="0"/>
            <a:r>
              <a:rPr lang="zh-CN" altLang="en-US" sz="2400" b="1" dirty="0">
                <a:latin typeface="宋体" panose="02010600030101010101" pitchFamily="2" charset="-122"/>
                <a:ea typeface="宋体" panose="02010600030101010101" pitchFamily="2" charset="-122"/>
              </a:rPr>
              <a:t>碱性</a:t>
            </a:r>
            <a:r>
              <a:rPr lang="en-US" altLang="zh-CN" sz="2400" b="1"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OH</a:t>
            </a:r>
            <a:r>
              <a:rPr lang="en-US" altLang="zh-CN" sz="2400" b="1"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 |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(g) | Pt</a:t>
            </a:r>
          </a:p>
          <a:p>
            <a:pPr eaLnBrk="0" hangingPunct="0"/>
            <a:r>
              <a:rPr lang="zh-CN" altLang="en-US" sz="2400" b="1" dirty="0">
                <a:latin typeface="Times New Roman" panose="02020603050405020304" pitchFamily="18" charset="0"/>
                <a:ea typeface="宋体" panose="02010600030101010101" pitchFamily="2" charset="-122"/>
              </a:rPr>
              <a:t>电极反应：          </a:t>
            </a:r>
            <a:r>
              <a:rPr lang="en-US" altLang="zh-CN" sz="2400" b="1" dirty="0">
                <a:latin typeface="Times New Roman" panose="02020603050405020304" pitchFamily="18" charset="0"/>
                <a:ea typeface="宋体" panose="02010600030101010101" pitchFamily="2" charset="-122"/>
              </a:rPr>
              <a:t>2H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 + 2 e</a:t>
            </a:r>
            <a:r>
              <a:rPr lang="en-US" altLang="zh-CN" sz="2400" b="1"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300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H</a:t>
            </a:r>
            <a:r>
              <a:rPr lang="en-US" altLang="zh-CN" sz="2400" b="1" baseline="-25000" dirty="0">
                <a:latin typeface="Times New Roman" panose="02020603050405020304" pitchFamily="18" charset="0"/>
                <a:ea typeface="宋体" panose="02010600030101010101" pitchFamily="2" charset="-122"/>
                <a:sym typeface="Symbol" panose="05050102010706020507" pitchFamily="18" charset="2"/>
              </a:rPr>
              <a:t>2</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(g) + 2OH</a:t>
            </a:r>
            <a:r>
              <a:rPr lang="en-US" altLang="zh-CN" sz="2400" b="1"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2400" b="1" dirty="0">
              <a:latin typeface="Times New Roman" panose="02020603050405020304" pitchFamily="18" charset="0"/>
              <a:ea typeface="宋体" panose="02010600030101010101" pitchFamily="2" charset="-122"/>
            </a:endParaRPr>
          </a:p>
        </p:txBody>
      </p:sp>
      <p:sp>
        <p:nvSpPr>
          <p:cNvPr id="41993" name="Rectangle 9"/>
          <p:cNvSpPr/>
          <p:nvPr/>
        </p:nvSpPr>
        <p:spPr>
          <a:xfrm>
            <a:off x="457200" y="2408238"/>
            <a:ext cx="5435600" cy="1385887"/>
          </a:xfrm>
          <a:prstGeom prst="rect">
            <a:avLst/>
          </a:prstGeom>
          <a:noFill/>
          <a:ln w="25400" cap="flat" cmpd="sng">
            <a:solidFill>
              <a:schemeClr val="accent2"/>
            </a:solidFill>
            <a:prstDash val="solid"/>
            <a:miter/>
            <a:headEnd type="none" w="med" len="med"/>
            <a:tailEnd type="none" w="med" len="med"/>
          </a:ln>
        </p:spPr>
        <p:txBody>
          <a:bodyPr anchor="t" anchorCtr="0"/>
          <a:lstStyle/>
          <a:p>
            <a:pPr marL="342900" indent="-342900" eaLnBrk="0" hangingPunct="0">
              <a:lnSpc>
                <a:spcPct val="110000"/>
              </a:lnSpc>
              <a:spcBef>
                <a:spcPct val="10000"/>
              </a:spcBef>
            </a:pPr>
            <a:r>
              <a:rPr lang="zh-CN" altLang="en-US" sz="2400" b="1" dirty="0">
                <a:solidFill>
                  <a:srgbClr val="0000FF"/>
                </a:solidFill>
                <a:latin typeface="宋体" panose="02010600030101010101" pitchFamily="2" charset="-122"/>
                <a:ea typeface="宋体" panose="02010600030101010101" pitchFamily="2" charset="-122"/>
              </a:rPr>
              <a:t>酸性</a:t>
            </a:r>
            <a:r>
              <a:rPr lang="en-US" altLang="zh-CN" sz="2400" b="1" dirty="0">
                <a:solidFill>
                  <a:srgbClr val="0000FF"/>
                </a:solidFill>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H</a:t>
            </a:r>
            <a:r>
              <a:rPr lang="en-US" altLang="zh-CN" sz="2400" b="1" baseline="300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(g) | Pt</a:t>
            </a:r>
          </a:p>
          <a:p>
            <a:pPr marL="342900" indent="-342900" eaLnBrk="0" hangingPunct="0">
              <a:lnSpc>
                <a:spcPct val="110000"/>
              </a:lnSpc>
              <a:spcBef>
                <a:spcPct val="10000"/>
              </a:spcBef>
            </a:pPr>
            <a:r>
              <a:rPr lang="zh-CN" altLang="en-US" sz="2400" b="1" dirty="0">
                <a:latin typeface="Times New Roman" panose="02020603050405020304" pitchFamily="18" charset="0"/>
                <a:ea typeface="宋体" panose="02010600030101010101" pitchFamily="2" charset="-122"/>
              </a:rPr>
              <a:t>电极反应：  </a:t>
            </a:r>
            <a:r>
              <a:rPr lang="en-US" altLang="zh-CN" sz="2400" b="1" dirty="0">
                <a:latin typeface="Times New Roman" panose="02020603050405020304" pitchFamily="18" charset="0"/>
                <a:ea typeface="宋体" panose="02010600030101010101" pitchFamily="2" charset="-122"/>
              </a:rPr>
              <a:t>2H</a:t>
            </a:r>
            <a:r>
              <a:rPr lang="en-US" altLang="zh-CN" sz="2400" b="1" baseline="300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+ 2e</a:t>
            </a:r>
            <a:r>
              <a:rPr lang="en-US" altLang="zh-CN" sz="2400" b="1"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300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H</a:t>
            </a:r>
            <a:r>
              <a:rPr lang="en-US" altLang="zh-CN" sz="2400" b="1" baseline="-25000" dirty="0">
                <a:latin typeface="Times New Roman" panose="02020603050405020304" pitchFamily="18" charset="0"/>
                <a:ea typeface="宋体" panose="02010600030101010101" pitchFamily="2" charset="-122"/>
                <a:sym typeface="Symbol" panose="05050102010706020507" pitchFamily="18" charset="2"/>
              </a:rPr>
              <a:t>2</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(g)</a:t>
            </a:r>
          </a:p>
          <a:p>
            <a:pPr marL="342900" indent="-342900" eaLnBrk="0" hangingPunct="0">
              <a:lnSpc>
                <a:spcPct val="110000"/>
              </a:lnSpc>
              <a:spcBef>
                <a:spcPct val="10000"/>
              </a:spcBef>
            </a:pPr>
            <a:r>
              <a:rPr lang="zh-CN" altLang="en-US" sz="2400" b="1" dirty="0">
                <a:latin typeface="宋体" panose="02010600030101010101" pitchFamily="2" charset="-122"/>
                <a:ea typeface="宋体" panose="02010600030101010101" pitchFamily="2" charset="-122"/>
              </a:rPr>
              <a:t>优点：电动势随温度改变很小。</a:t>
            </a:r>
          </a:p>
        </p:txBody>
      </p:sp>
      <p:sp>
        <p:nvSpPr>
          <p:cNvPr id="41998" name="Rectangle 14"/>
          <p:cNvSpPr>
            <a:spLocks noChangeArrowheads="1"/>
          </p:cNvSpPr>
          <p:nvPr/>
        </p:nvSpPr>
        <p:spPr bwMode="auto">
          <a:xfrm>
            <a:off x="441325" y="336550"/>
            <a:ext cx="53340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0" fontAlgn="base" latinLnBrk="0" hangingPunct="0">
              <a:lnSpc>
                <a:spcPct val="125000"/>
              </a:lnSpc>
              <a:spcBef>
                <a:spcPct val="20000"/>
              </a:spcBef>
              <a:spcAft>
                <a:spcPct val="0"/>
              </a:spcAft>
              <a:buClrTx/>
              <a:buSzTx/>
              <a:buFontTx/>
              <a:buAutoNum type="arabicParenBoth" startAt="2"/>
              <a:defRPr/>
            </a:pPr>
            <a:r>
              <a:rPr kumimoji="0" lang="zh-CN" altLang="en-US" sz="2400" b="1" i="0" u="sng" strike="noStrike" kern="1200" cap="none" spc="0" normalizeH="0" baseline="0" noProof="0" dirty="0">
                <a:ln>
                  <a:noFill/>
                </a:ln>
                <a:solidFill>
                  <a:srgbClr val="6600CC"/>
                </a:solidFill>
                <a:effectLst/>
                <a:uLnTx/>
                <a:uFillTx/>
                <a:latin typeface="楷体_GB2312" panose="02010609030101010101" pitchFamily="49" charset="-122"/>
                <a:ea typeface="楷体_GB2312" panose="02010609030101010101" pitchFamily="49" charset="-122"/>
                <a:cs typeface="+mn-cs"/>
              </a:rPr>
              <a:t>氢电极</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a:t>
            </a:r>
            <a:endPar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a:p>
            <a:pPr marL="0" marR="0" lvl="0" indent="0" algn="l" defTabSz="914400" rtl="0" eaLnBrk="0" fontAlgn="base" latinLnBrk="0" hangingPunct="0">
              <a:lnSpc>
                <a:spcPct val="125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   结构</a:t>
            </a:r>
            <a:r>
              <a:rPr kumimoji="0" lang="zh-CN" altLang="en-US" sz="24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将镀有铂黑的铂片浸入含有</a:t>
            </a:r>
            <a:r>
              <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H</a:t>
            </a:r>
            <a:r>
              <a:rPr kumimoji="0" lang="en-US" altLang="zh-CN" sz="2400" b="1" i="0" u="none" strike="noStrike" kern="1200" cap="none" spc="0" normalizeH="0" baseline="3000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或</a:t>
            </a:r>
            <a:r>
              <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OH</a:t>
            </a:r>
            <a:r>
              <a:rPr kumimoji="0" lang="en-US" altLang="zh-CN" sz="2400" b="1" i="0" u="none" strike="noStrike" kern="1200" cap="none" spc="0" normalizeH="0" baseline="30000" noProof="0" dirty="0">
                <a:ln>
                  <a:noFill/>
                </a:ln>
                <a:solidFill>
                  <a:schemeClr val="tx1"/>
                </a:solidFill>
                <a:effectLst/>
                <a:uLnTx/>
                <a:uFillTx/>
                <a:latin typeface="Times New Roman" panose="02020603050405020304" pitchFamily="18" charset="0"/>
                <a:ea typeface="楷体_GB2312" panose="02010609030101010101" pitchFamily="49" charset="-122"/>
                <a:cs typeface="+mn-cs"/>
                <a:sym typeface="Symbol" panose="05050102010706020507" pitchFamily="18" charset="2"/>
              </a:rPr>
              <a:t>–</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的溶液中，并不断通</a:t>
            </a:r>
            <a:r>
              <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H</a:t>
            </a:r>
            <a:r>
              <a:rPr kumimoji="0" lang="en-US" altLang="zh-CN" sz="2400" b="1" i="0" u="none" strike="noStrike" kern="1200" cap="none" spc="0" normalizeH="0" baseline="-2500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2</a:t>
            </a:r>
            <a:r>
              <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(g)</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就</a:t>
            </a:r>
            <a:r>
              <a:rPr kumimoji="0" lang="zh-CN"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构成了酸性或碱性氢电极</a:t>
            </a:r>
            <a:r>
              <a:rPr kumimoji="0" lang="zh-CN" altLang="en-US"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a:t>
            </a:r>
            <a:endParaRPr kumimoji="0" lang="en-US" altLang="zh-CN" sz="2400" b="1"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pic>
        <p:nvPicPr>
          <p:cNvPr id="36868" name="Picture 17" descr="next">
            <a:hlinkClick r:id="" action="ppaction://hlinkshowjump?jump=nextslide"/>
          </p:cNvPr>
          <p:cNvPicPr>
            <a:picLocks noChangeAspect="1"/>
          </p:cNvPicPr>
          <p:nvPr/>
        </p:nvPicPr>
        <p:blipFill>
          <a:blip r:embed="rId2"/>
          <a:stretch>
            <a:fillRect/>
          </a:stretch>
        </p:blipFill>
        <p:spPr>
          <a:xfrm>
            <a:off x="8316913" y="5267325"/>
            <a:ext cx="515937" cy="447675"/>
          </a:xfrm>
          <a:prstGeom prst="rect">
            <a:avLst/>
          </a:prstGeom>
          <a:noFill/>
          <a:ln w="9525">
            <a:noFill/>
          </a:ln>
        </p:spPr>
      </p:pic>
      <p:pic>
        <p:nvPicPr>
          <p:cNvPr id="36869" name="图片 8" descr="截图01"/>
          <p:cNvPicPr>
            <a:picLocks noChangeAspect="1"/>
          </p:cNvPicPr>
          <p:nvPr/>
        </p:nvPicPr>
        <p:blipFill>
          <a:blip r:embed="rId3"/>
          <a:stretch>
            <a:fillRect/>
          </a:stretch>
        </p:blipFill>
        <p:spPr>
          <a:xfrm>
            <a:off x="6156325" y="623888"/>
            <a:ext cx="2430463" cy="2368550"/>
          </a:xfrm>
          <a:prstGeom prst="rect">
            <a:avLst/>
          </a:prstGeom>
          <a:noFill/>
          <a:ln w="9525">
            <a:noFill/>
          </a:ln>
        </p:spPr>
      </p:pic>
      <p:sp>
        <p:nvSpPr>
          <p:cNvPr id="36870" name="矩形 1"/>
          <p:cNvSpPr/>
          <p:nvPr/>
        </p:nvSpPr>
        <p:spPr>
          <a:xfrm>
            <a:off x="6472238" y="2992438"/>
            <a:ext cx="1800225" cy="369887"/>
          </a:xfrm>
          <a:prstGeom prst="rect">
            <a:avLst/>
          </a:prstGeom>
          <a:noFill/>
          <a:ln w="9525">
            <a:noFill/>
          </a:ln>
        </p:spPr>
        <p:txBody>
          <a:bodyPr wrap="none" anchor="t" anchorCtr="0">
            <a:spAutoFit/>
          </a:bodyPr>
          <a:lstStyle/>
          <a:p>
            <a:pPr algn="ctr">
              <a:spcAft>
                <a:spcPts val="1000"/>
              </a:spcAft>
            </a:pPr>
            <a:r>
              <a:rPr lang="zh-CN" altLang="zh-CN" dirty="0">
                <a:latin typeface="Tahoma" panose="020B0604030504040204" pitchFamily="34" charset="0"/>
                <a:ea typeface="宋体" panose="02010600030101010101" pitchFamily="2" charset="-122"/>
              </a:rPr>
              <a:t>氢电极结构简图</a:t>
            </a:r>
            <a:endParaRPr lang="zh-CN" altLang="zh-CN" sz="1400" dirty="0">
              <a:latin typeface="Tahoma" panose="020B0604030504040204" pitchFamily="34"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98"/>
                                        </p:tgtEl>
                                        <p:attrNameLst>
                                          <p:attrName>style.visibility</p:attrName>
                                        </p:attrNameLst>
                                      </p:cBhvr>
                                      <p:to>
                                        <p:strVal val="visible"/>
                                      </p:to>
                                    </p:set>
                                    <p:animEffect transition="in" filter="wipe(left)">
                                      <p:cBhvr>
                                        <p:cTn id="7" dur="500"/>
                                        <p:tgtEl>
                                          <p:spTgt spid="419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993"/>
                                        </p:tgtEl>
                                        <p:attrNameLst>
                                          <p:attrName>style.visibility</p:attrName>
                                        </p:attrNameLst>
                                      </p:cBhvr>
                                      <p:to>
                                        <p:strVal val="visible"/>
                                      </p:to>
                                    </p:set>
                                    <p:animEffect transition="in" filter="dissolve">
                                      <p:cBhvr>
                                        <p:cTn id="12" dur="500"/>
                                        <p:tgtEl>
                                          <p:spTgt spid="4199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987"/>
                                        </p:tgtEl>
                                        <p:attrNameLst>
                                          <p:attrName>style.visibility</p:attrName>
                                        </p:attrNameLst>
                                      </p:cBhvr>
                                      <p:to>
                                        <p:strVal val="visible"/>
                                      </p:to>
                                    </p:set>
                                    <p:animEffect transition="in" filter="dissolve">
                                      <p:cBhvr>
                                        <p:cTn id="17" dur="500"/>
                                        <p:tgtEl>
                                          <p:spTgt spid="41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nimBg="1"/>
      <p:bldP spid="41993" grpId="0" animBg="1"/>
      <p:bldP spid="4199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2" descr="pre">
            <a:hlinkClick r:id="" action="ppaction://hlinkshowjump?jump=previousslide"/>
          </p:cNvPr>
          <p:cNvPicPr>
            <a:picLocks noChangeAspect="1"/>
          </p:cNvPicPr>
          <p:nvPr/>
        </p:nvPicPr>
        <p:blipFill>
          <a:blip r:embed="rId2"/>
          <a:stretch>
            <a:fillRect/>
          </a:stretch>
        </p:blipFill>
        <p:spPr>
          <a:xfrm>
            <a:off x="7615238" y="5286375"/>
            <a:ext cx="495300" cy="428625"/>
          </a:xfrm>
          <a:prstGeom prst="rect">
            <a:avLst/>
          </a:prstGeom>
          <a:noFill/>
          <a:ln w="9525">
            <a:noFill/>
          </a:ln>
        </p:spPr>
      </p:pic>
      <p:sp>
        <p:nvSpPr>
          <p:cNvPr id="73731" name="Rectangle 3"/>
          <p:cNvSpPr/>
          <p:nvPr/>
        </p:nvSpPr>
        <p:spPr>
          <a:xfrm>
            <a:off x="611188" y="696913"/>
            <a:ext cx="7775575" cy="901700"/>
          </a:xfrm>
          <a:prstGeom prst="rect">
            <a:avLst/>
          </a:prstGeom>
          <a:noFill/>
          <a:ln w="9525">
            <a:noFill/>
          </a:ln>
        </p:spPr>
        <p:txBody>
          <a:bodyPr anchor="t" anchorCtr="0"/>
          <a:lstStyle/>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(3)</a:t>
            </a:r>
            <a:r>
              <a:rPr lang="zh-CN" altLang="en-US" sz="2800" b="1" u="sng" dirty="0">
                <a:latin typeface="宋体" panose="02010600030101010101" pitchFamily="2" charset="-122"/>
                <a:ea typeface="宋体" panose="02010600030101010101" pitchFamily="2" charset="-122"/>
              </a:rPr>
              <a:t>氧电极</a:t>
            </a:r>
          </a:p>
          <a:p>
            <a:pPr marL="342900" indent="-342900">
              <a:lnSpc>
                <a:spcPct val="80000"/>
              </a:lnSpc>
              <a:spcBef>
                <a:spcPct val="20000"/>
              </a:spcBef>
            </a:pPr>
            <a:r>
              <a:rPr lang="zh-CN" altLang="en-US" sz="20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结构：将镀有铂黑的铂片浸入含有 </a:t>
            </a:r>
            <a:r>
              <a:rPr lang="en-US" altLang="zh-CN" sz="2400" b="1" dirty="0">
                <a:latin typeface="Times New Roman" panose="02020603050405020304" pitchFamily="18" charset="0"/>
                <a:ea typeface="宋体" panose="02010600030101010101" pitchFamily="2" charset="-122"/>
              </a:rPr>
              <a:t>H</a:t>
            </a:r>
            <a:r>
              <a:rPr lang="en-US" altLang="zh-CN" sz="2400" b="1" baseline="30000" dirty="0">
                <a:latin typeface="Times New Roman" panose="02020603050405020304" pitchFamily="18" charset="0"/>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或 </a:t>
            </a:r>
            <a:r>
              <a:rPr lang="en-US" altLang="zh-CN" sz="2400" b="1" dirty="0">
                <a:latin typeface="Times New Roman" panose="02020603050405020304" pitchFamily="18" charset="0"/>
                <a:ea typeface="宋体" panose="02010600030101010101" pitchFamily="2" charset="-122"/>
              </a:rPr>
              <a:t>OH</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的溶液中，并不断通 </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(g) </a:t>
            </a:r>
            <a:r>
              <a:rPr lang="zh-CN" altLang="en-US" sz="2400" b="1" dirty="0">
                <a:latin typeface="宋体" panose="02010600030101010101" pitchFamily="2" charset="-122"/>
                <a:ea typeface="宋体" panose="02010600030101010101" pitchFamily="2" charset="-122"/>
              </a:rPr>
              <a:t>就</a:t>
            </a:r>
            <a:r>
              <a:rPr lang="zh-CN" altLang="zh-CN" sz="2400" b="1" dirty="0">
                <a:latin typeface="宋体" panose="02010600030101010101" pitchFamily="2" charset="-122"/>
                <a:ea typeface="宋体" panose="02010600030101010101" pitchFamily="2" charset="-122"/>
              </a:rPr>
              <a:t>构成了酸性或碱性氧电极</a:t>
            </a:r>
            <a:endParaRPr lang="zh-CN" altLang="en-US" sz="2400" b="1" dirty="0">
              <a:latin typeface="宋体" panose="02010600030101010101" pitchFamily="2" charset="-122"/>
              <a:ea typeface="宋体" panose="02010600030101010101" pitchFamily="2" charset="-122"/>
            </a:endParaRPr>
          </a:p>
        </p:txBody>
      </p:sp>
      <p:grpSp>
        <p:nvGrpSpPr>
          <p:cNvPr id="2" name="Group 4"/>
          <p:cNvGrpSpPr/>
          <p:nvPr/>
        </p:nvGrpSpPr>
        <p:grpSpPr>
          <a:xfrm>
            <a:off x="762000" y="3517900"/>
            <a:ext cx="7467600" cy="1681163"/>
            <a:chOff x="480" y="2659"/>
            <a:chExt cx="4704" cy="1271"/>
          </a:xfrm>
        </p:grpSpPr>
        <p:sp>
          <p:nvSpPr>
            <p:cNvPr id="37892" name="Rectangle 5"/>
            <p:cNvSpPr/>
            <p:nvPr/>
          </p:nvSpPr>
          <p:spPr>
            <a:xfrm>
              <a:off x="612" y="2659"/>
              <a:ext cx="4464" cy="1271"/>
            </a:xfrm>
            <a:prstGeom prst="rect">
              <a:avLst/>
            </a:prstGeom>
            <a:noFill/>
            <a:ln w="9525">
              <a:noFill/>
            </a:ln>
          </p:spPr>
          <p:txBody>
            <a:bodyPr anchor="t" anchorCtr="0">
              <a:spAutoFit/>
            </a:bodyPr>
            <a:lstStyle/>
            <a:p>
              <a:pPr eaLnBrk="0" hangingPunct="0">
                <a:lnSpc>
                  <a:spcPct val="120000"/>
                </a:lnSpc>
              </a:pPr>
              <a:r>
                <a:rPr lang="zh-CN" altLang="en-US" sz="2400" b="1" dirty="0">
                  <a:latin typeface="Times New Roman" panose="02020603050405020304" pitchFamily="18" charset="0"/>
                  <a:ea typeface="楷体_GB2312" panose="02010609030101010101" pitchFamily="49" charset="-122"/>
                </a:rPr>
                <a:t>碱性</a:t>
              </a:r>
              <a:r>
                <a:rPr lang="zh-CN" altLang="zh-CN" sz="2400" b="1" dirty="0">
                  <a:latin typeface="宋体" panose="02010600030101010101" pitchFamily="2" charset="-122"/>
                  <a:ea typeface="楷体_GB2312" panose="02010609030101010101" pitchFamily="49" charset="-122"/>
                </a:rPr>
                <a:t>氧电极</a:t>
              </a:r>
              <a:r>
                <a:rPr lang="en-US" altLang="zh-CN" sz="2400" b="1" dirty="0">
                  <a:latin typeface="Times New Roman" panose="02020603050405020304" pitchFamily="18" charset="0"/>
                  <a:ea typeface="楷体_GB2312" panose="02010609030101010101" pitchFamily="49" charset="-122"/>
                </a:rPr>
                <a:t>:       H</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O ,OH</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楷体_GB2312" panose="02010609030101010101" pitchFamily="49" charset="-122"/>
                </a:rPr>
                <a:t> | O</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(g) |Pt</a:t>
              </a:r>
            </a:p>
            <a:p>
              <a:pPr eaLnBrk="0" hangingPunct="0">
                <a:lnSpc>
                  <a:spcPct val="150000"/>
                </a:lnSpc>
              </a:pPr>
              <a:r>
                <a:rPr lang="zh-CN" altLang="en-US" sz="2400" b="1" dirty="0">
                  <a:latin typeface="Times New Roman" panose="02020603050405020304" pitchFamily="18" charset="0"/>
                  <a:ea typeface="楷体_GB2312" panose="02010609030101010101" pitchFamily="49" charset="-122"/>
                </a:rPr>
                <a:t>电极反应：</a:t>
              </a:r>
              <a:r>
                <a:rPr lang="en-US" altLang="zh-CN" sz="2400" b="1" dirty="0">
                  <a:latin typeface="Times New Roman" panose="02020603050405020304" pitchFamily="18" charset="0"/>
                  <a:ea typeface="楷体_GB2312" panose="02010609030101010101" pitchFamily="49" charset="-122"/>
                </a:rPr>
                <a:t>O</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(g) + 2H</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O + 4e</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楷体_GB2312" panose="02010609030101010101" pitchFamily="49" charset="-122"/>
                </a:rPr>
                <a:t> </a:t>
              </a:r>
              <a:r>
                <a:rPr lang="en-US" altLang="zh-CN" sz="2400" b="1" dirty="0">
                  <a:latin typeface="Times New Roman" panose="02020603050405020304" pitchFamily="18" charset="0"/>
                  <a:ea typeface="楷体_GB2312" panose="02010609030101010101" pitchFamily="49" charset="-122"/>
                  <a:sym typeface="Symbol" panose="05050102010706020507" pitchFamily="18" charset="2"/>
                </a:rPr>
                <a:t> 4OH</a:t>
              </a:r>
              <a:r>
                <a:rPr lang="en-US" altLang="zh-CN" sz="2400" b="1" baseline="30000"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楷体_GB2312" panose="02010609030101010101" pitchFamily="49" charset="-122"/>
              </a:endParaRPr>
            </a:p>
            <a:p>
              <a:pPr eaLnBrk="0" hangingPunct="0">
                <a:lnSpc>
                  <a:spcPct val="160000"/>
                </a:lnSpc>
              </a:pPr>
              <a:r>
                <a:rPr lang="zh-CN" altLang="en-US" sz="2400" b="1" dirty="0">
                  <a:latin typeface="Times New Roman" panose="02020603050405020304" pitchFamily="18" charset="0"/>
                  <a:ea typeface="楷体_GB2312" panose="02010609030101010101" pitchFamily="49" charset="-122"/>
                </a:rPr>
                <a:t>标准电极电势：</a:t>
              </a:r>
            </a:p>
          </p:txBody>
        </p:sp>
        <p:graphicFrame>
          <p:nvGraphicFramePr>
            <p:cNvPr id="37893" name="Object 6"/>
            <p:cNvGraphicFramePr>
              <a:graphicFrameLocks noChangeAspect="1"/>
            </p:cNvGraphicFramePr>
            <p:nvPr/>
          </p:nvGraphicFramePr>
          <p:xfrm>
            <a:off x="1968" y="3408"/>
            <a:ext cx="2517" cy="328"/>
          </p:xfrm>
          <a:graphic>
            <a:graphicData uri="http://schemas.openxmlformats.org/presentationml/2006/ole">
              <mc:AlternateContent xmlns:mc="http://schemas.openxmlformats.org/markup-compatibility/2006">
                <mc:Choice xmlns:v="urn:schemas-microsoft-com:vml" Requires="v">
                  <p:oleObj r:id="rId3" imgW="2057400" imgH="279400" progId="Equation.3">
                    <p:embed/>
                  </p:oleObj>
                </mc:Choice>
                <mc:Fallback>
                  <p:oleObj r:id="rId3" imgW="2057400" imgH="279400" progId="Equation.3">
                    <p:embed/>
                    <p:pic>
                      <p:nvPicPr>
                        <p:cNvPr id="0" name="图片 3137"/>
                        <p:cNvPicPr/>
                        <p:nvPr/>
                      </p:nvPicPr>
                      <p:blipFill>
                        <a:blip r:embed="rId4"/>
                        <a:stretch>
                          <a:fillRect/>
                        </a:stretch>
                      </p:blipFill>
                      <p:spPr>
                        <a:xfrm>
                          <a:off x="1968" y="3408"/>
                          <a:ext cx="2517" cy="328"/>
                        </a:xfrm>
                        <a:prstGeom prst="rect">
                          <a:avLst/>
                        </a:prstGeom>
                        <a:noFill/>
                        <a:ln w="38100">
                          <a:noFill/>
                          <a:miter/>
                        </a:ln>
                      </p:spPr>
                    </p:pic>
                  </p:oleObj>
                </mc:Fallback>
              </mc:AlternateContent>
            </a:graphicData>
          </a:graphic>
        </p:graphicFrame>
        <p:sp>
          <p:nvSpPr>
            <p:cNvPr id="37894" name="Rectangle 7"/>
            <p:cNvSpPr/>
            <p:nvPr/>
          </p:nvSpPr>
          <p:spPr>
            <a:xfrm>
              <a:off x="480" y="2688"/>
              <a:ext cx="4704" cy="1200"/>
            </a:xfrm>
            <a:prstGeom prst="rect">
              <a:avLst/>
            </a:prstGeom>
            <a:noFill/>
            <a:ln w="19050" cap="flat" cmpd="sng">
              <a:solidFill>
                <a:schemeClr val="hlink"/>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37895" name="Group 8"/>
            <p:cNvGrpSpPr/>
            <p:nvPr/>
          </p:nvGrpSpPr>
          <p:grpSpPr>
            <a:xfrm>
              <a:off x="2160" y="3456"/>
              <a:ext cx="64" cy="64"/>
              <a:chOff x="2132" y="230"/>
              <a:chExt cx="64" cy="64"/>
            </a:xfrm>
          </p:grpSpPr>
          <p:sp>
            <p:nvSpPr>
              <p:cNvPr id="37896" name="Oval 9"/>
              <p:cNvSpPr/>
              <p:nvPr/>
            </p:nvSpPr>
            <p:spPr>
              <a:xfrm>
                <a:off x="2132" y="230"/>
                <a:ext cx="64" cy="64"/>
              </a:xfrm>
              <a:prstGeom prst="ellipse">
                <a:avLst/>
              </a:prstGeom>
              <a:solidFill>
                <a:srgbClr val="FFFFFF"/>
              </a:solidFill>
              <a:ln w="1270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7897" name="Line 10"/>
              <p:cNvSpPr/>
              <p:nvPr/>
            </p:nvSpPr>
            <p:spPr>
              <a:xfrm>
                <a:off x="2132" y="262"/>
                <a:ext cx="64" cy="0"/>
              </a:xfrm>
              <a:prstGeom prst="line">
                <a:avLst/>
              </a:prstGeom>
              <a:ln w="12700" cap="flat" cmpd="sng">
                <a:solidFill>
                  <a:schemeClr val="tx1"/>
                </a:solidFill>
                <a:prstDash val="solid"/>
                <a:round/>
                <a:headEnd type="none" w="med" len="med"/>
                <a:tailEnd type="none" w="med" len="med"/>
              </a:ln>
            </p:spPr>
          </p:sp>
        </p:grpSp>
      </p:grpSp>
      <p:grpSp>
        <p:nvGrpSpPr>
          <p:cNvPr id="4" name="Group 11"/>
          <p:cNvGrpSpPr/>
          <p:nvPr/>
        </p:nvGrpSpPr>
        <p:grpSpPr>
          <a:xfrm>
            <a:off x="762000" y="1836738"/>
            <a:ext cx="7448550" cy="1465262"/>
            <a:chOff x="480" y="1389"/>
            <a:chExt cx="4692" cy="1107"/>
          </a:xfrm>
        </p:grpSpPr>
        <p:sp>
          <p:nvSpPr>
            <p:cNvPr id="37899" name="Rectangle 12"/>
            <p:cNvSpPr/>
            <p:nvPr/>
          </p:nvSpPr>
          <p:spPr>
            <a:xfrm>
              <a:off x="480" y="1392"/>
              <a:ext cx="4656" cy="1008"/>
            </a:xfrm>
            <a:prstGeom prst="rect">
              <a:avLst/>
            </a:prstGeom>
            <a:no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37900" name="Group 13"/>
            <p:cNvGrpSpPr/>
            <p:nvPr/>
          </p:nvGrpSpPr>
          <p:grpSpPr>
            <a:xfrm>
              <a:off x="480" y="1389"/>
              <a:ext cx="4692" cy="1107"/>
              <a:chOff x="480" y="1389"/>
              <a:chExt cx="4692" cy="1107"/>
            </a:xfrm>
          </p:grpSpPr>
          <p:sp>
            <p:nvSpPr>
              <p:cNvPr id="37901" name="Rectangle 14"/>
              <p:cNvSpPr/>
              <p:nvPr/>
            </p:nvSpPr>
            <p:spPr>
              <a:xfrm>
                <a:off x="612" y="1389"/>
                <a:ext cx="4560" cy="771"/>
              </a:xfrm>
              <a:prstGeom prst="rect">
                <a:avLst/>
              </a:prstGeom>
              <a:noFill/>
              <a:ln w="9525">
                <a:noFill/>
              </a:ln>
            </p:spPr>
            <p:txBody>
              <a:bodyPr anchor="t" anchorCtr="0"/>
              <a:lstStyle/>
              <a:p>
                <a:pPr marL="342900" indent="-342900" eaLnBrk="0" hangingPunct="0">
                  <a:lnSpc>
                    <a:spcPct val="130000"/>
                  </a:lnSpc>
                  <a:spcBef>
                    <a:spcPct val="20000"/>
                  </a:spcBef>
                </a:pPr>
                <a:r>
                  <a:rPr lang="zh-CN" altLang="en-US" sz="2400" b="1" dirty="0">
                    <a:latin typeface="Arial" panose="020B0604020202020204" pitchFamily="34" charset="0"/>
                    <a:ea typeface="楷体_GB2312" panose="02010609030101010101" pitchFamily="49" charset="-122"/>
                  </a:rPr>
                  <a:t>酸性</a:t>
                </a:r>
                <a:r>
                  <a:rPr lang="zh-CN" altLang="zh-CN" sz="2400" b="1" dirty="0">
                    <a:latin typeface="宋体" panose="02010600030101010101" pitchFamily="2" charset="-122"/>
                    <a:ea typeface="楷体_GB2312" panose="02010609030101010101" pitchFamily="49" charset="-122"/>
                  </a:rPr>
                  <a:t>氧电极</a:t>
                </a:r>
                <a:r>
                  <a:rPr lang="en-US" altLang="zh-CN" sz="2400" b="1" dirty="0">
                    <a:latin typeface="Arial" panose="020B0604020202020204" pitchFamily="34" charset="0"/>
                    <a:ea typeface="楷体_GB2312" panose="02010609030101010101" pitchFamily="49" charset="-122"/>
                  </a:rPr>
                  <a:t>:        </a:t>
                </a:r>
                <a:r>
                  <a:rPr lang="en-US" altLang="zh-CN" sz="2400" b="1" dirty="0">
                    <a:latin typeface="Times New Roman" panose="02020603050405020304" pitchFamily="18" charset="0"/>
                    <a:ea typeface="楷体_GB2312" panose="02010609030101010101" pitchFamily="49" charset="-122"/>
                  </a:rPr>
                  <a:t>H</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O, H</a:t>
                </a:r>
                <a:r>
                  <a:rPr lang="en-US" altLang="zh-CN" sz="2400" b="1" baseline="30000" dirty="0">
                    <a:latin typeface="Times New Roman" panose="02020603050405020304" pitchFamily="18" charset="0"/>
                    <a:ea typeface="楷体_GB2312" panose="02010609030101010101" pitchFamily="49" charset="-122"/>
                  </a:rPr>
                  <a:t>+</a:t>
                </a:r>
                <a:r>
                  <a:rPr lang="en-US" altLang="zh-CN" sz="2400" b="1" dirty="0">
                    <a:latin typeface="Times New Roman" panose="02020603050405020304" pitchFamily="18" charset="0"/>
                    <a:ea typeface="楷体_GB2312" panose="02010609030101010101" pitchFamily="49" charset="-122"/>
                  </a:rPr>
                  <a:t> | O</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(g) | Pt</a:t>
                </a:r>
              </a:p>
              <a:p>
                <a:pPr marL="342900" indent="-342900" eaLnBrk="0" hangingPunct="0">
                  <a:spcBef>
                    <a:spcPct val="20000"/>
                  </a:spcBef>
                </a:pPr>
                <a:r>
                  <a:rPr lang="zh-CN" altLang="en-US" sz="2400" b="1" dirty="0">
                    <a:latin typeface="Times New Roman" panose="02020603050405020304" pitchFamily="18" charset="0"/>
                    <a:ea typeface="楷体_GB2312" panose="02010609030101010101" pitchFamily="49" charset="-122"/>
                  </a:rPr>
                  <a:t>电极反应：    </a:t>
                </a:r>
                <a:r>
                  <a:rPr lang="en-US" altLang="zh-CN" sz="2400" b="1" dirty="0">
                    <a:latin typeface="Times New Roman" panose="02020603050405020304" pitchFamily="18" charset="0"/>
                    <a:ea typeface="楷体_GB2312" panose="02010609030101010101" pitchFamily="49" charset="-122"/>
                  </a:rPr>
                  <a:t>O</a:t>
                </a:r>
                <a:r>
                  <a:rPr lang="en-US" altLang="zh-CN" sz="2400" b="1" baseline="-25000" dirty="0">
                    <a:latin typeface="Times New Roman" panose="02020603050405020304" pitchFamily="18" charset="0"/>
                    <a:ea typeface="楷体_GB2312" panose="02010609030101010101" pitchFamily="49" charset="-122"/>
                  </a:rPr>
                  <a:t>2</a:t>
                </a:r>
                <a:r>
                  <a:rPr lang="en-US" altLang="zh-CN" sz="2400" b="1" dirty="0">
                    <a:latin typeface="Times New Roman" panose="02020603050405020304" pitchFamily="18" charset="0"/>
                    <a:ea typeface="楷体_GB2312" panose="02010609030101010101" pitchFamily="49" charset="-122"/>
                  </a:rPr>
                  <a:t>(g) + 4H</a:t>
                </a:r>
                <a:r>
                  <a:rPr lang="en-US" altLang="zh-CN" sz="2400" b="1" baseline="30000" dirty="0">
                    <a:latin typeface="Times New Roman" panose="02020603050405020304" pitchFamily="18" charset="0"/>
                    <a:ea typeface="楷体_GB2312" panose="02010609030101010101" pitchFamily="49" charset="-122"/>
                  </a:rPr>
                  <a:t>+  </a:t>
                </a:r>
                <a:r>
                  <a:rPr lang="en-US" altLang="zh-CN" sz="2400" b="1" dirty="0">
                    <a:latin typeface="Times New Roman" panose="02020603050405020304" pitchFamily="18" charset="0"/>
                    <a:ea typeface="楷体_GB2312" panose="02010609030101010101" pitchFamily="49" charset="-122"/>
                  </a:rPr>
                  <a:t>+ 4e</a:t>
                </a:r>
                <a:r>
                  <a:rPr lang="en-US" altLang="zh-CN" sz="2400" b="1" baseline="30000" dirty="0">
                    <a:latin typeface="Times New Roman" panose="02020603050405020304" pitchFamily="18" charset="0"/>
                    <a:ea typeface="宋体" panose="02010600030101010101" pitchFamily="2" charset="-122"/>
                  </a:rPr>
                  <a:t>–</a:t>
                </a:r>
                <a:r>
                  <a:rPr lang="en-US" altLang="zh-CN" sz="2400" b="1" baseline="30000" dirty="0">
                    <a:latin typeface="Times New Roman" panose="02020603050405020304" pitchFamily="18" charset="0"/>
                    <a:ea typeface="楷体_GB2312" panose="02010609030101010101" pitchFamily="49" charset="-122"/>
                  </a:rPr>
                  <a:t> </a:t>
                </a:r>
                <a:r>
                  <a:rPr lang="en-US" altLang="zh-CN" sz="2400" b="1" dirty="0">
                    <a:latin typeface="Times New Roman" panose="02020603050405020304" pitchFamily="18" charset="0"/>
                    <a:ea typeface="楷体_GB2312" panose="02010609030101010101" pitchFamily="49" charset="-122"/>
                    <a:sym typeface="Symbol" panose="05050102010706020507" pitchFamily="18" charset="2"/>
                  </a:rPr>
                  <a:t> 2H</a:t>
                </a:r>
                <a:r>
                  <a:rPr lang="en-US" altLang="zh-CN" sz="2400" b="1" baseline="-25000" dirty="0">
                    <a:latin typeface="Times New Roman" panose="02020603050405020304" pitchFamily="18" charset="0"/>
                    <a:ea typeface="楷体_GB2312" panose="02010609030101010101" pitchFamily="49" charset="-122"/>
                    <a:sym typeface="Symbol" panose="05050102010706020507" pitchFamily="18" charset="2"/>
                  </a:rPr>
                  <a:t>2</a:t>
                </a:r>
                <a:r>
                  <a:rPr lang="en-US" altLang="zh-CN" sz="2400" b="1" dirty="0">
                    <a:latin typeface="Times New Roman" panose="02020603050405020304" pitchFamily="18" charset="0"/>
                    <a:ea typeface="楷体_GB2312" panose="02010609030101010101" pitchFamily="49" charset="-122"/>
                    <a:sym typeface="Symbol" panose="05050102010706020507" pitchFamily="18" charset="2"/>
                  </a:rPr>
                  <a:t>O</a:t>
                </a:r>
                <a:endParaRPr lang="en-US" altLang="zh-CN" sz="2400" b="1" dirty="0">
                  <a:latin typeface="Times New Roman" panose="02020603050405020304" pitchFamily="18" charset="0"/>
                  <a:ea typeface="楷体_GB2312" panose="02010609030101010101" pitchFamily="49" charset="-122"/>
                </a:endParaRPr>
              </a:p>
              <a:p>
                <a:pPr marL="342900" indent="-342900" eaLnBrk="0" hangingPunct="0">
                  <a:lnSpc>
                    <a:spcPct val="130000"/>
                  </a:lnSpc>
                  <a:spcBef>
                    <a:spcPct val="20000"/>
                  </a:spcBef>
                </a:pPr>
                <a:r>
                  <a:rPr lang="zh-CN" altLang="en-US" sz="2400" b="1" dirty="0">
                    <a:latin typeface="Arial" panose="020B0604020202020204" pitchFamily="34" charset="0"/>
                    <a:ea typeface="楷体_GB2312" panose="02010609030101010101" pitchFamily="49" charset="-122"/>
                  </a:rPr>
                  <a:t>标准电极电势：</a:t>
                </a:r>
              </a:p>
            </p:txBody>
          </p:sp>
          <p:graphicFrame>
            <p:nvGraphicFramePr>
              <p:cNvPr id="37902" name="Object 15"/>
              <p:cNvGraphicFramePr>
                <a:graphicFrameLocks noChangeAspect="1"/>
              </p:cNvGraphicFramePr>
              <p:nvPr/>
            </p:nvGraphicFramePr>
            <p:xfrm>
              <a:off x="1968" y="2053"/>
              <a:ext cx="2536" cy="381"/>
            </p:xfrm>
            <a:graphic>
              <a:graphicData uri="http://schemas.openxmlformats.org/presentationml/2006/ole">
                <mc:AlternateContent xmlns:mc="http://schemas.openxmlformats.org/markup-compatibility/2006">
                  <mc:Choice xmlns:v="urn:schemas-microsoft-com:vml" Requires="v">
                    <p:oleObj r:id="rId5" imgW="1968500" imgH="304800" progId="Equation.3">
                      <p:embed/>
                    </p:oleObj>
                  </mc:Choice>
                  <mc:Fallback>
                    <p:oleObj r:id="rId5" imgW="1968500" imgH="304800" progId="Equation.3">
                      <p:embed/>
                      <p:pic>
                        <p:nvPicPr>
                          <p:cNvPr id="0" name="图片 3136"/>
                          <p:cNvPicPr/>
                          <p:nvPr/>
                        </p:nvPicPr>
                        <p:blipFill>
                          <a:blip r:embed="rId6"/>
                          <a:stretch>
                            <a:fillRect/>
                          </a:stretch>
                        </p:blipFill>
                        <p:spPr>
                          <a:xfrm>
                            <a:off x="1968" y="2053"/>
                            <a:ext cx="2536" cy="381"/>
                          </a:xfrm>
                          <a:prstGeom prst="rect">
                            <a:avLst/>
                          </a:prstGeom>
                          <a:noFill/>
                          <a:ln w="38100">
                            <a:noFill/>
                            <a:miter/>
                          </a:ln>
                        </p:spPr>
                      </p:pic>
                    </p:oleObj>
                  </mc:Fallback>
                </mc:AlternateContent>
              </a:graphicData>
            </a:graphic>
          </p:graphicFrame>
          <p:sp>
            <p:nvSpPr>
              <p:cNvPr id="37903" name="Rectangle 16"/>
              <p:cNvSpPr/>
              <p:nvPr/>
            </p:nvSpPr>
            <p:spPr>
              <a:xfrm>
                <a:off x="480" y="1392"/>
                <a:ext cx="4608" cy="1104"/>
              </a:xfrm>
              <a:prstGeom prst="rect">
                <a:avLst/>
              </a:prstGeom>
              <a:noFill/>
              <a:ln w="190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37904" name="Group 17"/>
              <p:cNvGrpSpPr/>
              <p:nvPr/>
            </p:nvGrpSpPr>
            <p:grpSpPr>
              <a:xfrm>
                <a:off x="2160" y="2112"/>
                <a:ext cx="64" cy="64"/>
                <a:chOff x="2132" y="230"/>
                <a:chExt cx="64" cy="64"/>
              </a:xfrm>
            </p:grpSpPr>
            <p:sp>
              <p:nvSpPr>
                <p:cNvPr id="37905" name="Oval 18"/>
                <p:cNvSpPr/>
                <p:nvPr/>
              </p:nvSpPr>
              <p:spPr>
                <a:xfrm>
                  <a:off x="2132" y="230"/>
                  <a:ext cx="64" cy="64"/>
                </a:xfrm>
                <a:prstGeom prst="ellipse">
                  <a:avLst/>
                </a:prstGeom>
                <a:solidFill>
                  <a:srgbClr val="FFFFFF"/>
                </a:solidFill>
                <a:ln w="1270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7906" name="Line 19"/>
                <p:cNvSpPr/>
                <p:nvPr/>
              </p:nvSpPr>
              <p:spPr>
                <a:xfrm>
                  <a:off x="2132" y="262"/>
                  <a:ext cx="64" cy="0"/>
                </a:xfrm>
                <a:prstGeom prst="line">
                  <a:avLst/>
                </a:prstGeom>
                <a:ln w="12700" cap="flat" cmpd="sng">
                  <a:solidFill>
                    <a:schemeClr val="tx1"/>
                  </a:solidFill>
                  <a:prstDash val="solid"/>
                  <a:round/>
                  <a:headEnd type="none" w="med" len="med"/>
                  <a:tailEnd type="none" w="med" len="med"/>
                </a:ln>
              </p:spPr>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blinds(vertical)">
                                      <p:cBhvr>
                                        <p:cTn id="7" dur="500"/>
                                        <p:tgtEl>
                                          <p:spTgt spid="737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vertic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body" sz="half" idx="1"/>
          </p:nvPr>
        </p:nvSpPr>
        <p:spPr>
          <a:xfrm>
            <a:off x="895350" y="2814638"/>
            <a:ext cx="7561263" cy="508000"/>
          </a:xfrm>
        </p:spPr>
        <p:txBody>
          <a:bodyPr vert="horz" wrap="square" lIns="91440" tIns="45720" rIns="91440" bIns="45720" anchor="t" anchorCtr="0"/>
          <a:lstStyle/>
          <a:p>
            <a:pPr algn="just">
              <a:lnSpc>
                <a:spcPct val="125000"/>
              </a:lnSpc>
              <a:spcBef>
                <a:spcPct val="10000"/>
              </a:spcBef>
              <a:buClrTx/>
              <a:buSzTx/>
              <a:buFontTx/>
              <a:buNone/>
            </a:pPr>
            <a:r>
              <a:rPr lang="zh-CN" altLang="en-US" sz="2400" b="1" dirty="0">
                <a:latin typeface="Times New Roman" panose="02020603050405020304" pitchFamily="18" charset="0"/>
              </a:rPr>
              <a:t>银</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氯化银电极，</a:t>
            </a:r>
            <a:r>
              <a:rPr lang="en-US" altLang="zh-CN" sz="2400" b="1" dirty="0">
                <a:latin typeface="Times New Roman" panose="02020603050405020304" pitchFamily="18" charset="0"/>
              </a:rPr>
              <a:t>Cl</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|AgCl(s)|Ag  </a:t>
            </a:r>
          </a:p>
          <a:p>
            <a:pPr algn="just">
              <a:lnSpc>
                <a:spcPct val="125000"/>
              </a:lnSpc>
              <a:spcBef>
                <a:spcPct val="10000"/>
              </a:spcBef>
              <a:buClrTx/>
              <a:buSzTx/>
              <a:buFontTx/>
              <a:buNone/>
            </a:pPr>
            <a:r>
              <a:rPr lang="en-US" altLang="zh-CN" sz="2400" b="1" dirty="0">
                <a:latin typeface="Times New Roman" panose="02020603050405020304" pitchFamily="18" charset="0"/>
              </a:rPr>
              <a:t>                          AgCl(s)+ e</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  → Ag  + Cl</a:t>
            </a:r>
            <a:r>
              <a:rPr lang="en-US" altLang="zh-CN" sz="2400" b="1" baseline="30000"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44036" name="Rectangle 4"/>
          <p:cNvSpPr/>
          <p:nvPr/>
        </p:nvSpPr>
        <p:spPr>
          <a:xfrm>
            <a:off x="0" y="615950"/>
            <a:ext cx="8856663" cy="492125"/>
          </a:xfrm>
          <a:prstGeom prst="rect">
            <a:avLst/>
          </a:prstGeom>
          <a:solidFill>
            <a:srgbClr val="008000"/>
          </a:solidFill>
          <a:ln w="9525">
            <a:noFill/>
          </a:ln>
        </p:spPr>
        <p:txBody>
          <a:bodyPr anchor="t" anchorCtr="0">
            <a:spAutoFit/>
          </a:bodyPr>
          <a:lstStyle/>
          <a:p>
            <a:pPr algn="ctr"/>
            <a:r>
              <a:rPr lang="zh-CN" altLang="en-US" sz="2600" b="1" dirty="0">
                <a:solidFill>
                  <a:schemeClr val="bg1"/>
                </a:solidFill>
                <a:latin typeface="Times New Roman" panose="02020603050405020304" pitchFamily="18" charset="0"/>
                <a:ea typeface="宋体" panose="02010600030101010101" pitchFamily="2" charset="-122"/>
              </a:rPr>
              <a:t>二、</a:t>
            </a:r>
            <a:r>
              <a:rPr lang="en-US" altLang="zh-CN" sz="2600" b="1" dirty="0">
                <a:solidFill>
                  <a:schemeClr val="bg1"/>
                </a:solidFill>
                <a:latin typeface="Times New Roman" panose="02020603050405020304" pitchFamily="18" charset="0"/>
                <a:ea typeface="宋体" panose="02010600030101010101" pitchFamily="2" charset="-122"/>
              </a:rPr>
              <a:t> </a:t>
            </a:r>
            <a:r>
              <a:rPr lang="zh-CN" altLang="en-US" sz="2600" b="1" dirty="0">
                <a:solidFill>
                  <a:schemeClr val="bg1"/>
                </a:solidFill>
                <a:latin typeface="Times New Roman" panose="02020603050405020304" pitchFamily="18" charset="0"/>
                <a:ea typeface="宋体" panose="02010600030101010101" pitchFamily="2" charset="-122"/>
              </a:rPr>
              <a:t>第二类电极</a:t>
            </a:r>
            <a:r>
              <a:rPr lang="zh-CN" altLang="en-US" sz="2600" b="1" dirty="0">
                <a:solidFill>
                  <a:schemeClr val="bg1"/>
                </a:solidFill>
                <a:latin typeface="Arial" panose="020B0604020202020204" pitchFamily="34" charset="0"/>
                <a:ea typeface="宋体" panose="02010600030101010101" pitchFamily="2" charset="-122"/>
              </a:rPr>
              <a:t>（金属</a:t>
            </a:r>
            <a:r>
              <a:rPr lang="en-US" altLang="zh-CN" sz="2600" b="1" dirty="0">
                <a:solidFill>
                  <a:schemeClr val="bg1"/>
                </a:solidFill>
                <a:latin typeface="Arial" panose="020B0604020202020204" pitchFamily="34" charset="0"/>
                <a:ea typeface="宋体" panose="02010600030101010101" pitchFamily="2" charset="-122"/>
              </a:rPr>
              <a:t>-</a:t>
            </a:r>
            <a:r>
              <a:rPr lang="zh-CN" altLang="en-US" sz="2600" b="1" dirty="0">
                <a:solidFill>
                  <a:schemeClr val="bg1"/>
                </a:solidFill>
                <a:latin typeface="Arial" panose="020B0604020202020204" pitchFamily="34" charset="0"/>
                <a:ea typeface="宋体" panose="02010600030101010101" pitchFamily="2" charset="-122"/>
              </a:rPr>
              <a:t>难溶盐电极、金属</a:t>
            </a:r>
            <a:r>
              <a:rPr lang="en-US" altLang="zh-CN" sz="2600" b="1" dirty="0">
                <a:solidFill>
                  <a:schemeClr val="bg1"/>
                </a:solidFill>
                <a:latin typeface="Arial" panose="020B0604020202020204" pitchFamily="34" charset="0"/>
                <a:ea typeface="宋体" panose="02010600030101010101" pitchFamily="2" charset="-122"/>
              </a:rPr>
              <a:t>-</a:t>
            </a:r>
            <a:r>
              <a:rPr lang="zh-CN" altLang="en-US" sz="2600" b="1" dirty="0">
                <a:solidFill>
                  <a:schemeClr val="bg1"/>
                </a:solidFill>
                <a:latin typeface="Arial" panose="020B0604020202020204" pitchFamily="34" charset="0"/>
                <a:ea typeface="宋体" panose="02010600030101010101" pitchFamily="2" charset="-122"/>
              </a:rPr>
              <a:t>难溶氧化物电极）</a:t>
            </a:r>
          </a:p>
        </p:txBody>
      </p:sp>
      <p:sp>
        <p:nvSpPr>
          <p:cNvPr id="44037" name="Rectangle 5"/>
          <p:cNvSpPr/>
          <p:nvPr/>
        </p:nvSpPr>
        <p:spPr>
          <a:xfrm>
            <a:off x="0" y="1266825"/>
            <a:ext cx="3671888" cy="387350"/>
          </a:xfrm>
          <a:prstGeom prst="rect">
            <a:avLst/>
          </a:prstGeom>
          <a:solidFill>
            <a:srgbClr val="CC99FF"/>
          </a:solidFill>
          <a:ln w="9525">
            <a:noFill/>
          </a:ln>
        </p:spPr>
        <p:txBody>
          <a:bodyPr anchor="t" anchorCtr="0">
            <a:spAutoFit/>
          </a:bodyPr>
          <a:lstStyle/>
          <a:p>
            <a:pPr>
              <a:lnSpc>
                <a:spcPct val="80000"/>
              </a:lnSpc>
              <a:spcBef>
                <a:spcPct val="20000"/>
              </a:spcBef>
              <a:buClr>
                <a:schemeClr val="folHlink"/>
              </a:buClr>
              <a:buFont typeface="Wingdings" panose="05000000000000000000" pitchFamily="2" charset="2"/>
              <a:buChar char="§"/>
            </a:pP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dirty="0">
                <a:solidFill>
                  <a:schemeClr val="tx2"/>
                </a:solidFill>
                <a:latin typeface="Arial" panose="020B0604020202020204" pitchFamily="34" charset="0"/>
                <a:ea typeface="宋体" panose="02010600030101010101" pitchFamily="2" charset="-122"/>
              </a:rPr>
              <a:t>1</a:t>
            </a:r>
            <a:r>
              <a:rPr lang="zh-CN" altLang="en-US" sz="2400" b="1" dirty="0">
                <a:solidFill>
                  <a:schemeClr val="tx2"/>
                </a:solidFill>
                <a:latin typeface="Arial" panose="020B0604020202020204" pitchFamily="34" charset="0"/>
                <a:ea typeface="宋体" panose="02010600030101010101" pitchFamily="2" charset="-122"/>
              </a:rPr>
              <a:t>）金属</a:t>
            </a:r>
            <a:r>
              <a:rPr lang="en-US" altLang="zh-CN" sz="2400" b="1" dirty="0">
                <a:solidFill>
                  <a:schemeClr val="tx2"/>
                </a:solidFill>
                <a:latin typeface="Arial" panose="020B0604020202020204" pitchFamily="34" charset="0"/>
                <a:ea typeface="宋体" panose="02010600030101010101" pitchFamily="2" charset="-122"/>
              </a:rPr>
              <a:t>-</a:t>
            </a:r>
            <a:r>
              <a:rPr lang="zh-CN" altLang="en-US" sz="2400" b="1" dirty="0">
                <a:solidFill>
                  <a:schemeClr val="tx2"/>
                </a:solidFill>
                <a:latin typeface="Arial" panose="020B0604020202020204" pitchFamily="34" charset="0"/>
                <a:ea typeface="宋体" panose="02010600030101010101" pitchFamily="2" charset="-122"/>
              </a:rPr>
              <a:t>难溶盐电极</a:t>
            </a:r>
          </a:p>
        </p:txBody>
      </p:sp>
      <p:sp>
        <p:nvSpPr>
          <p:cNvPr id="44038" name="Rectangle 6"/>
          <p:cNvSpPr/>
          <p:nvPr/>
        </p:nvSpPr>
        <p:spPr>
          <a:xfrm>
            <a:off x="611188" y="1597025"/>
            <a:ext cx="8281987" cy="979488"/>
          </a:xfrm>
          <a:prstGeom prst="rect">
            <a:avLst/>
          </a:prstGeom>
          <a:noFill/>
          <a:ln w="9525">
            <a:noFill/>
          </a:ln>
        </p:spPr>
        <p:txBody>
          <a:bodyPr anchor="t" anchorCtr="0">
            <a:spAutoFit/>
          </a:bodyPr>
          <a:lstStyle/>
          <a:p>
            <a:pPr>
              <a:lnSpc>
                <a:spcPct val="120000"/>
              </a:lnSpc>
              <a:buClr>
                <a:schemeClr val="folHlink"/>
              </a:buClr>
              <a:buFont typeface="Wingdings" panose="05000000000000000000" pitchFamily="2" charset="2"/>
            </a:pPr>
            <a:r>
              <a:rPr lang="zh-CN" altLang="en-US" sz="24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构成：在金属表面上覆盖一层该金属难溶盐，浸入含该难溶盐负离子的溶液中。</a:t>
            </a:r>
          </a:p>
        </p:txBody>
      </p:sp>
      <p:sp>
        <p:nvSpPr>
          <p:cNvPr id="44039" name="Rectangle 7"/>
          <p:cNvSpPr/>
          <p:nvPr/>
        </p:nvSpPr>
        <p:spPr>
          <a:xfrm>
            <a:off x="395288" y="2436813"/>
            <a:ext cx="3960812" cy="492125"/>
          </a:xfrm>
          <a:prstGeom prst="rect">
            <a:avLst/>
          </a:prstGeom>
          <a:noFill/>
          <a:ln w="9525">
            <a:noFill/>
          </a:ln>
        </p:spPr>
        <p:txBody>
          <a:bodyPr anchor="t" anchorCtr="0">
            <a:spAutoFit/>
          </a:bodyPr>
          <a:lstStyle/>
          <a:p>
            <a:pPr>
              <a:spcBef>
                <a:spcPct val="20000"/>
              </a:spcBef>
              <a:buClr>
                <a:schemeClr val="folHlink"/>
              </a:buClr>
              <a:buFont typeface="Wingdings" panose="05000000000000000000" pitchFamily="2" charset="2"/>
            </a:pPr>
            <a:r>
              <a:rPr lang="zh-CN" altLang="en-US" sz="2600" dirty="0">
                <a:latin typeface="Arial" panose="020B0604020202020204" pitchFamily="34" charset="0"/>
                <a:ea typeface="宋体" panose="02010600030101010101" pitchFamily="2" charset="-122"/>
              </a:rPr>
              <a:t>       </a:t>
            </a:r>
            <a:r>
              <a:rPr lang="zh-CN" altLang="en-US" sz="2600" b="1" dirty="0">
                <a:latin typeface="Arial" panose="020B0604020202020204" pitchFamily="34" charset="0"/>
                <a:ea typeface="宋体" panose="02010600030101010101" pitchFamily="2" charset="-122"/>
              </a:rPr>
              <a:t>常见电极</a:t>
            </a:r>
            <a:endParaRPr lang="en-US" altLang="zh-CN" sz="2600" b="1" dirty="0">
              <a:latin typeface="Arial" panose="020B0604020202020204" pitchFamily="34" charset="0"/>
              <a:ea typeface="宋体" panose="02010600030101010101" pitchFamily="2" charset="-122"/>
            </a:endParaRPr>
          </a:p>
        </p:txBody>
      </p:sp>
      <p:sp>
        <p:nvSpPr>
          <p:cNvPr id="44040" name="Rectangle 8"/>
          <p:cNvSpPr>
            <a:spLocks noRot="1"/>
          </p:cNvSpPr>
          <p:nvPr/>
        </p:nvSpPr>
        <p:spPr>
          <a:xfrm>
            <a:off x="755650" y="3997325"/>
            <a:ext cx="7993063" cy="481013"/>
          </a:xfrm>
          <a:prstGeom prst="rect">
            <a:avLst/>
          </a:prstGeom>
          <a:noFill/>
          <a:ln w="9525">
            <a:noFill/>
          </a:ln>
        </p:spPr>
        <p:txBody>
          <a:bodyPr anchor="t" anchorCtr="0"/>
          <a:lstStyle/>
          <a:p>
            <a:pPr marL="342900" indent="-342900" algn="just" eaLnBrk="0" hangingPunct="0">
              <a:lnSpc>
                <a:spcPct val="125000"/>
              </a:lnSpc>
              <a:spcBef>
                <a:spcPct val="10000"/>
              </a:spcBef>
            </a:pPr>
            <a:r>
              <a:rPr lang="zh-CN" altLang="en-US" sz="2400" b="1" dirty="0">
                <a:latin typeface="Times New Roman" panose="02020603050405020304" pitchFamily="18" charset="0"/>
                <a:ea typeface="宋体" panose="02010600030101010101" pitchFamily="2" charset="-122"/>
              </a:rPr>
              <a:t>甘汞电极, </a:t>
            </a:r>
            <a:r>
              <a:rPr lang="en-US" altLang="zh-CN" sz="2400" b="1" dirty="0">
                <a:latin typeface="Times New Roman" panose="02020603050405020304" pitchFamily="18" charset="0"/>
                <a:ea typeface="宋体" panose="02010600030101010101" pitchFamily="2" charset="-122"/>
              </a:rPr>
              <a:t>Cl</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|Hg</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Cl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(s)|Hg   </a:t>
            </a:r>
          </a:p>
          <a:p>
            <a:pPr marL="342900" indent="-342900" algn="just" eaLnBrk="0" hangingPunct="0">
              <a:lnSpc>
                <a:spcPct val="125000"/>
              </a:lnSpc>
              <a:spcBef>
                <a:spcPct val="10000"/>
              </a:spcBef>
            </a:pPr>
            <a:r>
              <a:rPr lang="en-US" altLang="zh-CN" sz="2400" b="1" dirty="0">
                <a:latin typeface="Times New Roman" panose="02020603050405020304" pitchFamily="18" charset="0"/>
                <a:ea typeface="宋体" panose="02010600030101010101" pitchFamily="2" charset="-122"/>
              </a:rPr>
              <a:t>                Hg</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Cl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(s)+2e</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  2Hg+2Cl</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a:t>
            </a:r>
          </a:p>
          <a:p>
            <a:pPr marL="342900" indent="-342900" eaLnBrk="0" hangingPunct="0">
              <a:spcBef>
                <a:spcPct val="20000"/>
              </a:spcBef>
            </a:pPr>
            <a:endParaRPr lang="zh-CN" altLang="en-US" sz="2400" b="1" dirty="0">
              <a:latin typeface="Times New Roman" panose="02020603050405020304" pitchFamily="18" charset="0"/>
              <a:ea typeface="宋体" panose="02010600030101010101" pitchFamily="2" charset="-122"/>
            </a:endParaRPr>
          </a:p>
        </p:txBody>
      </p:sp>
      <p:pic>
        <p:nvPicPr>
          <p:cNvPr id="44044" name="Picture 12" descr="241"/>
          <p:cNvPicPr>
            <a:picLocks noChangeAspect="1"/>
          </p:cNvPicPr>
          <p:nvPr/>
        </p:nvPicPr>
        <p:blipFill>
          <a:blip r:embed="rId2"/>
          <a:stretch>
            <a:fillRect/>
          </a:stretch>
        </p:blipFill>
        <p:spPr>
          <a:xfrm>
            <a:off x="6372225" y="2617788"/>
            <a:ext cx="2000250" cy="2251075"/>
          </a:xfrm>
          <a:prstGeom prst="rect">
            <a:avLst/>
          </a:prstGeom>
          <a:noFill/>
          <a:ln w="9525">
            <a:noFill/>
          </a:ln>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4036"/>
                                        </p:tgtEl>
                                        <p:attrNameLst>
                                          <p:attrName>style.visibility</p:attrName>
                                        </p:attrNameLst>
                                      </p:cBhvr>
                                      <p:to>
                                        <p:strVal val="visible"/>
                                      </p:to>
                                    </p:set>
                                    <p:anim calcmode="lin" valueType="num">
                                      <p:cBhvr>
                                        <p:cTn id="7" dur="1000" fill="hold"/>
                                        <p:tgtEl>
                                          <p:spTgt spid="44036"/>
                                        </p:tgtEl>
                                        <p:attrNameLst>
                                          <p:attrName>ppt_x</p:attrName>
                                        </p:attrNameLst>
                                      </p:cBhvr>
                                      <p:tavLst>
                                        <p:tav tm="0">
                                          <p:val>
                                            <p:strVal val="#ppt_x"/>
                                          </p:val>
                                        </p:tav>
                                        <p:tav tm="50000">
                                          <p:val>
                                            <p:strVal val="#ppt_x+.1"/>
                                          </p:val>
                                        </p:tav>
                                        <p:tav tm="100000">
                                          <p:val>
                                            <p:strVal val="#ppt_x"/>
                                          </p:val>
                                        </p:tav>
                                      </p:tavLst>
                                    </p:anim>
                                    <p:anim calcmode="lin" valueType="num">
                                      <p:cBhvr>
                                        <p:cTn id="8" dur="1000" fill="hold"/>
                                        <p:tgtEl>
                                          <p:spTgt spid="44036"/>
                                        </p:tgtEl>
                                        <p:attrNameLst>
                                          <p:attrName>ppt_y</p:attrName>
                                        </p:attrNameLst>
                                      </p:cBhvr>
                                      <p:tavLst>
                                        <p:tav tm="0">
                                          <p:val>
                                            <p:strVal val="#ppt_y"/>
                                          </p:val>
                                        </p:tav>
                                        <p:tav tm="100000">
                                          <p:val>
                                            <p:strVal val="#ppt_y"/>
                                          </p:val>
                                        </p:tav>
                                      </p:tavLst>
                                    </p:anim>
                                    <p:anim calcmode="lin" valueType="num">
                                      <p:cBhvr>
                                        <p:cTn id="9" dur="1000" fill="hold"/>
                                        <p:tgtEl>
                                          <p:spTgt spid="44036"/>
                                        </p:tgtEl>
                                        <p:attrNameLst>
                                          <p:attrName>ppt_h</p:attrName>
                                        </p:attrNameLst>
                                      </p:cBhvr>
                                      <p:tavLst>
                                        <p:tav tm="0">
                                          <p:val>
                                            <p:strVal val="#ppt_h/10"/>
                                          </p:val>
                                        </p:tav>
                                        <p:tav tm="50000">
                                          <p:val>
                                            <p:strVal val="#ppt_h+.01"/>
                                          </p:val>
                                        </p:tav>
                                        <p:tav tm="100000">
                                          <p:val>
                                            <p:strVal val="#ppt_h"/>
                                          </p:val>
                                        </p:tav>
                                      </p:tavLst>
                                    </p:anim>
                                    <p:anim calcmode="lin" valueType="num">
                                      <p:cBhvr>
                                        <p:cTn id="10" dur="1000" fill="hold"/>
                                        <p:tgtEl>
                                          <p:spTgt spid="4403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000" tmFilter="0,0; .5, 1; 1, 1"/>
                                        <p:tgtEl>
                                          <p:spTgt spid="44036"/>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44037"/>
                                        </p:tgtEl>
                                        <p:attrNameLst>
                                          <p:attrName>style.visibility</p:attrName>
                                        </p:attrNameLst>
                                      </p:cBhvr>
                                      <p:to>
                                        <p:strVal val="visible"/>
                                      </p:to>
                                    </p:set>
                                    <p:animEffect transition="in" filter="checkerboard(across)">
                                      <p:cBhvr>
                                        <p:cTn id="16" dur="1000"/>
                                        <p:tgtEl>
                                          <p:spTgt spid="44037"/>
                                        </p:tgtEl>
                                      </p:cBhvr>
                                    </p:animEffec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44038"/>
                                        </p:tgtEl>
                                        <p:attrNameLst>
                                          <p:attrName>style.visibility</p:attrName>
                                        </p:attrNameLst>
                                      </p:cBhvr>
                                      <p:to>
                                        <p:strVal val="visible"/>
                                      </p:to>
                                    </p:set>
                                    <p:anim calcmode="discrete" valueType="clr">
                                      <p:cBhvr override="childStyle">
                                        <p:cTn id="21" dur="80"/>
                                        <p:tgtEl>
                                          <p:spTgt spid="44038"/>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4038"/>
                                        </p:tgtEl>
                                        <p:attrNameLst>
                                          <p:attrName>fillcolor</p:attrName>
                                        </p:attrNameLst>
                                      </p:cBhvr>
                                      <p:tavLst>
                                        <p:tav tm="0">
                                          <p:val>
                                            <p:clrVal>
                                              <a:schemeClr val="accent2"/>
                                            </p:clrVal>
                                          </p:val>
                                        </p:tav>
                                        <p:tav tm="50000">
                                          <p:val>
                                            <p:clrVal>
                                              <a:schemeClr val="hlink"/>
                                            </p:clrVal>
                                          </p:val>
                                        </p:tav>
                                      </p:tavLst>
                                    </p:anim>
                                    <p:set>
                                      <p:cBhvr>
                                        <p:cTn id="23" dur="80"/>
                                        <p:tgtEl>
                                          <p:spTgt spid="44038"/>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44039"/>
                                        </p:tgtEl>
                                        <p:attrNameLst>
                                          <p:attrName>style.visibility</p:attrName>
                                        </p:attrNameLst>
                                      </p:cBhvr>
                                      <p:to>
                                        <p:strVal val="visible"/>
                                      </p:to>
                                    </p:set>
                                    <p:anim calcmode="lin" valueType="num">
                                      <p:cBhvr>
                                        <p:cTn id="28" dur="500" fill="hold"/>
                                        <p:tgtEl>
                                          <p:spTgt spid="44039"/>
                                        </p:tgtEl>
                                        <p:attrNameLst>
                                          <p:attrName>ppt_w</p:attrName>
                                        </p:attrNameLst>
                                      </p:cBhvr>
                                      <p:tavLst>
                                        <p:tav tm="0">
                                          <p:val>
                                            <p:fltVal val="0"/>
                                          </p:val>
                                        </p:tav>
                                        <p:tav tm="100000">
                                          <p:val>
                                            <p:strVal val="#ppt_w"/>
                                          </p:val>
                                        </p:tav>
                                      </p:tavLst>
                                    </p:anim>
                                    <p:anim calcmode="lin" valueType="num">
                                      <p:cBhvr>
                                        <p:cTn id="29" dur="500" fill="hold"/>
                                        <p:tgtEl>
                                          <p:spTgt spid="44039"/>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034">
                                            <p:txEl>
                                              <p:pRg st="0" end="0"/>
                                            </p:txEl>
                                          </p:spTgt>
                                        </p:tgtEl>
                                        <p:attrNameLst>
                                          <p:attrName>style.visibility</p:attrName>
                                        </p:attrNameLst>
                                      </p:cBhvr>
                                      <p:to>
                                        <p:strVal val="visible"/>
                                      </p:to>
                                    </p:set>
                                    <p:animEffect transition="in" filter="wipe(left)">
                                      <p:cBhvr>
                                        <p:cTn id="34" dur="2000"/>
                                        <p:tgtEl>
                                          <p:spTgt spid="44034">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4034">
                                            <p:txEl>
                                              <p:pRg st="1" end="1"/>
                                            </p:txEl>
                                          </p:spTgt>
                                        </p:tgtEl>
                                        <p:attrNameLst>
                                          <p:attrName>style.visibility</p:attrName>
                                        </p:attrNameLst>
                                      </p:cBhvr>
                                      <p:to>
                                        <p:strVal val="visible"/>
                                      </p:to>
                                    </p:set>
                                    <p:animEffect transition="in" filter="wipe(left)">
                                      <p:cBhvr>
                                        <p:cTn id="39" dur="2000"/>
                                        <p:tgtEl>
                                          <p:spTgt spid="44034">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4040"/>
                                        </p:tgtEl>
                                        <p:attrNameLst>
                                          <p:attrName>style.visibility</p:attrName>
                                        </p:attrNameLst>
                                      </p:cBhvr>
                                      <p:to>
                                        <p:strVal val="visible"/>
                                      </p:to>
                                    </p:set>
                                    <p:animEffect transition="in" filter="wipe(left)">
                                      <p:cBhvr>
                                        <p:cTn id="44" dur="2000"/>
                                        <p:tgtEl>
                                          <p:spTgt spid="44040"/>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nodePh="1">
                                  <p:stCondLst>
                                    <p:cond delay="0"/>
                                  </p:stCondLst>
                                  <p:endCondLst>
                                    <p:cond delay="0"/>
                                  </p:endCondLst>
                                  <p:childTnLst>
                                    <p:set>
                                      <p:cBhvr>
                                        <p:cTn id="48" dur="1" fill="hold">
                                          <p:stCondLst>
                                            <p:cond delay="0"/>
                                          </p:stCondLst>
                                        </p:cTn>
                                        <p:tgtEl>
                                          <p:spTgt spid="44044"/>
                                        </p:tgtEl>
                                        <p:attrNameLst>
                                          <p:attrName>style.visibility</p:attrName>
                                        </p:attrNameLst>
                                      </p:cBhvr>
                                      <p:to>
                                        <p:strVal val="visible"/>
                                      </p:to>
                                    </p:set>
                                    <p:animEffect transition="in" filter="checkerboard(across)">
                                      <p:cBhvr>
                                        <p:cTn id="49" dur="500"/>
                                        <p:tgtEl>
                                          <p:spTgt spid="44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P spid="44036" grpId="0" animBg="1"/>
      <p:bldP spid="44037" grpId="0" animBg="1"/>
      <p:bldP spid="44038" grpId="0"/>
      <p:bldP spid="44039" grpId="0"/>
      <p:bldP spid="44040" grpId="0"/>
      <p:bldP spid="440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body" sz="half" idx="1"/>
          </p:nvPr>
        </p:nvSpPr>
        <p:spPr>
          <a:xfrm>
            <a:off x="250825" y="457200"/>
            <a:ext cx="8713788" cy="900113"/>
          </a:xfrm>
        </p:spPr>
        <p:txBody>
          <a:bodyPr vert="horz" wrap="square" lIns="91440" tIns="45720" rIns="91440" bIns="45720" anchor="t" anchorCtr="0"/>
          <a:lstStyle/>
          <a:p>
            <a:pPr marL="0" indent="0">
              <a:lnSpc>
                <a:spcPct val="120000"/>
              </a:lnSpc>
              <a:spcBef>
                <a:spcPct val="0"/>
              </a:spcBef>
              <a:buClrTx/>
              <a:buSzTx/>
              <a:buFontTx/>
            </a:pPr>
            <a:r>
              <a:rPr lang="zh-CN" altLang="en-US" sz="2400" dirty="0"/>
              <a:t>     </a:t>
            </a:r>
            <a:r>
              <a:rPr lang="zh-CN" altLang="en-US" sz="2400" b="1" dirty="0"/>
              <a:t>甘汞电极具有容易制备，使用方便，电极电势稳定的优点，在测量电池电动势时，常用甘汞电极作为参比电极。</a:t>
            </a:r>
          </a:p>
        </p:txBody>
      </p:sp>
      <p:sp>
        <p:nvSpPr>
          <p:cNvPr id="45060" name="Rectangle 4"/>
          <p:cNvSpPr/>
          <p:nvPr/>
        </p:nvSpPr>
        <p:spPr>
          <a:xfrm>
            <a:off x="0" y="1536700"/>
            <a:ext cx="5832475" cy="523875"/>
          </a:xfrm>
          <a:prstGeom prst="rect">
            <a:avLst/>
          </a:prstGeom>
          <a:solidFill>
            <a:srgbClr val="CC99FF"/>
          </a:solidFill>
          <a:ln w="9525">
            <a:noFill/>
          </a:ln>
        </p:spPr>
        <p:txBody>
          <a:bodyPr anchor="t" anchorCtr="0">
            <a:spAutoFit/>
          </a:bodyPr>
          <a:lstStyle/>
          <a:p>
            <a:pPr>
              <a:spcBef>
                <a:spcPct val="20000"/>
              </a:spcBef>
              <a:buClr>
                <a:schemeClr val="folHlink"/>
              </a:buClr>
              <a:buFont typeface="Wingdings" panose="05000000000000000000" pitchFamily="2" charset="2"/>
              <a:buChar char="§"/>
            </a:pPr>
            <a:r>
              <a:rPr lang="zh-CN" altLang="en-US" sz="2800" b="1" dirty="0">
                <a:solidFill>
                  <a:schemeClr val="tx2"/>
                </a:solidFill>
                <a:latin typeface="Arial" panose="020B0604020202020204" pitchFamily="34" charset="0"/>
                <a:ea typeface="宋体" panose="02010600030101010101" pitchFamily="2" charset="-122"/>
              </a:rPr>
              <a:t>（</a:t>
            </a:r>
            <a:r>
              <a:rPr lang="en-US" altLang="zh-CN" sz="2800" b="1" dirty="0">
                <a:solidFill>
                  <a:schemeClr val="tx2"/>
                </a:solidFill>
                <a:latin typeface="Arial" panose="020B0604020202020204" pitchFamily="34" charset="0"/>
                <a:ea typeface="宋体" panose="02010600030101010101" pitchFamily="2" charset="-122"/>
              </a:rPr>
              <a:t>2</a:t>
            </a:r>
            <a:r>
              <a:rPr lang="zh-CN" altLang="en-US" sz="2800" b="1" dirty="0">
                <a:solidFill>
                  <a:schemeClr val="tx2"/>
                </a:solidFill>
                <a:latin typeface="Arial" panose="020B0604020202020204" pitchFamily="34" charset="0"/>
                <a:ea typeface="宋体" panose="02010600030101010101" pitchFamily="2" charset="-122"/>
              </a:rPr>
              <a:t>）金属</a:t>
            </a:r>
            <a:r>
              <a:rPr lang="en-US" altLang="zh-CN" sz="2800" b="1" dirty="0">
                <a:solidFill>
                  <a:schemeClr val="tx2"/>
                </a:solidFill>
                <a:latin typeface="Arial" panose="020B0604020202020204" pitchFamily="34" charset="0"/>
                <a:ea typeface="宋体" panose="02010600030101010101" pitchFamily="2" charset="-122"/>
              </a:rPr>
              <a:t>-</a:t>
            </a:r>
            <a:r>
              <a:rPr lang="zh-CN" altLang="en-US" sz="2800" b="1" dirty="0">
                <a:solidFill>
                  <a:schemeClr val="tx2"/>
                </a:solidFill>
                <a:latin typeface="Arial" panose="020B0604020202020204" pitchFamily="34" charset="0"/>
                <a:ea typeface="宋体" panose="02010600030101010101" pitchFamily="2" charset="-122"/>
              </a:rPr>
              <a:t>难溶氧化物电极</a:t>
            </a:r>
            <a:endParaRPr lang="en-US" altLang="zh-CN" sz="2800" b="1" dirty="0">
              <a:solidFill>
                <a:schemeClr val="tx2"/>
              </a:solidFill>
              <a:latin typeface="Arial" panose="020B0604020202020204" pitchFamily="34" charset="0"/>
              <a:ea typeface="宋体" panose="02010600030101010101" pitchFamily="2" charset="-122"/>
            </a:endParaRPr>
          </a:p>
        </p:txBody>
      </p:sp>
      <p:sp>
        <p:nvSpPr>
          <p:cNvPr id="45061" name="Rectangle 5"/>
          <p:cNvSpPr>
            <a:spLocks noRot="1"/>
          </p:cNvSpPr>
          <p:nvPr/>
        </p:nvSpPr>
        <p:spPr>
          <a:xfrm>
            <a:off x="611188" y="3217863"/>
            <a:ext cx="7343775" cy="1517650"/>
          </a:xfrm>
          <a:prstGeom prst="rect">
            <a:avLst/>
          </a:prstGeom>
          <a:noFill/>
          <a:ln w="9525">
            <a:noFill/>
          </a:ln>
        </p:spPr>
        <p:txBody>
          <a:bodyPr anchor="t" anchorCtr="0"/>
          <a:lstStyle/>
          <a:p>
            <a:pPr marL="342900" indent="-342900" eaLnBrk="0" hangingPunct="0">
              <a:lnSpc>
                <a:spcPct val="125000"/>
              </a:lnSpc>
            </a:pPr>
            <a:r>
              <a:rPr lang="zh-CN" altLang="en-US" sz="2400" b="1" dirty="0">
                <a:latin typeface="Times New Roman" panose="02020603050405020304" pitchFamily="18" charset="0"/>
                <a:ea typeface="宋体" panose="02010600030101010101" pitchFamily="2" charset="-122"/>
              </a:rPr>
              <a:t>例如： 锑</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氧化锑电极：</a:t>
            </a:r>
          </a:p>
          <a:p>
            <a:pPr marL="342900" indent="-342900" eaLnBrk="0" hangingPunct="0">
              <a:lnSpc>
                <a:spcPct val="125000"/>
              </a:lnSpc>
            </a:pPr>
            <a:r>
              <a:rPr lang="en-US" altLang="zh-CN" sz="2400" b="1" dirty="0">
                <a:latin typeface="Times New Roman" panose="02020603050405020304" pitchFamily="18" charset="0"/>
                <a:ea typeface="宋体" panose="02010600030101010101" pitchFamily="2" charset="-122"/>
              </a:rPr>
              <a:t>           H</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O|Sb</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(s)|Sb</a:t>
            </a:r>
          </a:p>
          <a:p>
            <a:pPr marL="342900" indent="-342900" eaLnBrk="0" hangingPunct="0">
              <a:lnSpc>
                <a:spcPct val="125000"/>
              </a:lnSpc>
            </a:pPr>
            <a:r>
              <a:rPr lang="en-US" altLang="zh-CN" sz="2400" b="1" dirty="0">
                <a:latin typeface="Times New Roman" panose="02020603050405020304" pitchFamily="18" charset="0"/>
                <a:ea typeface="宋体" panose="02010600030101010101" pitchFamily="2" charset="-122"/>
              </a:rPr>
              <a:t>                        Sb</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(s)+ 6H</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+ 6e</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→2Sb + 3H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endParaRPr lang="zh-CN" altLang="en-US" sz="2400" b="1" dirty="0">
              <a:latin typeface="Times New Roman" panose="02020603050405020304" pitchFamily="18" charset="0"/>
              <a:ea typeface="宋体" panose="02010600030101010101" pitchFamily="2" charset="-122"/>
            </a:endParaRPr>
          </a:p>
        </p:txBody>
      </p:sp>
      <p:sp>
        <p:nvSpPr>
          <p:cNvPr id="45062" name="Rectangle 6"/>
          <p:cNvSpPr/>
          <p:nvPr/>
        </p:nvSpPr>
        <p:spPr>
          <a:xfrm>
            <a:off x="250825" y="2317750"/>
            <a:ext cx="8135938" cy="979488"/>
          </a:xfrm>
          <a:prstGeom prst="rect">
            <a:avLst/>
          </a:prstGeom>
          <a:noFill/>
          <a:ln w="9525">
            <a:noFill/>
          </a:ln>
        </p:spPr>
        <p:txBody>
          <a:bodyPr anchor="t" anchorCtr="0">
            <a:spAutoFit/>
          </a:bodyPr>
          <a:lstStyle/>
          <a:p>
            <a:pPr>
              <a:lnSpc>
                <a:spcPct val="120000"/>
              </a:lnSpc>
              <a:buClr>
                <a:schemeClr val="folHlink"/>
              </a:buClr>
              <a:buFont typeface="Wingdings" panose="05000000000000000000" pitchFamily="2" charset="2"/>
            </a:pPr>
            <a:r>
              <a:rPr lang="zh-CN" altLang="en-US" sz="2400"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构成：在金属表面上覆盖一层该金属难溶氧化物，浸入含</a:t>
            </a:r>
            <a:r>
              <a:rPr lang="en-US" altLang="zh-CN" sz="2400" b="1" dirty="0">
                <a:latin typeface="Times New Roman" panose="02020603050405020304" pitchFamily="18" charset="0"/>
                <a:ea typeface="宋体" panose="02010600030101010101" pitchFamily="2" charset="-122"/>
              </a:rPr>
              <a:t>H</a:t>
            </a:r>
            <a:r>
              <a:rPr lang="en-US" altLang="zh-CN" sz="2400" b="1" baseline="30000"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或</a:t>
            </a:r>
            <a:r>
              <a:rPr lang="en-US" altLang="zh-CN" sz="2400" b="1" dirty="0">
                <a:latin typeface="Times New Roman" panose="02020603050405020304" pitchFamily="18" charset="0"/>
                <a:ea typeface="宋体" panose="02010600030101010101" pitchFamily="2" charset="-122"/>
              </a:rPr>
              <a:t>OH</a:t>
            </a:r>
            <a:r>
              <a:rPr lang="en-US" altLang="zh-CN" sz="2400" b="1" baseline="30000"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的溶液中</a:t>
            </a:r>
            <a:r>
              <a:rPr lang="zh-CN" altLang="en-US" sz="2400" dirty="0">
                <a:latin typeface="Times New Roman" panose="02020603050405020304" pitchFamily="18" charset="0"/>
                <a:ea typeface="宋体" panose="0201060003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animEffect transition="in" filter="plus(in)">
                                      <p:cBhvr>
                                        <p:cTn id="7" dur="1000"/>
                                        <p:tgtEl>
                                          <p:spTgt spid="45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iterate type="lt">
                                    <p:tmPct val="5000"/>
                                  </p:iterate>
                                  <p:childTnLst>
                                    <p:set>
                                      <p:cBhvr>
                                        <p:cTn id="11" dur="1" fill="hold">
                                          <p:stCondLst>
                                            <p:cond delay="0"/>
                                          </p:stCondLst>
                                        </p:cTn>
                                        <p:tgtEl>
                                          <p:spTgt spid="45060"/>
                                        </p:tgtEl>
                                        <p:attrNameLst>
                                          <p:attrName>style.visibility</p:attrName>
                                        </p:attrNameLst>
                                      </p:cBhvr>
                                      <p:to>
                                        <p:strVal val="visible"/>
                                      </p:to>
                                    </p:set>
                                    <p:anim calcmode="lin" valueType="num">
                                      <p:cBhvr>
                                        <p:cTn id="12" dur="1000" fill="hold"/>
                                        <p:tgtEl>
                                          <p:spTgt spid="45060"/>
                                        </p:tgtEl>
                                        <p:attrNameLst>
                                          <p:attrName>ppt_w</p:attrName>
                                        </p:attrNameLst>
                                      </p:cBhvr>
                                      <p:tavLst>
                                        <p:tav tm="0">
                                          <p:val>
                                            <p:fltVal val="0"/>
                                          </p:val>
                                        </p:tav>
                                        <p:tav tm="100000">
                                          <p:val>
                                            <p:strVal val="#ppt_w"/>
                                          </p:val>
                                        </p:tav>
                                      </p:tavLst>
                                    </p:anim>
                                    <p:anim calcmode="lin" valueType="num">
                                      <p:cBhvr>
                                        <p:cTn id="13" dur="1000" fill="hold"/>
                                        <p:tgtEl>
                                          <p:spTgt spid="45060"/>
                                        </p:tgtEl>
                                        <p:attrNameLst>
                                          <p:attrName>ppt_h</p:attrName>
                                        </p:attrNameLst>
                                      </p:cBhvr>
                                      <p:tavLst>
                                        <p:tav tm="0">
                                          <p:val>
                                            <p:fltVal val="0"/>
                                          </p:val>
                                        </p:tav>
                                        <p:tav tm="100000">
                                          <p:val>
                                            <p:strVal val="#ppt_h"/>
                                          </p:val>
                                        </p:tav>
                                      </p:tavLst>
                                    </p:anim>
                                    <p:anim calcmode="lin" valueType="num">
                                      <p:cBhvr>
                                        <p:cTn id="14" dur="1000" fill="hold"/>
                                        <p:tgtEl>
                                          <p:spTgt spid="45060"/>
                                        </p:tgtEl>
                                        <p:attrNameLst>
                                          <p:attrName>style.rotation</p:attrName>
                                        </p:attrNameLst>
                                      </p:cBhvr>
                                      <p:tavLst>
                                        <p:tav tm="0">
                                          <p:val>
                                            <p:fltVal val="90"/>
                                          </p:val>
                                        </p:tav>
                                        <p:tav tm="100000">
                                          <p:val>
                                            <p:fltVal val="0"/>
                                          </p:val>
                                        </p:tav>
                                      </p:tavLst>
                                    </p:anim>
                                    <p:animEffect transition="in" filter="fade">
                                      <p:cBhvr>
                                        <p:cTn id="15" dur="1000"/>
                                        <p:tgtEl>
                                          <p:spTgt spid="45060"/>
                                        </p:tgtEl>
                                      </p:cBhvr>
                                    </p:animEffec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45062"/>
                                        </p:tgtEl>
                                        <p:attrNameLst>
                                          <p:attrName>style.visibility</p:attrName>
                                        </p:attrNameLst>
                                      </p:cBhvr>
                                      <p:to>
                                        <p:strVal val="visible"/>
                                      </p:to>
                                    </p:set>
                                    <p:anim calcmode="discrete" valueType="clr">
                                      <p:cBhvr override="childStyle">
                                        <p:cTn id="20" dur="80"/>
                                        <p:tgtEl>
                                          <p:spTgt spid="45062"/>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45062"/>
                                        </p:tgtEl>
                                        <p:attrNameLst>
                                          <p:attrName>fillcolor</p:attrName>
                                        </p:attrNameLst>
                                      </p:cBhvr>
                                      <p:tavLst>
                                        <p:tav tm="0">
                                          <p:val>
                                            <p:clrVal>
                                              <a:schemeClr val="accent2"/>
                                            </p:clrVal>
                                          </p:val>
                                        </p:tav>
                                        <p:tav tm="50000">
                                          <p:val>
                                            <p:clrVal>
                                              <a:schemeClr val="hlink"/>
                                            </p:clrVal>
                                          </p:val>
                                        </p:tav>
                                      </p:tavLst>
                                    </p:anim>
                                    <p:set>
                                      <p:cBhvr>
                                        <p:cTn id="22" dur="80"/>
                                        <p:tgtEl>
                                          <p:spTgt spid="45062"/>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45061"/>
                                        </p:tgtEl>
                                        <p:attrNameLst>
                                          <p:attrName>style.visibility</p:attrName>
                                        </p:attrNameLst>
                                      </p:cBhvr>
                                      <p:to>
                                        <p:strVal val="visible"/>
                                      </p:to>
                                    </p:set>
                                    <p:anim calcmode="lin" valueType="num">
                                      <p:cBhvr>
                                        <p:cTn id="27" dur="500" fill="hold"/>
                                        <p:tgtEl>
                                          <p:spTgt spid="45061"/>
                                        </p:tgtEl>
                                        <p:attrNameLst>
                                          <p:attrName>ppt_w</p:attrName>
                                        </p:attrNameLst>
                                      </p:cBhvr>
                                      <p:tavLst>
                                        <p:tav tm="0">
                                          <p:val>
                                            <p:fltVal val="0"/>
                                          </p:val>
                                        </p:tav>
                                        <p:tav tm="100000">
                                          <p:val>
                                            <p:strVal val="#ppt_w"/>
                                          </p:val>
                                        </p:tav>
                                      </p:tavLst>
                                    </p:anim>
                                    <p:anim calcmode="lin" valueType="num">
                                      <p:cBhvr>
                                        <p:cTn id="28" dur="500" fill="hold"/>
                                        <p:tgtEl>
                                          <p:spTgt spid="4506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45060" grpId="0" animBg="1"/>
      <p:bldP spid="45061" grpId="0"/>
      <p:bldP spid="4506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2"/>
          <p:cNvGraphicFramePr>
            <a:graphicFrameLocks noGrp="1" noChangeAspect="1"/>
          </p:cNvGraphicFramePr>
          <p:nvPr>
            <p:ph sz="quarter" idx="2"/>
          </p:nvPr>
        </p:nvGraphicFramePr>
        <p:xfrm>
          <a:off x="1719263" y="2943225"/>
          <a:ext cx="5300662" cy="349250"/>
        </p:xfrm>
        <a:graphic>
          <a:graphicData uri="http://schemas.openxmlformats.org/presentationml/2006/ole">
            <mc:AlternateContent xmlns:mc="http://schemas.openxmlformats.org/markup-compatibility/2006">
              <mc:Choice xmlns:v="urn:schemas-microsoft-com:vml" Requires="v">
                <p:oleObj r:id="rId3" imgW="5472430" imgH="396875" progId="Word.Document.8">
                  <p:embed/>
                </p:oleObj>
              </mc:Choice>
              <mc:Fallback>
                <p:oleObj r:id="rId3" imgW="5472430" imgH="396875" progId="Word.Document.8">
                  <p:embed/>
                  <p:pic>
                    <p:nvPicPr>
                      <p:cNvPr id="0" name="图片 3139"/>
                      <p:cNvPicPr/>
                      <p:nvPr/>
                    </p:nvPicPr>
                    <p:blipFill>
                      <a:blip r:embed="rId4"/>
                      <a:stretch>
                        <a:fillRect/>
                      </a:stretch>
                    </p:blipFill>
                    <p:spPr>
                      <a:xfrm>
                        <a:off x="1719263" y="2943225"/>
                        <a:ext cx="5300662" cy="349250"/>
                      </a:xfrm>
                      <a:prstGeom prst="rect">
                        <a:avLst/>
                      </a:prstGeom>
                      <a:noFill/>
                      <a:ln w="38100">
                        <a:miter/>
                      </a:ln>
                    </p:spPr>
                  </p:pic>
                </p:oleObj>
              </mc:Fallback>
            </mc:AlternateContent>
          </a:graphicData>
        </a:graphic>
      </p:graphicFrame>
      <p:sp>
        <p:nvSpPr>
          <p:cNvPr id="46084" name="Rectangle 4"/>
          <p:cNvSpPr/>
          <p:nvPr/>
        </p:nvSpPr>
        <p:spPr>
          <a:xfrm>
            <a:off x="611188" y="1117600"/>
            <a:ext cx="8064500" cy="1016000"/>
          </a:xfrm>
          <a:prstGeom prst="rect">
            <a:avLst/>
          </a:prstGeom>
          <a:noFill/>
          <a:ln w="9525">
            <a:noFill/>
          </a:ln>
        </p:spPr>
        <p:txBody>
          <a:bodyPr anchor="t" anchorCtr="0">
            <a:spAutoFit/>
          </a:bodyPr>
          <a:lstStyle/>
          <a:p>
            <a:pPr>
              <a:lnSpc>
                <a:spcPct val="125000"/>
              </a:lnSpc>
              <a:spcBef>
                <a:spcPct val="15000"/>
              </a:spcBef>
              <a:buClr>
                <a:schemeClr val="folHlink"/>
              </a:buClr>
              <a:buFont typeface="Wingdings" panose="05000000000000000000" pitchFamily="2" charset="2"/>
              <a:buChar char="§"/>
            </a:pPr>
            <a:r>
              <a:rPr lang="zh-CN" altLang="en-US" sz="24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构成：将惰性电极浸入含有同一元素的两种不同价态离子的溶液构成。</a:t>
            </a:r>
          </a:p>
        </p:txBody>
      </p:sp>
      <p:sp>
        <p:nvSpPr>
          <p:cNvPr id="46085" name="Rectangle 5"/>
          <p:cNvSpPr/>
          <p:nvPr/>
        </p:nvSpPr>
        <p:spPr>
          <a:xfrm>
            <a:off x="755650" y="1928813"/>
            <a:ext cx="7488238" cy="1016000"/>
          </a:xfrm>
          <a:prstGeom prst="rect">
            <a:avLst/>
          </a:prstGeom>
          <a:noFill/>
          <a:ln w="9525">
            <a:noFill/>
          </a:ln>
        </p:spPr>
        <p:txBody>
          <a:bodyPr anchor="ctr" anchorCtr="0">
            <a:spAutoFit/>
          </a:bodyPr>
          <a:lstStyle/>
          <a:p>
            <a:pPr eaLnBrk="0" hangingPunct="0">
              <a:lnSpc>
                <a:spcPct val="125000"/>
              </a:lnSpc>
            </a:pPr>
            <a:r>
              <a:rPr lang="zh-CN" altLang="en-US"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电极极板为不参加反应固体材料（</a:t>
            </a:r>
            <a:r>
              <a:rPr lang="en-US" altLang="zh-CN" sz="2400" b="1" dirty="0">
                <a:latin typeface="Times New Roman" panose="02020603050405020304" pitchFamily="18" charset="0"/>
                <a:ea typeface="宋体" panose="02010600030101010101" pitchFamily="2" charset="-122"/>
              </a:rPr>
              <a:t>Pt</a:t>
            </a:r>
            <a:r>
              <a:rPr lang="zh-CN" altLang="en-US" sz="2400" b="1" dirty="0">
                <a:latin typeface="Times New Roman" panose="02020603050405020304" pitchFamily="18" charset="0"/>
                <a:ea typeface="宋体" panose="02010600030101010101" pitchFamily="2" charset="-122"/>
              </a:rPr>
              <a:t>或石墨），参加反应的物质都在溶液中。</a:t>
            </a:r>
          </a:p>
        </p:txBody>
      </p:sp>
      <p:graphicFrame>
        <p:nvGraphicFramePr>
          <p:cNvPr id="46086" name="Object 6"/>
          <p:cNvGraphicFramePr>
            <a:graphicFrameLocks noGrp="1" noChangeAspect="1"/>
          </p:cNvGraphicFramePr>
          <p:nvPr>
            <p:ph sz="quarter" idx="3"/>
          </p:nvPr>
        </p:nvGraphicFramePr>
        <p:xfrm>
          <a:off x="2493963" y="3455988"/>
          <a:ext cx="3852862" cy="403225"/>
        </p:xfrm>
        <a:graphic>
          <a:graphicData uri="http://schemas.openxmlformats.org/presentationml/2006/ole">
            <mc:AlternateContent xmlns:mc="http://schemas.openxmlformats.org/markup-compatibility/2006">
              <mc:Choice xmlns:v="urn:schemas-microsoft-com:vml" Requires="v">
                <p:oleObj r:id="rId5" imgW="3395345" imgH="399415" progId="Word.Document.8">
                  <p:embed/>
                </p:oleObj>
              </mc:Choice>
              <mc:Fallback>
                <p:oleObj r:id="rId5" imgW="3395345" imgH="399415" progId="Word.Document.8">
                  <p:embed/>
                  <p:pic>
                    <p:nvPicPr>
                      <p:cNvPr id="0" name="图片 3140"/>
                      <p:cNvPicPr/>
                      <p:nvPr/>
                    </p:nvPicPr>
                    <p:blipFill>
                      <a:blip r:embed="rId6"/>
                      <a:stretch>
                        <a:fillRect/>
                      </a:stretch>
                    </p:blipFill>
                    <p:spPr>
                      <a:xfrm>
                        <a:off x="2493963" y="3455988"/>
                        <a:ext cx="3852862" cy="403225"/>
                      </a:xfrm>
                      <a:prstGeom prst="rect">
                        <a:avLst/>
                      </a:prstGeom>
                      <a:noFill/>
                      <a:ln w="38100">
                        <a:miter/>
                      </a:ln>
                    </p:spPr>
                  </p:pic>
                </p:oleObj>
              </mc:Fallback>
            </mc:AlternateContent>
          </a:graphicData>
        </a:graphic>
      </p:graphicFrame>
      <p:graphicFrame>
        <p:nvGraphicFramePr>
          <p:cNvPr id="46087" name="Object 7"/>
          <p:cNvGraphicFramePr>
            <a:graphicFrameLocks noChangeAspect="1"/>
          </p:cNvGraphicFramePr>
          <p:nvPr/>
        </p:nvGraphicFramePr>
        <p:xfrm>
          <a:off x="2044700" y="4059238"/>
          <a:ext cx="5640388" cy="330200"/>
        </p:xfrm>
        <a:graphic>
          <a:graphicData uri="http://schemas.openxmlformats.org/presentationml/2006/ole">
            <mc:AlternateContent xmlns:mc="http://schemas.openxmlformats.org/markup-compatibility/2006">
              <mc:Choice xmlns:v="urn:schemas-microsoft-com:vml" Requires="v">
                <p:oleObj r:id="rId7" imgW="5483225" imgH="396875" progId="Word.Document.8">
                  <p:embed/>
                </p:oleObj>
              </mc:Choice>
              <mc:Fallback>
                <p:oleObj r:id="rId7" imgW="5483225" imgH="396875" progId="Word.Document.8">
                  <p:embed/>
                  <p:pic>
                    <p:nvPicPr>
                      <p:cNvPr id="0" name="图片 3141"/>
                      <p:cNvPicPr/>
                      <p:nvPr/>
                    </p:nvPicPr>
                    <p:blipFill>
                      <a:blip r:embed="rId8"/>
                      <a:stretch>
                        <a:fillRect/>
                      </a:stretch>
                    </p:blipFill>
                    <p:spPr>
                      <a:xfrm>
                        <a:off x="2044700" y="4059238"/>
                        <a:ext cx="5640388" cy="330200"/>
                      </a:xfrm>
                      <a:prstGeom prst="rect">
                        <a:avLst/>
                      </a:prstGeom>
                      <a:noFill/>
                      <a:ln w="38100">
                        <a:noFill/>
                        <a:miter/>
                      </a:ln>
                    </p:spPr>
                  </p:pic>
                </p:oleObj>
              </mc:Fallback>
            </mc:AlternateContent>
          </a:graphicData>
        </a:graphic>
      </p:graphicFrame>
      <p:sp>
        <p:nvSpPr>
          <p:cNvPr id="46088" name="Rectangle 8"/>
          <p:cNvSpPr/>
          <p:nvPr/>
        </p:nvSpPr>
        <p:spPr>
          <a:xfrm>
            <a:off x="0" y="576263"/>
            <a:ext cx="5292725" cy="492125"/>
          </a:xfrm>
          <a:prstGeom prst="rect">
            <a:avLst/>
          </a:prstGeom>
          <a:solidFill>
            <a:srgbClr val="008000"/>
          </a:solidFill>
          <a:ln w="9525">
            <a:noFill/>
          </a:ln>
        </p:spPr>
        <p:txBody>
          <a:bodyPr anchor="t" anchorCtr="0">
            <a:spAutoFit/>
          </a:bodyPr>
          <a:lstStyle/>
          <a:p>
            <a:pPr algn="ctr"/>
            <a:r>
              <a:rPr lang="zh-CN" altLang="en-US" sz="2600" b="1" dirty="0">
                <a:solidFill>
                  <a:schemeClr val="bg1"/>
                </a:solidFill>
                <a:latin typeface="Times New Roman" panose="02020603050405020304" pitchFamily="18" charset="0"/>
                <a:ea typeface="宋体" panose="02010600030101010101" pitchFamily="2" charset="-122"/>
              </a:rPr>
              <a:t>三、</a:t>
            </a:r>
            <a:r>
              <a:rPr lang="en-US" altLang="zh-CN" sz="2600" b="1" dirty="0">
                <a:solidFill>
                  <a:schemeClr val="bg1"/>
                </a:solidFill>
                <a:latin typeface="Times New Roman" panose="02020603050405020304" pitchFamily="18" charset="0"/>
                <a:ea typeface="宋体" panose="02010600030101010101" pitchFamily="2" charset="-122"/>
              </a:rPr>
              <a:t> </a:t>
            </a:r>
            <a:r>
              <a:rPr lang="zh-CN" altLang="en-US" sz="2600" b="1" dirty="0">
                <a:solidFill>
                  <a:schemeClr val="bg1"/>
                </a:solidFill>
                <a:latin typeface="Times New Roman" panose="02020603050405020304" pitchFamily="18" charset="0"/>
                <a:ea typeface="宋体" panose="02010600030101010101" pitchFamily="2" charset="-122"/>
              </a:rPr>
              <a:t>第三类电极</a:t>
            </a:r>
            <a:r>
              <a:rPr lang="zh-CN" altLang="en-US" sz="2600" b="1" dirty="0">
                <a:solidFill>
                  <a:schemeClr val="bg1"/>
                </a:solidFill>
                <a:latin typeface="Arial" panose="020B0604020202020204" pitchFamily="34" charset="0"/>
                <a:ea typeface="宋体" panose="02010600030101010101" pitchFamily="2" charset="-122"/>
              </a:rPr>
              <a:t>（氧化还原电极）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6088"/>
                                        </p:tgtEl>
                                        <p:attrNameLst>
                                          <p:attrName>style.visibility</p:attrName>
                                        </p:attrNameLst>
                                      </p:cBhvr>
                                      <p:to>
                                        <p:strVal val="visible"/>
                                      </p:to>
                                    </p:set>
                                    <p:anim calcmode="lin" valueType="num">
                                      <p:cBhvr>
                                        <p:cTn id="7" dur="1000" fill="hold"/>
                                        <p:tgtEl>
                                          <p:spTgt spid="46088"/>
                                        </p:tgtEl>
                                        <p:attrNameLst>
                                          <p:attrName>ppt_x</p:attrName>
                                        </p:attrNameLst>
                                      </p:cBhvr>
                                      <p:tavLst>
                                        <p:tav tm="0">
                                          <p:val>
                                            <p:strVal val="#ppt_x"/>
                                          </p:val>
                                        </p:tav>
                                        <p:tav tm="50000">
                                          <p:val>
                                            <p:strVal val="#ppt_x+.1"/>
                                          </p:val>
                                        </p:tav>
                                        <p:tav tm="100000">
                                          <p:val>
                                            <p:strVal val="#ppt_x"/>
                                          </p:val>
                                        </p:tav>
                                      </p:tavLst>
                                    </p:anim>
                                    <p:anim calcmode="lin" valueType="num">
                                      <p:cBhvr>
                                        <p:cTn id="8" dur="1000" fill="hold"/>
                                        <p:tgtEl>
                                          <p:spTgt spid="46088"/>
                                        </p:tgtEl>
                                        <p:attrNameLst>
                                          <p:attrName>ppt_y</p:attrName>
                                        </p:attrNameLst>
                                      </p:cBhvr>
                                      <p:tavLst>
                                        <p:tav tm="0">
                                          <p:val>
                                            <p:strVal val="#ppt_y"/>
                                          </p:val>
                                        </p:tav>
                                        <p:tav tm="100000">
                                          <p:val>
                                            <p:strVal val="#ppt_y"/>
                                          </p:val>
                                        </p:tav>
                                      </p:tavLst>
                                    </p:anim>
                                    <p:anim calcmode="lin" valueType="num">
                                      <p:cBhvr>
                                        <p:cTn id="9" dur="1000" fill="hold"/>
                                        <p:tgtEl>
                                          <p:spTgt spid="46088"/>
                                        </p:tgtEl>
                                        <p:attrNameLst>
                                          <p:attrName>ppt_h</p:attrName>
                                        </p:attrNameLst>
                                      </p:cBhvr>
                                      <p:tavLst>
                                        <p:tav tm="0">
                                          <p:val>
                                            <p:strVal val="#ppt_h/10"/>
                                          </p:val>
                                        </p:tav>
                                        <p:tav tm="50000">
                                          <p:val>
                                            <p:strVal val="#ppt_h+.01"/>
                                          </p:val>
                                        </p:tav>
                                        <p:tav tm="100000">
                                          <p:val>
                                            <p:strVal val="#ppt_h"/>
                                          </p:val>
                                        </p:tav>
                                      </p:tavLst>
                                    </p:anim>
                                    <p:anim calcmode="lin" valueType="num">
                                      <p:cBhvr>
                                        <p:cTn id="10" dur="1000" fill="hold"/>
                                        <p:tgtEl>
                                          <p:spTgt spid="4608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000" tmFilter="0,0; .5, 1; 1, 1"/>
                                        <p:tgtEl>
                                          <p:spTgt spid="46088"/>
                                        </p:tgtEl>
                                      </p:cBhvr>
                                    </p:animEffect>
                                  </p:childTnLst>
                                </p:cTn>
                              </p:par>
                            </p:childTnLst>
                          </p:cTn>
                        </p:par>
                      </p:childTnLst>
                    </p:cTn>
                  </p:par>
                  <p:par>
                    <p:cTn id="12" fill="hold">
                      <p:stCondLst>
                        <p:cond delay="indefinite"/>
                      </p:stCondLst>
                      <p:childTnLst>
                        <p:par>
                          <p:cTn id="13" fill="hold">
                            <p:stCondLst>
                              <p:cond delay="0"/>
                            </p:stCondLst>
                            <p:childTnLst>
                              <p:par>
                                <p:cTn id="14" presetID="13" presetClass="entr" presetSubtype="16" fill="hold" grpId="0" nodeType="clickEffect">
                                  <p:stCondLst>
                                    <p:cond delay="0"/>
                                  </p:stCondLst>
                                  <p:childTnLst>
                                    <p:set>
                                      <p:cBhvr>
                                        <p:cTn id="15" dur="1" fill="hold">
                                          <p:stCondLst>
                                            <p:cond delay="0"/>
                                          </p:stCondLst>
                                        </p:cTn>
                                        <p:tgtEl>
                                          <p:spTgt spid="46084"/>
                                        </p:tgtEl>
                                        <p:attrNameLst>
                                          <p:attrName>style.visibility</p:attrName>
                                        </p:attrNameLst>
                                      </p:cBhvr>
                                      <p:to>
                                        <p:strVal val="visible"/>
                                      </p:to>
                                    </p:set>
                                    <p:animEffect transition="in" filter="plus(in)">
                                      <p:cBhvr>
                                        <p:cTn id="16" dur="2000"/>
                                        <p:tgtEl>
                                          <p:spTgt spid="46084"/>
                                        </p:tgtEl>
                                      </p:cBhvr>
                                    </p:animEffect>
                                  </p:childTnLst>
                                </p:cTn>
                              </p:par>
                            </p:childTnLst>
                          </p:cTn>
                        </p:par>
                      </p:childTnLst>
                    </p:cTn>
                  </p:par>
                  <p:par>
                    <p:cTn id="17" fill="hold">
                      <p:stCondLst>
                        <p:cond delay="indefinite"/>
                      </p:stCondLst>
                      <p:childTnLst>
                        <p:par>
                          <p:cTn id="18" fill="hold">
                            <p:stCondLst>
                              <p:cond delay="0"/>
                            </p:stCondLst>
                            <p:childTnLst>
                              <p:par>
                                <p:cTn id="19" presetID="40" presetClass="entr" presetSubtype="0" fill="hold" grpId="0" nodeType="clickEffect">
                                  <p:stCondLst>
                                    <p:cond delay="0"/>
                                  </p:stCondLst>
                                  <p:iterate type="lt">
                                    <p:tmPct val="10000"/>
                                  </p:iterate>
                                  <p:childTnLst>
                                    <p:set>
                                      <p:cBhvr>
                                        <p:cTn id="20" dur="1" fill="hold">
                                          <p:stCondLst>
                                            <p:cond delay="0"/>
                                          </p:stCondLst>
                                        </p:cTn>
                                        <p:tgtEl>
                                          <p:spTgt spid="46085"/>
                                        </p:tgtEl>
                                        <p:attrNameLst>
                                          <p:attrName>style.visibility</p:attrName>
                                        </p:attrNameLst>
                                      </p:cBhvr>
                                      <p:to>
                                        <p:strVal val="visible"/>
                                      </p:to>
                                    </p:set>
                                    <p:animEffect transition="in" filter="fade">
                                      <p:cBhvr>
                                        <p:cTn id="21" dur="1000"/>
                                        <p:tgtEl>
                                          <p:spTgt spid="46085"/>
                                        </p:tgtEl>
                                      </p:cBhvr>
                                    </p:animEffect>
                                    <p:anim calcmode="lin" valueType="num">
                                      <p:cBhvr>
                                        <p:cTn id="22" dur="1000" fill="hold"/>
                                        <p:tgtEl>
                                          <p:spTgt spid="46085"/>
                                        </p:tgtEl>
                                        <p:attrNameLst>
                                          <p:attrName>ppt_x</p:attrName>
                                        </p:attrNameLst>
                                      </p:cBhvr>
                                      <p:tavLst>
                                        <p:tav tm="0">
                                          <p:val>
                                            <p:strVal val="#ppt_x-.1"/>
                                          </p:val>
                                        </p:tav>
                                        <p:tav tm="100000">
                                          <p:val>
                                            <p:strVal val="#ppt_x"/>
                                          </p:val>
                                        </p:tav>
                                      </p:tavLst>
                                    </p:anim>
                                    <p:anim calcmode="lin" valueType="num">
                                      <p:cBhvr>
                                        <p:cTn id="23" dur="1000" fill="hold"/>
                                        <p:tgtEl>
                                          <p:spTgt spid="4608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6082"/>
                                        </p:tgtEl>
                                        <p:attrNameLst>
                                          <p:attrName>style.visibility</p:attrName>
                                        </p:attrNameLst>
                                      </p:cBhvr>
                                      <p:to>
                                        <p:strVal val="visible"/>
                                      </p:to>
                                    </p:set>
                                    <p:animEffect transition="in" filter="wipe(left)">
                                      <p:cBhvr>
                                        <p:cTn id="28" dur="2000"/>
                                        <p:tgtEl>
                                          <p:spTgt spid="4608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6086"/>
                                        </p:tgtEl>
                                        <p:attrNameLst>
                                          <p:attrName>style.visibility</p:attrName>
                                        </p:attrNameLst>
                                      </p:cBhvr>
                                      <p:to>
                                        <p:strVal val="visible"/>
                                      </p:to>
                                    </p:set>
                                    <p:animEffect transition="in" filter="wipe(left)">
                                      <p:cBhvr>
                                        <p:cTn id="33" dur="2000"/>
                                        <p:tgtEl>
                                          <p:spTgt spid="46086"/>
                                        </p:tgtEl>
                                      </p:cBhvr>
                                    </p:animEffect>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6087"/>
                                        </p:tgtEl>
                                        <p:attrNameLst>
                                          <p:attrName>style.visibility</p:attrName>
                                        </p:attrNameLst>
                                      </p:cBhvr>
                                      <p:to>
                                        <p:strVal val="visible"/>
                                      </p:to>
                                    </p:set>
                                    <p:animEffect transition="in" filter="wipe(left)">
                                      <p:cBhvr>
                                        <p:cTn id="38" dur="2000"/>
                                        <p:tgtEl>
                                          <p:spTgt spid="46087"/>
                                        </p:tgtEl>
                                      </p:cBhvr>
                                    </p:animEffect>
                                  </p:childTnLst>
                                  <p:subTnLst>
                                    <p:audio>
                                      <p:cMediaNode>
                                        <p:cTn display="0" masterRel="sameClick">
                                          <p:stCondLst>
                                            <p:cond evt="begin" delay="0">
                                              <p:tn val="36"/>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p:bldP spid="4608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5" name="Object 2"/>
          <p:cNvGraphicFramePr>
            <a:graphicFrameLocks noChangeAspect="1"/>
          </p:cNvGraphicFramePr>
          <p:nvPr/>
        </p:nvGraphicFramePr>
        <p:xfrm>
          <a:off x="0" y="571500"/>
          <a:ext cx="9144000" cy="4462463"/>
        </p:xfrm>
        <a:graphic>
          <a:graphicData uri="http://schemas.openxmlformats.org/presentationml/2006/ole">
            <mc:AlternateContent xmlns:mc="http://schemas.openxmlformats.org/markup-compatibility/2006">
              <mc:Choice xmlns:v="urn:schemas-microsoft-com:vml" Requires="v">
                <p:oleObj r:id="rId2" imgW="5286375" imgH="3095625" progId="Paint.Picture">
                  <p:embed/>
                </p:oleObj>
              </mc:Choice>
              <mc:Fallback>
                <p:oleObj r:id="rId2" imgW="5286375" imgH="3095625" progId="Paint.Picture">
                  <p:embed/>
                  <p:pic>
                    <p:nvPicPr>
                      <p:cNvPr id="0" name="图片 3138"/>
                      <p:cNvPicPr/>
                      <p:nvPr/>
                    </p:nvPicPr>
                    <p:blipFill>
                      <a:blip r:embed="rId3"/>
                      <a:stretch>
                        <a:fillRect/>
                      </a:stretch>
                    </p:blipFill>
                    <p:spPr>
                      <a:xfrm>
                        <a:off x="0" y="571500"/>
                        <a:ext cx="9144000" cy="4462463"/>
                      </a:xfrm>
                      <a:prstGeom prst="rect">
                        <a:avLst/>
                      </a:prstGeom>
                      <a:noFill/>
                      <a:ln w="38100">
                        <a:noFill/>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p:cNvSpPr>
          <p:nvPr>
            <p:ph type="body" sz="half" idx="1"/>
          </p:nvPr>
        </p:nvSpPr>
        <p:spPr>
          <a:xfrm>
            <a:off x="179388" y="2978150"/>
            <a:ext cx="8713787" cy="2160588"/>
          </a:xfrm>
        </p:spPr>
        <p:txBody>
          <a:bodyPr vert="horz" wrap="square" lIns="91440" tIns="45720" rIns="91440" bIns="45720" anchor="t" anchorCtr="0"/>
          <a:lstStyle/>
          <a:p>
            <a:pPr eaLnBrk="1" hangingPunct="1">
              <a:buClrTx/>
              <a:buSzTx/>
              <a:buFontTx/>
              <a:buNone/>
            </a:pPr>
            <a:r>
              <a:rPr lang="zh-CN" altLang="en-US" sz="2800" b="1" dirty="0">
                <a:latin typeface="Times New Roman" panose="02020603050405020304" pitchFamily="18" charset="0"/>
              </a:rPr>
              <a:t>            </a:t>
            </a:r>
            <a:r>
              <a:rPr lang="zh-CN" altLang="en-US" sz="2400" b="1" dirty="0">
                <a:latin typeface="Times New Roman" panose="02020603050405020304" pitchFamily="18" charset="0"/>
              </a:rPr>
              <a:t>以</a:t>
            </a:r>
            <a:r>
              <a:rPr lang="en-US" altLang="zh-CN" sz="2400" b="1" dirty="0">
                <a:latin typeface="Times New Roman" panose="02020603050405020304" pitchFamily="18" charset="0"/>
              </a:rPr>
              <a:t>Cu-Zn</a:t>
            </a:r>
            <a:r>
              <a:rPr lang="zh-CN" altLang="en-US" sz="2400" b="1" dirty="0">
                <a:latin typeface="Times New Roman" panose="02020603050405020304" pitchFamily="18" charset="0"/>
              </a:rPr>
              <a:t>原电池为例，解释电流产生的原因。</a:t>
            </a:r>
          </a:p>
          <a:p>
            <a:pPr eaLnBrk="1" hangingPunct="1">
              <a:buClrTx/>
              <a:buSzTx/>
              <a:buFontTx/>
              <a:buNone/>
            </a:pPr>
            <a:r>
              <a:rPr lang="zh-CN" altLang="en-US" sz="2400" b="1" dirty="0">
                <a:latin typeface="Times New Roman" panose="02020603050405020304" pitchFamily="18" charset="0"/>
              </a:rPr>
              <a:t>            </a:t>
            </a:r>
            <a:r>
              <a:rPr lang="zh-CN" altLang="en-US" sz="2400" b="1" dirty="0">
                <a:solidFill>
                  <a:srgbClr val="FF3300"/>
                </a:solidFill>
                <a:latin typeface="Times New Roman" panose="02020603050405020304" pitchFamily="18" charset="0"/>
              </a:rPr>
              <a:t>金属锌失去电子的趋势比铜大</a:t>
            </a:r>
            <a:r>
              <a:rPr lang="zh-CN" altLang="en-US" sz="2400" b="1" dirty="0">
                <a:latin typeface="Times New Roman" panose="02020603050405020304" pitchFamily="18" charset="0"/>
              </a:rPr>
              <a:t>，所以锌片上有较多的负电荷，若用导线把锌片和铜片连接起来，电子就从锌片流向铜片；流到铜片上的电子，与溶液中的</a:t>
            </a:r>
            <a:r>
              <a:rPr lang="en-US" altLang="zh-CN" sz="2400" b="1" dirty="0">
                <a:latin typeface="Times New Roman" panose="02020603050405020304" pitchFamily="18" charset="0"/>
              </a:rPr>
              <a:t>Cu</a:t>
            </a:r>
            <a:r>
              <a:rPr lang="en-US" altLang="zh-CN" sz="2400" b="1" baseline="30000" dirty="0">
                <a:latin typeface="Times New Roman" panose="02020603050405020304" pitchFamily="18" charset="0"/>
              </a:rPr>
              <a:t>2+</a:t>
            </a:r>
            <a:r>
              <a:rPr lang="zh-CN" altLang="en-US" sz="2400" b="1" dirty="0">
                <a:latin typeface="Times New Roman" panose="02020603050405020304" pitchFamily="18" charset="0"/>
              </a:rPr>
              <a:t>离子结合生成金属铜，并在铜片上沉积下来。这样</a:t>
            </a:r>
            <a:r>
              <a:rPr lang="zh-CN" altLang="en-US" sz="2400" b="1" dirty="0">
                <a:solidFill>
                  <a:srgbClr val="FF3300"/>
                </a:solidFill>
                <a:latin typeface="Times New Roman" panose="02020603050405020304" pitchFamily="18" charset="0"/>
              </a:rPr>
              <a:t>电子不断地从锌片流向铜片</a:t>
            </a:r>
            <a:r>
              <a:rPr lang="zh-CN" altLang="en-US" sz="2400" b="1" dirty="0">
                <a:latin typeface="Times New Roman" panose="02020603050405020304" pitchFamily="18" charset="0"/>
              </a:rPr>
              <a:t>，从而产生电流。 </a:t>
            </a:r>
          </a:p>
        </p:txBody>
      </p:sp>
      <p:sp>
        <p:nvSpPr>
          <p:cNvPr id="3082" name="Rectangle 10"/>
          <p:cNvSpPr>
            <a:spLocks noRot="1"/>
          </p:cNvSpPr>
          <p:nvPr/>
        </p:nvSpPr>
        <p:spPr>
          <a:xfrm>
            <a:off x="0" y="338138"/>
            <a:ext cx="9144000" cy="600075"/>
          </a:xfrm>
          <a:prstGeom prst="rect">
            <a:avLst/>
          </a:prstGeom>
          <a:solidFill>
            <a:srgbClr val="008000"/>
          </a:solidFill>
          <a:ln w="9525">
            <a:noFill/>
          </a:ln>
        </p:spPr>
        <p:txBody>
          <a:bodyPr anchor="ctr" anchorCtr="0"/>
          <a:lstStyle/>
          <a:p>
            <a:pPr algn="ctr" eaLnBrk="0" hangingPunct="0"/>
            <a:r>
              <a:rPr lang="zh-CN" altLang="en-US" sz="3200" b="1" dirty="0">
                <a:solidFill>
                  <a:srgbClr val="FFFFCC"/>
                </a:solidFill>
                <a:latin typeface="Times New Roman" panose="02020603050405020304" pitchFamily="18" charset="0"/>
                <a:ea typeface="宋体" panose="02010600030101010101" pitchFamily="2" charset="-122"/>
              </a:rPr>
              <a:t>§</a:t>
            </a:r>
            <a:r>
              <a:rPr lang="en-US" altLang="zh-CN" sz="3200" b="1" dirty="0">
                <a:solidFill>
                  <a:srgbClr val="FFFFCC"/>
                </a:solidFill>
                <a:latin typeface="Times New Roman" panose="02020603050405020304" pitchFamily="18" charset="0"/>
                <a:ea typeface="宋体" panose="02010600030101010101" pitchFamily="2" charset="-122"/>
              </a:rPr>
              <a:t>4.2</a:t>
            </a:r>
            <a:r>
              <a:rPr lang="en-US" altLang="zh-CN" sz="3200" dirty="0">
                <a:solidFill>
                  <a:srgbClr val="FFFFCC"/>
                </a:solidFill>
                <a:latin typeface="黑体" panose="02010609060101010101" pitchFamily="49" charset="-122"/>
                <a:ea typeface="黑体" panose="02010609060101010101" pitchFamily="49" charset="-122"/>
              </a:rPr>
              <a:t>  </a:t>
            </a:r>
            <a:r>
              <a:rPr lang="zh-CN" altLang="en-US" sz="3200" dirty="0">
                <a:solidFill>
                  <a:srgbClr val="FFFF99"/>
                </a:solidFill>
                <a:latin typeface="黑体" panose="02010609060101010101" pitchFamily="49" charset="-122"/>
                <a:ea typeface="黑体" panose="02010609060101010101" pitchFamily="49" charset="-122"/>
              </a:rPr>
              <a:t>原电池电动势</a:t>
            </a:r>
          </a:p>
        </p:txBody>
      </p:sp>
      <p:sp>
        <p:nvSpPr>
          <p:cNvPr id="3088" name="Rectangle 16"/>
          <p:cNvSpPr/>
          <p:nvPr/>
        </p:nvSpPr>
        <p:spPr>
          <a:xfrm>
            <a:off x="684213" y="1597025"/>
            <a:ext cx="7772400" cy="1531938"/>
          </a:xfrm>
          <a:prstGeom prst="rect">
            <a:avLst/>
          </a:prstGeom>
          <a:solidFill>
            <a:schemeClr val="accent1"/>
          </a:solidFill>
          <a:ln w="19050" cap="flat" cmpd="sng">
            <a:solidFill>
              <a:srgbClr val="FF0000"/>
            </a:solidFill>
            <a:prstDash val="solid"/>
            <a:miter/>
            <a:headEnd type="none" w="med" len="med"/>
            <a:tailEnd type="none" w="med" len="med"/>
          </a:ln>
        </p:spPr>
        <p:txBody>
          <a:bodyPr anchor="t" anchorCtr="0">
            <a:spAutoFit/>
          </a:bodyPr>
          <a:lstStyle/>
          <a:p>
            <a:pPr>
              <a:lnSpc>
                <a:spcPct val="130000"/>
              </a:lnSpc>
              <a:spcBef>
                <a:spcPct val="15000"/>
              </a:spcBef>
            </a:pPr>
            <a:r>
              <a:rPr lang="zh-CN" altLang="en-US" sz="2400" b="1" dirty="0">
                <a:latin typeface="Times New Roman" panose="02020603050405020304" pitchFamily="18" charset="0"/>
                <a:ea typeface="宋体" panose="02010600030101010101" pitchFamily="2" charset="-122"/>
              </a:rPr>
              <a:t>         由任意两个电极构成的电池，其电动势</a:t>
            </a:r>
          </a:p>
          <a:p>
            <a:pPr>
              <a:lnSpc>
                <a:spcPct val="130000"/>
              </a:lnSpc>
              <a:spcBef>
                <a:spcPct val="15000"/>
              </a:spcBef>
            </a:pPr>
            <a:r>
              <a:rPr lang="zh-CN" altLang="en-US" sz="2400" b="1" i="1" dirty="0">
                <a:solidFill>
                  <a:srgbClr val="FF0066"/>
                </a:solidFill>
                <a:latin typeface="Times New Roman" panose="02020603050405020304" pitchFamily="18" charset="0"/>
                <a:ea typeface="楷体_GB2312" panose="02010609030101010101" pitchFamily="49" charset="-122"/>
              </a:rPr>
              <a:t>                                       </a:t>
            </a:r>
            <a:r>
              <a:rPr lang="en-US" altLang="zh-CN" sz="2400" b="1" i="1" dirty="0">
                <a:solidFill>
                  <a:srgbClr val="0000FF"/>
                </a:solidFill>
                <a:latin typeface="Times New Roman" panose="02020603050405020304" pitchFamily="18" charset="0"/>
                <a:ea typeface="楷体_GB2312" panose="02010609030101010101" pitchFamily="49" charset="-122"/>
              </a:rPr>
              <a:t>E</a:t>
            </a:r>
            <a:r>
              <a:rPr lang="en-US" altLang="zh-CN" sz="2400" b="1" dirty="0">
                <a:solidFill>
                  <a:srgbClr val="0000FF"/>
                </a:solidFill>
                <a:latin typeface="Times New Roman" panose="02020603050405020304" pitchFamily="18" charset="0"/>
                <a:ea typeface="楷体_GB2312" panose="02010609030101010101" pitchFamily="49" charset="-122"/>
              </a:rPr>
              <a:t>= </a:t>
            </a:r>
            <a:r>
              <a:rPr lang="en-US" altLang="en-US" sz="2400" b="1" i="1" dirty="0">
                <a:solidFill>
                  <a:srgbClr val="0000FF"/>
                </a:solidFill>
                <a:latin typeface="Times New Roman" panose="02020603050405020304" pitchFamily="18" charset="0"/>
                <a:ea typeface="楷体_GB2312" panose="02010609030101010101" pitchFamily="49" charset="-122"/>
              </a:rPr>
              <a:t>Φ</a:t>
            </a:r>
            <a:r>
              <a:rPr lang="zh-CN" altLang="zh-CN" sz="2400" b="1" baseline="-25000" dirty="0">
                <a:solidFill>
                  <a:srgbClr val="0000FF"/>
                </a:solidFill>
                <a:latin typeface="Times New Roman" panose="02020603050405020304" pitchFamily="18" charset="0"/>
                <a:ea typeface="楷体_GB2312" panose="02010609030101010101" pitchFamily="49" charset="-122"/>
              </a:rPr>
              <a:t>右 </a:t>
            </a:r>
            <a:r>
              <a:rPr lang="en-US" altLang="zh-CN"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楷体_GB2312" panose="02010609030101010101" pitchFamily="49" charset="-122"/>
              </a:rPr>
              <a:t> </a:t>
            </a:r>
            <a:r>
              <a:rPr lang="en-US" altLang="en-US" sz="2400" b="1" i="1" dirty="0">
                <a:solidFill>
                  <a:srgbClr val="0000FF"/>
                </a:solidFill>
                <a:latin typeface="Times New Roman" panose="02020603050405020304" pitchFamily="18" charset="0"/>
                <a:ea typeface="楷体_GB2312" panose="02010609030101010101" pitchFamily="49" charset="-122"/>
              </a:rPr>
              <a:t>Φ</a:t>
            </a:r>
            <a:r>
              <a:rPr lang="zh-CN" altLang="en-US" sz="2400" b="1" baseline="-25000" dirty="0">
                <a:solidFill>
                  <a:srgbClr val="0000FF"/>
                </a:solidFill>
                <a:latin typeface="Times New Roman" panose="02020603050405020304" pitchFamily="18" charset="0"/>
                <a:ea typeface="楷体_GB2312" panose="02010609030101010101" pitchFamily="49" charset="-122"/>
              </a:rPr>
              <a:t>左</a:t>
            </a:r>
            <a:endParaRPr lang="zh-CN" altLang="en-US" sz="2400" baseline="-25000" dirty="0">
              <a:solidFill>
                <a:srgbClr val="0000FF"/>
              </a:solidFill>
              <a:latin typeface="Times New Roman" panose="02020603050405020304" pitchFamily="18" charset="0"/>
              <a:ea typeface="楷体_GB2312" panose="02010609030101010101" pitchFamily="49" charset="-122"/>
            </a:endParaRPr>
          </a:p>
          <a:p>
            <a:pPr>
              <a:spcBef>
                <a:spcPct val="15000"/>
              </a:spcBef>
            </a:pPr>
            <a:r>
              <a:rPr lang="en-US" altLang="en-US" sz="2400" dirty="0">
                <a:latin typeface="Times New Roman" panose="02020603050405020304" pitchFamily="18" charset="0"/>
                <a:ea typeface="楷体_GB2312" panose="02010609030101010101" pitchFamily="49" charset="-122"/>
              </a:rPr>
              <a:t>  </a:t>
            </a:r>
            <a:r>
              <a:rPr lang="en-US" altLang="zh-CN" sz="2400" b="1" i="1" dirty="0">
                <a:solidFill>
                  <a:srgbClr val="0000FF"/>
                </a:solidFill>
                <a:latin typeface="Times New Roman" panose="02020603050405020304" pitchFamily="18" charset="0"/>
                <a:ea typeface="宋体" panose="02010600030101010101" pitchFamily="2" charset="-122"/>
              </a:rPr>
              <a:t>E</a:t>
            </a:r>
            <a:r>
              <a:rPr lang="zh-CN" altLang="en-US" sz="2400" b="1" dirty="0">
                <a:solidFill>
                  <a:srgbClr val="0000FF"/>
                </a:solidFill>
                <a:latin typeface="宋体" panose="02010600030101010101" pitchFamily="2" charset="-122"/>
                <a:ea typeface="宋体" panose="02010600030101010101" pitchFamily="2" charset="-122"/>
              </a:rPr>
              <a:t>为正值</a:t>
            </a:r>
            <a:r>
              <a:rPr lang="zh-CN" altLang="en-US" sz="2400" b="1" dirty="0">
                <a:latin typeface="宋体" panose="02010600030101010101" pitchFamily="2" charset="-122"/>
                <a:ea typeface="宋体" panose="02010600030101010101" pitchFamily="2" charset="-122"/>
              </a:rPr>
              <a:t>，表示电池反应能自发进行。</a:t>
            </a:r>
          </a:p>
        </p:txBody>
      </p:sp>
      <p:sp>
        <p:nvSpPr>
          <p:cNvPr id="3089" name="Rectangle 17"/>
          <p:cNvSpPr/>
          <p:nvPr/>
        </p:nvSpPr>
        <p:spPr>
          <a:xfrm>
            <a:off x="0" y="968375"/>
            <a:ext cx="3995738"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1.电极电势的产生</a:t>
            </a:r>
            <a:endParaRPr lang="zh-CN" altLang="en-US" sz="2800" b="1" dirty="0">
              <a:solidFill>
                <a:schemeClr val="tx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082"/>
                                        </p:tgtEl>
                                        <p:attrNameLst>
                                          <p:attrName>style.visibility</p:attrName>
                                        </p:attrNameLst>
                                      </p:cBhvr>
                                      <p:to>
                                        <p:strVal val="visible"/>
                                      </p:to>
                                    </p:set>
                                    <p:anim calcmode="lin" valueType="num">
                                      <p:cBhvr>
                                        <p:cTn id="7" dur="500" fill="hold"/>
                                        <p:tgtEl>
                                          <p:spTgt spid="308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82"/>
                                        </p:tgtEl>
                                        <p:attrNameLst>
                                          <p:attrName>ppt_y</p:attrName>
                                        </p:attrNameLst>
                                      </p:cBhvr>
                                      <p:tavLst>
                                        <p:tav tm="0">
                                          <p:val>
                                            <p:strVal val="#ppt_y"/>
                                          </p:val>
                                        </p:tav>
                                        <p:tav tm="100000">
                                          <p:val>
                                            <p:strVal val="#ppt_y"/>
                                          </p:val>
                                        </p:tav>
                                      </p:tavLst>
                                    </p:anim>
                                    <p:anim calcmode="lin" valueType="num">
                                      <p:cBhvr>
                                        <p:cTn id="9" dur="500" fill="hold"/>
                                        <p:tgtEl>
                                          <p:spTgt spid="308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8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82"/>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089"/>
                                        </p:tgtEl>
                                        <p:attrNameLst>
                                          <p:attrName>style.visibility</p:attrName>
                                        </p:attrNameLst>
                                      </p:cBhvr>
                                      <p:to>
                                        <p:strVal val="visible"/>
                                      </p:to>
                                    </p:set>
                                    <p:animEffect transition="in" filter="checkerboard(across)">
                                      <p:cBhvr>
                                        <p:cTn id="16" dur="500"/>
                                        <p:tgtEl>
                                          <p:spTgt spid="308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3088"/>
                                        </p:tgtEl>
                                        <p:attrNameLst>
                                          <p:attrName>style.visibility</p:attrName>
                                        </p:attrNameLst>
                                      </p:cBhvr>
                                      <p:to>
                                        <p:strVal val="visible"/>
                                      </p:to>
                                    </p:set>
                                    <p:animEffect transition="in" filter="blinds(vertical)">
                                      <p:cBhvr>
                                        <p:cTn id="21" dur="500"/>
                                        <p:tgtEl>
                                          <p:spTgt spid="308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076">
                                            <p:txEl>
                                              <p:pRg st="0" end="0"/>
                                            </p:txEl>
                                          </p:spTgt>
                                        </p:tgtEl>
                                        <p:attrNameLst>
                                          <p:attrName>style.visibility</p:attrName>
                                        </p:attrNameLst>
                                      </p:cBhvr>
                                      <p:to>
                                        <p:strVal val="visible"/>
                                      </p:to>
                                    </p:set>
                                    <p:animEffect transition="in" filter="dissolve">
                                      <p:cBhvr>
                                        <p:cTn id="26" dur="500"/>
                                        <p:tgtEl>
                                          <p:spTgt spid="307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076">
                                            <p:txEl>
                                              <p:pRg st="1" end="1"/>
                                            </p:txEl>
                                          </p:spTgt>
                                        </p:tgtEl>
                                        <p:attrNameLst>
                                          <p:attrName>style.visibility</p:attrName>
                                        </p:attrNameLst>
                                      </p:cBhvr>
                                      <p:to>
                                        <p:strVal val="visible"/>
                                      </p:to>
                                    </p:set>
                                    <p:animEffect transition="in" filter="dissolve">
                                      <p:cBhvr>
                                        <p:cTn id="31" dur="500"/>
                                        <p:tgtEl>
                                          <p:spTgt spid="307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build="p"/>
      <p:bldP spid="3082" grpId="0" animBg="1"/>
      <p:bldP spid="3088" grpId="0" animBg="1"/>
      <p:bldP spid="308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179388" y="769938"/>
            <a:ext cx="2735262" cy="431800"/>
          </a:xfrm>
          <a:solidFill>
            <a:srgbClr val="000080"/>
          </a:solidFill>
        </p:spPr>
        <p:txBody>
          <a:bodyPr vert="horz" wrap="square" lIns="91440" tIns="45720" rIns="91440" bIns="45720" anchor="ctr" anchorCtr="0"/>
          <a:lstStyle/>
          <a:p>
            <a:pPr algn="l"/>
            <a:r>
              <a:rPr lang="en-US" altLang="zh-CN" sz="2400" b="1" dirty="0">
                <a:solidFill>
                  <a:srgbClr val="FFFF00"/>
                </a:solidFill>
                <a:latin typeface="楷体" panose="02010609060101010101" pitchFamily="49" charset="-122"/>
                <a:ea typeface="楷体" panose="02010609060101010101" pitchFamily="49" charset="-122"/>
              </a:rPr>
              <a:t>(1)</a:t>
            </a:r>
            <a:r>
              <a:rPr lang="zh-CN" altLang="en-US" sz="2400" b="1" dirty="0">
                <a:solidFill>
                  <a:srgbClr val="FFFF00"/>
                </a:solidFill>
                <a:latin typeface="楷体" panose="02010609060101010101" pitchFamily="49" charset="-122"/>
                <a:ea typeface="楷体" panose="02010609060101010101" pitchFamily="49" charset="-122"/>
              </a:rPr>
              <a:t>标准氢电极</a:t>
            </a:r>
            <a:r>
              <a:rPr lang="zh-CN" altLang="en-US" sz="3000" b="1" dirty="0">
                <a:solidFill>
                  <a:srgbClr val="FFFF00"/>
                </a:solidFill>
                <a:latin typeface="楷体" panose="02010609060101010101" pitchFamily="49" charset="-122"/>
                <a:ea typeface="楷体" panose="02010609060101010101" pitchFamily="49" charset="-122"/>
              </a:rPr>
              <a:t> </a:t>
            </a:r>
          </a:p>
        </p:txBody>
      </p:sp>
      <p:sp>
        <p:nvSpPr>
          <p:cNvPr id="51203" name="Rectangle 3"/>
          <p:cNvSpPr/>
          <p:nvPr/>
        </p:nvSpPr>
        <p:spPr>
          <a:xfrm>
            <a:off x="468313" y="1065213"/>
            <a:ext cx="8424862" cy="979487"/>
          </a:xfrm>
          <a:prstGeom prst="rect">
            <a:avLst/>
          </a:prstGeom>
          <a:noFill/>
          <a:ln w="9525">
            <a:noFill/>
          </a:ln>
        </p:spPr>
        <p:txBody>
          <a:bodyPr lIns="92075" tIns="46038" rIns="92075" bIns="46038" anchor="b" anchorCtr="0">
            <a:spAutoFit/>
          </a:bodyPr>
          <a:lstStyle/>
          <a:p>
            <a:pPr>
              <a:lnSpc>
                <a:spcPct val="120000"/>
              </a:lnSpc>
            </a:pPr>
            <a:r>
              <a:rPr lang="zh-CN" altLang="en-US"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单个电极电势的绝对值是未知的，为了比较不同电极的电势差及计算电池的电动势，引入了标准氢电极的概念。</a:t>
            </a:r>
            <a:endParaRPr lang="zh-CN" altLang="zh-CN" sz="2400" b="1" dirty="0">
              <a:latin typeface="宋体" panose="02010600030101010101" pitchFamily="2" charset="-122"/>
              <a:ea typeface="宋体" panose="02010600030101010101" pitchFamily="2" charset="-122"/>
            </a:endParaRPr>
          </a:p>
        </p:txBody>
      </p:sp>
      <p:pic>
        <p:nvPicPr>
          <p:cNvPr id="51204" name="Picture 4" descr="8_30"/>
          <p:cNvPicPr>
            <a:picLocks noChangeAspect="1"/>
          </p:cNvPicPr>
          <p:nvPr/>
        </p:nvPicPr>
        <p:blipFill>
          <a:blip r:embed="rId2"/>
          <a:stretch>
            <a:fillRect/>
          </a:stretch>
        </p:blipFill>
        <p:spPr>
          <a:xfrm>
            <a:off x="323850" y="2257425"/>
            <a:ext cx="3074988" cy="2889250"/>
          </a:xfrm>
          <a:prstGeom prst="rect">
            <a:avLst/>
          </a:prstGeom>
          <a:noFill/>
          <a:ln w="9525">
            <a:noFill/>
          </a:ln>
        </p:spPr>
      </p:pic>
      <p:sp>
        <p:nvSpPr>
          <p:cNvPr id="51205" name="Text Box 5"/>
          <p:cNvSpPr txBox="1"/>
          <p:nvPr/>
        </p:nvSpPr>
        <p:spPr>
          <a:xfrm>
            <a:off x="3521075" y="2133600"/>
            <a:ext cx="5370513" cy="1201738"/>
          </a:xfrm>
          <a:prstGeom prst="rect">
            <a:avLst/>
          </a:prstGeom>
          <a:solidFill>
            <a:srgbClr val="FFFFCC"/>
          </a:solidFill>
          <a:ln w="9525">
            <a:noFill/>
          </a:ln>
        </p:spPr>
        <p:txBody>
          <a:bodyPr tIns="46038" bIns="46038" anchor="t" anchorCtr="0">
            <a:spAutoFit/>
          </a:bodyPr>
          <a:lstStyle/>
          <a:p>
            <a:pPr algn="just">
              <a:buClr>
                <a:srgbClr val="CC0000"/>
              </a:buClr>
              <a:buFont typeface="Monotype Sorts" pitchFamily="2" charset="2"/>
            </a:pPr>
            <a:r>
              <a:rPr lang="zh-CN" altLang="en-US"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将镀有蓬松铂黑的铂片浸入含有</a:t>
            </a:r>
            <a:r>
              <a:rPr lang="en-US" altLang="zh-CN" sz="2400" b="1" dirty="0">
                <a:latin typeface="Times New Roman" panose="02020603050405020304" pitchFamily="18" charset="0"/>
                <a:ea typeface="宋体" panose="02010600030101010101" pitchFamily="2" charset="-122"/>
              </a:rPr>
              <a:t>H</a:t>
            </a:r>
            <a:r>
              <a:rPr lang="en-US" altLang="zh-CN" sz="2400" b="1" baseline="30000"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的溶液中，不断通入</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p</a:t>
            </a:r>
            <a:r>
              <a:rPr lang="en-US" altLang="zh-CN" sz="2400" b="1" baseline="300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，构成标准氢电极，该电极反应为：</a:t>
            </a:r>
          </a:p>
        </p:txBody>
      </p:sp>
      <p:sp>
        <p:nvSpPr>
          <p:cNvPr id="51206" name="Text Box 6"/>
          <p:cNvSpPr txBox="1"/>
          <p:nvPr/>
        </p:nvSpPr>
        <p:spPr>
          <a:xfrm>
            <a:off x="3346450" y="3817938"/>
            <a:ext cx="3411538" cy="1016000"/>
          </a:xfrm>
          <a:prstGeom prst="rect">
            <a:avLst/>
          </a:prstGeom>
          <a:noFill/>
          <a:ln w="12700">
            <a:noFill/>
          </a:ln>
        </p:spPr>
        <p:txBody>
          <a:bodyPr anchor="t" anchorCtr="0">
            <a:spAutoFit/>
          </a:bodyPr>
          <a:lstStyle/>
          <a:p>
            <a:pPr eaLnBrk="0" hangingPunct="0">
              <a:spcBef>
                <a:spcPct val="50000"/>
              </a:spcBef>
            </a:pPr>
            <a:r>
              <a:rPr lang="en-US" altLang="zh-CN" sz="2400" b="1" dirty="0">
                <a:latin typeface="Times New Roman" panose="02020603050405020304" pitchFamily="18" charset="0"/>
                <a:ea typeface="宋体" panose="02010600030101010101" pitchFamily="2" charset="-122"/>
              </a:rPr>
              <a:t>Pt |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p</a:t>
            </a:r>
            <a:r>
              <a:rPr lang="en-US" altLang="zh-CN" sz="2400" b="1" baseline="30000" dirty="0">
                <a:latin typeface="Times New Roman" panose="02020603050405020304" pitchFamily="18" charset="0"/>
                <a:ea typeface="Arial Unicode MS" panose="020B0604020202020204" pitchFamily="34" charset="-122"/>
              </a:rPr>
              <a:t>⊝</a:t>
            </a:r>
            <a:r>
              <a:rPr lang="en-US" altLang="zh-CN" sz="2400" b="1" dirty="0">
                <a:latin typeface="Times New Roman" panose="02020603050405020304" pitchFamily="18" charset="0"/>
                <a:ea typeface="Arial Unicode MS" panose="020B0604020202020204" pitchFamily="34" charset="-122"/>
              </a:rPr>
              <a:t>) | H</a:t>
            </a:r>
            <a:r>
              <a:rPr lang="en-US" altLang="zh-CN" sz="2400" b="1" baseline="30000" dirty="0">
                <a:latin typeface="Times New Roman" panose="02020603050405020304" pitchFamily="18" charset="0"/>
                <a:ea typeface="Arial Unicode MS" panose="020B0604020202020204" pitchFamily="34" charset="-122"/>
              </a:rPr>
              <a:t>+</a:t>
            </a:r>
            <a:r>
              <a:rPr lang="en-US" altLang="zh-CN" sz="2400" b="1" dirty="0">
                <a:latin typeface="Times New Roman" panose="02020603050405020304" pitchFamily="18" charset="0"/>
                <a:ea typeface="Arial Unicode MS" panose="020B0604020202020204" pitchFamily="34" charset="-122"/>
              </a:rPr>
              <a:t>  (</a:t>
            </a:r>
            <a:r>
              <a:rPr lang="en-US" altLang="zh-CN" sz="2400" b="1" i="1" dirty="0">
                <a:latin typeface="Times New Roman" panose="02020603050405020304" pitchFamily="18" charset="0"/>
                <a:ea typeface="Arial Unicode MS" panose="020B0604020202020204" pitchFamily="34" charset="-122"/>
              </a:rPr>
              <a:t>c</a:t>
            </a:r>
            <a:r>
              <a:rPr lang="en-US" altLang="zh-CN" sz="2400" b="1" baseline="-25000" dirty="0">
                <a:latin typeface="Times New Roman" panose="02020603050405020304" pitchFamily="18" charset="0"/>
                <a:ea typeface="Arial Unicode MS" panose="020B0604020202020204" pitchFamily="34" charset="-122"/>
              </a:rPr>
              <a:t>H</a:t>
            </a:r>
            <a:r>
              <a:rPr lang="en-US" altLang="zh-CN" sz="2400" b="1" baseline="30000" dirty="0">
                <a:latin typeface="Times New Roman" panose="02020603050405020304" pitchFamily="18" charset="0"/>
                <a:ea typeface="Arial Unicode MS" panose="020B0604020202020204" pitchFamily="34" charset="-122"/>
              </a:rPr>
              <a:t>+</a:t>
            </a:r>
            <a:r>
              <a:rPr lang="en-US" altLang="zh-CN" sz="2400" b="1" dirty="0">
                <a:latin typeface="Times New Roman" panose="02020603050405020304" pitchFamily="18" charset="0"/>
                <a:ea typeface="Arial Unicode MS" panose="020B0604020202020204" pitchFamily="34" charset="-122"/>
              </a:rPr>
              <a:t>=1)</a:t>
            </a:r>
          </a:p>
          <a:p>
            <a:pPr eaLnBrk="0" hangingPunct="0">
              <a:spcBef>
                <a:spcPct val="50000"/>
              </a:spcBef>
            </a:pPr>
            <a:endParaRPr lang="zh-CN" altLang="en-US" sz="2400" b="1" dirty="0">
              <a:latin typeface="楷体" panose="02010609060101010101" pitchFamily="49" charset="-122"/>
              <a:ea typeface="楷体" panose="02010609060101010101" pitchFamily="49" charset="-122"/>
            </a:endParaRPr>
          </a:p>
        </p:txBody>
      </p:sp>
      <p:sp>
        <p:nvSpPr>
          <p:cNvPr id="51207" name="Text Box 7"/>
          <p:cNvSpPr txBox="1"/>
          <p:nvPr/>
        </p:nvSpPr>
        <p:spPr>
          <a:xfrm>
            <a:off x="3565525" y="4371975"/>
            <a:ext cx="1123950" cy="461963"/>
          </a:xfrm>
          <a:prstGeom prst="rect">
            <a:avLst/>
          </a:prstGeom>
          <a:noFill/>
          <a:ln w="12700">
            <a:noFill/>
          </a:ln>
        </p:spPr>
        <p:txBody>
          <a:bodyPr anchor="t" anchorCtr="0">
            <a:spAutoFit/>
          </a:bodyPr>
          <a:lstStyle/>
          <a:p>
            <a:pPr eaLnBrk="0" hangingPunct="0">
              <a:spcBef>
                <a:spcPct val="50000"/>
              </a:spcBef>
            </a:pPr>
            <a:r>
              <a:rPr lang="zh-CN" altLang="en-US" sz="2400" b="1" dirty="0">
                <a:latin typeface="Times New Roman" panose="02020603050405020304" pitchFamily="18" charset="0"/>
                <a:ea typeface="宋体" panose="02010600030101010101" pitchFamily="2" charset="-122"/>
              </a:rPr>
              <a:t>规定</a:t>
            </a:r>
          </a:p>
        </p:txBody>
      </p:sp>
      <p:sp>
        <p:nvSpPr>
          <p:cNvPr id="51208" name="Text Box 8"/>
          <p:cNvSpPr txBox="1"/>
          <p:nvPr/>
        </p:nvSpPr>
        <p:spPr>
          <a:xfrm>
            <a:off x="4716463" y="4718050"/>
            <a:ext cx="3048000" cy="523875"/>
          </a:xfrm>
          <a:prstGeom prst="rect">
            <a:avLst/>
          </a:prstGeom>
          <a:noFill/>
          <a:ln w="12700">
            <a:noFill/>
          </a:ln>
        </p:spPr>
        <p:txBody>
          <a:bodyPr anchor="t" anchorCtr="0">
            <a:spAutoFit/>
          </a:bodyPr>
          <a:lstStyle/>
          <a:p>
            <a:pPr eaLnBrk="0" hangingPunct="0">
              <a:spcBef>
                <a:spcPct val="50000"/>
              </a:spcBef>
            </a:pPr>
            <a:r>
              <a:rPr lang="el-GR" altLang="zh-CN" sz="2800" b="1" i="1" dirty="0">
                <a:latin typeface="宋体" panose="02010600030101010101" pitchFamily="2" charset="-122"/>
                <a:ea typeface="宋体" panose="02010600030101010101" pitchFamily="2" charset="-122"/>
              </a:rPr>
              <a:t>Φ</a:t>
            </a:r>
            <a:r>
              <a:rPr lang="en-US" altLang="zh-CN" sz="2000" b="1" i="1" dirty="0">
                <a:latin typeface="Times New Roman" panose="02020603050405020304" pitchFamily="18" charset="0"/>
                <a:ea typeface="宋体" panose="02010600030101010101" pitchFamily="2" charset="-122"/>
              </a:rPr>
              <a:t> </a:t>
            </a:r>
            <a:r>
              <a:rPr lang="en-US" altLang="zh-CN" sz="2800" b="1" baseline="30000" dirty="0">
                <a:latin typeface="Times New Roman" panose="02020603050405020304" pitchFamily="18" charset="0"/>
                <a:ea typeface="Arial Unicode MS" panose="020B0604020202020204" pitchFamily="34" charset="-122"/>
              </a:rPr>
              <a:t>⊝</a:t>
            </a:r>
            <a:r>
              <a:rPr lang="en-US" altLang="zh-CN" sz="2800" b="1" dirty="0">
                <a:latin typeface="Times New Roman" panose="02020603050405020304" pitchFamily="18" charset="0"/>
                <a:ea typeface="Arial Unicode MS" panose="020B0604020202020204" pitchFamily="34" charset="-122"/>
              </a:rPr>
              <a:t>(H</a:t>
            </a:r>
            <a:r>
              <a:rPr lang="en-US" altLang="zh-CN" sz="2800" b="1" baseline="30000" dirty="0">
                <a:latin typeface="Times New Roman" panose="02020603050405020304" pitchFamily="18" charset="0"/>
                <a:ea typeface="Arial Unicode MS" panose="020B0604020202020204" pitchFamily="34" charset="-122"/>
              </a:rPr>
              <a:t>+ </a:t>
            </a:r>
            <a:r>
              <a:rPr lang="en-US" altLang="zh-CN" sz="2800" b="1" dirty="0">
                <a:latin typeface="Times New Roman" panose="02020603050405020304" pitchFamily="18" charset="0"/>
                <a:ea typeface="Arial Unicode MS" panose="020B0604020202020204" pitchFamily="34" charset="-122"/>
              </a:rPr>
              <a:t>| H</a:t>
            </a:r>
            <a:r>
              <a:rPr lang="en-US" altLang="zh-CN" sz="2800" b="1" baseline="-25000" dirty="0">
                <a:latin typeface="Times New Roman" panose="02020603050405020304" pitchFamily="18" charset="0"/>
                <a:ea typeface="Arial Unicode MS" panose="020B0604020202020204" pitchFamily="34" charset="-122"/>
              </a:rPr>
              <a:t>2</a:t>
            </a:r>
            <a:r>
              <a:rPr lang="en-US" altLang="zh-CN" sz="2800" b="1" dirty="0">
                <a:latin typeface="Times New Roman" panose="02020603050405020304" pitchFamily="18" charset="0"/>
                <a:ea typeface="Arial Unicode MS" panose="020B0604020202020204" pitchFamily="34" charset="-122"/>
              </a:rPr>
              <a:t>)= 0 V</a:t>
            </a:r>
          </a:p>
        </p:txBody>
      </p:sp>
      <p:sp>
        <p:nvSpPr>
          <p:cNvPr id="51209" name="Rectangle 9"/>
          <p:cNvSpPr/>
          <p:nvPr/>
        </p:nvSpPr>
        <p:spPr>
          <a:xfrm>
            <a:off x="5113338" y="3392488"/>
            <a:ext cx="2390775" cy="461962"/>
          </a:xfrm>
          <a:prstGeom prst="rect">
            <a:avLst/>
          </a:prstGeom>
          <a:noFill/>
          <a:ln w="9525">
            <a:noFill/>
          </a:ln>
        </p:spPr>
        <p:txBody>
          <a:bodyPr wrap="none" anchor="t" anchorCtr="0">
            <a:spAutoFit/>
          </a:bodyPr>
          <a:lstStyle/>
          <a:p>
            <a:r>
              <a:rPr lang="en-US" altLang="zh-CN" sz="2400" b="1" dirty="0">
                <a:latin typeface="Times New Roman" panose="02020603050405020304" pitchFamily="18" charset="0"/>
                <a:ea typeface="楷体" panose="02010609060101010101" pitchFamily="49" charset="-122"/>
              </a:rPr>
              <a:t>H</a:t>
            </a:r>
            <a:r>
              <a:rPr lang="en-US" altLang="zh-CN" sz="2400" b="1" baseline="-25000" dirty="0">
                <a:latin typeface="Times New Roman" panose="02020603050405020304" pitchFamily="18" charset="0"/>
                <a:ea typeface="楷体" panose="02010609060101010101" pitchFamily="49" charset="-122"/>
              </a:rPr>
              <a:t>2</a:t>
            </a:r>
            <a:r>
              <a:rPr lang="en-US" altLang="zh-CN" sz="2400" b="1" dirty="0">
                <a:latin typeface="Times New Roman" panose="02020603050405020304" pitchFamily="18" charset="0"/>
                <a:ea typeface="楷体" panose="02010609060101010101" pitchFamily="49" charset="-122"/>
              </a:rPr>
              <a:t>(g) </a:t>
            </a:r>
            <a:r>
              <a:rPr lang="en-US" altLang="zh-CN"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楷体" panose="02010609060101010101" pitchFamily="49" charset="-122"/>
              </a:rPr>
              <a:t>2H</a:t>
            </a:r>
            <a:r>
              <a:rPr lang="en-US" altLang="zh-CN" sz="2400" b="1" baseline="30000" dirty="0">
                <a:latin typeface="Times New Roman" panose="02020603050405020304" pitchFamily="18" charset="0"/>
                <a:ea typeface="楷体" panose="02010609060101010101" pitchFamily="49" charset="-122"/>
              </a:rPr>
              <a:t>+</a:t>
            </a:r>
            <a:r>
              <a:rPr lang="en-US" altLang="zh-CN" sz="2400" b="1" dirty="0">
                <a:latin typeface="Times New Roman" panose="02020603050405020304" pitchFamily="18" charset="0"/>
                <a:ea typeface="楷体" panose="02010609060101010101" pitchFamily="49" charset="-122"/>
              </a:rPr>
              <a:t>+2e</a:t>
            </a:r>
            <a:r>
              <a:rPr lang="en-US" altLang="zh-CN" sz="2400" b="1" baseline="30000" dirty="0">
                <a:latin typeface="Times New Roman" panose="02020603050405020304" pitchFamily="18" charset="0"/>
                <a:ea typeface="楷体" panose="02010609060101010101" pitchFamily="49" charset="-122"/>
              </a:rPr>
              <a:t>-</a:t>
            </a:r>
          </a:p>
        </p:txBody>
      </p:sp>
      <p:sp>
        <p:nvSpPr>
          <p:cNvPr id="51210" name="Rectangle 10"/>
          <p:cNvSpPr/>
          <p:nvPr/>
        </p:nvSpPr>
        <p:spPr>
          <a:xfrm>
            <a:off x="6738938" y="3824288"/>
            <a:ext cx="2135187" cy="479425"/>
          </a:xfrm>
          <a:prstGeom prst="rect">
            <a:avLst/>
          </a:prstGeom>
          <a:noFill/>
          <a:ln w="12700">
            <a:noFill/>
          </a:ln>
        </p:spPr>
        <p:txBody>
          <a:bodyPr tIns="0" bIns="0" anchor="t" anchorCtr="0">
            <a:spAutoFit/>
          </a:bodyPr>
          <a:lstStyle/>
          <a:p>
            <a:pPr>
              <a:lnSpc>
                <a:spcPct val="130000"/>
              </a:lnSpc>
            </a:pPr>
            <a:r>
              <a:rPr lang="en-US" altLang="zh-CN" sz="2400" b="1"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待测电极</a:t>
            </a:r>
          </a:p>
        </p:txBody>
      </p:sp>
      <p:sp>
        <p:nvSpPr>
          <p:cNvPr id="51211" name="Rectangle 11"/>
          <p:cNvSpPr/>
          <p:nvPr/>
        </p:nvSpPr>
        <p:spPr>
          <a:xfrm>
            <a:off x="0" y="120650"/>
            <a:ext cx="3995738"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2.电极电势的</a:t>
            </a:r>
            <a:r>
              <a:rPr lang="zh-CN" altLang="en-US" sz="2800" b="1" dirty="0">
                <a:solidFill>
                  <a:schemeClr val="tx2"/>
                </a:solidFill>
                <a:latin typeface="Arial" panose="020B0604020202020204" pitchFamily="34" charset="0"/>
                <a:ea typeface="宋体" panose="02010600030101010101" pitchFamily="2" charset="-122"/>
              </a:rPr>
              <a:t>测量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211"/>
                                        </p:tgtEl>
                                        <p:attrNameLst>
                                          <p:attrName>style.visibility</p:attrName>
                                        </p:attrNameLst>
                                      </p:cBhvr>
                                      <p:to>
                                        <p:strVal val="visible"/>
                                      </p:to>
                                    </p:set>
                                    <p:animEffect transition="in" filter="checkerboard(across)">
                                      <p:cBhvr>
                                        <p:cTn id="7" dur="1000"/>
                                        <p:tgtEl>
                                          <p:spTgt spid="51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2"/>
                                        </p:tgtEl>
                                        <p:attrNameLst>
                                          <p:attrName>style.visibility</p:attrName>
                                        </p:attrNameLst>
                                      </p:cBhvr>
                                      <p:to>
                                        <p:strVal val="visible"/>
                                      </p:to>
                                    </p:set>
                                    <p:animEffect transition="in" filter="wipe(left)">
                                      <p:cBhvr>
                                        <p:cTn id="12" dur="1000"/>
                                        <p:tgtEl>
                                          <p:spTgt spid="512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03"/>
                                        </p:tgtEl>
                                        <p:attrNameLst>
                                          <p:attrName>style.visibility</p:attrName>
                                        </p:attrNameLst>
                                      </p:cBhvr>
                                      <p:to>
                                        <p:strVal val="visible"/>
                                      </p:to>
                                    </p:set>
                                    <p:animEffect transition="in" filter="blinds(horizontal)">
                                      <p:cBhvr>
                                        <p:cTn id="17" dur="500"/>
                                        <p:tgtEl>
                                          <p:spTgt spid="5120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1204"/>
                                        </p:tgtEl>
                                        <p:attrNameLst>
                                          <p:attrName>style.visibility</p:attrName>
                                        </p:attrNameLst>
                                      </p:cBhvr>
                                      <p:to>
                                        <p:strVal val="visible"/>
                                      </p:to>
                                    </p:set>
                                    <p:animEffect transition="in" filter="box(in)">
                                      <p:cBhvr>
                                        <p:cTn id="22" dur="1000"/>
                                        <p:tgtEl>
                                          <p:spTgt spid="512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05"/>
                                        </p:tgtEl>
                                        <p:attrNameLst>
                                          <p:attrName>style.visibility</p:attrName>
                                        </p:attrNameLst>
                                      </p:cBhvr>
                                      <p:to>
                                        <p:strVal val="visible"/>
                                      </p:to>
                                    </p:set>
                                    <p:animEffect transition="in" filter="wipe(left)">
                                      <p:cBhvr>
                                        <p:cTn id="27" dur="500"/>
                                        <p:tgtEl>
                                          <p:spTgt spid="512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209">
                                            <p:txEl>
                                              <p:pRg st="0" end="0"/>
                                            </p:txEl>
                                          </p:spTgt>
                                        </p:tgtEl>
                                        <p:attrNameLst>
                                          <p:attrName>style.visibility</p:attrName>
                                        </p:attrNameLst>
                                      </p:cBhvr>
                                      <p:to>
                                        <p:strVal val="visible"/>
                                      </p:to>
                                    </p:set>
                                    <p:animEffect transition="in" filter="wipe(left)">
                                      <p:cBhvr>
                                        <p:cTn id="32" dur="1000"/>
                                        <p:tgtEl>
                                          <p:spTgt spid="5120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206">
                                            <p:txEl>
                                              <p:charRg st="0" end="26"/>
                                            </p:txEl>
                                          </p:spTgt>
                                        </p:tgtEl>
                                        <p:attrNameLst>
                                          <p:attrName>style.visibility</p:attrName>
                                        </p:attrNameLst>
                                      </p:cBhvr>
                                      <p:to>
                                        <p:strVal val="visible"/>
                                      </p:to>
                                    </p:set>
                                    <p:animEffect transition="in" filter="wipe(left)">
                                      <p:cBhvr>
                                        <p:cTn id="37" dur="1000"/>
                                        <p:tgtEl>
                                          <p:spTgt spid="51206">
                                            <p:txEl>
                                              <p:charRg st="0" end="2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1207"/>
                                        </p:tgtEl>
                                        <p:attrNameLst>
                                          <p:attrName>style.visibility</p:attrName>
                                        </p:attrNameLst>
                                      </p:cBhvr>
                                      <p:to>
                                        <p:strVal val="visible"/>
                                      </p:to>
                                    </p:set>
                                    <p:animEffect transition="in" filter="blinds(horizontal)">
                                      <p:cBhvr>
                                        <p:cTn id="42" dur="1000"/>
                                        <p:tgtEl>
                                          <p:spTgt spid="51207"/>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1208"/>
                                        </p:tgtEl>
                                        <p:attrNameLst>
                                          <p:attrName>style.visibility</p:attrName>
                                        </p:attrNameLst>
                                      </p:cBhvr>
                                      <p:to>
                                        <p:strVal val="visible"/>
                                      </p:to>
                                    </p:set>
                                    <p:animEffect transition="in" filter="checkerboard(across)">
                                      <p:cBhvr>
                                        <p:cTn id="47" dur="1000"/>
                                        <p:tgtEl>
                                          <p:spTgt spid="51208"/>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51210"/>
                                        </p:tgtEl>
                                        <p:attrNameLst>
                                          <p:attrName>style.visibility</p:attrName>
                                        </p:attrNameLst>
                                      </p:cBhvr>
                                      <p:to>
                                        <p:strVal val="visible"/>
                                      </p:to>
                                    </p:set>
                                    <p:animEffect transition="in" filter="checkerboard(across)">
                                      <p:cBhvr>
                                        <p:cTn id="52" dur="1000"/>
                                        <p:tgtEl>
                                          <p:spTgt spid="51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p:bldP spid="51203" grpId="0"/>
      <p:bldP spid="51205" grpId="0" bldLvl="0" animBg="1"/>
      <p:bldP spid="51207" grpId="0"/>
      <p:bldP spid="51208" grpId="0"/>
      <p:bldP spid="512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p:nvPr/>
        </p:nvSpPr>
        <p:spPr>
          <a:xfrm>
            <a:off x="179388" y="2978150"/>
            <a:ext cx="8642350" cy="1031875"/>
          </a:xfrm>
          <a:prstGeom prst="rect">
            <a:avLst/>
          </a:prstGeom>
          <a:solidFill>
            <a:srgbClr val="CCFFCC"/>
          </a:solidFill>
          <a:ln w="9525">
            <a:noFill/>
          </a:ln>
        </p:spPr>
        <p:txBody>
          <a:bodyPr anchor="t" anchorCtr="0"/>
          <a:lstStyle/>
          <a:p>
            <a:pPr marL="342900" indent="-342900">
              <a:lnSpc>
                <a:spcPct val="120000"/>
              </a:lnSpc>
              <a:spcBef>
                <a:spcPct val="20000"/>
              </a:spcBef>
            </a:pPr>
            <a:r>
              <a:rPr lang="zh-CN" altLang="en-US" sz="2400" b="1" dirty="0">
                <a:latin typeface="宋体" panose="02010600030101010101" pitchFamily="2" charset="-122"/>
                <a:ea typeface="宋体" panose="02010600030101010101" pitchFamily="2" charset="-122"/>
              </a:rPr>
              <a:t>      通常规定待测电极</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如标准锌电极</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为正极，它与标准氢电极组成</a:t>
            </a:r>
            <a:r>
              <a:rPr lang="zh-CN" altLang="en-US" sz="2400" b="1" dirty="0">
                <a:solidFill>
                  <a:srgbClr val="FF0000"/>
                </a:solidFill>
                <a:latin typeface="宋体" panose="02010600030101010101" pitchFamily="2" charset="-122"/>
                <a:ea typeface="宋体" panose="02010600030101010101" pitchFamily="2" charset="-122"/>
              </a:rPr>
              <a:t>电池的电动势</a:t>
            </a:r>
            <a:r>
              <a:rPr lang="en-US" altLang="zh-CN"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marL="342900" indent="-342900">
              <a:lnSpc>
                <a:spcPct val="120000"/>
              </a:lnSpc>
              <a:spcBef>
                <a:spcPct val="20000"/>
              </a:spcBef>
            </a:pPr>
            <a:r>
              <a:rPr lang="zh-CN" altLang="en-US" sz="2400" b="1" dirty="0">
                <a:latin typeface="宋体" panose="02010600030101010101" pitchFamily="2" charset="-122"/>
                <a:ea typeface="宋体" panose="02010600030101010101" pitchFamily="2" charset="-122"/>
              </a:rPr>
              <a:t>　　　    </a:t>
            </a:r>
          </a:p>
        </p:txBody>
      </p:sp>
      <p:sp>
        <p:nvSpPr>
          <p:cNvPr id="52237" name="Rectangle 13"/>
          <p:cNvSpPr/>
          <p:nvPr/>
        </p:nvSpPr>
        <p:spPr>
          <a:xfrm>
            <a:off x="250825" y="517525"/>
            <a:ext cx="3838575" cy="679450"/>
          </a:xfrm>
          <a:prstGeom prst="rect">
            <a:avLst/>
          </a:prstGeom>
          <a:solidFill>
            <a:srgbClr val="000080"/>
          </a:solidFill>
          <a:ln w="9525">
            <a:noFill/>
          </a:ln>
        </p:spPr>
        <p:txBody>
          <a:bodyPr anchor="ctr" anchorCtr="0"/>
          <a:lstStyle/>
          <a:p>
            <a:pPr eaLnBrk="0" hangingPunct="0"/>
            <a:r>
              <a:rPr lang="en-US" altLang="zh-CN" sz="3000" b="1" dirty="0">
                <a:solidFill>
                  <a:srgbClr val="FFFF00"/>
                </a:solidFill>
                <a:latin typeface="楷体" panose="02010609060101010101" pitchFamily="49" charset="-122"/>
                <a:ea typeface="楷体" panose="02010609060101010101" pitchFamily="49" charset="-122"/>
              </a:rPr>
              <a:t>(2)</a:t>
            </a:r>
            <a:r>
              <a:rPr lang="zh-CN" altLang="en-US" sz="3000" b="1" dirty="0">
                <a:solidFill>
                  <a:srgbClr val="FFFF00"/>
                </a:solidFill>
                <a:latin typeface="楷体" panose="02010609060101010101" pitchFamily="49" charset="-122"/>
                <a:ea typeface="楷体" panose="02010609060101010101" pitchFamily="49" charset="-122"/>
              </a:rPr>
              <a:t>电极电势的测定</a:t>
            </a:r>
          </a:p>
        </p:txBody>
      </p:sp>
      <p:sp>
        <p:nvSpPr>
          <p:cNvPr id="52239" name="Rectangle 15"/>
          <p:cNvSpPr/>
          <p:nvPr/>
        </p:nvSpPr>
        <p:spPr>
          <a:xfrm>
            <a:off x="222250" y="1376363"/>
            <a:ext cx="8642350" cy="1377950"/>
          </a:xfrm>
          <a:prstGeom prst="rect">
            <a:avLst/>
          </a:prstGeom>
          <a:solidFill>
            <a:srgbClr val="CCFFCC"/>
          </a:solidFill>
          <a:ln w="9525">
            <a:noFill/>
          </a:ln>
        </p:spPr>
        <p:txBody>
          <a:bodyPr anchor="t" anchorCtr="0"/>
          <a:lstStyle/>
          <a:p>
            <a:pPr marL="342900" indent="-342900">
              <a:lnSpc>
                <a:spcPct val="120000"/>
              </a:lnSpc>
              <a:spcBef>
                <a:spcPct val="20000"/>
              </a:spcBef>
            </a:pPr>
            <a:r>
              <a:rPr lang="zh-CN" altLang="en-US" sz="2400" b="1" dirty="0">
                <a:solidFill>
                  <a:schemeClr val="tx2"/>
                </a:solidFill>
                <a:latin typeface="Times New Roman" panose="02020603050405020304" pitchFamily="18" charset="0"/>
                <a:ea typeface="宋体" panose="02010600030101010101" pitchFamily="2" charset="-122"/>
              </a:rPr>
              <a:t>          欲测定某电极的电极电势，可将待测电极与标准氢电极组成原电池，测出该原电池的电动势</a:t>
            </a:r>
            <a:r>
              <a:rPr lang="en-US" altLang="zh-CN" sz="2400" b="1" dirty="0">
                <a:solidFill>
                  <a:schemeClr val="tx2"/>
                </a:solidFill>
                <a:latin typeface="Times New Roman" panose="02020603050405020304" pitchFamily="18" charset="0"/>
                <a:ea typeface="宋体" panose="02010600030101010101" pitchFamily="2" charset="-122"/>
              </a:rPr>
              <a:t>E</a:t>
            </a:r>
            <a:r>
              <a:rPr lang="zh-CN" altLang="en-US" sz="2400" b="1" dirty="0">
                <a:solidFill>
                  <a:schemeClr val="tx2"/>
                </a:solidFill>
                <a:latin typeface="Times New Roman" panose="02020603050405020304" pitchFamily="18" charset="0"/>
                <a:ea typeface="宋体" panose="02010600030101010101" pitchFamily="2" charset="-122"/>
              </a:rPr>
              <a:t>，即可算出待测电极相对于标准氢电极的电极电势，称为该电极的</a:t>
            </a:r>
            <a:r>
              <a:rPr lang="zh-CN" altLang="en-US" sz="2400" b="1" dirty="0">
                <a:solidFill>
                  <a:srgbClr val="FF0000"/>
                </a:solidFill>
                <a:latin typeface="Times New Roman" panose="02020603050405020304" pitchFamily="18" charset="0"/>
                <a:ea typeface="宋体" panose="02010600030101010101" pitchFamily="2" charset="-122"/>
              </a:rPr>
              <a:t>电极电势</a:t>
            </a:r>
            <a:r>
              <a:rPr lang="zh-CN" altLang="en-US" sz="2400" b="1" dirty="0">
                <a:solidFill>
                  <a:schemeClr val="tx2"/>
                </a:solidFill>
                <a:latin typeface="Times New Roman" panose="02020603050405020304" pitchFamily="18" charset="0"/>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45060" name="Rectangle 20"/>
          <p:cNvSpPr/>
          <p:nvPr/>
        </p:nvSpPr>
        <p:spPr>
          <a:xfrm>
            <a:off x="0" y="2570163"/>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2243" name="Object 19"/>
          <p:cNvGraphicFramePr>
            <a:graphicFrameLocks noChangeAspect="1"/>
          </p:cNvGraphicFramePr>
          <p:nvPr/>
        </p:nvGraphicFramePr>
        <p:xfrm>
          <a:off x="1258888" y="4117975"/>
          <a:ext cx="6802437" cy="417513"/>
        </p:xfrm>
        <a:graphic>
          <a:graphicData uri="http://schemas.openxmlformats.org/presentationml/2006/ole">
            <mc:AlternateContent xmlns:mc="http://schemas.openxmlformats.org/markup-compatibility/2006">
              <mc:Choice xmlns:v="urn:schemas-microsoft-com:vml" Requires="v">
                <p:oleObj r:id="rId2" imgW="3543300" imgH="254000" progId="Equation.DSMT4">
                  <p:embed/>
                </p:oleObj>
              </mc:Choice>
              <mc:Fallback>
                <p:oleObj r:id="rId2" imgW="3543300" imgH="254000" progId="Equation.DSMT4">
                  <p:embed/>
                  <p:pic>
                    <p:nvPicPr>
                      <p:cNvPr id="0" name="图片 3142"/>
                      <p:cNvPicPr/>
                      <p:nvPr/>
                    </p:nvPicPr>
                    <p:blipFill>
                      <a:blip r:embed="rId3"/>
                      <a:stretch>
                        <a:fillRect/>
                      </a:stretch>
                    </p:blipFill>
                    <p:spPr>
                      <a:xfrm>
                        <a:off x="1258888" y="4117975"/>
                        <a:ext cx="6802437" cy="41751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7"/>
                                        </p:tgtEl>
                                        <p:attrNameLst>
                                          <p:attrName>style.visibility</p:attrName>
                                        </p:attrNameLst>
                                      </p:cBhvr>
                                      <p:to>
                                        <p:strVal val="visible"/>
                                      </p:to>
                                    </p:set>
                                    <p:animEffect transition="in" filter="wipe(left)">
                                      <p:cBhvr>
                                        <p:cTn id="7" dur="1000"/>
                                        <p:tgtEl>
                                          <p:spTgt spid="5223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52239">
                                            <p:txEl>
                                              <p:pRg st="0" end="0"/>
                                            </p:txEl>
                                          </p:spTgt>
                                        </p:tgtEl>
                                        <p:attrNameLst>
                                          <p:attrName>style.visibility</p:attrName>
                                        </p:attrNameLst>
                                      </p:cBhvr>
                                      <p:to>
                                        <p:strVal val="visible"/>
                                      </p:to>
                                    </p:set>
                                    <p:animEffect transition="in" filter="wheel(4)">
                                      <p:cBhvr>
                                        <p:cTn id="12" dur="1000"/>
                                        <p:tgtEl>
                                          <p:spTgt spid="522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nodeType="clickEffect">
                                  <p:stCondLst>
                                    <p:cond delay="0"/>
                                  </p:stCondLst>
                                  <p:childTnLst>
                                    <p:set>
                                      <p:cBhvr>
                                        <p:cTn id="16" dur="1" fill="hold">
                                          <p:stCondLst>
                                            <p:cond delay="0"/>
                                          </p:stCondLst>
                                        </p:cTn>
                                        <p:tgtEl>
                                          <p:spTgt spid="52226">
                                            <p:txEl>
                                              <p:pRg st="0" end="0"/>
                                            </p:txEl>
                                          </p:spTgt>
                                        </p:tgtEl>
                                        <p:attrNameLst>
                                          <p:attrName>style.visibility</p:attrName>
                                        </p:attrNameLst>
                                      </p:cBhvr>
                                      <p:to>
                                        <p:strVal val="visible"/>
                                      </p:to>
                                    </p:set>
                                    <p:animEffect transition="in" filter="wheel(4)">
                                      <p:cBhvr>
                                        <p:cTn id="17" dur="1000"/>
                                        <p:tgtEl>
                                          <p:spTgt spid="522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52226">
                                            <p:txEl>
                                              <p:pRg st="1" end="1"/>
                                            </p:txEl>
                                          </p:spTgt>
                                        </p:tgtEl>
                                        <p:attrNameLst>
                                          <p:attrName>style.visibility</p:attrName>
                                        </p:attrNameLst>
                                      </p:cBhvr>
                                      <p:to>
                                        <p:strVal val="visible"/>
                                      </p:to>
                                    </p:set>
                                    <p:animEffect transition="in" filter="wheel(4)">
                                      <p:cBhvr>
                                        <p:cTn id="22" dur="1000"/>
                                        <p:tgtEl>
                                          <p:spTgt spid="5222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243"/>
                                        </p:tgtEl>
                                        <p:attrNameLst>
                                          <p:attrName>style.visibility</p:attrName>
                                        </p:attrNameLst>
                                      </p:cBhvr>
                                      <p:to>
                                        <p:strVal val="visible"/>
                                      </p:to>
                                    </p:set>
                                    <p:animEffect transition="in" filter="wipe(left)">
                                      <p:cBhvr>
                                        <p:cTn id="27" dur="500"/>
                                        <p:tgtEl>
                                          <p:spTgt spid="52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4"/>
          <p:cNvPicPr>
            <a:picLocks noChangeAspect="1"/>
          </p:cNvPicPr>
          <p:nvPr/>
        </p:nvPicPr>
        <p:blipFill>
          <a:blip r:embed="rId2"/>
          <a:srcRect r="1410" b="175"/>
          <a:stretch>
            <a:fillRect/>
          </a:stretch>
        </p:blipFill>
        <p:spPr>
          <a:xfrm>
            <a:off x="539750" y="576263"/>
            <a:ext cx="7993063" cy="4500562"/>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1266703"/>
          <p:cNvSpPr/>
          <p:nvPr/>
        </p:nvSpPr>
        <p:spPr>
          <a:xfrm>
            <a:off x="539750" y="746125"/>
            <a:ext cx="7620000" cy="1298575"/>
          </a:xfrm>
          <a:prstGeom prst="rect">
            <a:avLst/>
          </a:prstGeom>
          <a:gradFill rotWithShape="0">
            <a:gsLst>
              <a:gs pos="0">
                <a:srgbClr val="CCFFCC">
                  <a:alpha val="100000"/>
                </a:srgbClr>
              </a:gs>
              <a:gs pos="41000">
                <a:srgbClr val="CCFFCC">
                  <a:alpha val="100000"/>
                </a:srgbClr>
              </a:gs>
              <a:gs pos="100000">
                <a:srgbClr val="FFFFFF">
                  <a:alpha val="100000"/>
                </a:srgbClr>
              </a:gs>
            </a:gsLst>
            <a:lin ang="5400000" scaled="1"/>
            <a:tileRect/>
          </a:gradFill>
          <a:ln w="9525">
            <a:noFill/>
          </a:ln>
        </p:spPr>
        <p:txBody>
          <a:bodyPr anchor="t" anchorCtr="0">
            <a:spAutoFit/>
          </a:bodyPr>
          <a:lstStyle/>
          <a:p>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sz="2800" b="1" dirty="0">
                <a:solidFill>
                  <a:srgbClr val="FF0000"/>
                </a:solidFill>
                <a:latin typeface="Times New Roman" panose="02020603050405020304" pitchFamily="18" charset="0"/>
                <a:ea typeface="宋体" panose="02010600030101010101" pitchFamily="2" charset="-122"/>
              </a:rPr>
              <a:t>1</a:t>
            </a:r>
            <a:r>
              <a:rPr lang="zh-CN" altLang="en-US" sz="2800" b="1" dirty="0">
                <a:solidFill>
                  <a:srgbClr val="FF0000"/>
                </a:solidFill>
                <a:latin typeface="Times New Roman" panose="02020603050405020304" pitchFamily="18" charset="0"/>
                <a:ea typeface="宋体" panose="02010600030101010101" pitchFamily="2" charset="-122"/>
              </a:rPr>
              <a:t>）判断氧化剂和还原剂的强弱 </a:t>
            </a:r>
            <a:endParaRPr lang="zh-CN" altLang="en-US" dirty="0">
              <a:solidFill>
                <a:srgbClr val="1C1C1C"/>
              </a:solidFill>
              <a:latin typeface="Times New Roman" panose="02020603050405020304" pitchFamily="18" charset="0"/>
              <a:ea typeface="_x000B__x000C_"/>
            </a:endParaRPr>
          </a:p>
          <a:p>
            <a:r>
              <a:rPr lang="zh-CN" altLang="en-US" sz="2400" b="1" i="1" dirty="0">
                <a:solidFill>
                  <a:srgbClr val="CC0000"/>
                </a:solidFill>
                <a:latin typeface="Tahoma" panose="020B0604030504040204" pitchFamily="34" charset="0"/>
                <a:ea typeface="_x000B__x000C_"/>
              </a:rPr>
              <a:t> </a:t>
            </a:r>
            <a:r>
              <a:rPr lang="zh-CN" altLang="en-US" sz="2400" b="1" i="1" dirty="0">
                <a:solidFill>
                  <a:srgbClr val="FF0000"/>
                </a:solidFill>
                <a:latin typeface="Times New Roman" panose="02020603050405020304" pitchFamily="18" charset="0"/>
                <a:ea typeface="_x000B__x000C_"/>
                <a:sym typeface="Symbol" panose="05050102010706020507" pitchFamily="18" charset="2"/>
              </a:rPr>
              <a:t></a:t>
            </a:r>
            <a:r>
              <a:rPr lang="zh-CN" altLang="en-US" sz="2400" b="1" i="1" dirty="0">
                <a:solidFill>
                  <a:srgbClr val="FF0000"/>
                </a:solidFill>
                <a:latin typeface="Tahoma" panose="020B0604030504040204" pitchFamily="34" charset="0"/>
                <a:ea typeface="_x000B__x000C_"/>
              </a:rPr>
              <a:t> </a:t>
            </a:r>
            <a:r>
              <a:rPr lang="zh-CN" altLang="en-US" sz="2400" b="1" baseline="30000" dirty="0">
                <a:solidFill>
                  <a:srgbClr val="FF0000"/>
                </a:solidFill>
                <a:latin typeface="Tahoma" panose="020B0604030504040204" pitchFamily="34" charset="0"/>
                <a:ea typeface="_x000B__x000C_"/>
                <a:sym typeface="Symbol" panose="05050102010706020507" pitchFamily="18" charset="2"/>
              </a:rPr>
              <a:t></a:t>
            </a:r>
            <a:r>
              <a:rPr lang="en-US" altLang="zh-CN" sz="2400" b="1" dirty="0">
                <a:solidFill>
                  <a:srgbClr val="1C1C1C"/>
                </a:solidFill>
                <a:latin typeface="Tahoma" panose="020B0604030504040204" pitchFamily="34" charset="0"/>
                <a:ea typeface="_x000B__x000C_"/>
              </a:rPr>
              <a:t>(</a:t>
            </a:r>
            <a:r>
              <a:rPr lang="zh-CN" altLang="en-US" sz="2400" b="1" dirty="0">
                <a:solidFill>
                  <a:srgbClr val="1C1C1C"/>
                </a:solidFill>
                <a:latin typeface="Tahoma" panose="020B0604030504040204" pitchFamily="34" charset="0"/>
                <a:ea typeface="宋体" panose="02010600030101010101" pitchFamily="2" charset="-122"/>
              </a:rPr>
              <a:t>氧化型</a:t>
            </a:r>
            <a:r>
              <a:rPr lang="en-US" altLang="zh-CN" sz="2400" b="1" dirty="0">
                <a:solidFill>
                  <a:srgbClr val="1C1C1C"/>
                </a:solidFill>
                <a:latin typeface="Tahoma" panose="020B0604030504040204" pitchFamily="34" charset="0"/>
                <a:ea typeface="_x000B__x000C_"/>
              </a:rPr>
              <a:t>/</a:t>
            </a:r>
            <a:r>
              <a:rPr lang="zh-CN" altLang="en-US" sz="2400" b="1" dirty="0">
                <a:solidFill>
                  <a:srgbClr val="1C1C1C"/>
                </a:solidFill>
                <a:latin typeface="Tahoma" panose="020B0604030504040204" pitchFamily="34" charset="0"/>
                <a:ea typeface="宋体" panose="02010600030101010101" pitchFamily="2" charset="-122"/>
              </a:rPr>
              <a:t>还原型</a:t>
            </a:r>
            <a:r>
              <a:rPr lang="en-US" altLang="zh-CN" sz="2400" b="1" dirty="0">
                <a:solidFill>
                  <a:srgbClr val="1C1C1C"/>
                </a:solidFill>
                <a:latin typeface="Tahoma" panose="020B0604030504040204" pitchFamily="34" charset="0"/>
                <a:ea typeface="_x000B__x000C_"/>
              </a:rPr>
              <a:t>) </a:t>
            </a:r>
            <a:r>
              <a:rPr lang="en-US" altLang="zh-CN" sz="2400" b="1" dirty="0">
                <a:solidFill>
                  <a:srgbClr val="CC0000"/>
                </a:solidFill>
                <a:latin typeface="Tahoma" panose="020B0604030504040204" pitchFamily="34" charset="0"/>
                <a:ea typeface="宋体" panose="02010600030101010101" pitchFamily="2" charset="-122"/>
              </a:rPr>
              <a:t>↑</a:t>
            </a:r>
            <a:r>
              <a:rPr lang="zh-CN" altLang="en-US" sz="2400" b="1" dirty="0">
                <a:solidFill>
                  <a:srgbClr val="1C1C1C"/>
                </a:solidFill>
                <a:latin typeface="Tahoma" panose="020B0604030504040204" pitchFamily="34" charset="0"/>
                <a:ea typeface="宋体" panose="02010600030101010101" pitchFamily="2" charset="-122"/>
              </a:rPr>
              <a:t>，表示氧化型物质</a:t>
            </a:r>
            <a:r>
              <a:rPr lang="zh-CN" altLang="en-US" sz="2400" b="1" dirty="0">
                <a:solidFill>
                  <a:srgbClr val="CC0000"/>
                </a:solidFill>
                <a:latin typeface="Tahoma" panose="020B0604030504040204" pitchFamily="34" charset="0"/>
                <a:ea typeface="宋体" panose="02010600030101010101" pitchFamily="2" charset="-122"/>
              </a:rPr>
              <a:t>氧化性↑ </a:t>
            </a:r>
            <a:endParaRPr lang="zh-CN" altLang="en-US" dirty="0">
              <a:solidFill>
                <a:srgbClr val="1C1C1C"/>
              </a:solidFill>
              <a:latin typeface="Times New Roman" panose="02020603050405020304" pitchFamily="18" charset="0"/>
              <a:ea typeface="_x000B__x000C_"/>
            </a:endParaRPr>
          </a:p>
          <a:p>
            <a:pPr>
              <a:lnSpc>
                <a:spcPct val="110000"/>
              </a:lnSpc>
            </a:pPr>
            <a:r>
              <a:rPr lang="zh-CN" altLang="en-US" sz="2400" b="1" i="1" dirty="0">
                <a:solidFill>
                  <a:srgbClr val="FF0000"/>
                </a:solidFill>
                <a:latin typeface="Tahoma" panose="020B0604030504040204" pitchFamily="34" charset="0"/>
                <a:ea typeface="_x000B__x000C_"/>
              </a:rPr>
              <a:t> </a:t>
            </a:r>
            <a:r>
              <a:rPr lang="zh-CN" altLang="en-US" sz="2400" b="1" i="1" dirty="0">
                <a:solidFill>
                  <a:srgbClr val="FF0000"/>
                </a:solidFill>
                <a:latin typeface="Times New Roman" panose="02020603050405020304" pitchFamily="18" charset="0"/>
                <a:ea typeface="_x000B__x000C_"/>
                <a:sym typeface="Symbol" panose="05050102010706020507" pitchFamily="18" charset="2"/>
              </a:rPr>
              <a:t></a:t>
            </a:r>
            <a:r>
              <a:rPr lang="zh-CN" altLang="en-US" sz="2400" b="1" i="1" dirty="0">
                <a:solidFill>
                  <a:srgbClr val="FF0000"/>
                </a:solidFill>
                <a:latin typeface="Tahoma" panose="020B0604030504040204" pitchFamily="34" charset="0"/>
                <a:ea typeface="_x000B__x000C_"/>
              </a:rPr>
              <a:t> </a:t>
            </a:r>
            <a:r>
              <a:rPr lang="zh-CN" altLang="en-US" sz="2400" b="1" baseline="30000" dirty="0">
                <a:solidFill>
                  <a:srgbClr val="FF0000"/>
                </a:solidFill>
                <a:latin typeface="Tahoma" panose="020B0604030504040204" pitchFamily="34" charset="0"/>
                <a:ea typeface="_x000B__x000C_"/>
                <a:sym typeface="Symbol" panose="05050102010706020507" pitchFamily="18" charset="2"/>
              </a:rPr>
              <a:t></a:t>
            </a:r>
            <a:r>
              <a:rPr lang="en-US" altLang="zh-CN" sz="2400" b="1" dirty="0">
                <a:solidFill>
                  <a:srgbClr val="1C1C1C"/>
                </a:solidFill>
                <a:latin typeface="Tahoma" panose="020B0604030504040204" pitchFamily="34" charset="0"/>
                <a:ea typeface="_x000B__x000C_"/>
              </a:rPr>
              <a:t>(</a:t>
            </a:r>
            <a:r>
              <a:rPr lang="zh-CN" altLang="en-US" sz="2400" b="1" dirty="0">
                <a:solidFill>
                  <a:srgbClr val="1C1C1C"/>
                </a:solidFill>
                <a:latin typeface="Tahoma" panose="020B0604030504040204" pitchFamily="34" charset="0"/>
                <a:ea typeface="宋体" panose="02010600030101010101" pitchFamily="2" charset="-122"/>
              </a:rPr>
              <a:t>氧化型</a:t>
            </a:r>
            <a:r>
              <a:rPr lang="en-US" altLang="zh-CN" sz="2400" b="1" dirty="0">
                <a:solidFill>
                  <a:srgbClr val="1C1C1C"/>
                </a:solidFill>
                <a:latin typeface="Tahoma" panose="020B0604030504040204" pitchFamily="34" charset="0"/>
                <a:ea typeface="_x000B__x000C_"/>
              </a:rPr>
              <a:t>/</a:t>
            </a:r>
            <a:r>
              <a:rPr lang="zh-CN" altLang="en-US" sz="2400" b="1" dirty="0">
                <a:solidFill>
                  <a:srgbClr val="1C1C1C"/>
                </a:solidFill>
                <a:latin typeface="Tahoma" panose="020B0604030504040204" pitchFamily="34" charset="0"/>
                <a:ea typeface="宋体" panose="02010600030101010101" pitchFamily="2" charset="-122"/>
              </a:rPr>
              <a:t>还原型</a:t>
            </a:r>
            <a:r>
              <a:rPr lang="en-US" altLang="zh-CN" sz="2400" b="1" dirty="0">
                <a:solidFill>
                  <a:srgbClr val="1C1C1C"/>
                </a:solidFill>
                <a:latin typeface="Tahoma" panose="020B0604030504040204" pitchFamily="34" charset="0"/>
                <a:ea typeface="_x000B__x000C_"/>
              </a:rPr>
              <a:t>) </a:t>
            </a:r>
            <a:r>
              <a:rPr lang="en-US" altLang="zh-CN" sz="2400" b="1" dirty="0">
                <a:solidFill>
                  <a:srgbClr val="0000CC"/>
                </a:solidFill>
                <a:latin typeface="Tahoma" panose="020B0604030504040204" pitchFamily="34" charset="0"/>
                <a:ea typeface="宋体" panose="02010600030101010101" pitchFamily="2" charset="-122"/>
              </a:rPr>
              <a:t>↓</a:t>
            </a:r>
            <a:r>
              <a:rPr lang="zh-CN" altLang="en-US" sz="2400" b="1" dirty="0">
                <a:solidFill>
                  <a:srgbClr val="1C1C1C"/>
                </a:solidFill>
                <a:latin typeface="Tahoma" panose="020B0604030504040204" pitchFamily="34" charset="0"/>
                <a:ea typeface="宋体" panose="02010600030101010101" pitchFamily="2" charset="-122"/>
              </a:rPr>
              <a:t>，表示还原型物质</a:t>
            </a:r>
            <a:r>
              <a:rPr lang="zh-CN" altLang="en-US" sz="2400" b="1" dirty="0">
                <a:solidFill>
                  <a:srgbClr val="0000CC"/>
                </a:solidFill>
                <a:latin typeface="Tahoma" panose="020B0604030504040204" pitchFamily="34" charset="0"/>
                <a:ea typeface="宋体" panose="02010600030101010101" pitchFamily="2" charset="-122"/>
              </a:rPr>
              <a:t>还原性↑</a:t>
            </a:r>
            <a:endParaRPr lang="zh-CN" altLang="en-US" sz="2400" b="1" baseline="30000" dirty="0">
              <a:solidFill>
                <a:srgbClr val="FF0000"/>
              </a:solidFill>
              <a:latin typeface="Tahoma" panose="020B0604030504040204" pitchFamily="34" charset="0"/>
              <a:ea typeface="_x000B__x000C_"/>
              <a:sym typeface="Symbol" panose="05050102010706020507" pitchFamily="18" charset="2"/>
            </a:endParaRPr>
          </a:p>
        </p:txBody>
      </p:sp>
      <p:pic>
        <p:nvPicPr>
          <p:cNvPr id="3" name="图片 2"/>
          <p:cNvPicPr>
            <a:picLocks noChangeAspect="1"/>
          </p:cNvPicPr>
          <p:nvPr/>
        </p:nvPicPr>
        <p:blipFill>
          <a:blip r:embed="rId2"/>
          <a:srcRect t="4987" b="3746"/>
          <a:stretch>
            <a:fillRect/>
          </a:stretch>
        </p:blipFill>
        <p:spPr>
          <a:xfrm>
            <a:off x="1258888" y="2136775"/>
            <a:ext cx="6781800" cy="3419475"/>
          </a:xfrm>
          <a:prstGeom prst="rect">
            <a:avLst/>
          </a:prstGeom>
          <a:solidFill>
            <a:srgbClr val="FFC000"/>
          </a:solidFill>
          <a:ln w="9525">
            <a:noFill/>
          </a:ln>
        </p:spPr>
      </p:pic>
      <p:sp>
        <p:nvSpPr>
          <p:cNvPr id="47107" name="Rectangle 9"/>
          <p:cNvSpPr/>
          <p:nvPr/>
        </p:nvSpPr>
        <p:spPr>
          <a:xfrm>
            <a:off x="15875" y="157163"/>
            <a:ext cx="3276600"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3.标准电极电势表</a:t>
            </a:r>
            <a:endParaRPr lang="zh-CN" altLang="en-US" sz="2800" b="1" dirty="0">
              <a:solidFill>
                <a:schemeClr val="tx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31</a:t>
            </a:fld>
            <a:endParaRPr lang="zh-CN" altLang="en-US" sz="1400" dirty="0">
              <a:solidFill>
                <a:srgbClr val="FFFFFF"/>
              </a:solidFill>
              <a:latin typeface="Times New Roman" panose="02020603050405020304" pitchFamily="18" charset="0"/>
              <a:ea typeface="宋体" panose="02010600030101010101" pitchFamily="2" charset="-122"/>
            </a:endParaRPr>
          </a:p>
        </p:txBody>
      </p:sp>
      <p:pic>
        <p:nvPicPr>
          <p:cNvPr id="48130" name="图片 1269761" descr="电势表"/>
          <p:cNvPicPr>
            <a:picLocks noChangeAspect="1"/>
          </p:cNvPicPr>
          <p:nvPr/>
        </p:nvPicPr>
        <p:blipFill>
          <a:blip r:embed="rId2"/>
          <a:stretch>
            <a:fillRect/>
          </a:stretch>
        </p:blipFill>
        <p:spPr>
          <a:xfrm>
            <a:off x="1262063" y="96838"/>
            <a:ext cx="3957637" cy="5557837"/>
          </a:xfrm>
          <a:prstGeom prst="rect">
            <a:avLst/>
          </a:prstGeom>
          <a:noFill/>
          <a:ln w="38100" cap="flat" cmpd="sng">
            <a:solidFill>
              <a:srgbClr val="FF0000"/>
            </a:solidFill>
            <a:prstDash val="solid"/>
            <a:miter/>
            <a:headEnd type="none" w="med" len="med"/>
            <a:tailEnd type="none" w="med" len="med"/>
          </a:ln>
        </p:spPr>
      </p:pic>
      <p:sp>
        <p:nvSpPr>
          <p:cNvPr id="48131" name="文本框 1269762"/>
          <p:cNvSpPr txBox="1"/>
          <p:nvPr/>
        </p:nvSpPr>
        <p:spPr>
          <a:xfrm>
            <a:off x="6084888" y="3397250"/>
            <a:ext cx="2520950" cy="1016000"/>
          </a:xfrm>
          <a:prstGeom prst="rect">
            <a:avLst/>
          </a:prstGeom>
          <a:noFill/>
          <a:ln w="9525">
            <a:noFill/>
          </a:ln>
        </p:spPr>
        <p:txBody>
          <a:bodyPr anchor="t" anchorCtr="0">
            <a:spAutoFit/>
          </a:bodyPr>
          <a:lstStyle/>
          <a:p>
            <a:pPr>
              <a:spcBef>
                <a:spcPct val="50000"/>
              </a:spcBef>
            </a:pPr>
            <a:r>
              <a:rPr lang="zh-CN" altLang="en-US" sz="2400" b="1" dirty="0">
                <a:solidFill>
                  <a:srgbClr val="FFFFFF"/>
                </a:solidFill>
                <a:latin typeface="Times New Roman" panose="02020603050405020304" pitchFamily="18" charset="0"/>
                <a:ea typeface="宋体" panose="02010600030101010101" pitchFamily="2" charset="-122"/>
              </a:rPr>
              <a:t>书上附录 </a:t>
            </a:r>
            <a:r>
              <a:rPr lang="en-US" altLang="zh-CN" sz="2400" b="1" dirty="0">
                <a:solidFill>
                  <a:srgbClr val="FFFFFF"/>
                </a:solidFill>
                <a:latin typeface="Times New Roman" panose="02020603050405020304" pitchFamily="18" charset="0"/>
                <a:ea typeface="宋体" panose="02010600030101010101" pitchFamily="2" charset="-122"/>
              </a:rPr>
              <a:t>7</a:t>
            </a:r>
          </a:p>
          <a:p>
            <a:pPr>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(P240-242)</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电脑屏幕的照片上有文字&#10;&#10;AI 生成的内容可能不正确。">
            <a:extLst>
              <a:ext uri="{FF2B5EF4-FFF2-40B4-BE49-F238E27FC236}">
                <a16:creationId xmlns:a16="http://schemas.microsoft.com/office/drawing/2014/main" id="{4376D9FA-C5E0-ABC3-F903-53A7DC1DD4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1000" y="0"/>
            <a:ext cx="4662000" cy="5715000"/>
          </a:xfrm>
          <a:prstGeom prst="rect">
            <a:avLst/>
          </a:prstGeom>
        </p:spPr>
      </p:pic>
    </p:spTree>
    <p:extLst>
      <p:ext uri="{BB962C8B-B14F-4D97-AF65-F5344CB8AC3E}">
        <p14:creationId xmlns:p14="http://schemas.microsoft.com/office/powerpoint/2010/main" val="1721521413"/>
      </p:ext>
    </p:extLst>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表格&#10;&#10;AI 生成的内容可能不正确。">
            <a:extLst>
              <a:ext uri="{FF2B5EF4-FFF2-40B4-BE49-F238E27FC236}">
                <a16:creationId xmlns:a16="http://schemas.microsoft.com/office/drawing/2014/main" id="{73BE8E92-175B-6240-181B-AC31A26A1F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7465" y="0"/>
            <a:ext cx="4569069" cy="5715000"/>
          </a:xfrm>
          <a:prstGeom prst="rect">
            <a:avLst/>
          </a:prstGeom>
        </p:spPr>
      </p:pic>
    </p:spTree>
    <p:extLst>
      <p:ext uri="{BB962C8B-B14F-4D97-AF65-F5344CB8AC3E}">
        <p14:creationId xmlns:p14="http://schemas.microsoft.com/office/powerpoint/2010/main" val="3550082763"/>
      </p:ext>
    </p:extLst>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34</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49154" name="文本框 1162242"/>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49155" name="矩形 1162243"/>
          <p:cNvSpPr/>
          <p:nvPr/>
        </p:nvSpPr>
        <p:spPr>
          <a:xfrm>
            <a:off x="611188" y="157163"/>
            <a:ext cx="8137525" cy="2160587"/>
          </a:xfrm>
          <a:prstGeom prst="rect">
            <a:avLst/>
          </a:prstGeom>
          <a:noFill/>
          <a:ln w="12700">
            <a:noFill/>
          </a:ln>
        </p:spPr>
        <p:txBody>
          <a:bodyPr anchor="t" anchorCtr="0">
            <a:spAutoFit/>
          </a:bodyPr>
          <a:lstStyle/>
          <a:p>
            <a:pPr>
              <a:lnSpc>
                <a:spcPct val="160000"/>
              </a:lnSpc>
            </a:pPr>
            <a:r>
              <a:rPr lang="zh-CN" altLang="en-US" sz="2800" b="1"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b</a:t>
            </a:r>
            <a:r>
              <a:rPr lang="zh-CN" altLang="en-US" sz="2800" b="1" dirty="0">
                <a:solidFill>
                  <a:srgbClr val="FFFFFF"/>
                </a:solidFill>
                <a:latin typeface="Times New Roman" panose="02020603050405020304" pitchFamily="18" charset="0"/>
                <a:ea typeface="黑体" panose="02010609060101010101" pitchFamily="49" charset="-122"/>
              </a:rPr>
              <a:t>）</a:t>
            </a:r>
            <a:r>
              <a:rPr lang="zh-CN" altLang="es-ES_tradnl" sz="2800" b="1" dirty="0">
                <a:solidFill>
                  <a:srgbClr val="FFFFFF"/>
                </a:solidFill>
                <a:latin typeface="Times New Roman" panose="02020603050405020304" pitchFamily="18" charset="0"/>
                <a:ea typeface="黑体" panose="02010609060101010101" pitchFamily="49" charset="-122"/>
              </a:rPr>
              <a:t>对角线规则：</a:t>
            </a:r>
          </a:p>
          <a:p>
            <a:pPr>
              <a:lnSpc>
                <a:spcPct val="160000"/>
              </a:lnSpc>
            </a:pPr>
            <a:r>
              <a:rPr lang="zh-CN" altLang="es-ES_tradnl" sz="2800" b="1" dirty="0">
                <a:solidFill>
                  <a:srgbClr val="FFFFFF"/>
                </a:solidFill>
                <a:latin typeface="Times New Roman" panose="02020603050405020304" pitchFamily="18" charset="0"/>
                <a:ea typeface="黑体" panose="02010609060101010101" pitchFamily="49" charset="-122"/>
              </a:rPr>
              <a:t>         处于对角线的两种物质放在一起，能发生氧化还原反应</a:t>
            </a:r>
            <a:endParaRPr lang="zh-CN" altLang="en-US" sz="2800" b="1" dirty="0">
              <a:solidFill>
                <a:srgbClr val="FFFFFF"/>
              </a:solidFill>
              <a:latin typeface="Times New Roman" panose="02020603050405020304" pitchFamily="18" charset="0"/>
              <a:ea typeface="黑体" panose="02010609060101010101" pitchFamily="49" charset="-122"/>
            </a:endParaRPr>
          </a:p>
        </p:txBody>
      </p:sp>
      <p:pic>
        <p:nvPicPr>
          <p:cNvPr id="49156" name="图片 1162272" descr="255a"/>
          <p:cNvPicPr>
            <a:picLocks noChangeAspect="1"/>
          </p:cNvPicPr>
          <p:nvPr/>
        </p:nvPicPr>
        <p:blipFill>
          <a:blip r:embed="rId2"/>
          <a:stretch>
            <a:fillRect/>
          </a:stretch>
        </p:blipFill>
        <p:spPr>
          <a:xfrm>
            <a:off x="611188" y="2538413"/>
            <a:ext cx="7921625" cy="1519237"/>
          </a:xfrm>
          <a:prstGeom prst="rect">
            <a:avLst/>
          </a:prstGeom>
          <a:noFill/>
          <a:ln w="38100" cap="flat" cmpd="sng">
            <a:solidFill>
              <a:srgbClr val="FF0000"/>
            </a:solidFill>
            <a:prstDash val="solid"/>
            <a:miter/>
            <a:headEnd type="none" w="med" len="med"/>
            <a:tailEnd type="none" w="med" len="med"/>
          </a:ln>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框 1190914"/>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50178" name="组合 1190944"/>
          <p:cNvGrpSpPr/>
          <p:nvPr/>
        </p:nvGrpSpPr>
        <p:grpSpPr>
          <a:xfrm>
            <a:off x="1835150" y="709613"/>
            <a:ext cx="5329238" cy="781050"/>
            <a:chOff x="1156" y="536"/>
            <a:chExt cx="3357" cy="591"/>
          </a:xfrm>
        </p:grpSpPr>
        <p:sp>
          <p:nvSpPr>
            <p:cNvPr id="50179" name="矩形 1190915"/>
            <p:cNvSpPr/>
            <p:nvPr/>
          </p:nvSpPr>
          <p:spPr>
            <a:xfrm>
              <a:off x="1565" y="536"/>
              <a:ext cx="2948" cy="591"/>
            </a:xfrm>
            <a:prstGeom prst="rect">
              <a:avLst/>
            </a:prstGeom>
            <a:noFill/>
            <a:ln w="12700">
              <a:noFill/>
            </a:ln>
          </p:spPr>
          <p:txBody>
            <a:bodyPr anchor="t" anchorCtr="0">
              <a:spAutoFit/>
            </a:bodyPr>
            <a:lstStyle/>
            <a:p>
              <a:pPr>
                <a:lnSpc>
                  <a:spcPct val="160000"/>
                </a:lnSpc>
              </a:pPr>
              <a:r>
                <a:rPr lang="zh-CN" altLang="en-US" sz="2800" b="1" dirty="0">
                  <a:solidFill>
                    <a:srgbClr val="FFFFFF"/>
                  </a:solidFill>
                  <a:latin typeface="Times New Roman" panose="02020603050405020304" pitchFamily="18" charset="0"/>
                  <a:ea typeface="黑体" panose="02010609060101010101" pitchFamily="49" charset="-122"/>
                </a:rPr>
                <a:t>越负，还原型的还原性越强</a:t>
              </a:r>
            </a:p>
          </p:txBody>
        </p:sp>
        <p:grpSp>
          <p:nvGrpSpPr>
            <p:cNvPr id="50180" name="组合 1190916"/>
            <p:cNvGrpSpPr/>
            <p:nvPr/>
          </p:nvGrpSpPr>
          <p:grpSpPr>
            <a:xfrm>
              <a:off x="1156" y="618"/>
              <a:ext cx="454" cy="396"/>
              <a:chOff x="3923" y="3158"/>
              <a:chExt cx="454" cy="396"/>
            </a:xfrm>
          </p:grpSpPr>
          <p:sp>
            <p:nvSpPr>
              <p:cNvPr id="50181" name="矩形 1190917"/>
              <p:cNvSpPr/>
              <p:nvPr/>
            </p:nvSpPr>
            <p:spPr>
              <a:xfrm>
                <a:off x="3923" y="3158"/>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0182" name="组合 1190918"/>
              <p:cNvGrpSpPr/>
              <p:nvPr/>
            </p:nvGrpSpPr>
            <p:grpSpPr>
              <a:xfrm>
                <a:off x="4130" y="3248"/>
                <a:ext cx="136" cy="91"/>
                <a:chOff x="3744" y="2646"/>
                <a:chExt cx="192" cy="96"/>
              </a:xfrm>
            </p:grpSpPr>
            <p:sp>
              <p:nvSpPr>
                <p:cNvPr id="50183" name="椭圆 1190919"/>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0184" name="直接连接符 1190920"/>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grpSp>
        <p:nvGrpSpPr>
          <p:cNvPr id="1190922" name="组合 1190921"/>
          <p:cNvGrpSpPr/>
          <p:nvPr/>
        </p:nvGrpSpPr>
        <p:grpSpPr>
          <a:xfrm>
            <a:off x="611188" y="1657350"/>
            <a:ext cx="8137525" cy="2074863"/>
            <a:chOff x="385" y="1915"/>
            <a:chExt cx="5126" cy="1568"/>
          </a:xfrm>
        </p:grpSpPr>
        <p:grpSp>
          <p:nvGrpSpPr>
            <p:cNvPr id="50186" name="组合 1190922"/>
            <p:cNvGrpSpPr/>
            <p:nvPr/>
          </p:nvGrpSpPr>
          <p:grpSpPr>
            <a:xfrm>
              <a:off x="612" y="2423"/>
              <a:ext cx="953" cy="396"/>
              <a:chOff x="521" y="2332"/>
              <a:chExt cx="953" cy="396"/>
            </a:xfrm>
          </p:grpSpPr>
          <p:sp>
            <p:nvSpPr>
              <p:cNvPr id="50187" name="矩形 1190923"/>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Zn2+/Zn</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0188" name="组合 1190924"/>
              <p:cNvGrpSpPr/>
              <p:nvPr/>
            </p:nvGrpSpPr>
            <p:grpSpPr>
              <a:xfrm>
                <a:off x="748" y="2367"/>
                <a:ext cx="136" cy="91"/>
                <a:chOff x="3744" y="2646"/>
                <a:chExt cx="192" cy="96"/>
              </a:xfrm>
            </p:grpSpPr>
            <p:sp>
              <p:nvSpPr>
                <p:cNvPr id="50189" name="椭圆 119092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0190" name="直接连接符 119092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0191" name="组合 1190927"/>
            <p:cNvGrpSpPr/>
            <p:nvPr/>
          </p:nvGrpSpPr>
          <p:grpSpPr>
            <a:xfrm>
              <a:off x="1791" y="2423"/>
              <a:ext cx="953" cy="396"/>
              <a:chOff x="521" y="2332"/>
              <a:chExt cx="953" cy="396"/>
            </a:xfrm>
          </p:grpSpPr>
          <p:sp>
            <p:nvSpPr>
              <p:cNvPr id="50192" name="矩形 1190928"/>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Fe3+/Fe</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0193" name="组合 1190929"/>
              <p:cNvGrpSpPr/>
              <p:nvPr/>
            </p:nvGrpSpPr>
            <p:grpSpPr>
              <a:xfrm>
                <a:off x="748" y="2367"/>
                <a:ext cx="136" cy="91"/>
                <a:chOff x="3744" y="2646"/>
                <a:chExt cx="192" cy="96"/>
              </a:xfrm>
            </p:grpSpPr>
            <p:sp>
              <p:nvSpPr>
                <p:cNvPr id="50194" name="椭圆 119093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0195" name="直接连接符 119093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0196" name="组合 1190932"/>
            <p:cNvGrpSpPr/>
            <p:nvPr/>
          </p:nvGrpSpPr>
          <p:grpSpPr>
            <a:xfrm>
              <a:off x="2925" y="2432"/>
              <a:ext cx="953" cy="396"/>
              <a:chOff x="521" y="2332"/>
              <a:chExt cx="953" cy="396"/>
            </a:xfrm>
          </p:grpSpPr>
          <p:sp>
            <p:nvSpPr>
              <p:cNvPr id="50197" name="矩形 1190933"/>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Ni2+/Ni</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0198" name="组合 1190934"/>
              <p:cNvGrpSpPr/>
              <p:nvPr/>
            </p:nvGrpSpPr>
            <p:grpSpPr>
              <a:xfrm>
                <a:off x="748" y="2367"/>
                <a:ext cx="136" cy="91"/>
                <a:chOff x="3744" y="2646"/>
                <a:chExt cx="192" cy="96"/>
              </a:xfrm>
            </p:grpSpPr>
            <p:sp>
              <p:nvSpPr>
                <p:cNvPr id="50199" name="椭圆 119093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0200" name="直接连接符 119093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0201" name="组合 1190937"/>
            <p:cNvGrpSpPr/>
            <p:nvPr/>
          </p:nvGrpSpPr>
          <p:grpSpPr>
            <a:xfrm>
              <a:off x="4240" y="2432"/>
              <a:ext cx="953" cy="396"/>
              <a:chOff x="521" y="2332"/>
              <a:chExt cx="953" cy="396"/>
            </a:xfrm>
          </p:grpSpPr>
          <p:sp>
            <p:nvSpPr>
              <p:cNvPr id="50202" name="矩形 1190938"/>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Ag+/Ag</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0203" name="组合 1190939"/>
              <p:cNvGrpSpPr/>
              <p:nvPr/>
            </p:nvGrpSpPr>
            <p:grpSpPr>
              <a:xfrm>
                <a:off x="748" y="2367"/>
                <a:ext cx="136" cy="91"/>
                <a:chOff x="3744" y="2646"/>
                <a:chExt cx="192" cy="96"/>
              </a:xfrm>
            </p:grpSpPr>
            <p:sp>
              <p:nvSpPr>
                <p:cNvPr id="50204" name="椭圆 119094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0205" name="直接连接符 119094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0206" name="矩形 1190942"/>
            <p:cNvSpPr/>
            <p:nvPr/>
          </p:nvSpPr>
          <p:spPr>
            <a:xfrm>
              <a:off x="385" y="1915"/>
              <a:ext cx="5126" cy="1568"/>
            </a:xfrm>
            <a:prstGeom prst="rect">
              <a:avLst/>
            </a:prstGeom>
            <a:noFill/>
            <a:ln w="12700">
              <a:noFill/>
            </a:ln>
          </p:spPr>
          <p:txBody>
            <a:bodyPr anchor="t" anchorCtr="0">
              <a:spAutoFit/>
            </a:bodyPr>
            <a:lstStyle/>
            <a:p>
              <a:pPr>
                <a:lnSpc>
                  <a:spcPct val="160000"/>
                </a:lnSpc>
              </a:pPr>
              <a:r>
                <a:rPr lang="zh-CN" altLang="en-US" sz="2800" b="1" dirty="0">
                  <a:solidFill>
                    <a:srgbClr val="FFFFFF"/>
                  </a:solidFill>
                  <a:latin typeface="Times New Roman" panose="02020603050405020304" pitchFamily="18" charset="0"/>
                  <a:ea typeface="黑体" panose="02010609060101010101" pitchFamily="49" charset="-122"/>
                </a:rPr>
                <a:t>如，</a:t>
              </a:r>
            </a:p>
            <a:p>
              <a:endParaRPr lang="en-US" altLang="zh-CN" sz="2800" b="1" dirty="0">
                <a:solidFill>
                  <a:srgbClr val="FFFFFF"/>
                </a:solidFill>
                <a:latin typeface="Times New Roman" panose="02020603050405020304" pitchFamily="18" charset="0"/>
                <a:ea typeface="黑体" panose="02010609060101010101" pitchFamily="49" charset="-122"/>
              </a:endParaRPr>
            </a:p>
            <a:p>
              <a:endParaRPr lang="en-US" altLang="zh-CN" sz="2800" b="1" dirty="0">
                <a:solidFill>
                  <a:srgbClr val="FFFFFF"/>
                </a:solidFill>
                <a:latin typeface="Times New Roman" panose="02020603050405020304" pitchFamily="18" charset="0"/>
                <a:ea typeface="黑体" panose="02010609060101010101" pitchFamily="49" charset="-122"/>
              </a:endParaRPr>
            </a:p>
            <a:p>
              <a:r>
                <a:rPr lang="en-US" altLang="zh-CN" sz="2800" b="1" dirty="0">
                  <a:solidFill>
                    <a:srgbClr val="FFFFFF"/>
                  </a:solidFill>
                  <a:latin typeface="Times New Roman" panose="02020603050405020304" pitchFamily="18" charset="0"/>
                  <a:ea typeface="黑体" panose="02010609060101010101" pitchFamily="49" charset="-122"/>
                </a:rPr>
                <a:t>      -0.763          -0.23V           -0.409       +0.7996V</a:t>
              </a:r>
            </a:p>
          </p:txBody>
        </p:sp>
      </p:grpSp>
      <p:sp>
        <p:nvSpPr>
          <p:cNvPr id="1190944" name="矩形 1190943"/>
          <p:cNvSpPr/>
          <p:nvPr/>
        </p:nvSpPr>
        <p:spPr>
          <a:xfrm>
            <a:off x="611188" y="3744913"/>
            <a:ext cx="8137525" cy="523875"/>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 </a:t>
            </a:r>
            <a:r>
              <a:rPr lang="zh-CN" altLang="en-US" sz="2800" b="1" dirty="0">
                <a:solidFill>
                  <a:srgbClr val="FFFFFF"/>
                </a:solidFill>
                <a:latin typeface="Times New Roman" panose="02020603050405020304" pitchFamily="18" charset="0"/>
                <a:ea typeface="黑体" panose="02010609060101010101" pitchFamily="49" charset="-122"/>
              </a:rPr>
              <a:t>最强的还原剂为</a:t>
            </a:r>
            <a:r>
              <a:rPr lang="en-US" altLang="zh-CN" sz="2800" b="1" dirty="0">
                <a:solidFill>
                  <a:srgbClr val="FFFFFF"/>
                </a:solidFill>
                <a:latin typeface="Times New Roman" panose="02020603050405020304" pitchFamily="18" charset="0"/>
                <a:ea typeface="黑体" panose="02010609060101010101" pitchFamily="49" charset="-122"/>
              </a:rPr>
              <a:t>Zn</a:t>
            </a:r>
            <a:r>
              <a:rPr lang="zh-CN" altLang="en-US" sz="2800" b="1" dirty="0">
                <a:solidFill>
                  <a:srgbClr val="FFFFFF"/>
                </a:solidFill>
                <a:latin typeface="Times New Roman" panose="02020603050405020304" pitchFamily="18" charset="0"/>
                <a:ea typeface="黑体" panose="02010609060101010101" pitchFamily="49" charset="-122"/>
              </a:rPr>
              <a:t>，最强的氧化剂为</a:t>
            </a:r>
            <a:r>
              <a:rPr lang="en-US" altLang="zh-CN" sz="2800" b="1" dirty="0">
                <a:solidFill>
                  <a:srgbClr val="FFFFFF"/>
                </a:solidFill>
                <a:latin typeface="Times New Roman" panose="02020603050405020304" pitchFamily="18" charset="0"/>
                <a:ea typeface="黑体" panose="02010609060101010101" pitchFamily="49" charset="-122"/>
              </a:rPr>
              <a:t>Ag</a:t>
            </a:r>
            <a:r>
              <a:rPr lang="en-US" altLang="zh-CN" sz="2800" b="1" baseline="30000" dirty="0">
                <a:solidFill>
                  <a:srgbClr val="FFFFFF"/>
                </a:solidFill>
                <a:latin typeface="Times New Roman" panose="02020603050405020304" pitchFamily="18" charset="0"/>
                <a:ea typeface="黑体" panose="02010609060101010101" pitchFamily="49"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90922"/>
                                        </p:tgtEl>
                                        <p:attrNameLst>
                                          <p:attrName>style.visibility</p:attrName>
                                        </p:attrNameLst>
                                      </p:cBhvr>
                                      <p:to>
                                        <p:strVal val="visible"/>
                                      </p:to>
                                    </p:set>
                                    <p:animEffect transition="in" filter="box(in)">
                                      <p:cBhvr>
                                        <p:cTn id="7" dur="500"/>
                                        <p:tgtEl>
                                          <p:spTgt spid="11909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90944"/>
                                        </p:tgtEl>
                                        <p:attrNameLst>
                                          <p:attrName>style.visibility</p:attrName>
                                        </p:attrNameLst>
                                      </p:cBhvr>
                                      <p:to>
                                        <p:strVal val="visible"/>
                                      </p:to>
                                    </p:set>
                                    <p:anim calcmode="lin" valueType="num">
                                      <p:cBhvr additive="base">
                                        <p:cTn id="12" dur="500" fill="hold"/>
                                        <p:tgtEl>
                                          <p:spTgt spid="1190944"/>
                                        </p:tgtEl>
                                        <p:attrNameLst>
                                          <p:attrName>ppt_x</p:attrName>
                                        </p:attrNameLst>
                                      </p:cBhvr>
                                      <p:tavLst>
                                        <p:tav tm="0">
                                          <p:val>
                                            <p:strVal val="#ppt_x"/>
                                          </p:val>
                                        </p:tav>
                                        <p:tav tm="100000">
                                          <p:val>
                                            <p:strVal val="#ppt_x"/>
                                          </p:val>
                                        </p:tav>
                                      </p:tavLst>
                                    </p:anim>
                                    <p:anim calcmode="lin" valueType="num">
                                      <p:cBhvr additive="base">
                                        <p:cTn id="13" dur="500" fill="hold"/>
                                        <p:tgtEl>
                                          <p:spTgt spid="11909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094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36</a:t>
            </a:fld>
            <a:endParaRPr lang="zh-CN" altLang="en-US" sz="1400" dirty="0">
              <a:solidFill>
                <a:srgbClr val="FFFFFF"/>
              </a:solidFill>
              <a:latin typeface="Times New Roman" panose="02020603050405020304" pitchFamily="18" charset="0"/>
              <a:ea typeface="宋体" panose="02010600030101010101" pitchFamily="2" charset="-122"/>
            </a:endParaRPr>
          </a:p>
        </p:txBody>
      </p:sp>
      <p:grpSp>
        <p:nvGrpSpPr>
          <p:cNvPr id="1163266" name="组合 1163265"/>
          <p:cNvGrpSpPr/>
          <p:nvPr/>
        </p:nvGrpSpPr>
        <p:grpSpPr>
          <a:xfrm>
            <a:off x="611188" y="157163"/>
            <a:ext cx="8137525" cy="1665287"/>
            <a:chOff x="385" y="119"/>
            <a:chExt cx="5126" cy="1258"/>
          </a:xfrm>
        </p:grpSpPr>
        <p:sp>
          <p:nvSpPr>
            <p:cNvPr id="51203" name="文本框 1163266"/>
            <p:cNvSpPr txBox="1"/>
            <p:nvPr/>
          </p:nvSpPr>
          <p:spPr>
            <a:xfrm>
              <a:off x="703" y="935"/>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51204" name="矩形 1163267"/>
            <p:cNvSpPr/>
            <p:nvPr/>
          </p:nvSpPr>
          <p:spPr>
            <a:xfrm>
              <a:off x="385" y="119"/>
              <a:ext cx="5126" cy="396"/>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en-US" altLang="zh-CN" sz="2800" b="1" dirty="0">
                  <a:solidFill>
                    <a:srgbClr val="FFFFFF"/>
                  </a:solidFill>
                  <a:latin typeface="Times New Roman" panose="02020603050405020304" pitchFamily="18" charset="0"/>
                  <a:ea typeface="黑体" panose="02010609060101010101" pitchFamily="49" charset="-122"/>
                </a:rPr>
                <a:t>1</a:t>
              </a:r>
              <a:r>
                <a:rPr lang="zh-CN" altLang="en-US" sz="2800" b="1" dirty="0">
                  <a:solidFill>
                    <a:srgbClr val="FFFFFF"/>
                  </a:solidFill>
                  <a:latin typeface="Times New Roman" panose="02020603050405020304" pitchFamily="18" charset="0"/>
                  <a:ea typeface="黑体" panose="02010609060101010101" pitchFamily="49" charset="-122"/>
                </a:rPr>
                <a:t>，已知</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nvGrpSpPr>
            <p:cNvPr id="51205" name="组合 1163268"/>
            <p:cNvGrpSpPr/>
            <p:nvPr/>
          </p:nvGrpSpPr>
          <p:grpSpPr>
            <a:xfrm>
              <a:off x="1973" y="245"/>
              <a:ext cx="2132" cy="396"/>
              <a:chOff x="1791" y="3294"/>
              <a:chExt cx="2132" cy="396"/>
            </a:xfrm>
          </p:grpSpPr>
          <p:sp>
            <p:nvSpPr>
              <p:cNvPr id="51206" name="矩形 1163269"/>
              <p:cNvSpPr/>
              <p:nvPr/>
            </p:nvSpPr>
            <p:spPr>
              <a:xfrm>
                <a:off x="1791" y="3294"/>
                <a:ext cx="2132"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Cl</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/Cl</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rgbClr val="FFFFFF"/>
                    </a:solidFill>
                    <a:latin typeface="Times New Roman" panose="02020603050405020304" pitchFamily="18" charset="0"/>
                    <a:ea typeface="宋体" panose="02010600030101010101" pitchFamily="2" charset="-122"/>
                    <a:sym typeface="Symbol" panose="05050102010706020507" pitchFamily="18" charset="2"/>
                  </a:rPr>
                  <a:t>1.3583 V</a:t>
                </a:r>
                <a:r>
                  <a:rPr lang="en-US" altLang="zh-CN" sz="2400"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1207" name="组合 1163270"/>
              <p:cNvGrpSpPr/>
              <p:nvPr/>
            </p:nvGrpSpPr>
            <p:grpSpPr>
              <a:xfrm>
                <a:off x="2018" y="3329"/>
                <a:ext cx="136" cy="91"/>
                <a:chOff x="3744" y="2646"/>
                <a:chExt cx="192" cy="96"/>
              </a:xfrm>
            </p:grpSpPr>
            <p:sp>
              <p:nvSpPr>
                <p:cNvPr id="51208" name="椭圆 116327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1209" name="直接连接符 116327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1210" name="组合 1163273"/>
            <p:cNvGrpSpPr/>
            <p:nvPr/>
          </p:nvGrpSpPr>
          <p:grpSpPr>
            <a:xfrm>
              <a:off x="2018" y="608"/>
              <a:ext cx="2132" cy="396"/>
              <a:chOff x="1791" y="3294"/>
              <a:chExt cx="2132" cy="396"/>
            </a:xfrm>
          </p:grpSpPr>
          <p:sp>
            <p:nvSpPr>
              <p:cNvPr id="51211" name="矩形 1163274"/>
              <p:cNvSpPr/>
              <p:nvPr/>
            </p:nvSpPr>
            <p:spPr>
              <a:xfrm>
                <a:off x="1791" y="3294"/>
                <a:ext cx="2132"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Br</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/Br</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rgbClr val="FFFFFF"/>
                    </a:solidFill>
                    <a:latin typeface="Times New Roman" panose="02020603050405020304" pitchFamily="18" charset="0"/>
                    <a:ea typeface="宋体" panose="02010600030101010101" pitchFamily="2" charset="-122"/>
                    <a:sym typeface="Symbol" panose="05050102010706020507" pitchFamily="18" charset="2"/>
                  </a:rPr>
                  <a:t>1.065 V</a:t>
                </a:r>
                <a:r>
                  <a:rPr lang="en-US" altLang="zh-CN" sz="2400"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1212" name="组合 1163275"/>
              <p:cNvGrpSpPr/>
              <p:nvPr/>
            </p:nvGrpSpPr>
            <p:grpSpPr>
              <a:xfrm>
                <a:off x="2018" y="3329"/>
                <a:ext cx="136" cy="91"/>
                <a:chOff x="3744" y="2646"/>
                <a:chExt cx="192" cy="96"/>
              </a:xfrm>
            </p:grpSpPr>
            <p:sp>
              <p:nvSpPr>
                <p:cNvPr id="51213" name="椭圆 116327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1214" name="直接连接符 116327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1215" name="组合 1163278"/>
            <p:cNvGrpSpPr/>
            <p:nvPr/>
          </p:nvGrpSpPr>
          <p:grpSpPr>
            <a:xfrm>
              <a:off x="1973" y="981"/>
              <a:ext cx="2132" cy="396"/>
              <a:chOff x="1791" y="3294"/>
              <a:chExt cx="2132" cy="396"/>
            </a:xfrm>
          </p:grpSpPr>
          <p:sp>
            <p:nvSpPr>
              <p:cNvPr id="51216" name="矩形 1163279"/>
              <p:cNvSpPr/>
              <p:nvPr/>
            </p:nvSpPr>
            <p:spPr>
              <a:xfrm>
                <a:off x="1791" y="3294"/>
                <a:ext cx="2132"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I</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/I</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rgbClr val="FFFFFF"/>
                    </a:solidFill>
                    <a:latin typeface="Times New Roman" panose="02020603050405020304" pitchFamily="18" charset="0"/>
                    <a:ea typeface="宋体" panose="02010600030101010101" pitchFamily="2" charset="-122"/>
                    <a:sym typeface="Symbol" panose="05050102010706020507" pitchFamily="18" charset="2"/>
                  </a:rPr>
                  <a:t>0.535 V</a:t>
                </a:r>
                <a:r>
                  <a:rPr lang="en-US" altLang="zh-CN" sz="2400"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1217" name="组合 1163280"/>
              <p:cNvGrpSpPr/>
              <p:nvPr/>
            </p:nvGrpSpPr>
            <p:grpSpPr>
              <a:xfrm>
                <a:off x="2018" y="3329"/>
                <a:ext cx="136" cy="91"/>
                <a:chOff x="3744" y="2646"/>
                <a:chExt cx="192" cy="96"/>
              </a:xfrm>
            </p:grpSpPr>
            <p:sp>
              <p:nvSpPr>
                <p:cNvPr id="51218" name="椭圆 116328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1219" name="直接连接符 116328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
        <p:nvSpPr>
          <p:cNvPr id="1163284" name="矩形 1163283"/>
          <p:cNvSpPr/>
          <p:nvPr/>
        </p:nvSpPr>
        <p:spPr>
          <a:xfrm>
            <a:off x="684213" y="1838325"/>
            <a:ext cx="8137525" cy="652463"/>
          </a:xfrm>
          <a:prstGeom prst="rect">
            <a:avLst/>
          </a:prstGeom>
          <a:noFill/>
          <a:ln w="12700">
            <a:noFill/>
          </a:ln>
        </p:spPr>
        <p:txBody>
          <a:bodyPr anchor="t" anchorCtr="0">
            <a:spAutoFit/>
          </a:bodyPr>
          <a:lstStyle/>
          <a:p>
            <a:pPr>
              <a:lnSpc>
                <a:spcPct val="130000"/>
              </a:lnSpc>
            </a:pPr>
            <a:r>
              <a:rPr lang="zh-CN" altLang="en-US" sz="2800" b="1" dirty="0">
                <a:solidFill>
                  <a:srgbClr val="FFFFFF"/>
                </a:solidFill>
                <a:latin typeface="Times New Roman" panose="02020603050405020304" pitchFamily="18" charset="0"/>
                <a:ea typeface="黑体" panose="02010609060101010101" pitchFamily="49" charset="-122"/>
              </a:rPr>
              <a:t>          指出最强的氧化剂，最强的还原剂</a:t>
            </a:r>
          </a:p>
        </p:txBody>
      </p:sp>
      <p:sp>
        <p:nvSpPr>
          <p:cNvPr id="1163285" name="矩形 1163284"/>
          <p:cNvSpPr/>
          <p:nvPr/>
        </p:nvSpPr>
        <p:spPr>
          <a:xfrm>
            <a:off x="611188" y="3162300"/>
            <a:ext cx="8137525" cy="522288"/>
          </a:xfrm>
          <a:prstGeom prst="rect">
            <a:avLst/>
          </a:prstGeom>
          <a:noFill/>
          <a:ln w="12700">
            <a:noFill/>
          </a:ln>
        </p:spPr>
        <p:txBody>
          <a:bodyPr anchor="t" anchorCtr="0">
            <a:spAutoFit/>
          </a:bodyPr>
          <a:lstStyle/>
          <a:p>
            <a:r>
              <a:rPr lang="en-US" altLang="zh-CN" sz="2800" b="1" dirty="0">
                <a:solidFill>
                  <a:srgbClr val="FFFF00"/>
                </a:solidFill>
                <a:latin typeface="Times New Roman" panose="02020603050405020304" pitchFamily="18" charset="0"/>
                <a:ea typeface="黑体" panose="02010609060101010101" pitchFamily="49" charset="-122"/>
              </a:rPr>
              <a:t>(2)   </a:t>
            </a:r>
            <a:r>
              <a:rPr lang="zh-CN" altLang="en-US" sz="2800" b="1" dirty="0">
                <a:solidFill>
                  <a:srgbClr val="FFFF00"/>
                </a:solidFill>
                <a:latin typeface="Times New Roman" panose="02020603050405020304" pitchFamily="18" charset="0"/>
                <a:ea typeface="黑体" panose="02010609060101010101" pitchFamily="49" charset="-122"/>
              </a:rPr>
              <a:t>判断反应方向</a:t>
            </a:r>
          </a:p>
        </p:txBody>
      </p:sp>
      <p:sp>
        <p:nvSpPr>
          <p:cNvPr id="1163286" name="矩形 1163285"/>
          <p:cNvSpPr/>
          <p:nvPr/>
        </p:nvSpPr>
        <p:spPr>
          <a:xfrm>
            <a:off x="611188" y="3757613"/>
            <a:ext cx="8137525" cy="1816100"/>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氧化还原反应进行的方向和很多因素有关，（反应物的本性、浓度、介质和温度等）当其它外界条件一定时，</a:t>
            </a:r>
            <a:r>
              <a:rPr lang="zh-CN" altLang="en-US" sz="2800" b="1" dirty="0">
                <a:solidFill>
                  <a:srgbClr val="FFFF00"/>
                </a:solidFill>
                <a:latin typeface="Times New Roman" panose="02020603050405020304" pitchFamily="18" charset="0"/>
                <a:ea typeface="黑体" panose="02010609060101010101" pitchFamily="49" charset="-122"/>
              </a:rPr>
              <a:t>反应的方向决定于氧化剂和还原剂的本性</a:t>
            </a:r>
            <a:endParaRPr lang="en-US" altLang="zh-CN" sz="2800" b="1" dirty="0">
              <a:solidFill>
                <a:srgbClr val="FFFF00"/>
              </a:solidFill>
              <a:latin typeface="Times New Roman" panose="02020603050405020304" pitchFamily="18" charset="0"/>
              <a:ea typeface="黑体" panose="02010609060101010101" pitchFamily="49" charset="-122"/>
            </a:endParaRPr>
          </a:p>
        </p:txBody>
      </p:sp>
      <p:sp>
        <p:nvSpPr>
          <p:cNvPr id="1163287" name="矩形 1163286"/>
          <p:cNvSpPr/>
          <p:nvPr/>
        </p:nvSpPr>
        <p:spPr>
          <a:xfrm>
            <a:off x="1331913" y="2514600"/>
            <a:ext cx="6551612" cy="652463"/>
          </a:xfrm>
          <a:prstGeom prst="rect">
            <a:avLst/>
          </a:prstGeom>
          <a:noFill/>
          <a:ln w="12700">
            <a:noFill/>
          </a:ln>
        </p:spPr>
        <p:txBody>
          <a:bodyPr anchor="t" anchorCtr="0">
            <a:spAutoFit/>
          </a:bodyPr>
          <a:lstStyle/>
          <a:p>
            <a:pPr>
              <a:lnSpc>
                <a:spcPct val="130000"/>
              </a:lnSpc>
            </a:pPr>
            <a:r>
              <a:rPr lang="zh-CN" altLang="en-US" sz="2800" b="1" dirty="0">
                <a:solidFill>
                  <a:srgbClr val="FFFFFF"/>
                </a:solidFill>
                <a:latin typeface="Times New Roman" panose="02020603050405020304" pitchFamily="18" charset="0"/>
                <a:ea typeface="黑体" panose="02010609060101010101" pitchFamily="49" charset="-122"/>
              </a:rPr>
              <a:t>最强的氧化剂为</a:t>
            </a:r>
            <a:r>
              <a:rPr lang="en-US" altLang="zh-CN" sz="2800" b="1" dirty="0">
                <a:solidFill>
                  <a:srgbClr val="FFFFFF"/>
                </a:solidFill>
                <a:latin typeface="Times New Roman" panose="02020603050405020304" pitchFamily="18" charset="0"/>
                <a:ea typeface="黑体" panose="02010609060101010101" pitchFamily="49" charset="-122"/>
              </a:rPr>
              <a:t>Cl</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，最强的还原剂为</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30000" dirty="0">
                <a:solidFill>
                  <a:srgbClr val="FFFFFF"/>
                </a:solidFill>
                <a:latin typeface="Times New Roman" panose="02020603050405020304" pitchFamily="18" charset="0"/>
                <a:ea typeface="黑体" panose="02010609060101010101" pitchFamily="49"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63266"/>
                                        </p:tgtEl>
                                        <p:attrNameLst>
                                          <p:attrName>style.visibility</p:attrName>
                                        </p:attrNameLst>
                                      </p:cBhvr>
                                      <p:to>
                                        <p:strVal val="visible"/>
                                      </p:to>
                                    </p:set>
                                    <p:animEffect transition="in" filter="blinds(horizontal)">
                                      <p:cBhvr>
                                        <p:cTn id="7" dur="500"/>
                                        <p:tgtEl>
                                          <p:spTgt spid="116326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3284"/>
                                        </p:tgtEl>
                                        <p:attrNameLst>
                                          <p:attrName>style.visibility</p:attrName>
                                        </p:attrNameLst>
                                      </p:cBhvr>
                                      <p:to>
                                        <p:strVal val="visible"/>
                                      </p:to>
                                    </p:set>
                                    <p:animEffect transition="in" filter="box(in)">
                                      <p:cBhvr>
                                        <p:cTn id="12" dur="500"/>
                                        <p:tgtEl>
                                          <p:spTgt spid="116328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63287"/>
                                        </p:tgtEl>
                                        <p:attrNameLst>
                                          <p:attrName>style.visibility</p:attrName>
                                        </p:attrNameLst>
                                      </p:cBhvr>
                                      <p:to>
                                        <p:strVal val="visible"/>
                                      </p:to>
                                    </p:set>
                                    <p:animEffect transition="in" filter="box(in)">
                                      <p:cBhvr>
                                        <p:cTn id="17" dur="500"/>
                                        <p:tgtEl>
                                          <p:spTgt spid="116328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63285"/>
                                        </p:tgtEl>
                                        <p:attrNameLst>
                                          <p:attrName>style.visibility</p:attrName>
                                        </p:attrNameLst>
                                      </p:cBhvr>
                                      <p:to>
                                        <p:strVal val="visible"/>
                                      </p:to>
                                    </p:set>
                                    <p:anim calcmode="lin" valueType="num">
                                      <p:cBhvr additive="base">
                                        <p:cTn id="22" dur="500" fill="hold"/>
                                        <p:tgtEl>
                                          <p:spTgt spid="1163285"/>
                                        </p:tgtEl>
                                        <p:attrNameLst>
                                          <p:attrName>ppt_x</p:attrName>
                                        </p:attrNameLst>
                                      </p:cBhvr>
                                      <p:tavLst>
                                        <p:tav tm="0">
                                          <p:val>
                                            <p:strVal val="#ppt_x"/>
                                          </p:val>
                                        </p:tav>
                                        <p:tav tm="100000">
                                          <p:val>
                                            <p:strVal val="#ppt_x"/>
                                          </p:val>
                                        </p:tav>
                                      </p:tavLst>
                                    </p:anim>
                                    <p:anim calcmode="lin" valueType="num">
                                      <p:cBhvr additive="base">
                                        <p:cTn id="23" dur="500" fill="hold"/>
                                        <p:tgtEl>
                                          <p:spTgt spid="116328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163286"/>
                                        </p:tgtEl>
                                        <p:attrNameLst>
                                          <p:attrName>style.visibility</p:attrName>
                                        </p:attrNameLst>
                                      </p:cBhvr>
                                      <p:to>
                                        <p:strVal val="visible"/>
                                      </p:to>
                                    </p:set>
                                    <p:animEffect transition="in" filter="checkerboard(across)">
                                      <p:cBhvr>
                                        <p:cTn id="28" dur="500"/>
                                        <p:tgtEl>
                                          <p:spTgt spid="1163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284" grpId="0"/>
      <p:bldP spid="1163285" grpId="0"/>
      <p:bldP spid="1163286" grpId="0"/>
      <p:bldP spid="116328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37</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164290" name="矩形 1164289"/>
          <p:cNvSpPr/>
          <p:nvPr/>
        </p:nvSpPr>
        <p:spPr>
          <a:xfrm>
            <a:off x="611188" y="301625"/>
            <a:ext cx="8137525" cy="954088"/>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一般地，氧化还原发生的方向为：</a:t>
            </a:r>
          </a:p>
          <a:p>
            <a:r>
              <a:rPr lang="zh-CN" altLang="en-US" sz="2800" b="1" dirty="0">
                <a:solidFill>
                  <a:srgbClr val="FFFFFF"/>
                </a:solidFill>
                <a:latin typeface="Times New Roman" panose="02020603050405020304" pitchFamily="18" charset="0"/>
                <a:ea typeface="黑体" panose="02010609060101010101" pitchFamily="49" charset="-122"/>
              </a:rPr>
              <a:t>        </a:t>
            </a:r>
            <a:r>
              <a:rPr lang="zh-CN" altLang="zh-CN" sz="2400" b="1" dirty="0">
                <a:solidFill>
                  <a:srgbClr val="FFFF00"/>
                </a:solidFill>
                <a:latin typeface="Times New Roman" panose="02020603050405020304" pitchFamily="18" charset="0"/>
                <a:ea typeface="黑体" panose="02010609060101010101" pitchFamily="49" charset="-122"/>
              </a:rPr>
              <a:t>强氧化剂</a:t>
            </a:r>
            <a:r>
              <a:rPr lang="en-US" altLang="zh-CN" sz="2400" b="1" dirty="0">
                <a:solidFill>
                  <a:srgbClr val="FFFFFF"/>
                </a:solidFill>
                <a:latin typeface="Times New Roman" panose="02020603050405020304" pitchFamily="18" charset="0"/>
                <a:ea typeface="黑体" panose="02010609060101010101" pitchFamily="49" charset="-122"/>
              </a:rPr>
              <a:t>1</a:t>
            </a:r>
            <a:r>
              <a:rPr lang="en-US" altLang="zh-CN" sz="2400" b="1" dirty="0">
                <a:solidFill>
                  <a:srgbClr val="FFFF00"/>
                </a:solidFill>
                <a:latin typeface="Times New Roman" panose="02020603050405020304" pitchFamily="18" charset="0"/>
                <a:ea typeface="黑体" panose="02010609060101010101" pitchFamily="49" charset="-122"/>
              </a:rPr>
              <a:t> + </a:t>
            </a:r>
            <a:r>
              <a:rPr lang="zh-CN" altLang="en-US" sz="2400" b="1" dirty="0">
                <a:solidFill>
                  <a:srgbClr val="FFFF00"/>
                </a:solidFill>
                <a:latin typeface="Times New Roman" panose="02020603050405020304" pitchFamily="18" charset="0"/>
                <a:ea typeface="黑体" panose="02010609060101010101" pitchFamily="49" charset="-122"/>
              </a:rPr>
              <a:t>强还原剂</a:t>
            </a:r>
            <a:r>
              <a:rPr lang="en-US" altLang="zh-CN" sz="2400" b="1" dirty="0">
                <a:solidFill>
                  <a:srgbClr val="FFFF00"/>
                </a:solidFill>
                <a:latin typeface="Times New Roman" panose="02020603050405020304" pitchFamily="18" charset="0"/>
                <a:ea typeface="黑体" panose="02010609060101010101" pitchFamily="49" charset="-122"/>
              </a:rPr>
              <a:t>2 = </a:t>
            </a:r>
            <a:r>
              <a:rPr lang="zh-CN" altLang="en-US" sz="2400" b="1" dirty="0">
                <a:solidFill>
                  <a:srgbClr val="FFFF00"/>
                </a:solidFill>
                <a:latin typeface="Times New Roman" panose="02020603050405020304" pitchFamily="18" charset="0"/>
                <a:ea typeface="黑体" panose="02010609060101010101" pitchFamily="49" charset="-122"/>
              </a:rPr>
              <a:t>弱还原剂</a:t>
            </a:r>
            <a:r>
              <a:rPr lang="en-US" altLang="zh-CN" sz="2400" b="1" dirty="0">
                <a:solidFill>
                  <a:srgbClr val="FFFFFF"/>
                </a:solidFill>
                <a:latin typeface="Times New Roman" panose="02020603050405020304" pitchFamily="18" charset="0"/>
                <a:ea typeface="黑体" panose="02010609060101010101" pitchFamily="49" charset="-122"/>
              </a:rPr>
              <a:t>1</a:t>
            </a:r>
            <a:r>
              <a:rPr lang="en-US" altLang="zh-CN" sz="2400" b="1" dirty="0">
                <a:solidFill>
                  <a:srgbClr val="FFFF00"/>
                </a:solidFill>
                <a:latin typeface="Times New Roman" panose="02020603050405020304" pitchFamily="18" charset="0"/>
                <a:ea typeface="黑体" panose="02010609060101010101" pitchFamily="49" charset="-122"/>
              </a:rPr>
              <a:t> + </a:t>
            </a:r>
            <a:r>
              <a:rPr lang="zh-CN" altLang="en-US" sz="2400" b="1" dirty="0">
                <a:solidFill>
                  <a:srgbClr val="FFFF00"/>
                </a:solidFill>
                <a:latin typeface="Times New Roman" panose="02020603050405020304" pitchFamily="18" charset="0"/>
                <a:ea typeface="黑体" panose="02010609060101010101" pitchFamily="49" charset="-122"/>
              </a:rPr>
              <a:t>弱氧化剂</a:t>
            </a:r>
            <a:r>
              <a:rPr lang="en-US" altLang="zh-CN" sz="2400" b="1" dirty="0">
                <a:solidFill>
                  <a:srgbClr val="FFFF00"/>
                </a:solidFill>
                <a:latin typeface="Times New Roman" panose="02020603050405020304" pitchFamily="18" charset="0"/>
                <a:ea typeface="黑体" panose="02010609060101010101" pitchFamily="49" charset="-122"/>
              </a:rPr>
              <a:t>2</a:t>
            </a:r>
            <a:endParaRPr lang="en-US" altLang="zh-CN" sz="2800" b="1" dirty="0">
              <a:solidFill>
                <a:srgbClr val="FFFFFF"/>
              </a:solidFill>
              <a:latin typeface="Times New Roman" panose="02020603050405020304" pitchFamily="18" charset="0"/>
              <a:ea typeface="黑体" panose="02010609060101010101" pitchFamily="49" charset="-122"/>
            </a:endParaRPr>
          </a:p>
        </p:txBody>
      </p:sp>
      <p:sp>
        <p:nvSpPr>
          <p:cNvPr id="1164291" name="矩形 1164290"/>
          <p:cNvSpPr/>
          <p:nvPr/>
        </p:nvSpPr>
        <p:spPr>
          <a:xfrm>
            <a:off x="106363" y="1255713"/>
            <a:ext cx="8642350"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a:t>
            </a:r>
            <a:r>
              <a:rPr lang="zh-CN" altLang="en-US" sz="2400" b="1" dirty="0">
                <a:solidFill>
                  <a:srgbClr val="FFFFFF"/>
                </a:solidFill>
                <a:latin typeface="Times New Roman" panose="02020603050405020304" pitchFamily="18" charset="0"/>
                <a:ea typeface="黑体" panose="02010609060101010101" pitchFamily="49" charset="-122"/>
              </a:rPr>
              <a:t>那么，怎样根据标准电极电势，判断反应发生的方向呢？</a:t>
            </a:r>
            <a:endParaRPr lang="zh-CN" altLang="en-US" sz="2800" b="1" dirty="0">
              <a:solidFill>
                <a:srgbClr val="FFFFFF"/>
              </a:solidFill>
              <a:latin typeface="Times New Roman" panose="02020603050405020304" pitchFamily="18" charset="0"/>
              <a:ea typeface="黑体" panose="02010609060101010101" pitchFamily="49" charset="-122"/>
            </a:endParaRPr>
          </a:p>
        </p:txBody>
      </p:sp>
      <p:grpSp>
        <p:nvGrpSpPr>
          <p:cNvPr id="1164292" name="组合 1164291"/>
          <p:cNvGrpSpPr/>
          <p:nvPr/>
        </p:nvGrpSpPr>
        <p:grpSpPr>
          <a:xfrm>
            <a:off x="688975" y="1497013"/>
            <a:ext cx="8137525" cy="2892425"/>
            <a:chOff x="476" y="935"/>
            <a:chExt cx="5126" cy="2186"/>
          </a:xfrm>
        </p:grpSpPr>
        <p:sp>
          <p:nvSpPr>
            <p:cNvPr id="52229" name="文本框 1164292"/>
            <p:cNvSpPr txBox="1"/>
            <p:nvPr/>
          </p:nvSpPr>
          <p:spPr>
            <a:xfrm>
              <a:off x="703" y="935"/>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52230" name="组合 1164293"/>
            <p:cNvGrpSpPr/>
            <p:nvPr/>
          </p:nvGrpSpPr>
          <p:grpSpPr>
            <a:xfrm>
              <a:off x="1338" y="1979"/>
              <a:ext cx="726" cy="396"/>
              <a:chOff x="3651" y="2115"/>
              <a:chExt cx="726" cy="396"/>
            </a:xfrm>
          </p:grpSpPr>
          <p:sp>
            <p:nvSpPr>
              <p:cNvPr id="52231" name="矩形 1164294"/>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2232" name="组合 1164295"/>
              <p:cNvGrpSpPr/>
              <p:nvPr/>
            </p:nvGrpSpPr>
            <p:grpSpPr>
              <a:xfrm>
                <a:off x="3858" y="2205"/>
                <a:ext cx="136" cy="91"/>
                <a:chOff x="3744" y="2646"/>
                <a:chExt cx="192" cy="96"/>
              </a:xfrm>
            </p:grpSpPr>
            <p:sp>
              <p:nvSpPr>
                <p:cNvPr id="52233" name="椭圆 116429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2234" name="直接连接符 116429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2235" name="组合 1164298"/>
            <p:cNvGrpSpPr/>
            <p:nvPr/>
          </p:nvGrpSpPr>
          <p:grpSpPr>
            <a:xfrm>
              <a:off x="2063" y="1989"/>
              <a:ext cx="726" cy="396"/>
              <a:chOff x="3651" y="2115"/>
              <a:chExt cx="726" cy="396"/>
            </a:xfrm>
          </p:grpSpPr>
          <p:sp>
            <p:nvSpPr>
              <p:cNvPr id="52236" name="矩形 1164299"/>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2237" name="组合 1164300"/>
              <p:cNvGrpSpPr/>
              <p:nvPr/>
            </p:nvGrpSpPr>
            <p:grpSpPr>
              <a:xfrm>
                <a:off x="3858" y="2205"/>
                <a:ext cx="136" cy="91"/>
                <a:chOff x="3744" y="2646"/>
                <a:chExt cx="192" cy="96"/>
              </a:xfrm>
            </p:grpSpPr>
            <p:sp>
              <p:nvSpPr>
                <p:cNvPr id="52238" name="椭圆 116430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2239" name="直接连接符 116430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2240" name="组合 1164303"/>
            <p:cNvGrpSpPr/>
            <p:nvPr/>
          </p:nvGrpSpPr>
          <p:grpSpPr>
            <a:xfrm>
              <a:off x="1338" y="2413"/>
              <a:ext cx="726" cy="396"/>
              <a:chOff x="3651" y="2115"/>
              <a:chExt cx="726" cy="396"/>
            </a:xfrm>
          </p:grpSpPr>
          <p:sp>
            <p:nvSpPr>
              <p:cNvPr id="52241" name="矩形 1164304"/>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2242" name="组合 1164305"/>
              <p:cNvGrpSpPr/>
              <p:nvPr/>
            </p:nvGrpSpPr>
            <p:grpSpPr>
              <a:xfrm>
                <a:off x="3858" y="2205"/>
                <a:ext cx="136" cy="91"/>
                <a:chOff x="3744" y="2646"/>
                <a:chExt cx="192" cy="96"/>
              </a:xfrm>
            </p:grpSpPr>
            <p:sp>
              <p:nvSpPr>
                <p:cNvPr id="52243" name="椭圆 116430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2244" name="直接连接符 116430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2245" name="组合 1164308"/>
            <p:cNvGrpSpPr/>
            <p:nvPr/>
          </p:nvGrpSpPr>
          <p:grpSpPr>
            <a:xfrm>
              <a:off x="2063" y="2423"/>
              <a:ext cx="726" cy="396"/>
              <a:chOff x="3651" y="2115"/>
              <a:chExt cx="726" cy="396"/>
            </a:xfrm>
          </p:grpSpPr>
          <p:sp>
            <p:nvSpPr>
              <p:cNvPr id="52246" name="矩形 1164309"/>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2247" name="组合 1164310"/>
              <p:cNvGrpSpPr/>
              <p:nvPr/>
            </p:nvGrpSpPr>
            <p:grpSpPr>
              <a:xfrm>
                <a:off x="3858" y="2205"/>
                <a:ext cx="136" cy="91"/>
                <a:chOff x="3744" y="2646"/>
                <a:chExt cx="192" cy="96"/>
              </a:xfrm>
            </p:grpSpPr>
            <p:sp>
              <p:nvSpPr>
                <p:cNvPr id="52248" name="椭圆 116431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2249" name="直接连接符 116431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2250" name="矩形 1164313"/>
            <p:cNvSpPr/>
            <p:nvPr/>
          </p:nvSpPr>
          <p:spPr>
            <a:xfrm>
              <a:off x="476" y="1162"/>
              <a:ext cx="5126" cy="1959"/>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实验证明：</a:t>
              </a:r>
            </a:p>
            <a:p>
              <a:pPr>
                <a:lnSpc>
                  <a:spcPct val="160000"/>
                </a:lnSpc>
              </a:pPr>
              <a:r>
                <a:rPr lang="zh-CN" altLang="en-US" sz="2800" b="1" dirty="0">
                  <a:solidFill>
                    <a:srgbClr val="FFFFFF"/>
                  </a:solidFill>
                  <a:latin typeface="Times New Roman" panose="02020603050405020304" pitchFamily="18" charset="0"/>
                  <a:ea typeface="黑体" panose="02010609060101010101" pitchFamily="49" charset="-122"/>
                </a:rPr>
                <a:t>     反应：</a:t>
              </a:r>
            </a:p>
            <a:p>
              <a:pPr>
                <a:lnSpc>
                  <a:spcPct val="160000"/>
                </a:lnSpc>
              </a:pPr>
              <a:r>
                <a:rPr lang="en-US" altLang="zh-CN" sz="2800" b="1" dirty="0">
                  <a:solidFill>
                    <a:srgbClr val="FFFFFF"/>
                  </a:solidFill>
                  <a:latin typeface="Times New Roman" panose="02020603050405020304" pitchFamily="18" charset="0"/>
                  <a:ea typeface="黑体" panose="02010609060101010101" pitchFamily="49" charset="-122"/>
                </a:rPr>
                <a:t>         E =           -           &gt; 0  </a:t>
              </a:r>
              <a:r>
                <a:rPr lang="zh-CN" altLang="en-US" sz="2800" b="1" dirty="0">
                  <a:solidFill>
                    <a:srgbClr val="FFFFFF"/>
                  </a:solidFill>
                  <a:latin typeface="Times New Roman" panose="02020603050405020304" pitchFamily="18" charset="0"/>
                  <a:ea typeface="黑体" panose="02010609060101010101" pitchFamily="49" charset="-122"/>
                </a:rPr>
                <a:t>正向进行</a:t>
              </a:r>
            </a:p>
            <a:p>
              <a:pPr>
                <a:lnSpc>
                  <a:spcPct val="160000"/>
                </a:lnSpc>
              </a:pPr>
              <a:r>
                <a:rPr lang="en-US" altLang="zh-CN" sz="2800" b="1" dirty="0">
                  <a:solidFill>
                    <a:srgbClr val="FFFFFF"/>
                  </a:solidFill>
                  <a:latin typeface="Times New Roman" panose="02020603050405020304" pitchFamily="18" charset="0"/>
                  <a:ea typeface="黑体" panose="02010609060101010101" pitchFamily="49" charset="-122"/>
                </a:rPr>
                <a:t>         E =           -           &lt; 0  </a:t>
              </a:r>
              <a:r>
                <a:rPr lang="zh-CN" altLang="en-US" sz="2800" b="1" dirty="0">
                  <a:solidFill>
                    <a:srgbClr val="FFFFFF"/>
                  </a:solidFill>
                  <a:latin typeface="Times New Roman" panose="02020603050405020304" pitchFamily="18" charset="0"/>
                  <a:ea typeface="黑体" panose="02010609060101010101" pitchFamily="49" charset="-122"/>
                </a:rPr>
                <a:t>逆向进行</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sp>
        <p:nvSpPr>
          <p:cNvPr id="1164315" name="矩形 1164314"/>
          <p:cNvSpPr/>
          <p:nvPr/>
        </p:nvSpPr>
        <p:spPr>
          <a:xfrm>
            <a:off x="692150" y="4225925"/>
            <a:ext cx="8137525" cy="954088"/>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即把参加反应的反应物，氧化剂组成的电对作为原电池的正极，还原剂组成的电对为负极</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4290"/>
                                        </p:tgtEl>
                                        <p:attrNameLst>
                                          <p:attrName>style.visibility</p:attrName>
                                        </p:attrNameLst>
                                      </p:cBhvr>
                                      <p:to>
                                        <p:strVal val="visible"/>
                                      </p:to>
                                    </p:set>
                                    <p:animEffect transition="in" filter="blinds(horizontal)">
                                      <p:cBhvr>
                                        <p:cTn id="7" dur="500"/>
                                        <p:tgtEl>
                                          <p:spTgt spid="116429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4291"/>
                                        </p:tgtEl>
                                        <p:attrNameLst>
                                          <p:attrName>style.visibility</p:attrName>
                                        </p:attrNameLst>
                                      </p:cBhvr>
                                      <p:to>
                                        <p:strVal val="visible"/>
                                      </p:to>
                                    </p:set>
                                    <p:animEffect transition="in" filter="box(in)">
                                      <p:cBhvr>
                                        <p:cTn id="12" dur="500"/>
                                        <p:tgtEl>
                                          <p:spTgt spid="116429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64292"/>
                                        </p:tgtEl>
                                        <p:attrNameLst>
                                          <p:attrName>style.visibility</p:attrName>
                                        </p:attrNameLst>
                                      </p:cBhvr>
                                      <p:to>
                                        <p:strVal val="visible"/>
                                      </p:to>
                                    </p:set>
                                    <p:animEffect transition="in" filter="checkerboard(across)">
                                      <p:cBhvr>
                                        <p:cTn id="17" dur="500"/>
                                        <p:tgtEl>
                                          <p:spTgt spid="11642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64315"/>
                                        </p:tgtEl>
                                        <p:attrNameLst>
                                          <p:attrName>style.visibility</p:attrName>
                                        </p:attrNameLst>
                                      </p:cBhvr>
                                      <p:to>
                                        <p:strVal val="visible"/>
                                      </p:to>
                                    </p:set>
                                    <p:animEffect transition="in" filter="blinds(horizontal)">
                                      <p:cBhvr>
                                        <p:cTn id="22" dur="500"/>
                                        <p:tgtEl>
                                          <p:spTgt spid="1164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290" grpId="0"/>
      <p:bldP spid="1164291" grpId="0"/>
      <p:bldP spid="11643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38</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165314" name="矩形 1165313"/>
          <p:cNvSpPr/>
          <p:nvPr/>
        </p:nvSpPr>
        <p:spPr>
          <a:xfrm>
            <a:off x="611188" y="587375"/>
            <a:ext cx="8137525" cy="523875"/>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en-US" altLang="zh-CN" sz="2800" b="1"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，判断</a:t>
            </a:r>
            <a:r>
              <a:rPr lang="en-US" altLang="zh-CN" sz="2800" b="1" dirty="0">
                <a:solidFill>
                  <a:srgbClr val="FFFFFF"/>
                </a:solidFill>
                <a:latin typeface="Times New Roman" panose="02020603050405020304" pitchFamily="18" charset="0"/>
                <a:ea typeface="黑体" panose="02010609060101010101" pitchFamily="49" charset="-122"/>
              </a:rPr>
              <a:t>Zn + Cu</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Zn</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Cu</a:t>
            </a:r>
            <a:r>
              <a:rPr lang="zh-CN" altLang="en-US" sz="2800" b="1" dirty="0">
                <a:solidFill>
                  <a:srgbClr val="FFFFFF"/>
                </a:solidFill>
                <a:latin typeface="Times New Roman" panose="02020603050405020304" pitchFamily="18" charset="0"/>
                <a:ea typeface="黑体" panose="02010609060101010101" pitchFamily="49" charset="-122"/>
              </a:rPr>
              <a:t>是否正向进行？</a:t>
            </a:r>
          </a:p>
        </p:txBody>
      </p:sp>
      <p:grpSp>
        <p:nvGrpSpPr>
          <p:cNvPr id="1165315" name="组合 1165314"/>
          <p:cNvGrpSpPr/>
          <p:nvPr/>
        </p:nvGrpSpPr>
        <p:grpSpPr>
          <a:xfrm>
            <a:off x="682625" y="996950"/>
            <a:ext cx="8137525" cy="2074863"/>
            <a:chOff x="430" y="754"/>
            <a:chExt cx="5126" cy="1568"/>
          </a:xfrm>
        </p:grpSpPr>
        <p:sp>
          <p:nvSpPr>
            <p:cNvPr id="53252" name="文本框 1165315"/>
            <p:cNvSpPr txBox="1"/>
            <p:nvPr/>
          </p:nvSpPr>
          <p:spPr>
            <a:xfrm>
              <a:off x="703" y="1260"/>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53253" name="组合 1165316"/>
            <p:cNvGrpSpPr/>
            <p:nvPr/>
          </p:nvGrpSpPr>
          <p:grpSpPr>
            <a:xfrm>
              <a:off x="3333" y="1669"/>
              <a:ext cx="726" cy="396"/>
              <a:chOff x="3651" y="2115"/>
              <a:chExt cx="726" cy="396"/>
            </a:xfrm>
          </p:grpSpPr>
          <p:sp>
            <p:nvSpPr>
              <p:cNvPr id="53254" name="矩形 1165317"/>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3255" name="组合 1165318"/>
              <p:cNvGrpSpPr/>
              <p:nvPr/>
            </p:nvGrpSpPr>
            <p:grpSpPr>
              <a:xfrm>
                <a:off x="3858" y="2205"/>
                <a:ext cx="136" cy="91"/>
                <a:chOff x="3744" y="2646"/>
                <a:chExt cx="192" cy="96"/>
              </a:xfrm>
            </p:grpSpPr>
            <p:sp>
              <p:nvSpPr>
                <p:cNvPr id="53256" name="椭圆 1165319"/>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3257" name="直接连接符 1165320"/>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3258" name="组合 1165321"/>
            <p:cNvGrpSpPr/>
            <p:nvPr/>
          </p:nvGrpSpPr>
          <p:grpSpPr>
            <a:xfrm>
              <a:off x="3379" y="1124"/>
              <a:ext cx="726" cy="396"/>
              <a:chOff x="3651" y="2115"/>
              <a:chExt cx="726" cy="396"/>
            </a:xfrm>
          </p:grpSpPr>
          <p:sp>
            <p:nvSpPr>
              <p:cNvPr id="53259" name="矩形 1165322"/>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3260" name="组合 1165323"/>
              <p:cNvGrpSpPr/>
              <p:nvPr/>
            </p:nvGrpSpPr>
            <p:grpSpPr>
              <a:xfrm>
                <a:off x="3858" y="2205"/>
                <a:ext cx="136" cy="91"/>
                <a:chOff x="3744" y="2646"/>
                <a:chExt cx="192" cy="96"/>
              </a:xfrm>
            </p:grpSpPr>
            <p:sp>
              <p:nvSpPr>
                <p:cNvPr id="53261" name="椭圆 1165324"/>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3262" name="直接连接符 1165325"/>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3263" name="矩形 1165326"/>
            <p:cNvSpPr/>
            <p:nvPr/>
          </p:nvSpPr>
          <p:spPr>
            <a:xfrm>
              <a:off x="430" y="754"/>
              <a:ext cx="5126" cy="1568"/>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解：</a:t>
              </a:r>
            </a:p>
            <a:p>
              <a:pPr>
                <a:lnSpc>
                  <a:spcPct val="180000"/>
                </a:lnSpc>
              </a:pPr>
              <a:r>
                <a:rPr lang="zh-CN" altLang="en-US" sz="2800" b="1" dirty="0">
                  <a:solidFill>
                    <a:srgbClr val="FFFFFF"/>
                  </a:solidFill>
                  <a:latin typeface="Times New Roman" panose="02020603050405020304" pitchFamily="18" charset="0"/>
                  <a:ea typeface="黑体" panose="02010609060101010101" pitchFamily="49" charset="-122"/>
                </a:rPr>
                <a:t>     负极</a:t>
              </a:r>
              <a:r>
                <a:rPr lang="en-US" altLang="zh-CN" sz="2800" b="1" dirty="0">
                  <a:solidFill>
                    <a:srgbClr val="FFFFFF"/>
                  </a:solidFill>
                  <a:latin typeface="Times New Roman" panose="02020603050405020304" pitchFamily="18" charset="0"/>
                  <a:ea typeface="黑体" panose="02010609060101010101" pitchFamily="49" charset="-122"/>
                </a:rPr>
                <a:t>( -)  Zn - 2e</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 = Zn</a:t>
              </a:r>
              <a:r>
                <a:rPr lang="en-US" altLang="zh-CN" sz="2800" b="1" baseline="30000" dirty="0">
                  <a:solidFill>
                    <a:srgbClr val="FFFFFF"/>
                  </a:solidFill>
                  <a:latin typeface="Times New Roman" panose="02020603050405020304" pitchFamily="18" charset="0"/>
                  <a:ea typeface="黑体" panose="02010609060101010101" pitchFamily="49" charset="-122"/>
                </a:rPr>
                <a:t>2+</a:t>
              </a:r>
              <a:r>
                <a:rPr lang="en-US" altLang="zh-CN" sz="2800" b="1" dirty="0">
                  <a:solidFill>
                    <a:srgbClr val="FFFFFF"/>
                  </a:solidFill>
                  <a:latin typeface="Times New Roman" panose="02020603050405020304" pitchFamily="18" charset="0"/>
                  <a:ea typeface="黑体" panose="02010609060101010101" pitchFamily="49" charset="-122"/>
                </a:rPr>
                <a:t>                 = -0.7628V</a:t>
              </a:r>
            </a:p>
            <a:p>
              <a:pPr>
                <a:lnSpc>
                  <a:spcPct val="180000"/>
                </a:lnSpc>
              </a:pPr>
              <a:r>
                <a:rPr lang="zh-CN" altLang="en-US" sz="2800" b="1" dirty="0">
                  <a:solidFill>
                    <a:srgbClr val="FFFFFF"/>
                  </a:solidFill>
                  <a:latin typeface="Times New Roman" panose="02020603050405020304" pitchFamily="18" charset="0"/>
                  <a:ea typeface="黑体" panose="02010609060101010101" pitchFamily="49" charset="-122"/>
                </a:rPr>
                <a:t>     正极</a:t>
              </a:r>
              <a:r>
                <a:rPr lang="en-US" altLang="zh-CN" sz="2800" b="1" dirty="0">
                  <a:solidFill>
                    <a:srgbClr val="FFFFFF"/>
                  </a:solidFill>
                  <a:latin typeface="Times New Roman" panose="02020603050405020304" pitchFamily="18" charset="0"/>
                  <a:ea typeface="黑体" panose="02010609060101010101" pitchFamily="49" charset="-122"/>
                </a:rPr>
                <a:t>(+)  Cu</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+ 2e</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Cu                =  0.337V</a:t>
              </a:r>
              <a:endParaRPr lang="zh-CN" altLang="en-US" sz="2800" b="1" dirty="0">
                <a:solidFill>
                  <a:srgbClr val="FFFFFF"/>
                </a:solidFill>
                <a:latin typeface="Times New Roman" panose="02020603050405020304" pitchFamily="18" charset="0"/>
                <a:ea typeface="黑体" panose="02010609060101010101" pitchFamily="49" charset="-122"/>
              </a:endParaRPr>
            </a:p>
          </p:txBody>
        </p:sp>
      </p:grpSp>
      <p:grpSp>
        <p:nvGrpSpPr>
          <p:cNvPr id="1165328" name="组合 1165327"/>
          <p:cNvGrpSpPr/>
          <p:nvPr/>
        </p:nvGrpSpPr>
        <p:grpSpPr>
          <a:xfrm>
            <a:off x="684213" y="2921000"/>
            <a:ext cx="8137525" cy="868363"/>
            <a:chOff x="431" y="1996"/>
            <a:chExt cx="5126" cy="656"/>
          </a:xfrm>
        </p:grpSpPr>
        <p:grpSp>
          <p:nvGrpSpPr>
            <p:cNvPr id="53265" name="组合 1165328"/>
            <p:cNvGrpSpPr/>
            <p:nvPr/>
          </p:nvGrpSpPr>
          <p:grpSpPr>
            <a:xfrm>
              <a:off x="1066" y="2103"/>
              <a:ext cx="726" cy="396"/>
              <a:chOff x="3651" y="2115"/>
              <a:chExt cx="726" cy="396"/>
            </a:xfrm>
          </p:grpSpPr>
          <p:sp>
            <p:nvSpPr>
              <p:cNvPr id="53266" name="矩形 1165329"/>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3267" name="组合 1165330"/>
              <p:cNvGrpSpPr/>
              <p:nvPr/>
            </p:nvGrpSpPr>
            <p:grpSpPr>
              <a:xfrm>
                <a:off x="3858" y="2205"/>
                <a:ext cx="136" cy="91"/>
                <a:chOff x="3744" y="2646"/>
                <a:chExt cx="192" cy="96"/>
              </a:xfrm>
            </p:grpSpPr>
            <p:sp>
              <p:nvSpPr>
                <p:cNvPr id="53268" name="椭圆 116533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3269" name="直接连接符 116533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3270" name="组合 1165333"/>
            <p:cNvGrpSpPr/>
            <p:nvPr/>
          </p:nvGrpSpPr>
          <p:grpSpPr>
            <a:xfrm>
              <a:off x="1791" y="2113"/>
              <a:ext cx="726" cy="396"/>
              <a:chOff x="3651" y="2115"/>
              <a:chExt cx="726" cy="396"/>
            </a:xfrm>
          </p:grpSpPr>
          <p:sp>
            <p:nvSpPr>
              <p:cNvPr id="53271" name="矩形 1165334"/>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3272" name="组合 1165335"/>
              <p:cNvGrpSpPr/>
              <p:nvPr/>
            </p:nvGrpSpPr>
            <p:grpSpPr>
              <a:xfrm>
                <a:off x="3858" y="2205"/>
                <a:ext cx="136" cy="91"/>
                <a:chOff x="3744" y="2646"/>
                <a:chExt cx="192" cy="96"/>
              </a:xfrm>
            </p:grpSpPr>
            <p:sp>
              <p:nvSpPr>
                <p:cNvPr id="53273" name="椭圆 116533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3274" name="直接连接符 116533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3275" name="矩形 1165338"/>
            <p:cNvSpPr/>
            <p:nvPr/>
          </p:nvSpPr>
          <p:spPr>
            <a:xfrm>
              <a:off x="431" y="1996"/>
              <a:ext cx="5126" cy="656"/>
            </a:xfrm>
            <a:prstGeom prst="rect">
              <a:avLst/>
            </a:prstGeom>
            <a:noFill/>
            <a:ln w="12700">
              <a:noFill/>
            </a:ln>
          </p:spPr>
          <p:txBody>
            <a:bodyPr anchor="t" anchorCtr="0">
              <a:spAutoFit/>
            </a:bodyPr>
            <a:lstStyle/>
            <a:p>
              <a:pPr>
                <a:lnSpc>
                  <a:spcPct val="180000"/>
                </a:lnSpc>
              </a:pPr>
              <a:r>
                <a:rPr lang="en-US" altLang="zh-CN" sz="2800" b="1" dirty="0">
                  <a:solidFill>
                    <a:srgbClr val="FFFFFF"/>
                  </a:solidFill>
                  <a:latin typeface="Times New Roman" panose="02020603050405020304" pitchFamily="18" charset="0"/>
                  <a:ea typeface="黑体" panose="02010609060101010101" pitchFamily="49" charset="-122"/>
                </a:rPr>
                <a:t>∴ E=           -            =  0.337-(-0.7628) = 1.10 &gt; 0</a:t>
              </a:r>
            </a:p>
          </p:txBody>
        </p:sp>
      </p:grpSp>
      <p:sp>
        <p:nvSpPr>
          <p:cNvPr id="1165340" name="矩形 1165339"/>
          <p:cNvSpPr/>
          <p:nvPr/>
        </p:nvSpPr>
        <p:spPr>
          <a:xfrm>
            <a:off x="900113" y="3781425"/>
            <a:ext cx="3887787" cy="866775"/>
          </a:xfrm>
          <a:prstGeom prst="rect">
            <a:avLst/>
          </a:prstGeom>
          <a:noFill/>
          <a:ln w="12700">
            <a:noFill/>
          </a:ln>
        </p:spPr>
        <p:txBody>
          <a:bodyPr anchor="t" anchorCtr="0">
            <a:spAutoFit/>
          </a:bodyPr>
          <a:lstStyle/>
          <a:p>
            <a:pPr>
              <a:lnSpc>
                <a:spcPct val="180000"/>
              </a:lnSpc>
            </a:pPr>
            <a:r>
              <a:rPr lang="en-US" altLang="zh-CN" sz="2800" b="1"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反应可正向进行</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5314"/>
                                        </p:tgtEl>
                                        <p:attrNameLst>
                                          <p:attrName>style.visibility</p:attrName>
                                        </p:attrNameLst>
                                      </p:cBhvr>
                                      <p:to>
                                        <p:strVal val="visible"/>
                                      </p:to>
                                    </p:set>
                                    <p:anim calcmode="lin" valueType="num">
                                      <p:cBhvr additive="base">
                                        <p:cTn id="7" dur="500" fill="hold"/>
                                        <p:tgtEl>
                                          <p:spTgt spid="1165314"/>
                                        </p:tgtEl>
                                        <p:attrNameLst>
                                          <p:attrName>ppt_x</p:attrName>
                                        </p:attrNameLst>
                                      </p:cBhvr>
                                      <p:tavLst>
                                        <p:tav tm="0">
                                          <p:val>
                                            <p:strVal val="#ppt_x"/>
                                          </p:val>
                                        </p:tav>
                                        <p:tav tm="100000">
                                          <p:val>
                                            <p:strVal val="#ppt_x"/>
                                          </p:val>
                                        </p:tav>
                                      </p:tavLst>
                                    </p:anim>
                                    <p:anim calcmode="lin" valueType="num">
                                      <p:cBhvr additive="base">
                                        <p:cTn id="8" dur="500" fill="hold"/>
                                        <p:tgtEl>
                                          <p:spTgt spid="11653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65315"/>
                                        </p:tgtEl>
                                        <p:attrNameLst>
                                          <p:attrName>style.visibility</p:attrName>
                                        </p:attrNameLst>
                                      </p:cBhvr>
                                      <p:to>
                                        <p:strVal val="visible"/>
                                      </p:to>
                                    </p:set>
                                    <p:animEffect transition="in" filter="blinds(horizontal)">
                                      <p:cBhvr>
                                        <p:cTn id="13" dur="500"/>
                                        <p:tgtEl>
                                          <p:spTgt spid="116531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65328"/>
                                        </p:tgtEl>
                                        <p:attrNameLst>
                                          <p:attrName>style.visibility</p:attrName>
                                        </p:attrNameLst>
                                      </p:cBhvr>
                                      <p:to>
                                        <p:strVal val="visible"/>
                                      </p:to>
                                    </p:set>
                                    <p:anim calcmode="lin" valueType="num">
                                      <p:cBhvr additive="base">
                                        <p:cTn id="18" dur="500" fill="hold"/>
                                        <p:tgtEl>
                                          <p:spTgt spid="1165328"/>
                                        </p:tgtEl>
                                        <p:attrNameLst>
                                          <p:attrName>ppt_x</p:attrName>
                                        </p:attrNameLst>
                                      </p:cBhvr>
                                      <p:tavLst>
                                        <p:tav tm="0">
                                          <p:val>
                                            <p:strVal val="#ppt_x"/>
                                          </p:val>
                                        </p:tav>
                                        <p:tav tm="100000">
                                          <p:val>
                                            <p:strVal val="#ppt_x"/>
                                          </p:val>
                                        </p:tav>
                                      </p:tavLst>
                                    </p:anim>
                                    <p:anim calcmode="lin" valueType="num">
                                      <p:cBhvr additive="base">
                                        <p:cTn id="19" dur="500" fill="hold"/>
                                        <p:tgtEl>
                                          <p:spTgt spid="116532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165340"/>
                                        </p:tgtEl>
                                        <p:attrNameLst>
                                          <p:attrName>style.visibility</p:attrName>
                                        </p:attrNameLst>
                                      </p:cBhvr>
                                      <p:to>
                                        <p:strVal val="visible"/>
                                      </p:to>
                                    </p:set>
                                    <p:anim calcmode="lin" valueType="num">
                                      <p:cBhvr additive="base">
                                        <p:cTn id="24" dur="500" fill="hold"/>
                                        <p:tgtEl>
                                          <p:spTgt spid="1165340"/>
                                        </p:tgtEl>
                                        <p:attrNameLst>
                                          <p:attrName>ppt_x</p:attrName>
                                        </p:attrNameLst>
                                      </p:cBhvr>
                                      <p:tavLst>
                                        <p:tav tm="0">
                                          <p:val>
                                            <p:strVal val="1+#ppt_w/2"/>
                                          </p:val>
                                        </p:tav>
                                        <p:tav tm="100000">
                                          <p:val>
                                            <p:strVal val="#ppt_x"/>
                                          </p:val>
                                        </p:tav>
                                      </p:tavLst>
                                    </p:anim>
                                    <p:anim calcmode="lin" valueType="num">
                                      <p:cBhvr additive="base">
                                        <p:cTn id="25" dur="500" fill="hold"/>
                                        <p:tgtEl>
                                          <p:spTgt spid="11653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4" grpId="0"/>
      <p:bldP spid="116534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39</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166338" name="矩形 1166337"/>
          <p:cNvSpPr/>
          <p:nvPr/>
        </p:nvSpPr>
        <p:spPr>
          <a:xfrm>
            <a:off x="611188" y="385763"/>
            <a:ext cx="8137525" cy="522287"/>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总之，</a:t>
            </a:r>
            <a:r>
              <a:rPr lang="zh-CN" altLang="en-US" sz="2800" b="1" dirty="0">
                <a:solidFill>
                  <a:srgbClr val="FFFF00"/>
                </a:solidFill>
                <a:latin typeface="Times New Roman" panose="02020603050405020304" pitchFamily="18" charset="0"/>
                <a:ea typeface="黑体" panose="02010609060101010101" pitchFamily="49" charset="-122"/>
              </a:rPr>
              <a:t>判断反应进行方向步骤</a:t>
            </a:r>
            <a:r>
              <a:rPr lang="zh-CN" altLang="en-US" sz="2800" b="1" dirty="0">
                <a:solidFill>
                  <a:srgbClr val="FFFFFF"/>
                </a:solidFill>
                <a:latin typeface="Times New Roman" panose="02020603050405020304" pitchFamily="18" charset="0"/>
                <a:ea typeface="黑体" panose="02010609060101010101" pitchFamily="49" charset="-122"/>
              </a:rPr>
              <a:t>为：</a:t>
            </a:r>
          </a:p>
        </p:txBody>
      </p:sp>
      <p:sp>
        <p:nvSpPr>
          <p:cNvPr id="1166339" name="矩形 1166338"/>
          <p:cNvSpPr/>
          <p:nvPr/>
        </p:nvSpPr>
        <p:spPr>
          <a:xfrm>
            <a:off x="538163" y="1044575"/>
            <a:ext cx="8137525"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1</a:t>
            </a:r>
            <a:r>
              <a:rPr lang="zh-CN" altLang="en-US" sz="2800" b="1" dirty="0">
                <a:solidFill>
                  <a:srgbClr val="FFFFFF"/>
                </a:solidFill>
                <a:latin typeface="Times New Roman" panose="02020603050405020304" pitchFamily="18" charset="0"/>
                <a:ea typeface="黑体" panose="02010609060101010101" pitchFamily="49" charset="-122"/>
              </a:rPr>
              <a:t>）首先确定氧化剂和还原剂</a:t>
            </a:r>
          </a:p>
        </p:txBody>
      </p:sp>
      <p:grpSp>
        <p:nvGrpSpPr>
          <p:cNvPr id="1166340" name="组合 1166339"/>
          <p:cNvGrpSpPr/>
          <p:nvPr/>
        </p:nvGrpSpPr>
        <p:grpSpPr>
          <a:xfrm>
            <a:off x="395288" y="1733550"/>
            <a:ext cx="8137525" cy="555625"/>
            <a:chOff x="385" y="1062"/>
            <a:chExt cx="5126" cy="420"/>
          </a:xfrm>
        </p:grpSpPr>
        <p:grpSp>
          <p:nvGrpSpPr>
            <p:cNvPr id="54277" name="组合 1166340"/>
            <p:cNvGrpSpPr/>
            <p:nvPr/>
          </p:nvGrpSpPr>
          <p:grpSpPr>
            <a:xfrm>
              <a:off x="4059" y="1062"/>
              <a:ext cx="454" cy="396"/>
              <a:chOff x="3923" y="3158"/>
              <a:chExt cx="454" cy="396"/>
            </a:xfrm>
          </p:grpSpPr>
          <p:sp>
            <p:nvSpPr>
              <p:cNvPr id="54278" name="矩形 1166341"/>
              <p:cNvSpPr/>
              <p:nvPr/>
            </p:nvSpPr>
            <p:spPr>
              <a:xfrm>
                <a:off x="3923" y="3158"/>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4279" name="组合 1166342"/>
              <p:cNvGrpSpPr/>
              <p:nvPr/>
            </p:nvGrpSpPr>
            <p:grpSpPr>
              <a:xfrm>
                <a:off x="4130" y="3248"/>
                <a:ext cx="136" cy="91"/>
                <a:chOff x="3744" y="2646"/>
                <a:chExt cx="192" cy="96"/>
              </a:xfrm>
            </p:grpSpPr>
            <p:sp>
              <p:nvSpPr>
                <p:cNvPr id="54280" name="椭圆 116634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4281" name="直接连接符 116634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4282" name="矩形 1166345"/>
            <p:cNvSpPr/>
            <p:nvPr/>
          </p:nvSpPr>
          <p:spPr>
            <a:xfrm>
              <a:off x="385" y="1086"/>
              <a:ext cx="5126" cy="396"/>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）查出氧化剂电对和还原剂电对</a:t>
              </a:r>
            </a:p>
          </p:txBody>
        </p:sp>
      </p:grpSp>
      <p:grpSp>
        <p:nvGrpSpPr>
          <p:cNvPr id="1166360" name="组合 1166359"/>
          <p:cNvGrpSpPr/>
          <p:nvPr/>
        </p:nvGrpSpPr>
        <p:grpSpPr>
          <a:xfrm>
            <a:off x="682625" y="2549525"/>
            <a:ext cx="8137525" cy="954088"/>
            <a:chOff x="430" y="1927"/>
            <a:chExt cx="5126" cy="721"/>
          </a:xfrm>
        </p:grpSpPr>
        <p:sp>
          <p:nvSpPr>
            <p:cNvPr id="54284" name="矩形 1166357"/>
            <p:cNvSpPr/>
            <p:nvPr/>
          </p:nvSpPr>
          <p:spPr>
            <a:xfrm>
              <a:off x="430" y="1927"/>
              <a:ext cx="5126" cy="721"/>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）把还原剂电对作为负极，氧化剂电对作为正极，并求出</a:t>
              </a:r>
              <a:r>
                <a:rPr lang="en-US" altLang="zh-CN" sz="2800" b="1" dirty="0">
                  <a:solidFill>
                    <a:srgbClr val="FFFFFF"/>
                  </a:solidFill>
                  <a:latin typeface="Times New Roman" panose="02020603050405020304" pitchFamily="18" charset="0"/>
                  <a:ea typeface="黑体" panose="02010609060101010101" pitchFamily="49" charset="-122"/>
                </a:rPr>
                <a:t>E=             -</a:t>
              </a:r>
            </a:p>
          </p:txBody>
        </p:sp>
        <p:grpSp>
          <p:nvGrpSpPr>
            <p:cNvPr id="54285" name="组合 1166347"/>
            <p:cNvGrpSpPr/>
            <p:nvPr/>
          </p:nvGrpSpPr>
          <p:grpSpPr>
            <a:xfrm>
              <a:off x="2018" y="2157"/>
              <a:ext cx="726" cy="396"/>
              <a:chOff x="3651" y="2115"/>
              <a:chExt cx="726" cy="396"/>
            </a:xfrm>
          </p:grpSpPr>
          <p:sp>
            <p:nvSpPr>
              <p:cNvPr id="54286" name="矩形 1166348"/>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4287" name="组合 1166349"/>
              <p:cNvGrpSpPr/>
              <p:nvPr/>
            </p:nvGrpSpPr>
            <p:grpSpPr>
              <a:xfrm>
                <a:off x="3858" y="2205"/>
                <a:ext cx="136" cy="91"/>
                <a:chOff x="3744" y="2646"/>
                <a:chExt cx="192" cy="96"/>
              </a:xfrm>
            </p:grpSpPr>
            <p:sp>
              <p:nvSpPr>
                <p:cNvPr id="54288" name="椭圆 116635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4289" name="直接连接符 116635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4290" name="组合 1166352"/>
            <p:cNvGrpSpPr/>
            <p:nvPr/>
          </p:nvGrpSpPr>
          <p:grpSpPr>
            <a:xfrm>
              <a:off x="2698" y="2167"/>
              <a:ext cx="726" cy="396"/>
              <a:chOff x="3651" y="2115"/>
              <a:chExt cx="726" cy="396"/>
            </a:xfrm>
          </p:grpSpPr>
          <p:sp>
            <p:nvSpPr>
              <p:cNvPr id="54291" name="矩形 1166353"/>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4292" name="组合 1166354"/>
              <p:cNvGrpSpPr/>
              <p:nvPr/>
            </p:nvGrpSpPr>
            <p:grpSpPr>
              <a:xfrm>
                <a:off x="3858" y="2205"/>
                <a:ext cx="136" cy="91"/>
                <a:chOff x="3744" y="2646"/>
                <a:chExt cx="192" cy="96"/>
              </a:xfrm>
            </p:grpSpPr>
            <p:sp>
              <p:nvSpPr>
                <p:cNvPr id="54293" name="椭圆 116635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4294" name="直接连接符 116635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
        <p:nvSpPr>
          <p:cNvPr id="1166359" name="矩形 1166358"/>
          <p:cNvSpPr/>
          <p:nvPr/>
        </p:nvSpPr>
        <p:spPr>
          <a:xfrm>
            <a:off x="684213" y="3517900"/>
            <a:ext cx="4248150" cy="1901825"/>
          </a:xfrm>
          <a:prstGeom prst="rect">
            <a:avLst/>
          </a:prstGeom>
          <a:noFill/>
          <a:ln w="12700">
            <a:noFill/>
          </a:ln>
        </p:spPr>
        <p:txBody>
          <a:bodyPr anchor="t" anchorCtr="0">
            <a:spAutoFit/>
          </a:bodyPr>
          <a:lstStyle/>
          <a:p>
            <a:pPr>
              <a:lnSpc>
                <a:spcPct val="140000"/>
              </a:lnSpc>
            </a:pPr>
            <a:r>
              <a:rPr lang="zh-CN" altLang="en-US" sz="2800" b="1"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4</a:t>
            </a:r>
            <a:r>
              <a:rPr lang="zh-CN" altLang="en-US" sz="2800" b="1" dirty="0">
                <a:solidFill>
                  <a:srgbClr val="FFFFFF"/>
                </a:solidFill>
                <a:latin typeface="Times New Roman" panose="02020603050405020304" pitchFamily="18" charset="0"/>
                <a:ea typeface="黑体" panose="02010609060101010101" pitchFamily="49" charset="-122"/>
              </a:rPr>
              <a:t>）判断</a:t>
            </a:r>
          </a:p>
          <a:p>
            <a:pPr>
              <a:lnSpc>
                <a:spcPct val="140000"/>
              </a:lnSpc>
            </a:pPr>
            <a:r>
              <a:rPr lang="en-US" altLang="zh-CN" sz="2800" b="1" dirty="0">
                <a:solidFill>
                  <a:srgbClr val="FFFFFF"/>
                </a:solidFill>
                <a:latin typeface="Times New Roman" panose="02020603050405020304" pitchFamily="18" charset="0"/>
                <a:ea typeface="黑体" panose="02010609060101010101" pitchFamily="49" charset="-122"/>
              </a:rPr>
              <a:t>           E &gt; 0 </a:t>
            </a:r>
            <a:r>
              <a:rPr lang="zh-CN" altLang="en-US" sz="2800" b="1" dirty="0">
                <a:solidFill>
                  <a:srgbClr val="FFFFFF"/>
                </a:solidFill>
                <a:latin typeface="Times New Roman" panose="02020603050405020304" pitchFamily="18" charset="0"/>
                <a:ea typeface="黑体" panose="02010609060101010101" pitchFamily="49" charset="-122"/>
              </a:rPr>
              <a:t>正向进行</a:t>
            </a:r>
          </a:p>
          <a:p>
            <a:pPr>
              <a:lnSpc>
                <a:spcPct val="140000"/>
              </a:lnSpc>
            </a:pPr>
            <a:r>
              <a:rPr lang="en-US" altLang="zh-CN" sz="2800" b="1" dirty="0">
                <a:solidFill>
                  <a:srgbClr val="FFFFFF"/>
                </a:solidFill>
                <a:latin typeface="Times New Roman" panose="02020603050405020304" pitchFamily="18" charset="0"/>
                <a:ea typeface="黑体" panose="02010609060101010101" pitchFamily="49" charset="-122"/>
              </a:rPr>
              <a:t>           E &lt; 0 </a:t>
            </a:r>
            <a:r>
              <a:rPr lang="zh-CN" altLang="en-US" sz="2800" b="1" dirty="0">
                <a:solidFill>
                  <a:srgbClr val="FFFFFF"/>
                </a:solidFill>
                <a:latin typeface="Times New Roman" panose="02020603050405020304" pitchFamily="18" charset="0"/>
                <a:ea typeface="黑体" panose="02010609060101010101" pitchFamily="49" charset="-122"/>
              </a:rPr>
              <a:t>逆向进行</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6338"/>
                                        </p:tgtEl>
                                        <p:attrNameLst>
                                          <p:attrName>style.visibility</p:attrName>
                                        </p:attrNameLst>
                                      </p:cBhvr>
                                      <p:to>
                                        <p:strVal val="visible"/>
                                      </p:to>
                                    </p:set>
                                    <p:anim calcmode="lin" valueType="num">
                                      <p:cBhvr additive="base">
                                        <p:cTn id="7" dur="500" fill="hold"/>
                                        <p:tgtEl>
                                          <p:spTgt spid="1166338"/>
                                        </p:tgtEl>
                                        <p:attrNameLst>
                                          <p:attrName>ppt_x</p:attrName>
                                        </p:attrNameLst>
                                      </p:cBhvr>
                                      <p:tavLst>
                                        <p:tav tm="0">
                                          <p:val>
                                            <p:strVal val="#ppt_x"/>
                                          </p:val>
                                        </p:tav>
                                        <p:tav tm="100000">
                                          <p:val>
                                            <p:strVal val="#ppt_x"/>
                                          </p:val>
                                        </p:tav>
                                      </p:tavLst>
                                    </p:anim>
                                    <p:anim calcmode="lin" valueType="num">
                                      <p:cBhvr additive="base">
                                        <p:cTn id="8" dur="500" fill="hold"/>
                                        <p:tgtEl>
                                          <p:spTgt spid="11663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66339"/>
                                        </p:tgtEl>
                                        <p:attrNameLst>
                                          <p:attrName>style.visibility</p:attrName>
                                        </p:attrNameLst>
                                      </p:cBhvr>
                                      <p:to>
                                        <p:strVal val="visible"/>
                                      </p:to>
                                    </p:set>
                                    <p:animEffect transition="in" filter="box(in)">
                                      <p:cBhvr>
                                        <p:cTn id="13" dur="500"/>
                                        <p:tgtEl>
                                          <p:spTgt spid="116633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66340"/>
                                        </p:tgtEl>
                                        <p:attrNameLst>
                                          <p:attrName>style.visibility</p:attrName>
                                        </p:attrNameLst>
                                      </p:cBhvr>
                                      <p:to>
                                        <p:strVal val="visible"/>
                                      </p:to>
                                    </p:set>
                                    <p:anim calcmode="lin" valueType="num">
                                      <p:cBhvr additive="base">
                                        <p:cTn id="18" dur="500" fill="hold"/>
                                        <p:tgtEl>
                                          <p:spTgt spid="1166340"/>
                                        </p:tgtEl>
                                        <p:attrNameLst>
                                          <p:attrName>ppt_x</p:attrName>
                                        </p:attrNameLst>
                                      </p:cBhvr>
                                      <p:tavLst>
                                        <p:tav tm="0">
                                          <p:val>
                                            <p:strVal val="#ppt_x"/>
                                          </p:val>
                                        </p:tav>
                                        <p:tav tm="100000">
                                          <p:val>
                                            <p:strVal val="#ppt_x"/>
                                          </p:val>
                                        </p:tav>
                                      </p:tavLst>
                                    </p:anim>
                                    <p:anim calcmode="lin" valueType="num">
                                      <p:cBhvr additive="base">
                                        <p:cTn id="19" dur="500" fill="hold"/>
                                        <p:tgtEl>
                                          <p:spTgt spid="116634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66360"/>
                                        </p:tgtEl>
                                        <p:attrNameLst>
                                          <p:attrName>style.visibility</p:attrName>
                                        </p:attrNameLst>
                                      </p:cBhvr>
                                      <p:to>
                                        <p:strVal val="visible"/>
                                      </p:to>
                                    </p:set>
                                    <p:anim calcmode="lin" valueType="num">
                                      <p:cBhvr additive="base">
                                        <p:cTn id="24" dur="500" fill="hold"/>
                                        <p:tgtEl>
                                          <p:spTgt spid="1166360"/>
                                        </p:tgtEl>
                                        <p:attrNameLst>
                                          <p:attrName>ppt_x</p:attrName>
                                        </p:attrNameLst>
                                      </p:cBhvr>
                                      <p:tavLst>
                                        <p:tav tm="0">
                                          <p:val>
                                            <p:strVal val="#ppt_x"/>
                                          </p:val>
                                        </p:tav>
                                        <p:tav tm="100000">
                                          <p:val>
                                            <p:strVal val="#ppt_x"/>
                                          </p:val>
                                        </p:tav>
                                      </p:tavLst>
                                    </p:anim>
                                    <p:anim calcmode="lin" valueType="num">
                                      <p:cBhvr additive="base">
                                        <p:cTn id="25" dur="500" fill="hold"/>
                                        <p:tgtEl>
                                          <p:spTgt spid="116636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1166359"/>
                                        </p:tgtEl>
                                        <p:attrNameLst>
                                          <p:attrName>style.visibility</p:attrName>
                                        </p:attrNameLst>
                                      </p:cBhvr>
                                      <p:to>
                                        <p:strVal val="visible"/>
                                      </p:to>
                                    </p:set>
                                    <p:animEffect transition="in" filter="checkerboard(across)">
                                      <p:cBhvr>
                                        <p:cTn id="30" dur="500"/>
                                        <p:tgtEl>
                                          <p:spTgt spid="1166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6338" grpId="0"/>
      <p:bldP spid="1166339" grpId="0"/>
      <p:bldP spid="116635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40</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167362" name="矩形 1167361"/>
          <p:cNvSpPr/>
          <p:nvPr/>
        </p:nvSpPr>
        <p:spPr>
          <a:xfrm>
            <a:off x="611188" y="157163"/>
            <a:ext cx="8137525" cy="954087"/>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en-US" altLang="zh-CN" sz="2800" b="1"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，金属铁能置换</a:t>
            </a:r>
            <a:r>
              <a:rPr lang="en-US" altLang="zh-CN" sz="2800" b="1" dirty="0">
                <a:solidFill>
                  <a:srgbClr val="FFFFFF"/>
                </a:solidFill>
                <a:latin typeface="Times New Roman" panose="02020603050405020304" pitchFamily="18" charset="0"/>
                <a:ea typeface="黑体" panose="02010609060101010101" pitchFamily="49" charset="-122"/>
              </a:rPr>
              <a:t>Cu</a:t>
            </a:r>
            <a:r>
              <a:rPr lang="en-US" altLang="zh-CN" sz="2800" b="1" baseline="30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，而</a:t>
            </a:r>
            <a:r>
              <a:rPr lang="en-US" altLang="zh-CN" sz="2800" b="1" dirty="0">
                <a:solidFill>
                  <a:srgbClr val="FFFFFF"/>
                </a:solidFill>
                <a:latin typeface="Times New Roman" panose="02020603050405020304" pitchFamily="18" charset="0"/>
                <a:ea typeface="黑体" panose="02010609060101010101" pitchFamily="49" charset="-122"/>
              </a:rPr>
              <a:t>FeCl</a:t>
            </a:r>
            <a:r>
              <a:rPr lang="en-US" altLang="zh-CN" sz="2800" b="1" baseline="-25000"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溶液又能溶解铜块，这两种现象是否矛盾？</a:t>
            </a:r>
          </a:p>
        </p:txBody>
      </p:sp>
      <p:grpSp>
        <p:nvGrpSpPr>
          <p:cNvPr id="1167411" name="组合 1167410"/>
          <p:cNvGrpSpPr/>
          <p:nvPr/>
        </p:nvGrpSpPr>
        <p:grpSpPr>
          <a:xfrm>
            <a:off x="490538" y="1050925"/>
            <a:ext cx="8137525" cy="1773238"/>
            <a:chOff x="394" y="757"/>
            <a:chExt cx="5126" cy="1340"/>
          </a:xfrm>
        </p:grpSpPr>
        <p:sp>
          <p:nvSpPr>
            <p:cNvPr id="55300" name="矩形 1167384"/>
            <p:cNvSpPr/>
            <p:nvPr/>
          </p:nvSpPr>
          <p:spPr>
            <a:xfrm>
              <a:off x="394" y="757"/>
              <a:ext cx="5126" cy="1340"/>
            </a:xfrm>
            <a:prstGeom prst="rect">
              <a:avLst/>
            </a:prstGeom>
            <a:noFill/>
            <a:ln w="12700">
              <a:noFill/>
            </a:ln>
          </p:spPr>
          <p:txBody>
            <a:bodyPr anchor="t" anchorCtr="0">
              <a:spAutoFit/>
            </a:bodyPr>
            <a:lstStyle/>
            <a:p>
              <a:pPr>
                <a:lnSpc>
                  <a:spcPct val="130000"/>
                </a:lnSpc>
              </a:pPr>
              <a:r>
                <a:rPr lang="zh-CN" altLang="en-US" sz="2800" b="1" dirty="0">
                  <a:solidFill>
                    <a:srgbClr val="FFFFFF"/>
                  </a:solidFill>
                  <a:latin typeface="Times New Roman" panose="02020603050405020304" pitchFamily="18" charset="0"/>
                  <a:ea typeface="黑体" panose="02010609060101010101" pitchFamily="49" charset="-122"/>
                </a:rPr>
                <a:t>解：（</a:t>
              </a:r>
              <a:r>
                <a:rPr lang="en-US" altLang="zh-CN" sz="2800" b="1" dirty="0">
                  <a:solidFill>
                    <a:srgbClr val="FFFFFF"/>
                  </a:solidFill>
                  <a:latin typeface="Times New Roman" panose="02020603050405020304" pitchFamily="18" charset="0"/>
                  <a:ea typeface="黑体" panose="02010609060101010101" pitchFamily="49" charset="-122"/>
                </a:rPr>
                <a:t>1</a:t>
              </a:r>
              <a:r>
                <a:rPr lang="zh-CN" altLang="en-US" sz="2800" b="1"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Fe + Cu</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Cu + Fe</a:t>
              </a:r>
              <a:r>
                <a:rPr lang="en-US" altLang="zh-CN" sz="2800" b="1" baseline="30000" dirty="0">
                  <a:solidFill>
                    <a:srgbClr val="FFFFFF"/>
                  </a:solidFill>
                  <a:latin typeface="Times New Roman" panose="02020603050405020304" pitchFamily="18" charset="0"/>
                  <a:ea typeface="黑体" panose="02010609060101010101" pitchFamily="49" charset="-122"/>
                </a:rPr>
                <a:t>2+</a:t>
              </a:r>
            </a:p>
            <a:p>
              <a:pPr>
                <a:lnSpc>
                  <a:spcPct val="130000"/>
                </a:lnSpc>
              </a:pPr>
              <a:r>
                <a:rPr lang="en-US" altLang="zh-CN" sz="2800" b="1" dirty="0">
                  <a:solidFill>
                    <a:srgbClr val="FFFFFF"/>
                  </a:solidFill>
                  <a:latin typeface="Times New Roman" panose="02020603050405020304" pitchFamily="18" charset="0"/>
                  <a:ea typeface="黑体" panose="02010609060101010101" pitchFamily="49" charset="-122"/>
                </a:rPr>
                <a:t>       E =          -            =                -</a:t>
              </a:r>
            </a:p>
            <a:p>
              <a:pPr>
                <a:lnSpc>
                  <a:spcPct val="130000"/>
                </a:lnSpc>
              </a:pPr>
              <a:r>
                <a:rPr lang="en-US" altLang="zh-CN" sz="2800" b="1" dirty="0">
                  <a:solidFill>
                    <a:srgbClr val="FFFFFF"/>
                  </a:solidFill>
                  <a:latin typeface="Times New Roman" panose="02020603050405020304" pitchFamily="18" charset="0"/>
                  <a:ea typeface="黑体" panose="02010609060101010101" pitchFamily="49" charset="-122"/>
                </a:rPr>
                <a:t>           = 0.337 - (-0.409) = 0.746 &gt; 0 </a:t>
              </a:r>
              <a:r>
                <a:rPr lang="zh-CN" altLang="es-ES_tradnl" sz="2800" b="1" dirty="0">
                  <a:solidFill>
                    <a:srgbClr val="FFFFFF"/>
                  </a:solidFill>
                  <a:latin typeface="Times New Roman" panose="02020603050405020304" pitchFamily="18" charset="0"/>
                  <a:ea typeface="黑体" panose="02010609060101010101" pitchFamily="49" charset="-122"/>
                </a:rPr>
                <a:t>正向</a:t>
              </a:r>
              <a:endParaRPr lang="zh-CN" altLang="en-US" sz="2800" b="1" dirty="0">
                <a:solidFill>
                  <a:srgbClr val="FFFFFF"/>
                </a:solidFill>
                <a:latin typeface="Times New Roman" panose="02020603050405020304" pitchFamily="18" charset="0"/>
                <a:ea typeface="黑体" panose="02010609060101010101" pitchFamily="49" charset="-122"/>
              </a:endParaRPr>
            </a:p>
          </p:txBody>
        </p:sp>
        <p:grpSp>
          <p:nvGrpSpPr>
            <p:cNvPr id="55301" name="组合 1167364"/>
            <p:cNvGrpSpPr/>
            <p:nvPr/>
          </p:nvGrpSpPr>
          <p:grpSpPr>
            <a:xfrm>
              <a:off x="1157" y="1253"/>
              <a:ext cx="726" cy="396"/>
              <a:chOff x="3651" y="2115"/>
              <a:chExt cx="726" cy="396"/>
            </a:xfrm>
          </p:grpSpPr>
          <p:sp>
            <p:nvSpPr>
              <p:cNvPr id="55302" name="矩形 1167365"/>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03" name="组合 1167366"/>
              <p:cNvGrpSpPr/>
              <p:nvPr/>
            </p:nvGrpSpPr>
            <p:grpSpPr>
              <a:xfrm>
                <a:off x="3858" y="2205"/>
                <a:ext cx="136" cy="91"/>
                <a:chOff x="3744" y="2646"/>
                <a:chExt cx="192" cy="96"/>
              </a:xfrm>
            </p:grpSpPr>
            <p:sp>
              <p:nvSpPr>
                <p:cNvPr id="55304" name="椭圆 1167367"/>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05" name="直接连接符 1167368"/>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5306" name="组合 1167369"/>
            <p:cNvGrpSpPr/>
            <p:nvPr/>
          </p:nvGrpSpPr>
          <p:grpSpPr>
            <a:xfrm>
              <a:off x="1882" y="1263"/>
              <a:ext cx="726" cy="396"/>
              <a:chOff x="3651" y="2115"/>
              <a:chExt cx="726" cy="396"/>
            </a:xfrm>
          </p:grpSpPr>
          <p:sp>
            <p:nvSpPr>
              <p:cNvPr id="55307" name="矩形 1167370"/>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08" name="组合 1167371"/>
              <p:cNvGrpSpPr/>
              <p:nvPr/>
            </p:nvGrpSpPr>
            <p:grpSpPr>
              <a:xfrm>
                <a:off x="3858" y="2205"/>
                <a:ext cx="136" cy="91"/>
                <a:chOff x="3744" y="2646"/>
                <a:chExt cx="192" cy="96"/>
              </a:xfrm>
            </p:grpSpPr>
            <p:sp>
              <p:nvSpPr>
                <p:cNvPr id="55309" name="椭圆 1167372"/>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10" name="直接连接符 1167373"/>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5311" name="组合 1167374"/>
            <p:cNvGrpSpPr/>
            <p:nvPr/>
          </p:nvGrpSpPr>
          <p:grpSpPr>
            <a:xfrm>
              <a:off x="2608" y="1207"/>
              <a:ext cx="953" cy="396"/>
              <a:chOff x="521" y="2332"/>
              <a:chExt cx="953" cy="396"/>
            </a:xfrm>
          </p:grpSpPr>
          <p:sp>
            <p:nvSpPr>
              <p:cNvPr id="55312" name="矩形 1167375"/>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Cu</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/Cu</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13" name="组合 1167376"/>
              <p:cNvGrpSpPr/>
              <p:nvPr/>
            </p:nvGrpSpPr>
            <p:grpSpPr>
              <a:xfrm>
                <a:off x="696" y="2458"/>
                <a:ext cx="136" cy="91"/>
                <a:chOff x="3670" y="2742"/>
                <a:chExt cx="192" cy="96"/>
              </a:xfrm>
            </p:grpSpPr>
            <p:sp>
              <p:nvSpPr>
                <p:cNvPr id="55314" name="椭圆 1167377"/>
                <p:cNvSpPr/>
                <p:nvPr/>
              </p:nvSpPr>
              <p:spPr>
                <a:xfrm>
                  <a:off x="3731" y="2742"/>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15" name="直接连接符 1167378"/>
                <p:cNvSpPr/>
                <p:nvPr/>
              </p:nvSpPr>
              <p:spPr>
                <a:xfrm>
                  <a:off x="3670" y="2795"/>
                  <a:ext cx="192" cy="0"/>
                </a:xfrm>
                <a:prstGeom prst="line">
                  <a:avLst/>
                </a:prstGeom>
                <a:ln w="38100" cap="flat" cmpd="sng">
                  <a:solidFill>
                    <a:schemeClr val="bg1"/>
                  </a:solidFill>
                  <a:prstDash val="solid"/>
                  <a:round/>
                  <a:headEnd type="none" w="med" len="med"/>
                  <a:tailEnd type="none" w="med" len="med"/>
                </a:ln>
              </p:spPr>
            </p:sp>
          </p:grpSp>
        </p:grpSp>
        <p:grpSp>
          <p:nvGrpSpPr>
            <p:cNvPr id="55316" name="组合 1167379"/>
            <p:cNvGrpSpPr/>
            <p:nvPr/>
          </p:nvGrpSpPr>
          <p:grpSpPr>
            <a:xfrm>
              <a:off x="3561" y="1236"/>
              <a:ext cx="953" cy="396"/>
              <a:chOff x="295" y="2361"/>
              <a:chExt cx="953" cy="396"/>
            </a:xfrm>
          </p:grpSpPr>
          <p:sp>
            <p:nvSpPr>
              <p:cNvPr id="55317" name="矩形 1167380"/>
              <p:cNvSpPr/>
              <p:nvPr/>
            </p:nvSpPr>
            <p:spPr>
              <a:xfrm>
                <a:off x="295" y="2361"/>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18" name="组合 1167381"/>
              <p:cNvGrpSpPr/>
              <p:nvPr/>
            </p:nvGrpSpPr>
            <p:grpSpPr>
              <a:xfrm>
                <a:off x="479" y="2514"/>
                <a:ext cx="136" cy="91"/>
                <a:chOff x="3364" y="2800"/>
                <a:chExt cx="192" cy="96"/>
              </a:xfrm>
            </p:grpSpPr>
            <p:sp>
              <p:nvSpPr>
                <p:cNvPr id="55319" name="椭圆 1167382"/>
                <p:cNvSpPr/>
                <p:nvPr/>
              </p:nvSpPr>
              <p:spPr>
                <a:xfrm>
                  <a:off x="3412" y="2800"/>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20" name="直接连接符 1167383"/>
                <p:cNvSpPr/>
                <p:nvPr/>
              </p:nvSpPr>
              <p:spPr>
                <a:xfrm>
                  <a:off x="3364" y="2837"/>
                  <a:ext cx="192" cy="0"/>
                </a:xfrm>
                <a:prstGeom prst="line">
                  <a:avLst/>
                </a:prstGeom>
                <a:ln w="38100" cap="flat" cmpd="sng">
                  <a:solidFill>
                    <a:schemeClr val="bg1"/>
                  </a:solidFill>
                  <a:prstDash val="solid"/>
                  <a:round/>
                  <a:headEnd type="none" w="med" len="med"/>
                  <a:tailEnd type="none" w="med" len="med"/>
                </a:ln>
              </p:spPr>
            </p:sp>
          </p:grpSp>
        </p:grpSp>
      </p:grpSp>
      <p:sp>
        <p:nvSpPr>
          <p:cNvPr id="1167386" name="矩形 1167385"/>
          <p:cNvSpPr/>
          <p:nvPr/>
        </p:nvSpPr>
        <p:spPr>
          <a:xfrm>
            <a:off x="2192338" y="2497138"/>
            <a:ext cx="3167062" cy="825500"/>
          </a:xfrm>
          <a:prstGeom prst="rect">
            <a:avLst/>
          </a:prstGeom>
          <a:noFill/>
          <a:ln w="12700">
            <a:noFill/>
          </a:ln>
        </p:spPr>
        <p:txBody>
          <a:bodyPr anchor="t" anchorCtr="0">
            <a:spAutoFit/>
          </a:bodyPr>
          <a:lstStyle/>
          <a:p>
            <a:pPr>
              <a:lnSpc>
                <a:spcPct val="170000"/>
              </a:lnSpc>
            </a:pPr>
            <a:r>
              <a:rPr lang="zh-CN" altLang="en-US" sz="2800" b="1"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Fe</a:t>
            </a:r>
            <a:r>
              <a:rPr lang="zh-CN" altLang="en-US" sz="2800" b="1" dirty="0">
                <a:solidFill>
                  <a:srgbClr val="FFFFFF"/>
                </a:solidFill>
                <a:latin typeface="Times New Roman" panose="02020603050405020304" pitchFamily="18" charset="0"/>
                <a:ea typeface="黑体" panose="02010609060101010101" pitchFamily="49" charset="-122"/>
              </a:rPr>
              <a:t>能直换</a:t>
            </a:r>
            <a:r>
              <a:rPr lang="en-US" altLang="zh-CN" sz="2800" b="1" dirty="0">
                <a:solidFill>
                  <a:srgbClr val="FFFFFF"/>
                </a:solidFill>
                <a:latin typeface="Times New Roman" panose="02020603050405020304" pitchFamily="18" charset="0"/>
                <a:ea typeface="黑体" panose="02010609060101010101" pitchFamily="49" charset="-122"/>
              </a:rPr>
              <a:t>Cu</a:t>
            </a:r>
            <a:r>
              <a:rPr lang="en-US" altLang="zh-CN" sz="2800" b="1" baseline="30000" dirty="0">
                <a:solidFill>
                  <a:srgbClr val="FFFFFF"/>
                </a:solidFill>
                <a:latin typeface="Times New Roman" panose="02020603050405020304" pitchFamily="18" charset="0"/>
                <a:ea typeface="黑体" panose="02010609060101010101" pitchFamily="49" charset="-122"/>
              </a:rPr>
              <a:t>2+</a:t>
            </a:r>
            <a:endParaRPr lang="es-ES_tradnl" altLang="zh-CN" sz="2800" b="1" baseline="30000" dirty="0">
              <a:solidFill>
                <a:srgbClr val="FFFFFF"/>
              </a:solidFill>
              <a:latin typeface="Times New Roman" panose="02020603050405020304" pitchFamily="18" charset="0"/>
              <a:ea typeface="黑体" panose="02010609060101010101" pitchFamily="49" charset="-122"/>
            </a:endParaRPr>
          </a:p>
        </p:txBody>
      </p:sp>
      <p:grpSp>
        <p:nvGrpSpPr>
          <p:cNvPr id="1167387" name="组合 1167386"/>
          <p:cNvGrpSpPr/>
          <p:nvPr/>
        </p:nvGrpSpPr>
        <p:grpSpPr>
          <a:xfrm>
            <a:off x="684213" y="2978150"/>
            <a:ext cx="7127875" cy="1212850"/>
            <a:chOff x="431" y="2251"/>
            <a:chExt cx="4490" cy="917"/>
          </a:xfrm>
        </p:grpSpPr>
        <p:grpSp>
          <p:nvGrpSpPr>
            <p:cNvPr id="55323" name="组合 1167387"/>
            <p:cNvGrpSpPr/>
            <p:nvPr/>
          </p:nvGrpSpPr>
          <p:grpSpPr>
            <a:xfrm>
              <a:off x="1020" y="2750"/>
              <a:ext cx="726" cy="396"/>
              <a:chOff x="3651" y="2115"/>
              <a:chExt cx="726" cy="396"/>
            </a:xfrm>
          </p:grpSpPr>
          <p:sp>
            <p:nvSpPr>
              <p:cNvPr id="55324" name="矩形 1167388"/>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25" name="组合 1167389"/>
              <p:cNvGrpSpPr/>
              <p:nvPr/>
            </p:nvGrpSpPr>
            <p:grpSpPr>
              <a:xfrm>
                <a:off x="3858" y="2205"/>
                <a:ext cx="136" cy="91"/>
                <a:chOff x="3744" y="2646"/>
                <a:chExt cx="192" cy="96"/>
              </a:xfrm>
            </p:grpSpPr>
            <p:sp>
              <p:nvSpPr>
                <p:cNvPr id="55326" name="椭圆 116739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27" name="直接连接符 116739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5328" name="组合 1167392"/>
            <p:cNvGrpSpPr/>
            <p:nvPr/>
          </p:nvGrpSpPr>
          <p:grpSpPr>
            <a:xfrm>
              <a:off x="1745" y="2760"/>
              <a:ext cx="726" cy="396"/>
              <a:chOff x="3651" y="2115"/>
              <a:chExt cx="726" cy="396"/>
            </a:xfrm>
          </p:grpSpPr>
          <p:sp>
            <p:nvSpPr>
              <p:cNvPr id="55329" name="矩形 1167393"/>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30" name="组合 1167394"/>
              <p:cNvGrpSpPr/>
              <p:nvPr/>
            </p:nvGrpSpPr>
            <p:grpSpPr>
              <a:xfrm>
                <a:off x="3858" y="2205"/>
                <a:ext cx="136" cy="91"/>
                <a:chOff x="3744" y="2646"/>
                <a:chExt cx="192" cy="96"/>
              </a:xfrm>
            </p:grpSpPr>
            <p:sp>
              <p:nvSpPr>
                <p:cNvPr id="55331" name="椭圆 116739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32" name="直接连接符 116739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5333" name="组合 1167397"/>
            <p:cNvGrpSpPr/>
            <p:nvPr/>
          </p:nvGrpSpPr>
          <p:grpSpPr>
            <a:xfrm>
              <a:off x="3787" y="2740"/>
              <a:ext cx="953" cy="396"/>
              <a:chOff x="521" y="2332"/>
              <a:chExt cx="953" cy="396"/>
            </a:xfrm>
          </p:grpSpPr>
          <p:sp>
            <p:nvSpPr>
              <p:cNvPr id="55334" name="矩形 1167398"/>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Cu</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/Cu</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35" name="组合 1167399"/>
              <p:cNvGrpSpPr/>
              <p:nvPr/>
            </p:nvGrpSpPr>
            <p:grpSpPr>
              <a:xfrm>
                <a:off x="748" y="2367"/>
                <a:ext cx="136" cy="91"/>
                <a:chOff x="3744" y="2646"/>
                <a:chExt cx="192" cy="96"/>
              </a:xfrm>
            </p:grpSpPr>
            <p:sp>
              <p:nvSpPr>
                <p:cNvPr id="55336" name="椭圆 116740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37" name="直接连接符 116740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5338" name="组合 1167402"/>
            <p:cNvGrpSpPr/>
            <p:nvPr/>
          </p:nvGrpSpPr>
          <p:grpSpPr>
            <a:xfrm>
              <a:off x="2562" y="2750"/>
              <a:ext cx="1134" cy="396"/>
              <a:chOff x="521" y="2332"/>
              <a:chExt cx="953" cy="396"/>
            </a:xfrm>
          </p:grpSpPr>
          <p:sp>
            <p:nvSpPr>
              <p:cNvPr id="55339" name="矩形 1167403"/>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Fe3+/Fe2+</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5340" name="组合 1167404"/>
              <p:cNvGrpSpPr/>
              <p:nvPr/>
            </p:nvGrpSpPr>
            <p:grpSpPr>
              <a:xfrm>
                <a:off x="748" y="2367"/>
                <a:ext cx="136" cy="91"/>
                <a:chOff x="3744" y="2646"/>
                <a:chExt cx="192" cy="96"/>
              </a:xfrm>
            </p:grpSpPr>
            <p:sp>
              <p:nvSpPr>
                <p:cNvPr id="55341" name="椭圆 116740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5342" name="直接连接符 116740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5343" name="矩形 1167407"/>
            <p:cNvSpPr/>
            <p:nvPr/>
          </p:nvSpPr>
          <p:spPr>
            <a:xfrm>
              <a:off x="431" y="2251"/>
              <a:ext cx="4490" cy="917"/>
            </a:xfrm>
            <a:prstGeom prst="rect">
              <a:avLst/>
            </a:prstGeom>
            <a:noFill/>
            <a:ln w="12700">
              <a:noFill/>
            </a:ln>
          </p:spPr>
          <p:txBody>
            <a:bodyPr anchor="t" anchorCtr="0">
              <a:spAutoFit/>
            </a:bodyPr>
            <a:lstStyle/>
            <a:p>
              <a:pPr>
                <a:lnSpc>
                  <a:spcPct val="130000"/>
                </a:lnSpc>
              </a:pPr>
              <a:r>
                <a:rPr lang="zh-CN" altLang="es-ES_tradnl" sz="2800" b="1" dirty="0">
                  <a:solidFill>
                    <a:srgbClr val="FFFFFF"/>
                  </a:solidFill>
                  <a:latin typeface="Times New Roman" panose="02020603050405020304" pitchFamily="18" charset="0"/>
                  <a:ea typeface="黑体" panose="02010609060101010101" pitchFamily="49" charset="-122"/>
                </a:rPr>
                <a:t>（</a:t>
              </a:r>
              <a:r>
                <a:rPr lang="es-ES_tradnl" altLang="zh-CN" sz="2800" b="1" dirty="0">
                  <a:solidFill>
                    <a:srgbClr val="FFFFFF"/>
                  </a:solidFill>
                  <a:latin typeface="Times New Roman" panose="02020603050405020304" pitchFamily="18" charset="0"/>
                  <a:ea typeface="黑体" panose="02010609060101010101" pitchFamily="49" charset="-122"/>
                </a:rPr>
                <a:t>2</a:t>
              </a:r>
              <a:r>
                <a:rPr lang="zh-CN" altLang="es-ES_tradnl" sz="2800" b="1" dirty="0">
                  <a:solidFill>
                    <a:srgbClr val="FFFFFF"/>
                  </a:solidFill>
                  <a:latin typeface="Times New Roman" panose="02020603050405020304" pitchFamily="18" charset="0"/>
                  <a:ea typeface="黑体" panose="02010609060101010101" pitchFamily="49" charset="-122"/>
                </a:rPr>
                <a:t>）</a:t>
              </a:r>
              <a:r>
                <a:rPr lang="es-ES_tradnl" altLang="zh-CN" sz="2800" b="1" dirty="0">
                  <a:solidFill>
                    <a:srgbClr val="FFFFFF"/>
                  </a:solidFill>
                  <a:latin typeface="Times New Roman" panose="02020603050405020304" pitchFamily="18" charset="0"/>
                  <a:ea typeface="黑体" panose="02010609060101010101" pitchFamily="49" charset="-122"/>
                </a:rPr>
                <a:t>2Fe</a:t>
              </a:r>
              <a:r>
                <a:rPr lang="es-ES_tradnl" altLang="zh-CN" sz="2800" b="1" baseline="30000" dirty="0">
                  <a:solidFill>
                    <a:srgbClr val="FFFFFF"/>
                  </a:solidFill>
                  <a:latin typeface="Times New Roman" panose="02020603050405020304" pitchFamily="18" charset="0"/>
                  <a:ea typeface="黑体" panose="02010609060101010101" pitchFamily="49" charset="-122"/>
                </a:rPr>
                <a:t>3+ </a:t>
              </a:r>
              <a:r>
                <a:rPr lang="es-ES_tradnl" altLang="zh-CN" sz="2800" b="1" dirty="0">
                  <a:solidFill>
                    <a:srgbClr val="FFFFFF"/>
                  </a:solidFill>
                  <a:latin typeface="Times New Roman" panose="02020603050405020304" pitchFamily="18" charset="0"/>
                  <a:ea typeface="黑体" panose="02010609060101010101" pitchFamily="49" charset="-122"/>
                </a:rPr>
                <a:t>+ Cu = Cu</a:t>
              </a:r>
              <a:r>
                <a:rPr lang="es-ES_tradnl" altLang="zh-CN" sz="2800" b="1" baseline="30000" dirty="0">
                  <a:solidFill>
                    <a:srgbClr val="FFFFFF"/>
                  </a:solidFill>
                  <a:latin typeface="Times New Roman" panose="02020603050405020304" pitchFamily="18" charset="0"/>
                  <a:ea typeface="黑体" panose="02010609060101010101" pitchFamily="49" charset="-122"/>
                </a:rPr>
                <a:t>2+ </a:t>
              </a:r>
              <a:r>
                <a:rPr lang="es-ES_tradnl" altLang="zh-CN" sz="2800" b="1" dirty="0">
                  <a:solidFill>
                    <a:srgbClr val="FFFFFF"/>
                  </a:solidFill>
                  <a:latin typeface="Times New Roman" panose="02020603050405020304" pitchFamily="18" charset="0"/>
                  <a:ea typeface="黑体" panose="02010609060101010101" pitchFamily="49" charset="-122"/>
                </a:rPr>
                <a:t>+ 2Fe</a:t>
              </a:r>
              <a:r>
                <a:rPr lang="es-ES_tradnl" altLang="zh-CN" sz="2800" b="1" baseline="30000" dirty="0">
                  <a:solidFill>
                    <a:srgbClr val="FFFFFF"/>
                  </a:solidFill>
                  <a:latin typeface="Times New Roman" panose="02020603050405020304" pitchFamily="18" charset="0"/>
                  <a:ea typeface="黑体" panose="02010609060101010101" pitchFamily="49" charset="-122"/>
                </a:rPr>
                <a:t>2+</a:t>
              </a:r>
            </a:p>
            <a:p>
              <a:pPr>
                <a:lnSpc>
                  <a:spcPct val="130000"/>
                </a:lnSpc>
              </a:pPr>
              <a:r>
                <a:rPr lang="es-ES_tradnl" altLang="zh-CN" sz="2800" b="1" dirty="0">
                  <a:solidFill>
                    <a:srgbClr val="FFFFFF"/>
                  </a:solidFill>
                  <a:latin typeface="Times New Roman" panose="02020603050405020304" pitchFamily="18" charset="0"/>
                  <a:ea typeface="黑体" panose="02010609060101010101" pitchFamily="49" charset="-122"/>
                </a:rPr>
                <a:t>    E=</a:t>
              </a:r>
              <a:r>
                <a:rPr lang="en-US" altLang="zh-CN" sz="2800" b="1" dirty="0">
                  <a:solidFill>
                    <a:srgbClr val="FFFFFF"/>
                  </a:solidFill>
                  <a:latin typeface="Times New Roman" panose="02020603050405020304" pitchFamily="18" charset="0"/>
                  <a:ea typeface="黑体" panose="02010609060101010101" pitchFamily="49" charset="-122"/>
                </a:rPr>
                <a:t>           </a:t>
              </a:r>
              <a:r>
                <a:rPr lang="es-ES_tradnl" altLang="zh-CN" sz="2800" b="1" dirty="0">
                  <a:solidFill>
                    <a:srgbClr val="FFFFFF"/>
                  </a:solidFill>
                  <a:latin typeface="Times New Roman" panose="02020603050405020304" pitchFamily="18" charset="0"/>
                  <a:ea typeface="黑体" panose="02010609060101010101" pitchFamily="49" charset="-122"/>
                </a:rPr>
                <a:t>-            =                      -</a:t>
              </a:r>
            </a:p>
          </p:txBody>
        </p:sp>
      </p:grpSp>
      <p:sp>
        <p:nvSpPr>
          <p:cNvPr id="1167409" name="矩形 1167408"/>
          <p:cNvSpPr/>
          <p:nvPr/>
        </p:nvSpPr>
        <p:spPr>
          <a:xfrm>
            <a:off x="1270000" y="4010025"/>
            <a:ext cx="4319588" cy="823913"/>
          </a:xfrm>
          <a:prstGeom prst="rect">
            <a:avLst/>
          </a:prstGeom>
          <a:noFill/>
          <a:ln w="12700">
            <a:noFill/>
          </a:ln>
        </p:spPr>
        <p:txBody>
          <a:bodyPr anchor="t" anchorCtr="0">
            <a:spAutoFit/>
          </a:bodyPr>
          <a:lstStyle/>
          <a:p>
            <a:pPr>
              <a:lnSpc>
                <a:spcPct val="170000"/>
              </a:lnSpc>
            </a:pPr>
            <a:r>
              <a:rPr lang="es-ES_tradnl" altLang="zh-CN" sz="2800" b="1" dirty="0">
                <a:solidFill>
                  <a:srgbClr val="FFFFFF"/>
                </a:solidFill>
                <a:latin typeface="Times New Roman" panose="02020603050405020304" pitchFamily="18" charset="0"/>
                <a:ea typeface="黑体" panose="02010609060101010101" pitchFamily="49" charset="-122"/>
              </a:rPr>
              <a:t>= 0.77 - 0.337 &gt; 0 </a:t>
            </a:r>
            <a:r>
              <a:rPr lang="zh-CN" altLang="es-ES_tradnl" sz="2800" b="1" dirty="0">
                <a:solidFill>
                  <a:srgbClr val="FFFFFF"/>
                </a:solidFill>
                <a:latin typeface="Times New Roman" panose="02020603050405020304" pitchFamily="18" charset="0"/>
                <a:ea typeface="黑体" panose="02010609060101010101" pitchFamily="49" charset="-122"/>
              </a:rPr>
              <a:t>正向</a:t>
            </a:r>
          </a:p>
        </p:txBody>
      </p:sp>
      <p:sp>
        <p:nvSpPr>
          <p:cNvPr id="1167410" name="矩形 1167409"/>
          <p:cNvSpPr/>
          <p:nvPr/>
        </p:nvSpPr>
        <p:spPr>
          <a:xfrm>
            <a:off x="1198563" y="4729163"/>
            <a:ext cx="5832475" cy="825500"/>
          </a:xfrm>
          <a:prstGeom prst="rect">
            <a:avLst/>
          </a:prstGeom>
          <a:noFill/>
          <a:ln w="12700">
            <a:noFill/>
          </a:ln>
        </p:spPr>
        <p:txBody>
          <a:bodyPr anchor="t" anchorCtr="0">
            <a:spAutoFit/>
          </a:bodyPr>
          <a:lstStyle/>
          <a:p>
            <a:pPr>
              <a:lnSpc>
                <a:spcPct val="170000"/>
              </a:lnSpc>
            </a:pPr>
            <a:r>
              <a:rPr lang="zh-CN" altLang="es-ES_tradnl" sz="2800" b="1" dirty="0">
                <a:solidFill>
                  <a:srgbClr val="FFFFFF"/>
                </a:solidFill>
                <a:latin typeface="Times New Roman" panose="02020603050405020304" pitchFamily="18" charset="0"/>
                <a:ea typeface="黑体" panose="02010609060101010101" pitchFamily="49" charset="-122"/>
              </a:rPr>
              <a:t>∴ </a:t>
            </a:r>
            <a:r>
              <a:rPr lang="es-ES_tradnl" altLang="zh-CN" sz="2800" b="1" dirty="0">
                <a:solidFill>
                  <a:srgbClr val="FFFFFF"/>
                </a:solidFill>
                <a:latin typeface="Times New Roman" panose="02020603050405020304" pitchFamily="18" charset="0"/>
                <a:ea typeface="黑体" panose="02010609060101010101" pitchFamily="49" charset="-122"/>
              </a:rPr>
              <a:t>FeCl</a:t>
            </a:r>
            <a:r>
              <a:rPr lang="es-ES_tradnl" altLang="zh-CN" sz="2800" b="1" baseline="-25000" dirty="0">
                <a:solidFill>
                  <a:srgbClr val="FFFFFF"/>
                </a:solidFill>
                <a:latin typeface="Times New Roman" panose="02020603050405020304" pitchFamily="18" charset="0"/>
                <a:ea typeface="黑体" panose="02010609060101010101" pitchFamily="49" charset="-122"/>
              </a:rPr>
              <a:t>3 </a:t>
            </a:r>
            <a:r>
              <a:rPr lang="zh-CN" altLang="es-ES_tradnl" sz="2800" b="1" dirty="0">
                <a:solidFill>
                  <a:srgbClr val="FFFFFF"/>
                </a:solidFill>
                <a:latin typeface="Times New Roman" panose="02020603050405020304" pitchFamily="18" charset="0"/>
                <a:ea typeface="黑体" panose="02010609060101010101" pitchFamily="49" charset="-122"/>
              </a:rPr>
              <a:t>能溶解</a:t>
            </a:r>
            <a:r>
              <a:rPr lang="es-ES_tradnl" altLang="zh-CN" sz="2800" b="1" dirty="0">
                <a:solidFill>
                  <a:srgbClr val="FFFFFF"/>
                </a:solidFill>
                <a:latin typeface="Times New Roman" panose="02020603050405020304" pitchFamily="18" charset="0"/>
                <a:ea typeface="黑体" panose="02010609060101010101" pitchFamily="49" charset="-122"/>
              </a:rPr>
              <a:t>Cu  ∴ </a:t>
            </a:r>
            <a:r>
              <a:rPr lang="zh-CN" altLang="es-ES_tradnl" sz="2800" b="1" dirty="0">
                <a:solidFill>
                  <a:srgbClr val="FFFFFF"/>
                </a:solidFill>
                <a:latin typeface="Times New Roman" panose="02020603050405020304" pitchFamily="18" charset="0"/>
                <a:ea typeface="黑体" panose="02010609060101010101" pitchFamily="49" charset="-122"/>
              </a:rPr>
              <a:t>两者不矛盾</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362"/>
                                        </p:tgtEl>
                                        <p:attrNameLst>
                                          <p:attrName>style.visibility</p:attrName>
                                        </p:attrNameLst>
                                      </p:cBhvr>
                                      <p:to>
                                        <p:strVal val="visible"/>
                                      </p:to>
                                    </p:set>
                                    <p:animEffect transition="in" filter="blinds(horizontal)">
                                      <p:cBhvr>
                                        <p:cTn id="7" dur="500"/>
                                        <p:tgtEl>
                                          <p:spTgt spid="116736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67411"/>
                                        </p:tgtEl>
                                        <p:attrNameLst>
                                          <p:attrName>style.visibility</p:attrName>
                                        </p:attrNameLst>
                                      </p:cBhvr>
                                      <p:to>
                                        <p:strVal val="visible"/>
                                      </p:to>
                                    </p:set>
                                    <p:animEffect transition="in" filter="box(in)">
                                      <p:cBhvr>
                                        <p:cTn id="12" dur="500"/>
                                        <p:tgtEl>
                                          <p:spTgt spid="11674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67386"/>
                                        </p:tgtEl>
                                        <p:attrNameLst>
                                          <p:attrName>style.visibility</p:attrName>
                                        </p:attrNameLst>
                                      </p:cBhvr>
                                      <p:to>
                                        <p:strVal val="visible"/>
                                      </p:to>
                                    </p:set>
                                    <p:anim calcmode="lin" valueType="num">
                                      <p:cBhvr additive="base">
                                        <p:cTn id="17" dur="500" fill="hold"/>
                                        <p:tgtEl>
                                          <p:spTgt spid="1167386"/>
                                        </p:tgtEl>
                                        <p:attrNameLst>
                                          <p:attrName>ppt_x</p:attrName>
                                        </p:attrNameLst>
                                      </p:cBhvr>
                                      <p:tavLst>
                                        <p:tav tm="0">
                                          <p:val>
                                            <p:strVal val="#ppt_x"/>
                                          </p:val>
                                        </p:tav>
                                        <p:tav tm="100000">
                                          <p:val>
                                            <p:strVal val="#ppt_x"/>
                                          </p:val>
                                        </p:tav>
                                      </p:tavLst>
                                    </p:anim>
                                    <p:anim calcmode="lin" valueType="num">
                                      <p:cBhvr additive="base">
                                        <p:cTn id="18" dur="500" fill="hold"/>
                                        <p:tgtEl>
                                          <p:spTgt spid="116738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167387"/>
                                        </p:tgtEl>
                                        <p:attrNameLst>
                                          <p:attrName>style.visibility</p:attrName>
                                        </p:attrNameLst>
                                      </p:cBhvr>
                                      <p:to>
                                        <p:strVal val="visible"/>
                                      </p:to>
                                    </p:set>
                                    <p:animEffect transition="in" filter="box(in)">
                                      <p:cBhvr>
                                        <p:cTn id="23" dur="500"/>
                                        <p:tgtEl>
                                          <p:spTgt spid="116738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67409"/>
                                        </p:tgtEl>
                                        <p:attrNameLst>
                                          <p:attrName>style.visibility</p:attrName>
                                        </p:attrNameLst>
                                      </p:cBhvr>
                                      <p:to>
                                        <p:strVal val="visible"/>
                                      </p:to>
                                    </p:set>
                                    <p:anim calcmode="lin" valueType="num">
                                      <p:cBhvr additive="base">
                                        <p:cTn id="28" dur="500" fill="hold"/>
                                        <p:tgtEl>
                                          <p:spTgt spid="1167409"/>
                                        </p:tgtEl>
                                        <p:attrNameLst>
                                          <p:attrName>ppt_x</p:attrName>
                                        </p:attrNameLst>
                                      </p:cBhvr>
                                      <p:tavLst>
                                        <p:tav tm="0">
                                          <p:val>
                                            <p:strVal val="#ppt_x"/>
                                          </p:val>
                                        </p:tav>
                                        <p:tav tm="100000">
                                          <p:val>
                                            <p:strVal val="#ppt_x"/>
                                          </p:val>
                                        </p:tav>
                                      </p:tavLst>
                                    </p:anim>
                                    <p:anim calcmode="lin" valueType="num">
                                      <p:cBhvr additive="base">
                                        <p:cTn id="29" dur="500" fill="hold"/>
                                        <p:tgtEl>
                                          <p:spTgt spid="1167409"/>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167410"/>
                                        </p:tgtEl>
                                        <p:attrNameLst>
                                          <p:attrName>style.visibility</p:attrName>
                                        </p:attrNameLst>
                                      </p:cBhvr>
                                      <p:to>
                                        <p:strVal val="visible"/>
                                      </p:to>
                                    </p:set>
                                    <p:animEffect transition="in" filter="checkerboard(across)">
                                      <p:cBhvr>
                                        <p:cTn id="34" dur="500"/>
                                        <p:tgtEl>
                                          <p:spTgt spid="116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2" grpId="0"/>
      <p:bldP spid="1167386" grpId="0"/>
      <p:bldP spid="1167409" grpId="0"/>
      <p:bldP spid="11674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41</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56322" name="文本框 1168385"/>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1168387" name="组合 1168386"/>
          <p:cNvGrpSpPr/>
          <p:nvPr/>
        </p:nvGrpSpPr>
        <p:grpSpPr>
          <a:xfrm>
            <a:off x="468313" y="338138"/>
            <a:ext cx="8137525" cy="552450"/>
            <a:chOff x="295" y="255"/>
            <a:chExt cx="5126" cy="418"/>
          </a:xfrm>
        </p:grpSpPr>
        <p:sp>
          <p:nvSpPr>
            <p:cNvPr id="56324" name="矩形 1168387"/>
            <p:cNvSpPr/>
            <p:nvPr/>
          </p:nvSpPr>
          <p:spPr>
            <a:xfrm>
              <a:off x="295" y="277"/>
              <a:ext cx="5126" cy="396"/>
            </a:xfrm>
            <a:prstGeom prst="rect">
              <a:avLst/>
            </a:prstGeom>
            <a:noFill/>
            <a:ln w="12700">
              <a:noFill/>
            </a:ln>
          </p:spPr>
          <p:txBody>
            <a:bodyPr anchor="t" anchorCtr="0">
              <a:spAutoFit/>
            </a:bodyPr>
            <a:lstStyle/>
            <a:p>
              <a:r>
                <a:rPr lang="zh-CN" altLang="es-ES_tradnl" sz="2800" b="1" dirty="0">
                  <a:solidFill>
                    <a:srgbClr val="FFFFFF"/>
                  </a:solidFill>
                  <a:latin typeface="Times New Roman" panose="02020603050405020304" pitchFamily="18" charset="0"/>
                  <a:ea typeface="黑体" panose="02010609060101010101" pitchFamily="49" charset="-122"/>
                </a:rPr>
                <a:t>例</a:t>
              </a:r>
              <a:r>
                <a:rPr lang="es-ES_tradnl" altLang="zh-CN" sz="2800" b="1" dirty="0">
                  <a:solidFill>
                    <a:srgbClr val="FFFFFF"/>
                  </a:solidFill>
                  <a:latin typeface="Times New Roman" panose="02020603050405020304" pitchFamily="18" charset="0"/>
                  <a:ea typeface="黑体" panose="02010609060101010101" pitchFamily="49" charset="-122"/>
                </a:rPr>
                <a:t>4 </a:t>
              </a:r>
              <a:r>
                <a:rPr lang="zh-CN" altLang="es-ES_tradnl" sz="2800" b="1" dirty="0">
                  <a:solidFill>
                    <a:srgbClr val="FFFFFF"/>
                  </a:solidFill>
                  <a:latin typeface="Times New Roman" panose="02020603050405020304" pitchFamily="18" charset="0"/>
                  <a:ea typeface="黑体" panose="02010609060101010101" pitchFamily="49" charset="-122"/>
                </a:rPr>
                <a:t>以铁和铜为例说明金属活动顺序与</a:t>
              </a:r>
              <a:r>
                <a:rPr lang="zh-CN" altLang="en-US" sz="2800" b="1" dirty="0">
                  <a:solidFill>
                    <a:srgbClr val="FFFFFF"/>
                  </a:solidFill>
                  <a:latin typeface="Times New Roman" panose="02020603050405020304" pitchFamily="18" charset="0"/>
                  <a:ea typeface="黑体" panose="02010609060101010101" pitchFamily="49" charset="-122"/>
                </a:rPr>
                <a:t>          的关系</a:t>
              </a:r>
            </a:p>
          </p:txBody>
        </p:sp>
        <p:grpSp>
          <p:nvGrpSpPr>
            <p:cNvPr id="56325" name="组合 1168388"/>
            <p:cNvGrpSpPr/>
            <p:nvPr/>
          </p:nvGrpSpPr>
          <p:grpSpPr>
            <a:xfrm>
              <a:off x="4195" y="255"/>
              <a:ext cx="454" cy="396"/>
              <a:chOff x="3923" y="3158"/>
              <a:chExt cx="454" cy="396"/>
            </a:xfrm>
          </p:grpSpPr>
          <p:sp>
            <p:nvSpPr>
              <p:cNvPr id="56326" name="矩形 1168389"/>
              <p:cNvSpPr/>
              <p:nvPr/>
            </p:nvSpPr>
            <p:spPr>
              <a:xfrm>
                <a:off x="3923" y="3158"/>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27" name="组合 1168390"/>
              <p:cNvGrpSpPr/>
              <p:nvPr/>
            </p:nvGrpSpPr>
            <p:grpSpPr>
              <a:xfrm>
                <a:off x="4130" y="3248"/>
                <a:ext cx="136" cy="91"/>
                <a:chOff x="3744" y="2646"/>
                <a:chExt cx="192" cy="96"/>
              </a:xfrm>
            </p:grpSpPr>
            <p:sp>
              <p:nvSpPr>
                <p:cNvPr id="56328" name="椭圆 116839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29" name="直接连接符 116839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
        <p:nvSpPr>
          <p:cNvPr id="1168394" name="矩形 1168393"/>
          <p:cNvSpPr/>
          <p:nvPr/>
        </p:nvSpPr>
        <p:spPr>
          <a:xfrm>
            <a:off x="468313" y="719138"/>
            <a:ext cx="8137525" cy="1557337"/>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解：金属活动顺序表，</a:t>
            </a:r>
            <a:r>
              <a:rPr lang="en-US" altLang="zh-CN" sz="2800" b="1" dirty="0">
                <a:solidFill>
                  <a:srgbClr val="FFFFFF"/>
                </a:solidFill>
                <a:latin typeface="Times New Roman" panose="02020603050405020304" pitchFamily="18" charset="0"/>
                <a:ea typeface="黑体" panose="02010609060101010101" pitchFamily="49" charset="-122"/>
              </a:rPr>
              <a:t>Fe</a:t>
            </a:r>
            <a:r>
              <a:rPr lang="zh-CN" altLang="en-US" sz="2800" b="1" dirty="0">
                <a:solidFill>
                  <a:srgbClr val="FFFFFF"/>
                </a:solidFill>
                <a:latin typeface="Times New Roman" panose="02020603050405020304" pitchFamily="18" charset="0"/>
                <a:ea typeface="黑体" panose="02010609060101010101" pitchFamily="49" charset="-122"/>
              </a:rPr>
              <a:t>位于</a:t>
            </a:r>
            <a:r>
              <a:rPr lang="en-US" altLang="zh-CN" sz="2800" b="1" dirty="0">
                <a:solidFill>
                  <a:srgbClr val="FFFFFF"/>
                </a:solidFill>
                <a:latin typeface="Times New Roman" panose="02020603050405020304" pitchFamily="18" charset="0"/>
                <a:ea typeface="黑体" panose="02010609060101010101" pitchFamily="49" charset="-122"/>
              </a:rPr>
              <a:t>H</a:t>
            </a:r>
            <a:r>
              <a:rPr lang="zh-CN" altLang="en-US" sz="2800" b="1" dirty="0">
                <a:solidFill>
                  <a:srgbClr val="FFFFFF"/>
                </a:solidFill>
                <a:latin typeface="Times New Roman" panose="02020603050405020304" pitchFamily="18" charset="0"/>
                <a:ea typeface="黑体" panose="02010609060101010101" pitchFamily="49" charset="-122"/>
              </a:rPr>
              <a:t>之前，而</a:t>
            </a:r>
            <a:r>
              <a:rPr lang="en-US" altLang="zh-CN" sz="2800" b="1" dirty="0">
                <a:solidFill>
                  <a:srgbClr val="FFFFFF"/>
                </a:solidFill>
                <a:latin typeface="Times New Roman" panose="02020603050405020304" pitchFamily="18" charset="0"/>
                <a:ea typeface="黑体" panose="02010609060101010101" pitchFamily="49" charset="-122"/>
              </a:rPr>
              <a:t>Cu</a:t>
            </a:r>
            <a:r>
              <a:rPr lang="zh-CN" altLang="en-US" sz="2800" b="1" dirty="0">
                <a:solidFill>
                  <a:srgbClr val="FFFFFF"/>
                </a:solidFill>
                <a:latin typeface="Times New Roman" panose="02020603050405020304" pitchFamily="18" charset="0"/>
                <a:ea typeface="黑体" panose="02010609060101010101" pitchFamily="49" charset="-122"/>
              </a:rPr>
              <a:t>位于</a:t>
            </a:r>
            <a:r>
              <a:rPr lang="en-US" altLang="zh-CN" sz="2800" b="1" dirty="0">
                <a:solidFill>
                  <a:srgbClr val="FFFFFF"/>
                </a:solidFill>
                <a:latin typeface="Times New Roman" panose="02020603050405020304" pitchFamily="18" charset="0"/>
                <a:ea typeface="黑体" panose="02010609060101010101" pitchFamily="49" charset="-122"/>
              </a:rPr>
              <a:t>H</a:t>
            </a:r>
            <a:r>
              <a:rPr lang="zh-CN" altLang="en-US" sz="2800" b="1" dirty="0">
                <a:solidFill>
                  <a:srgbClr val="FFFFFF"/>
                </a:solidFill>
                <a:latin typeface="Times New Roman" panose="02020603050405020304" pitchFamily="18" charset="0"/>
                <a:ea typeface="黑体" panose="02010609060101010101" pitchFamily="49" charset="-122"/>
              </a:rPr>
              <a:t>之后</a:t>
            </a:r>
          </a:p>
          <a:p>
            <a:pPr>
              <a:lnSpc>
                <a:spcPct val="140000"/>
              </a:lnSpc>
            </a:pPr>
            <a:r>
              <a:rPr lang="en-US" altLang="zh-CN" sz="2800" b="1" dirty="0">
                <a:solidFill>
                  <a:srgbClr val="FFFFFF"/>
                </a:solidFill>
                <a:latin typeface="Times New Roman" panose="02020603050405020304" pitchFamily="18" charset="0"/>
                <a:ea typeface="黑体" panose="02010609060101010101" pitchFamily="49" charset="-122"/>
              </a:rPr>
              <a:t>              Fe + 2H</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Fe</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H</a:t>
            </a:r>
            <a:r>
              <a:rPr lang="en-US" altLang="zh-CN" sz="2800" b="1" baseline="-25000" dirty="0">
                <a:solidFill>
                  <a:srgbClr val="FFFFFF"/>
                </a:solidFill>
                <a:latin typeface="Times New Roman" panose="02020603050405020304" pitchFamily="18" charset="0"/>
                <a:ea typeface="黑体" panose="02010609060101010101" pitchFamily="49" charset="-122"/>
              </a:rPr>
              <a:t>2</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nvGrpSpPr>
          <p:cNvPr id="1168395" name="组合 1168394"/>
          <p:cNvGrpSpPr/>
          <p:nvPr/>
        </p:nvGrpSpPr>
        <p:grpSpPr>
          <a:xfrm>
            <a:off x="755650" y="1978025"/>
            <a:ext cx="8137525" cy="1219200"/>
            <a:chOff x="476" y="1495"/>
            <a:chExt cx="5126" cy="922"/>
          </a:xfrm>
        </p:grpSpPr>
        <p:grpSp>
          <p:nvGrpSpPr>
            <p:cNvPr id="56332" name="组合 1168395"/>
            <p:cNvGrpSpPr/>
            <p:nvPr/>
          </p:nvGrpSpPr>
          <p:grpSpPr>
            <a:xfrm>
              <a:off x="1746" y="1505"/>
              <a:ext cx="726" cy="396"/>
              <a:chOff x="3651" y="2115"/>
              <a:chExt cx="726" cy="396"/>
            </a:xfrm>
          </p:grpSpPr>
          <p:sp>
            <p:nvSpPr>
              <p:cNvPr id="56333" name="矩形 1168396"/>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34" name="组合 1168397"/>
              <p:cNvGrpSpPr/>
              <p:nvPr/>
            </p:nvGrpSpPr>
            <p:grpSpPr>
              <a:xfrm>
                <a:off x="3858" y="2205"/>
                <a:ext cx="136" cy="91"/>
                <a:chOff x="3744" y="2646"/>
                <a:chExt cx="192" cy="96"/>
              </a:xfrm>
            </p:grpSpPr>
            <p:sp>
              <p:nvSpPr>
                <p:cNvPr id="56335" name="椭圆 1168398"/>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36" name="直接连接符 1168399"/>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37" name="组合 1168400"/>
            <p:cNvGrpSpPr/>
            <p:nvPr/>
          </p:nvGrpSpPr>
          <p:grpSpPr>
            <a:xfrm>
              <a:off x="2471" y="1515"/>
              <a:ext cx="726" cy="396"/>
              <a:chOff x="3651" y="2115"/>
              <a:chExt cx="726" cy="396"/>
            </a:xfrm>
          </p:grpSpPr>
          <p:sp>
            <p:nvSpPr>
              <p:cNvPr id="56338" name="矩形 1168401"/>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39" name="组合 1168402"/>
              <p:cNvGrpSpPr/>
              <p:nvPr/>
            </p:nvGrpSpPr>
            <p:grpSpPr>
              <a:xfrm>
                <a:off x="3858" y="2205"/>
                <a:ext cx="136" cy="91"/>
                <a:chOff x="3744" y="2646"/>
                <a:chExt cx="192" cy="96"/>
              </a:xfrm>
            </p:grpSpPr>
            <p:sp>
              <p:nvSpPr>
                <p:cNvPr id="56340" name="椭圆 116840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41" name="直接连接符 116840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42" name="组合 1168405"/>
            <p:cNvGrpSpPr/>
            <p:nvPr/>
          </p:nvGrpSpPr>
          <p:grpSpPr>
            <a:xfrm>
              <a:off x="4513" y="1495"/>
              <a:ext cx="953" cy="396"/>
              <a:chOff x="521" y="2332"/>
              <a:chExt cx="953" cy="396"/>
            </a:xfrm>
          </p:grpSpPr>
          <p:sp>
            <p:nvSpPr>
              <p:cNvPr id="56343" name="矩形 1168406"/>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44" name="组合 1168407"/>
              <p:cNvGrpSpPr/>
              <p:nvPr/>
            </p:nvGrpSpPr>
            <p:grpSpPr>
              <a:xfrm>
                <a:off x="748" y="2367"/>
                <a:ext cx="136" cy="91"/>
                <a:chOff x="3744" y="2646"/>
                <a:chExt cx="192" cy="96"/>
              </a:xfrm>
            </p:grpSpPr>
            <p:sp>
              <p:nvSpPr>
                <p:cNvPr id="56345" name="椭圆 1168408"/>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46" name="直接连接符 1168409"/>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47" name="组合 1168410"/>
            <p:cNvGrpSpPr/>
            <p:nvPr/>
          </p:nvGrpSpPr>
          <p:grpSpPr>
            <a:xfrm>
              <a:off x="3288" y="1505"/>
              <a:ext cx="1134" cy="396"/>
              <a:chOff x="521" y="2332"/>
              <a:chExt cx="953" cy="396"/>
            </a:xfrm>
          </p:grpSpPr>
          <p:sp>
            <p:nvSpPr>
              <p:cNvPr id="56348" name="矩形 1168411"/>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H+/H2</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49" name="组合 1168412"/>
              <p:cNvGrpSpPr/>
              <p:nvPr/>
            </p:nvGrpSpPr>
            <p:grpSpPr>
              <a:xfrm>
                <a:off x="748" y="2367"/>
                <a:ext cx="136" cy="91"/>
                <a:chOff x="3744" y="2646"/>
                <a:chExt cx="192" cy="96"/>
              </a:xfrm>
            </p:grpSpPr>
            <p:sp>
              <p:nvSpPr>
                <p:cNvPr id="56350" name="椭圆 116841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51" name="直接连接符 116841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6352" name="矩形 1168415"/>
            <p:cNvSpPr/>
            <p:nvPr/>
          </p:nvSpPr>
          <p:spPr>
            <a:xfrm>
              <a:off x="476" y="1566"/>
              <a:ext cx="5126" cy="851"/>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此反应的</a:t>
              </a:r>
              <a:r>
                <a:rPr lang="en-US" altLang="zh-CN" sz="2800" b="1" dirty="0">
                  <a:solidFill>
                    <a:srgbClr val="FFFFFF"/>
                  </a:solidFill>
                  <a:latin typeface="Times New Roman" panose="02020603050405020304" pitchFamily="18" charset="0"/>
                  <a:ea typeface="黑体" panose="02010609060101010101" pitchFamily="49" charset="-122"/>
                </a:rPr>
                <a:t>E=           -          =                     -</a:t>
              </a:r>
            </a:p>
            <a:p>
              <a:pPr>
                <a:lnSpc>
                  <a:spcPct val="140000"/>
                </a:lnSpc>
              </a:pPr>
              <a:r>
                <a:rPr lang="en-US" altLang="zh-CN" sz="2800" b="1" dirty="0">
                  <a:solidFill>
                    <a:srgbClr val="FFFFFF"/>
                  </a:solidFill>
                  <a:latin typeface="Times New Roman" panose="02020603050405020304" pitchFamily="18" charset="0"/>
                  <a:ea typeface="黑体" panose="02010609060101010101" pitchFamily="49" charset="-122"/>
                </a:rPr>
                <a:t>                      = 0 - (-0.440) = 0.440 &gt; 0</a:t>
              </a:r>
            </a:p>
          </p:txBody>
        </p:sp>
      </p:grpSp>
      <p:sp>
        <p:nvSpPr>
          <p:cNvPr id="1168417" name="矩形 1168416"/>
          <p:cNvSpPr/>
          <p:nvPr/>
        </p:nvSpPr>
        <p:spPr>
          <a:xfrm>
            <a:off x="395288" y="2986088"/>
            <a:ext cx="7200900" cy="522287"/>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正向进行</a:t>
            </a:r>
          </a:p>
        </p:txBody>
      </p:sp>
      <p:grpSp>
        <p:nvGrpSpPr>
          <p:cNvPr id="1168418" name="组合 1168417"/>
          <p:cNvGrpSpPr/>
          <p:nvPr/>
        </p:nvGrpSpPr>
        <p:grpSpPr>
          <a:xfrm>
            <a:off x="395288" y="3460750"/>
            <a:ext cx="7561262" cy="1169988"/>
            <a:chOff x="249" y="2616"/>
            <a:chExt cx="4763" cy="884"/>
          </a:xfrm>
        </p:grpSpPr>
        <p:grpSp>
          <p:nvGrpSpPr>
            <p:cNvPr id="56355" name="组合 1168418"/>
            <p:cNvGrpSpPr/>
            <p:nvPr/>
          </p:nvGrpSpPr>
          <p:grpSpPr>
            <a:xfrm>
              <a:off x="1292" y="2986"/>
              <a:ext cx="726" cy="396"/>
              <a:chOff x="3651" y="2115"/>
              <a:chExt cx="726" cy="396"/>
            </a:xfrm>
          </p:grpSpPr>
          <p:sp>
            <p:nvSpPr>
              <p:cNvPr id="56356" name="矩形 1168419"/>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57" name="组合 1168420"/>
              <p:cNvGrpSpPr/>
              <p:nvPr/>
            </p:nvGrpSpPr>
            <p:grpSpPr>
              <a:xfrm>
                <a:off x="3858" y="2205"/>
                <a:ext cx="136" cy="91"/>
                <a:chOff x="3744" y="2646"/>
                <a:chExt cx="192" cy="96"/>
              </a:xfrm>
            </p:grpSpPr>
            <p:sp>
              <p:nvSpPr>
                <p:cNvPr id="56358" name="椭圆 116842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59" name="直接连接符 116842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60" name="组合 1168423"/>
            <p:cNvGrpSpPr/>
            <p:nvPr/>
          </p:nvGrpSpPr>
          <p:grpSpPr>
            <a:xfrm>
              <a:off x="2017" y="2996"/>
              <a:ext cx="726" cy="396"/>
              <a:chOff x="3651" y="2115"/>
              <a:chExt cx="726" cy="396"/>
            </a:xfrm>
          </p:grpSpPr>
          <p:sp>
            <p:nvSpPr>
              <p:cNvPr id="56361" name="矩形 1168424"/>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62" name="组合 1168425"/>
              <p:cNvGrpSpPr/>
              <p:nvPr/>
            </p:nvGrpSpPr>
            <p:grpSpPr>
              <a:xfrm>
                <a:off x="3858" y="2205"/>
                <a:ext cx="136" cy="91"/>
                <a:chOff x="3744" y="2646"/>
                <a:chExt cx="192" cy="96"/>
              </a:xfrm>
            </p:grpSpPr>
            <p:sp>
              <p:nvSpPr>
                <p:cNvPr id="56363" name="椭圆 116842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64" name="直接连接符 116842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65" name="组合 1168428"/>
            <p:cNvGrpSpPr/>
            <p:nvPr/>
          </p:nvGrpSpPr>
          <p:grpSpPr>
            <a:xfrm>
              <a:off x="4059" y="2976"/>
              <a:ext cx="953" cy="396"/>
              <a:chOff x="521" y="2332"/>
              <a:chExt cx="953" cy="396"/>
            </a:xfrm>
          </p:grpSpPr>
          <p:sp>
            <p:nvSpPr>
              <p:cNvPr id="56366" name="矩形 1168429"/>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H</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/H</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67" name="组合 1168430"/>
              <p:cNvGrpSpPr/>
              <p:nvPr/>
            </p:nvGrpSpPr>
            <p:grpSpPr>
              <a:xfrm>
                <a:off x="748" y="2367"/>
                <a:ext cx="136" cy="91"/>
                <a:chOff x="3744" y="2646"/>
                <a:chExt cx="192" cy="96"/>
              </a:xfrm>
            </p:grpSpPr>
            <p:sp>
              <p:nvSpPr>
                <p:cNvPr id="56368" name="椭圆 116843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69" name="直接连接符 116843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6370" name="组合 1168433"/>
            <p:cNvGrpSpPr/>
            <p:nvPr/>
          </p:nvGrpSpPr>
          <p:grpSpPr>
            <a:xfrm>
              <a:off x="2834" y="2986"/>
              <a:ext cx="1134" cy="396"/>
              <a:chOff x="521" y="2332"/>
              <a:chExt cx="953" cy="396"/>
            </a:xfrm>
          </p:grpSpPr>
          <p:sp>
            <p:nvSpPr>
              <p:cNvPr id="56371" name="矩形 1168434"/>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Cu2+/Cu</a:t>
                </a:r>
                <a:r>
                  <a:rPr lang="en-US" altLang="zh-CN"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72" name="组合 1168435"/>
              <p:cNvGrpSpPr/>
              <p:nvPr/>
            </p:nvGrpSpPr>
            <p:grpSpPr>
              <a:xfrm>
                <a:off x="748" y="2367"/>
                <a:ext cx="136" cy="91"/>
                <a:chOff x="3744" y="2646"/>
                <a:chExt cx="192" cy="96"/>
              </a:xfrm>
            </p:grpSpPr>
            <p:sp>
              <p:nvSpPr>
                <p:cNvPr id="56373" name="椭圆 116843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74" name="直接连接符 116843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6375" name="矩形 1168438"/>
            <p:cNvSpPr/>
            <p:nvPr/>
          </p:nvSpPr>
          <p:spPr>
            <a:xfrm>
              <a:off x="249" y="2616"/>
              <a:ext cx="4536" cy="884"/>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Cu</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H</a:t>
              </a:r>
              <a:r>
                <a:rPr lang="en-US" altLang="zh-CN" sz="2800" b="1" baseline="-25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2H</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Cu</a:t>
              </a:r>
            </a:p>
            <a:p>
              <a:pPr>
                <a:lnSpc>
                  <a:spcPct val="150000"/>
                </a:lnSpc>
              </a:pPr>
              <a:r>
                <a:rPr lang="en-US" altLang="zh-CN" sz="2800" b="1" dirty="0">
                  <a:solidFill>
                    <a:srgbClr val="FFFFFF"/>
                  </a:solidFill>
                  <a:latin typeface="Times New Roman" panose="02020603050405020304" pitchFamily="18" charset="0"/>
                  <a:ea typeface="黑体" panose="02010609060101010101" pitchFamily="49" charset="-122"/>
                </a:rPr>
                <a:t>          E=             -           =                   -</a:t>
              </a:r>
            </a:p>
          </p:txBody>
        </p:sp>
      </p:grpSp>
      <p:sp>
        <p:nvSpPr>
          <p:cNvPr id="1168440" name="矩形 1168439"/>
          <p:cNvSpPr/>
          <p:nvPr/>
        </p:nvSpPr>
        <p:spPr>
          <a:xfrm>
            <a:off x="1690688" y="4537075"/>
            <a:ext cx="4176712" cy="523875"/>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0.337 – 0 &gt; 0  </a:t>
            </a:r>
            <a:r>
              <a:rPr lang="zh-CN" altLang="en-US" sz="2800" b="1" dirty="0">
                <a:solidFill>
                  <a:srgbClr val="FFFFFF"/>
                </a:solidFill>
                <a:latin typeface="Times New Roman" panose="02020603050405020304" pitchFamily="18" charset="0"/>
                <a:ea typeface="黑体" panose="02010609060101010101" pitchFamily="49" charset="-122"/>
              </a:rPr>
              <a:t>正向进行</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nvGrpSpPr>
          <p:cNvPr id="1168441" name="组合 1168440"/>
          <p:cNvGrpSpPr/>
          <p:nvPr/>
        </p:nvGrpSpPr>
        <p:grpSpPr>
          <a:xfrm>
            <a:off x="1546225" y="5005388"/>
            <a:ext cx="6481763" cy="584200"/>
            <a:chOff x="294" y="3657"/>
            <a:chExt cx="4083" cy="441"/>
          </a:xfrm>
        </p:grpSpPr>
        <p:grpSp>
          <p:nvGrpSpPr>
            <p:cNvPr id="56378" name="组合 1168441"/>
            <p:cNvGrpSpPr/>
            <p:nvPr/>
          </p:nvGrpSpPr>
          <p:grpSpPr>
            <a:xfrm>
              <a:off x="657" y="3657"/>
              <a:ext cx="454" cy="396"/>
              <a:chOff x="3923" y="3158"/>
              <a:chExt cx="454" cy="396"/>
            </a:xfrm>
          </p:grpSpPr>
          <p:sp>
            <p:nvSpPr>
              <p:cNvPr id="56379" name="矩形 1168442"/>
              <p:cNvSpPr/>
              <p:nvPr/>
            </p:nvSpPr>
            <p:spPr>
              <a:xfrm>
                <a:off x="3923" y="3158"/>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6380" name="组合 1168443"/>
              <p:cNvGrpSpPr/>
              <p:nvPr/>
            </p:nvGrpSpPr>
            <p:grpSpPr>
              <a:xfrm>
                <a:off x="4130" y="3248"/>
                <a:ext cx="136" cy="91"/>
                <a:chOff x="3744" y="2646"/>
                <a:chExt cx="192" cy="96"/>
              </a:xfrm>
            </p:grpSpPr>
            <p:sp>
              <p:nvSpPr>
                <p:cNvPr id="56381" name="椭圆 1168444"/>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6382" name="直接连接符 1168445"/>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6383" name="矩形 1168446"/>
            <p:cNvSpPr/>
            <p:nvPr/>
          </p:nvSpPr>
          <p:spPr>
            <a:xfrm>
              <a:off x="294" y="3702"/>
              <a:ext cx="4083" cy="396"/>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         的大小与金属活动顺序表一致</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68387"/>
                                        </p:tgtEl>
                                        <p:attrNameLst>
                                          <p:attrName>style.visibility</p:attrName>
                                        </p:attrNameLst>
                                      </p:cBhvr>
                                      <p:to>
                                        <p:strVal val="visible"/>
                                      </p:to>
                                    </p:set>
                                    <p:anim calcmode="lin" valueType="num">
                                      <p:cBhvr additive="base">
                                        <p:cTn id="7" dur="500" fill="hold"/>
                                        <p:tgtEl>
                                          <p:spTgt spid="1168387"/>
                                        </p:tgtEl>
                                        <p:attrNameLst>
                                          <p:attrName>ppt_x</p:attrName>
                                        </p:attrNameLst>
                                      </p:cBhvr>
                                      <p:tavLst>
                                        <p:tav tm="0">
                                          <p:val>
                                            <p:strVal val="#ppt_x"/>
                                          </p:val>
                                        </p:tav>
                                        <p:tav tm="100000">
                                          <p:val>
                                            <p:strVal val="#ppt_x"/>
                                          </p:val>
                                        </p:tav>
                                      </p:tavLst>
                                    </p:anim>
                                    <p:anim calcmode="lin" valueType="num">
                                      <p:cBhvr additive="base">
                                        <p:cTn id="8" dur="500" fill="hold"/>
                                        <p:tgtEl>
                                          <p:spTgt spid="11683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68394"/>
                                        </p:tgtEl>
                                        <p:attrNameLst>
                                          <p:attrName>style.visibility</p:attrName>
                                        </p:attrNameLst>
                                      </p:cBhvr>
                                      <p:to>
                                        <p:strVal val="visible"/>
                                      </p:to>
                                    </p:set>
                                    <p:animEffect transition="in" filter="blinds(horizontal)">
                                      <p:cBhvr>
                                        <p:cTn id="13" dur="500"/>
                                        <p:tgtEl>
                                          <p:spTgt spid="116839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168395"/>
                                        </p:tgtEl>
                                        <p:attrNameLst>
                                          <p:attrName>style.visibility</p:attrName>
                                        </p:attrNameLst>
                                      </p:cBhvr>
                                      <p:to>
                                        <p:strVal val="visible"/>
                                      </p:to>
                                    </p:set>
                                    <p:animEffect transition="in" filter="checkerboard(across)">
                                      <p:cBhvr>
                                        <p:cTn id="18" dur="500"/>
                                        <p:tgtEl>
                                          <p:spTgt spid="116839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68417"/>
                                        </p:tgtEl>
                                        <p:attrNameLst>
                                          <p:attrName>style.visibility</p:attrName>
                                        </p:attrNameLst>
                                      </p:cBhvr>
                                      <p:to>
                                        <p:strVal val="visible"/>
                                      </p:to>
                                    </p:set>
                                    <p:anim calcmode="lin" valueType="num">
                                      <p:cBhvr additive="base">
                                        <p:cTn id="23" dur="500" fill="hold"/>
                                        <p:tgtEl>
                                          <p:spTgt spid="1168417"/>
                                        </p:tgtEl>
                                        <p:attrNameLst>
                                          <p:attrName>ppt_x</p:attrName>
                                        </p:attrNameLst>
                                      </p:cBhvr>
                                      <p:tavLst>
                                        <p:tav tm="0">
                                          <p:val>
                                            <p:strVal val="#ppt_x"/>
                                          </p:val>
                                        </p:tav>
                                        <p:tav tm="100000">
                                          <p:val>
                                            <p:strVal val="#ppt_x"/>
                                          </p:val>
                                        </p:tav>
                                      </p:tavLst>
                                    </p:anim>
                                    <p:anim calcmode="lin" valueType="num">
                                      <p:cBhvr additive="base">
                                        <p:cTn id="24" dur="500" fill="hold"/>
                                        <p:tgtEl>
                                          <p:spTgt spid="116841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168418"/>
                                        </p:tgtEl>
                                        <p:attrNameLst>
                                          <p:attrName>style.visibility</p:attrName>
                                        </p:attrNameLst>
                                      </p:cBhvr>
                                      <p:to>
                                        <p:strVal val="visible"/>
                                      </p:to>
                                    </p:set>
                                    <p:animEffect transition="in" filter="box(in)">
                                      <p:cBhvr>
                                        <p:cTn id="29" dur="500"/>
                                        <p:tgtEl>
                                          <p:spTgt spid="116841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68440"/>
                                        </p:tgtEl>
                                        <p:attrNameLst>
                                          <p:attrName>style.visibility</p:attrName>
                                        </p:attrNameLst>
                                      </p:cBhvr>
                                      <p:to>
                                        <p:strVal val="visible"/>
                                      </p:to>
                                    </p:set>
                                    <p:anim calcmode="lin" valueType="num">
                                      <p:cBhvr additive="base">
                                        <p:cTn id="34" dur="500" fill="hold"/>
                                        <p:tgtEl>
                                          <p:spTgt spid="1168440"/>
                                        </p:tgtEl>
                                        <p:attrNameLst>
                                          <p:attrName>ppt_x</p:attrName>
                                        </p:attrNameLst>
                                      </p:cBhvr>
                                      <p:tavLst>
                                        <p:tav tm="0">
                                          <p:val>
                                            <p:strVal val="#ppt_x"/>
                                          </p:val>
                                        </p:tav>
                                        <p:tav tm="100000">
                                          <p:val>
                                            <p:strVal val="#ppt_x"/>
                                          </p:val>
                                        </p:tav>
                                      </p:tavLst>
                                    </p:anim>
                                    <p:anim calcmode="lin" valueType="num">
                                      <p:cBhvr additive="base">
                                        <p:cTn id="35" dur="500" fill="hold"/>
                                        <p:tgtEl>
                                          <p:spTgt spid="1168440"/>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1168441"/>
                                        </p:tgtEl>
                                        <p:attrNameLst>
                                          <p:attrName>style.visibility</p:attrName>
                                        </p:attrNameLst>
                                      </p:cBhvr>
                                      <p:to>
                                        <p:strVal val="visible"/>
                                      </p:to>
                                    </p:set>
                                    <p:anim calcmode="lin" valueType="num">
                                      <p:cBhvr additive="base">
                                        <p:cTn id="40" dur="500" fill="hold"/>
                                        <p:tgtEl>
                                          <p:spTgt spid="1168441"/>
                                        </p:tgtEl>
                                        <p:attrNameLst>
                                          <p:attrName>ppt_x</p:attrName>
                                        </p:attrNameLst>
                                      </p:cBhvr>
                                      <p:tavLst>
                                        <p:tav tm="0">
                                          <p:val>
                                            <p:strVal val="1+#ppt_w/2"/>
                                          </p:val>
                                        </p:tav>
                                        <p:tav tm="100000">
                                          <p:val>
                                            <p:strVal val="#ppt_x"/>
                                          </p:val>
                                        </p:tav>
                                      </p:tavLst>
                                    </p:anim>
                                    <p:anim calcmode="lin" valueType="num">
                                      <p:cBhvr additive="base">
                                        <p:cTn id="41" dur="500" fill="hold"/>
                                        <p:tgtEl>
                                          <p:spTgt spid="11684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394" grpId="0"/>
      <p:bldP spid="1168417" grpId="0"/>
      <p:bldP spid="116844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42</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250306" name="矩形 1250305"/>
          <p:cNvSpPr/>
          <p:nvPr/>
        </p:nvSpPr>
        <p:spPr>
          <a:xfrm>
            <a:off x="611188" y="457200"/>
            <a:ext cx="8137525" cy="523875"/>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zh-CN" altLang="en-US" sz="2800" b="1" dirty="0">
                <a:solidFill>
                  <a:srgbClr val="FFFFFF"/>
                </a:solidFill>
                <a:latin typeface="Times New Roman" panose="02020603050405020304" pitchFamily="18" charset="0"/>
                <a:ea typeface="黑体" panose="02010609060101010101" pitchFamily="49" charset="-122"/>
              </a:rPr>
              <a:t>5，</a:t>
            </a:r>
            <a:r>
              <a:rPr lang="en-US" altLang="zh-CN" sz="2800" b="1" dirty="0">
                <a:solidFill>
                  <a:srgbClr val="FFFFFF"/>
                </a:solidFill>
                <a:latin typeface="Times New Roman" panose="02020603050405020304" pitchFamily="18" charset="0"/>
                <a:ea typeface="黑体" panose="02010609060101010101" pitchFamily="49" charset="-122"/>
              </a:rPr>
              <a:t>SnCl</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和</a:t>
            </a:r>
            <a:r>
              <a:rPr lang="en-US" altLang="zh-CN" sz="2800" b="1" dirty="0">
                <a:solidFill>
                  <a:srgbClr val="FFFFFF"/>
                </a:solidFill>
                <a:latin typeface="Times New Roman" panose="02020603050405020304" pitchFamily="18" charset="0"/>
                <a:ea typeface="黑体" panose="02010609060101010101" pitchFamily="49" charset="-122"/>
              </a:rPr>
              <a:t>FeCl</a:t>
            </a:r>
            <a:r>
              <a:rPr lang="en-US" altLang="zh-CN" sz="2800" b="1" baseline="-25000"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能否共存于同一溶液中</a:t>
            </a:r>
          </a:p>
        </p:txBody>
      </p:sp>
      <p:grpSp>
        <p:nvGrpSpPr>
          <p:cNvPr id="1250307" name="组合 1250306"/>
          <p:cNvGrpSpPr/>
          <p:nvPr/>
        </p:nvGrpSpPr>
        <p:grpSpPr>
          <a:xfrm>
            <a:off x="1044575" y="1500188"/>
            <a:ext cx="5327650" cy="1643062"/>
            <a:chOff x="340" y="799"/>
            <a:chExt cx="3356" cy="1242"/>
          </a:xfrm>
        </p:grpSpPr>
        <p:sp>
          <p:nvSpPr>
            <p:cNvPr id="57348" name="文本框 1250307"/>
            <p:cNvSpPr txBox="1"/>
            <p:nvPr/>
          </p:nvSpPr>
          <p:spPr>
            <a:xfrm>
              <a:off x="703" y="1378"/>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57349" name="组合 1250308"/>
            <p:cNvGrpSpPr/>
            <p:nvPr/>
          </p:nvGrpSpPr>
          <p:grpSpPr>
            <a:xfrm>
              <a:off x="1338" y="1460"/>
              <a:ext cx="635" cy="396"/>
              <a:chOff x="1474" y="2840"/>
              <a:chExt cx="635" cy="396"/>
            </a:xfrm>
          </p:grpSpPr>
          <p:sp>
            <p:nvSpPr>
              <p:cNvPr id="57350" name="文本框 1250309"/>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7351" name="组合 1250310"/>
              <p:cNvGrpSpPr/>
              <p:nvPr/>
            </p:nvGrpSpPr>
            <p:grpSpPr>
              <a:xfrm>
                <a:off x="1655" y="2886"/>
                <a:ext cx="127" cy="46"/>
                <a:chOff x="3744" y="2646"/>
                <a:chExt cx="192" cy="96"/>
              </a:xfrm>
            </p:grpSpPr>
            <p:sp>
              <p:nvSpPr>
                <p:cNvPr id="57352" name="椭圆 125031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7353" name="直接连接符 125031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7354" name="矩形 1250313"/>
            <p:cNvSpPr/>
            <p:nvPr/>
          </p:nvSpPr>
          <p:spPr>
            <a:xfrm>
              <a:off x="340" y="799"/>
              <a:ext cx="3356" cy="1242"/>
            </a:xfrm>
            <a:prstGeom prst="rect">
              <a:avLst/>
            </a:prstGeom>
            <a:noFill/>
            <a:ln w="12700">
              <a:noFill/>
            </a:ln>
          </p:spPr>
          <p:txBody>
            <a:bodyPr anchor="t" anchorCtr="0">
              <a:spAutoFit/>
            </a:bodyPr>
            <a:lstStyle/>
            <a:p>
              <a:pPr>
                <a:lnSpc>
                  <a:spcPct val="180000"/>
                </a:lnSpc>
              </a:pPr>
              <a:r>
                <a:rPr lang="zh-CN" altLang="en-US" sz="2800" b="1" dirty="0">
                  <a:solidFill>
                    <a:srgbClr val="FFFFFF"/>
                  </a:solidFill>
                  <a:latin typeface="Times New Roman" panose="02020603050405020304" pitchFamily="18" charset="0"/>
                  <a:ea typeface="黑体" panose="02010609060101010101" pitchFamily="49" charset="-122"/>
                </a:rPr>
                <a:t>解：   </a:t>
              </a:r>
              <a:r>
                <a:rPr lang="en-US" altLang="zh-CN" sz="2800" b="1" dirty="0">
                  <a:solidFill>
                    <a:srgbClr val="FFFFFF"/>
                  </a:solidFill>
                  <a:latin typeface="Times New Roman" panose="02020603050405020304" pitchFamily="18" charset="0"/>
                  <a:ea typeface="黑体" panose="02010609060101010101" pitchFamily="49" charset="-122"/>
                </a:rPr>
                <a:t>Sn</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+ 2Fe</a:t>
              </a:r>
              <a:r>
                <a:rPr lang="en-US" altLang="zh-CN" sz="2800" b="1" baseline="30000" dirty="0">
                  <a:solidFill>
                    <a:srgbClr val="FFFFFF"/>
                  </a:solidFill>
                  <a:latin typeface="Times New Roman" panose="02020603050405020304" pitchFamily="18" charset="0"/>
                  <a:ea typeface="黑体" panose="02010609060101010101" pitchFamily="49" charset="-122"/>
                </a:rPr>
                <a:t>3+ </a:t>
              </a:r>
              <a:r>
                <a:rPr lang="en-US" altLang="zh-CN" sz="2800" b="1" dirty="0">
                  <a:solidFill>
                    <a:srgbClr val="FFFFFF"/>
                  </a:solidFill>
                  <a:latin typeface="Times New Roman" panose="02020603050405020304" pitchFamily="18" charset="0"/>
                  <a:ea typeface="黑体" panose="02010609060101010101" pitchFamily="49" charset="-122"/>
                </a:rPr>
                <a:t>= 2Fe</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Sn</a:t>
              </a:r>
              <a:r>
                <a:rPr lang="en-US" altLang="zh-CN" sz="2800" b="1" baseline="30000" dirty="0">
                  <a:solidFill>
                    <a:srgbClr val="FFFFFF"/>
                  </a:solidFill>
                  <a:latin typeface="Times New Roman" panose="02020603050405020304" pitchFamily="18" charset="0"/>
                  <a:ea typeface="黑体" panose="02010609060101010101" pitchFamily="49" charset="-122"/>
                </a:rPr>
                <a:t>4+</a:t>
              </a:r>
            </a:p>
            <a:p>
              <a:pPr>
                <a:lnSpc>
                  <a:spcPct val="180000"/>
                </a:lnSpc>
              </a:pPr>
              <a:r>
                <a:rPr lang="en-US" altLang="zh-CN" sz="2800" b="1" dirty="0">
                  <a:solidFill>
                    <a:srgbClr val="FFFFFF"/>
                  </a:solidFill>
                  <a:latin typeface="Times New Roman" panose="02020603050405020304" pitchFamily="18" charset="0"/>
                  <a:ea typeface="黑体" panose="02010609060101010101" pitchFamily="49" charset="-122"/>
                </a:rPr>
                <a:t>                       = 0.770 - 0.151 &gt; 0 </a:t>
              </a:r>
            </a:p>
          </p:txBody>
        </p:sp>
      </p:grpSp>
      <p:sp>
        <p:nvSpPr>
          <p:cNvPr id="1250315" name="矩形 1250314"/>
          <p:cNvSpPr/>
          <p:nvPr/>
        </p:nvSpPr>
        <p:spPr>
          <a:xfrm>
            <a:off x="1836738" y="3402013"/>
            <a:ext cx="4464050" cy="866775"/>
          </a:xfrm>
          <a:prstGeom prst="rect">
            <a:avLst/>
          </a:prstGeom>
          <a:noFill/>
          <a:ln w="12700">
            <a:noFill/>
          </a:ln>
        </p:spPr>
        <p:txBody>
          <a:bodyPr anchor="t" anchorCtr="0">
            <a:spAutoFit/>
          </a:bodyPr>
          <a:lstStyle/>
          <a:p>
            <a:pPr>
              <a:lnSpc>
                <a:spcPct val="180000"/>
              </a:lnSpc>
            </a:pPr>
            <a:r>
              <a:rPr lang="en-US" altLang="zh-CN" sz="2800" b="1"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不能共存同一溶液中</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0306"/>
                                        </p:tgtEl>
                                        <p:attrNameLst>
                                          <p:attrName>style.visibility</p:attrName>
                                        </p:attrNameLst>
                                      </p:cBhvr>
                                      <p:to>
                                        <p:strVal val="visible"/>
                                      </p:to>
                                    </p:set>
                                    <p:anim calcmode="lin" valueType="num">
                                      <p:cBhvr additive="base">
                                        <p:cTn id="7" dur="500" fill="hold"/>
                                        <p:tgtEl>
                                          <p:spTgt spid="1250306"/>
                                        </p:tgtEl>
                                        <p:attrNameLst>
                                          <p:attrName>ppt_x</p:attrName>
                                        </p:attrNameLst>
                                      </p:cBhvr>
                                      <p:tavLst>
                                        <p:tav tm="0">
                                          <p:val>
                                            <p:strVal val="#ppt_x"/>
                                          </p:val>
                                        </p:tav>
                                        <p:tav tm="100000">
                                          <p:val>
                                            <p:strVal val="#ppt_x"/>
                                          </p:val>
                                        </p:tav>
                                      </p:tavLst>
                                    </p:anim>
                                    <p:anim calcmode="lin" valueType="num">
                                      <p:cBhvr additive="base">
                                        <p:cTn id="8" dur="500" fill="hold"/>
                                        <p:tgtEl>
                                          <p:spTgt spid="12503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250307"/>
                                        </p:tgtEl>
                                        <p:attrNameLst>
                                          <p:attrName>style.visibility</p:attrName>
                                        </p:attrNameLst>
                                      </p:cBhvr>
                                      <p:to>
                                        <p:strVal val="visible"/>
                                      </p:to>
                                    </p:set>
                                    <p:animEffect transition="in" filter="blinds(horizontal)">
                                      <p:cBhvr>
                                        <p:cTn id="13" dur="500"/>
                                        <p:tgtEl>
                                          <p:spTgt spid="125030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50315"/>
                                        </p:tgtEl>
                                        <p:attrNameLst>
                                          <p:attrName>style.visibility</p:attrName>
                                        </p:attrNameLst>
                                      </p:cBhvr>
                                      <p:to>
                                        <p:strVal val="visible"/>
                                      </p:to>
                                    </p:set>
                                    <p:anim calcmode="lin" valueType="num">
                                      <p:cBhvr additive="base">
                                        <p:cTn id="18" dur="500" fill="hold"/>
                                        <p:tgtEl>
                                          <p:spTgt spid="1250315"/>
                                        </p:tgtEl>
                                        <p:attrNameLst>
                                          <p:attrName>ppt_x</p:attrName>
                                        </p:attrNameLst>
                                      </p:cBhvr>
                                      <p:tavLst>
                                        <p:tav tm="0">
                                          <p:val>
                                            <p:strVal val="#ppt_x"/>
                                          </p:val>
                                        </p:tav>
                                        <p:tav tm="100000">
                                          <p:val>
                                            <p:strVal val="#ppt_x"/>
                                          </p:val>
                                        </p:tav>
                                      </p:tavLst>
                                    </p:anim>
                                    <p:anim calcmode="lin" valueType="num">
                                      <p:cBhvr additive="base">
                                        <p:cTn id="19" dur="500" fill="hold"/>
                                        <p:tgtEl>
                                          <p:spTgt spid="1250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0306" grpId="0"/>
      <p:bldP spid="12503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43</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169410" name="矩形 1169409"/>
          <p:cNvSpPr/>
          <p:nvPr/>
        </p:nvSpPr>
        <p:spPr>
          <a:xfrm>
            <a:off x="611188" y="388938"/>
            <a:ext cx="8137525" cy="1384300"/>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zh-CN" altLang="en-US" sz="2800" b="1" dirty="0">
                <a:solidFill>
                  <a:srgbClr val="FFFFFF"/>
                </a:solidFill>
                <a:latin typeface="Times New Roman" panose="02020603050405020304" pitchFamily="18" charset="0"/>
                <a:ea typeface="黑体" panose="02010609060101010101" pitchFamily="49" charset="-122"/>
              </a:rPr>
              <a:t>6，现有</a:t>
            </a:r>
            <a:r>
              <a:rPr lang="en-US" altLang="zh-CN" sz="2800" b="1" dirty="0">
                <a:solidFill>
                  <a:srgbClr val="FFFFFF"/>
                </a:solidFill>
                <a:latin typeface="Times New Roman" panose="02020603050405020304" pitchFamily="18" charset="0"/>
                <a:ea typeface="黑体" panose="02010609060101010101" pitchFamily="49" charset="-122"/>
              </a:rPr>
              <a:t>Cl</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 Br</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 I</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zh-CN" altLang="en-US" sz="2800" b="1" dirty="0">
                <a:solidFill>
                  <a:srgbClr val="FFFFFF"/>
                </a:solidFill>
                <a:latin typeface="Times New Roman" panose="02020603050405020304" pitchFamily="18" charset="0"/>
                <a:ea typeface="黑体" panose="02010609060101010101" pitchFamily="49" charset="-122"/>
              </a:rPr>
              <a:t>处于同一溶液中，若使</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，而</a:t>
            </a:r>
            <a:r>
              <a:rPr lang="en-US" altLang="zh-CN" sz="2800" b="1" dirty="0">
                <a:solidFill>
                  <a:srgbClr val="FFFFFF"/>
                </a:solidFill>
                <a:latin typeface="Times New Roman" panose="02020603050405020304" pitchFamily="18" charset="0"/>
                <a:ea typeface="黑体" panose="02010609060101010101" pitchFamily="49" charset="-122"/>
              </a:rPr>
              <a:t>Br</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 Cl</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zh-CN" altLang="en-US" sz="2800" b="1" dirty="0">
                <a:solidFill>
                  <a:srgbClr val="FFFFFF"/>
                </a:solidFill>
                <a:latin typeface="Times New Roman" panose="02020603050405020304" pitchFamily="18" charset="0"/>
                <a:ea typeface="黑体" panose="02010609060101010101" pitchFamily="49" charset="-122"/>
              </a:rPr>
              <a:t>不氧化，在常用的氧化剂</a:t>
            </a:r>
            <a:r>
              <a:rPr lang="en-US" altLang="zh-CN" sz="2800" b="1" dirty="0">
                <a:solidFill>
                  <a:srgbClr val="FFFFFF"/>
                </a:solidFill>
                <a:latin typeface="Times New Roman" panose="02020603050405020304" pitchFamily="18" charset="0"/>
                <a:ea typeface="黑体" panose="02010609060101010101" pitchFamily="49" charset="-122"/>
              </a:rPr>
              <a:t>Fe</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en-US" altLang="zh-CN" sz="2800" b="1" dirty="0">
                <a:solidFill>
                  <a:srgbClr val="FFFFFF"/>
                </a:solidFill>
                <a:latin typeface="Times New Roman" panose="02020603050405020304" pitchFamily="18" charset="0"/>
                <a:ea typeface="黑体" panose="02010609060101010101" pitchFamily="49" charset="-122"/>
              </a:rPr>
              <a:t>(SO</a:t>
            </a:r>
            <a:r>
              <a:rPr lang="en-US" altLang="zh-CN" sz="2800" b="1" baseline="-25000" dirty="0">
                <a:solidFill>
                  <a:srgbClr val="FFFFFF"/>
                </a:solidFill>
                <a:latin typeface="Times New Roman" panose="02020603050405020304" pitchFamily="18" charset="0"/>
                <a:ea typeface="黑体" panose="02010609060101010101" pitchFamily="49" charset="-122"/>
              </a:rPr>
              <a:t>4</a:t>
            </a:r>
            <a:r>
              <a:rPr lang="en-US" altLang="zh-CN" sz="2800" b="1" dirty="0">
                <a:solidFill>
                  <a:srgbClr val="FFFFFF"/>
                </a:solidFill>
                <a:latin typeface="Times New Roman" panose="02020603050405020304" pitchFamily="18" charset="0"/>
                <a:ea typeface="黑体" panose="02010609060101010101" pitchFamily="49" charset="-122"/>
              </a:rPr>
              <a:t>)</a:t>
            </a:r>
            <a:r>
              <a:rPr lang="en-US" altLang="zh-CN" sz="2800" b="1" baseline="-25000"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和</a:t>
            </a:r>
            <a:r>
              <a:rPr lang="en-US" altLang="zh-CN" sz="2800" b="1" dirty="0">
                <a:solidFill>
                  <a:srgbClr val="FFFFFF"/>
                </a:solidFill>
                <a:latin typeface="Times New Roman" panose="02020603050405020304" pitchFamily="18" charset="0"/>
                <a:ea typeface="黑体" panose="02010609060101010101" pitchFamily="49" charset="-122"/>
              </a:rPr>
              <a:t>KMnO</a:t>
            </a:r>
            <a:r>
              <a:rPr lang="en-US" altLang="zh-CN" sz="2800" b="1" baseline="-25000" dirty="0">
                <a:solidFill>
                  <a:srgbClr val="FFFFFF"/>
                </a:solidFill>
                <a:latin typeface="Times New Roman" panose="02020603050405020304" pitchFamily="18" charset="0"/>
                <a:ea typeface="黑体" panose="02010609060101010101" pitchFamily="49" charset="-122"/>
              </a:rPr>
              <a:t>4</a:t>
            </a:r>
            <a:r>
              <a:rPr lang="zh-CN" altLang="en-US" sz="2800" b="1" dirty="0">
                <a:solidFill>
                  <a:srgbClr val="FFFFFF"/>
                </a:solidFill>
                <a:latin typeface="Times New Roman" panose="02020603050405020304" pitchFamily="18" charset="0"/>
                <a:ea typeface="黑体" panose="02010609060101010101" pitchFamily="49" charset="-122"/>
              </a:rPr>
              <a:t>中选择哪一种符合上述要求：</a:t>
            </a:r>
          </a:p>
        </p:txBody>
      </p:sp>
      <p:grpSp>
        <p:nvGrpSpPr>
          <p:cNvPr id="1169411" name="组合 1169410"/>
          <p:cNvGrpSpPr/>
          <p:nvPr/>
        </p:nvGrpSpPr>
        <p:grpSpPr>
          <a:xfrm>
            <a:off x="684213" y="1684338"/>
            <a:ext cx="8137525" cy="544512"/>
            <a:chOff x="431" y="1101"/>
            <a:chExt cx="5126" cy="412"/>
          </a:xfrm>
        </p:grpSpPr>
        <p:sp>
          <p:nvSpPr>
            <p:cNvPr id="58372" name="文本框 1169411"/>
            <p:cNvSpPr txBox="1"/>
            <p:nvPr/>
          </p:nvSpPr>
          <p:spPr>
            <a:xfrm>
              <a:off x="703" y="1110"/>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pSp>
          <p:nvGrpSpPr>
            <p:cNvPr id="58373" name="组合 1169412"/>
            <p:cNvGrpSpPr/>
            <p:nvPr/>
          </p:nvGrpSpPr>
          <p:grpSpPr>
            <a:xfrm>
              <a:off x="3878" y="1101"/>
              <a:ext cx="454" cy="396"/>
              <a:chOff x="3923" y="3158"/>
              <a:chExt cx="454" cy="396"/>
            </a:xfrm>
          </p:grpSpPr>
          <p:sp>
            <p:nvSpPr>
              <p:cNvPr id="58374" name="矩形 1169413"/>
              <p:cNvSpPr/>
              <p:nvPr/>
            </p:nvSpPr>
            <p:spPr>
              <a:xfrm>
                <a:off x="3923" y="3158"/>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375" name="组合 1169414"/>
              <p:cNvGrpSpPr/>
              <p:nvPr/>
            </p:nvGrpSpPr>
            <p:grpSpPr>
              <a:xfrm>
                <a:off x="4130" y="3248"/>
                <a:ext cx="136" cy="91"/>
                <a:chOff x="3744" y="2646"/>
                <a:chExt cx="192" cy="96"/>
              </a:xfrm>
            </p:grpSpPr>
            <p:sp>
              <p:nvSpPr>
                <p:cNvPr id="58376" name="椭圆 116941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377" name="直接连接符 116941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8378" name="矩形 1169417"/>
            <p:cNvSpPr/>
            <p:nvPr/>
          </p:nvSpPr>
          <p:spPr>
            <a:xfrm>
              <a:off x="431" y="1117"/>
              <a:ext cx="5126" cy="396"/>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解：首先查出这些离子和氧化剂的</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grpSp>
        <p:nvGrpSpPr>
          <p:cNvPr id="1169419" name="组合 1169418"/>
          <p:cNvGrpSpPr/>
          <p:nvPr/>
        </p:nvGrpSpPr>
        <p:grpSpPr>
          <a:xfrm>
            <a:off x="684213" y="2317750"/>
            <a:ext cx="7488237" cy="1074738"/>
            <a:chOff x="431" y="1742"/>
            <a:chExt cx="4717" cy="812"/>
          </a:xfrm>
        </p:grpSpPr>
        <p:grpSp>
          <p:nvGrpSpPr>
            <p:cNvPr id="58380" name="组合 1169419"/>
            <p:cNvGrpSpPr/>
            <p:nvPr/>
          </p:nvGrpSpPr>
          <p:grpSpPr>
            <a:xfrm>
              <a:off x="431" y="1742"/>
              <a:ext cx="4717" cy="396"/>
              <a:chOff x="612" y="1609"/>
              <a:chExt cx="4717" cy="396"/>
            </a:xfrm>
          </p:grpSpPr>
          <p:grpSp>
            <p:nvGrpSpPr>
              <p:cNvPr id="58381" name="组合 1169420"/>
              <p:cNvGrpSpPr/>
              <p:nvPr/>
            </p:nvGrpSpPr>
            <p:grpSpPr>
              <a:xfrm>
                <a:off x="612" y="1609"/>
                <a:ext cx="1134" cy="396"/>
                <a:chOff x="521" y="2332"/>
                <a:chExt cx="953" cy="396"/>
              </a:xfrm>
            </p:grpSpPr>
            <p:sp>
              <p:nvSpPr>
                <p:cNvPr id="58382" name="矩形 1169421"/>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I</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/I</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800"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383" name="组合 1169422"/>
                <p:cNvGrpSpPr/>
                <p:nvPr/>
              </p:nvGrpSpPr>
              <p:grpSpPr>
                <a:xfrm>
                  <a:off x="748" y="2367"/>
                  <a:ext cx="136" cy="91"/>
                  <a:chOff x="3744" y="2646"/>
                  <a:chExt cx="192" cy="96"/>
                </a:xfrm>
              </p:grpSpPr>
              <p:sp>
                <p:nvSpPr>
                  <p:cNvPr id="58384" name="椭圆 116942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385" name="直接连接符 116942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8386" name="组合 1169425"/>
              <p:cNvGrpSpPr/>
              <p:nvPr/>
            </p:nvGrpSpPr>
            <p:grpSpPr>
              <a:xfrm>
                <a:off x="1292" y="1609"/>
                <a:ext cx="1134" cy="396"/>
                <a:chOff x="521" y="2332"/>
                <a:chExt cx="953" cy="396"/>
              </a:xfrm>
            </p:grpSpPr>
            <p:sp>
              <p:nvSpPr>
                <p:cNvPr id="58387" name="矩形 1169426"/>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Br</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/Br</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388" name="组合 1169427"/>
                <p:cNvGrpSpPr/>
                <p:nvPr/>
              </p:nvGrpSpPr>
              <p:grpSpPr>
                <a:xfrm>
                  <a:off x="748" y="2367"/>
                  <a:ext cx="136" cy="91"/>
                  <a:chOff x="3744" y="2646"/>
                  <a:chExt cx="192" cy="96"/>
                </a:xfrm>
              </p:grpSpPr>
              <p:sp>
                <p:nvSpPr>
                  <p:cNvPr id="58389" name="椭圆 1169428"/>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390" name="直接连接符 1169429"/>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8391" name="组合 1169430"/>
              <p:cNvGrpSpPr/>
              <p:nvPr/>
            </p:nvGrpSpPr>
            <p:grpSpPr>
              <a:xfrm>
                <a:off x="2109" y="1609"/>
                <a:ext cx="1134" cy="396"/>
                <a:chOff x="521" y="2332"/>
                <a:chExt cx="953" cy="396"/>
              </a:xfrm>
            </p:grpSpPr>
            <p:sp>
              <p:nvSpPr>
                <p:cNvPr id="58392" name="矩形 1169431"/>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Cl</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/Cl</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393" name="组合 1169432"/>
                <p:cNvGrpSpPr/>
                <p:nvPr/>
              </p:nvGrpSpPr>
              <p:grpSpPr>
                <a:xfrm>
                  <a:off x="748" y="2367"/>
                  <a:ext cx="136" cy="91"/>
                  <a:chOff x="3744" y="2646"/>
                  <a:chExt cx="192" cy="96"/>
                </a:xfrm>
              </p:grpSpPr>
              <p:sp>
                <p:nvSpPr>
                  <p:cNvPr id="58394" name="椭圆 116943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395" name="直接连接符 116943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8396" name="组合 1169435"/>
              <p:cNvGrpSpPr/>
              <p:nvPr/>
            </p:nvGrpSpPr>
            <p:grpSpPr>
              <a:xfrm>
                <a:off x="2971" y="1609"/>
                <a:ext cx="1134" cy="396"/>
                <a:chOff x="521" y="2332"/>
                <a:chExt cx="953" cy="396"/>
              </a:xfrm>
            </p:grpSpPr>
            <p:sp>
              <p:nvSpPr>
                <p:cNvPr id="58397" name="矩形 1169436"/>
                <p:cNvSpPr/>
                <p:nvPr/>
              </p:nvSpPr>
              <p:spPr>
                <a:xfrm>
                  <a:off x="521" y="2332"/>
                  <a:ext cx="953"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3+</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/Fe</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398" name="组合 1169437"/>
                <p:cNvGrpSpPr/>
                <p:nvPr/>
              </p:nvGrpSpPr>
              <p:grpSpPr>
                <a:xfrm>
                  <a:off x="748" y="2367"/>
                  <a:ext cx="136" cy="91"/>
                  <a:chOff x="3744" y="2646"/>
                  <a:chExt cx="192" cy="96"/>
                </a:xfrm>
              </p:grpSpPr>
              <p:sp>
                <p:nvSpPr>
                  <p:cNvPr id="58399" name="椭圆 1169438"/>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400" name="直接连接符 1169439"/>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8401" name="组合 1169440"/>
              <p:cNvGrpSpPr/>
              <p:nvPr/>
            </p:nvGrpSpPr>
            <p:grpSpPr>
              <a:xfrm>
                <a:off x="4059" y="1609"/>
                <a:ext cx="1270" cy="396"/>
                <a:chOff x="4059" y="1434"/>
                <a:chExt cx="1270" cy="396"/>
              </a:xfrm>
            </p:grpSpPr>
            <p:sp>
              <p:nvSpPr>
                <p:cNvPr id="58402" name="矩形 1169441"/>
                <p:cNvSpPr/>
                <p:nvPr/>
              </p:nvSpPr>
              <p:spPr>
                <a:xfrm>
                  <a:off x="4059" y="1434"/>
                  <a:ext cx="1270"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MnO</a:t>
                  </a:r>
                  <a:r>
                    <a:rPr lang="en-US" altLang="zh-CN" sz="2800" b="1" baseline="-44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4</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/Mn</a:t>
                  </a:r>
                  <a:r>
                    <a:rPr lang="en-US" altLang="zh-CN" sz="2800" b="1" baseline="-8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2+</a:t>
                  </a:r>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4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403" name="组合 1169442"/>
                <p:cNvGrpSpPr/>
                <p:nvPr/>
              </p:nvGrpSpPr>
              <p:grpSpPr>
                <a:xfrm>
                  <a:off x="4329" y="1469"/>
                  <a:ext cx="162" cy="91"/>
                  <a:chOff x="3744" y="2646"/>
                  <a:chExt cx="192" cy="96"/>
                </a:xfrm>
              </p:grpSpPr>
              <p:sp>
                <p:nvSpPr>
                  <p:cNvPr id="58404" name="椭圆 1169443"/>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405" name="直接连接符 1169444"/>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
          <p:nvSpPr>
            <p:cNvPr id="58406" name="矩形 1169445"/>
            <p:cNvSpPr/>
            <p:nvPr/>
          </p:nvSpPr>
          <p:spPr>
            <a:xfrm>
              <a:off x="521" y="2205"/>
              <a:ext cx="4400" cy="349"/>
            </a:xfrm>
            <a:prstGeom prst="rect">
              <a:avLst/>
            </a:prstGeom>
            <a:noFill/>
            <a:ln w="12700">
              <a:noFill/>
            </a:ln>
          </p:spPr>
          <p:txBody>
            <a:bodyPr anchor="t" anchorCtr="0">
              <a:spAutoFit/>
            </a:bodyPr>
            <a:lstStyle/>
            <a:p>
              <a:r>
                <a:rPr lang="en-US" altLang="zh-CN" sz="2400" b="1" dirty="0">
                  <a:solidFill>
                    <a:srgbClr val="FFFFFF"/>
                  </a:solidFill>
                  <a:latin typeface="Times New Roman" panose="02020603050405020304" pitchFamily="18" charset="0"/>
                  <a:ea typeface="黑体" panose="02010609060101010101" pitchFamily="49" charset="-122"/>
                </a:rPr>
                <a:t>0.535      1.065        1.3533       0.770               1.491</a:t>
              </a:r>
            </a:p>
          </p:txBody>
        </p:sp>
      </p:grpSp>
      <p:grpSp>
        <p:nvGrpSpPr>
          <p:cNvPr id="1169447" name="组合 1169446"/>
          <p:cNvGrpSpPr/>
          <p:nvPr/>
        </p:nvGrpSpPr>
        <p:grpSpPr>
          <a:xfrm>
            <a:off x="755650" y="3362325"/>
            <a:ext cx="8137525" cy="606425"/>
            <a:chOff x="476" y="2542"/>
            <a:chExt cx="5126" cy="458"/>
          </a:xfrm>
        </p:grpSpPr>
        <p:grpSp>
          <p:nvGrpSpPr>
            <p:cNvPr id="58408" name="组合 1169447"/>
            <p:cNvGrpSpPr/>
            <p:nvPr/>
          </p:nvGrpSpPr>
          <p:grpSpPr>
            <a:xfrm>
              <a:off x="3243" y="2542"/>
              <a:ext cx="726" cy="396"/>
              <a:chOff x="3651" y="2115"/>
              <a:chExt cx="726" cy="396"/>
            </a:xfrm>
          </p:grpSpPr>
          <p:sp>
            <p:nvSpPr>
              <p:cNvPr id="58409" name="矩形 1169448"/>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410" name="组合 1169449"/>
              <p:cNvGrpSpPr/>
              <p:nvPr/>
            </p:nvGrpSpPr>
            <p:grpSpPr>
              <a:xfrm>
                <a:off x="3858" y="2205"/>
                <a:ext cx="136" cy="91"/>
                <a:chOff x="3744" y="2646"/>
                <a:chExt cx="192" cy="96"/>
              </a:xfrm>
            </p:grpSpPr>
            <p:sp>
              <p:nvSpPr>
                <p:cNvPr id="58411" name="椭圆 116945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412" name="直接连接符 116945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8413" name="组合 1169452"/>
            <p:cNvGrpSpPr/>
            <p:nvPr/>
          </p:nvGrpSpPr>
          <p:grpSpPr>
            <a:xfrm>
              <a:off x="3968" y="2552"/>
              <a:ext cx="726" cy="396"/>
              <a:chOff x="3651" y="2115"/>
              <a:chExt cx="726" cy="396"/>
            </a:xfrm>
          </p:grpSpPr>
          <p:sp>
            <p:nvSpPr>
              <p:cNvPr id="58414" name="矩形 1169453"/>
              <p:cNvSpPr/>
              <p:nvPr/>
            </p:nvSpPr>
            <p:spPr>
              <a:xfrm>
                <a:off x="3651" y="2115"/>
                <a:ext cx="726"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aseline="-25000"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58415" name="组合 1169454"/>
              <p:cNvGrpSpPr/>
              <p:nvPr/>
            </p:nvGrpSpPr>
            <p:grpSpPr>
              <a:xfrm>
                <a:off x="3858" y="2205"/>
                <a:ext cx="136" cy="91"/>
                <a:chOff x="3744" y="2646"/>
                <a:chExt cx="192" cy="96"/>
              </a:xfrm>
            </p:grpSpPr>
            <p:sp>
              <p:nvSpPr>
                <p:cNvPr id="58416" name="椭圆 1169455"/>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8417" name="直接连接符 1169456"/>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8418" name="矩形 1169457"/>
            <p:cNvSpPr/>
            <p:nvPr/>
          </p:nvSpPr>
          <p:spPr>
            <a:xfrm>
              <a:off x="476" y="2604"/>
              <a:ext cx="5126" cy="396"/>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要使</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25000" dirty="0">
                  <a:solidFill>
                    <a:srgbClr val="FFFFFF"/>
                  </a:solidFill>
                  <a:latin typeface="Times New Roman" panose="02020603050405020304" pitchFamily="18" charset="0"/>
                  <a:ea typeface="黑体" panose="02010609060101010101" pitchFamily="49" charset="-122"/>
                </a:rPr>
                <a:t>2 </a:t>
              </a:r>
              <a:r>
                <a:rPr lang="zh-CN" altLang="en-US" sz="2800" b="1" dirty="0">
                  <a:solidFill>
                    <a:srgbClr val="FFFFFF"/>
                  </a:solidFill>
                  <a:latin typeface="Times New Roman" panose="02020603050405020304" pitchFamily="18" charset="0"/>
                  <a:ea typeface="黑体" panose="02010609060101010101" pitchFamily="49" charset="-122"/>
                </a:rPr>
                <a:t>，必须使 </a:t>
              </a:r>
              <a:r>
                <a:rPr lang="en-US" altLang="zh-CN" sz="2800" b="1" dirty="0">
                  <a:solidFill>
                    <a:srgbClr val="FFFFFF"/>
                  </a:solidFill>
                  <a:latin typeface="Times New Roman" panose="02020603050405020304" pitchFamily="18" charset="0"/>
                  <a:ea typeface="黑体" panose="02010609060101010101" pitchFamily="49" charset="-122"/>
                </a:rPr>
                <a:t>E =             -              &gt; 0</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9410"/>
                                        </p:tgtEl>
                                        <p:attrNameLst>
                                          <p:attrName>style.visibility</p:attrName>
                                        </p:attrNameLst>
                                      </p:cBhvr>
                                      <p:to>
                                        <p:strVal val="visible"/>
                                      </p:to>
                                    </p:set>
                                    <p:anim calcmode="lin" valueType="num">
                                      <p:cBhvr additive="base">
                                        <p:cTn id="7" dur="500" fill="hold"/>
                                        <p:tgtEl>
                                          <p:spTgt spid="1169410"/>
                                        </p:tgtEl>
                                        <p:attrNameLst>
                                          <p:attrName>ppt_x</p:attrName>
                                        </p:attrNameLst>
                                      </p:cBhvr>
                                      <p:tavLst>
                                        <p:tav tm="0">
                                          <p:val>
                                            <p:strVal val="#ppt_x"/>
                                          </p:val>
                                        </p:tav>
                                        <p:tav tm="100000">
                                          <p:val>
                                            <p:strVal val="#ppt_x"/>
                                          </p:val>
                                        </p:tav>
                                      </p:tavLst>
                                    </p:anim>
                                    <p:anim calcmode="lin" valueType="num">
                                      <p:cBhvr additive="base">
                                        <p:cTn id="8" dur="500" fill="hold"/>
                                        <p:tgtEl>
                                          <p:spTgt spid="11694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69411"/>
                                        </p:tgtEl>
                                        <p:attrNameLst>
                                          <p:attrName>style.visibility</p:attrName>
                                        </p:attrNameLst>
                                      </p:cBhvr>
                                      <p:to>
                                        <p:strVal val="visible"/>
                                      </p:to>
                                    </p:set>
                                    <p:anim calcmode="lin" valueType="num">
                                      <p:cBhvr additive="base">
                                        <p:cTn id="13" dur="500" fill="hold"/>
                                        <p:tgtEl>
                                          <p:spTgt spid="1169411"/>
                                        </p:tgtEl>
                                        <p:attrNameLst>
                                          <p:attrName>ppt_x</p:attrName>
                                        </p:attrNameLst>
                                      </p:cBhvr>
                                      <p:tavLst>
                                        <p:tav tm="0">
                                          <p:val>
                                            <p:strVal val="#ppt_x"/>
                                          </p:val>
                                        </p:tav>
                                        <p:tav tm="100000">
                                          <p:val>
                                            <p:strVal val="#ppt_x"/>
                                          </p:val>
                                        </p:tav>
                                      </p:tavLst>
                                    </p:anim>
                                    <p:anim calcmode="lin" valueType="num">
                                      <p:cBhvr additive="base">
                                        <p:cTn id="14" dur="500" fill="hold"/>
                                        <p:tgtEl>
                                          <p:spTgt spid="11694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1169419"/>
                                        </p:tgtEl>
                                        <p:attrNameLst>
                                          <p:attrName>style.visibility</p:attrName>
                                        </p:attrNameLst>
                                      </p:cBhvr>
                                      <p:to>
                                        <p:strVal val="visible"/>
                                      </p:to>
                                    </p:set>
                                    <p:animEffect transition="in" filter="checkerboard(across)">
                                      <p:cBhvr>
                                        <p:cTn id="19" dur="500"/>
                                        <p:tgtEl>
                                          <p:spTgt spid="11694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69447"/>
                                        </p:tgtEl>
                                        <p:attrNameLst>
                                          <p:attrName>style.visibility</p:attrName>
                                        </p:attrNameLst>
                                      </p:cBhvr>
                                      <p:to>
                                        <p:strVal val="visible"/>
                                      </p:to>
                                    </p:set>
                                    <p:anim calcmode="lin" valueType="num">
                                      <p:cBhvr additive="base">
                                        <p:cTn id="24" dur="500" fill="hold"/>
                                        <p:tgtEl>
                                          <p:spTgt spid="1169447"/>
                                        </p:tgtEl>
                                        <p:attrNameLst>
                                          <p:attrName>ppt_x</p:attrName>
                                        </p:attrNameLst>
                                      </p:cBhvr>
                                      <p:tavLst>
                                        <p:tav tm="0">
                                          <p:val>
                                            <p:strVal val="#ppt_x"/>
                                          </p:val>
                                        </p:tav>
                                        <p:tav tm="100000">
                                          <p:val>
                                            <p:strVal val="#ppt_x"/>
                                          </p:val>
                                        </p:tav>
                                      </p:tavLst>
                                    </p:anim>
                                    <p:anim calcmode="lin" valueType="num">
                                      <p:cBhvr additive="base">
                                        <p:cTn id="25" dur="500" fill="hold"/>
                                        <p:tgtEl>
                                          <p:spTgt spid="11694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4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44</a:t>
            </a:fld>
            <a:endParaRPr lang="zh-CN" altLang="en-US" sz="1400" dirty="0">
              <a:solidFill>
                <a:srgbClr val="FFFFFF"/>
              </a:solidFill>
              <a:latin typeface="Times New Roman" panose="02020603050405020304" pitchFamily="18" charset="0"/>
              <a:ea typeface="宋体" panose="02010600030101010101" pitchFamily="2" charset="-122"/>
            </a:endParaRPr>
          </a:p>
        </p:txBody>
      </p:sp>
      <p:grpSp>
        <p:nvGrpSpPr>
          <p:cNvPr id="1170434" name="组合 1170433"/>
          <p:cNvGrpSpPr/>
          <p:nvPr/>
        </p:nvGrpSpPr>
        <p:grpSpPr>
          <a:xfrm>
            <a:off x="611188" y="157163"/>
            <a:ext cx="8137525" cy="2462212"/>
            <a:chOff x="385" y="119"/>
            <a:chExt cx="5126" cy="1861"/>
          </a:xfrm>
        </p:grpSpPr>
        <p:sp>
          <p:nvSpPr>
            <p:cNvPr id="59395" name="文本框 1170434"/>
            <p:cNvSpPr txBox="1"/>
            <p:nvPr/>
          </p:nvSpPr>
          <p:spPr>
            <a:xfrm>
              <a:off x="703" y="935"/>
              <a:ext cx="1996" cy="349"/>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59396" name="矩形 1170435"/>
            <p:cNvSpPr/>
            <p:nvPr/>
          </p:nvSpPr>
          <p:spPr>
            <a:xfrm>
              <a:off x="385" y="119"/>
              <a:ext cx="5126" cy="1861"/>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若选择</a:t>
              </a:r>
              <a:r>
                <a:rPr lang="en-US" altLang="zh-CN" sz="2800" b="1" dirty="0">
                  <a:solidFill>
                    <a:srgbClr val="FFFFFF"/>
                  </a:solidFill>
                  <a:latin typeface="Times New Roman" panose="02020603050405020304" pitchFamily="18" charset="0"/>
                  <a:ea typeface="黑体" panose="02010609060101010101" pitchFamily="49" charset="-122"/>
                </a:rPr>
                <a:t>Fe</a:t>
              </a:r>
              <a:r>
                <a:rPr lang="en-US" altLang="zh-CN" sz="2800" b="1" baseline="30000"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作氧作剂，</a:t>
              </a:r>
            </a:p>
            <a:p>
              <a:pPr>
                <a:lnSpc>
                  <a:spcPct val="150000"/>
                </a:lnSpc>
              </a:pPr>
              <a:r>
                <a:rPr lang="zh-CN" altLang="en-US" sz="2800" b="1" dirty="0">
                  <a:solidFill>
                    <a:srgbClr val="FFFFFF"/>
                  </a:solidFill>
                  <a:latin typeface="Times New Roman" panose="02020603050405020304" pitchFamily="18" charset="0"/>
                  <a:ea typeface="黑体" panose="02010609060101010101" pitchFamily="49" charset="-122"/>
                </a:rPr>
                <a:t>        则    </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0.770 - 0.535 = 0.235 &gt; 0</a:t>
              </a:r>
            </a:p>
            <a:p>
              <a:pPr>
                <a:lnSpc>
                  <a:spcPct val="150000"/>
                </a:lnSpc>
              </a:pPr>
              <a:r>
                <a:rPr lang="en-US" altLang="zh-CN" sz="2800" b="1" dirty="0">
                  <a:solidFill>
                    <a:srgbClr val="FFFFFF"/>
                  </a:solidFill>
                  <a:latin typeface="Times New Roman" panose="02020603050405020304" pitchFamily="18" charset="0"/>
                  <a:ea typeface="黑体" panose="02010609060101010101" pitchFamily="49" charset="-122"/>
                </a:rPr>
                <a:t>             Br</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 0.770 - 1.065 &lt; 0</a:t>
              </a:r>
            </a:p>
            <a:p>
              <a:pPr>
                <a:lnSpc>
                  <a:spcPct val="150000"/>
                </a:lnSpc>
              </a:pPr>
              <a:r>
                <a:rPr lang="en-US" altLang="zh-CN" sz="2800" b="1" dirty="0">
                  <a:solidFill>
                    <a:srgbClr val="FFFFFF"/>
                  </a:solidFill>
                  <a:latin typeface="Times New Roman" panose="02020603050405020304" pitchFamily="18" charset="0"/>
                  <a:ea typeface="黑体" panose="02010609060101010101" pitchFamily="49" charset="-122"/>
                </a:rPr>
                <a:t>             Cl</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 0.770 - </a:t>
              </a:r>
              <a:r>
                <a:rPr lang="en-US" altLang="zh-CN" sz="2000" dirty="0">
                  <a:solidFill>
                    <a:srgbClr val="1C1C1C"/>
                  </a:solidFill>
                  <a:latin typeface="宋体" panose="02010600030101010101" pitchFamily="2" charset="-122"/>
                  <a:ea typeface="宋体" panose="02010600030101010101" pitchFamily="2" charset="-122"/>
                </a:rPr>
                <a:t> </a:t>
              </a:r>
              <a:r>
                <a:rPr lang="en-US" altLang="zh-CN" sz="2800" b="1" dirty="0">
                  <a:solidFill>
                    <a:srgbClr val="FFFFFF"/>
                  </a:solidFill>
                  <a:latin typeface="Times New Roman" panose="02020603050405020304" pitchFamily="18" charset="0"/>
                  <a:ea typeface="黑体" panose="02010609060101010101" pitchFamily="49" charset="-122"/>
                </a:rPr>
                <a:t>1.3533</a:t>
              </a:r>
              <a:r>
                <a:rPr lang="en-US" altLang="zh-CN" sz="2000" dirty="0">
                  <a:solidFill>
                    <a:srgbClr val="1C1C1C"/>
                  </a:solidFill>
                  <a:latin typeface="宋体" panose="02010600030101010101" pitchFamily="2" charset="-122"/>
                  <a:ea typeface="宋体" panose="02010600030101010101" pitchFamily="2" charset="-122"/>
                </a:rPr>
                <a:t> </a:t>
              </a:r>
              <a:r>
                <a:rPr lang="en-US" altLang="zh-CN" sz="2800" b="1" dirty="0">
                  <a:solidFill>
                    <a:srgbClr val="FFFFFF"/>
                  </a:solidFill>
                  <a:latin typeface="Times New Roman" panose="02020603050405020304" pitchFamily="18" charset="0"/>
                  <a:ea typeface="黑体" panose="02010609060101010101" pitchFamily="49" charset="-122"/>
                </a:rPr>
                <a:t> &lt; 0</a:t>
              </a:r>
            </a:p>
          </p:txBody>
        </p:sp>
        <p:grpSp>
          <p:nvGrpSpPr>
            <p:cNvPr id="59397" name="组合 1170436"/>
            <p:cNvGrpSpPr/>
            <p:nvPr/>
          </p:nvGrpSpPr>
          <p:grpSpPr>
            <a:xfrm>
              <a:off x="1791" y="472"/>
              <a:ext cx="635" cy="396"/>
              <a:chOff x="1474" y="2840"/>
              <a:chExt cx="635" cy="396"/>
            </a:xfrm>
          </p:grpSpPr>
          <p:sp>
            <p:nvSpPr>
              <p:cNvPr id="59398" name="文本框 1170437"/>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399" name="组合 1170438"/>
              <p:cNvGrpSpPr/>
              <p:nvPr/>
            </p:nvGrpSpPr>
            <p:grpSpPr>
              <a:xfrm>
                <a:off x="1655" y="2886"/>
                <a:ext cx="127" cy="46"/>
                <a:chOff x="3744" y="2646"/>
                <a:chExt cx="192" cy="96"/>
              </a:xfrm>
            </p:grpSpPr>
            <p:sp>
              <p:nvSpPr>
                <p:cNvPr id="59400" name="椭圆 1170439"/>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01" name="直接连接符 1170440"/>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9402" name="组合 1170441"/>
            <p:cNvGrpSpPr/>
            <p:nvPr/>
          </p:nvGrpSpPr>
          <p:grpSpPr>
            <a:xfrm>
              <a:off x="1791" y="890"/>
              <a:ext cx="635" cy="396"/>
              <a:chOff x="1474" y="2840"/>
              <a:chExt cx="635" cy="396"/>
            </a:xfrm>
          </p:grpSpPr>
          <p:sp>
            <p:nvSpPr>
              <p:cNvPr id="59403" name="文本框 1170442"/>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404" name="组合 1170443"/>
              <p:cNvGrpSpPr/>
              <p:nvPr/>
            </p:nvGrpSpPr>
            <p:grpSpPr>
              <a:xfrm>
                <a:off x="1655" y="2886"/>
                <a:ext cx="127" cy="46"/>
                <a:chOff x="3744" y="2646"/>
                <a:chExt cx="192" cy="96"/>
              </a:xfrm>
            </p:grpSpPr>
            <p:sp>
              <p:nvSpPr>
                <p:cNvPr id="59405" name="椭圆 1170444"/>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06" name="直接连接符 1170445"/>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9407" name="组合 1170446"/>
            <p:cNvGrpSpPr/>
            <p:nvPr/>
          </p:nvGrpSpPr>
          <p:grpSpPr>
            <a:xfrm>
              <a:off x="1791" y="1289"/>
              <a:ext cx="635" cy="396"/>
              <a:chOff x="1474" y="2840"/>
              <a:chExt cx="635" cy="396"/>
            </a:xfrm>
          </p:grpSpPr>
          <p:sp>
            <p:nvSpPr>
              <p:cNvPr id="59408" name="文本框 1170447"/>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409" name="组合 1170448"/>
              <p:cNvGrpSpPr/>
              <p:nvPr/>
            </p:nvGrpSpPr>
            <p:grpSpPr>
              <a:xfrm>
                <a:off x="1655" y="2886"/>
                <a:ext cx="127" cy="46"/>
                <a:chOff x="3744" y="2646"/>
                <a:chExt cx="192" cy="96"/>
              </a:xfrm>
            </p:grpSpPr>
            <p:sp>
              <p:nvSpPr>
                <p:cNvPr id="59410" name="椭圆 1170449"/>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11" name="直接连接符 1170450"/>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
        <p:nvSpPr>
          <p:cNvPr id="1170452" name="矩形 1170451"/>
          <p:cNvSpPr/>
          <p:nvPr/>
        </p:nvSpPr>
        <p:spPr>
          <a:xfrm>
            <a:off x="611188" y="2365375"/>
            <a:ext cx="4752975"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若选择</a:t>
            </a:r>
            <a:r>
              <a:rPr lang="en-US" altLang="zh-CN" sz="2800" b="1" dirty="0">
                <a:solidFill>
                  <a:srgbClr val="FFFFFF"/>
                </a:solidFill>
                <a:latin typeface="Times New Roman" panose="02020603050405020304" pitchFamily="18" charset="0"/>
                <a:ea typeface="黑体" panose="02010609060101010101" pitchFamily="49" charset="-122"/>
              </a:rPr>
              <a:t>KMnO</a:t>
            </a:r>
            <a:r>
              <a:rPr lang="en-US" altLang="zh-CN" sz="2800" b="1" baseline="-25000" dirty="0">
                <a:solidFill>
                  <a:srgbClr val="FFFFFF"/>
                </a:solidFill>
                <a:latin typeface="Times New Roman" panose="02020603050405020304" pitchFamily="18" charset="0"/>
                <a:ea typeface="黑体" panose="02010609060101010101" pitchFamily="49" charset="-122"/>
              </a:rPr>
              <a:t>4</a:t>
            </a:r>
            <a:r>
              <a:rPr lang="zh-CN" altLang="en-US" sz="2800" b="1" dirty="0">
                <a:solidFill>
                  <a:srgbClr val="FFFFFF"/>
                </a:solidFill>
                <a:latin typeface="Times New Roman" panose="02020603050405020304" pitchFamily="18" charset="0"/>
                <a:ea typeface="黑体" panose="02010609060101010101" pitchFamily="49" charset="-122"/>
              </a:rPr>
              <a:t>作氧化剂</a:t>
            </a:r>
          </a:p>
        </p:txBody>
      </p:sp>
      <p:grpSp>
        <p:nvGrpSpPr>
          <p:cNvPr id="1170453" name="组合 1170452"/>
          <p:cNvGrpSpPr/>
          <p:nvPr/>
        </p:nvGrpSpPr>
        <p:grpSpPr>
          <a:xfrm>
            <a:off x="468313" y="2917825"/>
            <a:ext cx="8137525" cy="1901825"/>
            <a:chOff x="295" y="2205"/>
            <a:chExt cx="5126" cy="1438"/>
          </a:xfrm>
        </p:grpSpPr>
        <p:grpSp>
          <p:nvGrpSpPr>
            <p:cNvPr id="59414" name="组合 1170453"/>
            <p:cNvGrpSpPr/>
            <p:nvPr/>
          </p:nvGrpSpPr>
          <p:grpSpPr>
            <a:xfrm>
              <a:off x="1882" y="2341"/>
              <a:ext cx="635" cy="396"/>
              <a:chOff x="1474" y="2840"/>
              <a:chExt cx="635" cy="396"/>
            </a:xfrm>
          </p:grpSpPr>
          <p:sp>
            <p:nvSpPr>
              <p:cNvPr id="59415" name="文本框 1170454"/>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416" name="组合 1170455"/>
              <p:cNvGrpSpPr/>
              <p:nvPr/>
            </p:nvGrpSpPr>
            <p:grpSpPr>
              <a:xfrm>
                <a:off x="1655" y="2886"/>
                <a:ext cx="127" cy="46"/>
                <a:chOff x="3744" y="2646"/>
                <a:chExt cx="192" cy="96"/>
              </a:xfrm>
            </p:grpSpPr>
            <p:sp>
              <p:nvSpPr>
                <p:cNvPr id="59417" name="椭圆 117045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18" name="直接连接符 117045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9419" name="组合 1170458"/>
            <p:cNvGrpSpPr/>
            <p:nvPr/>
          </p:nvGrpSpPr>
          <p:grpSpPr>
            <a:xfrm>
              <a:off x="1882" y="2704"/>
              <a:ext cx="635" cy="396"/>
              <a:chOff x="1474" y="2840"/>
              <a:chExt cx="635" cy="396"/>
            </a:xfrm>
          </p:grpSpPr>
          <p:sp>
            <p:nvSpPr>
              <p:cNvPr id="59420" name="文本框 1170459"/>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421" name="组合 1170460"/>
              <p:cNvGrpSpPr/>
              <p:nvPr/>
            </p:nvGrpSpPr>
            <p:grpSpPr>
              <a:xfrm>
                <a:off x="1655" y="2886"/>
                <a:ext cx="127" cy="46"/>
                <a:chOff x="3744" y="2646"/>
                <a:chExt cx="192" cy="96"/>
              </a:xfrm>
            </p:grpSpPr>
            <p:sp>
              <p:nvSpPr>
                <p:cNvPr id="59422" name="椭圆 1170461"/>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23" name="直接连接符 1170462"/>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nvGrpSpPr>
            <p:cNvPr id="59424" name="组合 1170463"/>
            <p:cNvGrpSpPr/>
            <p:nvPr/>
          </p:nvGrpSpPr>
          <p:grpSpPr>
            <a:xfrm>
              <a:off x="1927" y="3112"/>
              <a:ext cx="635" cy="396"/>
              <a:chOff x="1474" y="2840"/>
              <a:chExt cx="635" cy="396"/>
            </a:xfrm>
          </p:grpSpPr>
          <p:sp>
            <p:nvSpPr>
              <p:cNvPr id="59425" name="文本框 1170464"/>
              <p:cNvSpPr txBox="1"/>
              <p:nvPr/>
            </p:nvSpPr>
            <p:spPr>
              <a:xfrm>
                <a:off x="1474" y="2840"/>
                <a:ext cx="635" cy="396"/>
              </a:xfrm>
              <a:prstGeom prst="rect">
                <a:avLst/>
              </a:prstGeom>
              <a:noFill/>
              <a:ln w="9525">
                <a:noFill/>
              </a:ln>
            </p:spPr>
            <p:txBody>
              <a:bodyPr anchor="t" anchorCtr="0">
                <a:spAutoFit/>
              </a:bodyPr>
              <a:lstStyle/>
              <a:p>
                <a:pPr>
                  <a:spcBef>
                    <a:spcPct val="50000"/>
                  </a:spcBef>
                </a:pPr>
                <a:r>
                  <a:rPr lang="en-US" altLang="zh-CN" sz="2800" dirty="0">
                    <a:solidFill>
                      <a:srgbClr val="FFFFFF"/>
                    </a:solidFill>
                    <a:latin typeface="Times New Roman" panose="02020603050405020304" pitchFamily="18" charset="0"/>
                    <a:ea typeface="宋体" panose="02010600030101010101" pitchFamily="2" charset="-122"/>
                  </a:rPr>
                  <a:t>E  </a:t>
                </a:r>
              </a:p>
            </p:txBody>
          </p:sp>
          <p:grpSp>
            <p:nvGrpSpPr>
              <p:cNvPr id="59426" name="组合 1170465"/>
              <p:cNvGrpSpPr/>
              <p:nvPr/>
            </p:nvGrpSpPr>
            <p:grpSpPr>
              <a:xfrm>
                <a:off x="1655" y="2886"/>
                <a:ext cx="127" cy="46"/>
                <a:chOff x="3744" y="2646"/>
                <a:chExt cx="192" cy="96"/>
              </a:xfrm>
            </p:grpSpPr>
            <p:sp>
              <p:nvSpPr>
                <p:cNvPr id="59427" name="椭圆 1170466"/>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59428" name="直接连接符 1170467"/>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sp>
          <p:nvSpPr>
            <p:cNvPr id="59429" name="矩形 1170468"/>
            <p:cNvSpPr/>
            <p:nvPr/>
          </p:nvSpPr>
          <p:spPr>
            <a:xfrm>
              <a:off x="295" y="2205"/>
              <a:ext cx="5126" cy="1438"/>
            </a:xfrm>
            <a:prstGeom prst="rect">
              <a:avLst/>
            </a:prstGeom>
            <a:noFill/>
            <a:ln w="12700">
              <a:noFill/>
            </a:ln>
          </p:spPr>
          <p:txBody>
            <a:bodyPr anchor="t" anchorCtr="0">
              <a:spAutoFit/>
            </a:bodyPr>
            <a:lstStyle/>
            <a:p>
              <a:pPr>
                <a:lnSpc>
                  <a:spcPct val="140000"/>
                </a:lnSpc>
              </a:pPr>
              <a:r>
                <a:rPr lang="zh-CN" altLang="en-US" sz="2800" b="1" dirty="0">
                  <a:solidFill>
                    <a:srgbClr val="FFFFFF"/>
                  </a:solidFill>
                  <a:latin typeface="Times New Roman" panose="02020603050405020304" pitchFamily="18" charset="0"/>
                  <a:ea typeface="黑体" panose="02010609060101010101" pitchFamily="49" charset="-122"/>
                </a:rPr>
                <a:t>      则    对</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baseline="-25000"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1.491 - 0.535 &gt; 0</a:t>
              </a:r>
            </a:p>
            <a:p>
              <a:pPr>
                <a:lnSpc>
                  <a:spcPct val="140000"/>
                </a:lnSpc>
              </a:pPr>
              <a:r>
                <a:rPr lang="zh-CN" altLang="en-US" sz="2800" b="1" dirty="0">
                  <a:solidFill>
                    <a:srgbClr val="FFFFFF"/>
                  </a:solidFill>
                  <a:latin typeface="Times New Roman" panose="02020603050405020304" pitchFamily="18" charset="0"/>
                  <a:ea typeface="黑体" panose="02010609060101010101" pitchFamily="49" charset="-122"/>
                </a:rPr>
                <a:t>           对</a:t>
              </a:r>
              <a:r>
                <a:rPr lang="en-US" altLang="zh-CN" sz="2800" b="1" dirty="0">
                  <a:solidFill>
                    <a:srgbClr val="FFFFFF"/>
                  </a:solidFill>
                  <a:latin typeface="Times New Roman" panose="02020603050405020304" pitchFamily="18" charset="0"/>
                  <a:ea typeface="黑体" panose="02010609060101010101" pitchFamily="49" charset="-122"/>
                </a:rPr>
                <a:t>Br</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 1.491 - 1.065 &gt; 0</a:t>
              </a:r>
            </a:p>
            <a:p>
              <a:pPr>
                <a:lnSpc>
                  <a:spcPct val="140000"/>
                </a:lnSpc>
              </a:pPr>
              <a:r>
                <a:rPr lang="zh-CN" altLang="en-US" sz="2800" b="1" dirty="0">
                  <a:solidFill>
                    <a:srgbClr val="FFFFFF"/>
                  </a:solidFill>
                  <a:latin typeface="Times New Roman" panose="02020603050405020304" pitchFamily="18" charset="0"/>
                  <a:ea typeface="黑体" panose="02010609060101010101" pitchFamily="49" charset="-122"/>
                </a:rPr>
                <a:t>           对</a:t>
              </a:r>
              <a:r>
                <a:rPr lang="en-US" altLang="zh-CN" sz="2800" b="1" dirty="0">
                  <a:solidFill>
                    <a:srgbClr val="FFFFFF"/>
                  </a:solidFill>
                  <a:latin typeface="Times New Roman" panose="02020603050405020304" pitchFamily="18" charset="0"/>
                  <a:ea typeface="黑体" panose="02010609060101010101" pitchFamily="49" charset="-122"/>
                </a:rPr>
                <a:t>Cl</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 1.491 - 0.535 &gt; 0</a:t>
              </a:r>
            </a:p>
          </p:txBody>
        </p:sp>
      </p:grpSp>
      <p:sp>
        <p:nvSpPr>
          <p:cNvPr id="1170470" name="矩形 1170469"/>
          <p:cNvSpPr/>
          <p:nvPr/>
        </p:nvSpPr>
        <p:spPr>
          <a:xfrm>
            <a:off x="1117600" y="4765675"/>
            <a:ext cx="6767513" cy="522288"/>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 </a:t>
            </a:r>
            <a:r>
              <a:rPr lang="zh-CN" altLang="en-US" sz="2800" b="1" dirty="0">
                <a:solidFill>
                  <a:srgbClr val="FFFFFF"/>
                </a:solidFill>
                <a:latin typeface="Times New Roman" panose="02020603050405020304" pitchFamily="18" charset="0"/>
                <a:ea typeface="黑体" panose="02010609060101010101" pitchFamily="49" charset="-122"/>
              </a:rPr>
              <a:t>选择</a:t>
            </a:r>
            <a:r>
              <a:rPr lang="en-US" altLang="zh-CN" sz="2800" b="1" dirty="0">
                <a:solidFill>
                  <a:srgbClr val="FFFFFF"/>
                </a:solidFill>
                <a:latin typeface="Times New Roman" panose="02020603050405020304" pitchFamily="18" charset="0"/>
                <a:ea typeface="黑体" panose="02010609060101010101" pitchFamily="49" charset="-122"/>
              </a:rPr>
              <a:t>Fe</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en-US" altLang="zh-CN" sz="2800" b="1" dirty="0">
                <a:solidFill>
                  <a:srgbClr val="FFFFFF"/>
                </a:solidFill>
                <a:latin typeface="Times New Roman" panose="02020603050405020304" pitchFamily="18" charset="0"/>
                <a:ea typeface="黑体" panose="02010609060101010101" pitchFamily="49" charset="-122"/>
              </a:rPr>
              <a:t>(SO</a:t>
            </a:r>
            <a:r>
              <a:rPr lang="en-US" altLang="zh-CN" sz="2800" b="1" baseline="-25000" dirty="0">
                <a:solidFill>
                  <a:srgbClr val="FFFFFF"/>
                </a:solidFill>
                <a:latin typeface="Times New Roman" panose="02020603050405020304" pitchFamily="18" charset="0"/>
                <a:ea typeface="黑体" panose="02010609060101010101" pitchFamily="49" charset="-122"/>
              </a:rPr>
              <a:t>4</a:t>
            </a:r>
            <a:r>
              <a:rPr lang="en-US" altLang="zh-CN" sz="2800" b="1" dirty="0">
                <a:solidFill>
                  <a:srgbClr val="FFFFFF"/>
                </a:solidFill>
                <a:latin typeface="Times New Roman" panose="02020603050405020304" pitchFamily="18" charset="0"/>
                <a:ea typeface="黑体" panose="02010609060101010101" pitchFamily="49" charset="-122"/>
              </a:rPr>
              <a:t>)</a:t>
            </a:r>
            <a:r>
              <a:rPr lang="en-US" altLang="zh-CN" sz="2800" b="1" baseline="-25000" dirty="0">
                <a:solidFill>
                  <a:srgbClr val="FFFFFF"/>
                </a:solidFill>
                <a:latin typeface="Times New Roman" panose="02020603050405020304" pitchFamily="18" charset="0"/>
                <a:ea typeface="黑体" panose="02010609060101010101" pitchFamily="49" charset="-122"/>
              </a:rPr>
              <a:t>3</a:t>
            </a:r>
            <a:r>
              <a:rPr lang="zh-CN" altLang="en-US" sz="2800" b="1" dirty="0">
                <a:solidFill>
                  <a:srgbClr val="FFFFFF"/>
                </a:solidFill>
                <a:latin typeface="Times New Roman" panose="02020603050405020304" pitchFamily="18" charset="0"/>
                <a:ea typeface="黑体" panose="02010609060101010101" pitchFamily="49" charset="-122"/>
              </a:rPr>
              <a:t>作氧化剂满足上述要求</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70434"/>
                                        </p:tgtEl>
                                        <p:attrNameLst>
                                          <p:attrName>style.visibility</p:attrName>
                                        </p:attrNameLst>
                                      </p:cBhvr>
                                      <p:to>
                                        <p:strVal val="visible"/>
                                      </p:to>
                                    </p:set>
                                    <p:animEffect transition="in" filter="blinds(horizontal)">
                                      <p:cBhvr>
                                        <p:cTn id="7" dur="500"/>
                                        <p:tgtEl>
                                          <p:spTgt spid="117043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70452"/>
                                        </p:tgtEl>
                                        <p:attrNameLst>
                                          <p:attrName>style.visibility</p:attrName>
                                        </p:attrNameLst>
                                      </p:cBhvr>
                                      <p:to>
                                        <p:strVal val="visible"/>
                                      </p:to>
                                    </p:set>
                                    <p:anim calcmode="lin" valueType="num">
                                      <p:cBhvr additive="base">
                                        <p:cTn id="12" dur="500" fill="hold"/>
                                        <p:tgtEl>
                                          <p:spTgt spid="1170452"/>
                                        </p:tgtEl>
                                        <p:attrNameLst>
                                          <p:attrName>ppt_x</p:attrName>
                                        </p:attrNameLst>
                                      </p:cBhvr>
                                      <p:tavLst>
                                        <p:tav tm="0">
                                          <p:val>
                                            <p:strVal val="#ppt_x"/>
                                          </p:val>
                                        </p:tav>
                                        <p:tav tm="100000">
                                          <p:val>
                                            <p:strVal val="#ppt_x"/>
                                          </p:val>
                                        </p:tav>
                                      </p:tavLst>
                                    </p:anim>
                                    <p:anim calcmode="lin" valueType="num">
                                      <p:cBhvr additive="base">
                                        <p:cTn id="13" dur="500" fill="hold"/>
                                        <p:tgtEl>
                                          <p:spTgt spid="117045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170453"/>
                                        </p:tgtEl>
                                        <p:attrNameLst>
                                          <p:attrName>style.visibility</p:attrName>
                                        </p:attrNameLst>
                                      </p:cBhvr>
                                      <p:to>
                                        <p:strVal val="visible"/>
                                      </p:to>
                                    </p:set>
                                    <p:animEffect transition="in" filter="box(in)">
                                      <p:cBhvr>
                                        <p:cTn id="18" dur="500"/>
                                        <p:tgtEl>
                                          <p:spTgt spid="117045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170470"/>
                                        </p:tgtEl>
                                        <p:attrNameLst>
                                          <p:attrName>style.visibility</p:attrName>
                                        </p:attrNameLst>
                                      </p:cBhvr>
                                      <p:to>
                                        <p:strVal val="visible"/>
                                      </p:to>
                                    </p:set>
                                    <p:animEffect transition="in" filter="checkerboard(across)">
                                      <p:cBhvr>
                                        <p:cTn id="23" dur="500"/>
                                        <p:tgtEl>
                                          <p:spTgt spid="1170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452" grpId="0"/>
      <p:bldP spid="117047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45</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1240067" name="文本框 1240066"/>
          <p:cNvSpPr txBox="1"/>
          <p:nvPr/>
        </p:nvSpPr>
        <p:spPr>
          <a:xfrm>
            <a:off x="612775" y="517525"/>
            <a:ext cx="8135938" cy="1384300"/>
          </a:xfrm>
          <a:prstGeom prst="rect">
            <a:avLst/>
          </a:prstGeom>
          <a:noFill/>
          <a:ln w="9525">
            <a:noFill/>
          </a:ln>
        </p:spPr>
        <p:txBody>
          <a:bodyPr anchor="t" anchorCtr="0">
            <a:spAutoFit/>
          </a:bodyPr>
          <a:lstStyle/>
          <a:p>
            <a:pPr>
              <a:spcBef>
                <a:spcPct val="50000"/>
              </a:spcBef>
            </a:pPr>
            <a:r>
              <a:rPr lang="zh-CN" altLang="en-US" sz="2800" b="1" dirty="0">
                <a:solidFill>
                  <a:srgbClr val="FFFFFF"/>
                </a:solidFill>
                <a:latin typeface="Times New Roman" panose="02020603050405020304" pitchFamily="18" charset="0"/>
                <a:ea typeface="黑体" panose="02010609060101010101" pitchFamily="49" charset="-122"/>
              </a:rPr>
              <a:t>        对照它们的电极电势差（电动势）可知，</a:t>
            </a:r>
            <a:r>
              <a:rPr lang="zh-CN" altLang="en-US" sz="2800" b="1" dirty="0">
                <a:solidFill>
                  <a:srgbClr val="FFFF00"/>
                </a:solidFill>
                <a:latin typeface="Times New Roman" panose="02020603050405020304" pitchFamily="18" charset="0"/>
                <a:ea typeface="黑体" panose="02010609060101010101" pitchFamily="49" charset="-122"/>
              </a:rPr>
              <a:t>差值越大，越先被氧化</a:t>
            </a:r>
            <a:r>
              <a:rPr lang="zh-CN" altLang="en-US" sz="2800" b="1" dirty="0">
                <a:solidFill>
                  <a:srgbClr val="FFFFFF"/>
                </a:solidFill>
                <a:latin typeface="Times New Roman" panose="02020603050405020304" pitchFamily="18" charset="0"/>
                <a:ea typeface="黑体" panose="02010609060101010101" pitchFamily="49" charset="-122"/>
              </a:rPr>
              <a:t>，所以一种氧化剂在氧化几种还原剂时，首先氧化</a:t>
            </a:r>
            <a:r>
              <a:rPr lang="zh-CN" altLang="en-US" sz="2800" b="1" dirty="0">
                <a:solidFill>
                  <a:srgbClr val="FFFF00"/>
                </a:solidFill>
                <a:latin typeface="Times New Roman" panose="02020603050405020304" pitchFamily="18" charset="0"/>
                <a:ea typeface="黑体" panose="02010609060101010101" pitchFamily="49" charset="-122"/>
              </a:rPr>
              <a:t>最强的还原剂</a:t>
            </a:r>
            <a:endParaRPr lang="en-US" altLang="zh-CN" sz="2800" b="1" dirty="0">
              <a:solidFill>
                <a:srgbClr val="FFFF00"/>
              </a:solidFill>
              <a:latin typeface="Times New Roman" panose="02020603050405020304" pitchFamily="18" charset="0"/>
              <a:ea typeface="黑体" panose="02010609060101010101" pitchFamily="49" charset="-122"/>
            </a:endParaRPr>
          </a:p>
        </p:txBody>
      </p:sp>
      <p:sp>
        <p:nvSpPr>
          <p:cNvPr id="1240068" name="文本框 1240067"/>
          <p:cNvSpPr txBox="1"/>
          <p:nvPr/>
        </p:nvSpPr>
        <p:spPr>
          <a:xfrm>
            <a:off x="684213" y="1957388"/>
            <a:ext cx="7127875" cy="523875"/>
          </a:xfrm>
          <a:prstGeom prst="rect">
            <a:avLst/>
          </a:prstGeom>
          <a:noFill/>
          <a:ln w="9525">
            <a:noFill/>
          </a:ln>
        </p:spPr>
        <p:txBody>
          <a:bodyPr anchor="t" anchorCtr="0">
            <a:spAutoFit/>
          </a:bodyPr>
          <a:lstStyle/>
          <a:p>
            <a:pPr>
              <a:spcBef>
                <a:spcPct val="50000"/>
              </a:spcBef>
            </a:pPr>
            <a:r>
              <a:rPr lang="zh-CN" altLang="en-US" sz="2800" b="1" dirty="0">
                <a:solidFill>
                  <a:srgbClr val="FFFFFF"/>
                </a:solidFill>
                <a:latin typeface="Times New Roman" panose="02020603050405020304" pitchFamily="18" charset="0"/>
                <a:ea typeface="黑体" panose="02010609060101010101" pitchFamily="49" charset="-122"/>
              </a:rPr>
              <a:t>       同理，</a:t>
            </a:r>
            <a:r>
              <a:rPr lang="zh-CN" altLang="en-US" sz="2800" b="1" dirty="0">
                <a:solidFill>
                  <a:srgbClr val="FFFF00"/>
                </a:solidFill>
                <a:latin typeface="Times New Roman" panose="02020603050405020304" pitchFamily="18" charset="0"/>
                <a:ea typeface="黑体" panose="02010609060101010101" pitchFamily="49" charset="-122"/>
              </a:rPr>
              <a:t>还原剂首先还原最强的氧化剂</a:t>
            </a:r>
          </a:p>
        </p:txBody>
      </p:sp>
      <p:sp>
        <p:nvSpPr>
          <p:cNvPr id="1240069" name="文本框 1240068"/>
          <p:cNvSpPr txBox="1"/>
          <p:nvPr/>
        </p:nvSpPr>
        <p:spPr>
          <a:xfrm>
            <a:off x="612775" y="2789238"/>
            <a:ext cx="8135938" cy="954087"/>
          </a:xfrm>
          <a:prstGeom prst="rect">
            <a:avLst/>
          </a:prstGeom>
          <a:noFill/>
          <a:ln w="9525">
            <a:noFill/>
          </a:ln>
        </p:spPr>
        <p:txBody>
          <a:bodyPr anchor="t" anchorCtr="0">
            <a:spAutoFit/>
          </a:bodyPr>
          <a:lstStyle/>
          <a:p>
            <a:pPr>
              <a:spcBef>
                <a:spcPct val="50000"/>
              </a:spcBef>
            </a:pPr>
            <a:r>
              <a:rPr lang="zh-CN" altLang="en-US" sz="2800" b="1" dirty="0">
                <a:solidFill>
                  <a:srgbClr val="FFFF00"/>
                </a:solidFill>
                <a:latin typeface="Times New Roman" panose="02020603050405020304" pitchFamily="18" charset="0"/>
                <a:ea typeface="黑体" panose="02010609060101010101" pitchFamily="49" charset="-122"/>
              </a:rPr>
              <a:t>        必须指出，上述判断只有氧化还原反应速率足够快时，才正确</a:t>
            </a:r>
          </a:p>
        </p:txBody>
      </p:sp>
      <p:sp>
        <p:nvSpPr>
          <p:cNvPr id="1240070" name="文本框 1240069"/>
          <p:cNvSpPr txBox="1"/>
          <p:nvPr/>
        </p:nvSpPr>
        <p:spPr>
          <a:xfrm>
            <a:off x="611188" y="3878263"/>
            <a:ext cx="8135937" cy="954087"/>
          </a:xfrm>
          <a:prstGeom prst="rect">
            <a:avLst/>
          </a:prstGeom>
          <a:noFill/>
          <a:ln w="9525">
            <a:noFill/>
          </a:ln>
        </p:spPr>
        <p:txBody>
          <a:bodyPr anchor="t" anchorCtr="0">
            <a:spAutoFit/>
          </a:bodyPr>
          <a:lstStyle/>
          <a:p>
            <a:pPr>
              <a:spcBef>
                <a:spcPct val="50000"/>
              </a:spcBef>
            </a:pPr>
            <a:r>
              <a:rPr lang="zh-CN" altLang="en-US" sz="2800" b="1" dirty="0">
                <a:solidFill>
                  <a:srgbClr val="FFFFFF"/>
                </a:solidFill>
                <a:latin typeface="Times New Roman" panose="02020603050405020304" pitchFamily="18" charset="0"/>
                <a:ea typeface="黑体" panose="02010609060101010101" pitchFamily="49" charset="-122"/>
              </a:rPr>
              <a:t>        氧化还原反应的产物是由化学平衡而不是由反应速率控制的情况下，才能做出这样的判断</a:t>
            </a:r>
            <a:endParaRPr lang="en-US" altLang="zh-CN" sz="2800"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40067">
                                            <p:txEl>
                                              <p:pRg st="0" end="0"/>
                                            </p:txEl>
                                          </p:spTgt>
                                        </p:tgtEl>
                                        <p:attrNameLst>
                                          <p:attrName>style.visibility</p:attrName>
                                        </p:attrNameLst>
                                      </p:cBhvr>
                                      <p:to>
                                        <p:strVal val="visible"/>
                                      </p:to>
                                    </p:set>
                                    <p:anim calcmode="lin" valueType="num">
                                      <p:cBhvr additive="base">
                                        <p:cTn id="7" dur="500" fill="hold"/>
                                        <p:tgtEl>
                                          <p:spTgt spid="1240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00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240068">
                                            <p:txEl>
                                              <p:pRg st="0" end="0"/>
                                            </p:txEl>
                                          </p:spTgt>
                                        </p:tgtEl>
                                        <p:attrNameLst>
                                          <p:attrName>style.visibility</p:attrName>
                                        </p:attrNameLst>
                                      </p:cBhvr>
                                      <p:to>
                                        <p:strVal val="visible"/>
                                      </p:to>
                                    </p:set>
                                    <p:anim calcmode="lin" valueType="num">
                                      <p:cBhvr additive="base">
                                        <p:cTn id="13" dur="500" fill="hold"/>
                                        <p:tgtEl>
                                          <p:spTgt spid="124006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400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40069">
                                            <p:txEl>
                                              <p:pRg st="0" end="0"/>
                                            </p:txEl>
                                          </p:spTgt>
                                        </p:tgtEl>
                                        <p:attrNameLst>
                                          <p:attrName>style.visibility</p:attrName>
                                        </p:attrNameLst>
                                      </p:cBhvr>
                                      <p:to>
                                        <p:strVal val="visible"/>
                                      </p:to>
                                    </p:set>
                                    <p:anim calcmode="lin" valueType="num">
                                      <p:cBhvr additive="base">
                                        <p:cTn id="19" dur="500" fill="hold"/>
                                        <p:tgtEl>
                                          <p:spTgt spid="124006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4006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40070">
                                            <p:txEl>
                                              <p:pRg st="0" end="0"/>
                                            </p:txEl>
                                          </p:spTgt>
                                        </p:tgtEl>
                                        <p:attrNameLst>
                                          <p:attrName>style.visibility</p:attrName>
                                        </p:attrNameLst>
                                      </p:cBhvr>
                                      <p:to>
                                        <p:strVal val="visible"/>
                                      </p:to>
                                    </p:set>
                                    <p:anim calcmode="lin" valueType="num">
                                      <p:cBhvr additive="base">
                                        <p:cTn id="25" dur="500" fill="hold"/>
                                        <p:tgtEl>
                                          <p:spTgt spid="1240070">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4007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3"/>
          <p:cNvSpPr>
            <a:spLocks noGrp="1"/>
          </p:cNvSpPr>
          <p:nvPr>
            <p:ph idx="1"/>
          </p:nvPr>
        </p:nvSpPr>
        <p:spPr>
          <a:xfrm>
            <a:off x="323850" y="696913"/>
            <a:ext cx="8215313" cy="4200525"/>
          </a:xfrm>
        </p:spPr>
        <p:txBody>
          <a:bodyPr vert="horz" wrap="square" lIns="91440" tIns="45720" rIns="91440" bIns="45720" anchor="t" anchorCtr="0"/>
          <a:lstStyle/>
          <a:p>
            <a:pPr eaLnBrk="1" hangingPunct="1"/>
            <a:r>
              <a:rPr lang="zh-CN" altLang="en-US" sz="2400" b="1" dirty="0">
                <a:latin typeface="Times New Roman" panose="02020603050405020304" pitchFamily="18" charset="0"/>
              </a:rPr>
              <a:t>        氧化态</a:t>
            </a:r>
            <a:r>
              <a:rPr lang="en-US" altLang="zh-CN" sz="2400" b="1" dirty="0">
                <a:latin typeface="Times New Roman" panose="02020603050405020304" pitchFamily="18" charset="0"/>
              </a:rPr>
              <a:t>+ ze</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  → </a:t>
            </a:r>
            <a:r>
              <a:rPr lang="zh-CN" altLang="en-US" sz="2400" b="1" dirty="0">
                <a:latin typeface="Times New Roman" panose="02020603050405020304" pitchFamily="18" charset="0"/>
              </a:rPr>
              <a:t>还原态，即用电对“氧化态</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还原态”表示电极的组成。</a:t>
            </a:r>
            <a:endParaRPr lang="en-US" altLang="zh-CN" sz="2400" b="1" dirty="0">
              <a:latin typeface="Times New Roman" panose="02020603050405020304" pitchFamily="18" charset="0"/>
            </a:endParaRPr>
          </a:p>
          <a:p>
            <a:pPr eaLnBrk="1" hangingPunct="1">
              <a:lnSpc>
                <a:spcPct val="125000"/>
              </a:lnSpc>
            </a:pPr>
            <a:r>
              <a:rPr lang="en-US" altLang="zh-CN" sz="2400" b="1" dirty="0">
                <a:latin typeface="Times New Roman" panose="02020603050405020304" pitchFamily="18" charset="0"/>
              </a:rPr>
              <a:t> </a:t>
            </a:r>
            <a:r>
              <a:rPr lang="el-GR" altLang="zh-CN" sz="2400" b="1" i="1" dirty="0">
                <a:solidFill>
                  <a:srgbClr val="9900CC"/>
                </a:solidFill>
                <a:latin typeface="Times New Roman" panose="02020603050405020304" pitchFamily="18" charset="0"/>
              </a:rPr>
              <a:t>Φ</a:t>
            </a:r>
            <a:r>
              <a:rPr lang="el-GR" altLang="zh-CN" sz="2400" b="1" baseline="30000" dirty="0">
                <a:solidFill>
                  <a:srgbClr val="9900CC"/>
                </a:solidFill>
                <a:latin typeface="Times New Roman" panose="02020603050405020304" pitchFamily="18" charset="0"/>
              </a:rPr>
              <a:t>θ</a:t>
            </a:r>
            <a:r>
              <a:rPr lang="en-US" altLang="zh-CN" sz="2400" b="1" dirty="0">
                <a:solidFill>
                  <a:srgbClr val="9900CC"/>
                </a:solidFill>
                <a:latin typeface="Times New Roman" panose="02020603050405020304" pitchFamily="18" charset="0"/>
              </a:rPr>
              <a:t> 代数值越小，该电极上越容易发生氧化反应</a:t>
            </a:r>
            <a:r>
              <a:rPr lang="en-US" altLang="zh-CN" sz="2400" b="1" dirty="0">
                <a:latin typeface="Times New Roman" panose="02020603050405020304" pitchFamily="18" charset="0"/>
              </a:rPr>
              <a:t>，其还原态物质越易失去电子，是愈强的还原剂；其对应的氧化态物质则愈难得到电子，是愈弱的氧化剂。反之则相反</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       </a:t>
            </a:r>
            <a:r>
              <a:rPr lang="el-GR" altLang="zh-CN" sz="2400" b="1" i="1" dirty="0">
                <a:solidFill>
                  <a:srgbClr val="9900CC"/>
                </a:solidFill>
                <a:latin typeface="Times New Roman" panose="02020603050405020304" pitchFamily="18" charset="0"/>
              </a:rPr>
              <a:t>Φ</a:t>
            </a:r>
            <a:r>
              <a:rPr lang="el-GR" altLang="zh-CN" sz="2400" b="1" baseline="30000" dirty="0">
                <a:solidFill>
                  <a:srgbClr val="9900CC"/>
                </a:solidFill>
                <a:latin typeface="Times New Roman" panose="02020603050405020304" pitchFamily="18" charset="0"/>
              </a:rPr>
              <a:t>θ</a:t>
            </a:r>
            <a:r>
              <a:rPr lang="en-US" altLang="zh-CN" sz="2400" b="1" dirty="0">
                <a:solidFill>
                  <a:srgbClr val="9900CC"/>
                </a:solidFill>
                <a:latin typeface="Times New Roman" panose="02020603050405020304" pitchFamily="18" charset="0"/>
              </a:rPr>
              <a:t> 值与电极反应的化学计量数无关</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a:p>
            <a:pPr eaLnBrk="1" hangingPunct="1">
              <a:lnSpc>
                <a:spcPct val="125000"/>
              </a:lnSpc>
            </a:pPr>
            <a:r>
              <a:rPr lang="en-US" altLang="zh-CN" sz="2400" b="1" dirty="0">
                <a:latin typeface="Times New Roman" panose="02020603050405020304" pitchFamily="18" charset="0"/>
              </a:rPr>
              <a:t> </a:t>
            </a:r>
            <a:r>
              <a:rPr lang="el-GR" altLang="zh-CN" sz="2400" b="1" i="1" dirty="0">
                <a:latin typeface="Times New Roman" panose="02020603050405020304" pitchFamily="18" charset="0"/>
              </a:rPr>
              <a:t>Φ</a:t>
            </a:r>
            <a:r>
              <a:rPr lang="el-GR" altLang="zh-CN" sz="2400" b="1" baseline="30000" dirty="0">
                <a:latin typeface="Times New Roman" panose="02020603050405020304" pitchFamily="18" charset="0"/>
              </a:rPr>
              <a:t>θ</a:t>
            </a:r>
            <a:r>
              <a:rPr lang="en-US" altLang="zh-CN" sz="2400" b="1" dirty="0">
                <a:latin typeface="Times New Roman" panose="02020603050405020304" pitchFamily="18" charset="0"/>
              </a:rPr>
              <a:t>值的大小，只表示在标准态下(温度为298 K)水溶液中氧化剂的氧化能力和还原剂还原能力的相对强弱，其数据不适用于高温或非水介质体系。</a:t>
            </a:r>
            <a:endParaRPr lang="zh-CN" altLang="zh-CN" sz="2400" b="1" dirty="0">
              <a:latin typeface="Times New Roman" panose="02020603050405020304" pitchFamily="18" charset="0"/>
            </a:endParaRPr>
          </a:p>
        </p:txBody>
      </p:sp>
      <p:sp>
        <p:nvSpPr>
          <p:cNvPr id="61442"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61443"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01">
                                            <p:txEl>
                                              <p:pRg st="0" end="0"/>
                                            </p:txEl>
                                          </p:spTgt>
                                        </p:tgtEl>
                                        <p:attrNameLst>
                                          <p:attrName>style.visibility</p:attrName>
                                        </p:attrNameLst>
                                      </p:cBhvr>
                                      <p:to>
                                        <p:strVal val="visible"/>
                                      </p:to>
                                    </p:set>
                                    <p:animEffect transition="in" filter="dissolve">
                                      <p:cBhvr>
                                        <p:cTn id="7" dur="500"/>
                                        <p:tgtEl>
                                          <p:spTgt spid="4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01">
                                            <p:txEl>
                                              <p:pRg st="1" end="1"/>
                                            </p:txEl>
                                          </p:spTgt>
                                        </p:tgtEl>
                                        <p:attrNameLst>
                                          <p:attrName>style.visibility</p:attrName>
                                        </p:attrNameLst>
                                      </p:cBhvr>
                                      <p:to>
                                        <p:strVal val="visible"/>
                                      </p:to>
                                    </p:set>
                                    <p:animEffect transition="in" filter="dissolve">
                                      <p:cBhvr>
                                        <p:cTn id="12" dur="500"/>
                                        <p:tgtEl>
                                          <p:spTgt spid="41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01">
                                            <p:txEl>
                                              <p:pRg st="2" end="2"/>
                                            </p:txEl>
                                          </p:spTgt>
                                        </p:tgtEl>
                                        <p:attrNameLst>
                                          <p:attrName>style.visibility</p:attrName>
                                        </p:attrNameLst>
                                      </p:cBhvr>
                                      <p:to>
                                        <p:strVal val="visible"/>
                                      </p:to>
                                    </p:set>
                                    <p:animEffect transition="in" filter="dissolve">
                                      <p:cBhvr>
                                        <p:cTn id="17" dur="500"/>
                                        <p:tgtEl>
                                          <p:spTgt spid="4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p:cNvSpPr>
          <p:nvPr>
            <p:ph idx="1"/>
          </p:nvPr>
        </p:nvSpPr>
        <p:spPr>
          <a:xfrm>
            <a:off x="500063" y="1050925"/>
            <a:ext cx="8229600" cy="1446213"/>
          </a:xfrm>
          <a:solidFill>
            <a:schemeClr val="folHlink"/>
          </a:solidFill>
        </p:spPr>
        <p:txBody>
          <a:bodyPr vert="horz" wrap="square" lIns="91440" tIns="45720" rIns="91440" bIns="45720" anchor="t" anchorCtr="0"/>
          <a:lstStyle/>
          <a:p>
            <a:pPr eaLnBrk="1" hangingPunct="1"/>
            <a:r>
              <a:rPr lang="zh-CN" altLang="en-US" b="1" dirty="0"/>
              <a:t>     </a:t>
            </a:r>
            <a:r>
              <a:rPr lang="zh-CN" altLang="en-US" sz="2400" b="1" dirty="0"/>
              <a:t>原电池产生电流的原因是原电池有电动势，它是电化学反应的推动力，而在等温等压条件下：</a:t>
            </a:r>
            <a:endParaRPr lang="en-US" altLang="zh-CN" sz="2400" b="1" dirty="0"/>
          </a:p>
          <a:p>
            <a:pPr eaLnBrk="1" hangingPunct="1"/>
            <a:r>
              <a:rPr lang="en-US" altLang="zh-CN" sz="2400" b="1" dirty="0"/>
              <a:t>           </a:t>
            </a:r>
          </a:p>
        </p:txBody>
      </p:sp>
      <p:sp>
        <p:nvSpPr>
          <p:cNvPr id="62466"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62467"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123" name="Object 4"/>
          <p:cNvGraphicFramePr>
            <a:graphicFrameLocks noChangeAspect="1"/>
          </p:cNvGraphicFramePr>
          <p:nvPr/>
        </p:nvGraphicFramePr>
        <p:xfrm>
          <a:off x="3419475" y="1897063"/>
          <a:ext cx="1944688" cy="460375"/>
        </p:xfrm>
        <a:graphic>
          <a:graphicData uri="http://schemas.openxmlformats.org/presentationml/2006/ole">
            <mc:AlternateContent xmlns:mc="http://schemas.openxmlformats.org/markup-compatibility/2006">
              <mc:Choice xmlns:v="urn:schemas-microsoft-com:vml" Requires="v">
                <p:oleObj r:id="rId2" imgW="892175" imgH="229235" progId="Equation.DSMT4">
                  <p:embed/>
                </p:oleObj>
              </mc:Choice>
              <mc:Fallback>
                <p:oleObj r:id="rId2" imgW="892175" imgH="229235" progId="Equation.DSMT4">
                  <p:embed/>
                  <p:pic>
                    <p:nvPicPr>
                      <p:cNvPr id="0" name="图片 3146"/>
                      <p:cNvPicPr/>
                      <p:nvPr/>
                    </p:nvPicPr>
                    <p:blipFill>
                      <a:blip r:embed="rId3"/>
                      <a:stretch>
                        <a:fillRect/>
                      </a:stretch>
                    </p:blipFill>
                    <p:spPr>
                      <a:xfrm>
                        <a:off x="3419475" y="1897063"/>
                        <a:ext cx="1944688" cy="460375"/>
                      </a:xfrm>
                      <a:prstGeom prst="rect">
                        <a:avLst/>
                      </a:prstGeom>
                      <a:noFill/>
                      <a:ln w="38100">
                        <a:noFill/>
                        <a:miter/>
                      </a:ln>
                    </p:spPr>
                  </p:pic>
                </p:oleObj>
              </mc:Fallback>
            </mc:AlternateContent>
          </a:graphicData>
        </a:graphic>
      </p:graphicFrame>
      <p:grpSp>
        <p:nvGrpSpPr>
          <p:cNvPr id="62469" name="Group 11"/>
          <p:cNvGrpSpPr/>
          <p:nvPr/>
        </p:nvGrpSpPr>
        <p:grpSpPr>
          <a:xfrm>
            <a:off x="0" y="517525"/>
            <a:ext cx="4500563" cy="587375"/>
            <a:chOff x="0" y="391"/>
            <a:chExt cx="2835" cy="444"/>
          </a:xfrm>
        </p:grpSpPr>
        <p:graphicFrame>
          <p:nvGraphicFramePr>
            <p:cNvPr id="62470" name="Object 8"/>
            <p:cNvGraphicFramePr>
              <a:graphicFrameLocks noChangeAspect="1"/>
            </p:cNvGraphicFramePr>
            <p:nvPr/>
          </p:nvGraphicFramePr>
          <p:xfrm>
            <a:off x="793" y="391"/>
            <a:ext cx="422" cy="297"/>
          </p:xfrm>
          <a:graphic>
            <a:graphicData uri="http://schemas.openxmlformats.org/presentationml/2006/ole">
              <mc:AlternateContent xmlns:mc="http://schemas.openxmlformats.org/markup-compatibility/2006">
                <mc:Choice xmlns:v="urn:schemas-microsoft-com:vml" Requires="v">
                  <p:oleObj r:id="rId4" imgW="255905" imgH="179070" progId="Equation.DSMT4">
                    <p:embed/>
                  </p:oleObj>
                </mc:Choice>
                <mc:Fallback>
                  <p:oleObj r:id="rId4" imgW="255905" imgH="179070" progId="Equation.DSMT4">
                    <p:embed/>
                    <p:pic>
                      <p:nvPicPr>
                        <p:cNvPr id="0" name="图片 3147"/>
                        <p:cNvPicPr/>
                        <p:nvPr/>
                      </p:nvPicPr>
                      <p:blipFill>
                        <a:blip r:embed="rId5"/>
                        <a:stretch>
                          <a:fillRect/>
                        </a:stretch>
                      </p:blipFill>
                      <p:spPr>
                        <a:xfrm>
                          <a:off x="793" y="391"/>
                          <a:ext cx="422" cy="297"/>
                        </a:xfrm>
                        <a:prstGeom prst="rect">
                          <a:avLst/>
                        </a:prstGeom>
                        <a:noFill/>
                        <a:ln w="38100">
                          <a:noFill/>
                          <a:miter/>
                        </a:ln>
                      </p:spPr>
                    </p:pic>
                  </p:oleObj>
                </mc:Fallback>
              </mc:AlternateContent>
            </a:graphicData>
          </a:graphic>
        </p:graphicFrame>
        <p:sp>
          <p:nvSpPr>
            <p:cNvPr id="62471" name="Rectangle 10"/>
            <p:cNvSpPr/>
            <p:nvPr/>
          </p:nvSpPr>
          <p:spPr>
            <a:xfrm>
              <a:off x="0" y="391"/>
              <a:ext cx="2835" cy="444"/>
            </a:xfrm>
            <a:prstGeom prst="rect">
              <a:avLst/>
            </a:prstGeom>
            <a:no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rgbClr val="9900CC"/>
                  </a:solidFill>
                  <a:latin typeface="Times New Roman" panose="02020603050405020304" pitchFamily="18" charset="0"/>
                  <a:ea typeface="宋体" panose="02010600030101010101" pitchFamily="2" charset="-122"/>
                </a:rPr>
                <a:t>4. </a:t>
              </a:r>
              <a:r>
                <a:rPr lang="en-US" altLang="en-US" sz="2800" b="1" dirty="0">
                  <a:solidFill>
                    <a:srgbClr val="9900CC"/>
                  </a:solidFill>
                  <a:latin typeface="Times New Roman" panose="02020603050405020304" pitchFamily="18" charset="0"/>
                  <a:ea typeface="宋体" panose="02010600030101010101" pitchFamily="2" charset="-122"/>
                </a:rPr>
                <a:t>E 与       之间的关系</a:t>
              </a:r>
              <a:endParaRPr lang="zh-CN" altLang="en-US" sz="2800" b="1" dirty="0">
                <a:solidFill>
                  <a:srgbClr val="9900CC"/>
                </a:solidFill>
                <a:latin typeface="Times New Roman" panose="02020603050405020304" pitchFamily="18" charset="0"/>
                <a:ea typeface="宋体" panose="02010600030101010101" pitchFamily="2" charset="-122"/>
              </a:endParaRPr>
            </a:p>
          </p:txBody>
        </p:sp>
      </p:grpSp>
      <p:sp>
        <p:nvSpPr>
          <p:cNvPr id="62472" name="Rectangle 13"/>
          <p:cNvSpPr/>
          <p:nvPr/>
        </p:nvSpPr>
        <p:spPr>
          <a:xfrm>
            <a:off x="0" y="2573338"/>
            <a:ext cx="184150" cy="369887"/>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132" name="Object 12"/>
          <p:cNvGraphicFramePr>
            <a:graphicFrameLocks noChangeAspect="1"/>
          </p:cNvGraphicFramePr>
          <p:nvPr/>
        </p:nvGraphicFramePr>
        <p:xfrm>
          <a:off x="3132138" y="3517900"/>
          <a:ext cx="2211387" cy="458788"/>
        </p:xfrm>
        <a:graphic>
          <a:graphicData uri="http://schemas.openxmlformats.org/presentationml/2006/ole">
            <mc:AlternateContent xmlns:mc="http://schemas.openxmlformats.org/markup-compatibility/2006">
              <mc:Choice xmlns:v="urn:schemas-microsoft-com:vml" Requires="v">
                <p:oleObj r:id="rId6" imgW="965200" imgH="241300" progId="Equation.DSMT4">
                  <p:embed/>
                </p:oleObj>
              </mc:Choice>
              <mc:Fallback>
                <p:oleObj r:id="rId6" imgW="965200" imgH="241300" progId="Equation.DSMT4">
                  <p:embed/>
                  <p:pic>
                    <p:nvPicPr>
                      <p:cNvPr id="0" name="图片 3144"/>
                      <p:cNvPicPr/>
                      <p:nvPr/>
                    </p:nvPicPr>
                    <p:blipFill>
                      <a:blip r:embed="rId7"/>
                      <a:stretch>
                        <a:fillRect/>
                      </a:stretch>
                    </p:blipFill>
                    <p:spPr>
                      <a:xfrm>
                        <a:off x="3132138" y="3517900"/>
                        <a:ext cx="2211387" cy="458788"/>
                      </a:xfrm>
                      <a:prstGeom prst="rect">
                        <a:avLst/>
                      </a:prstGeom>
                      <a:noFill/>
                      <a:ln w="38100">
                        <a:noFill/>
                        <a:miter/>
                      </a:ln>
                    </p:spPr>
                  </p:pic>
                </p:oleObj>
              </mc:Fallback>
            </mc:AlternateContent>
          </a:graphicData>
        </a:graphic>
      </p:graphicFrame>
      <p:grpSp>
        <p:nvGrpSpPr>
          <p:cNvPr id="3" name="Group 15"/>
          <p:cNvGrpSpPr/>
          <p:nvPr/>
        </p:nvGrpSpPr>
        <p:grpSpPr>
          <a:xfrm>
            <a:off x="598488" y="2855913"/>
            <a:ext cx="8131175" cy="406400"/>
            <a:chOff x="210" y="2704"/>
            <a:chExt cx="5257" cy="262"/>
          </a:xfrm>
        </p:grpSpPr>
        <p:graphicFrame>
          <p:nvGraphicFramePr>
            <p:cNvPr id="62475" name="Object 6"/>
            <p:cNvGraphicFramePr>
              <a:graphicFrameLocks noChangeAspect="1"/>
            </p:cNvGraphicFramePr>
            <p:nvPr/>
          </p:nvGraphicFramePr>
          <p:xfrm>
            <a:off x="1247" y="2704"/>
            <a:ext cx="409" cy="262"/>
          </p:xfrm>
          <a:graphic>
            <a:graphicData uri="http://schemas.openxmlformats.org/presentationml/2006/ole">
              <mc:AlternateContent xmlns:mc="http://schemas.openxmlformats.org/markup-compatibility/2006">
                <mc:Choice xmlns:v="urn:schemas-microsoft-com:vml" Requires="v">
                  <p:oleObj r:id="rId8" imgW="370205" imgH="242570" progId="Equation.DSMT4">
                    <p:embed/>
                  </p:oleObj>
                </mc:Choice>
                <mc:Fallback>
                  <p:oleObj r:id="rId8" imgW="370205" imgH="242570" progId="Equation.DSMT4">
                    <p:embed/>
                    <p:pic>
                      <p:nvPicPr>
                        <p:cNvPr id="0" name="图片 3148"/>
                        <p:cNvPicPr/>
                        <p:nvPr/>
                      </p:nvPicPr>
                      <p:blipFill>
                        <a:blip r:embed="rId9"/>
                        <a:stretch>
                          <a:fillRect/>
                        </a:stretch>
                      </p:blipFill>
                      <p:spPr>
                        <a:xfrm>
                          <a:off x="1247" y="2704"/>
                          <a:ext cx="409" cy="262"/>
                        </a:xfrm>
                        <a:prstGeom prst="rect">
                          <a:avLst/>
                        </a:prstGeom>
                        <a:noFill/>
                        <a:ln w="38100">
                          <a:noFill/>
                          <a:miter/>
                        </a:ln>
                      </p:spPr>
                    </p:pic>
                  </p:oleObj>
                </mc:Fallback>
              </mc:AlternateContent>
            </a:graphicData>
          </a:graphic>
        </p:graphicFrame>
        <p:sp>
          <p:nvSpPr>
            <p:cNvPr id="62476" name="Rectangle 3"/>
            <p:cNvSpPr/>
            <p:nvPr/>
          </p:nvSpPr>
          <p:spPr>
            <a:xfrm>
              <a:off x="210" y="2704"/>
              <a:ext cx="5257" cy="262"/>
            </a:xfrm>
            <a:prstGeom prst="rect">
              <a:avLst/>
            </a:prstGeom>
            <a:noFill/>
            <a:ln w="9525">
              <a:noFill/>
            </a:ln>
          </p:spPr>
          <p:txBody>
            <a:bodyPr anchor="t" anchorCtr="0"/>
            <a:lstStyle/>
            <a:p>
              <a:pPr marL="342900" indent="-342900">
                <a:spcBef>
                  <a:spcPct val="20000"/>
                </a:spcBef>
                <a:buChar char="•"/>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为负值，该过程一定是自发进行的</a:t>
              </a:r>
              <a:r>
                <a:rPr lang="zh-CN" altLang="en-US" sz="3200" b="1" dirty="0">
                  <a:latin typeface="Arial" panose="020B0604020202020204" pitchFamily="34" charset="0"/>
                  <a:ea typeface="宋体" panose="02010600030101010101" pitchFamily="2" charset="-122"/>
                </a:rPr>
                <a:t>。</a:t>
              </a:r>
              <a:endParaRPr lang="zh-CN" altLang="zh-CN" sz="3200" b="1"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19">
                                            <p:bg/>
                                          </p:spTgt>
                                        </p:tgtEl>
                                        <p:attrNameLst>
                                          <p:attrName>style.visibility</p:attrName>
                                        </p:attrNameLst>
                                      </p:cBhvr>
                                      <p:to>
                                        <p:strVal val="visible"/>
                                      </p:to>
                                    </p:set>
                                    <p:animEffect transition="in" filter="dissolve">
                                      <p:cBhvr>
                                        <p:cTn id="7" dur="500"/>
                                        <p:tgtEl>
                                          <p:spTgt spid="9219">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9">
                                            <p:txEl>
                                              <p:pRg st="0" end="0"/>
                                            </p:txEl>
                                          </p:spTgt>
                                        </p:tgtEl>
                                        <p:attrNameLst>
                                          <p:attrName>style.visibility</p:attrName>
                                        </p:attrNameLst>
                                      </p:cBhvr>
                                      <p:to>
                                        <p:strVal val="visible"/>
                                      </p:to>
                                    </p:set>
                                    <p:animEffect transition="in" filter="dissolve">
                                      <p:cBhvr>
                                        <p:cTn id="12" dur="500"/>
                                        <p:tgtEl>
                                          <p:spTgt spid="92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219">
                                            <p:txEl>
                                              <p:pRg st="1" end="1"/>
                                            </p:txEl>
                                          </p:spTgt>
                                        </p:tgtEl>
                                        <p:attrNameLst>
                                          <p:attrName>style.visibility</p:attrName>
                                        </p:attrNameLst>
                                      </p:cBhvr>
                                      <p:to>
                                        <p:strVal val="visible"/>
                                      </p:to>
                                    </p:set>
                                    <p:animEffect transition="in" filter="dissolve">
                                      <p:cBhvr>
                                        <p:cTn id="17" dur="500"/>
                                        <p:tgtEl>
                                          <p:spTgt spid="921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23"/>
                                        </p:tgtEl>
                                        <p:attrNameLst>
                                          <p:attrName>style.visibility</p:attrName>
                                        </p:attrNameLst>
                                      </p:cBhvr>
                                      <p:to>
                                        <p:strVal val="visible"/>
                                      </p:to>
                                    </p:set>
                                    <p:animEffect transition="in" filter="wipe(left)">
                                      <p:cBhvr>
                                        <p:cTn id="22" dur="500"/>
                                        <p:tgtEl>
                                          <p:spTgt spid="51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32"/>
                                        </p:tgtEl>
                                        <p:attrNameLst>
                                          <p:attrName>style.visibility</p:attrName>
                                        </p:attrNameLst>
                                      </p:cBhvr>
                                      <p:to>
                                        <p:strVal val="visible"/>
                                      </p:to>
                                    </p:set>
                                    <p:animEffect transition="in" filter="wipe(left)">
                                      <p:cBhvr>
                                        <p:cTn id="32" dur="500"/>
                                        <p:tgtEl>
                                          <p:spTgt spid="5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p:cNvSpPr>
          <p:nvPr>
            <p:ph type="body" idx="4294967295"/>
          </p:nvPr>
        </p:nvSpPr>
        <p:spPr>
          <a:xfrm>
            <a:off x="250825" y="2678113"/>
            <a:ext cx="8424863" cy="1919287"/>
          </a:xfrm>
        </p:spPr>
        <p:txBody>
          <a:bodyPr vert="horz" wrap="square" lIns="91440" tIns="45720" rIns="91440" bIns="45720" anchor="t" anchorCtr="0"/>
          <a:lstStyle/>
          <a:p>
            <a:pPr eaLnBrk="1" hangingPunct="1">
              <a:lnSpc>
                <a:spcPct val="125000"/>
              </a:lnSpc>
              <a:spcBef>
                <a:spcPct val="5000"/>
              </a:spcBef>
            </a:pPr>
            <a:r>
              <a:rPr lang="zh-CN" altLang="en-US" sz="2400" b="1" dirty="0"/>
              <a:t>      上式称为</a:t>
            </a:r>
            <a:r>
              <a:rPr lang="zh-CN" altLang="en-US" sz="2400" b="1" dirty="0">
                <a:solidFill>
                  <a:srgbClr val="FF0000"/>
                </a:solidFill>
              </a:rPr>
              <a:t>能斯特</a:t>
            </a:r>
            <a:r>
              <a:rPr lang="en-US" altLang="zh-CN" sz="2400" b="1" dirty="0">
                <a:solidFill>
                  <a:srgbClr val="FF0000"/>
                </a:solidFill>
                <a:latin typeface="Times New Roman" panose="02020603050405020304" pitchFamily="18" charset="0"/>
              </a:rPr>
              <a:t>(Nernst)</a:t>
            </a:r>
            <a:r>
              <a:rPr lang="zh-CN" altLang="en-US" sz="2400" b="1" dirty="0">
                <a:solidFill>
                  <a:srgbClr val="FF0000"/>
                </a:solidFill>
                <a:latin typeface="Times New Roman" panose="02020603050405020304" pitchFamily="18" charset="0"/>
              </a:rPr>
              <a:t>公</a:t>
            </a:r>
            <a:r>
              <a:rPr lang="zh-CN" altLang="en-US" sz="2400" b="1" dirty="0">
                <a:solidFill>
                  <a:srgbClr val="FF0000"/>
                </a:solidFill>
              </a:rPr>
              <a:t>式，</a:t>
            </a:r>
            <a:r>
              <a:rPr lang="zh-CN" altLang="en-US" sz="2400" b="1" dirty="0"/>
              <a:t>由公式可见，当产物的浓度</a:t>
            </a:r>
            <a:r>
              <a:rPr lang="en-US" altLang="zh-CN" sz="2400" b="1" dirty="0"/>
              <a:t>(</a:t>
            </a:r>
            <a:r>
              <a:rPr lang="zh-CN" altLang="en-US" sz="2400" b="1" dirty="0"/>
              <a:t>或分压</a:t>
            </a:r>
            <a:r>
              <a:rPr lang="en-US" altLang="zh-CN" sz="2400" b="1" dirty="0"/>
              <a:t>)</a:t>
            </a:r>
            <a:r>
              <a:rPr lang="zh-CN" altLang="en-US" sz="2400" b="1" dirty="0"/>
              <a:t>增大时，电池电动势减小；当反应物浓度</a:t>
            </a:r>
            <a:r>
              <a:rPr lang="en-US" altLang="zh-CN" sz="2400" b="1" dirty="0"/>
              <a:t>(</a:t>
            </a:r>
            <a:r>
              <a:rPr lang="zh-CN" altLang="en-US" sz="2400" b="1" dirty="0"/>
              <a:t>或分压</a:t>
            </a:r>
            <a:r>
              <a:rPr lang="en-US" altLang="zh-CN" sz="2400" b="1" dirty="0"/>
              <a:t>)</a:t>
            </a:r>
            <a:r>
              <a:rPr lang="zh-CN" altLang="en-US" sz="2400" b="1" dirty="0"/>
              <a:t>增大时，电池电动势增加。</a:t>
            </a:r>
            <a:endParaRPr lang="en-US" altLang="zh-CN" sz="2400" b="1" dirty="0"/>
          </a:p>
          <a:p>
            <a:pPr eaLnBrk="1" hangingPunct="1"/>
            <a:r>
              <a:rPr lang="en-US" altLang="zh-CN" sz="2400" b="1" dirty="0"/>
              <a:t>        如果原电池的负极选的是标准氢电极，而正极是待测电极，其电</a:t>
            </a:r>
            <a:r>
              <a:rPr lang="zh-CN" altLang="en-US" sz="2400" b="1" dirty="0"/>
              <a:t>池反应为</a:t>
            </a:r>
          </a:p>
        </p:txBody>
      </p:sp>
      <p:sp>
        <p:nvSpPr>
          <p:cNvPr id="63490"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7828" name="Object 4"/>
          <p:cNvGraphicFramePr>
            <a:graphicFrameLocks noChangeAspect="1"/>
          </p:cNvGraphicFramePr>
          <p:nvPr/>
        </p:nvGraphicFramePr>
        <p:xfrm>
          <a:off x="3059113" y="2138363"/>
          <a:ext cx="2857500" cy="528637"/>
        </p:xfrm>
        <a:graphic>
          <a:graphicData uri="http://schemas.openxmlformats.org/presentationml/2006/ole">
            <mc:AlternateContent xmlns:mc="http://schemas.openxmlformats.org/markup-compatibility/2006">
              <mc:Choice xmlns:v="urn:schemas-microsoft-com:vml" Requires="v">
                <p:oleObj r:id="rId2" imgW="1094740" imgH="241935" progId="Equation.DSMT4">
                  <p:embed/>
                </p:oleObj>
              </mc:Choice>
              <mc:Fallback>
                <p:oleObj r:id="rId2" imgW="1094740" imgH="241935" progId="Equation.DSMT4">
                  <p:embed/>
                  <p:pic>
                    <p:nvPicPr>
                      <p:cNvPr id="0" name="图片 3143"/>
                      <p:cNvPicPr/>
                      <p:nvPr/>
                    </p:nvPicPr>
                    <p:blipFill>
                      <a:blip r:embed="rId3"/>
                      <a:stretch>
                        <a:fillRect/>
                      </a:stretch>
                    </p:blipFill>
                    <p:spPr>
                      <a:xfrm>
                        <a:off x="3059113" y="2138363"/>
                        <a:ext cx="2857500" cy="528637"/>
                      </a:xfrm>
                      <a:prstGeom prst="rect">
                        <a:avLst/>
                      </a:prstGeom>
                      <a:solidFill>
                        <a:srgbClr val="FFC000"/>
                      </a:solidFill>
                      <a:ln w="38100">
                        <a:noFill/>
                        <a:miter/>
                      </a:ln>
                    </p:spPr>
                  </p:pic>
                </p:oleObj>
              </mc:Fallback>
            </mc:AlternateContent>
          </a:graphicData>
        </a:graphic>
      </p:graphicFrame>
      <p:sp>
        <p:nvSpPr>
          <p:cNvPr id="63492"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7830" name="Object 6"/>
          <p:cNvGraphicFramePr>
            <a:graphicFrameLocks noChangeAspect="1"/>
          </p:cNvGraphicFramePr>
          <p:nvPr/>
        </p:nvGraphicFramePr>
        <p:xfrm>
          <a:off x="2484438" y="4873625"/>
          <a:ext cx="3867150" cy="617538"/>
        </p:xfrm>
        <a:graphic>
          <a:graphicData uri="http://schemas.openxmlformats.org/presentationml/2006/ole">
            <mc:AlternateContent xmlns:mc="http://schemas.openxmlformats.org/markup-compatibility/2006">
              <mc:Choice xmlns:v="urn:schemas-microsoft-com:vml" Requires="v">
                <p:oleObj r:id="rId4" imgW="2094865" imgH="406400" progId="Equation.DSMT4">
                  <p:embed/>
                </p:oleObj>
              </mc:Choice>
              <mc:Fallback>
                <p:oleObj r:id="rId4" imgW="2094865" imgH="406400" progId="Equation.DSMT4">
                  <p:embed/>
                  <p:pic>
                    <p:nvPicPr>
                      <p:cNvPr id="0" name="图片 3145"/>
                      <p:cNvPicPr/>
                      <p:nvPr/>
                    </p:nvPicPr>
                    <p:blipFill>
                      <a:blip r:embed="rId5"/>
                      <a:stretch>
                        <a:fillRect/>
                      </a:stretch>
                    </p:blipFill>
                    <p:spPr>
                      <a:xfrm>
                        <a:off x="2484438" y="4873625"/>
                        <a:ext cx="3867150" cy="617538"/>
                      </a:xfrm>
                      <a:prstGeom prst="rect">
                        <a:avLst/>
                      </a:prstGeom>
                      <a:noFill/>
                      <a:ln w="38100">
                        <a:noFill/>
                        <a:miter/>
                      </a:ln>
                    </p:spPr>
                  </p:pic>
                </p:oleObj>
              </mc:Fallback>
            </mc:AlternateContent>
          </a:graphicData>
        </a:graphic>
      </p:graphicFrame>
      <p:sp>
        <p:nvSpPr>
          <p:cNvPr id="77831" name="Rectangle 7"/>
          <p:cNvSpPr/>
          <p:nvPr/>
        </p:nvSpPr>
        <p:spPr>
          <a:xfrm>
            <a:off x="0" y="517525"/>
            <a:ext cx="5364163"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5.浓度或分压对电极电势的影响</a:t>
            </a:r>
            <a:endParaRPr lang="zh-CN" altLang="en-US" sz="2800" b="1" dirty="0">
              <a:solidFill>
                <a:schemeClr val="tx2"/>
              </a:solidFill>
              <a:latin typeface="Arial" panose="020B0604020202020204" pitchFamily="34" charset="0"/>
              <a:ea typeface="宋体" panose="02010600030101010101" pitchFamily="2" charset="-122"/>
            </a:endParaRPr>
          </a:p>
        </p:txBody>
      </p:sp>
      <p:sp>
        <p:nvSpPr>
          <p:cNvPr id="63495"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 name="Group 9"/>
          <p:cNvGrpSpPr/>
          <p:nvPr/>
        </p:nvGrpSpPr>
        <p:grpSpPr>
          <a:xfrm>
            <a:off x="371475" y="1154113"/>
            <a:ext cx="6199188" cy="461962"/>
            <a:chOff x="234" y="872"/>
            <a:chExt cx="4188" cy="350"/>
          </a:xfrm>
        </p:grpSpPr>
        <p:graphicFrame>
          <p:nvGraphicFramePr>
            <p:cNvPr id="63497" name="Object 10"/>
            <p:cNvGraphicFramePr>
              <a:graphicFrameLocks noChangeAspect="1"/>
            </p:cNvGraphicFramePr>
            <p:nvPr/>
          </p:nvGraphicFramePr>
          <p:xfrm>
            <a:off x="2789" y="890"/>
            <a:ext cx="1633" cy="270"/>
          </p:xfrm>
          <a:graphic>
            <a:graphicData uri="http://schemas.openxmlformats.org/presentationml/2006/ole">
              <mc:AlternateContent xmlns:mc="http://schemas.openxmlformats.org/markup-compatibility/2006">
                <mc:Choice xmlns:v="urn:schemas-microsoft-com:vml" Requires="v">
                  <p:oleObj r:id="rId6" imgW="1209040" imgH="203835" progId="Equation.DSMT4">
                    <p:embed/>
                  </p:oleObj>
                </mc:Choice>
                <mc:Fallback>
                  <p:oleObj r:id="rId6" imgW="1209040" imgH="203835" progId="Equation.DSMT4">
                    <p:embed/>
                    <p:pic>
                      <p:nvPicPr>
                        <p:cNvPr id="0" name="图片 3157"/>
                        <p:cNvPicPr/>
                        <p:nvPr/>
                      </p:nvPicPr>
                      <p:blipFill>
                        <a:blip r:embed="rId7"/>
                        <a:stretch>
                          <a:fillRect/>
                        </a:stretch>
                      </p:blipFill>
                      <p:spPr>
                        <a:xfrm>
                          <a:off x="2789" y="890"/>
                          <a:ext cx="1633" cy="270"/>
                        </a:xfrm>
                        <a:prstGeom prst="rect">
                          <a:avLst/>
                        </a:prstGeom>
                        <a:noFill/>
                        <a:ln w="38100">
                          <a:noFill/>
                          <a:miter/>
                        </a:ln>
                      </p:spPr>
                    </p:pic>
                  </p:oleObj>
                </mc:Fallback>
              </mc:AlternateContent>
            </a:graphicData>
          </a:graphic>
        </p:graphicFrame>
        <p:sp>
          <p:nvSpPr>
            <p:cNvPr id="63498" name="Rectangle 11"/>
            <p:cNvSpPr/>
            <p:nvPr/>
          </p:nvSpPr>
          <p:spPr>
            <a:xfrm>
              <a:off x="234" y="872"/>
              <a:ext cx="2494" cy="350"/>
            </a:xfrm>
            <a:prstGeom prst="rect">
              <a:avLst/>
            </a:prstGeom>
            <a:noFill/>
            <a:ln w="9525">
              <a:noFill/>
            </a:ln>
          </p:spPr>
          <p:txBody>
            <a:bodyPr anchor="t" anchorCtr="0">
              <a:spAutoFit/>
            </a:bodyPr>
            <a:lstStyle/>
            <a:p>
              <a:pPr>
                <a:spcBef>
                  <a:spcPct val="20000"/>
                </a:spcBef>
                <a:buChar char="•"/>
              </a:pPr>
              <a:r>
                <a:rPr lang="zh-CN" altLang="en-US" sz="2400" b="1" dirty="0">
                  <a:latin typeface="Arial" panose="020B0604020202020204" pitchFamily="34" charset="0"/>
                  <a:ea typeface="宋体" panose="02010600030101010101" pitchFamily="2" charset="-122"/>
                </a:rPr>
                <a:t>对于任一氧化还原反应，</a:t>
              </a:r>
            </a:p>
          </p:txBody>
        </p:sp>
      </p:grpSp>
      <p:graphicFrame>
        <p:nvGraphicFramePr>
          <p:cNvPr id="77836" name="Object 12"/>
          <p:cNvGraphicFramePr>
            <a:graphicFrameLocks noChangeAspect="1"/>
          </p:cNvGraphicFramePr>
          <p:nvPr/>
        </p:nvGraphicFramePr>
        <p:xfrm>
          <a:off x="2987675" y="1657350"/>
          <a:ext cx="3079750" cy="403225"/>
        </p:xfrm>
        <a:graphic>
          <a:graphicData uri="http://schemas.openxmlformats.org/presentationml/2006/ole">
            <mc:AlternateContent xmlns:mc="http://schemas.openxmlformats.org/markup-compatibility/2006">
              <mc:Choice xmlns:v="urn:schemas-microsoft-com:vml" Requires="v">
                <p:oleObj r:id="rId8" imgW="1524000" imgH="241300" progId="Equation.DSMT4">
                  <p:embed/>
                </p:oleObj>
              </mc:Choice>
              <mc:Fallback>
                <p:oleObj r:id="rId8" imgW="1524000" imgH="241300" progId="Equation.DSMT4">
                  <p:embed/>
                  <p:pic>
                    <p:nvPicPr>
                      <p:cNvPr id="0" name="图片 3153"/>
                      <p:cNvPicPr/>
                      <p:nvPr/>
                    </p:nvPicPr>
                    <p:blipFill>
                      <a:blip r:embed="rId9"/>
                      <a:stretch>
                        <a:fillRect/>
                      </a:stretch>
                    </p:blipFill>
                    <p:spPr>
                      <a:xfrm>
                        <a:off x="2987675" y="1657350"/>
                        <a:ext cx="3079750" cy="4032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Effect transition="in" filter="checkerboard(across)">
                                      <p:cBhvr>
                                        <p:cTn id="7" dur="1000"/>
                                        <p:tgtEl>
                                          <p:spTgt spid="778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7836"/>
                                        </p:tgtEl>
                                        <p:attrNameLst>
                                          <p:attrName>style.visibility</p:attrName>
                                        </p:attrNameLst>
                                      </p:cBhvr>
                                      <p:to>
                                        <p:strVal val="visible"/>
                                      </p:to>
                                    </p:set>
                                    <p:animEffect transition="in" filter="wipe(left)">
                                      <p:cBhvr>
                                        <p:cTn id="17" dur="500"/>
                                        <p:tgtEl>
                                          <p:spTgt spid="778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7828"/>
                                        </p:tgtEl>
                                        <p:attrNameLst>
                                          <p:attrName>style.visibility</p:attrName>
                                        </p:attrNameLst>
                                      </p:cBhvr>
                                      <p:to>
                                        <p:strVal val="visible"/>
                                      </p:to>
                                    </p:set>
                                    <p:animEffect transition="in" filter="wipe(left)">
                                      <p:cBhvr>
                                        <p:cTn id="22" dur="500"/>
                                        <p:tgtEl>
                                          <p:spTgt spid="778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7826">
                                            <p:txEl>
                                              <p:pRg st="0" end="0"/>
                                            </p:txEl>
                                          </p:spTgt>
                                        </p:tgtEl>
                                        <p:attrNameLst>
                                          <p:attrName>style.visibility</p:attrName>
                                        </p:attrNameLst>
                                      </p:cBhvr>
                                      <p:to>
                                        <p:strVal val="visible"/>
                                      </p:to>
                                    </p:set>
                                    <p:animEffect transition="in" filter="dissolve">
                                      <p:cBhvr>
                                        <p:cTn id="27" dur="500"/>
                                        <p:tgtEl>
                                          <p:spTgt spid="7782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7826">
                                            <p:txEl>
                                              <p:pRg st="1" end="1"/>
                                            </p:txEl>
                                          </p:spTgt>
                                        </p:tgtEl>
                                        <p:attrNameLst>
                                          <p:attrName>style.visibility</p:attrName>
                                        </p:attrNameLst>
                                      </p:cBhvr>
                                      <p:to>
                                        <p:strVal val="visible"/>
                                      </p:to>
                                    </p:set>
                                    <p:animEffect transition="in" filter="dissolve">
                                      <p:cBhvr>
                                        <p:cTn id="32" dur="500"/>
                                        <p:tgtEl>
                                          <p:spTgt spid="7782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7830"/>
                                        </p:tgtEl>
                                        <p:attrNameLst>
                                          <p:attrName>style.visibility</p:attrName>
                                        </p:attrNameLst>
                                      </p:cBhvr>
                                      <p:to>
                                        <p:strVal val="visible"/>
                                      </p:to>
                                    </p:set>
                                    <p:animEffect transition="in" filter="wipe(left)">
                                      <p:cBhvr>
                                        <p:cTn id="37" dur="500"/>
                                        <p:tgtEl>
                                          <p:spTgt spid="77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p:bldP spid="7783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type="body" idx="4294967295"/>
          </p:nvPr>
        </p:nvSpPr>
        <p:spPr>
          <a:xfrm>
            <a:off x="250825" y="1236663"/>
            <a:ext cx="8496300" cy="720725"/>
          </a:xfrm>
        </p:spPr>
        <p:txBody>
          <a:bodyPr vert="horz" wrap="square" lIns="91440" tIns="45720" rIns="91440" bIns="45720" anchor="t" anchorCtr="0"/>
          <a:lstStyle/>
          <a:p>
            <a:pPr eaLnBrk="1" hangingPunct="1">
              <a:lnSpc>
                <a:spcPct val="125000"/>
              </a:lnSpc>
              <a:spcBef>
                <a:spcPct val="5000"/>
              </a:spcBef>
            </a:pPr>
            <a:r>
              <a:rPr lang="en-US" altLang="zh-CN" sz="2400" b="1" dirty="0"/>
              <a:t>电极反应为      </a:t>
            </a:r>
            <a:r>
              <a:rPr lang="zh-CN" altLang="en-US" sz="2400" b="1" dirty="0">
                <a:latin typeface="Times New Roman" panose="02020603050405020304" pitchFamily="18" charset="0"/>
              </a:rPr>
              <a:t>氧化态</a:t>
            </a:r>
            <a:r>
              <a:rPr lang="en-US" altLang="zh-CN" sz="2400" b="1" dirty="0">
                <a:latin typeface="Times New Roman" panose="02020603050405020304" pitchFamily="18" charset="0"/>
              </a:rPr>
              <a:t> + ze</a:t>
            </a:r>
            <a:r>
              <a:rPr lang="en-US" altLang="zh-CN" sz="2400" b="1" baseline="30000" dirty="0">
                <a:latin typeface="Times New Roman" panose="02020603050405020304" pitchFamily="18" charset="0"/>
              </a:rPr>
              <a:t>- </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还原态</a:t>
            </a:r>
          </a:p>
          <a:p>
            <a:pPr eaLnBrk="1" hangingPunct="1"/>
            <a:r>
              <a:rPr lang="en-US" altLang="zh-CN" sz="2400" b="1" dirty="0">
                <a:latin typeface="Times New Roman" panose="02020603050405020304" pitchFamily="18" charset="0"/>
              </a:rPr>
              <a:t>                   </a:t>
            </a:r>
          </a:p>
          <a:p>
            <a:pPr eaLnBrk="1" hangingPunct="1"/>
            <a:endParaRPr lang="en-US" altLang="zh-CN" sz="2400" b="1" dirty="0">
              <a:latin typeface="Times New Roman" panose="02020603050405020304" pitchFamily="18" charset="0"/>
            </a:endParaRPr>
          </a:p>
          <a:p>
            <a:pPr eaLnBrk="1" hangingPunct="1"/>
            <a:endParaRPr lang="en-US" altLang="zh-CN" sz="2400" b="1" dirty="0">
              <a:latin typeface="Times New Roman" panose="02020603050405020304" pitchFamily="18" charset="0"/>
            </a:endParaRPr>
          </a:p>
          <a:p>
            <a:pPr eaLnBrk="1" hangingPunct="1"/>
            <a:endParaRPr lang="en-US" altLang="zh-CN" sz="2400" b="1" dirty="0">
              <a:latin typeface="Times New Roman" panose="02020603050405020304" pitchFamily="18" charset="0"/>
            </a:endParaRPr>
          </a:p>
          <a:p>
            <a:pPr eaLnBrk="1" hangingPunct="1"/>
            <a:endParaRPr lang="en-US" altLang="zh-CN" sz="2400" b="1" dirty="0"/>
          </a:p>
        </p:txBody>
      </p:sp>
      <p:sp>
        <p:nvSpPr>
          <p:cNvPr id="64514"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64515"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64516"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 name="Group 6"/>
          <p:cNvGrpSpPr/>
          <p:nvPr/>
        </p:nvGrpSpPr>
        <p:grpSpPr>
          <a:xfrm>
            <a:off x="755650" y="517525"/>
            <a:ext cx="6119813" cy="461963"/>
            <a:chOff x="567" y="841"/>
            <a:chExt cx="3855" cy="349"/>
          </a:xfrm>
        </p:grpSpPr>
        <p:graphicFrame>
          <p:nvGraphicFramePr>
            <p:cNvPr id="64518" name="Object 7"/>
            <p:cNvGraphicFramePr>
              <a:graphicFrameLocks noChangeAspect="1"/>
            </p:cNvGraphicFramePr>
            <p:nvPr/>
          </p:nvGraphicFramePr>
          <p:xfrm>
            <a:off x="2789" y="890"/>
            <a:ext cx="1633" cy="270"/>
          </p:xfrm>
          <a:graphic>
            <a:graphicData uri="http://schemas.openxmlformats.org/presentationml/2006/ole">
              <mc:AlternateContent xmlns:mc="http://schemas.openxmlformats.org/markup-compatibility/2006">
                <mc:Choice xmlns:v="urn:schemas-microsoft-com:vml" Requires="v">
                  <p:oleObj r:id="rId2" imgW="1209040" imgH="203835" progId="Equation.DSMT4">
                    <p:embed/>
                  </p:oleObj>
                </mc:Choice>
                <mc:Fallback>
                  <p:oleObj r:id="rId2" imgW="1209040" imgH="203835" progId="Equation.DSMT4">
                    <p:embed/>
                    <p:pic>
                      <p:nvPicPr>
                        <p:cNvPr id="0" name="图片 3151"/>
                        <p:cNvPicPr/>
                        <p:nvPr/>
                      </p:nvPicPr>
                      <p:blipFill>
                        <a:blip r:embed="rId3"/>
                        <a:stretch>
                          <a:fillRect/>
                        </a:stretch>
                      </p:blipFill>
                      <p:spPr>
                        <a:xfrm>
                          <a:off x="2789" y="890"/>
                          <a:ext cx="1633" cy="270"/>
                        </a:xfrm>
                        <a:prstGeom prst="rect">
                          <a:avLst/>
                        </a:prstGeom>
                        <a:noFill/>
                        <a:ln w="38100">
                          <a:noFill/>
                          <a:miter/>
                        </a:ln>
                      </p:spPr>
                    </p:pic>
                  </p:oleObj>
                </mc:Fallback>
              </mc:AlternateContent>
            </a:graphicData>
          </a:graphic>
        </p:graphicFrame>
        <p:sp>
          <p:nvSpPr>
            <p:cNvPr id="64519" name="Rectangle 8"/>
            <p:cNvSpPr/>
            <p:nvPr/>
          </p:nvSpPr>
          <p:spPr>
            <a:xfrm>
              <a:off x="567" y="841"/>
              <a:ext cx="2313" cy="349"/>
            </a:xfrm>
            <a:prstGeom prst="rect">
              <a:avLst/>
            </a:prstGeom>
            <a:noFill/>
            <a:ln w="9525">
              <a:noFill/>
            </a:ln>
          </p:spPr>
          <p:txBody>
            <a:bodyPr anchor="t" anchorCtr="0">
              <a:spAutoFit/>
            </a:bodyPr>
            <a:lstStyle/>
            <a:p>
              <a:pPr>
                <a:spcBef>
                  <a:spcPct val="20000"/>
                </a:spcBef>
                <a:buChar char="•"/>
              </a:pPr>
              <a:r>
                <a:rPr lang="zh-CN" altLang="en-US" sz="2400" b="1" dirty="0">
                  <a:latin typeface="Arial" panose="020B0604020202020204" pitchFamily="34" charset="0"/>
                  <a:ea typeface="宋体" panose="02010600030101010101" pitchFamily="2" charset="-122"/>
                </a:rPr>
                <a:t>对于任一氧化还原反应，</a:t>
              </a:r>
            </a:p>
          </p:txBody>
        </p:sp>
      </p:grpSp>
      <p:graphicFrame>
        <p:nvGraphicFramePr>
          <p:cNvPr id="78857" name="Object 9"/>
          <p:cNvGraphicFramePr>
            <a:graphicFrameLocks noChangeAspect="1"/>
          </p:cNvGraphicFramePr>
          <p:nvPr/>
        </p:nvGraphicFramePr>
        <p:xfrm>
          <a:off x="2001838" y="2378075"/>
          <a:ext cx="4370387" cy="1077913"/>
        </p:xfrm>
        <a:graphic>
          <a:graphicData uri="http://schemas.openxmlformats.org/presentationml/2006/ole">
            <mc:AlternateContent xmlns:mc="http://schemas.openxmlformats.org/markup-compatibility/2006">
              <mc:Choice xmlns:v="urn:schemas-microsoft-com:vml" Requires="v">
                <p:oleObj r:id="rId4" imgW="1587500" imgH="469900" progId="Equation.DSMT4">
                  <p:embed/>
                </p:oleObj>
              </mc:Choice>
              <mc:Fallback>
                <p:oleObj r:id="rId4" imgW="1587500" imgH="469900" progId="Equation.DSMT4">
                  <p:embed/>
                  <p:pic>
                    <p:nvPicPr>
                      <p:cNvPr id="0" name="图片 3150"/>
                      <p:cNvPicPr/>
                      <p:nvPr/>
                    </p:nvPicPr>
                    <p:blipFill>
                      <a:blip r:embed="rId5"/>
                      <a:stretch>
                        <a:fillRect/>
                      </a:stretch>
                    </p:blipFill>
                    <p:spPr>
                      <a:xfrm>
                        <a:off x="2001838" y="2378075"/>
                        <a:ext cx="4370387" cy="1077913"/>
                      </a:xfrm>
                      <a:prstGeom prst="rect">
                        <a:avLst/>
                      </a:prstGeom>
                      <a:solidFill>
                        <a:srgbClr val="FFFF00"/>
                      </a:solidFill>
                      <a:ln w="38100">
                        <a:noFill/>
                        <a:miter/>
                      </a:ln>
                    </p:spPr>
                  </p:pic>
                </p:oleObj>
              </mc:Fallback>
            </mc:AlternateContent>
          </a:graphicData>
        </a:graphic>
      </p:graphicFrame>
      <p:sp>
        <p:nvSpPr>
          <p:cNvPr id="78858" name="Text Box 10"/>
          <p:cNvSpPr txBox="1"/>
          <p:nvPr/>
        </p:nvSpPr>
        <p:spPr>
          <a:xfrm>
            <a:off x="4572000" y="3697288"/>
            <a:ext cx="4032250" cy="523875"/>
          </a:xfrm>
          <a:prstGeom prst="rect">
            <a:avLst/>
          </a:prstGeom>
          <a:solidFill>
            <a:srgbClr val="800080"/>
          </a:solidFill>
          <a:ln w="9525">
            <a:noFill/>
          </a:ln>
        </p:spPr>
        <p:txBody>
          <a:bodyPr anchor="t" anchorCtr="0">
            <a:spAutoFit/>
          </a:bodyPr>
          <a:lstStyle/>
          <a:p>
            <a:pPr>
              <a:spcBef>
                <a:spcPct val="50000"/>
              </a:spcBef>
            </a:pPr>
            <a:r>
              <a:rPr lang="zh-CN" altLang="en-US" sz="2800" b="1" dirty="0">
                <a:solidFill>
                  <a:schemeClr val="bg1"/>
                </a:solidFill>
                <a:latin typeface="Times New Roman" panose="02020603050405020304" pitchFamily="18" charset="0"/>
                <a:ea typeface="宋体" panose="02010600030101010101" pitchFamily="2" charset="-122"/>
              </a:rPr>
              <a:t>电极电势的能斯特方程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50">
                                            <p:txEl>
                                              <p:pRg st="0" end="0"/>
                                            </p:txEl>
                                          </p:spTgt>
                                        </p:tgtEl>
                                        <p:attrNameLst>
                                          <p:attrName>style.visibility</p:attrName>
                                        </p:attrNameLst>
                                      </p:cBhvr>
                                      <p:to>
                                        <p:strVal val="visible"/>
                                      </p:to>
                                    </p:set>
                                    <p:animEffect transition="in" filter="dissolve">
                                      <p:cBhvr>
                                        <p:cTn id="12" dur="500"/>
                                        <p:tgtEl>
                                          <p:spTgt spid="7885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50">
                                            <p:txEl>
                                              <p:pRg st="1" end="1"/>
                                            </p:txEl>
                                          </p:spTgt>
                                        </p:tgtEl>
                                        <p:attrNameLst>
                                          <p:attrName>style.visibility</p:attrName>
                                        </p:attrNameLst>
                                      </p:cBhvr>
                                      <p:to>
                                        <p:strVal val="visible"/>
                                      </p:to>
                                    </p:set>
                                    <p:animEffect transition="in" filter="dissolve">
                                      <p:cBhvr>
                                        <p:cTn id="17" dur="500"/>
                                        <p:tgtEl>
                                          <p:spTgt spid="7885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78857"/>
                                        </p:tgtEl>
                                        <p:attrNameLst>
                                          <p:attrName>style.visibility</p:attrName>
                                        </p:attrNameLst>
                                      </p:cBhvr>
                                      <p:to>
                                        <p:strVal val="visible"/>
                                      </p:to>
                                    </p:set>
                                    <p:animEffect transition="in" filter="barn(inHorizontal)">
                                      <p:cBhvr>
                                        <p:cTn id="22" dur="500"/>
                                        <p:tgtEl>
                                          <p:spTgt spid="7885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858"/>
                                        </p:tgtEl>
                                        <p:attrNameLst>
                                          <p:attrName>style.visibility</p:attrName>
                                        </p:attrNameLst>
                                      </p:cBhvr>
                                      <p:to>
                                        <p:strVal val="visible"/>
                                      </p:to>
                                    </p:set>
                                    <p:animEffect transition="in" filter="blinds(horizontal)">
                                      <p:cBhvr>
                                        <p:cTn id="27" dur="2000"/>
                                        <p:tgtEl>
                                          <p:spTgt spid="7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7885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p:cNvGraphicFramePr>
            <a:graphicFrameLocks noChangeAspect="1"/>
          </p:cNvGraphicFramePr>
          <p:nvPr/>
        </p:nvGraphicFramePr>
        <p:xfrm>
          <a:off x="1411288" y="1169988"/>
          <a:ext cx="5918200" cy="557212"/>
        </p:xfrm>
        <a:graphic>
          <a:graphicData uri="http://schemas.openxmlformats.org/presentationml/2006/ole">
            <mc:AlternateContent xmlns:mc="http://schemas.openxmlformats.org/markup-compatibility/2006">
              <mc:Choice xmlns:v="urn:schemas-microsoft-com:vml" Requires="v">
                <p:oleObj r:id="rId2" imgW="2463165" imgH="279400" progId="Equation.3">
                  <p:embed/>
                </p:oleObj>
              </mc:Choice>
              <mc:Fallback>
                <p:oleObj r:id="rId2" imgW="2463165" imgH="279400" progId="Equation.3">
                  <p:embed/>
                  <p:pic>
                    <p:nvPicPr>
                      <p:cNvPr id="0" name="图片 3155"/>
                      <p:cNvPicPr/>
                      <p:nvPr/>
                    </p:nvPicPr>
                    <p:blipFill>
                      <a:blip r:embed="rId3"/>
                      <a:stretch>
                        <a:fillRect/>
                      </a:stretch>
                    </p:blipFill>
                    <p:spPr>
                      <a:xfrm>
                        <a:off x="1411288" y="1169988"/>
                        <a:ext cx="5918200" cy="557212"/>
                      </a:xfrm>
                      <a:prstGeom prst="rect">
                        <a:avLst/>
                      </a:prstGeom>
                      <a:noFill/>
                      <a:ln w="38100">
                        <a:noFill/>
                        <a:miter/>
                      </a:ln>
                    </p:spPr>
                  </p:pic>
                </p:oleObj>
              </mc:Fallback>
            </mc:AlternateContent>
          </a:graphicData>
        </a:graphic>
      </p:graphicFrame>
      <p:sp>
        <p:nvSpPr>
          <p:cNvPr id="79875" name="Line 3"/>
          <p:cNvSpPr/>
          <p:nvPr/>
        </p:nvSpPr>
        <p:spPr>
          <a:xfrm>
            <a:off x="971550" y="2917825"/>
            <a:ext cx="7613650" cy="0"/>
          </a:xfrm>
          <a:prstGeom prst="line">
            <a:avLst/>
          </a:prstGeom>
          <a:ln w="38100" cap="flat" cmpd="sng">
            <a:solidFill>
              <a:srgbClr val="CC99FF"/>
            </a:solidFill>
            <a:prstDash val="solid"/>
            <a:round/>
            <a:headEnd type="none" w="med" len="med"/>
            <a:tailEnd type="none" w="med" len="med"/>
          </a:ln>
        </p:spPr>
      </p:sp>
      <p:graphicFrame>
        <p:nvGraphicFramePr>
          <p:cNvPr id="79876" name="Object 4"/>
          <p:cNvGraphicFramePr>
            <a:graphicFrameLocks noChangeAspect="1"/>
          </p:cNvGraphicFramePr>
          <p:nvPr/>
        </p:nvGraphicFramePr>
        <p:xfrm>
          <a:off x="1116013" y="3157538"/>
          <a:ext cx="6983412" cy="454025"/>
        </p:xfrm>
        <a:graphic>
          <a:graphicData uri="http://schemas.openxmlformats.org/presentationml/2006/ole">
            <mc:AlternateContent xmlns:mc="http://schemas.openxmlformats.org/markup-compatibility/2006">
              <mc:Choice xmlns:v="urn:schemas-microsoft-com:vml" Requires="v">
                <p:oleObj r:id="rId4" imgW="2933700" imgH="228600" progId="Equation.3">
                  <p:embed/>
                </p:oleObj>
              </mc:Choice>
              <mc:Fallback>
                <p:oleObj r:id="rId4" imgW="2933700" imgH="228600" progId="Equation.3">
                  <p:embed/>
                  <p:pic>
                    <p:nvPicPr>
                      <p:cNvPr id="0" name="图片 3160"/>
                      <p:cNvPicPr/>
                      <p:nvPr/>
                    </p:nvPicPr>
                    <p:blipFill>
                      <a:blip r:embed="rId5"/>
                      <a:stretch>
                        <a:fillRect/>
                      </a:stretch>
                    </p:blipFill>
                    <p:spPr>
                      <a:xfrm>
                        <a:off x="1116013" y="3157538"/>
                        <a:ext cx="6983412" cy="454025"/>
                      </a:xfrm>
                      <a:prstGeom prst="rect">
                        <a:avLst/>
                      </a:prstGeom>
                      <a:noFill/>
                      <a:ln w="38100">
                        <a:noFill/>
                        <a:miter/>
                      </a:ln>
                    </p:spPr>
                  </p:pic>
                </p:oleObj>
              </mc:Fallback>
            </mc:AlternateContent>
          </a:graphicData>
        </a:graphic>
      </p:graphicFrame>
      <p:graphicFrame>
        <p:nvGraphicFramePr>
          <p:cNvPr id="79877" name="Object 5"/>
          <p:cNvGraphicFramePr>
            <a:graphicFrameLocks noChangeAspect="1"/>
          </p:cNvGraphicFramePr>
          <p:nvPr/>
        </p:nvGraphicFramePr>
        <p:xfrm>
          <a:off x="1597025" y="3817938"/>
          <a:ext cx="4941888" cy="981075"/>
        </p:xfrm>
        <a:graphic>
          <a:graphicData uri="http://schemas.openxmlformats.org/presentationml/2006/ole">
            <mc:AlternateContent xmlns:mc="http://schemas.openxmlformats.org/markup-compatibility/2006">
              <mc:Choice xmlns:v="urn:schemas-microsoft-com:vml" Requires="v">
                <p:oleObj r:id="rId6" imgW="1917700" imgH="457200" progId="Equation.3">
                  <p:embed/>
                </p:oleObj>
              </mc:Choice>
              <mc:Fallback>
                <p:oleObj r:id="rId6" imgW="1917700" imgH="457200" progId="Equation.3">
                  <p:embed/>
                  <p:pic>
                    <p:nvPicPr>
                      <p:cNvPr id="0" name="图片 3156"/>
                      <p:cNvPicPr/>
                      <p:nvPr/>
                    </p:nvPicPr>
                    <p:blipFill>
                      <a:blip r:embed="rId7"/>
                      <a:stretch>
                        <a:fillRect/>
                      </a:stretch>
                    </p:blipFill>
                    <p:spPr>
                      <a:xfrm>
                        <a:off x="1597025" y="3817938"/>
                        <a:ext cx="4941888" cy="981075"/>
                      </a:xfrm>
                      <a:prstGeom prst="rect">
                        <a:avLst/>
                      </a:prstGeom>
                      <a:noFill/>
                      <a:ln w="38100">
                        <a:noFill/>
                        <a:miter/>
                      </a:ln>
                    </p:spPr>
                  </p:pic>
                </p:oleObj>
              </mc:Fallback>
            </mc:AlternateContent>
          </a:graphicData>
        </a:graphic>
      </p:graphicFrame>
      <p:grpSp>
        <p:nvGrpSpPr>
          <p:cNvPr id="2" name="Group 6"/>
          <p:cNvGrpSpPr/>
          <p:nvPr/>
        </p:nvGrpSpPr>
        <p:grpSpPr>
          <a:xfrm>
            <a:off x="1835150" y="1836738"/>
            <a:ext cx="3617913" cy="990600"/>
            <a:chOff x="1104" y="1491"/>
            <a:chExt cx="2279" cy="748"/>
          </a:xfrm>
        </p:grpSpPr>
        <p:graphicFrame>
          <p:nvGraphicFramePr>
            <p:cNvPr id="65542" name="Object 7"/>
            <p:cNvGraphicFramePr>
              <a:graphicFrameLocks noChangeAspect="1"/>
            </p:cNvGraphicFramePr>
            <p:nvPr/>
          </p:nvGraphicFramePr>
          <p:xfrm>
            <a:off x="1104" y="1888"/>
            <a:ext cx="2279" cy="351"/>
          </p:xfrm>
          <a:graphic>
            <a:graphicData uri="http://schemas.openxmlformats.org/presentationml/2006/ole">
              <mc:AlternateContent xmlns:mc="http://schemas.openxmlformats.org/markup-compatibility/2006">
                <mc:Choice xmlns:v="urn:schemas-microsoft-com:vml" Requires="v">
                  <p:oleObj r:id="rId8" imgW="1485900" imgH="228600" progId="Equation.3">
                    <p:embed/>
                  </p:oleObj>
                </mc:Choice>
                <mc:Fallback>
                  <p:oleObj r:id="rId8" imgW="1485900" imgH="228600" progId="Equation.3">
                    <p:embed/>
                    <p:pic>
                      <p:nvPicPr>
                        <p:cNvPr id="0" name="图片 3149"/>
                        <p:cNvPicPr/>
                        <p:nvPr/>
                      </p:nvPicPr>
                      <p:blipFill>
                        <a:blip r:embed="rId9"/>
                        <a:stretch>
                          <a:fillRect/>
                        </a:stretch>
                      </p:blipFill>
                      <p:spPr>
                        <a:xfrm>
                          <a:off x="1104" y="1888"/>
                          <a:ext cx="2279" cy="351"/>
                        </a:xfrm>
                        <a:prstGeom prst="rect">
                          <a:avLst/>
                        </a:prstGeom>
                        <a:noFill/>
                        <a:ln w="38100">
                          <a:noFill/>
                          <a:miter/>
                        </a:ln>
                      </p:spPr>
                    </p:pic>
                  </p:oleObj>
                </mc:Fallback>
              </mc:AlternateContent>
            </a:graphicData>
          </a:graphic>
        </p:graphicFrame>
        <p:graphicFrame>
          <p:nvGraphicFramePr>
            <p:cNvPr id="65543" name="Object 8"/>
            <p:cNvGraphicFramePr>
              <a:graphicFrameLocks noChangeAspect="1"/>
            </p:cNvGraphicFramePr>
            <p:nvPr/>
          </p:nvGraphicFramePr>
          <p:xfrm>
            <a:off x="1391" y="1491"/>
            <a:ext cx="1949" cy="351"/>
          </p:xfrm>
          <a:graphic>
            <a:graphicData uri="http://schemas.openxmlformats.org/presentationml/2006/ole">
              <mc:AlternateContent xmlns:mc="http://schemas.openxmlformats.org/markup-compatibility/2006">
                <mc:Choice xmlns:v="urn:schemas-microsoft-com:vml" Requires="v">
                  <p:oleObj r:id="rId10" imgW="1270000" imgH="228600" progId="Equation.3">
                    <p:embed/>
                  </p:oleObj>
                </mc:Choice>
                <mc:Fallback>
                  <p:oleObj r:id="rId10" imgW="1270000" imgH="228600" progId="Equation.3">
                    <p:embed/>
                    <p:pic>
                      <p:nvPicPr>
                        <p:cNvPr id="0" name="图片 3152"/>
                        <p:cNvPicPr/>
                        <p:nvPr/>
                      </p:nvPicPr>
                      <p:blipFill>
                        <a:blip r:embed="rId11"/>
                        <a:stretch>
                          <a:fillRect/>
                        </a:stretch>
                      </p:blipFill>
                      <p:spPr>
                        <a:xfrm>
                          <a:off x="1391" y="1491"/>
                          <a:ext cx="1949" cy="351"/>
                        </a:xfrm>
                        <a:prstGeom prst="rect">
                          <a:avLst/>
                        </a:prstGeom>
                        <a:noFill/>
                        <a:ln w="38100">
                          <a:noFill/>
                          <a:miter/>
                        </a:ln>
                      </p:spPr>
                    </p:pic>
                  </p:oleObj>
                </mc:Fallback>
              </mc:AlternateContent>
            </a:graphicData>
          </a:graphic>
        </p:graphicFrame>
      </p:grpSp>
      <p:sp>
        <p:nvSpPr>
          <p:cNvPr id="65544" name="Rectangle 9"/>
          <p:cNvSpPr/>
          <p:nvPr/>
        </p:nvSpPr>
        <p:spPr>
          <a:xfrm>
            <a:off x="0" y="457200"/>
            <a:ext cx="3924300" cy="523875"/>
          </a:xfrm>
          <a:prstGeom prst="rect">
            <a:avLst/>
          </a:prstGeom>
          <a:solidFill>
            <a:srgbClr val="CC99FF"/>
          </a:solidFill>
          <a:ln w="9525">
            <a:noFill/>
          </a:ln>
        </p:spPr>
        <p:txBody>
          <a:bodyPr anchor="t" anchorCtr="0">
            <a:spAutoFit/>
          </a:bodyPr>
          <a:lstStyle/>
          <a:p>
            <a:pPr>
              <a:spcBef>
                <a:spcPct val="20000"/>
              </a:spcBef>
              <a:buChar char="•"/>
            </a:pPr>
            <a:r>
              <a:rPr lang="zh-CN" altLang="en-US" sz="2800" b="1" dirty="0">
                <a:latin typeface="Times New Roman" panose="02020603050405020304" pitchFamily="18" charset="0"/>
                <a:ea typeface="宋体" panose="02010600030101010101" pitchFamily="2" charset="-122"/>
              </a:rPr>
              <a:t>能斯特公式的应用举例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diamond(in)">
                                      <p:cBhvr>
                                        <p:cTn id="7" dur="1000"/>
                                        <p:tgtEl>
                                          <p:spTgt spid="7987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79875"/>
                                        </p:tgtEl>
                                        <p:attrNameLst>
                                          <p:attrName>style.visibility</p:attrName>
                                        </p:attrNameLst>
                                      </p:cBhvr>
                                      <p:to>
                                        <p:strVal val="visible"/>
                                      </p:to>
                                    </p:set>
                                    <p:animEffect transition="in" filter="blinds(vertical)">
                                      <p:cBhvr>
                                        <p:cTn id="17" dur="1000"/>
                                        <p:tgtEl>
                                          <p:spTgt spid="7987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9876"/>
                                        </p:tgtEl>
                                        <p:attrNameLst>
                                          <p:attrName>style.visibility</p:attrName>
                                        </p:attrNameLst>
                                      </p:cBhvr>
                                      <p:to>
                                        <p:strVal val="visible"/>
                                      </p:to>
                                    </p:set>
                                    <p:animEffect transition="in" filter="slide(fromBottom)">
                                      <p:cBhvr>
                                        <p:cTn id="22" dur="500"/>
                                        <p:tgtEl>
                                          <p:spTgt spid="7987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9877"/>
                                        </p:tgtEl>
                                        <p:attrNameLst>
                                          <p:attrName>style.visibility</p:attrName>
                                        </p:attrNameLst>
                                      </p:cBhvr>
                                      <p:to>
                                        <p:strVal val="visible"/>
                                      </p:to>
                                    </p:set>
                                    <p:animEffect transition="in" filter="slide(fromBottom)">
                                      <p:cBhvr>
                                        <p:cTn id="27" dur="500"/>
                                        <p:tgtEl>
                                          <p:spTgt spid="7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p:cNvGraphicFramePr>
            <a:graphicFrameLocks noChangeAspect="1"/>
          </p:cNvGraphicFramePr>
          <p:nvPr/>
        </p:nvGraphicFramePr>
        <p:xfrm>
          <a:off x="908050" y="3098800"/>
          <a:ext cx="6462713" cy="1084263"/>
        </p:xfrm>
        <a:graphic>
          <a:graphicData uri="http://schemas.openxmlformats.org/presentationml/2006/ole">
            <mc:AlternateContent xmlns:mc="http://schemas.openxmlformats.org/markup-compatibility/2006">
              <mc:Choice xmlns:v="urn:schemas-microsoft-com:vml" Requires="v">
                <p:oleObj r:id="rId2" imgW="2336800" imgH="469900" progId="Equation.3">
                  <p:embed/>
                </p:oleObj>
              </mc:Choice>
              <mc:Fallback>
                <p:oleObj r:id="rId2" imgW="2336800" imgH="469900" progId="Equation.3">
                  <p:embed/>
                  <p:pic>
                    <p:nvPicPr>
                      <p:cNvPr id="0" name="图片 3154"/>
                      <p:cNvPicPr/>
                      <p:nvPr/>
                    </p:nvPicPr>
                    <p:blipFill>
                      <a:blip r:embed="rId3"/>
                      <a:stretch>
                        <a:fillRect/>
                      </a:stretch>
                    </p:blipFill>
                    <p:spPr>
                      <a:xfrm>
                        <a:off x="908050" y="3098800"/>
                        <a:ext cx="6462713" cy="1084263"/>
                      </a:xfrm>
                      <a:prstGeom prst="rect">
                        <a:avLst/>
                      </a:prstGeom>
                      <a:noFill/>
                      <a:ln w="38100">
                        <a:noFill/>
                        <a:miter/>
                      </a:ln>
                    </p:spPr>
                  </p:pic>
                </p:oleObj>
              </mc:Fallback>
            </mc:AlternateContent>
          </a:graphicData>
        </a:graphic>
      </p:graphicFrame>
      <p:graphicFrame>
        <p:nvGraphicFramePr>
          <p:cNvPr id="80899" name="Object 3"/>
          <p:cNvGraphicFramePr>
            <a:graphicFrameLocks noChangeAspect="1"/>
          </p:cNvGraphicFramePr>
          <p:nvPr/>
        </p:nvGraphicFramePr>
        <p:xfrm>
          <a:off x="1003300" y="696913"/>
          <a:ext cx="6630988" cy="1117600"/>
        </p:xfrm>
        <a:graphic>
          <a:graphicData uri="http://schemas.openxmlformats.org/presentationml/2006/ole">
            <mc:AlternateContent xmlns:mc="http://schemas.openxmlformats.org/markup-compatibility/2006">
              <mc:Choice xmlns:v="urn:schemas-microsoft-com:vml" Requires="v">
                <p:oleObj r:id="rId4" imgW="2576830" imgH="520700" progId="Equation.3">
                  <p:embed/>
                </p:oleObj>
              </mc:Choice>
              <mc:Fallback>
                <p:oleObj r:id="rId4" imgW="2576830" imgH="520700" progId="Equation.3">
                  <p:embed/>
                  <p:pic>
                    <p:nvPicPr>
                      <p:cNvPr id="0" name="图片 3158"/>
                      <p:cNvPicPr/>
                      <p:nvPr/>
                    </p:nvPicPr>
                    <p:blipFill>
                      <a:blip r:embed="rId5"/>
                      <a:stretch>
                        <a:fillRect/>
                      </a:stretch>
                    </p:blipFill>
                    <p:spPr>
                      <a:xfrm>
                        <a:off x="1003300" y="696913"/>
                        <a:ext cx="6630988" cy="1117600"/>
                      </a:xfrm>
                      <a:prstGeom prst="rect">
                        <a:avLst/>
                      </a:prstGeom>
                      <a:noFill/>
                      <a:ln w="38100">
                        <a:noFill/>
                        <a:miter/>
                      </a:ln>
                    </p:spPr>
                  </p:pic>
                </p:oleObj>
              </mc:Fallback>
            </mc:AlternateContent>
          </a:graphicData>
        </a:graphic>
      </p:graphicFrame>
      <p:graphicFrame>
        <p:nvGraphicFramePr>
          <p:cNvPr id="80900" name="Object 4"/>
          <p:cNvGraphicFramePr>
            <a:graphicFrameLocks noChangeAspect="1"/>
          </p:cNvGraphicFramePr>
          <p:nvPr/>
        </p:nvGraphicFramePr>
        <p:xfrm>
          <a:off x="1414463" y="1909763"/>
          <a:ext cx="3940175" cy="1049337"/>
        </p:xfrm>
        <a:graphic>
          <a:graphicData uri="http://schemas.openxmlformats.org/presentationml/2006/ole">
            <mc:AlternateContent xmlns:mc="http://schemas.openxmlformats.org/markup-compatibility/2006">
              <mc:Choice xmlns:v="urn:schemas-microsoft-com:vml" Requires="v">
                <p:oleObj r:id="rId6" imgW="1511300" imgH="482600" progId="Equation.3">
                  <p:embed/>
                </p:oleObj>
              </mc:Choice>
              <mc:Fallback>
                <p:oleObj r:id="rId6" imgW="1511300" imgH="482600" progId="Equation.3">
                  <p:embed/>
                  <p:pic>
                    <p:nvPicPr>
                      <p:cNvPr id="0" name="图片 3159"/>
                      <p:cNvPicPr/>
                      <p:nvPr/>
                    </p:nvPicPr>
                    <p:blipFill>
                      <a:blip r:embed="rId7"/>
                      <a:stretch>
                        <a:fillRect/>
                      </a:stretch>
                    </p:blipFill>
                    <p:spPr>
                      <a:xfrm>
                        <a:off x="1414463" y="1909763"/>
                        <a:ext cx="3940175" cy="1049337"/>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wedge">
                                      <p:cBhvr>
                                        <p:cTn id="7" dur="1000"/>
                                        <p:tgtEl>
                                          <p:spTgt spid="8089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0900"/>
                                        </p:tgtEl>
                                        <p:attrNameLst>
                                          <p:attrName>style.visibility</p:attrName>
                                        </p:attrNameLst>
                                      </p:cBhvr>
                                      <p:to>
                                        <p:strVal val="visible"/>
                                      </p:to>
                                    </p:set>
                                    <p:animEffect transition="in" filter="slide(fromBottom)">
                                      <p:cBhvr>
                                        <p:cTn id="12" dur="500"/>
                                        <p:tgtEl>
                                          <p:spTgt spid="8090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80898"/>
                                        </p:tgtEl>
                                        <p:attrNameLst>
                                          <p:attrName>style.visibility</p:attrName>
                                        </p:attrNameLst>
                                      </p:cBhvr>
                                      <p:to>
                                        <p:strVal val="visible"/>
                                      </p:to>
                                    </p:set>
                                    <p:animEffect transition="in" filter="barn(inHorizontal)">
                                      <p:cBhvr>
                                        <p:cTn id="17"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52</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67586" name="文本框 1271810"/>
          <p:cNvSpPr txBox="1"/>
          <p:nvPr/>
        </p:nvSpPr>
        <p:spPr>
          <a:xfrm>
            <a:off x="1116013" y="111601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aphicFrame>
        <p:nvGraphicFramePr>
          <p:cNvPr id="1271812" name="对象 1271811"/>
          <p:cNvGraphicFramePr/>
          <p:nvPr/>
        </p:nvGraphicFramePr>
        <p:xfrm>
          <a:off x="1905000" y="2373313"/>
          <a:ext cx="3838575" cy="844550"/>
        </p:xfrm>
        <a:graphic>
          <a:graphicData uri="http://schemas.openxmlformats.org/presentationml/2006/ole">
            <mc:AlternateContent xmlns:mc="http://schemas.openxmlformats.org/markup-compatibility/2006">
              <mc:Choice xmlns:v="urn:schemas-microsoft-com:vml" Requires="v">
                <p:oleObj r:id="rId2" imgW="1587500" imgH="419100" progId="Equation.3">
                  <p:embed/>
                </p:oleObj>
              </mc:Choice>
              <mc:Fallback>
                <p:oleObj r:id="rId2" imgW="1587500" imgH="419100" progId="Equation.3">
                  <p:embed/>
                  <p:pic>
                    <p:nvPicPr>
                      <p:cNvPr id="0" name="图片 3163"/>
                      <p:cNvPicPr/>
                      <p:nvPr/>
                    </p:nvPicPr>
                    <p:blipFill>
                      <a:blip r:embed="rId3"/>
                      <a:stretch>
                        <a:fillRect/>
                      </a:stretch>
                    </p:blipFill>
                    <p:spPr>
                      <a:xfrm>
                        <a:off x="1905000" y="2373313"/>
                        <a:ext cx="3838575" cy="844550"/>
                      </a:xfrm>
                      <a:prstGeom prst="rect">
                        <a:avLst/>
                      </a:prstGeom>
                      <a:solidFill>
                        <a:schemeClr val="bg1"/>
                      </a:solidFill>
                      <a:ln w="38100">
                        <a:noFill/>
                        <a:miter/>
                      </a:ln>
                    </p:spPr>
                  </p:pic>
                </p:oleObj>
              </mc:Fallback>
            </mc:AlternateContent>
          </a:graphicData>
        </a:graphic>
      </p:graphicFrame>
      <p:graphicFrame>
        <p:nvGraphicFramePr>
          <p:cNvPr id="1271813" name="对象 1271812"/>
          <p:cNvGraphicFramePr/>
          <p:nvPr/>
        </p:nvGraphicFramePr>
        <p:xfrm>
          <a:off x="1598613" y="3684588"/>
          <a:ext cx="5435600" cy="792162"/>
        </p:xfrm>
        <a:graphic>
          <a:graphicData uri="http://schemas.openxmlformats.org/presentationml/2006/ole">
            <mc:AlternateContent xmlns:mc="http://schemas.openxmlformats.org/markup-compatibility/2006">
              <mc:Choice xmlns:v="urn:schemas-microsoft-com:vml" Requires="v">
                <p:oleObj r:id="rId4" imgW="2246630" imgH="393700" progId="Equation.3">
                  <p:embed/>
                </p:oleObj>
              </mc:Choice>
              <mc:Fallback>
                <p:oleObj r:id="rId4" imgW="2246630" imgH="393700" progId="Equation.3">
                  <p:embed/>
                  <p:pic>
                    <p:nvPicPr>
                      <p:cNvPr id="0" name="图片 3164"/>
                      <p:cNvPicPr/>
                      <p:nvPr/>
                    </p:nvPicPr>
                    <p:blipFill>
                      <a:blip r:embed="rId5"/>
                      <a:stretch>
                        <a:fillRect/>
                      </a:stretch>
                    </p:blipFill>
                    <p:spPr>
                      <a:xfrm>
                        <a:off x="1598613" y="3684588"/>
                        <a:ext cx="5435600" cy="792162"/>
                      </a:xfrm>
                      <a:prstGeom prst="rect">
                        <a:avLst/>
                      </a:prstGeom>
                      <a:solidFill>
                        <a:schemeClr val="bg1"/>
                      </a:solidFill>
                      <a:ln w="38100">
                        <a:noFill/>
                        <a:miter/>
                      </a:ln>
                    </p:spPr>
                  </p:pic>
                </p:oleObj>
              </mc:Fallback>
            </mc:AlternateContent>
          </a:graphicData>
        </a:graphic>
      </p:graphicFrame>
      <p:sp>
        <p:nvSpPr>
          <p:cNvPr id="1271814" name="矩形 1271813"/>
          <p:cNvSpPr/>
          <p:nvPr/>
        </p:nvSpPr>
        <p:spPr>
          <a:xfrm>
            <a:off x="611188" y="576263"/>
            <a:ext cx="8137525" cy="523875"/>
          </a:xfrm>
          <a:prstGeom prst="rect">
            <a:avLst/>
          </a:prstGeom>
          <a:noFill/>
          <a:ln w="12700">
            <a:noFill/>
          </a:ln>
        </p:spPr>
        <p:txBody>
          <a:bodyPr anchor="t" anchorCtr="0">
            <a:spAutoFit/>
          </a:bodyPr>
          <a:lstStyle/>
          <a:p>
            <a:r>
              <a:rPr lang="zh-CN" altLang="en-US" sz="2800" b="1" dirty="0">
                <a:solidFill>
                  <a:srgbClr val="FFFF00"/>
                </a:solidFill>
                <a:latin typeface="Times New Roman" panose="02020603050405020304" pitchFamily="18" charset="0"/>
                <a:ea typeface="黑体" panose="02010609060101010101" pitchFamily="49" charset="-122"/>
              </a:rPr>
              <a:t>离子浓度改变时电极电势发生改变</a:t>
            </a:r>
            <a:endParaRPr lang="en-US" altLang="zh-CN" sz="2800" b="1" dirty="0">
              <a:solidFill>
                <a:srgbClr val="FFFF00"/>
              </a:solidFill>
              <a:latin typeface="Times New Roman" panose="02020603050405020304" pitchFamily="18" charset="0"/>
              <a:ea typeface="黑体" panose="02010609060101010101" pitchFamily="49" charset="-122"/>
            </a:endParaRPr>
          </a:p>
        </p:txBody>
      </p:sp>
      <p:sp>
        <p:nvSpPr>
          <p:cNvPr id="1271815" name="矩形 1271814"/>
          <p:cNvSpPr/>
          <p:nvPr/>
        </p:nvSpPr>
        <p:spPr>
          <a:xfrm>
            <a:off x="468313" y="1085850"/>
            <a:ext cx="8137525"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例</a:t>
            </a:r>
            <a:r>
              <a:rPr lang="en-US" altLang="zh-CN" sz="2800" b="1" dirty="0">
                <a:solidFill>
                  <a:srgbClr val="FFFFFF"/>
                </a:solidFill>
                <a:latin typeface="Times New Roman" panose="02020603050405020304" pitchFamily="18" charset="0"/>
                <a:ea typeface="黑体" panose="02010609060101010101" pitchFamily="49" charset="-122"/>
              </a:rPr>
              <a:t>1</a:t>
            </a:r>
            <a:r>
              <a:rPr lang="zh-CN" altLang="en-US" sz="2800" b="1" dirty="0">
                <a:solidFill>
                  <a:srgbClr val="FFFFFF"/>
                </a:solidFill>
                <a:latin typeface="Times New Roman" panose="02020603050405020304" pitchFamily="18" charset="0"/>
                <a:ea typeface="黑体" panose="02010609060101010101" pitchFamily="49" charset="-122"/>
              </a:rPr>
              <a:t>，求</a:t>
            </a:r>
            <a:r>
              <a:rPr lang="en-US" altLang="zh-CN" sz="2800" b="1" dirty="0">
                <a:solidFill>
                  <a:srgbClr val="FFFFFF"/>
                </a:solidFill>
                <a:latin typeface="Times New Roman" panose="02020603050405020304" pitchFamily="18" charset="0"/>
                <a:ea typeface="黑体" panose="02010609060101010101" pitchFamily="49" charset="-122"/>
              </a:rPr>
              <a:t>298K</a:t>
            </a:r>
            <a:r>
              <a:rPr lang="zh-CN" altLang="en-US" sz="2800" b="1" dirty="0">
                <a:solidFill>
                  <a:srgbClr val="FFFFFF"/>
                </a:solidFill>
                <a:latin typeface="Times New Roman" panose="02020603050405020304" pitchFamily="18" charset="0"/>
                <a:ea typeface="黑体" panose="02010609060101010101" pitchFamily="49" charset="-122"/>
              </a:rPr>
              <a:t>时，</a:t>
            </a:r>
            <a:r>
              <a:rPr lang="en-US" altLang="zh-CN" sz="2800" b="1" dirty="0">
                <a:solidFill>
                  <a:srgbClr val="FFFFFF"/>
                </a:solidFill>
                <a:latin typeface="Times New Roman" panose="02020603050405020304" pitchFamily="18" charset="0"/>
                <a:ea typeface="黑体" panose="02010609060101010101" pitchFamily="49" charset="-122"/>
              </a:rPr>
              <a:t>Zn</a:t>
            </a:r>
            <a:r>
              <a:rPr lang="zh-CN" altLang="en-US" sz="2800" b="1" dirty="0">
                <a:solidFill>
                  <a:srgbClr val="FFFFFF"/>
                </a:solidFill>
                <a:latin typeface="Times New Roman" panose="02020603050405020304" pitchFamily="18" charset="0"/>
                <a:ea typeface="黑体" panose="02010609060101010101" pitchFamily="49" charset="-122"/>
              </a:rPr>
              <a:t>放在</a:t>
            </a:r>
            <a:r>
              <a:rPr lang="en-US" altLang="zh-CN" sz="2800" b="1" dirty="0">
                <a:solidFill>
                  <a:srgbClr val="FFFFFF"/>
                </a:solidFill>
                <a:latin typeface="Times New Roman" panose="02020603050405020304" pitchFamily="18" charset="0"/>
                <a:ea typeface="黑体" panose="02010609060101010101" pitchFamily="49" charset="-122"/>
              </a:rPr>
              <a:t>0.1 mol</a:t>
            </a:r>
            <a:r>
              <a:rPr lang="en-US" altLang="zh-CN" sz="2000" dirty="0">
                <a:solidFill>
                  <a:srgbClr val="FFFFFF"/>
                </a:solidFill>
                <a:latin typeface="宋体" panose="02010600030101010101" pitchFamily="2" charset="-122"/>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L</a:t>
            </a:r>
            <a:r>
              <a:rPr lang="en-US" altLang="zh-CN" sz="2800" b="1" baseline="30000" dirty="0">
                <a:solidFill>
                  <a:srgbClr val="FFFFFF"/>
                </a:solidFill>
                <a:latin typeface="Times New Roman" panose="02020603050405020304" pitchFamily="18" charset="0"/>
                <a:ea typeface="黑体" panose="02010609060101010101" pitchFamily="49" charset="-122"/>
              </a:rPr>
              <a:t>-1</a:t>
            </a:r>
            <a:r>
              <a:rPr lang="en-US" altLang="zh-CN" sz="2800" b="1" dirty="0">
                <a:solidFill>
                  <a:srgbClr val="FFFFFF"/>
                </a:solidFill>
                <a:latin typeface="Times New Roman" panose="02020603050405020304" pitchFamily="18" charset="0"/>
                <a:ea typeface="黑体" panose="02010609060101010101" pitchFamily="49" charset="-122"/>
              </a:rPr>
              <a:t> Zn</a:t>
            </a:r>
            <a:r>
              <a:rPr lang="en-US" altLang="zh-CN" sz="2800" b="1" baseline="30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中的</a:t>
            </a:r>
            <a:r>
              <a:rPr lang="zh-CN" altLang="en-US" sz="2800" i="1" dirty="0">
                <a:solidFill>
                  <a:srgbClr val="FFFFFF"/>
                </a:solidFill>
                <a:latin typeface="宋体" panose="02010600030101010101" pitchFamily="2" charset="-122"/>
                <a:ea typeface="黑体" panose="02010609060101010101" pitchFamily="49" charset="-122"/>
                <a:sym typeface="Symbol" panose="05050102010706020507" pitchFamily="18" charset="2"/>
              </a:rPr>
              <a:t></a:t>
            </a:r>
            <a:r>
              <a:rPr lang="zh-CN" altLang="en-US" sz="2800" dirty="0">
                <a:solidFill>
                  <a:srgbClr val="1C1C1C"/>
                </a:solidFill>
                <a:latin typeface="宋体" panose="02010600030101010101" pitchFamily="2" charset="-122"/>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a:t>
            </a:r>
            <a:r>
              <a:rPr lang="zh-CN" altLang="en-US" sz="2800" b="1" dirty="0">
                <a:solidFill>
                  <a:srgbClr val="FFFFFF"/>
                </a:solidFill>
                <a:latin typeface="Times New Roman" panose="02020603050405020304" pitchFamily="18" charset="0"/>
                <a:ea typeface="黑体" panose="02010609060101010101" pitchFamily="49" charset="-122"/>
              </a:rPr>
              <a:t>？</a:t>
            </a:r>
            <a:endParaRPr lang="en-US" altLang="zh-CN" sz="2800" b="1" dirty="0">
              <a:solidFill>
                <a:srgbClr val="FFFFFF"/>
              </a:solidFill>
              <a:latin typeface="Times New Roman" panose="02020603050405020304" pitchFamily="18" charset="0"/>
              <a:ea typeface="黑体" panose="02010609060101010101" pitchFamily="49" charset="-122"/>
            </a:endParaRPr>
          </a:p>
        </p:txBody>
      </p:sp>
      <p:sp>
        <p:nvSpPr>
          <p:cNvPr id="1271816" name="矩形 1271815"/>
          <p:cNvSpPr/>
          <p:nvPr/>
        </p:nvSpPr>
        <p:spPr>
          <a:xfrm>
            <a:off x="684213" y="1681163"/>
            <a:ext cx="8137525"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解：     ∵ </a:t>
            </a:r>
            <a:r>
              <a:rPr lang="en-US" altLang="zh-CN" sz="2800" b="1" dirty="0">
                <a:solidFill>
                  <a:srgbClr val="FFFFFF"/>
                </a:solidFill>
                <a:latin typeface="Times New Roman" panose="02020603050405020304" pitchFamily="18" charset="0"/>
                <a:ea typeface="黑体" panose="02010609060101010101" pitchFamily="49" charset="-122"/>
              </a:rPr>
              <a:t>Zn</a:t>
            </a:r>
            <a:r>
              <a:rPr lang="en-US" altLang="zh-CN" sz="2800" b="1" baseline="30000" dirty="0">
                <a:solidFill>
                  <a:srgbClr val="FFFFFF"/>
                </a:solidFill>
                <a:latin typeface="Times New Roman" panose="02020603050405020304" pitchFamily="18" charset="0"/>
                <a:ea typeface="黑体" panose="02010609060101010101" pitchFamily="49" charset="-122"/>
              </a:rPr>
              <a:t>2+ </a:t>
            </a:r>
            <a:r>
              <a:rPr lang="en-US" altLang="zh-CN" sz="2800" b="1" dirty="0">
                <a:solidFill>
                  <a:srgbClr val="FFFFFF"/>
                </a:solidFill>
                <a:latin typeface="Times New Roman" panose="02020603050405020304" pitchFamily="18" charset="0"/>
                <a:ea typeface="黑体" panose="02010609060101010101" pitchFamily="49" charset="-122"/>
              </a:rPr>
              <a:t>+ 2e</a:t>
            </a:r>
            <a:r>
              <a:rPr lang="en-US" altLang="zh-CN" sz="2800" b="1" baseline="30000" dirty="0">
                <a:solidFill>
                  <a:srgbClr val="FFFFFF"/>
                </a:solidFill>
                <a:latin typeface="Times New Roman" panose="02020603050405020304" pitchFamily="18" charset="0"/>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 Zn</a:t>
            </a:r>
          </a:p>
        </p:txBody>
      </p:sp>
      <p:sp>
        <p:nvSpPr>
          <p:cNvPr id="1271817" name="矩形 1271816"/>
          <p:cNvSpPr/>
          <p:nvPr/>
        </p:nvSpPr>
        <p:spPr>
          <a:xfrm>
            <a:off x="900113" y="3684588"/>
            <a:ext cx="647700" cy="522287"/>
          </a:xfrm>
          <a:prstGeom prst="rect">
            <a:avLst/>
          </a:prstGeom>
          <a:noFill/>
          <a:ln w="12700">
            <a:noFill/>
          </a:ln>
        </p:spPr>
        <p:txBody>
          <a:bodyPr anchor="t" anchorCtr="0">
            <a:spAutoFit/>
          </a:bodyPr>
          <a:lstStyle/>
          <a:p>
            <a:r>
              <a:rPr lang="en-US" altLang="zh-CN" sz="2800" b="1" dirty="0">
                <a:solidFill>
                  <a:srgbClr val="FFFFFF"/>
                </a:solidFill>
                <a:latin typeface="Times New Roman" panose="02020603050405020304" pitchFamily="18" charset="0"/>
                <a:ea typeface="黑体" panose="02010609060101010101" pitchFamily="49" charset="-122"/>
              </a:rPr>
              <a:t>∴</a:t>
            </a:r>
          </a:p>
        </p:txBody>
      </p:sp>
      <p:sp>
        <p:nvSpPr>
          <p:cNvPr id="1271818" name="矩形 1271817"/>
          <p:cNvSpPr/>
          <p:nvPr/>
        </p:nvSpPr>
        <p:spPr>
          <a:xfrm>
            <a:off x="1116013" y="4584700"/>
            <a:ext cx="6769100" cy="523875"/>
          </a:xfrm>
          <a:prstGeom prst="rect">
            <a:avLst/>
          </a:prstGeom>
          <a:noFill/>
          <a:ln w="12700">
            <a:noFill/>
          </a:ln>
        </p:spPr>
        <p:txBody>
          <a:bodyPr anchor="t" anchorCtr="0">
            <a:spAutoFit/>
          </a:bodyPr>
          <a:lstStyle/>
          <a:p>
            <a:r>
              <a:rPr lang="zh-CN" altLang="zh-CN" sz="2800" b="1" dirty="0">
                <a:solidFill>
                  <a:srgbClr val="FFFF00"/>
                </a:solidFill>
                <a:latin typeface="黑体" panose="02010609060101010101" pitchFamily="49" charset="-122"/>
                <a:ea typeface="黑体" panose="02010609060101010101" pitchFamily="49" charset="-122"/>
              </a:rPr>
              <a:t>※</a:t>
            </a:r>
            <a:r>
              <a:rPr lang="zh-CN" altLang="en-US" sz="2800" b="1" dirty="0">
                <a:solidFill>
                  <a:srgbClr val="FFFF00"/>
                </a:solidFill>
                <a:latin typeface="Times New Roman" panose="02020603050405020304" pitchFamily="18" charset="0"/>
                <a:ea typeface="黑体" panose="02010609060101010101" pitchFamily="49" charset="-122"/>
              </a:rPr>
              <a:t>氧化型物质浓度减少时，电极电势降低</a:t>
            </a:r>
            <a:endParaRPr lang="en-US" altLang="zh-CN" sz="2800" b="1" dirty="0">
              <a:solidFill>
                <a:srgbClr val="FFFF00"/>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71814"/>
                                        </p:tgtEl>
                                        <p:attrNameLst>
                                          <p:attrName>style.visibility</p:attrName>
                                        </p:attrNameLst>
                                      </p:cBhvr>
                                      <p:to>
                                        <p:strVal val="visible"/>
                                      </p:to>
                                    </p:set>
                                    <p:animEffect transition="in" filter="box(in)">
                                      <p:cBhvr>
                                        <p:cTn id="7" dur="500"/>
                                        <p:tgtEl>
                                          <p:spTgt spid="12718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71815"/>
                                        </p:tgtEl>
                                        <p:attrNameLst>
                                          <p:attrName>style.visibility</p:attrName>
                                        </p:attrNameLst>
                                      </p:cBhvr>
                                      <p:to>
                                        <p:strVal val="visible"/>
                                      </p:to>
                                    </p:set>
                                    <p:anim calcmode="lin" valueType="num">
                                      <p:cBhvr additive="base">
                                        <p:cTn id="12" dur="500" fill="hold"/>
                                        <p:tgtEl>
                                          <p:spTgt spid="1271815"/>
                                        </p:tgtEl>
                                        <p:attrNameLst>
                                          <p:attrName>ppt_x</p:attrName>
                                        </p:attrNameLst>
                                      </p:cBhvr>
                                      <p:tavLst>
                                        <p:tav tm="0">
                                          <p:val>
                                            <p:strVal val="#ppt_x"/>
                                          </p:val>
                                        </p:tav>
                                        <p:tav tm="100000">
                                          <p:val>
                                            <p:strVal val="#ppt_x"/>
                                          </p:val>
                                        </p:tav>
                                      </p:tavLst>
                                    </p:anim>
                                    <p:anim calcmode="lin" valueType="num">
                                      <p:cBhvr additive="base">
                                        <p:cTn id="13" dur="500" fill="hold"/>
                                        <p:tgtEl>
                                          <p:spTgt spid="12718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71816"/>
                                        </p:tgtEl>
                                        <p:attrNameLst>
                                          <p:attrName>style.visibility</p:attrName>
                                        </p:attrNameLst>
                                      </p:cBhvr>
                                      <p:to>
                                        <p:strVal val="visible"/>
                                      </p:to>
                                    </p:set>
                                    <p:anim calcmode="lin" valueType="num">
                                      <p:cBhvr additive="base">
                                        <p:cTn id="18" dur="500" fill="hold"/>
                                        <p:tgtEl>
                                          <p:spTgt spid="1271816"/>
                                        </p:tgtEl>
                                        <p:attrNameLst>
                                          <p:attrName>ppt_x</p:attrName>
                                        </p:attrNameLst>
                                      </p:cBhvr>
                                      <p:tavLst>
                                        <p:tav tm="0">
                                          <p:val>
                                            <p:strVal val="#ppt_x"/>
                                          </p:val>
                                        </p:tav>
                                        <p:tav tm="100000">
                                          <p:val>
                                            <p:strVal val="#ppt_x"/>
                                          </p:val>
                                        </p:tav>
                                      </p:tavLst>
                                    </p:anim>
                                    <p:anim calcmode="lin" valueType="num">
                                      <p:cBhvr additive="base">
                                        <p:cTn id="19" dur="500" fill="hold"/>
                                        <p:tgtEl>
                                          <p:spTgt spid="12718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1271812"/>
                                        </p:tgtEl>
                                        <p:attrNameLst>
                                          <p:attrName>style.visibility</p:attrName>
                                        </p:attrNameLst>
                                      </p:cBhvr>
                                      <p:to>
                                        <p:strVal val="visible"/>
                                      </p:to>
                                    </p:set>
                                    <p:animEffect transition="in" filter="diamond(in)">
                                      <p:cBhvr>
                                        <p:cTn id="24" dur="1000"/>
                                        <p:tgtEl>
                                          <p:spTgt spid="1271812"/>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1271817"/>
                                        </p:tgtEl>
                                        <p:attrNameLst>
                                          <p:attrName>style.visibility</p:attrName>
                                        </p:attrNameLst>
                                      </p:cBhvr>
                                      <p:to>
                                        <p:strVal val="visible"/>
                                      </p:to>
                                    </p:set>
                                    <p:animEffect transition="in" filter="diamond(in)">
                                      <p:cBhvr>
                                        <p:cTn id="29" dur="1000"/>
                                        <p:tgtEl>
                                          <p:spTgt spid="1271817"/>
                                        </p:tgtEl>
                                      </p:cBhvr>
                                    </p:animEffect>
                                  </p:childTnLst>
                                </p:cTn>
                              </p:par>
                              <p:par>
                                <p:cTn id="30" presetID="8" presetClass="entr" presetSubtype="16" fill="hold" nodeType="withEffect">
                                  <p:stCondLst>
                                    <p:cond delay="0"/>
                                  </p:stCondLst>
                                  <p:childTnLst>
                                    <p:set>
                                      <p:cBhvr>
                                        <p:cTn id="31" dur="1" fill="hold">
                                          <p:stCondLst>
                                            <p:cond delay="0"/>
                                          </p:stCondLst>
                                        </p:cTn>
                                        <p:tgtEl>
                                          <p:spTgt spid="1271813"/>
                                        </p:tgtEl>
                                        <p:attrNameLst>
                                          <p:attrName>style.visibility</p:attrName>
                                        </p:attrNameLst>
                                      </p:cBhvr>
                                      <p:to>
                                        <p:strVal val="visible"/>
                                      </p:to>
                                    </p:set>
                                    <p:animEffect transition="in" filter="diamond(in)">
                                      <p:cBhvr>
                                        <p:cTn id="32" dur="1000"/>
                                        <p:tgtEl>
                                          <p:spTgt spid="127181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71818"/>
                                        </p:tgtEl>
                                        <p:attrNameLst>
                                          <p:attrName>style.visibility</p:attrName>
                                        </p:attrNameLst>
                                      </p:cBhvr>
                                      <p:to>
                                        <p:strVal val="visible"/>
                                      </p:to>
                                    </p:set>
                                    <p:anim calcmode="lin" valueType="num">
                                      <p:cBhvr additive="base">
                                        <p:cTn id="37" dur="500" fill="hold"/>
                                        <p:tgtEl>
                                          <p:spTgt spid="1271818"/>
                                        </p:tgtEl>
                                        <p:attrNameLst>
                                          <p:attrName>ppt_x</p:attrName>
                                        </p:attrNameLst>
                                      </p:cBhvr>
                                      <p:tavLst>
                                        <p:tav tm="0">
                                          <p:val>
                                            <p:strVal val="1+#ppt_w/2"/>
                                          </p:val>
                                        </p:tav>
                                        <p:tav tm="100000">
                                          <p:val>
                                            <p:strVal val="#ppt_x"/>
                                          </p:val>
                                        </p:tav>
                                      </p:tavLst>
                                    </p:anim>
                                    <p:anim calcmode="lin" valueType="num">
                                      <p:cBhvr additive="base">
                                        <p:cTn id="38" dur="500" fill="hold"/>
                                        <p:tgtEl>
                                          <p:spTgt spid="1271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1814" grpId="0"/>
      <p:bldP spid="1271815" grpId="0"/>
      <p:bldP spid="1271816" grpId="0"/>
      <p:bldP spid="1271817" grpId="0"/>
      <p:bldP spid="127181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53</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68610" name="文本框 1101825"/>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sp>
        <p:nvSpPr>
          <p:cNvPr id="1101827" name="矩形 1101826"/>
          <p:cNvSpPr/>
          <p:nvPr/>
        </p:nvSpPr>
        <p:spPr>
          <a:xfrm>
            <a:off x="611188" y="444500"/>
            <a:ext cx="6192837" cy="523875"/>
          </a:xfrm>
          <a:prstGeom prst="rect">
            <a:avLst/>
          </a:prstGeom>
          <a:noFill/>
          <a:ln w="12700">
            <a:noFill/>
          </a:ln>
        </p:spPr>
        <p:txBody>
          <a:bodyPr anchor="t" anchorCtr="0">
            <a:spAutoFit/>
          </a:bodyPr>
          <a:lstStyle/>
          <a:p>
            <a:r>
              <a:rPr lang="zh-CN" altLang="zh-CN" sz="2800" b="1" dirty="0">
                <a:solidFill>
                  <a:srgbClr val="FFFFFF"/>
                </a:solidFill>
                <a:latin typeface="Times New Roman" panose="02020603050405020304" pitchFamily="18" charset="0"/>
                <a:ea typeface="黑体" panose="02010609060101010101" pitchFamily="49" charset="-122"/>
              </a:rPr>
              <a:t>例</a:t>
            </a:r>
            <a:r>
              <a:rPr lang="en-US" altLang="zh-CN" sz="2800" b="1"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，求</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zh-CN" altLang="en-US" sz="2800" b="1" dirty="0">
                <a:solidFill>
                  <a:srgbClr val="FFFFFF"/>
                </a:solidFill>
                <a:latin typeface="Times New Roman" panose="02020603050405020304" pitchFamily="18" charset="0"/>
                <a:ea typeface="黑体" panose="02010609060101010101" pitchFamily="49" charset="-122"/>
              </a:rPr>
              <a:t>在</a:t>
            </a:r>
            <a:r>
              <a:rPr lang="en-US" altLang="zh-CN" sz="2800" b="1" dirty="0">
                <a:solidFill>
                  <a:srgbClr val="FFFFFF"/>
                </a:solidFill>
                <a:latin typeface="Times New Roman" panose="02020603050405020304" pitchFamily="18" charset="0"/>
                <a:ea typeface="黑体" panose="02010609060101010101" pitchFamily="49" charset="-122"/>
              </a:rPr>
              <a:t>0.01 mol</a:t>
            </a:r>
            <a:r>
              <a:rPr lang="en-US" altLang="zh-CN" sz="2000" dirty="0">
                <a:solidFill>
                  <a:srgbClr val="FFFFFF"/>
                </a:solidFill>
                <a:latin typeface="宋体" panose="02010600030101010101" pitchFamily="2" charset="-122"/>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L</a:t>
            </a:r>
            <a:r>
              <a:rPr lang="en-US" altLang="zh-CN" sz="2800" b="1" baseline="30000" dirty="0">
                <a:solidFill>
                  <a:srgbClr val="FFFFFF"/>
                </a:solidFill>
                <a:latin typeface="Times New Roman" panose="02020603050405020304" pitchFamily="18" charset="0"/>
                <a:ea typeface="黑体" panose="02010609060101010101" pitchFamily="49" charset="-122"/>
              </a:rPr>
              <a:t>-1</a:t>
            </a:r>
            <a:r>
              <a:rPr lang="en-US" altLang="zh-CN" sz="2800" b="1" dirty="0">
                <a:solidFill>
                  <a:srgbClr val="FFFFFF"/>
                </a:solidFill>
                <a:latin typeface="Times New Roman" panose="02020603050405020304" pitchFamily="18" charset="0"/>
                <a:ea typeface="黑体" panose="02010609060101010101" pitchFamily="49" charset="-122"/>
              </a:rPr>
              <a:t> KI</a:t>
            </a:r>
            <a:r>
              <a:rPr lang="zh-CN" altLang="en-US" sz="2800" b="1" dirty="0">
                <a:solidFill>
                  <a:srgbClr val="FFFFFF"/>
                </a:solidFill>
                <a:latin typeface="Times New Roman" panose="02020603050405020304" pitchFamily="18" charset="0"/>
                <a:ea typeface="黑体" panose="02010609060101010101" pitchFamily="49" charset="-122"/>
              </a:rPr>
              <a:t>中， </a:t>
            </a:r>
            <a:r>
              <a:rPr lang="zh-CN" altLang="en-US" sz="2800" i="1" dirty="0">
                <a:solidFill>
                  <a:srgbClr val="FFFFFF"/>
                </a:solidFill>
                <a:latin typeface="宋体" panose="02010600030101010101" pitchFamily="2" charset="-122"/>
                <a:ea typeface="黑体" panose="02010609060101010101" pitchFamily="49" charset="-122"/>
                <a:sym typeface="Symbol" panose="05050102010706020507" pitchFamily="18" charset="2"/>
              </a:rPr>
              <a:t></a:t>
            </a:r>
            <a:r>
              <a:rPr lang="en-US" altLang="zh-CN" sz="2000" dirty="0">
                <a:solidFill>
                  <a:srgbClr val="1C1C1C"/>
                </a:solidFill>
                <a:latin typeface="宋体" panose="02010600030101010101" pitchFamily="2" charset="-122"/>
                <a:ea typeface="黑体" panose="02010609060101010101" pitchFamily="49" charset="-122"/>
              </a:rPr>
              <a:t> </a:t>
            </a:r>
            <a:r>
              <a:rPr lang="en-US" altLang="zh-CN" sz="2800" b="1" dirty="0">
                <a:solidFill>
                  <a:srgbClr val="FFFFFF"/>
                </a:solidFill>
                <a:latin typeface="Times New Roman" panose="02020603050405020304" pitchFamily="18" charset="0"/>
                <a:ea typeface="黑体" panose="02010609060101010101" pitchFamily="49" charset="-122"/>
              </a:rPr>
              <a:t>=</a:t>
            </a:r>
            <a:r>
              <a:rPr lang="zh-CN" altLang="en-US" sz="2800" b="1" dirty="0">
                <a:solidFill>
                  <a:srgbClr val="FFFFFF"/>
                </a:solidFill>
                <a:latin typeface="Times New Roman" panose="02020603050405020304" pitchFamily="18" charset="0"/>
                <a:ea typeface="黑体" panose="02010609060101010101" pitchFamily="49" charset="-122"/>
              </a:rPr>
              <a:t>？</a:t>
            </a:r>
          </a:p>
        </p:txBody>
      </p:sp>
      <p:graphicFrame>
        <p:nvGraphicFramePr>
          <p:cNvPr id="1101828" name="对象 1101827"/>
          <p:cNvGraphicFramePr/>
          <p:nvPr/>
        </p:nvGraphicFramePr>
        <p:xfrm>
          <a:off x="2163763" y="2373313"/>
          <a:ext cx="3530600" cy="844550"/>
        </p:xfrm>
        <a:graphic>
          <a:graphicData uri="http://schemas.openxmlformats.org/presentationml/2006/ole">
            <mc:AlternateContent xmlns:mc="http://schemas.openxmlformats.org/markup-compatibility/2006">
              <mc:Choice xmlns:v="urn:schemas-microsoft-com:vml" Requires="v">
                <p:oleObj r:id="rId2" imgW="1459865" imgH="419100" progId="Equation.3">
                  <p:embed/>
                </p:oleObj>
              </mc:Choice>
              <mc:Fallback>
                <p:oleObj r:id="rId2" imgW="1459865" imgH="419100" progId="Equation.3">
                  <p:embed/>
                  <p:pic>
                    <p:nvPicPr>
                      <p:cNvPr id="0" name="图片 3161"/>
                      <p:cNvPicPr/>
                      <p:nvPr/>
                    </p:nvPicPr>
                    <p:blipFill>
                      <a:blip r:embed="rId3"/>
                      <a:stretch>
                        <a:fillRect/>
                      </a:stretch>
                    </p:blipFill>
                    <p:spPr>
                      <a:xfrm>
                        <a:off x="2163763" y="2373313"/>
                        <a:ext cx="3530600" cy="844550"/>
                      </a:xfrm>
                      <a:prstGeom prst="rect">
                        <a:avLst/>
                      </a:prstGeom>
                      <a:solidFill>
                        <a:schemeClr val="bg1"/>
                      </a:solidFill>
                      <a:ln w="38100">
                        <a:noFill/>
                        <a:miter/>
                      </a:ln>
                    </p:spPr>
                  </p:pic>
                </p:oleObj>
              </mc:Fallback>
            </mc:AlternateContent>
          </a:graphicData>
        </a:graphic>
      </p:graphicFrame>
      <p:graphicFrame>
        <p:nvGraphicFramePr>
          <p:cNvPr id="1101829" name="对象 1101828"/>
          <p:cNvGraphicFramePr/>
          <p:nvPr/>
        </p:nvGraphicFramePr>
        <p:xfrm>
          <a:off x="1512888" y="3394075"/>
          <a:ext cx="5527675" cy="842963"/>
        </p:xfrm>
        <a:graphic>
          <a:graphicData uri="http://schemas.openxmlformats.org/presentationml/2006/ole">
            <mc:AlternateContent xmlns:mc="http://schemas.openxmlformats.org/markup-compatibility/2006">
              <mc:Choice xmlns:v="urn:schemas-microsoft-com:vml" Requires="v">
                <p:oleObj r:id="rId4" imgW="2286000" imgH="419100" progId="Equation.3">
                  <p:embed/>
                </p:oleObj>
              </mc:Choice>
              <mc:Fallback>
                <p:oleObj r:id="rId4" imgW="2286000" imgH="419100" progId="Equation.3">
                  <p:embed/>
                  <p:pic>
                    <p:nvPicPr>
                      <p:cNvPr id="0" name="图片 3162"/>
                      <p:cNvPicPr/>
                      <p:nvPr/>
                    </p:nvPicPr>
                    <p:blipFill>
                      <a:blip r:embed="rId5"/>
                      <a:stretch>
                        <a:fillRect/>
                      </a:stretch>
                    </p:blipFill>
                    <p:spPr>
                      <a:xfrm>
                        <a:off x="1512888" y="3394075"/>
                        <a:ext cx="5527675" cy="842963"/>
                      </a:xfrm>
                      <a:prstGeom prst="rect">
                        <a:avLst/>
                      </a:prstGeom>
                      <a:solidFill>
                        <a:schemeClr val="bg1"/>
                      </a:solidFill>
                      <a:ln w="38100">
                        <a:noFill/>
                        <a:miter/>
                      </a:ln>
                    </p:spPr>
                  </p:pic>
                </p:oleObj>
              </mc:Fallback>
            </mc:AlternateContent>
          </a:graphicData>
        </a:graphic>
      </p:graphicFrame>
      <p:sp>
        <p:nvSpPr>
          <p:cNvPr id="1101830" name="矩形 1101829"/>
          <p:cNvSpPr/>
          <p:nvPr/>
        </p:nvSpPr>
        <p:spPr>
          <a:xfrm>
            <a:off x="827088" y="1385888"/>
            <a:ext cx="4321175" cy="523875"/>
          </a:xfrm>
          <a:prstGeom prst="rect">
            <a:avLst/>
          </a:prstGeom>
          <a:noFill/>
          <a:ln w="12700">
            <a:noFill/>
          </a:ln>
        </p:spPr>
        <p:txBody>
          <a:bodyPr anchor="t" anchorCtr="0">
            <a:spAutoFit/>
          </a:bodyPr>
          <a:lstStyle/>
          <a:p>
            <a:r>
              <a:rPr lang="zh-CN" altLang="en-US" sz="2800" b="1" dirty="0">
                <a:solidFill>
                  <a:srgbClr val="FFFFFF"/>
                </a:solidFill>
                <a:latin typeface="Times New Roman" panose="02020603050405020304" pitchFamily="18" charset="0"/>
                <a:ea typeface="黑体" panose="02010609060101010101" pitchFamily="49" charset="-122"/>
              </a:rPr>
              <a:t>解：   ∵    </a:t>
            </a:r>
            <a:r>
              <a:rPr lang="en-US" altLang="zh-CN" sz="2800" b="1" dirty="0">
                <a:solidFill>
                  <a:srgbClr val="FFFFFF"/>
                </a:solidFill>
                <a:latin typeface="Times New Roman" panose="02020603050405020304" pitchFamily="18" charset="0"/>
                <a:ea typeface="黑体" panose="02010609060101010101" pitchFamily="49" charset="-122"/>
              </a:rPr>
              <a:t>I</a:t>
            </a:r>
            <a:r>
              <a:rPr lang="en-US" altLang="zh-CN" sz="2800" b="1" baseline="-25000" dirty="0">
                <a:solidFill>
                  <a:srgbClr val="FFFFFF"/>
                </a:solidFill>
                <a:latin typeface="Times New Roman" panose="02020603050405020304" pitchFamily="18" charset="0"/>
                <a:ea typeface="黑体" panose="02010609060101010101" pitchFamily="49" charset="-122"/>
              </a:rPr>
              <a:t>2</a:t>
            </a:r>
            <a:r>
              <a:rPr lang="en-US" altLang="zh-CN" sz="2800" b="1" dirty="0">
                <a:solidFill>
                  <a:srgbClr val="FFFFFF"/>
                </a:solidFill>
                <a:latin typeface="Times New Roman" panose="02020603050405020304" pitchFamily="18" charset="0"/>
                <a:ea typeface="黑体" panose="02010609060101010101" pitchFamily="49" charset="-122"/>
              </a:rPr>
              <a:t> + 2e</a:t>
            </a:r>
            <a:r>
              <a:rPr lang="en-US" altLang="zh-CN" sz="2800" b="1" baseline="30000" dirty="0">
                <a:solidFill>
                  <a:srgbClr val="FFFFFF"/>
                </a:solidFill>
                <a:latin typeface="Times New Roman" panose="02020603050405020304" pitchFamily="18" charset="0"/>
                <a:ea typeface="黑体" panose="02010609060101010101" pitchFamily="49" charset="-122"/>
              </a:rPr>
              <a:t>-</a:t>
            </a:r>
            <a:r>
              <a:rPr lang="en-US" altLang="zh-CN" sz="2800" b="1" dirty="0">
                <a:solidFill>
                  <a:srgbClr val="FFFFFF"/>
                </a:solidFill>
                <a:latin typeface="Times New Roman" panose="02020603050405020304" pitchFamily="18" charset="0"/>
                <a:ea typeface="黑体" panose="02010609060101010101" pitchFamily="49" charset="-122"/>
              </a:rPr>
              <a:t> = 2I</a:t>
            </a:r>
            <a:r>
              <a:rPr lang="en-US" altLang="zh-CN" sz="2800" b="1" baseline="30000" dirty="0">
                <a:solidFill>
                  <a:srgbClr val="FFFFFF"/>
                </a:solidFill>
                <a:latin typeface="Times New Roman" panose="02020603050405020304" pitchFamily="18" charset="0"/>
                <a:ea typeface="黑体" panose="02010609060101010101" pitchFamily="49" charset="-122"/>
              </a:rPr>
              <a:t>-</a:t>
            </a:r>
          </a:p>
        </p:txBody>
      </p:sp>
      <p:sp>
        <p:nvSpPr>
          <p:cNvPr id="1101831" name="矩形 1101830"/>
          <p:cNvSpPr/>
          <p:nvPr/>
        </p:nvSpPr>
        <p:spPr>
          <a:xfrm>
            <a:off x="1042988" y="4525963"/>
            <a:ext cx="6985000" cy="522287"/>
          </a:xfrm>
          <a:prstGeom prst="rect">
            <a:avLst/>
          </a:prstGeom>
          <a:noFill/>
          <a:ln w="12700">
            <a:noFill/>
          </a:ln>
        </p:spPr>
        <p:txBody>
          <a:bodyPr anchor="t" anchorCtr="0">
            <a:spAutoFit/>
          </a:bodyPr>
          <a:lstStyle/>
          <a:p>
            <a:r>
              <a:rPr lang="zh-CN" altLang="zh-CN" sz="2800" b="1" dirty="0">
                <a:solidFill>
                  <a:srgbClr val="FF0000"/>
                </a:solidFill>
                <a:latin typeface="黑体" panose="02010609060101010101" pitchFamily="49" charset="-122"/>
                <a:ea typeface="黑体" panose="02010609060101010101" pitchFamily="49" charset="-122"/>
              </a:rPr>
              <a:t>※</a:t>
            </a:r>
            <a:r>
              <a:rPr lang="zh-CN" altLang="en-US" sz="2800" b="1" dirty="0">
                <a:solidFill>
                  <a:srgbClr val="FFFF00"/>
                </a:solidFill>
                <a:latin typeface="Times New Roman" panose="02020603050405020304" pitchFamily="18" charset="0"/>
                <a:ea typeface="黑体" panose="02010609060101010101" pitchFamily="49" charset="-122"/>
              </a:rPr>
              <a:t>还原型物质浓度减少时，电极电势增大</a:t>
            </a:r>
            <a:endParaRPr lang="en-US" altLang="zh-CN" sz="2800" b="1" dirty="0">
              <a:solidFill>
                <a:srgbClr val="FFFF00"/>
              </a:solidFill>
              <a:latin typeface="Times New Roman" panose="02020603050405020304" pitchFamily="18"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01827"/>
                                        </p:tgtEl>
                                        <p:attrNameLst>
                                          <p:attrName>style.visibility</p:attrName>
                                        </p:attrNameLst>
                                      </p:cBhvr>
                                      <p:to>
                                        <p:strVal val="visible"/>
                                      </p:to>
                                    </p:set>
                                    <p:anim calcmode="lin" valueType="num">
                                      <p:cBhvr additive="base">
                                        <p:cTn id="7" dur="500" fill="hold"/>
                                        <p:tgtEl>
                                          <p:spTgt spid="1101827"/>
                                        </p:tgtEl>
                                        <p:attrNameLst>
                                          <p:attrName>ppt_x</p:attrName>
                                        </p:attrNameLst>
                                      </p:cBhvr>
                                      <p:tavLst>
                                        <p:tav tm="0">
                                          <p:val>
                                            <p:strVal val="#ppt_x"/>
                                          </p:val>
                                        </p:tav>
                                        <p:tav tm="100000">
                                          <p:val>
                                            <p:strVal val="#ppt_x"/>
                                          </p:val>
                                        </p:tav>
                                      </p:tavLst>
                                    </p:anim>
                                    <p:anim calcmode="lin" valueType="num">
                                      <p:cBhvr additive="base">
                                        <p:cTn id="8" dur="500" fill="hold"/>
                                        <p:tgtEl>
                                          <p:spTgt spid="11018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01830"/>
                                        </p:tgtEl>
                                        <p:attrNameLst>
                                          <p:attrName>style.visibility</p:attrName>
                                        </p:attrNameLst>
                                      </p:cBhvr>
                                      <p:to>
                                        <p:strVal val="visible"/>
                                      </p:to>
                                    </p:set>
                                    <p:animEffect transition="in" filter="box(in)">
                                      <p:cBhvr>
                                        <p:cTn id="13" dur="500"/>
                                        <p:tgtEl>
                                          <p:spTgt spid="1101830"/>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1101828"/>
                                        </p:tgtEl>
                                        <p:attrNameLst>
                                          <p:attrName>style.visibility</p:attrName>
                                        </p:attrNameLst>
                                      </p:cBhvr>
                                      <p:to>
                                        <p:strVal val="visible"/>
                                      </p:to>
                                    </p:set>
                                    <p:animEffect transition="in" filter="diamond(in)">
                                      <p:cBhvr>
                                        <p:cTn id="18" dur="1000"/>
                                        <p:tgtEl>
                                          <p:spTgt spid="1101828"/>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1101829"/>
                                        </p:tgtEl>
                                        <p:attrNameLst>
                                          <p:attrName>style.visibility</p:attrName>
                                        </p:attrNameLst>
                                      </p:cBhvr>
                                      <p:to>
                                        <p:strVal val="visible"/>
                                      </p:to>
                                    </p:set>
                                    <p:animEffect transition="in" filter="diamond(in)">
                                      <p:cBhvr>
                                        <p:cTn id="23" dur="1000"/>
                                        <p:tgtEl>
                                          <p:spTgt spid="110182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101831"/>
                                        </p:tgtEl>
                                        <p:attrNameLst>
                                          <p:attrName>style.visibility</p:attrName>
                                        </p:attrNameLst>
                                      </p:cBhvr>
                                      <p:to>
                                        <p:strVal val="visible"/>
                                      </p:to>
                                    </p:set>
                                    <p:anim calcmode="lin" valueType="num">
                                      <p:cBhvr additive="base">
                                        <p:cTn id="28" dur="500" fill="hold"/>
                                        <p:tgtEl>
                                          <p:spTgt spid="1101831"/>
                                        </p:tgtEl>
                                        <p:attrNameLst>
                                          <p:attrName>ppt_x</p:attrName>
                                        </p:attrNameLst>
                                      </p:cBhvr>
                                      <p:tavLst>
                                        <p:tav tm="0">
                                          <p:val>
                                            <p:strVal val="1+#ppt_w/2"/>
                                          </p:val>
                                        </p:tav>
                                        <p:tav tm="100000">
                                          <p:val>
                                            <p:strVal val="#ppt_x"/>
                                          </p:val>
                                        </p:tav>
                                      </p:tavLst>
                                    </p:anim>
                                    <p:anim calcmode="lin" valueType="num">
                                      <p:cBhvr additive="base">
                                        <p:cTn id="29" dur="500" fill="hold"/>
                                        <p:tgtEl>
                                          <p:spTgt spid="11018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7" grpId="0"/>
      <p:bldP spid="1101830" grpId="0"/>
      <p:bldP spid="110183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p:cNvSpPr>
          <p:nvPr>
            <p:ph type="sldNum" sz="quarter" idx="4"/>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SzTx/>
            </a:pPr>
            <a:fld id="{9A0DB2DC-4C9A-4742-B13C-FB6460FD3503}" type="slidenum">
              <a:rPr lang="zh-CN" altLang="en-US" sz="1400" dirty="0">
                <a:solidFill>
                  <a:srgbClr val="FFFFFF"/>
                </a:solidFill>
                <a:latin typeface="Times New Roman" panose="02020603050405020304" pitchFamily="18" charset="0"/>
                <a:ea typeface="宋体" panose="02010600030101010101" pitchFamily="2" charset="-122"/>
              </a:rPr>
              <a:t>54</a:t>
            </a:fld>
            <a:endParaRPr lang="zh-CN" altLang="en-US" sz="1400" dirty="0">
              <a:solidFill>
                <a:srgbClr val="FFFFFF"/>
              </a:solidFill>
              <a:latin typeface="Times New Roman" panose="02020603050405020304" pitchFamily="18" charset="0"/>
              <a:ea typeface="宋体" panose="02010600030101010101" pitchFamily="2" charset="-122"/>
            </a:endParaRPr>
          </a:p>
        </p:txBody>
      </p:sp>
      <p:sp>
        <p:nvSpPr>
          <p:cNvPr id="69634" name="文本框 1102849"/>
          <p:cNvSpPr txBox="1"/>
          <p:nvPr/>
        </p:nvSpPr>
        <p:spPr>
          <a:xfrm>
            <a:off x="1116013" y="1236663"/>
            <a:ext cx="3168650" cy="461962"/>
          </a:xfrm>
          <a:prstGeom prst="rect">
            <a:avLst/>
          </a:prstGeom>
          <a:noFill/>
          <a:ln w="9525">
            <a:noFill/>
          </a:ln>
        </p:spPr>
        <p:txBody>
          <a:bodyPr anchor="t" anchorCtr="0">
            <a:spAutoFit/>
          </a:bodyPr>
          <a:lstStyle/>
          <a:p>
            <a:pPr>
              <a:spcBef>
                <a:spcPct val="50000"/>
              </a:spcBef>
            </a:pPr>
            <a:endParaRPr lang="zh-CN" altLang="en-US" sz="2400" dirty="0">
              <a:solidFill>
                <a:srgbClr val="1C1C1C"/>
              </a:solidFill>
              <a:latin typeface="Times New Roman" panose="02020603050405020304" pitchFamily="18" charset="0"/>
              <a:ea typeface="宋体" panose="02010600030101010101" pitchFamily="2" charset="-122"/>
            </a:endParaRPr>
          </a:p>
        </p:txBody>
      </p:sp>
      <p:graphicFrame>
        <p:nvGraphicFramePr>
          <p:cNvPr id="1102852" name="对象 1102851"/>
          <p:cNvGraphicFramePr/>
          <p:nvPr/>
        </p:nvGraphicFramePr>
        <p:xfrm>
          <a:off x="1979613" y="2263775"/>
          <a:ext cx="3594100" cy="893763"/>
        </p:xfrm>
        <a:graphic>
          <a:graphicData uri="http://schemas.openxmlformats.org/presentationml/2006/ole">
            <mc:AlternateContent xmlns:mc="http://schemas.openxmlformats.org/markup-compatibility/2006">
              <mc:Choice xmlns:v="urn:schemas-microsoft-com:vml" Requires="v">
                <p:oleObj r:id="rId2" imgW="1485265" imgH="444500" progId="Equation.3">
                  <p:embed/>
                </p:oleObj>
              </mc:Choice>
              <mc:Fallback>
                <p:oleObj r:id="rId2" imgW="1485265" imgH="444500" progId="Equation.3">
                  <p:embed/>
                  <p:pic>
                    <p:nvPicPr>
                      <p:cNvPr id="0" name="图片 3102"/>
                      <p:cNvPicPr/>
                      <p:nvPr/>
                    </p:nvPicPr>
                    <p:blipFill>
                      <a:blip r:embed="rId3"/>
                      <a:stretch>
                        <a:fillRect/>
                      </a:stretch>
                    </p:blipFill>
                    <p:spPr>
                      <a:xfrm>
                        <a:off x="1979613" y="2263775"/>
                        <a:ext cx="3594100" cy="893763"/>
                      </a:xfrm>
                      <a:prstGeom prst="rect">
                        <a:avLst/>
                      </a:prstGeom>
                      <a:solidFill>
                        <a:schemeClr val="bg1"/>
                      </a:solidFill>
                      <a:ln w="38100">
                        <a:noFill/>
                        <a:miter/>
                      </a:ln>
                    </p:spPr>
                  </p:pic>
                </p:oleObj>
              </mc:Fallback>
            </mc:AlternateContent>
          </a:graphicData>
        </a:graphic>
      </p:graphicFrame>
      <p:graphicFrame>
        <p:nvGraphicFramePr>
          <p:cNvPr id="1102853" name="对象 1102852"/>
          <p:cNvGraphicFramePr/>
          <p:nvPr/>
        </p:nvGraphicFramePr>
        <p:xfrm>
          <a:off x="1774825" y="3505200"/>
          <a:ext cx="5097463" cy="793750"/>
        </p:xfrm>
        <a:graphic>
          <a:graphicData uri="http://schemas.openxmlformats.org/presentationml/2006/ole">
            <mc:AlternateContent xmlns:mc="http://schemas.openxmlformats.org/markup-compatibility/2006">
              <mc:Choice xmlns:v="urn:schemas-microsoft-com:vml" Requires="v">
                <p:oleObj r:id="rId4" imgW="2107565" imgH="393700" progId="Equation.3">
                  <p:embed/>
                </p:oleObj>
              </mc:Choice>
              <mc:Fallback>
                <p:oleObj r:id="rId4" imgW="2107565" imgH="393700" progId="Equation.3">
                  <p:embed/>
                  <p:pic>
                    <p:nvPicPr>
                      <p:cNvPr id="0" name="图片 3101"/>
                      <p:cNvPicPr/>
                      <p:nvPr/>
                    </p:nvPicPr>
                    <p:blipFill>
                      <a:blip r:embed="rId5"/>
                      <a:stretch>
                        <a:fillRect/>
                      </a:stretch>
                    </p:blipFill>
                    <p:spPr>
                      <a:xfrm>
                        <a:off x="1774825" y="3505200"/>
                        <a:ext cx="5097463" cy="793750"/>
                      </a:xfrm>
                      <a:prstGeom prst="rect">
                        <a:avLst/>
                      </a:prstGeom>
                      <a:solidFill>
                        <a:schemeClr val="bg1"/>
                      </a:solidFill>
                      <a:ln w="38100">
                        <a:noFill/>
                        <a:miter/>
                      </a:ln>
                    </p:spPr>
                  </p:pic>
                </p:oleObj>
              </mc:Fallback>
            </mc:AlternateContent>
          </a:graphicData>
        </a:graphic>
      </p:graphicFrame>
      <p:sp>
        <p:nvSpPr>
          <p:cNvPr id="1102854" name="矩形 1102853"/>
          <p:cNvSpPr/>
          <p:nvPr/>
        </p:nvSpPr>
        <p:spPr>
          <a:xfrm>
            <a:off x="395288" y="679450"/>
            <a:ext cx="8137525" cy="652463"/>
          </a:xfrm>
          <a:prstGeom prst="rect">
            <a:avLst/>
          </a:prstGeom>
          <a:noFill/>
          <a:ln w="12700">
            <a:noFill/>
          </a:ln>
        </p:spPr>
        <p:txBody>
          <a:bodyPr anchor="t" anchorCtr="0">
            <a:spAutoFit/>
          </a:bodyPr>
          <a:lstStyle/>
          <a:p>
            <a:pPr>
              <a:lnSpc>
                <a:spcPct val="130000"/>
              </a:lnSpc>
            </a:pPr>
            <a:r>
              <a:rPr lang="zh-CN" altLang="es-ES_tradnl" sz="2800" b="1" dirty="0">
                <a:solidFill>
                  <a:srgbClr val="FFFFFF"/>
                </a:solidFill>
                <a:latin typeface="Times New Roman" panose="02020603050405020304" pitchFamily="18" charset="0"/>
                <a:ea typeface="黑体" panose="02010609060101010101" pitchFamily="49" charset="-122"/>
              </a:rPr>
              <a:t>求当</a:t>
            </a:r>
            <a:r>
              <a:rPr lang="es-ES_tradnl" altLang="zh-CN" sz="2800" b="1" dirty="0">
                <a:solidFill>
                  <a:srgbClr val="FFFFFF"/>
                </a:solidFill>
                <a:latin typeface="Times New Roman" panose="02020603050405020304" pitchFamily="18" charset="0"/>
                <a:ea typeface="黑体" panose="02010609060101010101" pitchFamily="49" charset="-122"/>
              </a:rPr>
              <a:t>[Fe</a:t>
            </a:r>
            <a:r>
              <a:rPr lang="es-ES_tradnl" altLang="zh-CN" sz="2800" b="1" baseline="30000" dirty="0">
                <a:solidFill>
                  <a:srgbClr val="FFFFFF"/>
                </a:solidFill>
                <a:latin typeface="Times New Roman" panose="02020603050405020304" pitchFamily="18" charset="0"/>
                <a:ea typeface="黑体" panose="02010609060101010101" pitchFamily="49" charset="-122"/>
              </a:rPr>
              <a:t>3+</a:t>
            </a:r>
            <a:r>
              <a:rPr lang="es-ES_tradnl" altLang="zh-CN" sz="2800" b="1" dirty="0">
                <a:solidFill>
                  <a:srgbClr val="FFFFFF"/>
                </a:solidFill>
                <a:latin typeface="Times New Roman" panose="02020603050405020304" pitchFamily="18" charset="0"/>
                <a:ea typeface="黑体" panose="02010609060101010101" pitchFamily="49" charset="-122"/>
              </a:rPr>
              <a:t>] =1 mol</a:t>
            </a:r>
            <a:r>
              <a:rPr lang="en-US" altLang="zh-CN" sz="2000" dirty="0">
                <a:solidFill>
                  <a:srgbClr val="FFFFFF"/>
                </a:solidFill>
                <a:latin typeface="宋体" panose="02010600030101010101" pitchFamily="2" charset="-122"/>
                <a:ea typeface="黑体" panose="02010609060101010101" pitchFamily="49" charset="-122"/>
              </a:rPr>
              <a:t>•</a:t>
            </a:r>
            <a:r>
              <a:rPr lang="es-ES_tradnl" altLang="zh-CN" sz="2800" b="1" dirty="0">
                <a:solidFill>
                  <a:srgbClr val="FFFFFF"/>
                </a:solidFill>
                <a:latin typeface="Times New Roman" panose="02020603050405020304" pitchFamily="18" charset="0"/>
                <a:ea typeface="黑体" panose="02010609060101010101" pitchFamily="49" charset="-122"/>
              </a:rPr>
              <a:t>L</a:t>
            </a:r>
            <a:r>
              <a:rPr lang="es-ES_tradnl" altLang="zh-CN" sz="2800" b="1" baseline="30000" dirty="0">
                <a:solidFill>
                  <a:srgbClr val="FFFFFF"/>
                </a:solidFill>
                <a:latin typeface="Times New Roman" panose="02020603050405020304" pitchFamily="18" charset="0"/>
                <a:ea typeface="黑体" panose="02010609060101010101" pitchFamily="49" charset="-122"/>
              </a:rPr>
              <a:t>-1</a:t>
            </a:r>
            <a:r>
              <a:rPr lang="es-ES_tradnl" altLang="zh-CN" sz="2800" b="1" dirty="0">
                <a:solidFill>
                  <a:srgbClr val="FFFFFF"/>
                </a:solidFill>
                <a:latin typeface="Times New Roman" panose="02020603050405020304" pitchFamily="18" charset="0"/>
                <a:ea typeface="黑体" panose="02010609060101010101" pitchFamily="49" charset="-122"/>
              </a:rPr>
              <a:t>  [Fe</a:t>
            </a:r>
            <a:r>
              <a:rPr lang="es-ES_tradnl" altLang="zh-CN" sz="2800" b="1" baseline="30000" dirty="0">
                <a:solidFill>
                  <a:srgbClr val="FFFFFF"/>
                </a:solidFill>
                <a:latin typeface="Times New Roman" panose="02020603050405020304" pitchFamily="18" charset="0"/>
                <a:ea typeface="黑体" panose="02010609060101010101" pitchFamily="49" charset="-122"/>
              </a:rPr>
              <a:t>2+</a:t>
            </a:r>
            <a:r>
              <a:rPr lang="es-ES_tradnl" altLang="zh-CN" sz="2800" b="1" dirty="0">
                <a:solidFill>
                  <a:srgbClr val="FFFFFF"/>
                </a:solidFill>
                <a:latin typeface="Times New Roman" panose="02020603050405020304" pitchFamily="18" charset="0"/>
                <a:ea typeface="黑体" panose="02010609060101010101" pitchFamily="49" charset="-122"/>
              </a:rPr>
              <a:t>]=0.0001 mol</a:t>
            </a:r>
            <a:r>
              <a:rPr lang="en-US" altLang="zh-CN" sz="2000" dirty="0">
                <a:solidFill>
                  <a:srgbClr val="FFFFFF"/>
                </a:solidFill>
                <a:latin typeface="宋体" panose="02010600030101010101" pitchFamily="2" charset="-122"/>
                <a:ea typeface="黑体" panose="02010609060101010101" pitchFamily="49" charset="-122"/>
              </a:rPr>
              <a:t>•</a:t>
            </a:r>
            <a:r>
              <a:rPr lang="es-ES_tradnl" altLang="zh-CN" sz="2800" b="1" dirty="0">
                <a:solidFill>
                  <a:srgbClr val="FFFFFF"/>
                </a:solidFill>
                <a:latin typeface="Times New Roman" panose="02020603050405020304" pitchFamily="18" charset="0"/>
                <a:ea typeface="黑体" panose="02010609060101010101" pitchFamily="49" charset="-122"/>
              </a:rPr>
              <a:t>L</a:t>
            </a:r>
            <a:r>
              <a:rPr lang="es-ES_tradnl" altLang="zh-CN" sz="2800" b="1" baseline="30000" dirty="0">
                <a:solidFill>
                  <a:srgbClr val="FFFFFF"/>
                </a:solidFill>
                <a:latin typeface="Times New Roman" panose="02020603050405020304" pitchFamily="18" charset="0"/>
                <a:ea typeface="黑体" panose="02010609060101010101" pitchFamily="49" charset="-122"/>
              </a:rPr>
              <a:t>-1</a:t>
            </a:r>
            <a:r>
              <a:rPr lang="es-ES_tradnl" altLang="zh-CN" sz="2800" b="1" dirty="0">
                <a:solidFill>
                  <a:srgbClr val="FFFFFF"/>
                </a:solidFill>
                <a:latin typeface="Times New Roman" panose="02020603050405020304" pitchFamily="18" charset="0"/>
                <a:ea typeface="黑体" panose="02010609060101010101" pitchFamily="49" charset="-122"/>
              </a:rPr>
              <a:t>  </a:t>
            </a:r>
            <a:r>
              <a:rPr lang="zh-CN" altLang="en-US" sz="2800" i="1" dirty="0">
                <a:solidFill>
                  <a:srgbClr val="FFFFFF"/>
                </a:solidFill>
                <a:latin typeface="宋体" panose="02010600030101010101" pitchFamily="2" charset="-122"/>
                <a:ea typeface="黑体" panose="02010609060101010101" pitchFamily="49" charset="-122"/>
                <a:sym typeface="Symbol" panose="05050102010706020507" pitchFamily="18" charset="2"/>
              </a:rPr>
              <a:t> </a:t>
            </a:r>
            <a:r>
              <a:rPr lang="es-ES_tradnl" altLang="zh-CN" sz="2800" b="1" dirty="0">
                <a:solidFill>
                  <a:srgbClr val="FFFFFF"/>
                </a:solidFill>
                <a:latin typeface="Times New Roman" panose="02020603050405020304" pitchFamily="18" charset="0"/>
                <a:ea typeface="黑体" panose="02010609060101010101" pitchFamily="49" charset="-122"/>
              </a:rPr>
              <a:t>=?</a:t>
            </a:r>
          </a:p>
        </p:txBody>
      </p:sp>
      <p:sp>
        <p:nvSpPr>
          <p:cNvPr id="1102855" name="矩形 1102854"/>
          <p:cNvSpPr/>
          <p:nvPr/>
        </p:nvSpPr>
        <p:spPr>
          <a:xfrm>
            <a:off x="1042988" y="1503363"/>
            <a:ext cx="792162" cy="652462"/>
          </a:xfrm>
          <a:prstGeom prst="rect">
            <a:avLst/>
          </a:prstGeom>
          <a:noFill/>
          <a:ln w="12700">
            <a:noFill/>
          </a:ln>
        </p:spPr>
        <p:txBody>
          <a:bodyPr anchor="t" anchorCtr="0">
            <a:spAutoFit/>
          </a:bodyPr>
          <a:lstStyle/>
          <a:p>
            <a:pPr>
              <a:lnSpc>
                <a:spcPct val="130000"/>
              </a:lnSpc>
            </a:pPr>
            <a:r>
              <a:rPr lang="zh-CN" altLang="es-ES_tradnl" sz="2800" b="1" dirty="0">
                <a:solidFill>
                  <a:srgbClr val="FFFFFF"/>
                </a:solidFill>
                <a:latin typeface="Times New Roman" panose="02020603050405020304" pitchFamily="18" charset="0"/>
                <a:ea typeface="黑体" panose="02010609060101010101" pitchFamily="49" charset="-122"/>
              </a:rPr>
              <a:t>解：</a:t>
            </a:r>
            <a:endParaRPr lang="en-US" altLang="zh-CN" sz="2800" b="1" dirty="0">
              <a:solidFill>
                <a:srgbClr val="FFFFFF"/>
              </a:solidFill>
              <a:latin typeface="Times New Roman" panose="02020603050405020304" pitchFamily="18" charset="0"/>
              <a:ea typeface="黑体" panose="02010609060101010101" pitchFamily="49" charset="-122"/>
            </a:endParaRPr>
          </a:p>
        </p:txBody>
      </p:sp>
      <p:sp>
        <p:nvSpPr>
          <p:cNvPr id="1102856" name="矩形 1102855"/>
          <p:cNvSpPr/>
          <p:nvPr/>
        </p:nvSpPr>
        <p:spPr>
          <a:xfrm>
            <a:off x="1258888" y="2401888"/>
            <a:ext cx="576262" cy="652462"/>
          </a:xfrm>
          <a:prstGeom prst="rect">
            <a:avLst/>
          </a:prstGeom>
          <a:noFill/>
          <a:ln w="12700">
            <a:noFill/>
          </a:ln>
        </p:spPr>
        <p:txBody>
          <a:bodyPr anchor="t" anchorCtr="0">
            <a:spAutoFit/>
          </a:bodyPr>
          <a:lstStyle/>
          <a:p>
            <a:pPr>
              <a:lnSpc>
                <a:spcPct val="130000"/>
              </a:lnSpc>
            </a:pPr>
            <a:r>
              <a:rPr lang="es-ES_tradnl" altLang="zh-CN" sz="2800" b="1" dirty="0">
                <a:solidFill>
                  <a:srgbClr val="FFFFFF"/>
                </a:solidFill>
                <a:latin typeface="Times New Roman" panose="02020603050405020304" pitchFamily="18" charset="0"/>
                <a:ea typeface="黑体" panose="02010609060101010101" pitchFamily="49" charset="-122"/>
              </a:rPr>
              <a:t>∵</a:t>
            </a:r>
          </a:p>
        </p:txBody>
      </p:sp>
      <p:sp>
        <p:nvSpPr>
          <p:cNvPr id="1102857" name="矩形 1102856"/>
          <p:cNvSpPr/>
          <p:nvPr/>
        </p:nvSpPr>
        <p:spPr>
          <a:xfrm>
            <a:off x="971550" y="3576638"/>
            <a:ext cx="649288" cy="652462"/>
          </a:xfrm>
          <a:prstGeom prst="rect">
            <a:avLst/>
          </a:prstGeom>
          <a:noFill/>
          <a:ln w="12700">
            <a:noFill/>
          </a:ln>
        </p:spPr>
        <p:txBody>
          <a:bodyPr anchor="t" anchorCtr="0">
            <a:spAutoFit/>
          </a:bodyPr>
          <a:lstStyle/>
          <a:p>
            <a:pPr>
              <a:lnSpc>
                <a:spcPct val="130000"/>
              </a:lnSpc>
            </a:pPr>
            <a:r>
              <a:rPr lang="es-ES_tradnl" altLang="zh-CN" sz="2800" b="1" dirty="0">
                <a:solidFill>
                  <a:srgbClr val="FFFFFF"/>
                </a:solidFill>
                <a:latin typeface="Times New Roman" panose="02020603050405020304" pitchFamily="18" charset="0"/>
                <a:ea typeface="黑体" panose="02010609060101010101" pitchFamily="49" charset="-122"/>
              </a:rPr>
              <a:t>∴</a:t>
            </a:r>
            <a:endParaRPr lang="en-US" altLang="zh-CN" sz="2800" b="1" dirty="0">
              <a:solidFill>
                <a:srgbClr val="FFFFFF"/>
              </a:solidFill>
              <a:latin typeface="Times New Roman" panose="02020603050405020304" pitchFamily="18" charset="0"/>
              <a:ea typeface="黑体" panose="02010609060101010101" pitchFamily="49" charset="-122"/>
            </a:endParaRPr>
          </a:p>
        </p:txBody>
      </p:sp>
      <p:grpSp>
        <p:nvGrpSpPr>
          <p:cNvPr id="1102863" name="组合 1102862"/>
          <p:cNvGrpSpPr/>
          <p:nvPr/>
        </p:nvGrpSpPr>
        <p:grpSpPr>
          <a:xfrm>
            <a:off x="611188" y="157163"/>
            <a:ext cx="8137525" cy="652462"/>
            <a:chOff x="385" y="119"/>
            <a:chExt cx="5126" cy="493"/>
          </a:xfrm>
        </p:grpSpPr>
        <p:sp>
          <p:nvSpPr>
            <p:cNvPr id="69642" name="矩形 1102850"/>
            <p:cNvSpPr/>
            <p:nvPr/>
          </p:nvSpPr>
          <p:spPr>
            <a:xfrm>
              <a:off x="385" y="119"/>
              <a:ext cx="5126" cy="493"/>
            </a:xfrm>
            <a:prstGeom prst="rect">
              <a:avLst/>
            </a:prstGeom>
            <a:noFill/>
            <a:ln w="12700">
              <a:noFill/>
            </a:ln>
          </p:spPr>
          <p:txBody>
            <a:bodyPr anchor="t" anchorCtr="0">
              <a:spAutoFit/>
            </a:bodyPr>
            <a:lstStyle/>
            <a:p>
              <a:pPr>
                <a:lnSpc>
                  <a:spcPct val="130000"/>
                </a:lnSpc>
              </a:pPr>
              <a:r>
                <a:rPr lang="zh-CN" altLang="zh-CN" sz="2800" b="1" dirty="0">
                  <a:solidFill>
                    <a:srgbClr val="FFFFFF"/>
                  </a:solidFill>
                  <a:latin typeface="Times New Roman" panose="02020603050405020304" pitchFamily="18" charset="0"/>
                  <a:ea typeface="黑体" panose="02010609060101010101" pitchFamily="49" charset="-122"/>
                </a:rPr>
                <a:t>例</a:t>
              </a:r>
              <a:r>
                <a:rPr lang="es-ES_tradnl" altLang="zh-CN" sz="2800" b="1" dirty="0">
                  <a:solidFill>
                    <a:srgbClr val="FFFFFF"/>
                  </a:solidFill>
                  <a:latin typeface="Times New Roman" panose="02020603050405020304" pitchFamily="18" charset="0"/>
                  <a:ea typeface="黑体" panose="02010609060101010101" pitchFamily="49" charset="-122"/>
                </a:rPr>
                <a:t>3</a:t>
              </a:r>
              <a:r>
                <a:rPr lang="zh-CN" altLang="es-ES_tradnl" sz="2800" b="1" dirty="0">
                  <a:solidFill>
                    <a:srgbClr val="FFFFFF"/>
                  </a:solidFill>
                  <a:latin typeface="Times New Roman" panose="02020603050405020304" pitchFamily="18" charset="0"/>
                  <a:ea typeface="黑体" panose="02010609060101010101" pitchFamily="49" charset="-122"/>
                </a:rPr>
                <a:t>，已知</a:t>
              </a:r>
              <a:r>
                <a:rPr lang="es-ES_tradnl" altLang="zh-CN" sz="2800" b="1" dirty="0">
                  <a:solidFill>
                    <a:srgbClr val="FFFFFF"/>
                  </a:solidFill>
                  <a:latin typeface="Times New Roman" panose="02020603050405020304" pitchFamily="18" charset="0"/>
                  <a:ea typeface="黑体" panose="02010609060101010101" pitchFamily="49" charset="-122"/>
                </a:rPr>
                <a:t>Fe</a:t>
              </a:r>
              <a:r>
                <a:rPr lang="es-ES_tradnl" altLang="zh-CN" sz="2800" b="1" baseline="30000" dirty="0">
                  <a:solidFill>
                    <a:srgbClr val="FFFFFF"/>
                  </a:solidFill>
                  <a:latin typeface="Times New Roman" panose="02020603050405020304" pitchFamily="18" charset="0"/>
                  <a:ea typeface="黑体" panose="02010609060101010101" pitchFamily="49" charset="-122"/>
                </a:rPr>
                <a:t>3+ </a:t>
              </a:r>
              <a:r>
                <a:rPr lang="es-ES_tradnl" altLang="zh-CN" sz="2800" b="1" dirty="0">
                  <a:solidFill>
                    <a:srgbClr val="FFFFFF"/>
                  </a:solidFill>
                  <a:latin typeface="Times New Roman" panose="02020603050405020304" pitchFamily="18" charset="0"/>
                  <a:ea typeface="黑体" panose="02010609060101010101" pitchFamily="49" charset="-122"/>
                </a:rPr>
                <a:t>+ e = Fe</a:t>
              </a:r>
              <a:r>
                <a:rPr lang="es-ES_tradnl" altLang="zh-CN" sz="2800" b="1" baseline="30000" dirty="0">
                  <a:solidFill>
                    <a:srgbClr val="FFFFFF"/>
                  </a:solidFill>
                  <a:latin typeface="Times New Roman" panose="02020603050405020304" pitchFamily="18" charset="0"/>
                  <a:ea typeface="黑体" panose="02010609060101010101" pitchFamily="49" charset="-122"/>
                </a:rPr>
                <a:t>2+</a:t>
              </a:r>
              <a:r>
                <a:rPr lang="es-ES_tradnl" altLang="zh-CN" sz="2800" b="1" dirty="0">
                  <a:solidFill>
                    <a:srgbClr val="FFFFFF"/>
                  </a:solidFill>
                  <a:latin typeface="Times New Roman" panose="02020603050405020304" pitchFamily="18" charset="0"/>
                  <a:ea typeface="黑体" panose="02010609060101010101" pitchFamily="49" charset="-122"/>
                </a:rPr>
                <a:t> </a:t>
              </a:r>
              <a:r>
                <a:rPr lang="en-US" altLang="zh-CN" sz="2000" i="1" dirty="0">
                  <a:solidFill>
                    <a:srgbClr val="FFFFFF"/>
                  </a:solidFill>
                  <a:latin typeface="宋体" panose="02010600030101010101" pitchFamily="2" charset="-122"/>
                  <a:ea typeface="黑体" panose="02010609060101010101" pitchFamily="49" charset="-122"/>
                  <a:sym typeface="Symbol" panose="05050102010706020507" pitchFamily="18" charset="2"/>
                </a:rPr>
                <a:t>   </a:t>
              </a:r>
              <a:r>
                <a:rPr lang="en-US" altLang="zh-CN" sz="2000" dirty="0">
                  <a:solidFill>
                    <a:srgbClr val="1C1C1C"/>
                  </a:solidFill>
                  <a:latin typeface="宋体" panose="02010600030101010101" pitchFamily="2" charset="-122"/>
                  <a:ea typeface="黑体" panose="02010609060101010101" pitchFamily="49" charset="-122"/>
                </a:rPr>
                <a:t> </a:t>
              </a:r>
              <a:r>
                <a:rPr lang="es-ES_tradnl" altLang="zh-CN" sz="2800" b="1" dirty="0">
                  <a:solidFill>
                    <a:srgbClr val="FFFFFF"/>
                  </a:solidFill>
                  <a:latin typeface="Times New Roman" panose="02020603050405020304" pitchFamily="18" charset="0"/>
                  <a:ea typeface="黑体" panose="02010609060101010101" pitchFamily="49" charset="-122"/>
                </a:rPr>
                <a:t>= 0.770V</a:t>
              </a:r>
            </a:p>
          </p:txBody>
        </p:sp>
        <p:grpSp>
          <p:nvGrpSpPr>
            <p:cNvPr id="69643" name="组合 1102857"/>
            <p:cNvGrpSpPr/>
            <p:nvPr/>
          </p:nvGrpSpPr>
          <p:grpSpPr>
            <a:xfrm>
              <a:off x="2880" y="119"/>
              <a:ext cx="454" cy="396"/>
              <a:chOff x="4377" y="3113"/>
              <a:chExt cx="454" cy="396"/>
            </a:xfrm>
          </p:grpSpPr>
          <p:sp>
            <p:nvSpPr>
              <p:cNvPr id="69644" name="矩形 1102858"/>
              <p:cNvSpPr/>
              <p:nvPr/>
            </p:nvSpPr>
            <p:spPr>
              <a:xfrm>
                <a:off x="4377" y="3113"/>
                <a:ext cx="454" cy="396"/>
              </a:xfrm>
              <a:prstGeom prst="rect">
                <a:avLst/>
              </a:prstGeom>
              <a:noFill/>
              <a:ln w="9525">
                <a:noFill/>
              </a:ln>
            </p:spPr>
            <p:txBody>
              <a:bodyPr anchor="t" anchorCtr="0">
                <a:spAutoFit/>
              </a:bodyPr>
              <a:lstStyle/>
              <a:p>
                <a:r>
                  <a:rPr lang="zh-CN" altLang="en-US" sz="2800" i="1" dirty="0">
                    <a:solidFill>
                      <a:srgbClr val="FF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i="1" baseline="30000" dirty="0">
                  <a:solidFill>
                    <a:srgbClr val="FFFF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69645" name="组合 1102859"/>
              <p:cNvGrpSpPr/>
              <p:nvPr/>
            </p:nvGrpSpPr>
            <p:grpSpPr>
              <a:xfrm>
                <a:off x="4584" y="3203"/>
                <a:ext cx="136" cy="91"/>
                <a:chOff x="3744" y="2646"/>
                <a:chExt cx="192" cy="96"/>
              </a:xfrm>
            </p:grpSpPr>
            <p:sp>
              <p:nvSpPr>
                <p:cNvPr id="69646" name="椭圆 1102860"/>
                <p:cNvSpPr/>
                <p:nvPr/>
              </p:nvSpPr>
              <p:spPr>
                <a:xfrm>
                  <a:off x="3792" y="2646"/>
                  <a:ext cx="96" cy="96"/>
                </a:xfrm>
                <a:prstGeom prst="ellipse">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sz="500" dirty="0">
                    <a:solidFill>
                      <a:srgbClr val="FF0066"/>
                    </a:solidFill>
                    <a:latin typeface="Times New Roman" panose="02020603050405020304" pitchFamily="18" charset="0"/>
                    <a:ea typeface="宋体" panose="02010600030101010101" pitchFamily="2" charset="-122"/>
                  </a:endParaRPr>
                </a:p>
              </p:txBody>
            </p:sp>
            <p:sp>
              <p:nvSpPr>
                <p:cNvPr id="69647" name="直接连接符 1102861"/>
                <p:cNvSpPr/>
                <p:nvPr/>
              </p:nvSpPr>
              <p:spPr>
                <a:xfrm>
                  <a:off x="3744" y="2688"/>
                  <a:ext cx="192" cy="0"/>
                </a:xfrm>
                <a:prstGeom prst="line">
                  <a:avLst/>
                </a:prstGeom>
                <a:ln w="38100" cap="flat" cmpd="sng">
                  <a:solidFill>
                    <a:schemeClr val="bg1"/>
                  </a:solidFill>
                  <a:prstDash val="solid"/>
                  <a:round/>
                  <a:headEnd type="none" w="med" len="med"/>
                  <a:tailEnd type="none" w="med" len="med"/>
                </a:ln>
              </p:spPr>
            </p:sp>
          </p:grpSp>
        </p:gr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2863"/>
                                        </p:tgtEl>
                                        <p:attrNameLst>
                                          <p:attrName>style.visibility</p:attrName>
                                        </p:attrNameLst>
                                      </p:cBhvr>
                                      <p:to>
                                        <p:strVal val="visible"/>
                                      </p:to>
                                    </p:set>
                                    <p:anim calcmode="lin" valueType="num">
                                      <p:cBhvr additive="base">
                                        <p:cTn id="7" dur="500" fill="hold"/>
                                        <p:tgtEl>
                                          <p:spTgt spid="1102863"/>
                                        </p:tgtEl>
                                        <p:attrNameLst>
                                          <p:attrName>ppt_x</p:attrName>
                                        </p:attrNameLst>
                                      </p:cBhvr>
                                      <p:tavLst>
                                        <p:tav tm="0">
                                          <p:val>
                                            <p:strVal val="#ppt_x"/>
                                          </p:val>
                                        </p:tav>
                                        <p:tav tm="100000">
                                          <p:val>
                                            <p:strVal val="#ppt_x"/>
                                          </p:val>
                                        </p:tav>
                                      </p:tavLst>
                                    </p:anim>
                                    <p:anim calcmode="lin" valueType="num">
                                      <p:cBhvr additive="base">
                                        <p:cTn id="8" dur="500" fill="hold"/>
                                        <p:tgtEl>
                                          <p:spTgt spid="1102863"/>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1102854"/>
                                        </p:tgtEl>
                                        <p:attrNameLst>
                                          <p:attrName>style.visibility</p:attrName>
                                        </p:attrNameLst>
                                      </p:cBhvr>
                                      <p:to>
                                        <p:strVal val="visible"/>
                                      </p:to>
                                    </p:set>
                                    <p:animEffect transition="in" filter="blinds(horizontal)">
                                      <p:cBhvr>
                                        <p:cTn id="11" dur="500"/>
                                        <p:tgtEl>
                                          <p:spTgt spid="1102854"/>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1102855"/>
                                        </p:tgtEl>
                                        <p:attrNameLst>
                                          <p:attrName>style.visibility</p:attrName>
                                        </p:attrNameLst>
                                      </p:cBhvr>
                                      <p:to>
                                        <p:strVal val="visible"/>
                                      </p:to>
                                    </p:set>
                                    <p:animEffect transition="in" filter="diamond(in)">
                                      <p:cBhvr>
                                        <p:cTn id="16" dur="1000"/>
                                        <p:tgtEl>
                                          <p:spTgt spid="1102855"/>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1102856"/>
                                        </p:tgtEl>
                                        <p:attrNameLst>
                                          <p:attrName>style.visibility</p:attrName>
                                        </p:attrNameLst>
                                      </p:cBhvr>
                                      <p:to>
                                        <p:strVal val="visible"/>
                                      </p:to>
                                    </p:set>
                                    <p:animEffect transition="in" filter="diamond(in)">
                                      <p:cBhvr>
                                        <p:cTn id="19" dur="1000"/>
                                        <p:tgtEl>
                                          <p:spTgt spid="1102856"/>
                                        </p:tgtEl>
                                      </p:cBhvr>
                                    </p:animEffect>
                                  </p:childTnLst>
                                </p:cTn>
                              </p:par>
                              <p:par>
                                <p:cTn id="20" presetID="8" presetClass="entr" presetSubtype="16" fill="hold" nodeType="withEffect">
                                  <p:stCondLst>
                                    <p:cond delay="0"/>
                                  </p:stCondLst>
                                  <p:childTnLst>
                                    <p:set>
                                      <p:cBhvr>
                                        <p:cTn id="21" dur="1" fill="hold">
                                          <p:stCondLst>
                                            <p:cond delay="0"/>
                                          </p:stCondLst>
                                        </p:cTn>
                                        <p:tgtEl>
                                          <p:spTgt spid="1102852"/>
                                        </p:tgtEl>
                                        <p:attrNameLst>
                                          <p:attrName>style.visibility</p:attrName>
                                        </p:attrNameLst>
                                      </p:cBhvr>
                                      <p:to>
                                        <p:strVal val="visible"/>
                                      </p:to>
                                    </p:set>
                                    <p:animEffect transition="in" filter="diamond(in)">
                                      <p:cBhvr>
                                        <p:cTn id="22" dur="1000"/>
                                        <p:tgtEl>
                                          <p:spTgt spid="1102852"/>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02857"/>
                                        </p:tgtEl>
                                        <p:attrNameLst>
                                          <p:attrName>style.visibility</p:attrName>
                                        </p:attrNameLst>
                                      </p:cBhvr>
                                      <p:to>
                                        <p:strVal val="visible"/>
                                      </p:to>
                                    </p:set>
                                    <p:animEffect transition="in" filter="checkerboard(across)">
                                      <p:cBhvr>
                                        <p:cTn id="27" dur="500"/>
                                        <p:tgtEl>
                                          <p:spTgt spid="1102857"/>
                                        </p:tgtEl>
                                      </p:cBhvr>
                                    </p:animEffect>
                                  </p:childTnLst>
                                </p:cTn>
                              </p:par>
                              <p:par>
                                <p:cTn id="28" presetID="5" presetClass="entr" presetSubtype="10" fill="hold" nodeType="withEffect">
                                  <p:stCondLst>
                                    <p:cond delay="0"/>
                                  </p:stCondLst>
                                  <p:childTnLst>
                                    <p:set>
                                      <p:cBhvr>
                                        <p:cTn id="29" dur="1" fill="hold">
                                          <p:stCondLst>
                                            <p:cond delay="0"/>
                                          </p:stCondLst>
                                        </p:cTn>
                                        <p:tgtEl>
                                          <p:spTgt spid="1102853"/>
                                        </p:tgtEl>
                                        <p:attrNameLst>
                                          <p:attrName>style.visibility</p:attrName>
                                        </p:attrNameLst>
                                      </p:cBhvr>
                                      <p:to>
                                        <p:strVal val="visible"/>
                                      </p:to>
                                    </p:set>
                                    <p:animEffect transition="in" filter="checkerboard(across)">
                                      <p:cBhvr>
                                        <p:cTn id="30" dur="500"/>
                                        <p:tgtEl>
                                          <p:spTgt spid="110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854" grpId="0"/>
      <p:bldP spid="1102855" grpId="0"/>
      <p:bldP spid="1102856" grpId="0"/>
      <p:bldP spid="110285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p:cNvSpPr>
          <p:nvPr>
            <p:ph type="body" idx="4294967295"/>
          </p:nvPr>
        </p:nvSpPr>
        <p:spPr>
          <a:xfrm>
            <a:off x="411163" y="841375"/>
            <a:ext cx="8321675" cy="4256088"/>
          </a:xfrm>
          <a:solidFill>
            <a:schemeClr val="folHlink"/>
          </a:solidFill>
        </p:spPr>
        <p:txBody>
          <a:bodyPr vert="horz" wrap="square" lIns="91440" tIns="45720" rIns="91440" bIns="45720" anchor="t" anchorCtr="0"/>
          <a:lstStyle/>
          <a:p>
            <a:pPr eaLnBrk="1" hangingPunct="1">
              <a:lnSpc>
                <a:spcPct val="130000"/>
              </a:lnSpc>
              <a:spcBef>
                <a:spcPct val="5000"/>
              </a:spcBef>
            </a:pPr>
            <a:r>
              <a:rPr lang="zh-CN" altLang="en-US" sz="2400" b="1" dirty="0">
                <a:solidFill>
                  <a:srgbClr val="FF0000"/>
                </a:solidFill>
                <a:latin typeface="Times New Roman" panose="02020603050405020304" pitchFamily="18" charset="0"/>
              </a:rPr>
              <a:t>判断原电池的正负极和计算原电池的电动势</a:t>
            </a:r>
            <a:endParaRPr lang="en-US" altLang="zh-CN" sz="2400" b="1" dirty="0">
              <a:solidFill>
                <a:srgbClr val="FF0000"/>
              </a:solidFill>
              <a:latin typeface="Times New Roman" panose="02020603050405020304" pitchFamily="18" charset="0"/>
            </a:endParaRPr>
          </a:p>
          <a:p>
            <a:pPr eaLnBrk="1" hangingPunct="1">
              <a:lnSpc>
                <a:spcPct val="130000"/>
              </a:lnSpc>
              <a:spcBef>
                <a:spcPct val="5000"/>
              </a:spcBef>
              <a:buNone/>
            </a:pPr>
            <a:r>
              <a:rPr lang="en-US" altLang="zh-CN" sz="2400" dirty="0">
                <a:latin typeface="Times New Roman" panose="02020603050405020304" pitchFamily="18" charset="0"/>
              </a:rPr>
              <a:t>         </a:t>
            </a:r>
            <a:r>
              <a:rPr lang="zh-CN" altLang="en-US" sz="2400" b="1" dirty="0">
                <a:latin typeface="Times New Roman" panose="02020603050405020304" pitchFamily="18" charset="0"/>
              </a:rPr>
              <a:t>电极电势代数值较大的一个为正极，代数值较小的一极为负极。</a:t>
            </a:r>
          </a:p>
          <a:p>
            <a:pPr eaLnBrk="1" hangingPunct="1">
              <a:lnSpc>
                <a:spcPct val="130000"/>
              </a:lnSpc>
              <a:spcBef>
                <a:spcPct val="5000"/>
              </a:spcBef>
              <a:buNone/>
            </a:pPr>
            <a:r>
              <a:rPr lang="en-US" altLang="zh-CN" sz="2400" b="1" i="1" dirty="0">
                <a:solidFill>
                  <a:srgbClr val="0000FF"/>
                </a:solidFill>
                <a:latin typeface="Times New Roman" panose="02020603050405020304" pitchFamily="18" charset="0"/>
              </a:rPr>
              <a:t>                            E</a:t>
            </a:r>
            <a:r>
              <a:rPr lang="en-US" altLang="zh-CN" sz="2400" b="1" dirty="0">
                <a:solidFill>
                  <a:srgbClr val="0000FF"/>
                </a:solidFill>
                <a:latin typeface="Times New Roman" panose="02020603050405020304" pitchFamily="18" charset="0"/>
              </a:rPr>
              <a:t>= </a:t>
            </a:r>
            <a:r>
              <a:rPr lang="en-US" altLang="en-US" sz="2400" b="1" i="1" dirty="0">
                <a:solidFill>
                  <a:srgbClr val="0000FF"/>
                </a:solidFill>
                <a:latin typeface="Times New Roman" panose="02020603050405020304" pitchFamily="18" charset="0"/>
              </a:rPr>
              <a:t>Φ</a:t>
            </a:r>
            <a:r>
              <a:rPr lang="zh-CN" altLang="en-US" sz="2400" b="1" baseline="-25000" dirty="0">
                <a:solidFill>
                  <a:srgbClr val="0000FF"/>
                </a:solidFill>
                <a:latin typeface="Times New Roman" panose="02020603050405020304" pitchFamily="18" charset="0"/>
              </a:rPr>
              <a:t>正</a:t>
            </a:r>
            <a:r>
              <a:rPr lang="zh-CN" altLang="zh-CN" sz="2400" b="1" dirty="0">
                <a:solidFill>
                  <a:srgbClr val="0000FF"/>
                </a:solidFill>
                <a:latin typeface="Times New Roman" panose="02020603050405020304" pitchFamily="18" charset="0"/>
              </a:rPr>
              <a:t> </a:t>
            </a:r>
            <a:r>
              <a:rPr lang="en-US" altLang="zh-CN" sz="2400" b="1" dirty="0">
                <a:solidFill>
                  <a:srgbClr val="0000FF"/>
                </a:solidFill>
                <a:latin typeface="Times New Roman" panose="02020603050405020304" pitchFamily="18" charset="0"/>
              </a:rPr>
              <a:t>– </a:t>
            </a:r>
            <a:r>
              <a:rPr lang="en-US" altLang="en-US" sz="2400" b="1" i="1" dirty="0">
                <a:solidFill>
                  <a:srgbClr val="0000FF"/>
                </a:solidFill>
                <a:latin typeface="Times New Roman" panose="02020603050405020304" pitchFamily="18" charset="0"/>
              </a:rPr>
              <a:t>Φ</a:t>
            </a:r>
            <a:r>
              <a:rPr lang="zh-CN" altLang="en-US" sz="2400" b="1" baseline="-25000" dirty="0">
                <a:solidFill>
                  <a:srgbClr val="0000FF"/>
                </a:solidFill>
                <a:latin typeface="Times New Roman" panose="02020603050405020304" pitchFamily="18" charset="0"/>
              </a:rPr>
              <a:t>负</a:t>
            </a:r>
            <a:endParaRPr lang="zh-CN" altLang="en-US" sz="2400" baseline="-25000" dirty="0">
              <a:solidFill>
                <a:srgbClr val="0000FF"/>
              </a:solidFill>
              <a:latin typeface="Times New Roman" panose="02020603050405020304" pitchFamily="18" charset="0"/>
            </a:endParaRPr>
          </a:p>
          <a:p>
            <a:pPr eaLnBrk="1" hangingPunct="1">
              <a:lnSpc>
                <a:spcPct val="130000"/>
              </a:lnSpc>
              <a:spcBef>
                <a:spcPct val="5000"/>
              </a:spcBef>
              <a:buNone/>
            </a:pPr>
            <a:r>
              <a:rPr lang="zh-CN" altLang="en-US" sz="2400" b="1" dirty="0">
                <a:solidFill>
                  <a:srgbClr val="0000FF"/>
                </a:solidFill>
                <a:latin typeface="Times New Roman" panose="02020603050405020304" pitchFamily="18" charset="0"/>
              </a:rPr>
              <a:t>     判断氧化还原反应的方向和限度</a:t>
            </a:r>
            <a:endParaRPr lang="en-US" altLang="zh-CN" sz="2400" b="1" dirty="0">
              <a:solidFill>
                <a:srgbClr val="0000FF"/>
              </a:solidFill>
              <a:latin typeface="Times New Roman" panose="02020603050405020304" pitchFamily="18" charset="0"/>
            </a:endParaRPr>
          </a:p>
          <a:p>
            <a:pPr eaLnBrk="1" hangingPunct="1">
              <a:lnSpc>
                <a:spcPct val="130000"/>
              </a:lnSpc>
              <a:spcBef>
                <a:spcPct val="5000"/>
              </a:spcBef>
              <a:buNone/>
            </a:pPr>
            <a:r>
              <a:rPr lang="en-US" altLang="zh-CN" sz="2400" b="1" dirty="0">
                <a:latin typeface="Times New Roman" panose="02020603050405020304" pitchFamily="18" charset="0"/>
              </a:rPr>
              <a:t>            E&gt;0 </a:t>
            </a:r>
            <a:r>
              <a:rPr lang="zh-CN" altLang="en-US" sz="2400" b="1" dirty="0">
                <a:latin typeface="Times New Roman" panose="02020603050405020304" pitchFamily="18" charset="0"/>
              </a:rPr>
              <a:t>氧化还原反应正方向自发进行。</a:t>
            </a:r>
          </a:p>
          <a:p>
            <a:pPr eaLnBrk="1" hangingPunct="1">
              <a:lnSpc>
                <a:spcPct val="130000"/>
              </a:lnSpc>
              <a:spcBef>
                <a:spcPct val="5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E&lt;0   </a:t>
            </a:r>
            <a:r>
              <a:rPr lang="zh-CN" altLang="en-US" sz="2400" b="1" dirty="0">
                <a:latin typeface="Times New Roman" panose="02020603050405020304" pitchFamily="18" charset="0"/>
              </a:rPr>
              <a:t>氧化还原反应逆方向自发进行。</a:t>
            </a:r>
          </a:p>
          <a:p>
            <a:pPr eaLnBrk="1" hangingPunct="1">
              <a:lnSpc>
                <a:spcPct val="130000"/>
              </a:lnSpc>
              <a:spcBef>
                <a:spcPct val="5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E=0   </a:t>
            </a:r>
            <a:r>
              <a:rPr lang="zh-CN" altLang="en-US" sz="2400" b="1" dirty="0">
                <a:latin typeface="Times New Roman" panose="02020603050405020304" pitchFamily="18" charset="0"/>
              </a:rPr>
              <a:t>氧化还原反应处于平衡状态。</a:t>
            </a:r>
            <a:endParaRPr lang="en-US" altLang="zh-CN" sz="2400" b="1" dirty="0">
              <a:latin typeface="Times New Roman" panose="02020603050405020304" pitchFamily="18" charset="0"/>
              <a:ea typeface="Times New Roman" panose="02020603050405020304" pitchFamily="18" charset="0"/>
            </a:endParaRPr>
          </a:p>
        </p:txBody>
      </p:sp>
      <p:sp>
        <p:nvSpPr>
          <p:cNvPr id="5" name="Rectangle 10"/>
          <p:cNvSpPr>
            <a:spLocks noRot="1" noChangeArrowheads="1"/>
          </p:cNvSpPr>
          <p:nvPr/>
        </p:nvSpPr>
        <p:spPr bwMode="auto">
          <a:xfrm>
            <a:off x="0" y="119063"/>
            <a:ext cx="9144000" cy="600075"/>
          </a:xfrm>
          <a:prstGeom prst="rect">
            <a:avLst/>
          </a:prstGeom>
          <a:solidFill>
            <a:srgbClr val="008000"/>
          </a:soli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r>
              <a:rPr kumimoji="0" lang="en-US" altLang="zh-CN" sz="3200" b="1"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4.3</a:t>
            </a:r>
            <a:r>
              <a:rPr kumimoji="0" lang="zh-CN" altLang="en-US" sz="3200" b="1"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电极电势的应用</a:t>
            </a:r>
            <a:endParaRPr kumimoji="0" lang="zh-CN" altLang="zh-CN" sz="32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4995">
                                            <p:bg/>
                                          </p:spTgt>
                                        </p:tgtEl>
                                        <p:attrNameLst>
                                          <p:attrName>style.visibility</p:attrName>
                                        </p:attrNameLst>
                                      </p:cBhvr>
                                      <p:to>
                                        <p:strVal val="visible"/>
                                      </p:to>
                                    </p:set>
                                    <p:animEffect transition="in" filter="dissolve">
                                      <p:cBhvr>
                                        <p:cTn id="16" dur="500"/>
                                        <p:tgtEl>
                                          <p:spTgt spid="84995">
                                            <p:bg/>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4995">
                                            <p:txEl>
                                              <p:pRg st="0" end="0"/>
                                            </p:txEl>
                                          </p:spTgt>
                                        </p:tgtEl>
                                        <p:attrNameLst>
                                          <p:attrName>style.visibility</p:attrName>
                                        </p:attrNameLst>
                                      </p:cBhvr>
                                      <p:to>
                                        <p:strVal val="visible"/>
                                      </p:to>
                                    </p:set>
                                    <p:animEffect transition="in" filter="dissolve">
                                      <p:cBhvr>
                                        <p:cTn id="21" dur="500"/>
                                        <p:tgtEl>
                                          <p:spTgt spid="8499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84995">
                                            <p:txEl>
                                              <p:pRg st="1" end="1"/>
                                            </p:txEl>
                                          </p:spTgt>
                                        </p:tgtEl>
                                        <p:attrNameLst>
                                          <p:attrName>style.visibility</p:attrName>
                                        </p:attrNameLst>
                                      </p:cBhvr>
                                      <p:to>
                                        <p:strVal val="visible"/>
                                      </p:to>
                                    </p:set>
                                    <p:animEffect transition="in" filter="dissolve">
                                      <p:cBhvr>
                                        <p:cTn id="26" dur="500"/>
                                        <p:tgtEl>
                                          <p:spTgt spid="8499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4995">
                                            <p:txEl>
                                              <p:pRg st="2" end="2"/>
                                            </p:txEl>
                                          </p:spTgt>
                                        </p:tgtEl>
                                        <p:attrNameLst>
                                          <p:attrName>style.visibility</p:attrName>
                                        </p:attrNameLst>
                                      </p:cBhvr>
                                      <p:to>
                                        <p:strVal val="visible"/>
                                      </p:to>
                                    </p:set>
                                    <p:animEffect transition="in" filter="dissolve">
                                      <p:cBhvr>
                                        <p:cTn id="31" dur="500"/>
                                        <p:tgtEl>
                                          <p:spTgt spid="84995">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4995">
                                            <p:txEl>
                                              <p:pRg st="3" end="3"/>
                                            </p:txEl>
                                          </p:spTgt>
                                        </p:tgtEl>
                                        <p:attrNameLst>
                                          <p:attrName>style.visibility</p:attrName>
                                        </p:attrNameLst>
                                      </p:cBhvr>
                                      <p:to>
                                        <p:strVal val="visible"/>
                                      </p:to>
                                    </p:set>
                                    <p:animEffect transition="in" filter="dissolve">
                                      <p:cBhvr>
                                        <p:cTn id="36" dur="500"/>
                                        <p:tgtEl>
                                          <p:spTgt spid="84995">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84995">
                                            <p:txEl>
                                              <p:pRg st="4" end="4"/>
                                            </p:txEl>
                                          </p:spTgt>
                                        </p:tgtEl>
                                        <p:attrNameLst>
                                          <p:attrName>style.visibility</p:attrName>
                                        </p:attrNameLst>
                                      </p:cBhvr>
                                      <p:to>
                                        <p:strVal val="visible"/>
                                      </p:to>
                                    </p:set>
                                    <p:animEffect transition="in" filter="dissolve">
                                      <p:cBhvr>
                                        <p:cTn id="41" dur="500"/>
                                        <p:tgtEl>
                                          <p:spTgt spid="84995">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84995">
                                            <p:txEl>
                                              <p:pRg st="5" end="5"/>
                                            </p:txEl>
                                          </p:spTgt>
                                        </p:tgtEl>
                                        <p:attrNameLst>
                                          <p:attrName>style.visibility</p:attrName>
                                        </p:attrNameLst>
                                      </p:cBhvr>
                                      <p:to>
                                        <p:strVal val="visible"/>
                                      </p:to>
                                    </p:set>
                                    <p:animEffect transition="in" filter="dissolve">
                                      <p:cBhvr>
                                        <p:cTn id="46" dur="500"/>
                                        <p:tgtEl>
                                          <p:spTgt spid="84995">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84995">
                                            <p:txEl>
                                              <p:pRg st="6" end="6"/>
                                            </p:txEl>
                                          </p:spTgt>
                                        </p:tgtEl>
                                        <p:attrNameLst>
                                          <p:attrName>style.visibility</p:attrName>
                                        </p:attrNameLst>
                                      </p:cBhvr>
                                      <p:to>
                                        <p:strVal val="visible"/>
                                      </p:to>
                                    </p:set>
                                    <p:animEffect transition="in" filter="dissolve">
                                      <p:cBhvr>
                                        <p:cTn id="51" dur="500"/>
                                        <p:tgtEl>
                                          <p:spTgt spid="849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animBg="1"/>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p:cNvSpPr>
          <p:nvPr>
            <p:ph type="body" idx="4294967295"/>
          </p:nvPr>
        </p:nvSpPr>
        <p:spPr>
          <a:xfrm>
            <a:off x="395288" y="769938"/>
            <a:ext cx="8464550" cy="2816225"/>
          </a:xfrm>
          <a:solidFill>
            <a:schemeClr val="folHlink"/>
          </a:solidFill>
        </p:spPr>
        <p:txBody>
          <a:bodyPr vert="horz" wrap="square" lIns="91440" tIns="45720" rIns="91440" bIns="45720" anchor="t" anchorCtr="0"/>
          <a:lstStyle/>
          <a:p>
            <a:pPr eaLnBrk="1" hangingPunct="1">
              <a:lnSpc>
                <a:spcPct val="130000"/>
              </a:lnSpc>
              <a:spcBef>
                <a:spcPct val="5000"/>
              </a:spcBef>
            </a:pPr>
            <a:r>
              <a:rPr lang="zh-CN" altLang="en-US" sz="2400" b="1" dirty="0">
                <a:solidFill>
                  <a:srgbClr val="0000FF"/>
                </a:solidFill>
              </a:rPr>
              <a:t>判断氧化剂和还原剂的相对强弱 </a:t>
            </a:r>
            <a:endParaRPr lang="en-US" altLang="zh-CN" sz="2400" b="1" dirty="0">
              <a:solidFill>
                <a:srgbClr val="0000FF"/>
              </a:solidFill>
            </a:endParaRPr>
          </a:p>
          <a:p>
            <a:pPr eaLnBrk="1" hangingPunct="1">
              <a:lnSpc>
                <a:spcPct val="130000"/>
              </a:lnSpc>
              <a:spcBef>
                <a:spcPct val="5000"/>
              </a:spcBef>
              <a:buNone/>
            </a:pPr>
            <a:r>
              <a:rPr lang="en-US" altLang="zh-CN" sz="2400" b="1" dirty="0"/>
              <a:t>           </a:t>
            </a:r>
            <a:r>
              <a:rPr lang="zh-CN" altLang="en-US" sz="2400" b="1" dirty="0"/>
              <a:t>①</a:t>
            </a:r>
            <a:r>
              <a:rPr lang="en-US" altLang="zh-CN" sz="2400" b="1" dirty="0"/>
              <a:t> </a:t>
            </a:r>
            <a:r>
              <a:rPr lang="zh-CN" altLang="en-US" sz="2400" b="1" dirty="0"/>
              <a:t>代数值越大，该电对氧化态的氧化能力越强，其对应的还原态的还原能力越弱。</a:t>
            </a:r>
          </a:p>
          <a:p>
            <a:pPr eaLnBrk="1" hangingPunct="1">
              <a:lnSpc>
                <a:spcPct val="130000"/>
              </a:lnSpc>
              <a:spcBef>
                <a:spcPct val="5000"/>
              </a:spcBef>
              <a:buNone/>
            </a:pPr>
            <a:r>
              <a:rPr lang="en-US" altLang="zh-CN" sz="2400" b="1" dirty="0"/>
              <a:t>          </a:t>
            </a:r>
            <a:r>
              <a:rPr lang="zh-CN" altLang="zh-CN" sz="2400" b="1" dirty="0"/>
              <a:t>②</a:t>
            </a:r>
            <a:r>
              <a:rPr lang="en-US" altLang="zh-CN" sz="2400" b="1" dirty="0"/>
              <a:t> </a:t>
            </a:r>
            <a:r>
              <a:rPr lang="zh-CN" altLang="en-US" sz="2400" b="1" dirty="0"/>
              <a:t>代数值越小，该电对还原态的还原能力越强，其对应的氧化态的氧化能力越弱。</a:t>
            </a:r>
            <a:endParaRPr lang="zh-CN" altLang="zh-CN"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5">
                                            <p:bg/>
                                          </p:spTgt>
                                        </p:tgtEl>
                                        <p:attrNameLst>
                                          <p:attrName>style.visibility</p:attrName>
                                        </p:attrNameLst>
                                      </p:cBhvr>
                                      <p:to>
                                        <p:strVal val="visible"/>
                                      </p:to>
                                    </p:set>
                                    <p:animEffect transition="in" filter="dissolve">
                                      <p:cBhvr>
                                        <p:cTn id="7" dur="500"/>
                                        <p:tgtEl>
                                          <p:spTgt spid="84995">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995">
                                            <p:txEl>
                                              <p:pRg st="0" end="0"/>
                                            </p:txEl>
                                          </p:spTgt>
                                        </p:tgtEl>
                                        <p:attrNameLst>
                                          <p:attrName>style.visibility</p:attrName>
                                        </p:attrNameLst>
                                      </p:cBhvr>
                                      <p:to>
                                        <p:strVal val="visible"/>
                                      </p:to>
                                    </p:set>
                                    <p:animEffect transition="in" filter="dissolve">
                                      <p:cBhvr>
                                        <p:cTn id="12" dur="500"/>
                                        <p:tgtEl>
                                          <p:spTgt spid="849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995">
                                            <p:txEl>
                                              <p:pRg st="1" end="1"/>
                                            </p:txEl>
                                          </p:spTgt>
                                        </p:tgtEl>
                                        <p:attrNameLst>
                                          <p:attrName>style.visibility</p:attrName>
                                        </p:attrNameLst>
                                      </p:cBhvr>
                                      <p:to>
                                        <p:strVal val="visible"/>
                                      </p:to>
                                    </p:set>
                                    <p:animEffect transition="in" filter="dissolve">
                                      <p:cBhvr>
                                        <p:cTn id="17" dur="500"/>
                                        <p:tgtEl>
                                          <p:spTgt spid="849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4995">
                                            <p:txEl>
                                              <p:pRg st="2" end="2"/>
                                            </p:txEl>
                                          </p:spTgt>
                                        </p:tgtEl>
                                        <p:attrNameLst>
                                          <p:attrName>style.visibility</p:attrName>
                                        </p:attrNameLst>
                                      </p:cBhvr>
                                      <p:to>
                                        <p:strVal val="visible"/>
                                      </p:to>
                                    </p:set>
                                    <p:animEffect transition="in" filter="dissolve">
                                      <p:cBhvr>
                                        <p:cTn id="22" dur="500"/>
                                        <p:tgtEl>
                                          <p:spTgt spid="84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p:nvPr/>
        </p:nvSpPr>
        <p:spPr>
          <a:xfrm>
            <a:off x="395288" y="1778000"/>
            <a:ext cx="8353425" cy="1477963"/>
          </a:xfrm>
          <a:prstGeom prst="rect">
            <a:avLst/>
          </a:prstGeom>
          <a:noFill/>
          <a:ln w="9525">
            <a:noFill/>
          </a:ln>
        </p:spPr>
        <p:txBody>
          <a:bodyPr anchor="t" anchorCtr="0">
            <a:spAutoFit/>
          </a:bodyPr>
          <a:lstStyle/>
          <a:p>
            <a:pPr>
              <a:lnSpc>
                <a:spcPct val="125000"/>
              </a:lnSpc>
            </a:pPr>
            <a:r>
              <a:rPr lang="en-US" altLang="zh-CN" sz="2400" b="1" dirty="0">
                <a:latin typeface="Times New Roman" panose="02020603050405020304" pitchFamily="18" charset="0"/>
                <a:ea typeface="宋体" panose="02010600030101010101" pitchFamily="2" charset="-122"/>
              </a:rPr>
              <a:t>         25ºC</a:t>
            </a:r>
            <a:r>
              <a:rPr lang="zh-CN" altLang="en-US" sz="2400" b="1" dirty="0">
                <a:latin typeface="Times New Roman" panose="02020603050405020304" pitchFamily="18" charset="0"/>
                <a:ea typeface="宋体" panose="02010600030101010101" pitchFamily="2" charset="-122"/>
              </a:rPr>
              <a:t>时，有溶液</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1</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c</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baseline="-25000" dirty="0">
                <a:latin typeface="Times New Roman" panose="02020603050405020304" pitchFamily="18" charset="0"/>
                <a:ea typeface="宋体" panose="02010600030101010101" pitchFamily="2" charset="-122"/>
                <a:sym typeface="Wingdings" panose="05000000000000000000" pitchFamily="2" charset="2"/>
              </a:rPr>
              <a:t>Sn</a:t>
            </a:r>
            <a:r>
              <a:rPr lang="en-US" altLang="zh-CN" sz="2400" b="1" baseline="30000" dirty="0">
                <a:latin typeface="Times New Roman" panose="02020603050405020304" pitchFamily="18" charset="0"/>
                <a:ea typeface="宋体" panose="02010600030101010101" pitchFamily="2" charset="-122"/>
                <a:sym typeface="Wingdings" panose="05000000000000000000" pitchFamily="2" charset="2"/>
              </a:rPr>
              <a:t>2+</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=1.0</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 </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c</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baseline="-25000" dirty="0">
                <a:latin typeface="Times New Roman" panose="02020603050405020304" pitchFamily="18" charset="0"/>
                <a:ea typeface="宋体" panose="02010600030101010101" pitchFamily="2" charset="-122"/>
                <a:sym typeface="Wingdings" panose="05000000000000000000" pitchFamily="2" charset="2"/>
              </a:rPr>
              <a:t>Pb</a:t>
            </a:r>
            <a:r>
              <a:rPr lang="en-US" altLang="zh-CN" sz="2400" b="1" baseline="30000" dirty="0">
                <a:latin typeface="Times New Roman" panose="02020603050405020304" pitchFamily="18" charset="0"/>
                <a:ea typeface="宋体" panose="02010600030101010101" pitchFamily="2" charset="-122"/>
                <a:sym typeface="Wingdings" panose="05000000000000000000" pitchFamily="2" charset="2"/>
              </a:rPr>
              <a:t>2+</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=1.0</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2</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 </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c</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baseline="-25000" dirty="0">
                <a:latin typeface="Times New Roman" panose="02020603050405020304" pitchFamily="18" charset="0"/>
                <a:ea typeface="宋体" panose="02010600030101010101" pitchFamily="2" charset="-122"/>
                <a:sym typeface="Wingdings" panose="05000000000000000000" pitchFamily="2" charset="2"/>
              </a:rPr>
              <a:t>Sn</a:t>
            </a:r>
            <a:r>
              <a:rPr lang="en-US" altLang="zh-CN" sz="2400" b="1" baseline="30000" dirty="0">
                <a:latin typeface="Times New Roman" panose="02020603050405020304" pitchFamily="18" charset="0"/>
                <a:ea typeface="宋体" panose="02010600030101010101" pitchFamily="2" charset="-122"/>
                <a:sym typeface="Wingdings" panose="05000000000000000000" pitchFamily="2" charset="2"/>
              </a:rPr>
              <a:t>2+</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=1.0</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 </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c</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baseline="-25000" dirty="0">
                <a:latin typeface="Times New Roman" panose="02020603050405020304" pitchFamily="18" charset="0"/>
                <a:ea typeface="宋体" panose="02010600030101010101" pitchFamily="2" charset="-122"/>
                <a:sym typeface="Wingdings" panose="05000000000000000000" pitchFamily="2" charset="2"/>
              </a:rPr>
              <a:t>Pb</a:t>
            </a:r>
            <a:r>
              <a:rPr lang="en-US" altLang="zh-CN" sz="2400" b="1" baseline="30000" dirty="0">
                <a:latin typeface="Times New Roman" panose="02020603050405020304" pitchFamily="18" charset="0"/>
                <a:ea typeface="宋体" panose="02010600030101010101" pitchFamily="2" charset="-122"/>
                <a:sym typeface="Wingdings" panose="05000000000000000000" pitchFamily="2" charset="2"/>
              </a:rPr>
              <a:t>2+</a:t>
            </a:r>
            <a:r>
              <a:rPr lang="zh-CN" altLang="en-US" sz="2400" b="1" baseline="-25000" dirty="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=0.1</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。当将金属</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Pb</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放入溶液时，能否从溶液中置换出金属</a:t>
            </a:r>
            <a:r>
              <a:rPr lang="en-US" altLang="zh-CN" sz="2400" b="1" dirty="0">
                <a:latin typeface="Times New Roman" panose="02020603050405020304" pitchFamily="18" charset="0"/>
                <a:ea typeface="宋体" panose="02010600030101010101" pitchFamily="2" charset="-122"/>
                <a:sym typeface="Wingdings" panose="05000000000000000000" pitchFamily="2" charset="2"/>
              </a:rPr>
              <a:t>Sn</a:t>
            </a:r>
            <a:r>
              <a:rPr lang="zh-CN" altLang="en-US" sz="2400" b="1" dirty="0">
                <a:latin typeface="Times New Roman" panose="02020603050405020304" pitchFamily="18" charset="0"/>
                <a:ea typeface="宋体" panose="02010600030101010101" pitchFamily="2" charset="-122"/>
                <a:sym typeface="Wingdings" panose="05000000000000000000" pitchFamily="2" charset="2"/>
              </a:rPr>
              <a:t>。</a:t>
            </a:r>
          </a:p>
        </p:txBody>
      </p:sp>
      <p:sp>
        <p:nvSpPr>
          <p:cNvPr id="82947" name="Rectangle 3"/>
          <p:cNvSpPr/>
          <p:nvPr/>
        </p:nvSpPr>
        <p:spPr>
          <a:xfrm>
            <a:off x="776288" y="1157288"/>
            <a:ext cx="3487737" cy="554037"/>
          </a:xfrm>
          <a:prstGeom prst="rect">
            <a:avLst/>
          </a:prstGeom>
          <a:noFill/>
          <a:ln w="9525">
            <a:noFill/>
          </a:ln>
        </p:spPr>
        <p:txBody>
          <a:bodyPr wrap="none" anchor="t" anchorCtr="0">
            <a:spAutoFit/>
          </a:bodyPr>
          <a:lstStyle/>
          <a:p>
            <a:pPr algn="ctr"/>
            <a:r>
              <a:rPr lang="zh-CN" altLang="en-US" sz="3000" b="1" dirty="0">
                <a:solidFill>
                  <a:srgbClr val="6600FF"/>
                </a:solidFill>
                <a:latin typeface="Arial" panose="020B0604020202020204" pitchFamily="34" charset="0"/>
                <a:ea typeface="宋体" panose="02010600030101010101" pitchFamily="2" charset="-122"/>
              </a:rPr>
              <a:t>（</a:t>
            </a:r>
            <a:r>
              <a:rPr lang="en-US" altLang="zh-CN" sz="3000" b="1" dirty="0">
                <a:solidFill>
                  <a:srgbClr val="6600FF"/>
                </a:solidFill>
                <a:latin typeface="Arial" panose="020B0604020202020204" pitchFamily="34" charset="0"/>
                <a:ea typeface="宋体" panose="02010600030101010101" pitchFamily="2" charset="-122"/>
              </a:rPr>
              <a:t>1</a:t>
            </a:r>
            <a:r>
              <a:rPr lang="zh-CN" altLang="en-US" sz="3000" b="1" dirty="0">
                <a:solidFill>
                  <a:srgbClr val="6600FF"/>
                </a:solidFill>
                <a:latin typeface="Arial" panose="020B0604020202020204" pitchFamily="34" charset="0"/>
                <a:ea typeface="宋体" panose="02010600030101010101" pitchFamily="2" charset="-122"/>
              </a:rPr>
              <a:t>）判断反应趋势</a:t>
            </a:r>
          </a:p>
        </p:txBody>
      </p:sp>
      <p:sp>
        <p:nvSpPr>
          <p:cNvPr id="72707" name="WordArt 4"/>
          <p:cNvSpPr>
            <a:spLocks noTextEdit="1"/>
          </p:cNvSpPr>
          <p:nvPr/>
        </p:nvSpPr>
        <p:spPr>
          <a:xfrm>
            <a:off x="323850" y="217488"/>
            <a:ext cx="1727200" cy="839787"/>
          </a:xfrm>
          <a:prstGeom prst="rect">
            <a:avLst/>
          </a:prstGeom>
        </p:spPr>
        <p:txBody>
          <a:bodyPr wrap="none" fromWordArt="1">
            <a:prstTxWarp prst="textTriangle">
              <a:avLst>
                <a:gd name="adj" fmla="val 50000"/>
              </a:avLst>
            </a:prstTxWarp>
            <a:normAutofit/>
            <a:scene3d>
              <a:camera prst="legacyObliqueTopLeft">
                <a:rot lat="0" lon="0" rev="0"/>
              </a:camera>
              <a:lightRig rig="legacyNormal3" dir="r"/>
            </a:scene3d>
            <a:sp3d extrusionH="201600" prstMaterial="legacyMatte">
              <a:extrusionClr>
                <a:srgbClr val="0066CC"/>
              </a:extrusionClr>
            </a:sp3d>
          </a:bodyPr>
          <a:lstStyle/>
          <a:p>
            <a:pPr algn="ctr"/>
            <a:r>
              <a:rPr lang="zh-CN" altLang="en-US" sz="3200">
                <a:gradFill rotWithShape="1">
                  <a:gsLst>
                    <a:gs pos="0">
                      <a:srgbClr val="FFFFCC"/>
                    </a:gs>
                    <a:gs pos="100000">
                      <a:srgbClr val="FF9999"/>
                    </a:gs>
                  </a:gsLst>
                  <a:lin ang="5400000" scaled="1"/>
                  <a:tileRect/>
                </a:gradFill>
                <a:latin typeface="宋体" panose="02010600030101010101" pitchFamily="2" charset="-122"/>
                <a:ea typeface="宋体" panose="02010600030101010101" pitchFamily="2" charset="-122"/>
              </a:rPr>
              <a:t>典型例题</a:t>
            </a:r>
          </a:p>
        </p:txBody>
      </p:sp>
      <p:sp>
        <p:nvSpPr>
          <p:cNvPr id="82949" name="Text Box 5"/>
          <p:cNvSpPr txBox="1"/>
          <p:nvPr/>
        </p:nvSpPr>
        <p:spPr>
          <a:xfrm>
            <a:off x="1042988" y="3144838"/>
            <a:ext cx="906462" cy="523875"/>
          </a:xfrm>
          <a:prstGeom prst="rect">
            <a:avLst/>
          </a:prstGeom>
          <a:noFill/>
          <a:ln w="9525">
            <a:noFill/>
          </a:ln>
        </p:spPr>
        <p:txBody>
          <a:bodyPr wrap="none" anchor="t" anchorCtr="0">
            <a:spAutoFit/>
          </a:bodyPr>
          <a:lstStyle/>
          <a:p>
            <a:r>
              <a:rPr lang="zh-CN" altLang="en-US" sz="2800" b="1" dirty="0">
                <a:solidFill>
                  <a:srgbClr val="0000FF"/>
                </a:solidFill>
                <a:latin typeface="Times New Roman" panose="02020603050405020304" pitchFamily="18" charset="0"/>
                <a:ea typeface="宋体" panose="02010600030101010101" pitchFamily="2" charset="-122"/>
              </a:rPr>
              <a:t>解：</a:t>
            </a:r>
          </a:p>
        </p:txBody>
      </p:sp>
      <p:graphicFrame>
        <p:nvGraphicFramePr>
          <p:cNvPr id="82950" name="Object 6"/>
          <p:cNvGraphicFramePr>
            <a:graphicFrameLocks noChangeAspect="1"/>
          </p:cNvGraphicFramePr>
          <p:nvPr/>
        </p:nvGraphicFramePr>
        <p:xfrm>
          <a:off x="2974975" y="3205163"/>
          <a:ext cx="3643313" cy="449262"/>
        </p:xfrm>
        <a:graphic>
          <a:graphicData uri="http://schemas.openxmlformats.org/presentationml/2006/ole">
            <mc:AlternateContent xmlns:mc="http://schemas.openxmlformats.org/markup-compatibility/2006">
              <mc:Choice xmlns:v="urn:schemas-microsoft-com:vml" Requires="v">
                <p:oleObj r:id="rId2" imgW="1371600" imgH="228600" progId="Equation.3">
                  <p:embed/>
                </p:oleObj>
              </mc:Choice>
              <mc:Fallback>
                <p:oleObj r:id="rId2" imgW="1371600" imgH="228600" progId="Equation.3">
                  <p:embed/>
                  <p:pic>
                    <p:nvPicPr>
                      <p:cNvPr id="0" name="图片 3093"/>
                      <p:cNvPicPr/>
                      <p:nvPr/>
                    </p:nvPicPr>
                    <p:blipFill>
                      <a:blip r:embed="rId3"/>
                      <a:stretch>
                        <a:fillRect/>
                      </a:stretch>
                    </p:blipFill>
                    <p:spPr>
                      <a:xfrm>
                        <a:off x="2974975" y="3205163"/>
                        <a:ext cx="3643313" cy="449262"/>
                      </a:xfrm>
                      <a:prstGeom prst="rect">
                        <a:avLst/>
                      </a:prstGeom>
                      <a:noFill/>
                      <a:ln w="38100">
                        <a:noFill/>
                        <a:miter/>
                      </a:ln>
                    </p:spPr>
                  </p:pic>
                </p:oleObj>
              </mc:Fallback>
            </mc:AlternateContent>
          </a:graphicData>
        </a:graphic>
      </p:graphicFrame>
      <p:graphicFrame>
        <p:nvGraphicFramePr>
          <p:cNvPr id="82951" name="Object 7"/>
          <p:cNvGraphicFramePr>
            <a:graphicFrameLocks noChangeAspect="1"/>
          </p:cNvGraphicFramePr>
          <p:nvPr/>
        </p:nvGraphicFramePr>
        <p:xfrm>
          <a:off x="2255838" y="3697288"/>
          <a:ext cx="4127500" cy="481012"/>
        </p:xfrm>
        <a:graphic>
          <a:graphicData uri="http://schemas.openxmlformats.org/presentationml/2006/ole">
            <mc:AlternateContent xmlns:mc="http://schemas.openxmlformats.org/markup-compatibility/2006">
              <mc:Choice xmlns:v="urn:schemas-microsoft-com:vml" Requires="v">
                <p:oleObj r:id="rId4" imgW="1689100" imgH="228600" progId="Equation.3">
                  <p:embed/>
                </p:oleObj>
              </mc:Choice>
              <mc:Fallback>
                <p:oleObj r:id="rId4" imgW="1689100" imgH="228600" progId="Equation.3">
                  <p:embed/>
                  <p:pic>
                    <p:nvPicPr>
                      <p:cNvPr id="0" name="图片 3092"/>
                      <p:cNvPicPr/>
                      <p:nvPr/>
                    </p:nvPicPr>
                    <p:blipFill>
                      <a:blip r:embed="rId5"/>
                      <a:stretch>
                        <a:fillRect/>
                      </a:stretch>
                    </p:blipFill>
                    <p:spPr>
                      <a:xfrm>
                        <a:off x="2255838" y="3697288"/>
                        <a:ext cx="4127500" cy="481012"/>
                      </a:xfrm>
                      <a:prstGeom prst="rect">
                        <a:avLst/>
                      </a:prstGeom>
                      <a:noFill/>
                      <a:ln w="38100">
                        <a:noFill/>
                        <a:miter/>
                      </a:ln>
                    </p:spPr>
                  </p:pic>
                </p:oleObj>
              </mc:Fallback>
            </mc:AlternateContent>
          </a:graphicData>
        </a:graphic>
      </p:graphicFrame>
      <p:sp>
        <p:nvSpPr>
          <p:cNvPr id="82952" name="Line 8"/>
          <p:cNvSpPr/>
          <p:nvPr/>
        </p:nvSpPr>
        <p:spPr>
          <a:xfrm>
            <a:off x="1331913" y="4418013"/>
            <a:ext cx="6164262" cy="0"/>
          </a:xfrm>
          <a:prstGeom prst="line">
            <a:avLst/>
          </a:prstGeom>
          <a:ln w="19050" cap="flat" cmpd="sng">
            <a:solidFill>
              <a:schemeClr val="tx1"/>
            </a:solidFill>
            <a:prstDash val="solid"/>
            <a:round/>
            <a:headEnd type="none" w="med" len="med"/>
            <a:tailEnd type="none" w="med" len="med"/>
          </a:ln>
        </p:spPr>
      </p:sp>
      <p:grpSp>
        <p:nvGrpSpPr>
          <p:cNvPr id="2" name="Group 9"/>
          <p:cNvGrpSpPr/>
          <p:nvPr/>
        </p:nvGrpSpPr>
        <p:grpSpPr>
          <a:xfrm>
            <a:off x="1763713" y="4537075"/>
            <a:ext cx="5122862" cy="523875"/>
            <a:chOff x="930" y="1697"/>
            <a:chExt cx="3227" cy="396"/>
          </a:xfrm>
        </p:grpSpPr>
        <p:sp>
          <p:nvSpPr>
            <p:cNvPr id="72713" name="Text Box 10"/>
            <p:cNvSpPr txBox="1"/>
            <p:nvPr/>
          </p:nvSpPr>
          <p:spPr>
            <a:xfrm>
              <a:off x="930" y="1697"/>
              <a:ext cx="1025" cy="396"/>
            </a:xfrm>
            <a:prstGeom prst="rect">
              <a:avLst/>
            </a:prstGeom>
            <a:noFill/>
            <a:ln w="9525">
              <a:noFill/>
            </a:ln>
          </p:spPr>
          <p:txBody>
            <a:bodyPr wrap="none" anchor="t" anchorCtr="0">
              <a:spAutoFit/>
            </a:bodyPr>
            <a:lstStyle/>
            <a:p>
              <a:r>
                <a:rPr lang="zh-CN" altLang="en-US" sz="2800" b="1" dirty="0">
                  <a:solidFill>
                    <a:srgbClr val="FF0000"/>
                  </a:solidFill>
                  <a:latin typeface="Times New Roman" panose="02020603050405020304" pitchFamily="18" charset="0"/>
                  <a:ea typeface="宋体" panose="02010600030101010101" pitchFamily="2" charset="-122"/>
                </a:rPr>
                <a:t>电池反应</a:t>
              </a:r>
            </a:p>
          </p:txBody>
        </p:sp>
        <p:graphicFrame>
          <p:nvGraphicFramePr>
            <p:cNvPr id="72714" name="Object 11"/>
            <p:cNvGraphicFramePr>
              <a:graphicFrameLocks noChangeAspect="1"/>
            </p:cNvGraphicFramePr>
            <p:nvPr/>
          </p:nvGraphicFramePr>
          <p:xfrm>
            <a:off x="2019" y="1712"/>
            <a:ext cx="2138" cy="312"/>
          </p:xfrm>
          <a:graphic>
            <a:graphicData uri="http://schemas.openxmlformats.org/presentationml/2006/ole">
              <mc:AlternateContent xmlns:mc="http://schemas.openxmlformats.org/markup-compatibility/2006">
                <mc:Choice xmlns:v="urn:schemas-microsoft-com:vml" Requires="v">
                  <p:oleObj r:id="rId6" imgW="1511300" imgH="203200" progId="Equation.3">
                    <p:embed/>
                  </p:oleObj>
                </mc:Choice>
                <mc:Fallback>
                  <p:oleObj r:id="rId6" imgW="1511300" imgH="203200" progId="Equation.3">
                    <p:embed/>
                    <p:pic>
                      <p:nvPicPr>
                        <p:cNvPr id="0" name="图片 3094"/>
                        <p:cNvPicPr/>
                        <p:nvPr/>
                      </p:nvPicPr>
                      <p:blipFill>
                        <a:blip r:embed="rId7"/>
                        <a:stretch>
                          <a:fillRect/>
                        </a:stretch>
                      </p:blipFill>
                      <p:spPr>
                        <a:xfrm>
                          <a:off x="2019" y="1712"/>
                          <a:ext cx="2138" cy="312"/>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82947"/>
                                        </p:tgtEl>
                                        <p:attrNameLst>
                                          <p:attrName>style.visibility</p:attrName>
                                        </p:attrNameLst>
                                      </p:cBhvr>
                                      <p:to>
                                        <p:strVal val="visible"/>
                                      </p:to>
                                    </p:set>
                                    <p:animEffect transition="in" filter="fade">
                                      <p:cBhvr>
                                        <p:cTn id="7" dur="2000"/>
                                        <p:tgtEl>
                                          <p:spTgt spid="82947"/>
                                        </p:tgtEl>
                                      </p:cBhvr>
                                    </p:animEffect>
                                    <p:anim calcmode="lin" valueType="num">
                                      <p:cBhvr>
                                        <p:cTn id="8" dur="2000" fill="hold"/>
                                        <p:tgtEl>
                                          <p:spTgt spid="82947"/>
                                        </p:tgtEl>
                                        <p:attrNameLst>
                                          <p:attrName>ppt_w</p:attrName>
                                        </p:attrNameLst>
                                      </p:cBhvr>
                                      <p:tavLst>
                                        <p:tav tm="0" fmla="#ppt_w*sin(2.5*pi*$)">
                                          <p:val>
                                            <p:fltVal val="0"/>
                                          </p:val>
                                        </p:tav>
                                        <p:tav tm="100000">
                                          <p:val>
                                            <p:fltVal val="1"/>
                                          </p:val>
                                        </p:tav>
                                      </p:tavLst>
                                    </p:anim>
                                    <p:anim calcmode="lin" valueType="num">
                                      <p:cBhvr>
                                        <p:cTn id="9" dur="2000" fill="hold"/>
                                        <p:tgtEl>
                                          <p:spTgt spid="8294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82946"/>
                                        </p:tgtEl>
                                        <p:attrNameLst>
                                          <p:attrName>style.visibility</p:attrName>
                                        </p:attrNameLst>
                                      </p:cBhvr>
                                      <p:to>
                                        <p:strVal val="visible"/>
                                      </p:to>
                                    </p:set>
                                    <p:animEffect transition="in" filter="wipe(left)">
                                      <p:cBhvr>
                                        <p:cTn id="14" dur="500"/>
                                        <p:tgtEl>
                                          <p:spTgt spid="82946"/>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82949"/>
                                        </p:tgtEl>
                                        <p:attrNameLst>
                                          <p:attrName>style.visibility</p:attrName>
                                        </p:attrNameLst>
                                      </p:cBhvr>
                                      <p:to>
                                        <p:strVal val="visible"/>
                                      </p:to>
                                    </p:set>
                                    <p:animEffect transition="in" filter="diamond(in)">
                                      <p:cBhvr>
                                        <p:cTn id="19" dur="1000"/>
                                        <p:tgtEl>
                                          <p:spTgt spid="8294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2950"/>
                                        </p:tgtEl>
                                        <p:attrNameLst>
                                          <p:attrName>style.visibility</p:attrName>
                                        </p:attrNameLst>
                                      </p:cBhvr>
                                      <p:to>
                                        <p:strVal val="visible"/>
                                      </p:to>
                                    </p:set>
                                    <p:animEffect transition="in" filter="wipe(left)">
                                      <p:cBhvr>
                                        <p:cTn id="24" dur="2000"/>
                                        <p:tgtEl>
                                          <p:spTgt spid="8295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2951"/>
                                        </p:tgtEl>
                                        <p:attrNameLst>
                                          <p:attrName>style.visibility</p:attrName>
                                        </p:attrNameLst>
                                      </p:cBhvr>
                                      <p:to>
                                        <p:strVal val="visible"/>
                                      </p:to>
                                    </p:set>
                                    <p:animEffect transition="in" filter="wipe(left)">
                                      <p:cBhvr>
                                        <p:cTn id="29" dur="2000"/>
                                        <p:tgtEl>
                                          <p:spTgt spid="8295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82952"/>
                                        </p:tgtEl>
                                        <p:attrNameLst>
                                          <p:attrName>style.visibility</p:attrName>
                                        </p:attrNameLst>
                                      </p:cBhvr>
                                      <p:to>
                                        <p:strVal val="visible"/>
                                      </p:to>
                                    </p:set>
                                    <p:anim calcmode="lin" valueType="num">
                                      <p:cBhvr additive="base">
                                        <p:cTn id="34" dur="500" fill="hold"/>
                                        <p:tgtEl>
                                          <p:spTgt spid="82952"/>
                                        </p:tgtEl>
                                        <p:attrNameLst>
                                          <p:attrName>ppt_x</p:attrName>
                                        </p:attrNameLst>
                                      </p:cBhvr>
                                      <p:tavLst>
                                        <p:tav tm="0">
                                          <p:val>
                                            <p:strVal val="#ppt_x"/>
                                          </p:val>
                                        </p:tav>
                                        <p:tav tm="100000">
                                          <p:val>
                                            <p:strVal val="#ppt_x"/>
                                          </p:val>
                                        </p:tav>
                                      </p:tavLst>
                                    </p:anim>
                                    <p:anim calcmode="lin" valueType="num">
                                      <p:cBhvr additive="base">
                                        <p:cTn id="35" dur="500" fill="hold"/>
                                        <p:tgtEl>
                                          <p:spTgt spid="8295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p:bldP spid="8294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29" name="Object 2"/>
          <p:cNvGraphicFramePr>
            <a:graphicFrameLocks noChangeAspect="1"/>
          </p:cNvGraphicFramePr>
          <p:nvPr/>
        </p:nvGraphicFramePr>
        <p:xfrm>
          <a:off x="4514850" y="2767013"/>
          <a:ext cx="139700" cy="220662"/>
        </p:xfrm>
        <a:graphic>
          <a:graphicData uri="http://schemas.openxmlformats.org/presentationml/2006/ole">
            <mc:AlternateContent xmlns:mc="http://schemas.openxmlformats.org/markup-compatibility/2006">
              <mc:Choice xmlns:v="urn:schemas-microsoft-com:vml" Requires="v">
                <p:oleObj r:id="rId2" imgW="114300" imgH="215900" progId="Equation.3">
                  <p:embed/>
                </p:oleObj>
              </mc:Choice>
              <mc:Fallback>
                <p:oleObj r:id="rId2" imgW="114300" imgH="215900" progId="Equation.3">
                  <p:embed/>
                  <p:pic>
                    <p:nvPicPr>
                      <p:cNvPr id="0" name="图片 3086"/>
                      <p:cNvPicPr/>
                      <p:nvPr/>
                    </p:nvPicPr>
                    <p:blipFill>
                      <a:blip r:embed="rId3"/>
                      <a:stretch>
                        <a:fillRect/>
                      </a:stretch>
                    </p:blipFill>
                    <p:spPr>
                      <a:xfrm>
                        <a:off x="4514850" y="2767013"/>
                        <a:ext cx="139700" cy="220662"/>
                      </a:xfrm>
                      <a:prstGeom prst="rect">
                        <a:avLst/>
                      </a:prstGeom>
                      <a:noFill/>
                      <a:ln w="38100">
                        <a:noFill/>
                        <a:miter/>
                      </a:ln>
                    </p:spPr>
                  </p:pic>
                </p:oleObj>
              </mc:Fallback>
            </mc:AlternateContent>
          </a:graphicData>
        </a:graphic>
      </p:graphicFrame>
      <p:graphicFrame>
        <p:nvGraphicFramePr>
          <p:cNvPr id="83971" name="Object 3"/>
          <p:cNvGraphicFramePr>
            <a:graphicFrameLocks noChangeAspect="1"/>
          </p:cNvGraphicFramePr>
          <p:nvPr/>
        </p:nvGraphicFramePr>
        <p:xfrm>
          <a:off x="3794125" y="217488"/>
          <a:ext cx="4006850" cy="979487"/>
        </p:xfrm>
        <a:graphic>
          <a:graphicData uri="http://schemas.openxmlformats.org/presentationml/2006/ole">
            <mc:AlternateContent xmlns:mc="http://schemas.openxmlformats.org/markup-compatibility/2006">
              <mc:Choice xmlns:v="urn:schemas-microsoft-com:vml" Requires="v">
                <p:oleObj r:id="rId4" imgW="1942465" imgH="520700" progId="Equation.3">
                  <p:embed/>
                </p:oleObj>
              </mc:Choice>
              <mc:Fallback>
                <p:oleObj r:id="rId4" imgW="1942465" imgH="520700" progId="Equation.3">
                  <p:embed/>
                  <p:pic>
                    <p:nvPicPr>
                      <p:cNvPr id="0" name="图片 3087"/>
                      <p:cNvPicPr/>
                      <p:nvPr/>
                    </p:nvPicPr>
                    <p:blipFill>
                      <a:blip r:embed="rId5"/>
                      <a:stretch>
                        <a:fillRect/>
                      </a:stretch>
                    </p:blipFill>
                    <p:spPr>
                      <a:xfrm>
                        <a:off x="3794125" y="217488"/>
                        <a:ext cx="4006850" cy="979487"/>
                      </a:xfrm>
                      <a:prstGeom prst="rect">
                        <a:avLst/>
                      </a:prstGeom>
                      <a:noFill/>
                      <a:ln w="38100">
                        <a:noFill/>
                        <a:miter/>
                      </a:ln>
                    </p:spPr>
                  </p:pic>
                </p:oleObj>
              </mc:Fallback>
            </mc:AlternateContent>
          </a:graphicData>
        </a:graphic>
      </p:graphicFrame>
      <p:graphicFrame>
        <p:nvGraphicFramePr>
          <p:cNvPr id="83972" name="Object 4"/>
          <p:cNvGraphicFramePr>
            <a:graphicFrameLocks noChangeAspect="1"/>
          </p:cNvGraphicFramePr>
          <p:nvPr/>
        </p:nvGraphicFramePr>
        <p:xfrm>
          <a:off x="887413" y="217488"/>
          <a:ext cx="2833687" cy="928687"/>
        </p:xfrm>
        <a:graphic>
          <a:graphicData uri="http://schemas.openxmlformats.org/presentationml/2006/ole">
            <mc:AlternateContent xmlns:mc="http://schemas.openxmlformats.org/markup-compatibility/2006">
              <mc:Choice xmlns:v="urn:schemas-microsoft-com:vml" Requires="v">
                <p:oleObj r:id="rId6" imgW="1447165" imgH="520700" progId="Equation.3">
                  <p:embed/>
                </p:oleObj>
              </mc:Choice>
              <mc:Fallback>
                <p:oleObj r:id="rId6" imgW="1447165" imgH="520700" progId="Equation.3">
                  <p:embed/>
                  <p:pic>
                    <p:nvPicPr>
                      <p:cNvPr id="0" name="图片 3088"/>
                      <p:cNvPicPr/>
                      <p:nvPr/>
                    </p:nvPicPr>
                    <p:blipFill>
                      <a:blip r:embed="rId7"/>
                      <a:stretch>
                        <a:fillRect/>
                      </a:stretch>
                    </p:blipFill>
                    <p:spPr>
                      <a:xfrm>
                        <a:off x="887413" y="217488"/>
                        <a:ext cx="2833687" cy="928687"/>
                      </a:xfrm>
                      <a:prstGeom prst="rect">
                        <a:avLst/>
                      </a:prstGeom>
                      <a:noFill/>
                      <a:ln w="38100">
                        <a:noFill/>
                        <a:miter/>
                      </a:ln>
                    </p:spPr>
                  </p:pic>
                </p:oleObj>
              </mc:Fallback>
            </mc:AlternateContent>
          </a:graphicData>
        </a:graphic>
      </p:graphicFrame>
      <p:sp>
        <p:nvSpPr>
          <p:cNvPr id="83973" name="Text Box 5"/>
          <p:cNvSpPr txBox="1"/>
          <p:nvPr/>
        </p:nvSpPr>
        <p:spPr>
          <a:xfrm>
            <a:off x="611188" y="1236663"/>
            <a:ext cx="1800225" cy="461962"/>
          </a:xfrm>
          <a:prstGeom prst="rect">
            <a:avLst/>
          </a:prstGeom>
          <a:noFill/>
          <a:ln w="9525">
            <a:noFill/>
          </a:ln>
        </p:spPr>
        <p:txBody>
          <a:bodyPr anchor="t" anchorCtr="0">
            <a:spAutoFit/>
          </a:bodyPr>
          <a:lstStyle/>
          <a:p>
            <a:r>
              <a:rPr lang="zh-CN" altLang="en-US" sz="2400" b="1" dirty="0">
                <a:latin typeface="Times New Roman" panose="02020603050405020304" pitchFamily="18" charset="0"/>
                <a:ea typeface="宋体" panose="02010600030101010101" pitchFamily="2" charset="-122"/>
              </a:rPr>
              <a:t>查表可知：</a:t>
            </a:r>
          </a:p>
        </p:txBody>
      </p:sp>
      <p:graphicFrame>
        <p:nvGraphicFramePr>
          <p:cNvPr id="83974" name="Object 6"/>
          <p:cNvGraphicFramePr>
            <a:graphicFrameLocks noChangeAspect="1"/>
          </p:cNvGraphicFramePr>
          <p:nvPr/>
        </p:nvGraphicFramePr>
        <p:xfrm>
          <a:off x="2268538" y="1477963"/>
          <a:ext cx="4737100" cy="420687"/>
        </p:xfrm>
        <a:graphic>
          <a:graphicData uri="http://schemas.openxmlformats.org/presentationml/2006/ole">
            <mc:AlternateContent xmlns:mc="http://schemas.openxmlformats.org/markup-compatibility/2006">
              <mc:Choice xmlns:v="urn:schemas-microsoft-com:vml" Requires="v">
                <p:oleObj r:id="rId8" imgW="2260600" imgH="228600" progId="Equation.3">
                  <p:embed/>
                </p:oleObj>
              </mc:Choice>
              <mc:Fallback>
                <p:oleObj r:id="rId8" imgW="2260600" imgH="228600" progId="Equation.3">
                  <p:embed/>
                  <p:pic>
                    <p:nvPicPr>
                      <p:cNvPr id="0" name="图片 3089"/>
                      <p:cNvPicPr/>
                      <p:nvPr/>
                    </p:nvPicPr>
                    <p:blipFill>
                      <a:blip r:embed="rId9"/>
                      <a:stretch>
                        <a:fillRect/>
                      </a:stretch>
                    </p:blipFill>
                    <p:spPr>
                      <a:xfrm>
                        <a:off x="2268538" y="1477963"/>
                        <a:ext cx="4737100" cy="420687"/>
                      </a:xfrm>
                      <a:prstGeom prst="rect">
                        <a:avLst/>
                      </a:prstGeom>
                      <a:noFill/>
                      <a:ln w="38100">
                        <a:noFill/>
                        <a:miter/>
                      </a:ln>
                    </p:spPr>
                  </p:pic>
                </p:oleObj>
              </mc:Fallback>
            </mc:AlternateContent>
          </a:graphicData>
        </a:graphic>
      </p:graphicFrame>
      <p:grpSp>
        <p:nvGrpSpPr>
          <p:cNvPr id="2" name="Group 7"/>
          <p:cNvGrpSpPr/>
          <p:nvPr/>
        </p:nvGrpSpPr>
        <p:grpSpPr>
          <a:xfrm>
            <a:off x="1619250" y="1957388"/>
            <a:ext cx="5305425" cy="950912"/>
            <a:chOff x="1394" y="1325"/>
            <a:chExt cx="3347" cy="728"/>
          </a:xfrm>
        </p:grpSpPr>
        <p:graphicFrame>
          <p:nvGraphicFramePr>
            <p:cNvPr id="73735" name="Object 8"/>
            <p:cNvGraphicFramePr>
              <a:graphicFrameLocks noChangeAspect="1"/>
            </p:cNvGraphicFramePr>
            <p:nvPr/>
          </p:nvGraphicFramePr>
          <p:xfrm>
            <a:off x="1394" y="1325"/>
            <a:ext cx="3347" cy="525"/>
          </p:xfrm>
          <a:graphic>
            <a:graphicData uri="http://schemas.openxmlformats.org/presentationml/2006/ole">
              <mc:AlternateContent xmlns:mc="http://schemas.openxmlformats.org/markup-compatibility/2006">
                <mc:Choice xmlns:v="urn:schemas-microsoft-com:vml" Requires="v">
                  <p:oleObj r:id="rId10" imgW="2768600" imgH="406400" progId="Equation.3">
                    <p:embed/>
                  </p:oleObj>
                </mc:Choice>
                <mc:Fallback>
                  <p:oleObj r:id="rId10" imgW="2768600" imgH="406400" progId="Equation.3">
                    <p:embed/>
                    <p:pic>
                      <p:nvPicPr>
                        <p:cNvPr id="0" name="图片 3090"/>
                        <p:cNvPicPr/>
                        <p:nvPr/>
                      </p:nvPicPr>
                      <p:blipFill>
                        <a:blip r:embed="rId11"/>
                        <a:stretch>
                          <a:fillRect/>
                        </a:stretch>
                      </p:blipFill>
                      <p:spPr>
                        <a:xfrm>
                          <a:off x="1394" y="1325"/>
                          <a:ext cx="3347" cy="525"/>
                        </a:xfrm>
                        <a:prstGeom prst="rect">
                          <a:avLst/>
                        </a:prstGeom>
                        <a:noFill/>
                        <a:ln w="38100">
                          <a:noFill/>
                          <a:miter/>
                        </a:ln>
                      </p:spPr>
                    </p:pic>
                  </p:oleObj>
                </mc:Fallback>
              </mc:AlternateContent>
            </a:graphicData>
          </a:graphic>
        </p:graphicFrame>
        <p:graphicFrame>
          <p:nvGraphicFramePr>
            <p:cNvPr id="73736" name="Object 9"/>
            <p:cNvGraphicFramePr>
              <a:graphicFrameLocks noChangeAspect="1"/>
            </p:cNvGraphicFramePr>
            <p:nvPr/>
          </p:nvGraphicFramePr>
          <p:xfrm>
            <a:off x="1970" y="1836"/>
            <a:ext cx="1453" cy="217"/>
          </p:xfrm>
          <a:graphic>
            <a:graphicData uri="http://schemas.openxmlformats.org/presentationml/2006/ole">
              <mc:AlternateContent xmlns:mc="http://schemas.openxmlformats.org/markup-compatibility/2006">
                <mc:Choice xmlns:v="urn:schemas-microsoft-com:vml" Requires="v">
                  <p:oleObj r:id="rId12" imgW="939165" imgH="177800" progId="Equation.3">
                    <p:embed/>
                  </p:oleObj>
                </mc:Choice>
                <mc:Fallback>
                  <p:oleObj r:id="rId12" imgW="939165" imgH="177800" progId="Equation.3">
                    <p:embed/>
                    <p:pic>
                      <p:nvPicPr>
                        <p:cNvPr id="0" name="图片 3091"/>
                        <p:cNvPicPr/>
                        <p:nvPr/>
                      </p:nvPicPr>
                      <p:blipFill>
                        <a:blip r:embed="rId13"/>
                        <a:stretch>
                          <a:fillRect/>
                        </a:stretch>
                      </p:blipFill>
                      <p:spPr>
                        <a:xfrm>
                          <a:off x="1970" y="1836"/>
                          <a:ext cx="1453" cy="217"/>
                        </a:xfrm>
                        <a:prstGeom prst="rect">
                          <a:avLst/>
                        </a:prstGeom>
                        <a:noFill/>
                        <a:ln w="38100">
                          <a:noFill/>
                          <a:miter/>
                        </a:ln>
                      </p:spPr>
                    </p:pic>
                  </p:oleObj>
                </mc:Fallback>
              </mc:AlternateContent>
            </a:graphicData>
          </a:graphic>
        </p:graphicFrame>
      </p:grpSp>
      <p:sp>
        <p:nvSpPr>
          <p:cNvPr id="83978" name="Text Box 10"/>
          <p:cNvSpPr txBox="1"/>
          <p:nvPr/>
        </p:nvSpPr>
        <p:spPr>
          <a:xfrm>
            <a:off x="1547813" y="3036888"/>
            <a:ext cx="6146800" cy="461962"/>
          </a:xfrm>
          <a:prstGeom prst="rect">
            <a:avLst/>
          </a:prstGeom>
          <a:noFill/>
          <a:ln w="9525">
            <a:noFill/>
          </a:ln>
        </p:spPr>
        <p:txBody>
          <a:bodyPr wrap="none" anchor="t" anchorCtr="0">
            <a:spAutoFit/>
          </a:bodyPr>
          <a:lstStyle/>
          <a:p>
            <a:r>
              <a:rPr lang="zh-CN" altLang="en-US" sz="2400" b="1" dirty="0">
                <a:latin typeface="Times New Roman" panose="02020603050405020304" pitchFamily="18" charset="0"/>
                <a:ea typeface="宋体" panose="02010600030101010101" pitchFamily="2" charset="-122"/>
              </a:rPr>
              <a:t>正向反应不能自发进行，故</a:t>
            </a:r>
            <a:r>
              <a:rPr lang="en-US" altLang="zh-CN" sz="2400" b="1" dirty="0">
                <a:latin typeface="Times New Roman" panose="02020603050405020304" pitchFamily="18" charset="0"/>
                <a:ea typeface="宋体" panose="02010600030101010101" pitchFamily="2" charset="-122"/>
              </a:rPr>
              <a:t>Pb</a:t>
            </a:r>
            <a:r>
              <a:rPr lang="zh-CN" altLang="en-US" sz="2400" b="1" dirty="0">
                <a:latin typeface="Times New Roman" panose="02020603050405020304" pitchFamily="18" charset="0"/>
                <a:ea typeface="宋体" panose="02010600030101010101" pitchFamily="2" charset="-122"/>
              </a:rPr>
              <a:t>不能置换出</a:t>
            </a:r>
            <a:r>
              <a:rPr lang="en-US" altLang="zh-CN" sz="2400" b="1" dirty="0">
                <a:latin typeface="Times New Roman" panose="02020603050405020304" pitchFamily="18" charset="0"/>
                <a:ea typeface="宋体" panose="02010600030101010101" pitchFamily="2" charset="-122"/>
              </a:rPr>
              <a:t>Sn</a:t>
            </a:r>
          </a:p>
        </p:txBody>
      </p:sp>
      <p:grpSp>
        <p:nvGrpSpPr>
          <p:cNvPr id="3" name="Group 11"/>
          <p:cNvGrpSpPr/>
          <p:nvPr/>
        </p:nvGrpSpPr>
        <p:grpSpPr>
          <a:xfrm>
            <a:off x="1547813" y="3457575"/>
            <a:ext cx="6605587" cy="1068388"/>
            <a:chOff x="999" y="2463"/>
            <a:chExt cx="4161" cy="858"/>
          </a:xfrm>
        </p:grpSpPr>
        <p:graphicFrame>
          <p:nvGraphicFramePr>
            <p:cNvPr id="73739" name="Object 12"/>
            <p:cNvGraphicFramePr>
              <a:graphicFrameLocks noChangeAspect="1"/>
            </p:cNvGraphicFramePr>
            <p:nvPr/>
          </p:nvGraphicFramePr>
          <p:xfrm>
            <a:off x="999" y="2463"/>
            <a:ext cx="4161" cy="569"/>
          </p:xfrm>
          <a:graphic>
            <a:graphicData uri="http://schemas.openxmlformats.org/presentationml/2006/ole">
              <mc:AlternateContent xmlns:mc="http://schemas.openxmlformats.org/markup-compatibility/2006">
                <mc:Choice xmlns:v="urn:schemas-microsoft-com:vml" Requires="v">
                  <p:oleObj r:id="rId14" imgW="2768600" imgH="406400" progId="Equation.3">
                    <p:embed/>
                  </p:oleObj>
                </mc:Choice>
                <mc:Fallback>
                  <p:oleObj r:id="rId14" imgW="2768600" imgH="406400" progId="Equation.3">
                    <p:embed/>
                    <p:pic>
                      <p:nvPicPr>
                        <p:cNvPr id="0" name="图片 3095"/>
                        <p:cNvPicPr/>
                        <p:nvPr/>
                      </p:nvPicPr>
                      <p:blipFill>
                        <a:blip r:embed="rId15"/>
                        <a:stretch>
                          <a:fillRect/>
                        </a:stretch>
                      </p:blipFill>
                      <p:spPr>
                        <a:xfrm>
                          <a:off x="999" y="2463"/>
                          <a:ext cx="4161" cy="569"/>
                        </a:xfrm>
                        <a:prstGeom prst="rect">
                          <a:avLst/>
                        </a:prstGeom>
                        <a:noFill/>
                        <a:ln w="38100">
                          <a:noFill/>
                          <a:miter/>
                        </a:ln>
                      </p:spPr>
                    </p:pic>
                  </p:oleObj>
                </mc:Fallback>
              </mc:AlternateContent>
            </a:graphicData>
          </a:graphic>
        </p:graphicFrame>
        <p:graphicFrame>
          <p:nvGraphicFramePr>
            <p:cNvPr id="73740" name="Object 13"/>
            <p:cNvGraphicFramePr>
              <a:graphicFrameLocks noChangeAspect="1"/>
            </p:cNvGraphicFramePr>
            <p:nvPr/>
          </p:nvGraphicFramePr>
          <p:xfrm>
            <a:off x="1690" y="3073"/>
            <a:ext cx="1298" cy="248"/>
          </p:xfrm>
          <a:graphic>
            <a:graphicData uri="http://schemas.openxmlformats.org/presentationml/2006/ole">
              <mc:AlternateContent xmlns:mc="http://schemas.openxmlformats.org/markup-compatibility/2006">
                <mc:Choice xmlns:v="urn:schemas-microsoft-com:vml" Requires="v">
                  <p:oleObj r:id="rId16" imgW="862965" imgH="177800" progId="Equation.3">
                    <p:embed/>
                  </p:oleObj>
                </mc:Choice>
                <mc:Fallback>
                  <p:oleObj r:id="rId16" imgW="862965" imgH="177800" progId="Equation.3">
                    <p:embed/>
                    <p:pic>
                      <p:nvPicPr>
                        <p:cNvPr id="0" name="图片 3096"/>
                        <p:cNvPicPr/>
                        <p:nvPr/>
                      </p:nvPicPr>
                      <p:blipFill>
                        <a:blip r:embed="rId17"/>
                        <a:stretch>
                          <a:fillRect/>
                        </a:stretch>
                      </p:blipFill>
                      <p:spPr>
                        <a:xfrm>
                          <a:off x="1690" y="3073"/>
                          <a:ext cx="1298" cy="248"/>
                        </a:xfrm>
                        <a:prstGeom prst="rect">
                          <a:avLst/>
                        </a:prstGeom>
                        <a:noFill/>
                        <a:ln w="38100">
                          <a:noFill/>
                          <a:miter/>
                        </a:ln>
                      </p:spPr>
                    </p:pic>
                  </p:oleObj>
                </mc:Fallback>
              </mc:AlternateContent>
            </a:graphicData>
          </a:graphic>
        </p:graphicFrame>
      </p:grpSp>
      <p:sp>
        <p:nvSpPr>
          <p:cNvPr id="83982" name="Text Box 14"/>
          <p:cNvSpPr txBox="1"/>
          <p:nvPr/>
        </p:nvSpPr>
        <p:spPr>
          <a:xfrm>
            <a:off x="1692275" y="4657725"/>
            <a:ext cx="6551613" cy="461963"/>
          </a:xfrm>
          <a:prstGeom prst="rect">
            <a:avLst/>
          </a:prstGeom>
          <a:noFill/>
          <a:ln w="9525">
            <a:noFill/>
          </a:ln>
        </p:spPr>
        <p:txBody>
          <a:bodyPr anchor="t" anchorCtr="0">
            <a:spAutoFit/>
          </a:bodyPr>
          <a:lstStyle/>
          <a:p>
            <a:r>
              <a:rPr lang="zh-CN" altLang="en-US" sz="2400" b="1" dirty="0">
                <a:latin typeface="Times New Roman" panose="02020603050405020304" pitchFamily="18" charset="0"/>
                <a:ea typeface="宋体" panose="02010600030101010101" pitchFamily="2" charset="-122"/>
              </a:rPr>
              <a:t>正向反应能自发进行，故</a:t>
            </a:r>
            <a:r>
              <a:rPr lang="en-US" altLang="zh-CN" sz="2400" b="1" dirty="0">
                <a:latin typeface="Times New Roman" panose="02020603050405020304" pitchFamily="18" charset="0"/>
                <a:ea typeface="宋体" panose="02010600030101010101" pitchFamily="2" charset="-122"/>
              </a:rPr>
              <a:t>Pb</a:t>
            </a:r>
            <a:r>
              <a:rPr lang="zh-CN" altLang="en-US" sz="2400" b="1" dirty="0">
                <a:latin typeface="Times New Roman" panose="02020603050405020304" pitchFamily="18" charset="0"/>
                <a:ea typeface="宋体" panose="02010600030101010101" pitchFamily="2" charset="-122"/>
              </a:rPr>
              <a:t>能置换出</a:t>
            </a:r>
            <a:r>
              <a:rPr lang="en-US" altLang="zh-CN" sz="2400" b="1" dirty="0">
                <a:latin typeface="Times New Roman" panose="02020603050405020304" pitchFamily="18" charset="0"/>
                <a:ea typeface="宋体" panose="02010600030101010101" pitchFamily="2" charset="-122"/>
              </a:rPr>
              <a:t>Sn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strips(downRight)">
                                      <p:cBhvr>
                                        <p:cTn id="7" dur="500"/>
                                        <p:tgtEl>
                                          <p:spTgt spid="839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3971"/>
                                        </p:tgtEl>
                                        <p:attrNameLst>
                                          <p:attrName>style.visibility</p:attrName>
                                        </p:attrNameLst>
                                      </p:cBhvr>
                                      <p:to>
                                        <p:strVal val="visible"/>
                                      </p:to>
                                    </p:set>
                                    <p:animEffect transition="in" filter="wipe(left)">
                                      <p:cBhvr>
                                        <p:cTn id="12" dur="500"/>
                                        <p:tgtEl>
                                          <p:spTgt spid="8397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3973"/>
                                        </p:tgtEl>
                                        <p:attrNameLst>
                                          <p:attrName>style.visibility</p:attrName>
                                        </p:attrNameLst>
                                      </p:cBhvr>
                                      <p:to>
                                        <p:strVal val="visible"/>
                                      </p:to>
                                    </p:set>
                                    <p:animEffect transition="in" filter="checkerboard(across)">
                                      <p:cBhvr>
                                        <p:cTn id="17" dur="500"/>
                                        <p:tgtEl>
                                          <p:spTgt spid="839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3974"/>
                                        </p:tgtEl>
                                        <p:attrNameLst>
                                          <p:attrName>style.visibility</p:attrName>
                                        </p:attrNameLst>
                                      </p:cBhvr>
                                      <p:to>
                                        <p:strVal val="visible"/>
                                      </p:to>
                                    </p:set>
                                    <p:animEffect transition="in" filter="wipe(left)">
                                      <p:cBhvr>
                                        <p:cTn id="22" dur="2000"/>
                                        <p:tgtEl>
                                          <p:spTgt spid="8397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downRigh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83978"/>
                                        </p:tgtEl>
                                        <p:attrNameLst>
                                          <p:attrName>style.visibility</p:attrName>
                                        </p:attrNameLst>
                                      </p:cBhvr>
                                      <p:to>
                                        <p:strVal val="visible"/>
                                      </p:to>
                                    </p:set>
                                    <p:animEffect transition="in" filter="barn(inHorizontal)">
                                      <p:cBhvr>
                                        <p:cTn id="32" dur="500"/>
                                        <p:tgtEl>
                                          <p:spTgt spid="8397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arn(in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83982"/>
                                        </p:tgtEl>
                                        <p:attrNameLst>
                                          <p:attrName>style.visibility</p:attrName>
                                        </p:attrNameLst>
                                      </p:cBhvr>
                                      <p:to>
                                        <p:strVal val="visible"/>
                                      </p:to>
                                    </p:set>
                                    <p:animEffect transition="in" filter="slide(fromBottom)">
                                      <p:cBhvr>
                                        <p:cTn id="42" dur="500"/>
                                        <p:tgtEl>
                                          <p:spTgt spid="83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p:bldP spid="83978" grpId="0"/>
      <p:bldP spid="8398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p:cNvSpPr>
            <a:spLocks noGrp="1"/>
          </p:cNvSpPr>
          <p:nvPr>
            <p:ph idx="1"/>
          </p:nvPr>
        </p:nvSpPr>
        <p:spPr>
          <a:xfrm>
            <a:off x="285750" y="1190625"/>
            <a:ext cx="8462963" cy="4043363"/>
          </a:xfrm>
          <a:solidFill>
            <a:schemeClr val="accent1"/>
          </a:solidFill>
        </p:spPr>
        <p:txBody>
          <a:bodyPr vert="horz" wrap="square" lIns="91440" tIns="45720" rIns="91440" bIns="45720" anchor="t" anchorCtr="0"/>
          <a:lstStyle/>
          <a:p>
            <a:pPr eaLnBrk="1" hangingPunct="1">
              <a:lnSpc>
                <a:spcPct val="150000"/>
              </a:lnSpc>
            </a:pPr>
            <a:r>
              <a:rPr lang="zh-CN" altLang="en-US" sz="2400" b="1" dirty="0"/>
              <a:t>        化学电源是将化学能转变为电能的实用装置，其品种繁多，按其使用的特点大体可分为如下两类</a:t>
            </a:r>
            <a:r>
              <a:rPr lang="en-US" altLang="zh-CN" sz="2400" b="1" dirty="0"/>
              <a:t>:</a:t>
            </a:r>
          </a:p>
          <a:p>
            <a:pPr eaLnBrk="1" hangingPunct="1">
              <a:lnSpc>
                <a:spcPct val="150000"/>
              </a:lnSpc>
            </a:pPr>
            <a:r>
              <a:rPr lang="en-US" altLang="zh-CN" sz="2400" b="1" dirty="0"/>
              <a:t>       </a:t>
            </a:r>
            <a:r>
              <a:rPr lang="zh-CN" altLang="en-US" sz="2400" b="1" dirty="0"/>
              <a:t>一次电池，即电池中的反应物质在进行一次电化学反应放电之后就不能再次使用了，如</a:t>
            </a:r>
            <a:r>
              <a:rPr lang="zh-CN" altLang="en-US" sz="2400" b="1" dirty="0">
                <a:hlinkClick r:id="rId2" action="ppaction://hlinkfile"/>
              </a:rPr>
              <a:t>干电池</a:t>
            </a:r>
            <a:r>
              <a:rPr lang="zh-CN" altLang="en-US" sz="2400" b="1" dirty="0"/>
              <a:t>、锌</a:t>
            </a:r>
            <a:r>
              <a:rPr lang="en-US" altLang="zh-CN" sz="2400" b="1" dirty="0"/>
              <a:t>-</a:t>
            </a:r>
            <a:r>
              <a:rPr lang="zh-CN" altLang="en-US" sz="2400" b="1" dirty="0"/>
              <a:t>空气电池等。</a:t>
            </a:r>
            <a:r>
              <a:rPr lang="en-US" altLang="zh-CN" sz="2400" b="1" dirty="0"/>
              <a:t>      </a:t>
            </a:r>
            <a:r>
              <a:rPr lang="zh-CN" altLang="en-US" sz="2400" b="1" dirty="0"/>
              <a:t>二次电池，是指电池放电后，通过充电方法使活性物质复原后能再放电，且充、放电过程可以反复多次，循环进行。如铅蓄电池等。</a:t>
            </a:r>
          </a:p>
        </p:txBody>
      </p:sp>
      <p:sp>
        <p:nvSpPr>
          <p:cNvPr id="5" name="Rectangle 10"/>
          <p:cNvSpPr>
            <a:spLocks noRot="1"/>
          </p:cNvSpPr>
          <p:nvPr/>
        </p:nvSpPr>
        <p:spPr>
          <a:xfrm>
            <a:off x="0" y="417513"/>
            <a:ext cx="9144000" cy="600075"/>
          </a:xfrm>
          <a:prstGeom prst="rect">
            <a:avLst/>
          </a:prstGeom>
          <a:solidFill>
            <a:srgbClr val="008000"/>
          </a:solidFill>
          <a:ln w="9525">
            <a:noFill/>
          </a:ln>
        </p:spPr>
        <p:txBody>
          <a:bodyPr anchor="ctr" anchorCtr="0"/>
          <a:lstStyle/>
          <a:p>
            <a:pPr algn="ctr"/>
            <a:r>
              <a:rPr lang="zh-CN" altLang="en-US" sz="3200" b="1" dirty="0">
                <a:solidFill>
                  <a:srgbClr val="FFFFCC"/>
                </a:solidFill>
                <a:latin typeface="Times New Roman" panose="02020603050405020304" pitchFamily="18" charset="0"/>
                <a:ea typeface="宋体" panose="02010600030101010101" pitchFamily="2" charset="-122"/>
              </a:rPr>
              <a:t>§</a:t>
            </a:r>
            <a:r>
              <a:rPr lang="en-US" altLang="zh-CN" sz="3200" b="1" dirty="0">
                <a:solidFill>
                  <a:schemeClr val="bg1"/>
                </a:solidFill>
                <a:latin typeface="Times New Roman" panose="02020603050405020304" pitchFamily="18" charset="0"/>
                <a:ea typeface="宋体" panose="02010600030101010101" pitchFamily="2" charset="-122"/>
              </a:rPr>
              <a:t>4.6   </a:t>
            </a:r>
            <a:r>
              <a:rPr lang="zh-CN" altLang="en-US" sz="3200" b="1" dirty="0">
                <a:solidFill>
                  <a:schemeClr val="bg1"/>
                </a:solidFill>
                <a:latin typeface="Times New Roman" panose="02020603050405020304" pitchFamily="18" charset="0"/>
                <a:ea typeface="宋体" panose="02010600030101010101" pitchFamily="2" charset="-122"/>
              </a:rPr>
              <a:t>化学电源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61442">
                                            <p:bg/>
                                          </p:spTgt>
                                        </p:tgtEl>
                                        <p:attrNameLst>
                                          <p:attrName>style.visibility</p:attrName>
                                        </p:attrNameLst>
                                      </p:cBhvr>
                                      <p:to>
                                        <p:strVal val="visible"/>
                                      </p:to>
                                    </p:set>
                                    <p:animEffect transition="in" filter="checkerboard(across)">
                                      <p:cBhvr>
                                        <p:cTn id="16" dur="500"/>
                                        <p:tgtEl>
                                          <p:spTgt spid="61442">
                                            <p:bg/>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61442">
                                            <p:txEl>
                                              <p:pRg st="0" end="0"/>
                                            </p:txEl>
                                          </p:spTgt>
                                        </p:tgtEl>
                                        <p:attrNameLst>
                                          <p:attrName>style.visibility</p:attrName>
                                        </p:attrNameLst>
                                      </p:cBhvr>
                                      <p:to>
                                        <p:strVal val="visible"/>
                                      </p:to>
                                    </p:set>
                                    <p:animEffect transition="in" filter="checkerboard(across)">
                                      <p:cBhvr>
                                        <p:cTn id="21" dur="500"/>
                                        <p:tgtEl>
                                          <p:spTgt spid="6144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61442">
                                            <p:txEl>
                                              <p:pRg st="1" end="1"/>
                                            </p:txEl>
                                          </p:spTgt>
                                        </p:tgtEl>
                                        <p:attrNameLst>
                                          <p:attrName>style.visibility</p:attrName>
                                        </p:attrNameLst>
                                      </p:cBhvr>
                                      <p:to>
                                        <p:strVal val="visible"/>
                                      </p:to>
                                    </p:set>
                                    <p:animEffect transition="in" filter="checkerboard(across)">
                                      <p:cBhvr>
                                        <p:cTn id="26" dur="500"/>
                                        <p:tgtEl>
                                          <p:spTgt spid="614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animBg="1"/>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内容占位符 2"/>
          <p:cNvSpPr>
            <a:spLocks noGrp="1"/>
          </p:cNvSpPr>
          <p:nvPr>
            <p:ph idx="1"/>
          </p:nvPr>
        </p:nvSpPr>
        <p:spPr>
          <a:xfrm>
            <a:off x="422275" y="696913"/>
            <a:ext cx="4498975" cy="4105275"/>
          </a:xfrm>
          <a:solidFill>
            <a:srgbClr val="CCCCFF"/>
          </a:solidFill>
        </p:spPr>
        <p:txBody>
          <a:bodyPr vert="horz" wrap="square" lIns="91440" tIns="45720" rIns="91440" bIns="45720" anchor="t" anchorCtr="0"/>
          <a:lstStyle/>
          <a:p>
            <a:pPr eaLnBrk="1" hangingPunct="1"/>
            <a:r>
              <a:rPr lang="en-US" altLang="zh-CN" sz="2800" b="1" dirty="0">
                <a:solidFill>
                  <a:srgbClr val="FF0000"/>
                </a:solidFill>
              </a:rPr>
              <a:t>1.</a:t>
            </a:r>
            <a:r>
              <a:rPr lang="zh-CN" altLang="en-US" sz="2800" b="1" dirty="0">
                <a:solidFill>
                  <a:srgbClr val="FF0000"/>
                </a:solidFill>
              </a:rPr>
              <a:t>燃料电池</a:t>
            </a:r>
            <a:endParaRPr lang="en-US" altLang="zh-CN" sz="2800" b="1" dirty="0">
              <a:solidFill>
                <a:srgbClr val="FF0000"/>
              </a:solidFill>
            </a:endParaRPr>
          </a:p>
          <a:p>
            <a:pPr eaLnBrk="1" hangingPunct="1"/>
            <a:endParaRPr lang="en-US" altLang="zh-CN" sz="2400" b="1" dirty="0"/>
          </a:p>
          <a:p>
            <a:pPr eaLnBrk="1" hangingPunct="1"/>
            <a:r>
              <a:rPr lang="zh-CN" altLang="en-US" sz="2400" b="1" dirty="0">
                <a:latin typeface="Times New Roman" panose="02020603050405020304" pitchFamily="18" charset="0"/>
              </a:rPr>
              <a:t>氢</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氧燃料电池</a:t>
            </a:r>
            <a:endParaRPr lang="en-US" altLang="zh-CN" sz="2400" b="1" dirty="0">
              <a:latin typeface="Times New Roman" panose="02020603050405020304" pitchFamily="18" charset="0"/>
            </a:endParaRPr>
          </a:p>
          <a:p>
            <a:pPr eaLnBrk="1" hangingPunct="1">
              <a:buNone/>
            </a:pPr>
            <a:r>
              <a:rPr lang="zh-CN" altLang="en-US" sz="2400" b="1" dirty="0">
                <a:latin typeface="Times New Roman" panose="02020603050405020304" pitchFamily="18" charset="0"/>
              </a:rPr>
              <a:t>阴极反应：</a:t>
            </a:r>
            <a:r>
              <a:rPr lang="en-US" altLang="zh-CN" sz="2400" b="1" dirty="0">
                <a:latin typeface="Times New Roman" panose="02020603050405020304" pitchFamily="18" charset="0"/>
              </a:rPr>
              <a:t>O</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+4H</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+4e</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→2H</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O</a:t>
            </a:r>
            <a:endParaRPr lang="zh-CN" altLang="zh-CN" sz="2400" b="1" dirty="0">
              <a:latin typeface="Times New Roman" panose="02020603050405020304" pitchFamily="18" charset="0"/>
            </a:endParaRPr>
          </a:p>
          <a:p>
            <a:pPr eaLnBrk="1" hangingPunct="1">
              <a:buNone/>
            </a:pPr>
            <a:r>
              <a:rPr lang="zh-CN" altLang="en-US" sz="2400" b="1" dirty="0">
                <a:latin typeface="Times New Roman" panose="02020603050405020304" pitchFamily="18" charset="0"/>
              </a:rPr>
              <a:t>阳极反应：</a:t>
            </a:r>
            <a:r>
              <a:rPr lang="en-US" altLang="zh-CN" sz="2400" b="1" dirty="0">
                <a:latin typeface="Times New Roman" panose="02020603050405020304" pitchFamily="18" charset="0"/>
              </a:rPr>
              <a:t>2H</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→4H</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+4e</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  </a:t>
            </a:r>
            <a:endParaRPr lang="zh-CN" altLang="zh-CN" sz="2400" b="1" dirty="0">
              <a:latin typeface="Times New Roman" panose="02020603050405020304" pitchFamily="18" charset="0"/>
            </a:endParaRPr>
          </a:p>
          <a:p>
            <a:pPr eaLnBrk="1" hangingPunct="1">
              <a:buNone/>
            </a:pPr>
            <a:r>
              <a:rPr lang="zh-CN" altLang="en-US" sz="2400" b="1" dirty="0">
                <a:latin typeface="Times New Roman" panose="02020603050405020304" pitchFamily="18" charset="0"/>
              </a:rPr>
              <a:t>电池的净反应：</a:t>
            </a:r>
            <a:endParaRPr lang="en-US" altLang="zh-CN" sz="2400" b="1" dirty="0">
              <a:latin typeface="Times New Roman" panose="02020603050405020304" pitchFamily="18" charset="0"/>
            </a:endParaRPr>
          </a:p>
          <a:p>
            <a:pPr eaLnBrk="1" hangingPunct="1">
              <a:buNone/>
            </a:pPr>
            <a:r>
              <a:rPr lang="en-US" altLang="zh-CN" sz="2400" b="1" dirty="0">
                <a:latin typeface="Times New Roman" panose="02020603050405020304" pitchFamily="18" charset="0"/>
              </a:rPr>
              <a:t>           2H</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 O</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→2H</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O</a:t>
            </a:r>
            <a:endParaRPr lang="zh-CN" altLang="zh-CN"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该电池的标准电动势为</a:t>
            </a:r>
            <a:r>
              <a:rPr lang="en-US" altLang="zh-CN" sz="2400" b="1" dirty="0">
                <a:latin typeface="Times New Roman" panose="02020603050405020304" pitchFamily="18" charset="0"/>
              </a:rPr>
              <a:t>1.229V</a:t>
            </a:r>
          </a:p>
        </p:txBody>
      </p:sp>
      <p:sp>
        <p:nvSpPr>
          <p:cNvPr id="100354" name="矩形 5"/>
          <p:cNvSpPr/>
          <p:nvPr/>
        </p:nvSpPr>
        <p:spPr>
          <a:xfrm>
            <a:off x="428625" y="1144588"/>
            <a:ext cx="4498975" cy="461962"/>
          </a:xfrm>
          <a:prstGeom prst="rect">
            <a:avLst/>
          </a:prstGeom>
          <a:noFill/>
          <a:ln w="9525">
            <a:noFill/>
          </a:ln>
        </p:spPr>
        <p:txBody>
          <a:bodyPr anchor="t" anchorCtr="0">
            <a:spAutoFit/>
          </a:bodyPr>
          <a:lstStyle/>
          <a:p>
            <a:pPr marL="342900" indent="-342900">
              <a:spcBef>
                <a:spcPct val="20000"/>
              </a:spcBef>
            </a:pPr>
            <a:r>
              <a:rPr lang="zh-CN" altLang="en-US" sz="2400" b="1" dirty="0">
                <a:solidFill>
                  <a:srgbClr val="000000"/>
                </a:solidFill>
                <a:latin typeface="Arial" panose="020B0604020202020204" pitchFamily="34" charset="0"/>
                <a:ea typeface="宋体" panose="02010600030101010101" pitchFamily="2" charset="-122"/>
              </a:rPr>
              <a:t>（－）燃料</a:t>
            </a:r>
            <a:r>
              <a:rPr lang="en-US" altLang="zh-CN" sz="2400" b="1" dirty="0">
                <a:solidFill>
                  <a:srgbClr val="000000"/>
                </a:solidFill>
                <a:latin typeface="Arial" panose="020B0604020202020204" pitchFamily="34" charset="0"/>
                <a:ea typeface="宋体" panose="02010600030101010101" pitchFamily="2" charset="-122"/>
              </a:rPr>
              <a:t>‖</a:t>
            </a:r>
            <a:r>
              <a:rPr lang="zh-CN" altLang="en-US" sz="2400" b="1" dirty="0">
                <a:solidFill>
                  <a:srgbClr val="000000"/>
                </a:solidFill>
                <a:latin typeface="Arial" panose="020B0604020202020204" pitchFamily="34" charset="0"/>
                <a:ea typeface="宋体" panose="02010600030101010101" pitchFamily="2" charset="-122"/>
              </a:rPr>
              <a:t>电解质</a:t>
            </a:r>
            <a:r>
              <a:rPr lang="en-US" altLang="zh-CN" sz="2400" b="1" dirty="0">
                <a:solidFill>
                  <a:srgbClr val="000000"/>
                </a:solidFill>
                <a:latin typeface="Arial" panose="020B0604020202020204" pitchFamily="34" charset="0"/>
                <a:ea typeface="宋体" panose="02010600030101010101" pitchFamily="2" charset="-122"/>
              </a:rPr>
              <a:t>‖</a:t>
            </a:r>
            <a:r>
              <a:rPr lang="zh-CN" altLang="en-US" sz="2400" b="1" dirty="0">
                <a:solidFill>
                  <a:srgbClr val="000000"/>
                </a:solidFill>
                <a:latin typeface="Arial" panose="020B0604020202020204" pitchFamily="34" charset="0"/>
                <a:ea typeface="宋体" panose="02010600030101010101" pitchFamily="2" charset="-122"/>
              </a:rPr>
              <a:t>氧化剂（＋）</a:t>
            </a:r>
          </a:p>
        </p:txBody>
      </p:sp>
      <p:pic>
        <p:nvPicPr>
          <p:cNvPr id="100355" name="图片 6" descr="截图00"/>
          <p:cNvPicPr>
            <a:picLocks noChangeAspect="1"/>
          </p:cNvPicPr>
          <p:nvPr/>
        </p:nvPicPr>
        <p:blipFill>
          <a:blip r:embed="rId2"/>
          <a:stretch>
            <a:fillRect/>
          </a:stretch>
        </p:blipFill>
        <p:spPr>
          <a:xfrm>
            <a:off x="5000625" y="1831975"/>
            <a:ext cx="3727450" cy="2178050"/>
          </a:xfrm>
          <a:prstGeom prst="rect">
            <a:avLst/>
          </a:prstGeom>
          <a:noFill/>
          <a:ln w="9525">
            <a:noFill/>
          </a:ln>
        </p:spPr>
      </p:pic>
      <p:sp>
        <p:nvSpPr>
          <p:cNvPr id="100356" name="矩形 1"/>
          <p:cNvSpPr/>
          <p:nvPr/>
        </p:nvSpPr>
        <p:spPr>
          <a:xfrm>
            <a:off x="5940425" y="4010025"/>
            <a:ext cx="2444750" cy="369888"/>
          </a:xfrm>
          <a:prstGeom prst="rect">
            <a:avLst/>
          </a:prstGeom>
          <a:noFill/>
          <a:ln w="9525">
            <a:noFill/>
          </a:ln>
        </p:spPr>
        <p:txBody>
          <a:bodyPr wrap="none" anchor="t" anchorCtr="0">
            <a:spAutoFit/>
          </a:bodyPr>
          <a:lstStyle/>
          <a:p>
            <a:r>
              <a:rPr lang="en-US" altLang="zh-CN" b="1" dirty="0">
                <a:latin typeface="Times New Roman" panose="02020603050405020304" pitchFamily="18" charset="0"/>
                <a:ea typeface="宋体" panose="02010600030101010101" pitchFamily="2" charset="-122"/>
              </a:rPr>
              <a:t>H</a:t>
            </a:r>
            <a:r>
              <a:rPr lang="en-US" altLang="zh-CN" b="1" baseline="-25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~O</a:t>
            </a:r>
            <a:r>
              <a:rPr lang="en-US" altLang="zh-CN" b="1" baseline="-25000" dirty="0">
                <a:latin typeface="Times New Roman" panose="02020603050405020304" pitchFamily="18" charset="0"/>
                <a:ea typeface="宋体" panose="02010600030101010101" pitchFamily="2" charset="-122"/>
              </a:rPr>
              <a:t>2</a:t>
            </a:r>
            <a:r>
              <a:rPr lang="zh-CN" altLang="zh-CN" b="1" dirty="0">
                <a:latin typeface="Arial" panose="020B0604020202020204" pitchFamily="34" charset="0"/>
                <a:ea typeface="宋体" panose="02010600030101010101" pitchFamily="2" charset="-122"/>
              </a:rPr>
              <a:t>燃料电池示意图</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 示意图&#10;&#10;AI 生成的内容可能不正确。">
            <a:extLst>
              <a:ext uri="{FF2B5EF4-FFF2-40B4-BE49-F238E27FC236}">
                <a16:creationId xmlns:a16="http://schemas.microsoft.com/office/drawing/2014/main" id="{C5FC04E9-BC78-9E1B-A71D-3ADD9F788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0"/>
            <a:ext cx="2556828" cy="5715000"/>
          </a:xfrm>
          <a:prstGeom prst="rect">
            <a:avLst/>
          </a:prstGeom>
        </p:spPr>
      </p:pic>
      <p:pic>
        <p:nvPicPr>
          <p:cNvPr id="11" name="图片 10" descr="图示&#10;&#10;AI 生成的内容可能不正确。">
            <a:extLst>
              <a:ext uri="{FF2B5EF4-FFF2-40B4-BE49-F238E27FC236}">
                <a16:creationId xmlns:a16="http://schemas.microsoft.com/office/drawing/2014/main" id="{7AE6CC2B-EB0D-960B-8270-C0A9B113C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121196"/>
            <a:ext cx="4754690" cy="5326458"/>
          </a:xfrm>
          <a:prstGeom prst="rect">
            <a:avLst/>
          </a:prstGeom>
        </p:spPr>
      </p:pic>
    </p:spTree>
    <p:extLst>
      <p:ext uri="{BB962C8B-B14F-4D97-AF65-F5344CB8AC3E}">
        <p14:creationId xmlns:p14="http://schemas.microsoft.com/office/powerpoint/2010/main" val="42151736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图示&#10;&#10;AI 生成的内容可能不正确。">
            <a:extLst>
              <a:ext uri="{FF2B5EF4-FFF2-40B4-BE49-F238E27FC236}">
                <a16:creationId xmlns:a16="http://schemas.microsoft.com/office/drawing/2014/main" id="{0D9BA4DB-A607-6CF7-D919-8B630E01D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6408"/>
            <a:ext cx="7454810" cy="4464496"/>
          </a:xfrm>
          <a:prstGeom prst="rect">
            <a:avLst/>
          </a:prstGeom>
        </p:spPr>
      </p:pic>
      <p:pic>
        <p:nvPicPr>
          <p:cNvPr id="7" name="图片 6" descr="图示&#10;&#10;AI 生成的内容可能不正确。">
            <a:extLst>
              <a:ext uri="{FF2B5EF4-FFF2-40B4-BE49-F238E27FC236}">
                <a16:creationId xmlns:a16="http://schemas.microsoft.com/office/drawing/2014/main" id="{24F7D77B-5DD0-E9D4-37D3-3737260C9C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1129308"/>
            <a:ext cx="2328109" cy="2425452"/>
          </a:xfrm>
          <a:prstGeom prst="rect">
            <a:avLst/>
          </a:prstGeom>
        </p:spPr>
      </p:pic>
    </p:spTree>
    <p:extLst>
      <p:ext uri="{BB962C8B-B14F-4D97-AF65-F5344CB8AC3E}">
        <p14:creationId xmlns:p14="http://schemas.microsoft.com/office/powerpoint/2010/main" val="10787679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手机屏幕的截图&#10;&#10;AI 生成的内容可能不正确。">
            <a:extLst>
              <a:ext uri="{FF2B5EF4-FFF2-40B4-BE49-F238E27FC236}">
                <a16:creationId xmlns:a16="http://schemas.microsoft.com/office/drawing/2014/main" id="{A1590C19-7287-68F5-3FCB-0FF67812B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333" y="1067024"/>
            <a:ext cx="8533333" cy="3580952"/>
          </a:xfrm>
          <a:prstGeom prst="rect">
            <a:avLst/>
          </a:prstGeom>
        </p:spPr>
      </p:pic>
      <p:sp>
        <p:nvSpPr>
          <p:cNvPr id="4" name="文本框 3">
            <a:extLst>
              <a:ext uri="{FF2B5EF4-FFF2-40B4-BE49-F238E27FC236}">
                <a16:creationId xmlns:a16="http://schemas.microsoft.com/office/drawing/2014/main" id="{EFB497C8-8904-8A63-03F0-F139184D602B}"/>
              </a:ext>
            </a:extLst>
          </p:cNvPr>
          <p:cNvSpPr txBox="1"/>
          <p:nvPr/>
        </p:nvSpPr>
        <p:spPr>
          <a:xfrm>
            <a:off x="305333" y="337220"/>
            <a:ext cx="3647152" cy="369332"/>
          </a:xfrm>
          <a:prstGeom prst="rect">
            <a:avLst/>
          </a:prstGeom>
          <a:noFill/>
        </p:spPr>
        <p:txBody>
          <a:bodyPr wrap="none" rtlCol="0">
            <a:spAutoFit/>
          </a:bodyPr>
          <a:lstStyle/>
          <a:p>
            <a:r>
              <a:rPr lang="zh-CN" altLang="en-US"/>
              <a:t>充满了机械设计加工的难题和机遇</a:t>
            </a:r>
          </a:p>
        </p:txBody>
      </p:sp>
    </p:spTree>
    <p:extLst>
      <p:ext uri="{BB962C8B-B14F-4D97-AF65-F5344CB8AC3E}">
        <p14:creationId xmlns:p14="http://schemas.microsoft.com/office/powerpoint/2010/main" val="32659300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图示&#10;&#10;AI 生成的内容可能不正确。">
            <a:extLst>
              <a:ext uri="{FF2B5EF4-FFF2-40B4-BE49-F238E27FC236}">
                <a16:creationId xmlns:a16="http://schemas.microsoft.com/office/drawing/2014/main" id="{DDEEB766-85C3-D6B9-5AB2-F9D1445DA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524" y="1233690"/>
            <a:ext cx="7580952" cy="3247619"/>
          </a:xfrm>
          <a:prstGeom prst="rect">
            <a:avLst/>
          </a:prstGeom>
        </p:spPr>
      </p:pic>
    </p:spTree>
    <p:extLst>
      <p:ext uri="{BB962C8B-B14F-4D97-AF65-F5344CB8AC3E}">
        <p14:creationId xmlns:p14="http://schemas.microsoft.com/office/powerpoint/2010/main" val="42080333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FB645852-D513-2CAA-CD08-84FC98C48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3905" y="267024"/>
            <a:ext cx="6876190" cy="5180952"/>
          </a:xfrm>
          <a:prstGeom prst="rect">
            <a:avLst/>
          </a:prstGeom>
        </p:spPr>
      </p:pic>
    </p:spTree>
    <p:extLst>
      <p:ext uri="{BB962C8B-B14F-4D97-AF65-F5344CB8AC3E}">
        <p14:creationId xmlns:p14="http://schemas.microsoft.com/office/powerpoint/2010/main" val="36549497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矩形 43"/>
          <p:cNvSpPr/>
          <p:nvPr/>
        </p:nvSpPr>
        <p:spPr>
          <a:xfrm>
            <a:off x="428625" y="1144588"/>
            <a:ext cx="8215313" cy="3416300"/>
          </a:xfrm>
          <a:prstGeom prst="rect">
            <a:avLst/>
          </a:prstGeom>
          <a:solidFill>
            <a:schemeClr val="folHlink"/>
          </a:solidFill>
          <a:ln w="9525">
            <a:noFill/>
          </a:ln>
        </p:spPr>
        <p:txBody>
          <a:bodyPr anchor="t" anchorCtr="0">
            <a:spAutoFit/>
          </a:bodyPr>
          <a:lstStyle/>
          <a:p>
            <a:pPr>
              <a:lnSpc>
                <a:spcPct val="150000"/>
              </a:lnSpc>
            </a:pPr>
            <a:r>
              <a:rPr lang="zh-CN" altLang="en-US" sz="2400" b="1" dirty="0">
                <a:latin typeface="Arial" panose="020B0604020202020204" pitchFamily="34" charset="0"/>
                <a:ea typeface="宋体" panose="02010600030101010101" pitchFamily="2" charset="-122"/>
              </a:rPr>
              <a:t>      氢</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氧燃料电池中氢阳极交换电流可以很大，但氧阴极交换电流较小，所以一般采用含有能催化该电极反应的催化剂的材料做电极，或者提高整个电池的温度以加速电极反应的进行。同时增大电极表面，以使电池使用时能通过较大的电流，所以电极常做成多孔的。</a:t>
            </a:r>
            <a:r>
              <a:rPr lang="zh-CN" altLang="en-US" sz="2400" b="1" dirty="0">
                <a:latin typeface="Arial" panose="020B0604020202020204" pitchFamily="34" charset="0"/>
                <a:ea typeface="宋体" panose="02010600030101010101" pitchFamily="2" charset="-122"/>
                <a:hlinkClick r:id="rId2" action="ppaction://hlinkfile"/>
              </a:rPr>
              <a:t>氢</a:t>
            </a:r>
            <a:r>
              <a:rPr lang="en-US" altLang="zh-CN" sz="2400" b="1" dirty="0">
                <a:latin typeface="Arial" panose="020B0604020202020204" pitchFamily="34" charset="0"/>
                <a:ea typeface="宋体" panose="02010600030101010101" pitchFamily="2" charset="-122"/>
                <a:hlinkClick r:id="rId2" action="ppaction://hlinkfile"/>
              </a:rPr>
              <a:t>-</a:t>
            </a:r>
            <a:r>
              <a:rPr lang="zh-CN" altLang="en-US" sz="2400" b="1" dirty="0">
                <a:latin typeface="Arial" panose="020B0604020202020204" pitchFamily="34" charset="0"/>
                <a:ea typeface="宋体" panose="02010600030101010101" pitchFamily="2" charset="-122"/>
                <a:hlinkClick r:id="rId2" action="ppaction://hlinkfile"/>
              </a:rPr>
              <a:t>氧燃料电池</a:t>
            </a:r>
            <a:r>
              <a:rPr lang="zh-CN" altLang="en-US" sz="2400" b="1" dirty="0">
                <a:latin typeface="Arial" panose="020B0604020202020204" pitchFamily="34" charset="0"/>
                <a:ea typeface="宋体" panose="02010600030101010101" pitchFamily="2" charset="-122"/>
              </a:rPr>
              <a:t>是以覆盖着钛的铂做电极，电解质则用阴离子交换树脂</a:t>
            </a:r>
            <a:r>
              <a:rPr lang="zh-CN" altLang="en-US"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hlinkClick r:id="rId3" action="ppaction://hlinkfile"/>
              </a:rPr>
              <a:t>氢氧燃料电池.swf</a:t>
            </a:r>
            <a:endParaRPr lang="zh-CN" altLang="en-US" sz="20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noChangeArrowheads="1"/>
          </p:cNvSpPr>
          <p:nvPr>
            <p:ph idx="1"/>
          </p:nvPr>
        </p:nvSpPr>
        <p:spPr>
          <a:xfrm>
            <a:off x="500063" y="417513"/>
            <a:ext cx="8464550" cy="4643438"/>
          </a:xfrm>
          <a:solidFill>
            <a:schemeClr val="accent6">
              <a:lumMod val="20000"/>
              <a:lumOff val="80000"/>
            </a:schemeClr>
          </a:solidFill>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2800" b="1" i="0" u="none" strike="noStrike" kern="0" cap="none" spc="0" normalizeH="0" baseline="0" noProof="0" dirty="0">
                <a:ln>
                  <a:noFill/>
                </a:ln>
                <a:solidFill>
                  <a:srgbClr val="C00000"/>
                </a:solidFill>
                <a:effectLst/>
                <a:uLnTx/>
                <a:uFillTx/>
                <a:latin typeface="Times New Roman" panose="02020603050405020304" pitchFamily="18" charset="0"/>
                <a:ea typeface="+mn-ea"/>
                <a:cs typeface="+mn-cs"/>
              </a:rPr>
              <a:t>燃料电池具有许多特点和优点</a:t>
            </a: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1.</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能量转换率高。任何热机的效率都受</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Carnot</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热机效率（</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）所限制，如用热机带动发电机发电，其效率仅为</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35%~40%</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，而燃料电池的能量转换效率理论上应为</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100%</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，实际操作时其总效率也在</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80%</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以上。</a:t>
            </a: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2.</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减少大气污染。火力发电产生废气（</a:t>
            </a:r>
            <a:r>
              <a:rPr kumimoji="0" lang="zh-CN" altLang="en-US"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如</a:t>
            </a:r>
            <a:r>
              <a:rPr kumimoji="0" lang="en-US" altLang="zh-CN"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CO</a:t>
            </a:r>
            <a:r>
              <a:rPr kumimoji="0" lang="en-US" altLang="zh-CN" sz="2400" b="1" i="0" u="none" strike="noStrike" kern="0" cap="none" spc="0" normalizeH="0" baseline="-25000" noProof="0" dirty="0">
                <a:ln>
                  <a:noFill/>
                </a:ln>
                <a:solidFill>
                  <a:srgbClr val="9900CC"/>
                </a:solidFill>
                <a:effectLst/>
                <a:uLnTx/>
                <a:uFillTx/>
                <a:latin typeface="Times New Roman" panose="02020603050405020304" pitchFamily="18" charset="0"/>
                <a:ea typeface="+mn-ea"/>
                <a:cs typeface="+mn-cs"/>
              </a:rPr>
              <a:t>2</a:t>
            </a:r>
            <a:r>
              <a:rPr kumimoji="0" lang="en-US" altLang="zh-CN"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,SO</a:t>
            </a:r>
            <a:r>
              <a:rPr kumimoji="0" lang="en-US" altLang="zh-CN" sz="2400" b="1" i="0" u="none" strike="noStrike" kern="0" cap="none" spc="0" normalizeH="0" baseline="-25000" noProof="0" dirty="0">
                <a:ln>
                  <a:noFill/>
                </a:ln>
                <a:solidFill>
                  <a:srgbClr val="9900CC"/>
                </a:solidFill>
                <a:effectLst/>
                <a:uLnTx/>
                <a:uFillTx/>
                <a:latin typeface="Times New Roman" panose="02020603050405020304" pitchFamily="18" charset="0"/>
                <a:ea typeface="+mn-ea"/>
                <a:cs typeface="+mn-cs"/>
              </a:rPr>
              <a:t>2</a:t>
            </a:r>
            <a:r>
              <a:rPr kumimoji="0" lang="en-US" altLang="zh-CN"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,NO</a:t>
            </a:r>
            <a:r>
              <a:rPr kumimoji="0" lang="en-US" altLang="zh-CN" sz="2400" b="1" i="0" u="none" strike="noStrike" kern="0" cap="none" spc="0" normalizeH="0" baseline="-25000" noProof="0" dirty="0">
                <a:ln>
                  <a:noFill/>
                </a:ln>
                <a:solidFill>
                  <a:srgbClr val="9900CC"/>
                </a:solidFill>
                <a:effectLst/>
                <a:uLnTx/>
                <a:uFillTx/>
                <a:latin typeface="Times New Roman" panose="02020603050405020304" pitchFamily="18" charset="0"/>
                <a:ea typeface="+mn-ea"/>
                <a:cs typeface="+mn-cs"/>
              </a:rPr>
              <a:t>x</a:t>
            </a:r>
            <a:r>
              <a:rPr kumimoji="0" lang="en-US" altLang="zh-CN"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a:ln>
                  <a:noFill/>
                </a:ln>
                <a:solidFill>
                  <a:srgbClr val="9900CC"/>
                </a:solidFill>
                <a:effectLst/>
                <a:uLnTx/>
                <a:uFillTx/>
                <a:latin typeface="Times New Roman" panose="02020603050405020304" pitchFamily="18" charset="0"/>
                <a:ea typeface="+mn-ea"/>
                <a:cs typeface="+mn-cs"/>
              </a:rPr>
              <a:t>等）</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、废渣，而氢氧燃料电池发电后只产生水，在航天飞行器中经净化后甚至可以作为航天员的饮用水。</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102402"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2403" name="Object 1"/>
          <p:cNvGraphicFramePr>
            <a:graphicFrameLocks noChangeAspect="1"/>
          </p:cNvGraphicFramePr>
          <p:nvPr/>
        </p:nvGraphicFramePr>
        <p:xfrm>
          <a:off x="1187450" y="1849438"/>
          <a:ext cx="285750" cy="311150"/>
        </p:xfrm>
        <a:graphic>
          <a:graphicData uri="http://schemas.openxmlformats.org/presentationml/2006/ole">
            <mc:AlternateContent xmlns:mc="http://schemas.openxmlformats.org/markup-compatibility/2006">
              <mc:Choice xmlns:v="urn:schemas-microsoft-com:vml" Requires="v">
                <p:oleObj r:id="rId2" imgW="129540" imgH="168275" progId="Equation.3">
                  <p:embed/>
                </p:oleObj>
              </mc:Choice>
              <mc:Fallback>
                <p:oleObj r:id="rId2" imgW="129540" imgH="168275" progId="Equation.3">
                  <p:embed/>
                  <p:pic>
                    <p:nvPicPr>
                      <p:cNvPr id="0" name="图片 3103"/>
                      <p:cNvPicPr/>
                      <p:nvPr/>
                    </p:nvPicPr>
                    <p:blipFill>
                      <a:blip r:embed="rId3"/>
                      <a:stretch>
                        <a:fillRect/>
                      </a:stretch>
                    </p:blipFill>
                    <p:spPr>
                      <a:xfrm>
                        <a:off x="1187450" y="1849438"/>
                        <a:ext cx="285750" cy="311150"/>
                      </a:xfrm>
                      <a:prstGeom prst="rect">
                        <a:avLst/>
                      </a:prstGeom>
                      <a:noFill/>
                      <a:ln w="38100">
                        <a:noFill/>
                        <a:miter/>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noChangeArrowheads="1"/>
          </p:cNvSpPr>
          <p:nvPr>
            <p:ph idx="1"/>
          </p:nvPr>
        </p:nvSpPr>
        <p:spPr>
          <a:xfrm>
            <a:off x="468313" y="696913"/>
            <a:ext cx="8320088" cy="3455988"/>
          </a:xfrm>
          <a:solidFill>
            <a:schemeClr val="accent6">
              <a:lumMod val="20000"/>
              <a:lumOff val="80000"/>
            </a:schemeClr>
          </a:solidFill>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3.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燃料电池的比能量高。所谓比能量是指单位质量的反应物所产生的能量，燃料电池的比能量高于其它电池。</a:t>
            </a: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4.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燃料电池具有高度的稳定性。燃料电池无论是在额定功率以上超载运行，还是低于额定功率时运行，它都能承受而效率变化不大。当负载有变化时，它的响应速率快，都能承受。</a:t>
            </a:r>
          </a:p>
        </p:txBody>
      </p:sp>
      <p:sp>
        <p:nvSpPr>
          <p:cNvPr id="103426"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3427" name="Object 1"/>
          <p:cNvGraphicFramePr>
            <a:graphicFrameLocks noChangeAspect="1"/>
          </p:cNvGraphicFramePr>
          <p:nvPr/>
        </p:nvGraphicFramePr>
        <p:xfrm>
          <a:off x="193675" y="2136775"/>
          <a:ext cx="285750" cy="311150"/>
        </p:xfrm>
        <a:graphic>
          <a:graphicData uri="http://schemas.openxmlformats.org/presentationml/2006/ole">
            <mc:AlternateContent xmlns:mc="http://schemas.openxmlformats.org/markup-compatibility/2006">
              <mc:Choice xmlns:v="urn:schemas-microsoft-com:vml" Requires="v">
                <p:oleObj r:id="rId2" imgW="129540" imgH="168275" progId="Equation.3">
                  <p:embed/>
                </p:oleObj>
              </mc:Choice>
              <mc:Fallback>
                <p:oleObj r:id="rId2" imgW="129540" imgH="168275" progId="Equation.3">
                  <p:embed/>
                  <p:pic>
                    <p:nvPicPr>
                      <p:cNvPr id="0" name="图片 3105"/>
                      <p:cNvPicPr/>
                      <p:nvPr/>
                    </p:nvPicPr>
                    <p:blipFill>
                      <a:blip r:embed="rId3"/>
                      <a:stretch>
                        <a:fillRect/>
                      </a:stretch>
                    </p:blipFill>
                    <p:spPr>
                      <a:xfrm>
                        <a:off x="193675" y="2136775"/>
                        <a:ext cx="285750" cy="311150"/>
                      </a:xfrm>
                      <a:prstGeom prst="rect">
                        <a:avLst/>
                      </a:prstGeom>
                      <a:noFill/>
                      <a:ln w="38100">
                        <a:noFill/>
                        <a:miter/>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内容占位符 2"/>
          <p:cNvSpPr>
            <a:spLocks noGrp="1"/>
          </p:cNvSpPr>
          <p:nvPr>
            <p:ph idx="1"/>
          </p:nvPr>
        </p:nvSpPr>
        <p:spPr>
          <a:xfrm>
            <a:off x="1071563" y="893763"/>
            <a:ext cx="2786062" cy="476250"/>
          </a:xfrm>
        </p:spPr>
        <p:txBody>
          <a:bodyPr vert="horz" wrap="square" lIns="91440" tIns="45720" rIns="91440" bIns="45720" anchor="t" anchorCtr="0"/>
          <a:lstStyle/>
          <a:p>
            <a:pPr eaLnBrk="1" hangingPunct="1"/>
            <a:r>
              <a:rPr lang="en-US" altLang="zh-CN" b="1" dirty="0">
                <a:solidFill>
                  <a:srgbClr val="FF0000"/>
                </a:solidFill>
              </a:rPr>
              <a:t>2.</a:t>
            </a:r>
            <a:r>
              <a:rPr lang="zh-CN" altLang="en-US" b="1" dirty="0">
                <a:solidFill>
                  <a:srgbClr val="FF0000"/>
                </a:solidFill>
              </a:rPr>
              <a:t>蓄电池</a:t>
            </a:r>
            <a:r>
              <a:rPr lang="zh-CN" altLang="en-US" sz="1800" b="1" dirty="0">
                <a:hlinkClick r:id="rId2" action="ppaction://hlinkfile"/>
              </a:rPr>
              <a:t>                  </a:t>
            </a:r>
          </a:p>
          <a:p>
            <a:pPr eaLnBrk="1" hangingPunct="1">
              <a:buNone/>
            </a:pPr>
            <a:r>
              <a:rPr lang="zh-CN" altLang="en-US" sz="1800" b="1" dirty="0">
                <a:hlinkClick r:id="rId2" action="ppaction://hlinkfile"/>
              </a:rPr>
              <a:t>                   </a:t>
            </a:r>
          </a:p>
        </p:txBody>
      </p:sp>
      <p:sp>
        <p:nvSpPr>
          <p:cNvPr id="104450" name="矩形 8"/>
          <p:cNvSpPr/>
          <p:nvPr/>
        </p:nvSpPr>
        <p:spPr>
          <a:xfrm>
            <a:off x="714375" y="1428750"/>
            <a:ext cx="7786688" cy="2862263"/>
          </a:xfrm>
          <a:prstGeom prst="rect">
            <a:avLst/>
          </a:prstGeom>
          <a:noFill/>
          <a:ln w="9525">
            <a:noFill/>
          </a:ln>
        </p:spPr>
        <p:txBody>
          <a:bodyPr anchor="t" anchorCtr="0">
            <a:spAutoFit/>
          </a:bodyPr>
          <a:lstStyle/>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hlinkClick r:id="rId3" action="ppaction://hlinkfile"/>
              </a:rPr>
              <a:t>蓄电池</a:t>
            </a:r>
            <a:r>
              <a:rPr lang="zh-CN" altLang="en-US" sz="2400" b="1" dirty="0">
                <a:latin typeface="Times New Roman" panose="02020603050405020304" pitchFamily="18" charset="0"/>
                <a:ea typeface="宋体" panose="02010600030101010101" pitchFamily="2" charset="-122"/>
              </a:rPr>
              <a:t>是二次电池，可以反复充、</a:t>
            </a:r>
            <a:r>
              <a:rPr lang="zh-CN" altLang="en-US" sz="2400" b="1" dirty="0">
                <a:latin typeface="Times New Roman" panose="02020603050405020304" pitchFamily="18" charset="0"/>
                <a:ea typeface="宋体" panose="02010600030101010101" pitchFamily="2" charset="-122"/>
                <a:hlinkClick r:id="rId4" action="ppaction://hlinkfile"/>
              </a:rPr>
              <a:t>放电</a:t>
            </a:r>
            <a:r>
              <a:rPr lang="zh-CN" altLang="en-US" sz="2400" b="1" dirty="0">
                <a:latin typeface="Times New Roman" panose="02020603050405020304" pitchFamily="18" charset="0"/>
                <a:ea typeface="宋体" panose="02010600030101010101" pitchFamily="2" charset="-122"/>
              </a:rPr>
              <a:t>，在工业上的用途极广，如汽车、发电站、火箭等，每年均需用大量蓄电池，所以蓄电池工业是一项很大的工业。蓄电池主要有下列几类；①酸式铅蓄电池；②碱式</a:t>
            </a:r>
            <a:r>
              <a:rPr lang="en-US" altLang="zh-CN" sz="2400" b="1" dirty="0">
                <a:latin typeface="Times New Roman" panose="02020603050405020304" pitchFamily="18" charset="0"/>
                <a:ea typeface="宋体" panose="02010600030101010101" pitchFamily="2" charset="-122"/>
              </a:rPr>
              <a:t>Fe-Ni</a:t>
            </a:r>
            <a:r>
              <a:rPr lang="zh-CN" altLang="en-US" sz="2400" b="1" dirty="0">
                <a:latin typeface="Times New Roman" panose="02020603050405020304" pitchFamily="18" charset="0"/>
                <a:ea typeface="宋体" panose="02010600030101010101" pitchFamily="2" charset="-122"/>
              </a:rPr>
              <a:t>或</a:t>
            </a:r>
            <a:r>
              <a:rPr lang="en-US" altLang="zh-CN" sz="2400" b="1" dirty="0">
                <a:latin typeface="Times New Roman" panose="02020603050405020304" pitchFamily="18" charset="0"/>
                <a:ea typeface="宋体" panose="02010600030101010101" pitchFamily="2" charset="-122"/>
              </a:rPr>
              <a:t>Cd-Ni</a:t>
            </a:r>
            <a:r>
              <a:rPr lang="zh-CN" altLang="en-US" sz="2400" b="1" dirty="0">
                <a:latin typeface="Times New Roman" panose="02020603050405020304" pitchFamily="18" charset="0"/>
                <a:ea typeface="宋体" panose="02010600030101010101" pitchFamily="2" charset="-122"/>
              </a:rPr>
              <a:t>蓄电池；③</a:t>
            </a:r>
            <a:r>
              <a:rPr lang="en-US" altLang="zh-CN" sz="2400" b="1" dirty="0">
                <a:latin typeface="Times New Roman" panose="02020603050405020304" pitchFamily="18" charset="0"/>
                <a:ea typeface="宋体" panose="02010600030101010101" pitchFamily="2" charset="-122"/>
              </a:rPr>
              <a:t>Ag-Zn</a:t>
            </a:r>
            <a:r>
              <a:rPr lang="zh-CN" altLang="en-US" sz="2400" b="1" dirty="0">
                <a:latin typeface="Times New Roman" panose="02020603050405020304" pitchFamily="18" charset="0"/>
                <a:ea typeface="宋体" panose="02010600030101010101" pitchFamily="2" charset="-122"/>
              </a:rPr>
              <a:t>蓄电池。</a:t>
            </a:r>
            <a:endParaRPr lang="zh-CN" altLang="en-US" sz="2400"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Picture 2"/>
          <p:cNvPicPr>
            <a:picLocks noChangeAspect="1"/>
          </p:cNvPicPr>
          <p:nvPr/>
        </p:nvPicPr>
        <p:blipFill>
          <a:blip r:embed="rId2"/>
          <a:srcRect l="5695" t="31628" r="41061" b="19728"/>
          <a:stretch>
            <a:fillRect/>
          </a:stretch>
        </p:blipFill>
        <p:spPr>
          <a:xfrm>
            <a:off x="2214563" y="1905000"/>
            <a:ext cx="5000625" cy="2898775"/>
          </a:xfrm>
          <a:prstGeom prst="rect">
            <a:avLst/>
          </a:prstGeom>
          <a:noFill/>
          <a:ln w="9525">
            <a:noFill/>
          </a:ln>
        </p:spPr>
      </p:pic>
      <p:graphicFrame>
        <p:nvGraphicFramePr>
          <p:cNvPr id="105474" name="Object 35"/>
          <p:cNvGraphicFramePr>
            <a:graphicFrameLocks noChangeAspect="1"/>
          </p:cNvGraphicFramePr>
          <p:nvPr/>
        </p:nvGraphicFramePr>
        <p:xfrm>
          <a:off x="1785938" y="1422400"/>
          <a:ext cx="642937" cy="338138"/>
        </p:xfrm>
        <a:graphic>
          <a:graphicData uri="http://schemas.openxmlformats.org/presentationml/2006/ole">
            <mc:AlternateContent xmlns:mc="http://schemas.openxmlformats.org/markup-compatibility/2006">
              <mc:Choice xmlns:v="urn:schemas-microsoft-com:vml" Requires="v">
                <p:oleObj r:id="rId3" imgW="460375" imgH="217170" progId="Equation.KSEE3">
                  <p:embed/>
                </p:oleObj>
              </mc:Choice>
              <mc:Fallback>
                <p:oleObj r:id="rId3" imgW="460375" imgH="217170" progId="Equation.KSEE3">
                  <p:embed/>
                  <p:pic>
                    <p:nvPicPr>
                      <p:cNvPr id="0" name="图片 3104"/>
                      <p:cNvPicPr/>
                      <p:nvPr/>
                    </p:nvPicPr>
                    <p:blipFill>
                      <a:blip r:embed="rId4"/>
                      <a:stretch>
                        <a:fillRect/>
                      </a:stretch>
                    </p:blipFill>
                    <p:spPr>
                      <a:xfrm>
                        <a:off x="1785938" y="1422400"/>
                        <a:ext cx="642937" cy="338138"/>
                      </a:xfrm>
                      <a:prstGeom prst="rect">
                        <a:avLst/>
                      </a:prstGeom>
                      <a:noFill/>
                      <a:ln w="38100">
                        <a:noFill/>
                        <a:miter/>
                      </a:ln>
                    </p:spPr>
                  </p:pic>
                </p:oleObj>
              </mc:Fallback>
            </mc:AlternateContent>
          </a:graphicData>
        </a:graphic>
      </p:graphicFrame>
      <p:sp>
        <p:nvSpPr>
          <p:cNvPr id="105475" name="Rectangle 36"/>
          <p:cNvSpPr/>
          <p:nvPr/>
        </p:nvSpPr>
        <p:spPr>
          <a:xfrm>
            <a:off x="357188" y="1352550"/>
            <a:ext cx="8429625" cy="461963"/>
          </a:xfrm>
          <a:prstGeom prst="rect">
            <a:avLst/>
          </a:prstGeom>
          <a:noFill/>
          <a:ln w="9525">
            <a:noFill/>
          </a:ln>
        </p:spPr>
        <p:txBody>
          <a:bodyPr anchor="ctr" anchorCtr="0">
            <a:spAutoFit/>
          </a:bodyPr>
          <a:lstStyle/>
          <a:p>
            <a:pPr indent="200025"/>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Pb(s)</a:t>
            </a:r>
            <a:r>
              <a:rPr lang="zh-CN" altLang="en-US" sz="2400" dirty="0">
                <a:latin typeface="Times New Roman" panose="02020603050405020304" pitchFamily="18"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p:txBody>
      </p:sp>
      <p:grpSp>
        <p:nvGrpSpPr>
          <p:cNvPr id="105476" name="组合 10"/>
          <p:cNvGrpSpPr/>
          <p:nvPr/>
        </p:nvGrpSpPr>
        <p:grpSpPr>
          <a:xfrm>
            <a:off x="2343150" y="1411288"/>
            <a:ext cx="3719513" cy="411162"/>
            <a:chOff x="2343150" y="1693863"/>
            <a:chExt cx="3719208" cy="492902"/>
          </a:xfrm>
        </p:grpSpPr>
        <p:graphicFrame>
          <p:nvGraphicFramePr>
            <p:cNvPr id="105477" name="Object 34"/>
            <p:cNvGraphicFramePr>
              <a:graphicFrameLocks noChangeAspect="1"/>
            </p:cNvGraphicFramePr>
            <p:nvPr/>
          </p:nvGraphicFramePr>
          <p:xfrm>
            <a:off x="4824413" y="1693863"/>
            <a:ext cx="714375" cy="411162"/>
          </p:xfrm>
          <a:graphic>
            <a:graphicData uri="http://schemas.openxmlformats.org/presentationml/2006/ole">
              <mc:AlternateContent xmlns:mc="http://schemas.openxmlformats.org/markup-compatibility/2006">
                <mc:Choice xmlns:v="urn:schemas-microsoft-com:vml" Requires="v">
                  <p:oleObj r:id="rId5" imgW="383540" imgH="217170" progId="Equation.KSEE3">
                    <p:embed/>
                  </p:oleObj>
                </mc:Choice>
                <mc:Fallback>
                  <p:oleObj r:id="rId5" imgW="383540" imgH="217170" progId="Equation.KSEE3">
                    <p:embed/>
                    <p:pic>
                      <p:nvPicPr>
                        <p:cNvPr id="0" name="图片 3106"/>
                        <p:cNvPicPr/>
                        <p:nvPr/>
                      </p:nvPicPr>
                      <p:blipFill>
                        <a:blip r:embed="rId6"/>
                        <a:stretch>
                          <a:fillRect/>
                        </a:stretch>
                      </p:blipFill>
                      <p:spPr>
                        <a:xfrm>
                          <a:off x="4824413" y="1693863"/>
                          <a:ext cx="714375" cy="411162"/>
                        </a:xfrm>
                        <a:prstGeom prst="rect">
                          <a:avLst/>
                        </a:prstGeom>
                        <a:noFill/>
                        <a:ln w="38100">
                          <a:noFill/>
                          <a:miter/>
                        </a:ln>
                      </p:spPr>
                    </p:pic>
                  </p:oleObj>
                </mc:Fallback>
              </mc:AlternateContent>
            </a:graphicData>
          </a:graphic>
        </p:graphicFrame>
        <p:sp>
          <p:nvSpPr>
            <p:cNvPr id="43" name="矩形 42"/>
            <p:cNvSpPr/>
            <p:nvPr/>
          </p:nvSpPr>
          <p:spPr>
            <a:xfrm>
              <a:off x="2343150" y="1707184"/>
              <a:ext cx="2514394" cy="479581"/>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相对密度</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1.22~1.28)</a:t>
              </a:r>
              <a:endPar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endParaRPr>
            </a:p>
          </p:txBody>
        </p:sp>
        <p:sp>
          <p:nvSpPr>
            <p:cNvPr id="105479" name="矩形 44"/>
            <p:cNvSpPr/>
            <p:nvPr/>
          </p:nvSpPr>
          <p:spPr>
            <a:xfrm>
              <a:off x="5300663" y="1728787"/>
              <a:ext cx="761695" cy="442691"/>
            </a:xfrm>
            <a:prstGeom prst="rect">
              <a:avLst/>
            </a:prstGeom>
            <a:noFill/>
            <a:ln w="9525">
              <a:noFill/>
            </a:ln>
          </p:spPr>
          <p:txBody>
            <a:bodyPr wrap="none" anchor="t" anchorCtr="0">
              <a:spAutoFit/>
            </a:bodyPr>
            <a:lstStyle/>
            <a:p>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s</a:t>
              </a:r>
              <a:r>
                <a:rPr lang="zh-CN" altLang="en-US" dirty="0">
                  <a:latin typeface="Arial" panose="020B0604020202020204" pitchFamily="34" charset="0"/>
                  <a:ea typeface="宋体" panose="02010600030101010101" pitchFamily="2" charset="-122"/>
                </a:rPr>
                <a:t>）</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内容占位符 2"/>
          <p:cNvSpPr>
            <a:spLocks noGrp="1"/>
          </p:cNvSpPr>
          <p:nvPr>
            <p:ph idx="1"/>
          </p:nvPr>
        </p:nvSpPr>
        <p:spPr>
          <a:xfrm>
            <a:off x="468313" y="409575"/>
            <a:ext cx="8424862" cy="4286250"/>
          </a:xfrm>
          <a:solidFill>
            <a:schemeClr val="folHlink"/>
          </a:solidFill>
        </p:spPr>
        <p:txBody>
          <a:bodyPr vert="horz" wrap="square" lIns="91440" tIns="45720" rIns="91440" bIns="45720" anchor="t" anchorCtr="0"/>
          <a:lstStyle/>
          <a:p>
            <a:pPr eaLnBrk="1" hangingPunct="1"/>
            <a:r>
              <a:rPr lang="zh-CN" altLang="en-US" sz="2400" b="1" dirty="0">
                <a:latin typeface="Times New Roman" panose="02020603050405020304" pitchFamily="18" charset="0"/>
              </a:rPr>
              <a:t>金属氢化物</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镍电池</a:t>
            </a:r>
            <a:endParaRPr lang="en-US" altLang="zh-CN"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负极反应</a:t>
            </a:r>
            <a:r>
              <a:rPr lang="en-US" altLang="zh-CN" sz="2400" b="1" dirty="0">
                <a:latin typeface="Times New Roman" panose="02020603050405020304" pitchFamily="18" charset="0"/>
              </a:rPr>
              <a:t>           </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正极反应</a:t>
            </a:r>
            <a:r>
              <a:rPr lang="en-US" altLang="zh-CN" sz="2400" b="1" dirty="0">
                <a:latin typeface="Times New Roman" panose="02020603050405020304" pitchFamily="18" charset="0"/>
              </a:rPr>
              <a:t>           </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电池净反应</a:t>
            </a:r>
            <a:r>
              <a:rPr lang="en-US" altLang="zh-CN" sz="2400" b="1" dirty="0">
                <a:latin typeface="Times New Roman" panose="02020603050405020304" pitchFamily="18" charset="0"/>
              </a:rPr>
              <a:t>         </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金属氢化物</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镍电池优点：</a:t>
            </a:r>
            <a:endParaRPr lang="en-US" altLang="zh-CN" sz="2400" b="1" dirty="0">
              <a:latin typeface="Times New Roman" panose="02020603050405020304" pitchFamily="18" charset="0"/>
            </a:endParaRPr>
          </a:p>
          <a:p>
            <a:pPr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①能量密度高，相同尺寸的电池，金属氢化物</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镍电池的电容量是</a:t>
            </a:r>
            <a:r>
              <a:rPr lang="en-US" altLang="zh-CN" sz="2400" b="1" dirty="0">
                <a:latin typeface="Times New Roman" panose="02020603050405020304" pitchFamily="18" charset="0"/>
              </a:rPr>
              <a:t>Cd-Ni</a:t>
            </a:r>
            <a:r>
              <a:rPr lang="zh-CN" altLang="en-US" sz="2400" b="1" dirty="0">
                <a:latin typeface="Times New Roman" panose="02020603050405020304" pitchFamily="18" charset="0"/>
              </a:rPr>
              <a:t>电池的</a:t>
            </a:r>
            <a:r>
              <a:rPr lang="en-US" altLang="zh-CN" sz="2400" b="1" dirty="0">
                <a:latin typeface="Times New Roman" panose="02020603050405020304" pitchFamily="18" charset="0"/>
              </a:rPr>
              <a:t>1.5~2</a:t>
            </a:r>
            <a:r>
              <a:rPr lang="zh-CN" altLang="en-US" sz="2400" b="1" dirty="0">
                <a:latin typeface="Times New Roman" panose="02020603050405020304" pitchFamily="18" charset="0"/>
              </a:rPr>
              <a:t>倍。</a:t>
            </a:r>
            <a:endParaRPr lang="en-US" altLang="zh-CN" sz="2400" b="1" dirty="0">
              <a:latin typeface="Times New Roman" panose="02020603050405020304" pitchFamily="18" charset="0"/>
            </a:endParaRPr>
          </a:p>
          <a:p>
            <a:pPr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②无污染，是绿色电池。</a:t>
            </a:r>
            <a:endParaRPr lang="en-US" altLang="zh-CN" sz="2400" b="1" dirty="0">
              <a:latin typeface="Times New Roman" panose="02020603050405020304" pitchFamily="18" charset="0"/>
            </a:endParaRPr>
          </a:p>
          <a:p>
            <a:pPr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③可大电流快速放电。</a:t>
            </a:r>
            <a:endParaRPr lang="en-US" altLang="zh-CN" sz="2400" b="1" dirty="0">
              <a:latin typeface="Times New Roman" panose="02020603050405020304" pitchFamily="18" charset="0"/>
            </a:endParaRPr>
          </a:p>
          <a:p>
            <a:pPr eaLnBrk="1" hangingPunct="1">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④工作电压与</a:t>
            </a:r>
            <a:r>
              <a:rPr lang="en-US" altLang="zh-CN" sz="2400" b="1" dirty="0">
                <a:latin typeface="Times New Roman" panose="02020603050405020304" pitchFamily="18" charset="0"/>
              </a:rPr>
              <a:t>Cd-Ni</a:t>
            </a:r>
            <a:r>
              <a:rPr lang="zh-CN" altLang="en-US" sz="2400" b="1" dirty="0">
                <a:latin typeface="Times New Roman" panose="02020603050405020304" pitchFamily="18" charset="0"/>
              </a:rPr>
              <a:t>电池相同，也是</a:t>
            </a:r>
            <a:r>
              <a:rPr lang="en-US" altLang="zh-CN" sz="2400" b="1" dirty="0">
                <a:latin typeface="Times New Roman" panose="02020603050405020304" pitchFamily="18" charset="0"/>
              </a:rPr>
              <a:t>1.2V</a:t>
            </a:r>
            <a:r>
              <a:rPr lang="zh-CN" altLang="en-US" sz="2400" b="1" dirty="0">
                <a:latin typeface="Times New Roman" panose="02020603050405020304" pitchFamily="18" charset="0"/>
              </a:rPr>
              <a:t>。</a:t>
            </a:r>
          </a:p>
        </p:txBody>
      </p:sp>
      <p:sp>
        <p:nvSpPr>
          <p:cNvPr id="106498"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6499" name="Object 1"/>
          <p:cNvGraphicFramePr>
            <a:graphicFrameLocks noChangeAspect="1"/>
          </p:cNvGraphicFramePr>
          <p:nvPr/>
        </p:nvGraphicFramePr>
        <p:xfrm>
          <a:off x="2627789" y="912971"/>
          <a:ext cx="4382135" cy="356870"/>
        </p:xfrm>
        <a:graphic>
          <a:graphicData uri="http://schemas.openxmlformats.org/presentationml/2006/ole">
            <mc:AlternateContent xmlns:mc="http://schemas.openxmlformats.org/markup-compatibility/2006">
              <mc:Choice xmlns:v="urn:schemas-microsoft-com:vml" Requires="v">
                <p:oleObj r:id="rId2" imgW="2311400" imgH="228600" progId="Equation.KSEE3">
                  <p:embed/>
                </p:oleObj>
              </mc:Choice>
              <mc:Fallback>
                <p:oleObj r:id="rId2" imgW="2311400" imgH="228600" progId="Equation.KSEE3">
                  <p:embed/>
                  <p:pic>
                    <p:nvPicPr>
                      <p:cNvPr id="0" name="图片 3107"/>
                      <p:cNvPicPr/>
                      <p:nvPr/>
                    </p:nvPicPr>
                    <p:blipFill>
                      <a:blip r:embed="rId3"/>
                      <a:stretch>
                        <a:fillRect/>
                      </a:stretch>
                    </p:blipFill>
                    <p:spPr>
                      <a:xfrm>
                        <a:off x="2627789" y="912971"/>
                        <a:ext cx="4382135" cy="356870"/>
                      </a:xfrm>
                      <a:prstGeom prst="rect">
                        <a:avLst/>
                      </a:prstGeom>
                      <a:noFill/>
                      <a:ln w="38100">
                        <a:noFill/>
                        <a:miter/>
                      </a:ln>
                    </p:spPr>
                  </p:pic>
                </p:oleObj>
              </mc:Fallback>
            </mc:AlternateContent>
          </a:graphicData>
        </a:graphic>
      </p:graphicFrame>
      <p:sp>
        <p:nvSpPr>
          <p:cNvPr id="106500"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6501" name="Object 3"/>
          <p:cNvGraphicFramePr>
            <a:graphicFrameLocks noChangeAspect="1"/>
          </p:cNvGraphicFramePr>
          <p:nvPr/>
        </p:nvGraphicFramePr>
        <p:xfrm>
          <a:off x="2628266" y="1344772"/>
          <a:ext cx="5589270" cy="356870"/>
        </p:xfrm>
        <a:graphic>
          <a:graphicData uri="http://schemas.openxmlformats.org/presentationml/2006/ole">
            <mc:AlternateContent xmlns:mc="http://schemas.openxmlformats.org/markup-compatibility/2006">
              <mc:Choice xmlns:v="urn:schemas-microsoft-com:vml" Requires="v">
                <p:oleObj r:id="rId4" imgW="2971800" imgH="228600" progId="Equation.KSEE3">
                  <p:embed/>
                </p:oleObj>
              </mc:Choice>
              <mc:Fallback>
                <p:oleObj r:id="rId4" imgW="2971800" imgH="228600" progId="Equation.KSEE3">
                  <p:embed/>
                  <p:pic>
                    <p:nvPicPr>
                      <p:cNvPr id="0" name="图片 3108"/>
                      <p:cNvPicPr/>
                      <p:nvPr/>
                    </p:nvPicPr>
                    <p:blipFill>
                      <a:blip r:embed="rId5"/>
                      <a:stretch>
                        <a:fillRect/>
                      </a:stretch>
                    </p:blipFill>
                    <p:spPr>
                      <a:xfrm>
                        <a:off x="2628266" y="1344772"/>
                        <a:ext cx="5589270" cy="356870"/>
                      </a:xfrm>
                      <a:prstGeom prst="rect">
                        <a:avLst/>
                      </a:prstGeom>
                      <a:noFill/>
                      <a:ln w="38100">
                        <a:noFill/>
                        <a:miter/>
                      </a:ln>
                    </p:spPr>
                  </p:pic>
                </p:oleObj>
              </mc:Fallback>
            </mc:AlternateContent>
          </a:graphicData>
        </a:graphic>
      </p:graphicFrame>
      <p:sp>
        <p:nvSpPr>
          <p:cNvPr id="106502" name="Rectangle 6"/>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6503" name="Object 5"/>
          <p:cNvGraphicFramePr>
            <a:graphicFrameLocks noChangeAspect="1"/>
          </p:cNvGraphicFramePr>
          <p:nvPr/>
        </p:nvGraphicFramePr>
        <p:xfrm>
          <a:off x="2772728" y="1777842"/>
          <a:ext cx="5243195" cy="357505"/>
        </p:xfrm>
        <a:graphic>
          <a:graphicData uri="http://schemas.openxmlformats.org/presentationml/2006/ole">
            <mc:AlternateContent xmlns:mc="http://schemas.openxmlformats.org/markup-compatibility/2006">
              <mc:Choice xmlns:v="urn:schemas-microsoft-com:vml" Requires="v">
                <p:oleObj r:id="rId6" imgW="2654300" imgH="215900" progId="Equation.KSEE3">
                  <p:embed/>
                </p:oleObj>
              </mc:Choice>
              <mc:Fallback>
                <p:oleObj r:id="rId6" imgW="2654300" imgH="215900" progId="Equation.KSEE3">
                  <p:embed/>
                  <p:pic>
                    <p:nvPicPr>
                      <p:cNvPr id="0" name="图片 3117"/>
                      <p:cNvPicPr/>
                      <p:nvPr/>
                    </p:nvPicPr>
                    <p:blipFill>
                      <a:blip r:embed="rId7"/>
                      <a:stretch>
                        <a:fillRect/>
                      </a:stretch>
                    </p:blipFill>
                    <p:spPr>
                      <a:xfrm>
                        <a:off x="2772728" y="1777842"/>
                        <a:ext cx="5243195" cy="357505"/>
                      </a:xfrm>
                      <a:prstGeom prst="rect">
                        <a:avLst/>
                      </a:prstGeom>
                      <a:noFill/>
                      <a:ln w="38100">
                        <a:noFill/>
                        <a:miter/>
                      </a:ln>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5"/>
          <p:cNvSpPr/>
          <p:nvPr/>
        </p:nvSpPr>
        <p:spPr>
          <a:xfrm>
            <a:off x="0" y="2557463"/>
            <a:ext cx="184150" cy="369887"/>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6803" name="Object 4"/>
          <p:cNvGraphicFramePr>
            <a:graphicFrameLocks noChangeAspect="1"/>
          </p:cNvGraphicFramePr>
          <p:nvPr/>
        </p:nvGraphicFramePr>
        <p:xfrm>
          <a:off x="1908175" y="1117600"/>
          <a:ext cx="5184775" cy="506413"/>
        </p:xfrm>
        <a:graphic>
          <a:graphicData uri="http://schemas.openxmlformats.org/presentationml/2006/ole">
            <mc:AlternateContent xmlns:mc="http://schemas.openxmlformats.org/markup-compatibility/2006">
              <mc:Choice xmlns:v="urn:schemas-microsoft-com:vml" Requires="v">
                <p:oleObj r:id="rId2" imgW="2350770" imgH="279400" progId="Equation.DSMT4">
                  <p:embed/>
                </p:oleObj>
              </mc:Choice>
              <mc:Fallback>
                <p:oleObj r:id="rId2" imgW="2350770" imgH="279400" progId="Equation.DSMT4">
                  <p:embed/>
                  <p:pic>
                    <p:nvPicPr>
                      <p:cNvPr id="76803" name="Object 4"/>
                      <p:cNvPicPr/>
                      <p:nvPr/>
                    </p:nvPicPr>
                    <p:blipFill>
                      <a:blip r:embed="rId3"/>
                      <a:stretch>
                        <a:fillRect/>
                      </a:stretch>
                    </p:blipFill>
                    <p:spPr>
                      <a:xfrm>
                        <a:off x="1908175" y="1117600"/>
                        <a:ext cx="5184775" cy="506413"/>
                      </a:xfrm>
                      <a:prstGeom prst="rect">
                        <a:avLst/>
                      </a:prstGeom>
                      <a:noFill/>
                      <a:ln w="38100">
                        <a:noFill/>
                        <a:miter/>
                      </a:ln>
                    </p:spPr>
                  </p:pic>
                </p:oleObj>
              </mc:Fallback>
            </mc:AlternateContent>
          </a:graphicData>
        </a:graphic>
      </p:graphicFrame>
      <p:pic>
        <p:nvPicPr>
          <p:cNvPr id="76804" name="Picture 6"/>
          <p:cNvPicPr>
            <a:picLocks noChangeAspect="1"/>
          </p:cNvPicPr>
          <p:nvPr/>
        </p:nvPicPr>
        <p:blipFill>
          <a:blip r:embed="rId4"/>
          <a:srcRect l="11400" t="25581" r="47156" b="22714"/>
          <a:stretch>
            <a:fillRect/>
          </a:stretch>
        </p:blipFill>
        <p:spPr>
          <a:xfrm>
            <a:off x="461963" y="1722438"/>
            <a:ext cx="2952750" cy="2295525"/>
          </a:xfrm>
          <a:prstGeom prst="rect">
            <a:avLst/>
          </a:prstGeom>
          <a:noFill/>
          <a:ln w="9525">
            <a:noFill/>
          </a:ln>
        </p:spPr>
      </p:pic>
      <p:pic>
        <p:nvPicPr>
          <p:cNvPr id="76805" name="Picture 7"/>
          <p:cNvPicPr>
            <a:picLocks noChangeAspect="1"/>
          </p:cNvPicPr>
          <p:nvPr/>
        </p:nvPicPr>
        <p:blipFill>
          <a:blip r:embed="rId5"/>
          <a:srcRect l="16400" t="44411" r="51862" b="33174"/>
          <a:stretch>
            <a:fillRect/>
          </a:stretch>
        </p:blipFill>
        <p:spPr>
          <a:xfrm>
            <a:off x="3679825" y="1722438"/>
            <a:ext cx="3990975" cy="1822450"/>
          </a:xfrm>
          <a:prstGeom prst="rect">
            <a:avLst/>
          </a:prstGeom>
          <a:noFill/>
          <a:ln w="9525">
            <a:noFill/>
          </a:ln>
        </p:spPr>
      </p:pic>
      <p:pic>
        <p:nvPicPr>
          <p:cNvPr id="34821" name="图片 1"/>
          <p:cNvPicPr>
            <a:picLocks noChangeAspect="1"/>
          </p:cNvPicPr>
          <p:nvPr/>
        </p:nvPicPr>
        <p:blipFill>
          <a:blip r:embed="rId6"/>
          <a:stretch>
            <a:fillRect/>
          </a:stretch>
        </p:blipFill>
        <p:spPr>
          <a:xfrm>
            <a:off x="6002338" y="3678238"/>
            <a:ext cx="1778000" cy="1481137"/>
          </a:xfrm>
          <a:prstGeom prst="rect">
            <a:avLst/>
          </a:prstGeom>
          <a:noFill/>
          <a:ln w="9525">
            <a:noFill/>
          </a:ln>
        </p:spPr>
      </p:pic>
    </p:spTree>
    <p:extLst>
      <p:ext uri="{BB962C8B-B14F-4D97-AF65-F5344CB8AC3E}">
        <p14:creationId xmlns:p14="http://schemas.microsoft.com/office/powerpoint/2010/main" val="7291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6803"/>
                                        </p:tgtEl>
                                        <p:attrNameLst>
                                          <p:attrName>style.visibility</p:attrName>
                                        </p:attrNameLst>
                                      </p:cBhvr>
                                      <p:to>
                                        <p:strVal val="visible"/>
                                      </p:to>
                                    </p:set>
                                    <p:animEffect transition="in" filter="wipe(left)">
                                      <p:cBhvr>
                                        <p:cTn id="7" dur="500"/>
                                        <p:tgtEl>
                                          <p:spTgt spid="7680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dissolve">
                                      <p:cBhvr>
                                        <p:cTn id="12" dur="500"/>
                                        <p:tgtEl>
                                          <p:spTgt spid="7680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6805"/>
                                        </p:tgtEl>
                                        <p:attrNameLst>
                                          <p:attrName>style.visibility</p:attrName>
                                        </p:attrNameLst>
                                      </p:cBhvr>
                                      <p:to>
                                        <p:strVal val="visible"/>
                                      </p:to>
                                    </p:set>
                                    <p:animEffect transition="in" filter="dissolve">
                                      <p:cBhvr>
                                        <p:cTn id="17" dur="500"/>
                                        <p:tgtEl>
                                          <p:spTgt spid="76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 示意图&#10;&#10;AI 生成的内容可能不正确。">
            <a:extLst>
              <a:ext uri="{FF2B5EF4-FFF2-40B4-BE49-F238E27FC236}">
                <a16:creationId xmlns:a16="http://schemas.microsoft.com/office/drawing/2014/main" id="{F4A33520-EB9F-E341-9F37-CBC965D7F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769268"/>
            <a:ext cx="5610225" cy="3600450"/>
          </a:xfrm>
          <a:prstGeom prst="rect">
            <a:avLst/>
          </a:prstGeom>
        </p:spPr>
      </p:pic>
      <p:sp>
        <p:nvSpPr>
          <p:cNvPr id="4" name="文本框 3">
            <a:extLst>
              <a:ext uri="{FF2B5EF4-FFF2-40B4-BE49-F238E27FC236}">
                <a16:creationId xmlns:a16="http://schemas.microsoft.com/office/drawing/2014/main" id="{69CCA226-A618-20D4-4B7D-6F84F357831B}"/>
              </a:ext>
            </a:extLst>
          </p:cNvPr>
          <p:cNvSpPr txBox="1"/>
          <p:nvPr/>
        </p:nvSpPr>
        <p:spPr>
          <a:xfrm>
            <a:off x="179512" y="193204"/>
            <a:ext cx="2973891" cy="369332"/>
          </a:xfrm>
          <a:prstGeom prst="rect">
            <a:avLst/>
          </a:prstGeom>
          <a:noFill/>
        </p:spPr>
        <p:txBody>
          <a:bodyPr wrap="none" rtlCol="0">
            <a:spAutoFit/>
          </a:bodyPr>
          <a:lstStyle/>
          <a:p>
            <a:r>
              <a:rPr lang="zh-CN" altLang="en-US" b="1" i="0" dirty="0">
                <a:solidFill>
                  <a:srgbClr val="0F1115"/>
                </a:solidFill>
                <a:effectLst/>
                <a:latin typeface="quote-cjk-patch"/>
              </a:rPr>
              <a:t>勒克朗谢电池（碳锌电池）</a:t>
            </a:r>
            <a:endParaRPr lang="zh-CN" altLang="en-US" dirty="0"/>
          </a:p>
        </p:txBody>
      </p:sp>
      <p:sp>
        <p:nvSpPr>
          <p:cNvPr id="6" name="文本框 5">
            <a:extLst>
              <a:ext uri="{FF2B5EF4-FFF2-40B4-BE49-F238E27FC236}">
                <a16:creationId xmlns:a16="http://schemas.microsoft.com/office/drawing/2014/main" id="{AD53DE54-22E3-999C-22E6-9FC0299751D1}"/>
              </a:ext>
            </a:extLst>
          </p:cNvPr>
          <p:cNvSpPr txBox="1"/>
          <p:nvPr/>
        </p:nvSpPr>
        <p:spPr>
          <a:xfrm>
            <a:off x="452111" y="4505029"/>
            <a:ext cx="8352928" cy="369332"/>
          </a:xfrm>
          <a:prstGeom prst="rect">
            <a:avLst/>
          </a:prstGeom>
          <a:noFill/>
        </p:spPr>
        <p:txBody>
          <a:bodyPr wrap="square">
            <a:spAutoFit/>
          </a:bodyPr>
          <a:lstStyle/>
          <a:p>
            <a:r>
              <a:rPr lang="zh-CN" altLang="en-US" b="0" i="0" dirty="0">
                <a:solidFill>
                  <a:srgbClr val="0F1115"/>
                </a:solidFill>
                <a:effectLst/>
                <a:latin typeface="Menlo"/>
              </a:rPr>
              <a:t>正极：</a:t>
            </a:r>
            <a:r>
              <a:rPr lang="en-US" altLang="zh-CN" b="0" i="0" dirty="0">
                <a:solidFill>
                  <a:srgbClr val="0F1115"/>
                </a:solidFill>
                <a:effectLst/>
                <a:latin typeface="Menlo"/>
              </a:rPr>
              <a:t>2MnO₂ + 2H₂O + 2e⁻ → 2MnO(OH) + 2OH⁻</a:t>
            </a:r>
            <a:endParaRPr lang="zh-CN" altLang="en-US" dirty="0"/>
          </a:p>
        </p:txBody>
      </p:sp>
      <p:sp>
        <p:nvSpPr>
          <p:cNvPr id="8" name="文本框 7">
            <a:extLst>
              <a:ext uri="{FF2B5EF4-FFF2-40B4-BE49-F238E27FC236}">
                <a16:creationId xmlns:a16="http://schemas.microsoft.com/office/drawing/2014/main" id="{183965BF-04A0-CC7C-5073-4199114B0C14}"/>
              </a:ext>
            </a:extLst>
          </p:cNvPr>
          <p:cNvSpPr txBox="1"/>
          <p:nvPr/>
        </p:nvSpPr>
        <p:spPr>
          <a:xfrm>
            <a:off x="549199" y="5118172"/>
            <a:ext cx="4572000" cy="369332"/>
          </a:xfrm>
          <a:prstGeom prst="rect">
            <a:avLst/>
          </a:prstGeom>
          <a:noFill/>
        </p:spPr>
        <p:txBody>
          <a:bodyPr wrap="square">
            <a:spAutoFit/>
          </a:bodyPr>
          <a:lstStyle/>
          <a:p>
            <a:r>
              <a:rPr lang="zh-CN" altLang="en-US" b="0" i="0" dirty="0">
                <a:solidFill>
                  <a:srgbClr val="0F1115"/>
                </a:solidFill>
                <a:effectLst/>
                <a:latin typeface="quote-cjk-patch"/>
              </a:rPr>
              <a:t>负极：</a:t>
            </a:r>
            <a:r>
              <a:rPr lang="en-US" altLang="zh-CN" b="0" i="0" dirty="0">
                <a:solidFill>
                  <a:srgbClr val="0F1115"/>
                </a:solidFill>
                <a:effectLst/>
                <a:latin typeface="quote-cjk-patch"/>
              </a:rPr>
              <a:t>Zn²⁺ + 2NH₃ + 2Cl⁻ → Zn(NH₃)₂Cl₂(s)</a:t>
            </a:r>
            <a:endParaRPr lang="zh-CN" altLang="en-US" dirty="0"/>
          </a:p>
        </p:txBody>
      </p:sp>
      <p:pic>
        <p:nvPicPr>
          <p:cNvPr id="10" name="图片 9">
            <a:extLst>
              <a:ext uri="{FF2B5EF4-FFF2-40B4-BE49-F238E27FC236}">
                <a16:creationId xmlns:a16="http://schemas.microsoft.com/office/drawing/2014/main" id="{E69D424A-F3BD-923E-A0F9-05883206FB60}"/>
              </a:ext>
            </a:extLst>
          </p:cNvPr>
          <p:cNvPicPr>
            <a:picLocks noChangeAspect="1"/>
          </p:cNvPicPr>
          <p:nvPr/>
        </p:nvPicPr>
        <p:blipFill>
          <a:blip r:embed="rId3"/>
          <a:stretch>
            <a:fillRect/>
          </a:stretch>
        </p:blipFill>
        <p:spPr>
          <a:xfrm>
            <a:off x="5789737" y="4447433"/>
            <a:ext cx="2857899" cy="371527"/>
          </a:xfrm>
          <a:prstGeom prst="rect">
            <a:avLst/>
          </a:prstGeom>
        </p:spPr>
      </p:pic>
      <p:sp>
        <p:nvSpPr>
          <p:cNvPr id="11" name="文本框 10">
            <a:extLst>
              <a:ext uri="{FF2B5EF4-FFF2-40B4-BE49-F238E27FC236}">
                <a16:creationId xmlns:a16="http://schemas.microsoft.com/office/drawing/2014/main" id="{AA5846E4-B84B-24D8-0866-552A08DE45C5}"/>
              </a:ext>
            </a:extLst>
          </p:cNvPr>
          <p:cNvSpPr txBox="1"/>
          <p:nvPr/>
        </p:nvSpPr>
        <p:spPr>
          <a:xfrm>
            <a:off x="5789737" y="5024665"/>
            <a:ext cx="2864887" cy="646331"/>
          </a:xfrm>
          <a:prstGeom prst="rect">
            <a:avLst/>
          </a:prstGeom>
          <a:noFill/>
        </p:spPr>
        <p:txBody>
          <a:bodyPr wrap="none" rtlCol="0">
            <a:spAutoFit/>
          </a:bodyPr>
          <a:lstStyle/>
          <a:p>
            <a:r>
              <a:rPr lang="zh-CN" altLang="en-US" dirty="0"/>
              <a:t>实际约 </a:t>
            </a:r>
            <a:r>
              <a:rPr lang="en-US" altLang="zh-CN" dirty="0"/>
              <a:t>1.5V </a:t>
            </a:r>
            <a:r>
              <a:rPr lang="zh-CN" altLang="en-US" dirty="0"/>
              <a:t>（非标准态）</a:t>
            </a:r>
            <a:endParaRPr lang="en-US" altLang="zh-CN" dirty="0"/>
          </a:p>
          <a:p>
            <a:r>
              <a:rPr lang="zh-CN" altLang="en-US" dirty="0"/>
              <a:t>但使用中降低</a:t>
            </a:r>
          </a:p>
        </p:txBody>
      </p:sp>
      <p:pic>
        <p:nvPicPr>
          <p:cNvPr id="12" name="图片 11" descr="图示&#10;&#10;AI 生成的内容可能不正确。">
            <a:extLst>
              <a:ext uri="{FF2B5EF4-FFF2-40B4-BE49-F238E27FC236}">
                <a16:creationId xmlns:a16="http://schemas.microsoft.com/office/drawing/2014/main" id="{4A7F0BB3-DE23-E17D-EAF6-53D744F5A4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3993" y="1216309"/>
            <a:ext cx="3196819" cy="2133348"/>
          </a:xfrm>
          <a:prstGeom prst="rect">
            <a:avLst/>
          </a:prstGeom>
        </p:spPr>
      </p:pic>
    </p:spTree>
    <p:extLst>
      <p:ext uri="{BB962C8B-B14F-4D97-AF65-F5344CB8AC3E}">
        <p14:creationId xmlns:p14="http://schemas.microsoft.com/office/powerpoint/2010/main" val="32049550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表&#10;&#10;AI 生成的内容可能不正确。">
            <a:extLst>
              <a:ext uri="{FF2B5EF4-FFF2-40B4-BE49-F238E27FC236}">
                <a16:creationId xmlns:a16="http://schemas.microsoft.com/office/drawing/2014/main" id="{8869D8B7-87AB-C8FC-BAA9-BF2E9678C6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1640" y="49188"/>
            <a:ext cx="6012160" cy="3384737"/>
          </a:xfrm>
          <a:prstGeom prst="rect">
            <a:avLst/>
          </a:prstGeom>
        </p:spPr>
      </p:pic>
      <p:pic>
        <p:nvPicPr>
          <p:cNvPr id="6" name="图片 5" descr="图示, 示意图&#10;&#10;AI 生成的内容可能不正确。">
            <a:extLst>
              <a:ext uri="{FF2B5EF4-FFF2-40B4-BE49-F238E27FC236}">
                <a16:creationId xmlns:a16="http://schemas.microsoft.com/office/drawing/2014/main" id="{A7621F94-F847-0745-0A14-C8311E85CD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5756" y="3511175"/>
            <a:ext cx="3923928" cy="2126374"/>
          </a:xfrm>
          <a:prstGeom prst="rect">
            <a:avLst/>
          </a:prstGeom>
        </p:spPr>
      </p:pic>
    </p:spTree>
    <p:extLst>
      <p:ext uri="{BB962C8B-B14F-4D97-AF65-F5344CB8AC3E}">
        <p14:creationId xmlns:p14="http://schemas.microsoft.com/office/powerpoint/2010/main" val="34704355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D2BBC5-9F03-432D-7B7F-AAFF850D5A4E}"/>
              </a:ext>
            </a:extLst>
          </p:cNvPr>
          <p:cNvSpPr txBox="1"/>
          <p:nvPr/>
        </p:nvSpPr>
        <p:spPr>
          <a:xfrm>
            <a:off x="395536" y="265212"/>
            <a:ext cx="1338828" cy="369332"/>
          </a:xfrm>
          <a:prstGeom prst="rect">
            <a:avLst/>
          </a:prstGeom>
          <a:noFill/>
        </p:spPr>
        <p:txBody>
          <a:bodyPr wrap="none" rtlCol="0">
            <a:spAutoFit/>
          </a:bodyPr>
          <a:lstStyle/>
          <a:p>
            <a:r>
              <a:rPr lang="zh-CN" altLang="en-US" dirty="0"/>
              <a:t>碱性干电池</a:t>
            </a:r>
          </a:p>
        </p:txBody>
      </p:sp>
      <p:sp>
        <p:nvSpPr>
          <p:cNvPr id="7" name="AutoShape 2" descr="碱性电池结构示意图PNG图片素材下载_图片编号4563551-PNG素材网">
            <a:extLst>
              <a:ext uri="{FF2B5EF4-FFF2-40B4-BE49-F238E27FC236}">
                <a16:creationId xmlns:a16="http://schemas.microsoft.com/office/drawing/2014/main" id="{61707D1D-2478-91CD-86BE-B95C18E83A25}"/>
              </a:ext>
            </a:extLst>
          </p:cNvPr>
          <p:cNvSpPr>
            <a:spLocks noChangeAspect="1" noChangeArrowheads="1"/>
          </p:cNvSpPr>
          <p:nvPr/>
        </p:nvSpPr>
        <p:spPr bwMode="auto">
          <a:xfrm>
            <a:off x="4419600" y="2705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descr="图示&#10;&#10;AI 生成的内容可能不正确。">
            <a:extLst>
              <a:ext uri="{FF2B5EF4-FFF2-40B4-BE49-F238E27FC236}">
                <a16:creationId xmlns:a16="http://schemas.microsoft.com/office/drawing/2014/main" id="{53F7DC29-E7B9-5612-200E-C90592BB1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04" y="1405379"/>
            <a:ext cx="2716562" cy="2705100"/>
          </a:xfrm>
          <a:prstGeom prst="rect">
            <a:avLst/>
          </a:prstGeom>
        </p:spPr>
      </p:pic>
      <p:pic>
        <p:nvPicPr>
          <p:cNvPr id="11" name="图片 10" descr="图示&#10;&#10;AI 生成的内容可能不正确。">
            <a:extLst>
              <a:ext uri="{FF2B5EF4-FFF2-40B4-BE49-F238E27FC236}">
                <a16:creationId xmlns:a16="http://schemas.microsoft.com/office/drawing/2014/main" id="{1D63A3C9-075B-1F82-F09A-A4D94CE84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0"/>
            <a:ext cx="4812632" cy="5715000"/>
          </a:xfrm>
          <a:prstGeom prst="rect">
            <a:avLst/>
          </a:prstGeom>
        </p:spPr>
      </p:pic>
      <p:cxnSp>
        <p:nvCxnSpPr>
          <p:cNvPr id="13" name="直接箭头连接符 12">
            <a:extLst>
              <a:ext uri="{FF2B5EF4-FFF2-40B4-BE49-F238E27FC236}">
                <a16:creationId xmlns:a16="http://schemas.microsoft.com/office/drawing/2014/main" id="{D2E0E841-EE63-9F6A-C232-9A0ACF3628A0}"/>
              </a:ext>
            </a:extLst>
          </p:cNvPr>
          <p:cNvCxnSpPr/>
          <p:nvPr/>
        </p:nvCxnSpPr>
        <p:spPr>
          <a:xfrm flipH="1">
            <a:off x="7380312" y="913284"/>
            <a:ext cx="720080" cy="576064"/>
          </a:xfrm>
          <a:prstGeom prst="straightConnector1">
            <a:avLst/>
          </a:prstGeom>
          <a:ln w="76200">
            <a:solidFill>
              <a:srgbClr val="99FF9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19A4DBDE-64EC-59A0-1E63-9DD89CF4431A}"/>
              </a:ext>
            </a:extLst>
          </p:cNvPr>
          <p:cNvCxnSpPr>
            <a:cxnSpLocks/>
          </p:cNvCxnSpPr>
          <p:nvPr/>
        </p:nvCxnSpPr>
        <p:spPr>
          <a:xfrm flipH="1" flipV="1">
            <a:off x="6876256" y="3145532"/>
            <a:ext cx="1296144" cy="360040"/>
          </a:xfrm>
          <a:prstGeom prst="straightConnector1">
            <a:avLst/>
          </a:prstGeom>
          <a:ln w="76200">
            <a:solidFill>
              <a:srgbClr val="99FF99"/>
            </a:solidFill>
            <a:tailEnd type="triangle"/>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03331925-B8E1-BD96-13B9-59EC80D82072}"/>
              </a:ext>
            </a:extLst>
          </p:cNvPr>
          <p:cNvPicPr>
            <a:picLocks noChangeAspect="1"/>
          </p:cNvPicPr>
          <p:nvPr/>
        </p:nvPicPr>
        <p:blipFill>
          <a:blip r:embed="rId4"/>
          <a:stretch>
            <a:fillRect/>
          </a:stretch>
        </p:blipFill>
        <p:spPr>
          <a:xfrm>
            <a:off x="467544" y="4364975"/>
            <a:ext cx="3010320" cy="371527"/>
          </a:xfrm>
          <a:prstGeom prst="rect">
            <a:avLst/>
          </a:prstGeom>
        </p:spPr>
      </p:pic>
      <p:pic>
        <p:nvPicPr>
          <p:cNvPr id="19" name="图片 18">
            <a:extLst>
              <a:ext uri="{FF2B5EF4-FFF2-40B4-BE49-F238E27FC236}">
                <a16:creationId xmlns:a16="http://schemas.microsoft.com/office/drawing/2014/main" id="{D53669BB-F6FE-EACE-64F0-F588C4051518}"/>
              </a:ext>
            </a:extLst>
          </p:cNvPr>
          <p:cNvPicPr>
            <a:picLocks noChangeAspect="1"/>
          </p:cNvPicPr>
          <p:nvPr/>
        </p:nvPicPr>
        <p:blipFill>
          <a:blip r:embed="rId5"/>
          <a:stretch>
            <a:fillRect/>
          </a:stretch>
        </p:blipFill>
        <p:spPr>
          <a:xfrm>
            <a:off x="179512" y="889040"/>
            <a:ext cx="3934374" cy="342948"/>
          </a:xfrm>
          <a:prstGeom prst="rect">
            <a:avLst/>
          </a:prstGeom>
        </p:spPr>
      </p:pic>
      <p:pic>
        <p:nvPicPr>
          <p:cNvPr id="21" name="图片 20">
            <a:extLst>
              <a:ext uri="{FF2B5EF4-FFF2-40B4-BE49-F238E27FC236}">
                <a16:creationId xmlns:a16="http://schemas.microsoft.com/office/drawing/2014/main" id="{4EBB5BD3-5C5E-77E4-A828-F3EDDD706D3A}"/>
              </a:ext>
            </a:extLst>
          </p:cNvPr>
          <p:cNvPicPr>
            <a:picLocks noChangeAspect="1"/>
          </p:cNvPicPr>
          <p:nvPr/>
        </p:nvPicPr>
        <p:blipFill>
          <a:blip r:embed="rId6"/>
          <a:stretch>
            <a:fillRect/>
          </a:stretch>
        </p:blipFill>
        <p:spPr>
          <a:xfrm>
            <a:off x="1074851" y="4848347"/>
            <a:ext cx="2734057" cy="352474"/>
          </a:xfrm>
          <a:prstGeom prst="rect">
            <a:avLst/>
          </a:prstGeom>
        </p:spPr>
      </p:pic>
      <p:sp>
        <p:nvSpPr>
          <p:cNvPr id="22" name="文本框 21">
            <a:extLst>
              <a:ext uri="{FF2B5EF4-FFF2-40B4-BE49-F238E27FC236}">
                <a16:creationId xmlns:a16="http://schemas.microsoft.com/office/drawing/2014/main" id="{4359EACA-2B9F-443D-3254-4AEB0D217D4D}"/>
              </a:ext>
            </a:extLst>
          </p:cNvPr>
          <p:cNvSpPr txBox="1"/>
          <p:nvPr/>
        </p:nvSpPr>
        <p:spPr>
          <a:xfrm>
            <a:off x="62108" y="538369"/>
            <a:ext cx="646331" cy="369332"/>
          </a:xfrm>
          <a:prstGeom prst="rect">
            <a:avLst/>
          </a:prstGeom>
          <a:noFill/>
        </p:spPr>
        <p:txBody>
          <a:bodyPr wrap="none" rtlCol="0">
            <a:spAutoFit/>
          </a:bodyPr>
          <a:lstStyle/>
          <a:p>
            <a:r>
              <a:rPr lang="zh-CN" altLang="en-US" dirty="0"/>
              <a:t>正极</a:t>
            </a:r>
          </a:p>
        </p:txBody>
      </p:sp>
      <p:sp>
        <p:nvSpPr>
          <p:cNvPr id="23" name="文本框 22">
            <a:extLst>
              <a:ext uri="{FF2B5EF4-FFF2-40B4-BE49-F238E27FC236}">
                <a16:creationId xmlns:a16="http://schemas.microsoft.com/office/drawing/2014/main" id="{ED7000DD-BA78-7069-57AC-597674916953}"/>
              </a:ext>
            </a:extLst>
          </p:cNvPr>
          <p:cNvSpPr txBox="1"/>
          <p:nvPr/>
        </p:nvSpPr>
        <p:spPr>
          <a:xfrm>
            <a:off x="62108" y="4008279"/>
            <a:ext cx="646331" cy="369332"/>
          </a:xfrm>
          <a:prstGeom prst="rect">
            <a:avLst/>
          </a:prstGeom>
          <a:noFill/>
        </p:spPr>
        <p:txBody>
          <a:bodyPr wrap="none" rtlCol="0">
            <a:spAutoFit/>
          </a:bodyPr>
          <a:lstStyle/>
          <a:p>
            <a:r>
              <a:rPr lang="zh-CN" altLang="en-US" dirty="0"/>
              <a:t>负极</a:t>
            </a:r>
          </a:p>
        </p:txBody>
      </p:sp>
      <p:sp>
        <p:nvSpPr>
          <p:cNvPr id="24" name="文本框 23">
            <a:extLst>
              <a:ext uri="{FF2B5EF4-FFF2-40B4-BE49-F238E27FC236}">
                <a16:creationId xmlns:a16="http://schemas.microsoft.com/office/drawing/2014/main" id="{6046291E-C2BD-4A2C-7E7D-9A0EB9D992E0}"/>
              </a:ext>
            </a:extLst>
          </p:cNvPr>
          <p:cNvSpPr txBox="1"/>
          <p:nvPr/>
        </p:nvSpPr>
        <p:spPr>
          <a:xfrm>
            <a:off x="84459" y="4788282"/>
            <a:ext cx="877163" cy="369332"/>
          </a:xfrm>
          <a:prstGeom prst="rect">
            <a:avLst/>
          </a:prstGeom>
          <a:noFill/>
        </p:spPr>
        <p:txBody>
          <a:bodyPr wrap="none" rtlCol="0">
            <a:spAutoFit/>
          </a:bodyPr>
          <a:lstStyle/>
          <a:p>
            <a:r>
              <a:rPr lang="zh-CN" altLang="en-US" dirty="0"/>
              <a:t>总反应</a:t>
            </a:r>
          </a:p>
        </p:txBody>
      </p:sp>
      <p:pic>
        <p:nvPicPr>
          <p:cNvPr id="26" name="图片 25">
            <a:extLst>
              <a:ext uri="{FF2B5EF4-FFF2-40B4-BE49-F238E27FC236}">
                <a16:creationId xmlns:a16="http://schemas.microsoft.com/office/drawing/2014/main" id="{B0543EBD-1429-1677-177A-1C64502BE3F6}"/>
              </a:ext>
            </a:extLst>
          </p:cNvPr>
          <p:cNvPicPr>
            <a:picLocks noChangeAspect="1"/>
          </p:cNvPicPr>
          <p:nvPr/>
        </p:nvPicPr>
        <p:blipFill>
          <a:blip r:embed="rId7"/>
          <a:stretch>
            <a:fillRect/>
          </a:stretch>
        </p:blipFill>
        <p:spPr>
          <a:xfrm>
            <a:off x="323528" y="5249735"/>
            <a:ext cx="3096057" cy="400106"/>
          </a:xfrm>
          <a:prstGeom prst="rect">
            <a:avLst/>
          </a:prstGeom>
        </p:spPr>
      </p:pic>
    </p:spTree>
    <p:extLst>
      <p:ext uri="{BB962C8B-B14F-4D97-AF65-F5344CB8AC3E}">
        <p14:creationId xmlns:p14="http://schemas.microsoft.com/office/powerpoint/2010/main" val="4403895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2EB66B8-0545-B7DE-2EC8-4F09949E9A08}"/>
              </a:ext>
            </a:extLst>
          </p:cNvPr>
          <p:cNvSpPr txBox="1"/>
          <p:nvPr/>
        </p:nvSpPr>
        <p:spPr>
          <a:xfrm>
            <a:off x="179512" y="121196"/>
            <a:ext cx="1338828" cy="369332"/>
          </a:xfrm>
          <a:prstGeom prst="rect">
            <a:avLst/>
          </a:prstGeom>
          <a:noFill/>
        </p:spPr>
        <p:txBody>
          <a:bodyPr wrap="none" rtlCol="0">
            <a:spAutoFit/>
          </a:bodyPr>
          <a:lstStyle/>
          <a:p>
            <a:r>
              <a:rPr lang="zh-CN" altLang="en-US" dirty="0"/>
              <a:t>锂离子电池</a:t>
            </a:r>
          </a:p>
        </p:txBody>
      </p:sp>
      <p:pic>
        <p:nvPicPr>
          <p:cNvPr id="43010" name="Picture 2" descr="锂离子电池的工作原理图片素材-正版创意图片402383148-摄图网">
            <a:extLst>
              <a:ext uri="{FF2B5EF4-FFF2-40B4-BE49-F238E27FC236}">
                <a16:creationId xmlns:a16="http://schemas.microsoft.com/office/drawing/2014/main" id="{A2748E51-F8B3-A191-6663-5A08DFD52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895350"/>
            <a:ext cx="8191500"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1430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锂离子电池">
            <a:extLst>
              <a:ext uri="{FF2B5EF4-FFF2-40B4-BE49-F238E27FC236}">
                <a16:creationId xmlns:a16="http://schemas.microsoft.com/office/drawing/2014/main" id="{23E4FF28-98E4-A064-257B-28740D2A5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213" y="0"/>
            <a:ext cx="5741987" cy="57150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E1810F6B-D808-0C31-6353-775D3447A968}"/>
              </a:ext>
            </a:extLst>
          </p:cNvPr>
          <p:cNvSpPr txBox="1"/>
          <p:nvPr/>
        </p:nvSpPr>
        <p:spPr>
          <a:xfrm>
            <a:off x="4991249" y="5089748"/>
            <a:ext cx="1584176" cy="369332"/>
          </a:xfrm>
          <a:prstGeom prst="rect">
            <a:avLst/>
          </a:prstGeom>
          <a:noFill/>
        </p:spPr>
        <p:txBody>
          <a:bodyPr wrap="square">
            <a:spAutoFit/>
          </a:bodyPr>
          <a:lstStyle/>
          <a:p>
            <a:r>
              <a:rPr lang="en-US" altLang="zh-CN" b="0" i="0" dirty="0">
                <a:solidFill>
                  <a:srgbClr val="0F1115"/>
                </a:solidFill>
                <a:effectLst/>
                <a:latin typeface="quote-cjk-patch"/>
              </a:rPr>
              <a:t>3.9 V vs. Li+/Li</a:t>
            </a:r>
            <a:endParaRPr lang="zh-CN" altLang="en-US" dirty="0"/>
          </a:p>
        </p:txBody>
      </p:sp>
      <p:sp>
        <p:nvSpPr>
          <p:cNvPr id="5" name="文本框 4">
            <a:extLst>
              <a:ext uri="{FF2B5EF4-FFF2-40B4-BE49-F238E27FC236}">
                <a16:creationId xmlns:a16="http://schemas.microsoft.com/office/drawing/2014/main" id="{0D479E46-CAB1-F0C8-1C0B-DE27BDA8126A}"/>
              </a:ext>
            </a:extLst>
          </p:cNvPr>
          <p:cNvSpPr txBox="1"/>
          <p:nvPr/>
        </p:nvSpPr>
        <p:spPr>
          <a:xfrm>
            <a:off x="2775272" y="5089748"/>
            <a:ext cx="1795934" cy="369332"/>
          </a:xfrm>
          <a:prstGeom prst="rect">
            <a:avLst/>
          </a:prstGeom>
          <a:noFill/>
        </p:spPr>
        <p:txBody>
          <a:bodyPr wrap="square">
            <a:spAutoFit/>
          </a:bodyPr>
          <a:lstStyle/>
          <a:p>
            <a:r>
              <a:rPr lang="en-US" altLang="zh-CN" b="0" i="0" dirty="0">
                <a:solidFill>
                  <a:srgbClr val="0F1115"/>
                </a:solidFill>
                <a:effectLst/>
                <a:latin typeface="quote-cjk-patch"/>
              </a:rPr>
              <a:t>0 V vs. Li+/Li</a:t>
            </a:r>
            <a:endParaRPr lang="zh-CN" altLang="en-US" dirty="0"/>
          </a:p>
        </p:txBody>
      </p:sp>
    </p:spTree>
    <p:extLst>
      <p:ext uri="{BB962C8B-B14F-4D97-AF65-F5344CB8AC3E}">
        <p14:creationId xmlns:p14="http://schemas.microsoft.com/office/powerpoint/2010/main" val="753054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650E48D-0EF2-C655-BEFB-950190C9E836}"/>
              </a:ext>
            </a:extLst>
          </p:cNvPr>
          <p:cNvPicPr>
            <a:picLocks noChangeAspect="1"/>
          </p:cNvPicPr>
          <p:nvPr/>
        </p:nvPicPr>
        <p:blipFill>
          <a:blip r:embed="rId2"/>
          <a:stretch>
            <a:fillRect/>
          </a:stretch>
        </p:blipFill>
        <p:spPr>
          <a:xfrm>
            <a:off x="609047" y="1247550"/>
            <a:ext cx="7925906" cy="3219899"/>
          </a:xfrm>
          <a:prstGeom prst="rect">
            <a:avLst/>
          </a:prstGeom>
        </p:spPr>
      </p:pic>
      <p:sp>
        <p:nvSpPr>
          <p:cNvPr id="4" name="文本框 3">
            <a:extLst>
              <a:ext uri="{FF2B5EF4-FFF2-40B4-BE49-F238E27FC236}">
                <a16:creationId xmlns:a16="http://schemas.microsoft.com/office/drawing/2014/main" id="{8D815BFF-35FC-3D4F-EEE6-8955E7E1110C}"/>
              </a:ext>
            </a:extLst>
          </p:cNvPr>
          <p:cNvSpPr txBox="1"/>
          <p:nvPr/>
        </p:nvSpPr>
        <p:spPr>
          <a:xfrm>
            <a:off x="609047" y="625252"/>
            <a:ext cx="1338828" cy="369332"/>
          </a:xfrm>
          <a:prstGeom prst="rect">
            <a:avLst/>
          </a:prstGeom>
          <a:noFill/>
        </p:spPr>
        <p:txBody>
          <a:bodyPr wrap="none" rtlCol="0">
            <a:spAutoFit/>
          </a:bodyPr>
          <a:lstStyle/>
          <a:p>
            <a:r>
              <a:rPr lang="zh-CN" altLang="en-US" dirty="0"/>
              <a:t>阳极材料：</a:t>
            </a:r>
          </a:p>
        </p:txBody>
      </p:sp>
    </p:spTree>
    <p:extLst>
      <p:ext uri="{BB962C8B-B14F-4D97-AF65-F5344CB8AC3E}">
        <p14:creationId xmlns:p14="http://schemas.microsoft.com/office/powerpoint/2010/main" val="26523815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2" descr="http://tupian.sucaitianxia.com/images/004/pic3167.jpg"/>
          <p:cNvPicPr>
            <a:picLocks noChangeAspect="1"/>
          </p:cNvPicPr>
          <p:nvPr/>
        </p:nvPicPr>
        <p:blipFill>
          <a:blip r:embed="rId2"/>
          <a:srcRect l="4556" r="12109"/>
          <a:stretch>
            <a:fillRect/>
          </a:stretch>
        </p:blipFill>
        <p:spPr>
          <a:xfrm>
            <a:off x="0" y="0"/>
            <a:ext cx="9144000" cy="5715000"/>
          </a:xfrm>
          <a:prstGeom prst="rect">
            <a:avLst/>
          </a:prstGeom>
          <a:noFill/>
          <a:ln w="9525">
            <a:noFill/>
          </a:ln>
        </p:spPr>
      </p:pic>
      <p:sp>
        <p:nvSpPr>
          <p:cNvPr id="97283" name="WordArt 3"/>
          <p:cNvSpPr/>
          <p:nvPr/>
        </p:nvSpPr>
        <p:spPr>
          <a:xfrm>
            <a:off x="6156325" y="4298950"/>
            <a:ext cx="2519363" cy="1198563"/>
          </a:xfrm>
          <a:prstGeom prst="rect">
            <a:avLst/>
          </a:prstGeom>
        </p:spPr>
        <p:txBody>
          <a:bodyPr wrap="none" fromWordArt="1">
            <a:prstTxWarp prst="textDeflate">
              <a:avLst>
                <a:gd name="adj" fmla="val 26227"/>
              </a:avLst>
            </a:prstTxWarp>
            <a:normAutofit/>
          </a:bodyPr>
          <a:lstStyle/>
          <a:p>
            <a:pPr algn="ctr"/>
            <a:r>
              <a:rPr lang="zh-CN" altLang="en-US" sz="4000" b="1">
                <a:ln w="9525" cap="flat" cmpd="sng">
                  <a:solidFill>
                    <a:srgbClr val="000000"/>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The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diamond(in)">
                                      <p:cBhvr>
                                        <p:cTn id="7" dur="500"/>
                                        <p:tgtEl>
                                          <p:spTgt spid="9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ph idx="1"/>
          </p:nvPr>
        </p:nvSpPr>
        <p:spPr>
          <a:xfrm>
            <a:off x="468313" y="1298575"/>
            <a:ext cx="8064500" cy="3929063"/>
          </a:xfrm>
        </p:spPr>
        <p:txBody>
          <a:bodyPr vert="horz" wrap="square" lIns="91440" tIns="45720" rIns="91440" bIns="45720" anchor="t" anchorCtr="0"/>
          <a:lstStyle/>
          <a:p>
            <a:pPr eaLnBrk="1" hangingPunct="1">
              <a:lnSpc>
                <a:spcPts val="3000"/>
              </a:lnSpc>
            </a:pPr>
            <a:r>
              <a:rPr lang="zh-CN" altLang="en-US" sz="2400" b="1" dirty="0">
                <a:hlinkClick r:id="rId2" action="ppaction://hlinkfile"/>
              </a:rPr>
              <a:t>电解的基本原理</a:t>
            </a:r>
            <a:endParaRPr lang="zh-CN" altLang="en-US" sz="2400" b="1" dirty="0"/>
          </a:p>
          <a:p>
            <a:pPr eaLnBrk="1" hangingPunct="1">
              <a:lnSpc>
                <a:spcPts val="3000"/>
              </a:lnSpc>
            </a:pPr>
            <a:r>
              <a:rPr lang="zh-CN" altLang="en-US" sz="2400" b="1" dirty="0"/>
              <a:t>电解与电解池</a:t>
            </a:r>
          </a:p>
          <a:p>
            <a:pPr eaLnBrk="1" hangingPunct="1">
              <a:lnSpc>
                <a:spcPts val="3000"/>
              </a:lnSpc>
            </a:pPr>
            <a:r>
              <a:rPr lang="zh-CN" altLang="en-US" sz="2400" b="1" dirty="0"/>
              <a:t>      使电流通过电解质溶液</a:t>
            </a:r>
            <a:r>
              <a:rPr lang="en-US" altLang="zh-CN" sz="2400" b="1" dirty="0"/>
              <a:t>(</a:t>
            </a:r>
            <a:r>
              <a:rPr lang="zh-CN" altLang="en-US" sz="2400" b="1" dirty="0"/>
              <a:t>或熔融电解质</a:t>
            </a:r>
            <a:r>
              <a:rPr lang="en-US" altLang="zh-CN" sz="2400" b="1" dirty="0"/>
              <a:t>)</a:t>
            </a:r>
            <a:r>
              <a:rPr lang="zh-CN" altLang="en-US" sz="2400" b="1" dirty="0"/>
              <a:t>而引起的氧化还原反应过程称为</a:t>
            </a:r>
            <a:r>
              <a:rPr lang="zh-CN" altLang="en-US" sz="2400" b="1" dirty="0">
                <a:solidFill>
                  <a:srgbClr val="FF0000"/>
                </a:solidFill>
              </a:rPr>
              <a:t>电解</a:t>
            </a:r>
            <a:r>
              <a:rPr lang="zh-CN" altLang="en-US" sz="2400" b="1" dirty="0"/>
              <a:t>。</a:t>
            </a:r>
            <a:endParaRPr lang="en-US" altLang="zh-CN" sz="2400" b="1" dirty="0"/>
          </a:p>
          <a:p>
            <a:pPr eaLnBrk="1" hangingPunct="1">
              <a:lnSpc>
                <a:spcPts val="3000"/>
              </a:lnSpc>
            </a:pPr>
            <a:r>
              <a:rPr lang="zh-CN" altLang="en-US" sz="2400" b="1" dirty="0"/>
              <a:t>      通过氧化还原反应将电能转变为化学能的装置称为</a:t>
            </a:r>
            <a:r>
              <a:rPr lang="zh-CN" altLang="en-US" sz="2400" b="1" dirty="0">
                <a:solidFill>
                  <a:srgbClr val="FF0000"/>
                </a:solidFill>
              </a:rPr>
              <a:t>电解池</a:t>
            </a:r>
            <a:r>
              <a:rPr lang="en-US" altLang="zh-CN" sz="2400" b="1" dirty="0">
                <a:solidFill>
                  <a:srgbClr val="FF0000"/>
                </a:solidFill>
              </a:rPr>
              <a:t>(</a:t>
            </a:r>
            <a:r>
              <a:rPr lang="zh-CN" altLang="en-US" sz="2400" b="1" dirty="0">
                <a:solidFill>
                  <a:srgbClr val="FF0000"/>
                </a:solidFill>
              </a:rPr>
              <a:t>或电解槽</a:t>
            </a:r>
            <a:r>
              <a:rPr lang="en-US" altLang="zh-CN" sz="2400" b="1" dirty="0"/>
              <a:t>)</a:t>
            </a:r>
            <a:r>
              <a:rPr lang="zh-CN" altLang="en-US" sz="2400" b="1" dirty="0"/>
              <a:t>。</a:t>
            </a:r>
            <a:endParaRPr lang="en-US" altLang="zh-CN" sz="2400" b="1" dirty="0"/>
          </a:p>
          <a:p>
            <a:pPr eaLnBrk="1" hangingPunct="1">
              <a:lnSpc>
                <a:spcPts val="3600"/>
              </a:lnSpc>
            </a:pPr>
            <a:r>
              <a:rPr lang="zh-CN" altLang="en-US" sz="2400" b="1" dirty="0"/>
              <a:t>      要使电解池正常工作，必须外加一定电压，使电解顺利进行。能使电解顺利进行所必需的电压称为</a:t>
            </a:r>
            <a:r>
              <a:rPr lang="zh-CN" altLang="en-US" sz="2400" b="1" dirty="0">
                <a:solidFill>
                  <a:srgbClr val="FF0000"/>
                </a:solidFill>
              </a:rPr>
              <a:t>分解电压</a:t>
            </a:r>
            <a:r>
              <a:rPr lang="zh-CN" altLang="en-US" sz="2400" b="1" dirty="0"/>
              <a:t>。</a:t>
            </a:r>
            <a:endParaRPr lang="zh-CN" altLang="zh-CN" sz="2400" b="1" dirty="0"/>
          </a:p>
        </p:txBody>
      </p:sp>
      <p:pic>
        <p:nvPicPr>
          <p:cNvPr id="74754" name="Picture 6" descr="next"/>
          <p:cNvPicPr>
            <a:picLocks noChangeAspect="1"/>
          </p:cNvPicPr>
          <p:nvPr/>
        </p:nvPicPr>
        <p:blipFill>
          <a:blip r:embed="rId3"/>
          <a:stretch>
            <a:fillRect/>
          </a:stretch>
        </p:blipFill>
        <p:spPr>
          <a:xfrm>
            <a:off x="8172450" y="4957763"/>
            <a:ext cx="515938" cy="447675"/>
          </a:xfrm>
          <a:prstGeom prst="rect">
            <a:avLst/>
          </a:prstGeom>
          <a:noFill/>
          <a:ln w="9525">
            <a:noFill/>
          </a:ln>
        </p:spPr>
      </p:pic>
      <p:sp>
        <p:nvSpPr>
          <p:cNvPr id="5" name="Rectangle 10"/>
          <p:cNvSpPr>
            <a:spLocks noRot="1" noChangeArrowheads="1"/>
          </p:cNvSpPr>
          <p:nvPr/>
        </p:nvSpPr>
        <p:spPr bwMode="auto">
          <a:xfrm>
            <a:off x="0" y="357188"/>
            <a:ext cx="9144000" cy="600075"/>
          </a:xfrm>
          <a:prstGeom prst="rect">
            <a:avLst/>
          </a:prstGeom>
          <a:solidFill>
            <a:srgbClr val="008000"/>
          </a:soli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FFCC"/>
                </a:solidFill>
                <a:effectLst/>
                <a:uLnTx/>
                <a:uFillTx/>
                <a:latin typeface="Times New Roman" panose="02020603050405020304" pitchFamily="18" charset="0"/>
                <a:ea typeface="宋体" panose="02010600030101010101" pitchFamily="2" charset="-122"/>
                <a:cs typeface="+mn-cs"/>
              </a:rPr>
              <a:t>§</a:t>
            </a:r>
            <a:r>
              <a:rPr kumimoji="0" lang="en-US" altLang="zh-CN" sz="32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4.4 </a:t>
            </a:r>
            <a:r>
              <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电解的基本原理及应用</a:t>
            </a:r>
            <a:endParaRPr kumimoji="0" lang="zh-CN" altLang="zh-CN" sz="32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459">
                                            <p:txEl>
                                              <p:pRg st="0" end="0"/>
                                            </p:txEl>
                                          </p:spTgt>
                                        </p:tgtEl>
                                        <p:attrNameLst>
                                          <p:attrName>style.visibility</p:attrName>
                                        </p:attrNameLst>
                                      </p:cBhvr>
                                      <p:to>
                                        <p:strVal val="visible"/>
                                      </p:to>
                                    </p:set>
                                    <p:animEffect transition="in" filter="wipe(left)">
                                      <p:cBhvr>
                                        <p:cTn id="16" dur="500"/>
                                        <p:tgtEl>
                                          <p:spTgt spid="1945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9459">
                                            <p:txEl>
                                              <p:pRg st="1" end="1"/>
                                            </p:txEl>
                                          </p:spTgt>
                                        </p:tgtEl>
                                        <p:attrNameLst>
                                          <p:attrName>style.visibility</p:attrName>
                                        </p:attrNameLst>
                                      </p:cBhvr>
                                      <p:to>
                                        <p:strVal val="visible"/>
                                      </p:to>
                                    </p:set>
                                    <p:animEffect transition="in" filter="wipe(left)">
                                      <p:cBhvr>
                                        <p:cTn id="21" dur="500"/>
                                        <p:tgtEl>
                                          <p:spTgt spid="1945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459">
                                            <p:txEl>
                                              <p:pRg st="2" end="2"/>
                                            </p:txEl>
                                          </p:spTgt>
                                        </p:tgtEl>
                                        <p:attrNameLst>
                                          <p:attrName>style.visibility</p:attrName>
                                        </p:attrNameLst>
                                      </p:cBhvr>
                                      <p:to>
                                        <p:strVal val="visible"/>
                                      </p:to>
                                    </p:set>
                                    <p:animEffect transition="in" filter="wipe(left)">
                                      <p:cBhvr>
                                        <p:cTn id="26" dur="500"/>
                                        <p:tgtEl>
                                          <p:spTgt spid="1945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459">
                                            <p:txEl>
                                              <p:pRg st="3" end="3"/>
                                            </p:txEl>
                                          </p:spTgt>
                                        </p:tgtEl>
                                        <p:attrNameLst>
                                          <p:attrName>style.visibility</p:attrName>
                                        </p:attrNameLst>
                                      </p:cBhvr>
                                      <p:to>
                                        <p:strVal val="visible"/>
                                      </p:to>
                                    </p:set>
                                    <p:animEffect transition="in" filter="wipe(left)">
                                      <p:cBhvr>
                                        <p:cTn id="31" dur="500"/>
                                        <p:tgtEl>
                                          <p:spTgt spid="19459">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459">
                                            <p:txEl>
                                              <p:pRg st="4" end="4"/>
                                            </p:txEl>
                                          </p:spTgt>
                                        </p:tgtEl>
                                        <p:attrNameLst>
                                          <p:attrName>style.visibility</p:attrName>
                                        </p:attrNameLst>
                                      </p:cBhvr>
                                      <p:to>
                                        <p:strVal val="visible"/>
                                      </p:to>
                                    </p:set>
                                    <p:animEffect transition="in" filter="wipe(left)">
                                      <p:cBhvr>
                                        <p:cTn id="36"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内容占位符 2"/>
          <p:cNvSpPr>
            <a:spLocks noGrp="1"/>
          </p:cNvSpPr>
          <p:nvPr>
            <p:ph idx="4294967295"/>
          </p:nvPr>
        </p:nvSpPr>
        <p:spPr>
          <a:xfrm>
            <a:off x="468313" y="1633538"/>
            <a:ext cx="8318500" cy="2379662"/>
          </a:xfrm>
          <a:solidFill>
            <a:srgbClr val="FFC000"/>
          </a:solidFill>
        </p:spPr>
        <p:txBody>
          <a:bodyPr vert="horz" wrap="square" lIns="91440" tIns="45720" rIns="91440" bIns="45720" anchor="t" anchorCtr="0"/>
          <a:lstStyle/>
          <a:p>
            <a:pPr eaLnBrk="1" hangingPunct="1">
              <a:lnSpc>
                <a:spcPts val="3700"/>
              </a:lnSpc>
            </a:pPr>
            <a:r>
              <a:rPr lang="zh-CN" altLang="en-US" sz="2400" b="1" dirty="0"/>
              <a:t>      若使水的电解反应顺利进行，必须克服阳极有氧析出，阴极有氢</a:t>
            </a:r>
            <a:r>
              <a:rPr lang="zh-CN" altLang="en-US" sz="2400" b="1" dirty="0">
                <a:latin typeface="Times New Roman" panose="02020603050405020304" pitchFamily="18" charset="0"/>
              </a:rPr>
              <a:t>析出而组成的原电池电动势，施加≥</a:t>
            </a:r>
            <a:r>
              <a:rPr lang="en-US" altLang="zh-CN" sz="2400" b="1" dirty="0">
                <a:latin typeface="Times New Roman" panose="02020603050405020304" pitchFamily="18" charset="0"/>
              </a:rPr>
              <a:t>1.23V</a:t>
            </a:r>
            <a:r>
              <a:rPr lang="zh-CN" altLang="en-US" sz="2400" b="1" dirty="0">
                <a:latin typeface="Times New Roman" panose="02020603050405020304" pitchFamily="18" charset="0"/>
              </a:rPr>
              <a:t>的外电压，</a:t>
            </a:r>
            <a:r>
              <a:rPr lang="en-US" altLang="zh-CN" sz="2400" b="1" dirty="0">
                <a:latin typeface="Times New Roman" panose="02020603050405020304" pitchFamily="18" charset="0"/>
              </a:rPr>
              <a:t>1.23V</a:t>
            </a:r>
            <a:r>
              <a:rPr lang="zh-CN" altLang="en-US" sz="2400" b="1" dirty="0">
                <a:latin typeface="Times New Roman" panose="02020603050405020304" pitchFamily="18" charset="0"/>
              </a:rPr>
              <a:t>是</a:t>
            </a:r>
            <a:r>
              <a:rPr lang="zh-CN" altLang="en-US" sz="2400" b="1" dirty="0">
                <a:solidFill>
                  <a:srgbClr val="0000FF"/>
                </a:solidFill>
                <a:latin typeface="Times New Roman" panose="02020603050405020304" pitchFamily="18" charset="0"/>
              </a:rPr>
              <a:t>理论</a:t>
            </a:r>
            <a:r>
              <a:rPr lang="zh-CN" altLang="en-US" sz="2400" b="1" dirty="0">
                <a:solidFill>
                  <a:srgbClr val="0000FF"/>
                </a:solidFill>
              </a:rPr>
              <a:t>分解电压</a:t>
            </a:r>
            <a:r>
              <a:rPr lang="en-US" altLang="zh-CN" sz="2400" b="1" dirty="0">
                <a:solidFill>
                  <a:srgbClr val="0000FF"/>
                </a:solidFill>
              </a:rPr>
              <a:t>(</a:t>
            </a:r>
            <a:r>
              <a:rPr lang="zh-CN" altLang="en-US" sz="2400" b="1" dirty="0">
                <a:solidFill>
                  <a:srgbClr val="0000FF"/>
                </a:solidFill>
              </a:rPr>
              <a:t>即原电池的电动势</a:t>
            </a:r>
            <a:r>
              <a:rPr lang="en-US" altLang="zh-CN" sz="2400" b="1" dirty="0">
                <a:solidFill>
                  <a:srgbClr val="0000FF"/>
                </a:solidFill>
              </a:rPr>
              <a:t>)</a:t>
            </a:r>
            <a:r>
              <a:rPr lang="zh-CN" altLang="en-US" sz="2400" b="1" dirty="0"/>
              <a:t>。由于极化的结果产生了超电势，使实际分解电压高于理论分解电压。</a:t>
            </a:r>
            <a:endParaRPr lang="en-US" altLang="zh-CN" sz="2400" b="1" dirty="0"/>
          </a:p>
        </p:txBody>
      </p:sp>
      <p:sp>
        <p:nvSpPr>
          <p:cNvPr id="75778" name="Rectangle 11"/>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p:cNvSpPr>
            <a:spLocks noGrp="1" noChangeArrowheads="1"/>
          </p:cNvSpPr>
          <p:nvPr>
            <p:ph idx="4294967295"/>
          </p:nvPr>
        </p:nvSpPr>
        <p:spPr>
          <a:xfrm>
            <a:off x="539750" y="481013"/>
            <a:ext cx="8464550" cy="4743450"/>
          </a:xfrm>
          <a:solidFill>
            <a:schemeClr val="accent6">
              <a:lumMod val="40000"/>
              <a:lumOff val="60000"/>
            </a:schemeClr>
          </a:solidFill>
        </p:spPr>
        <p:txBody>
          <a:bodyPr vert="horz" wrap="square" lIns="91440" tIns="45720" rIns="91440" bIns="45720" numCol="1" anchor="t" anchorCtr="0" compatLnSpc="1"/>
          <a:lstStyle/>
          <a:p>
            <a:pPr marL="342900" marR="0" lvl="0" indent="-342900" algn="l" defTabSz="914400" rtl="0" eaLnBrk="1" fontAlgn="base" latinLnBrk="0" hangingPunct="1">
              <a:lnSpc>
                <a:spcPts val="37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C00000"/>
                </a:solidFill>
                <a:effectLst/>
                <a:uLnTx/>
                <a:uFillTx/>
                <a:latin typeface="+mn-lt"/>
                <a:ea typeface="+mn-ea"/>
                <a:cs typeface="+mn-cs"/>
              </a:rPr>
              <a:t>极化与超电势</a:t>
            </a:r>
            <a:endParaRPr kumimoji="0" lang="en-US" altLang="zh-CN" sz="3200" b="1" i="0" u="none" strike="noStrike" kern="0" cap="none" spc="0" normalizeH="0" baseline="0" noProof="0" dirty="0">
              <a:ln>
                <a:noFill/>
              </a:ln>
              <a:solidFill>
                <a:srgbClr val="C00000"/>
              </a:solidFill>
              <a:effectLst/>
              <a:uLnTx/>
              <a:uFillTx/>
              <a:latin typeface="+mn-lt"/>
              <a:ea typeface="+mn-ea"/>
              <a:cs typeface="+mn-cs"/>
            </a:endParaRPr>
          </a:p>
          <a:p>
            <a:pPr marL="342900" marR="0" lvl="0" indent="-342900" algn="l" defTabSz="914400" rtl="0" eaLnBrk="1" fontAlgn="base" latinLnBrk="0" hangingPunct="1">
              <a:lnSpc>
                <a:spcPts val="37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超电势</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37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凡是电极电势偏离可逆电极电势的现象，在电化学中称为“</a:t>
            </a:r>
            <a:r>
              <a:rPr kumimoji="0" lang="zh-CN" altLang="en-US" sz="2400" b="1" i="0" u="none" strike="noStrike" kern="0" cap="none" spc="0" normalizeH="0" baseline="0" noProof="0" dirty="0">
                <a:ln>
                  <a:noFill/>
                </a:ln>
                <a:solidFill>
                  <a:srgbClr val="C00000"/>
                </a:solidFill>
                <a:effectLst/>
                <a:uLnTx/>
                <a:uFillTx/>
                <a:latin typeface="+mn-lt"/>
                <a:ea typeface="+mn-ea"/>
                <a:cs typeface="+mn-cs"/>
              </a:rPr>
              <a:t>极化</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”。可由超电势的大小来衡量一个电极极化的程度。</a:t>
            </a:r>
          </a:p>
          <a:p>
            <a:pPr marL="342900" marR="0" lvl="0" indent="-342900" algn="l" defTabSz="914400" rtl="0" eaLnBrk="1" fontAlgn="base" latinLnBrk="0" hangingPunct="1">
              <a:lnSpc>
                <a:spcPts val="37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极化产生的原因很复杂，既有浓度差异造成的浓差极化，也有在进行电化学反应时的电化学极化等。</a:t>
            </a:r>
          </a:p>
          <a:p>
            <a:pPr marL="342900" marR="0" lvl="0" indent="-342900" algn="l" defTabSz="914400" rtl="0" eaLnBrk="1" fontAlgn="base" latinLnBrk="0" hangingPunct="1">
              <a:lnSpc>
                <a:spcPts val="37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电极极化有以下规律</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37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zh-CN" sz="2400" b="1" i="0" u="none" strike="noStrike" kern="0" cap="none" spc="0" normalizeH="0" baseline="0" noProof="0" dirty="0">
                <a:ln>
                  <a:noFill/>
                </a:ln>
                <a:solidFill>
                  <a:schemeClr val="tx1"/>
                </a:solidFill>
                <a:effectLst/>
                <a:uLnTx/>
                <a:uFillTx/>
                <a:latin typeface="+mn-lt"/>
                <a:ea typeface="+mn-ea"/>
                <a:cs typeface="+mn-cs"/>
              </a:rPr>
              <a:t>①</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阳极极化后电极电势升高。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ts val="37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②阴极极化后电极电势降低。</a:t>
            </a:r>
          </a:p>
        </p:txBody>
      </p:sp>
      <p:sp>
        <p:nvSpPr>
          <p:cNvPr id="76802" name="Rectangle 11"/>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6803" name="Object 10"/>
          <p:cNvGraphicFramePr>
            <a:graphicFrameLocks noChangeAspect="1"/>
          </p:cNvGraphicFramePr>
          <p:nvPr/>
        </p:nvGraphicFramePr>
        <p:xfrm>
          <a:off x="2555875" y="1128713"/>
          <a:ext cx="1728788" cy="417512"/>
        </p:xfrm>
        <a:graphic>
          <a:graphicData uri="http://schemas.openxmlformats.org/presentationml/2006/ole">
            <mc:AlternateContent xmlns:mc="http://schemas.openxmlformats.org/markup-compatibility/2006">
              <mc:Choice xmlns:v="urn:schemas-microsoft-com:vml" Requires="v">
                <p:oleObj r:id="rId2" imgW="789940" imgH="229235" progId="Equation.DSMT4">
                  <p:embed/>
                </p:oleObj>
              </mc:Choice>
              <mc:Fallback>
                <p:oleObj r:id="rId2" imgW="789940" imgH="229235" progId="Equation.DSMT4">
                  <p:embed/>
                  <p:pic>
                    <p:nvPicPr>
                      <p:cNvPr id="0" name="图片 3097"/>
                      <p:cNvPicPr/>
                      <p:nvPr/>
                    </p:nvPicPr>
                    <p:blipFill>
                      <a:blip r:embed="rId3"/>
                      <a:stretch>
                        <a:fillRect/>
                      </a:stretch>
                    </p:blipFill>
                    <p:spPr>
                      <a:xfrm>
                        <a:off x="2555875" y="1128713"/>
                        <a:ext cx="1728788" cy="4175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5058">
                                            <p:bg/>
                                          </p:spTgt>
                                        </p:tgtEl>
                                        <p:attrNameLst>
                                          <p:attrName>style.visibility</p:attrName>
                                        </p:attrNameLst>
                                      </p:cBhvr>
                                      <p:to>
                                        <p:strVal val="visible"/>
                                      </p:to>
                                    </p:set>
                                    <p:animEffect transition="in" filter="checkerboard(across)">
                                      <p:cBhvr>
                                        <p:cTn id="7" dur="500"/>
                                        <p:tgtEl>
                                          <p:spTgt spid="45058">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5058">
                                            <p:txEl>
                                              <p:pRg st="0" end="0"/>
                                            </p:txEl>
                                          </p:spTgt>
                                        </p:tgtEl>
                                        <p:attrNameLst>
                                          <p:attrName>style.visibility</p:attrName>
                                        </p:attrNameLst>
                                      </p:cBhvr>
                                      <p:to>
                                        <p:strVal val="visible"/>
                                      </p:to>
                                    </p:set>
                                    <p:animEffect transition="in" filter="checkerboard(across)">
                                      <p:cBhvr>
                                        <p:cTn id="12" dur="500"/>
                                        <p:tgtEl>
                                          <p:spTgt spid="4505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5058">
                                            <p:txEl>
                                              <p:pRg st="1" end="1"/>
                                            </p:txEl>
                                          </p:spTgt>
                                        </p:tgtEl>
                                        <p:attrNameLst>
                                          <p:attrName>style.visibility</p:attrName>
                                        </p:attrNameLst>
                                      </p:cBhvr>
                                      <p:to>
                                        <p:strVal val="visible"/>
                                      </p:to>
                                    </p:set>
                                    <p:animEffect transition="in" filter="checkerboard(across)">
                                      <p:cBhvr>
                                        <p:cTn id="17" dur="500"/>
                                        <p:tgtEl>
                                          <p:spTgt spid="4505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5058">
                                            <p:txEl>
                                              <p:pRg st="2" end="2"/>
                                            </p:txEl>
                                          </p:spTgt>
                                        </p:tgtEl>
                                        <p:attrNameLst>
                                          <p:attrName>style.visibility</p:attrName>
                                        </p:attrNameLst>
                                      </p:cBhvr>
                                      <p:to>
                                        <p:strVal val="visible"/>
                                      </p:to>
                                    </p:set>
                                    <p:animEffect transition="in" filter="checkerboard(across)">
                                      <p:cBhvr>
                                        <p:cTn id="22" dur="500"/>
                                        <p:tgtEl>
                                          <p:spTgt spid="4505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5058">
                                            <p:txEl>
                                              <p:pRg st="3" end="3"/>
                                            </p:txEl>
                                          </p:spTgt>
                                        </p:tgtEl>
                                        <p:attrNameLst>
                                          <p:attrName>style.visibility</p:attrName>
                                        </p:attrNameLst>
                                      </p:cBhvr>
                                      <p:to>
                                        <p:strVal val="visible"/>
                                      </p:to>
                                    </p:set>
                                    <p:animEffect transition="in" filter="checkerboard(across)">
                                      <p:cBhvr>
                                        <p:cTn id="27" dur="500"/>
                                        <p:tgtEl>
                                          <p:spTgt spid="4505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45058">
                                            <p:txEl>
                                              <p:pRg st="4" end="4"/>
                                            </p:txEl>
                                          </p:spTgt>
                                        </p:tgtEl>
                                        <p:attrNameLst>
                                          <p:attrName>style.visibility</p:attrName>
                                        </p:attrNameLst>
                                      </p:cBhvr>
                                      <p:to>
                                        <p:strVal val="visible"/>
                                      </p:to>
                                    </p:set>
                                    <p:animEffect transition="in" filter="checkerboard(across)">
                                      <p:cBhvr>
                                        <p:cTn id="32" dur="500"/>
                                        <p:tgtEl>
                                          <p:spTgt spid="4505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5058">
                                            <p:txEl>
                                              <p:pRg st="5" end="5"/>
                                            </p:txEl>
                                          </p:spTgt>
                                        </p:tgtEl>
                                        <p:attrNameLst>
                                          <p:attrName>style.visibility</p:attrName>
                                        </p:attrNameLst>
                                      </p:cBhvr>
                                      <p:to>
                                        <p:strVal val="visible"/>
                                      </p:to>
                                    </p:set>
                                    <p:animEffect transition="in" filter="checkerboard(across)">
                                      <p:cBhvr>
                                        <p:cTn id="37" dur="500"/>
                                        <p:tgtEl>
                                          <p:spTgt spid="4505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45058">
                                            <p:txEl>
                                              <p:pRg st="6" end="6"/>
                                            </p:txEl>
                                          </p:spTgt>
                                        </p:tgtEl>
                                        <p:attrNameLst>
                                          <p:attrName>style.visibility</p:attrName>
                                        </p:attrNameLst>
                                      </p:cBhvr>
                                      <p:to>
                                        <p:strVal val="visible"/>
                                      </p:to>
                                    </p:set>
                                    <p:animEffect transition="in" filter="checkerboard(across)">
                                      <p:cBhvr>
                                        <p:cTn id="42" dur="500"/>
                                        <p:tgtEl>
                                          <p:spTgt spid="4505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p:cNvSpPr>
            <a:spLocks noGrp="1"/>
          </p:cNvSpPr>
          <p:nvPr>
            <p:ph idx="1"/>
          </p:nvPr>
        </p:nvSpPr>
        <p:spPr>
          <a:xfrm>
            <a:off x="285750" y="1250950"/>
            <a:ext cx="8605838" cy="3706813"/>
          </a:xfrm>
        </p:spPr>
        <p:txBody>
          <a:bodyPr vert="horz" wrap="square" lIns="91440" tIns="45720" rIns="91440" bIns="45720" anchor="t" anchorCtr="0"/>
          <a:lstStyle/>
          <a:p>
            <a:pPr eaLnBrk="1" hangingPunct="1">
              <a:lnSpc>
                <a:spcPct val="125000"/>
              </a:lnSpc>
            </a:pPr>
            <a:r>
              <a:rPr lang="zh-CN" altLang="en-US" sz="2400" b="1" dirty="0"/>
              <a:t>      根据金属腐蚀的机理不同，通常分为化学腐蚀和电化学腐蚀两大类。化学腐蚀就是一般的氧化还原反应，而电化学腐蚀才是电化学反应，两种腐蚀均会造成损失。</a:t>
            </a:r>
            <a:endParaRPr lang="en-US" altLang="zh-CN" sz="2400" b="1" dirty="0"/>
          </a:p>
          <a:p>
            <a:pPr eaLnBrk="1" hangingPunct="1">
              <a:lnSpc>
                <a:spcPct val="130000"/>
              </a:lnSpc>
            </a:pPr>
            <a:r>
              <a:rPr lang="en-US" altLang="zh-CN" sz="2800" b="1" dirty="0">
                <a:solidFill>
                  <a:srgbClr val="9900CC"/>
                </a:solidFill>
                <a:latin typeface="Times New Roman" panose="02020603050405020304" pitchFamily="18" charset="0"/>
              </a:rPr>
              <a:t>4.5.1  </a:t>
            </a:r>
            <a:r>
              <a:rPr lang="zh-CN" altLang="en-US" sz="2800" b="1" dirty="0">
                <a:solidFill>
                  <a:srgbClr val="9900CC"/>
                </a:solidFill>
                <a:latin typeface="Times New Roman" panose="02020603050405020304" pitchFamily="18" charset="0"/>
              </a:rPr>
              <a:t>金属的化学腐蚀</a:t>
            </a:r>
            <a:endParaRPr lang="zh-CN" altLang="en-US" sz="2800" dirty="0">
              <a:solidFill>
                <a:srgbClr val="9900CC"/>
              </a:solidFill>
              <a:latin typeface="Times New Roman" panose="02020603050405020304" pitchFamily="18" charset="0"/>
            </a:endParaRPr>
          </a:p>
          <a:p>
            <a:pPr eaLnBrk="1" hangingPunct="1">
              <a:lnSpc>
                <a:spcPct val="125000"/>
              </a:lnSpc>
            </a:pPr>
            <a:r>
              <a:rPr lang="zh-CN" altLang="en-US" sz="2400" b="1" dirty="0"/>
              <a:t>        </a:t>
            </a:r>
            <a:r>
              <a:rPr lang="zh-CN" altLang="zh-CN" sz="2400" b="1" dirty="0"/>
              <a:t>金属材料和干燥气体或非电解质直接发生反应而引起的破坏称</a:t>
            </a:r>
            <a:r>
              <a:rPr lang="zh-CN" altLang="zh-CN" sz="2400" b="1" dirty="0">
                <a:solidFill>
                  <a:srgbClr val="9900CC"/>
                </a:solidFill>
              </a:rPr>
              <a:t>化学腐蚀</a:t>
            </a:r>
            <a:r>
              <a:rPr lang="zh-CN" altLang="zh-CN" sz="2400" b="1" dirty="0"/>
              <a:t>。钢铁材料在高温气体环境中发生的腐蚀通常属于化学腐蚀。在生产中经常遇到的有以下几种类型的化学腐蚀。</a:t>
            </a:r>
            <a:endParaRPr lang="en-US" altLang="zh-CN" sz="2400" dirty="0"/>
          </a:p>
          <a:p>
            <a:pPr eaLnBrk="1" hangingPunct="1"/>
            <a:endParaRPr lang="en-US" altLang="zh-CN" sz="2400" dirty="0"/>
          </a:p>
          <a:p>
            <a:pPr eaLnBrk="1" hangingPunct="1"/>
            <a:endParaRPr lang="zh-CN" altLang="en-US" sz="2400" dirty="0"/>
          </a:p>
        </p:txBody>
      </p:sp>
      <p:sp>
        <p:nvSpPr>
          <p:cNvPr id="77826"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77827"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7" name="Rectangle 10"/>
          <p:cNvSpPr>
            <a:spLocks noRot="1" noChangeArrowheads="1"/>
          </p:cNvSpPr>
          <p:nvPr/>
        </p:nvSpPr>
        <p:spPr bwMode="auto">
          <a:xfrm>
            <a:off x="0" y="357188"/>
            <a:ext cx="9144000" cy="600075"/>
          </a:xfrm>
          <a:prstGeom prst="rect">
            <a:avLst/>
          </a:prstGeom>
          <a:solidFill>
            <a:srgbClr val="008000"/>
          </a:soli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FFCC"/>
                </a:solidFill>
                <a:effectLst/>
                <a:uLnTx/>
                <a:uFillTx/>
                <a:latin typeface="Times New Roman" panose="02020603050405020304" pitchFamily="18" charset="0"/>
                <a:ea typeface="宋体" panose="02010600030101010101" pitchFamily="2" charset="-122"/>
                <a:cs typeface="+mn-cs"/>
              </a:rPr>
              <a:t>§</a:t>
            </a:r>
            <a:r>
              <a:rPr kumimoji="0" lang="en-US" altLang="zh-CN" sz="3200" b="1"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4.5   </a:t>
            </a:r>
            <a:r>
              <a:rPr kumimoji="0" lang="zh-CN" altLang="en-US" sz="3200" b="1"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金属腐蚀与防护</a:t>
            </a:r>
            <a:endParaRPr kumimoji="0" lang="zh-CN" altLang="zh-CN" sz="32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50178">
                                            <p:txEl>
                                              <p:pRg st="0" end="0"/>
                                            </p:txEl>
                                          </p:spTgt>
                                        </p:tgtEl>
                                        <p:attrNameLst>
                                          <p:attrName>style.visibility</p:attrName>
                                        </p:attrNameLst>
                                      </p:cBhvr>
                                      <p:to>
                                        <p:strVal val="visible"/>
                                      </p:to>
                                    </p:set>
                                    <p:animEffect transition="in" filter="checkerboard(across)">
                                      <p:cBhvr>
                                        <p:cTn id="16" dur="500"/>
                                        <p:tgtEl>
                                          <p:spTgt spid="5017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50178">
                                            <p:txEl>
                                              <p:pRg st="1" end="1"/>
                                            </p:txEl>
                                          </p:spTgt>
                                        </p:tgtEl>
                                        <p:attrNameLst>
                                          <p:attrName>style.visibility</p:attrName>
                                        </p:attrNameLst>
                                      </p:cBhvr>
                                      <p:to>
                                        <p:strVal val="visible"/>
                                      </p:to>
                                    </p:set>
                                    <p:animEffect transition="in" filter="checkerboard(across)">
                                      <p:cBhvr>
                                        <p:cTn id="21" dur="500"/>
                                        <p:tgtEl>
                                          <p:spTgt spid="5017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50178">
                                            <p:txEl>
                                              <p:pRg st="2" end="2"/>
                                            </p:txEl>
                                          </p:spTgt>
                                        </p:tgtEl>
                                        <p:attrNameLst>
                                          <p:attrName>style.visibility</p:attrName>
                                        </p:attrNameLst>
                                      </p:cBhvr>
                                      <p:to>
                                        <p:strVal val="visible"/>
                                      </p:to>
                                    </p:set>
                                    <p:animEffect transition="in" filter="checkerboard(across)">
                                      <p:cBhvr>
                                        <p:cTn id="26" dur="500"/>
                                        <p:tgtEl>
                                          <p:spTgt spid="50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内容占位符 2"/>
          <p:cNvSpPr>
            <a:spLocks noGrp="1"/>
          </p:cNvSpPr>
          <p:nvPr>
            <p:ph idx="4294967295"/>
          </p:nvPr>
        </p:nvSpPr>
        <p:spPr>
          <a:xfrm>
            <a:off x="684213" y="338138"/>
            <a:ext cx="3240087" cy="419100"/>
          </a:xfrm>
        </p:spPr>
        <p:txBody>
          <a:bodyPr vert="horz" wrap="square" lIns="91440" tIns="45720" rIns="91440" bIns="45720" anchor="t" anchorCtr="0"/>
          <a:lstStyle/>
          <a:p>
            <a:pPr eaLnBrk="1" hangingPunct="1"/>
            <a:r>
              <a:rPr lang="en-US" altLang="zh-CN" sz="2400" b="1" dirty="0">
                <a:solidFill>
                  <a:srgbClr val="0000FF"/>
                </a:solidFill>
                <a:latin typeface="Times New Roman" panose="02020603050405020304" pitchFamily="18" charset="0"/>
              </a:rPr>
              <a:t>1.</a:t>
            </a:r>
            <a:r>
              <a:rPr lang="zh-CN" altLang="en-US" sz="2400" b="1" dirty="0">
                <a:solidFill>
                  <a:srgbClr val="0000FF"/>
                </a:solidFill>
                <a:latin typeface="Times New Roman" panose="02020603050405020304" pitchFamily="18" charset="0"/>
              </a:rPr>
              <a:t>钢铁的高温氧化</a:t>
            </a:r>
            <a:endParaRPr lang="zh-CN" altLang="en-US" sz="2400" dirty="0"/>
          </a:p>
        </p:txBody>
      </p:sp>
      <p:sp>
        <p:nvSpPr>
          <p:cNvPr id="78850"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8373" name="Object 1"/>
          <p:cNvGraphicFramePr>
            <a:graphicFrameLocks noChangeAspect="1"/>
          </p:cNvGraphicFramePr>
          <p:nvPr/>
        </p:nvGraphicFramePr>
        <p:xfrm>
          <a:off x="1116013" y="817563"/>
          <a:ext cx="2714625" cy="417512"/>
        </p:xfrm>
        <a:graphic>
          <a:graphicData uri="http://schemas.openxmlformats.org/presentationml/2006/ole">
            <mc:AlternateContent xmlns:mc="http://schemas.openxmlformats.org/markup-compatibility/2006">
              <mc:Choice xmlns:v="urn:schemas-microsoft-com:vml" Requires="v">
                <p:oleObj r:id="rId2" imgW="1198880" imgH="216535" progId="Equation.3">
                  <p:embed/>
                </p:oleObj>
              </mc:Choice>
              <mc:Fallback>
                <p:oleObj r:id="rId2" imgW="1198880" imgH="216535" progId="Equation.3">
                  <p:embed/>
                  <p:pic>
                    <p:nvPicPr>
                      <p:cNvPr id="0" name="图片 3099"/>
                      <p:cNvPicPr/>
                      <p:nvPr/>
                    </p:nvPicPr>
                    <p:blipFill>
                      <a:blip r:embed="rId3"/>
                      <a:stretch>
                        <a:fillRect/>
                      </a:stretch>
                    </p:blipFill>
                    <p:spPr>
                      <a:xfrm>
                        <a:off x="1116013" y="817563"/>
                        <a:ext cx="2714625" cy="417512"/>
                      </a:xfrm>
                      <a:prstGeom prst="rect">
                        <a:avLst/>
                      </a:prstGeom>
                      <a:noFill/>
                      <a:ln w="38100">
                        <a:noFill/>
                        <a:miter/>
                      </a:ln>
                    </p:spPr>
                  </p:pic>
                </p:oleObj>
              </mc:Fallback>
            </mc:AlternateContent>
          </a:graphicData>
        </a:graphic>
      </p:graphicFrame>
      <p:sp>
        <p:nvSpPr>
          <p:cNvPr id="78852"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8375" name="Object 3"/>
          <p:cNvGraphicFramePr>
            <a:graphicFrameLocks noChangeAspect="1"/>
          </p:cNvGraphicFramePr>
          <p:nvPr/>
        </p:nvGraphicFramePr>
        <p:xfrm>
          <a:off x="5508625" y="817563"/>
          <a:ext cx="2522538" cy="417512"/>
        </p:xfrm>
        <a:graphic>
          <a:graphicData uri="http://schemas.openxmlformats.org/presentationml/2006/ole">
            <mc:AlternateContent xmlns:mc="http://schemas.openxmlformats.org/markup-compatibility/2006">
              <mc:Choice xmlns:v="urn:schemas-microsoft-com:vml" Requires="v">
                <p:oleObj r:id="rId4" imgW="1109345" imgH="216535" progId="Equation.3">
                  <p:embed/>
                </p:oleObj>
              </mc:Choice>
              <mc:Fallback>
                <p:oleObj r:id="rId4" imgW="1109345" imgH="216535" progId="Equation.3">
                  <p:embed/>
                  <p:pic>
                    <p:nvPicPr>
                      <p:cNvPr id="0" name="图片 3098"/>
                      <p:cNvPicPr/>
                      <p:nvPr/>
                    </p:nvPicPr>
                    <p:blipFill>
                      <a:blip r:embed="rId5"/>
                      <a:stretch>
                        <a:fillRect/>
                      </a:stretch>
                    </p:blipFill>
                    <p:spPr>
                      <a:xfrm>
                        <a:off x="5508625" y="817563"/>
                        <a:ext cx="2522538" cy="417512"/>
                      </a:xfrm>
                      <a:prstGeom prst="rect">
                        <a:avLst/>
                      </a:prstGeom>
                      <a:noFill/>
                      <a:ln w="38100">
                        <a:noFill/>
                        <a:miter/>
                      </a:ln>
                    </p:spPr>
                  </p:pic>
                </p:oleObj>
              </mc:Fallback>
            </mc:AlternateContent>
          </a:graphicData>
        </a:graphic>
      </p:graphicFrame>
      <p:sp>
        <p:nvSpPr>
          <p:cNvPr id="58378" name="内容占位符 2"/>
          <p:cNvSpPr/>
          <p:nvPr/>
        </p:nvSpPr>
        <p:spPr>
          <a:xfrm>
            <a:off x="468313" y="1298575"/>
            <a:ext cx="8567737" cy="3935413"/>
          </a:xfrm>
          <a:prstGeom prst="rect">
            <a:avLst/>
          </a:prstGeom>
          <a:noFill/>
          <a:ln w="9525">
            <a:noFill/>
          </a:ln>
        </p:spPr>
        <p:txBody>
          <a:bodyPr anchor="t" anchorCtr="0"/>
          <a:lstStyle/>
          <a:p>
            <a:pPr marL="342900" indent="-342900">
              <a:lnSpc>
                <a:spcPct val="125000"/>
              </a:lnSpc>
              <a:spcBef>
                <a:spcPct val="20000"/>
              </a:spcBef>
              <a:buChar char="•"/>
            </a:pPr>
            <a:r>
              <a:rPr lang="zh-CN" altLang="en-US"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生成的FeO是一种既疏松又极易龟裂的物质，在高温下 可以继续与里层Fe反应，从而使腐蚀继续向深处发展。</a:t>
            </a:r>
            <a:endParaRPr lang="zh-CN" altLang="en-US" sz="2400" b="1" dirty="0">
              <a:latin typeface="Times New Roman" panose="02020603050405020304" pitchFamily="18" charset="0"/>
              <a:ea typeface="宋体" panose="02010600030101010101" pitchFamily="2" charset="-122"/>
            </a:endParaRPr>
          </a:p>
          <a:p>
            <a:pPr marL="342900" indent="-342900">
              <a:lnSpc>
                <a:spcPct val="125000"/>
              </a:lnSpc>
              <a:spcBef>
                <a:spcPct val="20000"/>
              </a:spcBef>
              <a:buChar char="•"/>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不仅空气中的氧气会造成金属的高温氧化，高温环境中的</a:t>
            </a:r>
            <a:r>
              <a:rPr lang="en-US" altLang="zh-CN" sz="2400" b="1" dirty="0">
                <a:latin typeface="Times New Roman" panose="02020603050405020304" pitchFamily="18" charset="0"/>
                <a:ea typeface="宋体" panose="02010600030101010101" pitchFamily="2" charset="-122"/>
              </a:rPr>
              <a:t>CO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、水蒸气也会造成金属的高温氧化，反应如下</a:t>
            </a:r>
            <a:r>
              <a:rPr lang="en-US" altLang="zh-CN" sz="2400" b="1" dirty="0">
                <a:latin typeface="Arial" panose="020B0604020202020204" pitchFamily="34" charset="0"/>
                <a:ea typeface="宋体" panose="02010600030101010101" pitchFamily="2" charset="-122"/>
              </a:rPr>
              <a:t>: </a:t>
            </a:r>
          </a:p>
          <a:p>
            <a:pPr marL="342900" indent="-342900">
              <a:lnSpc>
                <a:spcPct val="125000"/>
              </a:lnSpc>
              <a:spcBef>
                <a:spcPct val="20000"/>
              </a:spcBef>
              <a:buChar char="•"/>
            </a:pPr>
            <a:endParaRPr lang="en-US" altLang="zh-CN" sz="2400" b="1" dirty="0">
              <a:latin typeface="Arial" panose="020B0604020202020204" pitchFamily="34" charset="0"/>
              <a:ea typeface="宋体" panose="02010600030101010101" pitchFamily="2" charset="-122"/>
            </a:endParaRPr>
          </a:p>
          <a:p>
            <a:pPr marL="342900" indent="-342900">
              <a:lnSpc>
                <a:spcPct val="125000"/>
              </a:lnSpc>
              <a:spcBef>
                <a:spcPct val="20000"/>
              </a:spcBef>
              <a:buChar char="•"/>
            </a:pPr>
            <a:r>
              <a:rPr lang="zh-CN" altLang="en-US" sz="2400" b="1" dirty="0">
                <a:latin typeface="Arial" panose="020B0604020202020204" pitchFamily="34" charset="0"/>
                <a:ea typeface="宋体" panose="02010600030101010101" pitchFamily="2" charset="-122"/>
              </a:rPr>
              <a:t>      温度对钢铁高温氧化影响很大，温度升高，</a:t>
            </a:r>
            <a:r>
              <a:rPr lang="zh-CN" altLang="en-US" sz="2400" b="1" dirty="0">
                <a:latin typeface="Times New Roman" panose="02020603050405020304" pitchFamily="18" charset="0"/>
                <a:ea typeface="宋体" panose="02010600030101010101" pitchFamily="2" charset="-122"/>
              </a:rPr>
              <a:t>腐蚀速率明显加快。因此钢铁材料在高温氧化介质</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等</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中加热时，会产生严重的氧化腐蚀。</a:t>
            </a:r>
            <a:r>
              <a:rPr lang="en-US" altLang="zh-CN" sz="2400" b="1" dirty="0">
                <a:latin typeface="Arial" panose="020B0604020202020204" pitchFamily="34" charset="0"/>
                <a:ea typeface="宋体" panose="02010600030101010101" pitchFamily="2" charset="-122"/>
              </a:rPr>
              <a:t>    </a:t>
            </a:r>
          </a:p>
          <a:p>
            <a:pPr marL="342900" indent="-342900">
              <a:lnSpc>
                <a:spcPct val="125000"/>
              </a:lnSpc>
              <a:spcBef>
                <a:spcPct val="20000"/>
              </a:spcBef>
              <a:buChar char="•"/>
            </a:pPr>
            <a:endParaRPr lang="zh-CN" altLang="en-US" sz="2400" b="1" dirty="0">
              <a:latin typeface="Arial" panose="020B0604020202020204" pitchFamily="34" charset="0"/>
              <a:ea typeface="宋体" panose="02010600030101010101" pitchFamily="2" charset="-122"/>
            </a:endParaRPr>
          </a:p>
        </p:txBody>
      </p:sp>
      <p:sp>
        <p:nvSpPr>
          <p:cNvPr id="58379" name="内容占位符 2"/>
          <p:cNvSpPr/>
          <p:nvPr/>
        </p:nvSpPr>
        <p:spPr>
          <a:xfrm>
            <a:off x="4140200" y="877888"/>
            <a:ext cx="1079500" cy="238125"/>
          </a:xfrm>
          <a:prstGeom prst="rect">
            <a:avLst/>
          </a:prstGeom>
          <a:noFill/>
          <a:ln w="9525">
            <a:noFill/>
          </a:ln>
        </p:spPr>
        <p:txBody>
          <a:bodyPr anchor="t" anchorCtr="0"/>
          <a:lstStyle/>
          <a:p>
            <a:pPr marL="342900" indent="-342900">
              <a:spcBef>
                <a:spcPct val="20000"/>
              </a:spcBef>
            </a:pPr>
            <a:r>
              <a:rPr lang="en-US" altLang="zh-CN" sz="2400" b="1" dirty="0">
                <a:solidFill>
                  <a:srgbClr val="0000FF"/>
                </a:solidFill>
                <a:latin typeface="Times New Roman" panose="02020603050405020304" pitchFamily="18" charset="0"/>
                <a:ea typeface="宋体" panose="02010600030101010101" pitchFamily="2" charset="-122"/>
              </a:rPr>
              <a:t>570℃</a:t>
            </a:r>
            <a:endParaRPr lang="zh-CN" altLang="en-US" sz="2400" dirty="0">
              <a:latin typeface="Arial" panose="020B0604020202020204" pitchFamily="34" charset="0"/>
              <a:ea typeface="宋体" panose="02010600030101010101" pitchFamily="2" charset="-122"/>
            </a:endParaRPr>
          </a:p>
        </p:txBody>
      </p:sp>
      <p:sp>
        <p:nvSpPr>
          <p:cNvPr id="78856" name="Rectangle 16"/>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58383" name="Object 15"/>
          <p:cNvGraphicFramePr>
            <a:graphicFrameLocks noChangeAspect="1"/>
          </p:cNvGraphicFramePr>
          <p:nvPr/>
        </p:nvGraphicFramePr>
        <p:xfrm>
          <a:off x="3203575" y="3144838"/>
          <a:ext cx="2951163" cy="803275"/>
        </p:xfrm>
        <a:graphic>
          <a:graphicData uri="http://schemas.openxmlformats.org/presentationml/2006/ole">
            <mc:AlternateContent xmlns:mc="http://schemas.openxmlformats.org/markup-compatibility/2006">
              <mc:Choice xmlns:v="urn:schemas-microsoft-com:vml" Requires="v">
                <p:oleObj r:id="rId6" imgW="1402715" imgH="459105" progId="Equation.3">
                  <p:embed/>
                </p:oleObj>
              </mc:Choice>
              <mc:Fallback>
                <p:oleObj r:id="rId6" imgW="1402715" imgH="459105" progId="Equation.3">
                  <p:embed/>
                  <p:pic>
                    <p:nvPicPr>
                      <p:cNvPr id="0" name="图片 3100"/>
                      <p:cNvPicPr/>
                      <p:nvPr/>
                    </p:nvPicPr>
                    <p:blipFill>
                      <a:blip r:embed="rId7"/>
                      <a:stretch>
                        <a:fillRect/>
                      </a:stretch>
                    </p:blipFill>
                    <p:spPr>
                      <a:xfrm>
                        <a:off x="3203575" y="3144838"/>
                        <a:ext cx="2951163" cy="8032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left)">
                                      <p:cBhvr>
                                        <p:cTn id="7" dur="500"/>
                                        <p:tgtEl>
                                          <p:spTgt spid="583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375"/>
                                        </p:tgtEl>
                                        <p:attrNameLst>
                                          <p:attrName>style.visibility</p:attrName>
                                        </p:attrNameLst>
                                      </p:cBhvr>
                                      <p:to>
                                        <p:strVal val="visible"/>
                                      </p:to>
                                    </p:set>
                                    <p:animEffect transition="in" filter="wipe(left)">
                                      <p:cBhvr>
                                        <p:cTn id="12" dur="500"/>
                                        <p:tgtEl>
                                          <p:spTgt spid="583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79"/>
                                        </p:tgtEl>
                                        <p:attrNameLst>
                                          <p:attrName>style.visibility</p:attrName>
                                        </p:attrNameLst>
                                      </p:cBhvr>
                                      <p:to>
                                        <p:strVal val="visible"/>
                                      </p:to>
                                    </p:set>
                                    <p:animEffect transition="in" filter="dissolve">
                                      <p:cBhvr>
                                        <p:cTn id="17" dur="500"/>
                                        <p:tgtEl>
                                          <p:spTgt spid="5837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378">
                                            <p:txEl>
                                              <p:pRg st="0" end="0"/>
                                            </p:txEl>
                                          </p:spTgt>
                                        </p:tgtEl>
                                        <p:attrNameLst>
                                          <p:attrName>style.visibility</p:attrName>
                                        </p:attrNameLst>
                                      </p:cBhvr>
                                      <p:to>
                                        <p:strVal val="visible"/>
                                      </p:to>
                                    </p:set>
                                    <p:animEffect transition="in" filter="dissolve">
                                      <p:cBhvr>
                                        <p:cTn id="22" dur="500"/>
                                        <p:tgtEl>
                                          <p:spTgt spid="5837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8378">
                                            <p:txEl>
                                              <p:pRg st="1" end="1"/>
                                            </p:txEl>
                                          </p:spTgt>
                                        </p:tgtEl>
                                        <p:attrNameLst>
                                          <p:attrName>style.visibility</p:attrName>
                                        </p:attrNameLst>
                                      </p:cBhvr>
                                      <p:to>
                                        <p:strVal val="visible"/>
                                      </p:to>
                                    </p:set>
                                    <p:animEffect transition="in" filter="dissolve">
                                      <p:cBhvr>
                                        <p:cTn id="27" dur="500"/>
                                        <p:tgtEl>
                                          <p:spTgt spid="5837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8383"/>
                                        </p:tgtEl>
                                        <p:attrNameLst>
                                          <p:attrName>style.visibility</p:attrName>
                                        </p:attrNameLst>
                                      </p:cBhvr>
                                      <p:to>
                                        <p:strVal val="visible"/>
                                      </p:to>
                                    </p:set>
                                    <p:animEffect transition="in" filter="dissolve">
                                      <p:cBhvr>
                                        <p:cTn id="32" dur="500"/>
                                        <p:tgtEl>
                                          <p:spTgt spid="5838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8378">
                                            <p:txEl>
                                              <p:pRg st="3" end="3"/>
                                            </p:txEl>
                                          </p:spTgt>
                                        </p:tgtEl>
                                        <p:attrNameLst>
                                          <p:attrName>style.visibility</p:attrName>
                                        </p:attrNameLst>
                                      </p:cBhvr>
                                      <p:to>
                                        <p:strVal val="visible"/>
                                      </p:to>
                                    </p:set>
                                    <p:animEffect transition="in" filter="dissolve">
                                      <p:cBhvr>
                                        <p:cTn id="37" dur="500"/>
                                        <p:tgtEl>
                                          <p:spTgt spid="583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8" grpId="0" build="p"/>
      <p:bldP spid="5837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内容占位符 2"/>
          <p:cNvSpPr>
            <a:spLocks noGrp="1"/>
          </p:cNvSpPr>
          <p:nvPr>
            <p:ph idx="4294967295"/>
          </p:nvPr>
        </p:nvSpPr>
        <p:spPr>
          <a:xfrm>
            <a:off x="684213" y="338138"/>
            <a:ext cx="2447925" cy="419100"/>
          </a:xfrm>
        </p:spPr>
        <p:txBody>
          <a:bodyPr vert="horz" wrap="square" lIns="91440" tIns="45720" rIns="91440" bIns="45720" anchor="t" anchorCtr="0"/>
          <a:lstStyle/>
          <a:p>
            <a:pPr eaLnBrk="1" hangingPunct="1"/>
            <a:r>
              <a:rPr lang="en-US" altLang="zh-CN" sz="2400" b="1" dirty="0">
                <a:solidFill>
                  <a:srgbClr val="0000FF"/>
                </a:solidFill>
                <a:latin typeface="Times New Roman" panose="02020603050405020304" pitchFamily="18" charset="0"/>
              </a:rPr>
              <a:t>2.</a:t>
            </a:r>
            <a:r>
              <a:rPr lang="zh-CN" altLang="en-US" sz="2400" b="1" dirty="0">
                <a:solidFill>
                  <a:srgbClr val="0000FF"/>
                </a:solidFill>
                <a:latin typeface="Times New Roman" panose="02020603050405020304" pitchFamily="18" charset="0"/>
              </a:rPr>
              <a:t>钢的脱碳</a:t>
            </a:r>
          </a:p>
        </p:txBody>
      </p:sp>
      <p:sp>
        <p:nvSpPr>
          <p:cNvPr id="79874"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79875"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pic>
        <p:nvPicPr>
          <p:cNvPr id="59399" name="Picture 5"/>
          <p:cNvPicPr>
            <a:picLocks noChangeAspect="1"/>
          </p:cNvPicPr>
          <p:nvPr/>
        </p:nvPicPr>
        <p:blipFill>
          <a:blip r:embed="rId2"/>
          <a:stretch>
            <a:fillRect/>
          </a:stretch>
        </p:blipFill>
        <p:spPr>
          <a:xfrm>
            <a:off x="2195513" y="2160588"/>
            <a:ext cx="3744912" cy="1565275"/>
          </a:xfrm>
          <a:prstGeom prst="rect">
            <a:avLst/>
          </a:prstGeom>
          <a:noFill/>
          <a:ln w="9525">
            <a:noFill/>
          </a:ln>
        </p:spPr>
      </p:pic>
      <p:sp>
        <p:nvSpPr>
          <p:cNvPr id="59400" name="矩形 8"/>
          <p:cNvSpPr/>
          <p:nvPr/>
        </p:nvSpPr>
        <p:spPr>
          <a:xfrm>
            <a:off x="179388" y="3757613"/>
            <a:ext cx="8535987" cy="1754187"/>
          </a:xfrm>
          <a:prstGeom prst="rect">
            <a:avLst/>
          </a:prstGeom>
          <a:solidFill>
            <a:srgbClr val="99FF99"/>
          </a:solidFill>
          <a:ln w="9525">
            <a:noFill/>
          </a:ln>
        </p:spPr>
        <p:txBody>
          <a:bodyPr anchor="t" anchorCtr="0">
            <a:spAutoFit/>
          </a:bodyPr>
          <a:lstStyle/>
          <a:p>
            <a:pPr>
              <a:lnSpc>
                <a:spcPct val="150000"/>
              </a:lnSpc>
            </a:pPr>
            <a:r>
              <a:rPr lang="zh-CN" altLang="en-US" sz="2400" b="1" dirty="0">
                <a:latin typeface="Arial" panose="020B0604020202020204" pitchFamily="34" charset="0"/>
                <a:ea typeface="宋体" panose="02010600030101010101" pitchFamily="2" charset="-122"/>
              </a:rPr>
              <a:t>       上述反应使钢铁工件表面含碳量降低，这种现象称为“钢的脱碳”。我国汉代发明的“炒钢”和“百炼钢”则是我国人民对钢铁冶炼技术发展的一项杰出贡献。</a:t>
            </a:r>
          </a:p>
        </p:txBody>
      </p:sp>
      <p:sp>
        <p:nvSpPr>
          <p:cNvPr id="79878" name="内容占位符 2"/>
          <p:cNvSpPr/>
          <p:nvPr/>
        </p:nvSpPr>
        <p:spPr>
          <a:xfrm>
            <a:off x="468313" y="817563"/>
            <a:ext cx="8207375" cy="719137"/>
          </a:xfrm>
          <a:prstGeom prst="rect">
            <a:avLst/>
          </a:prstGeom>
          <a:noFill/>
          <a:ln w="9525">
            <a:noFill/>
          </a:ln>
        </p:spPr>
        <p:txBody>
          <a:bodyPr anchor="t" anchorCtr="0"/>
          <a:lstStyle/>
          <a:p>
            <a:pPr marL="342900" indent="-342900">
              <a:lnSpc>
                <a:spcPct val="125000"/>
              </a:lnSpc>
              <a:spcBef>
                <a:spcPct val="20000"/>
              </a:spcBef>
              <a:buChar char="•"/>
            </a:pPr>
            <a:r>
              <a:rPr lang="zh-CN" altLang="en-US" sz="2400" b="1" dirty="0">
                <a:latin typeface="Times New Roman" panose="02020603050405020304" pitchFamily="18" charset="0"/>
                <a:ea typeface="宋体" panose="02010600030101010101" pitchFamily="2" charset="-122"/>
              </a:rPr>
              <a:t>        钢中含碳量的多少与钢的性能密切相关。钢在高温氧化介质中加热时，表面的</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Fe</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极易与介质中的</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气和</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等发生反应，如</a:t>
            </a:r>
            <a:r>
              <a:rPr lang="en-US" altLang="zh-CN"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pic>
        <p:nvPicPr>
          <p:cNvPr id="35848" name="Picture 8"/>
          <p:cNvPicPr>
            <a:picLocks noChangeAspect="1" noChangeArrowheads="1"/>
          </p:cNvPicPr>
          <p:nvPr/>
        </p:nvPicPr>
        <p:blipFill>
          <a:blip r:embed="rId3"/>
          <a:srcRect/>
          <a:stretch>
            <a:fillRect/>
          </a:stretch>
        </p:blipFill>
        <p:spPr bwMode="auto">
          <a:xfrm>
            <a:off x="6084888" y="1849438"/>
            <a:ext cx="2433638" cy="1819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visible"/>
                                      </p:to>
                                    </p:set>
                                    <p:animEffect transition="in" filter="dissolve">
                                      <p:cBhvr>
                                        <p:cTn id="7" dur="500"/>
                                        <p:tgtEl>
                                          <p:spTgt spid="593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400"/>
                                        </p:tgtEl>
                                        <p:attrNameLst>
                                          <p:attrName>style.visibility</p:attrName>
                                        </p:attrNameLst>
                                      </p:cBhvr>
                                      <p:to>
                                        <p:strVal val="visible"/>
                                      </p:to>
                                    </p:set>
                                    <p:animEffect transition="in" filter="dissolve">
                                      <p:cBhvr>
                                        <p:cTn id="12" dur="5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p:nvPr>
        </p:nvSpPr>
        <p:spPr>
          <a:xfrm>
            <a:off x="468313" y="877888"/>
            <a:ext cx="8207375" cy="827087"/>
          </a:xfrm>
          <a:solidFill>
            <a:srgbClr val="CCFF66"/>
          </a:solidFill>
        </p:spPr>
        <p:txBody>
          <a:bodyPr vert="horz" wrap="square" lIns="91440" tIns="45720" rIns="91440" bIns="45720" anchor="t" anchorCtr="0"/>
          <a:lstStyle/>
          <a:p>
            <a:pPr defTabSz="914400" eaLnBrk="1" hangingPunct="1">
              <a:tabLst>
                <a:tab pos="2778125" algn="l"/>
              </a:tabLst>
            </a:pPr>
            <a:r>
              <a:rPr lang="zh-CN" altLang="en-US" sz="2400" b="1" dirty="0"/>
              <a:t>      金属由于吸收了原子氢而使其性质变脆</a:t>
            </a:r>
            <a:r>
              <a:rPr lang="en-US" altLang="zh-CN" sz="2400" b="1" dirty="0"/>
              <a:t>(</a:t>
            </a:r>
            <a:r>
              <a:rPr lang="zh-CN" altLang="en-US" sz="2400" b="1" dirty="0"/>
              <a:t>发生脆性断裂</a:t>
            </a:r>
            <a:r>
              <a:rPr lang="en-US" altLang="zh-CN" sz="2400" b="1" dirty="0"/>
              <a:t>)</a:t>
            </a:r>
            <a:r>
              <a:rPr lang="zh-CN" altLang="en-US" sz="2400" b="1" dirty="0"/>
              <a:t>的现象，叫做</a:t>
            </a:r>
            <a:r>
              <a:rPr lang="zh-CN" altLang="en-US" sz="2400" b="1" dirty="0">
                <a:solidFill>
                  <a:srgbClr val="0000FF"/>
                </a:solidFill>
              </a:rPr>
              <a:t>氢脆</a:t>
            </a:r>
            <a:r>
              <a:rPr lang="zh-CN" altLang="en-US" sz="2400" b="1" dirty="0"/>
              <a:t>。</a:t>
            </a:r>
            <a:endParaRPr lang="en-US" altLang="zh-CN" sz="2400" b="1" dirty="0"/>
          </a:p>
          <a:p>
            <a:pPr defTabSz="914400" eaLnBrk="1" hangingPunct="1">
              <a:tabLst>
                <a:tab pos="2778125" algn="l"/>
              </a:tabLst>
            </a:pPr>
            <a:r>
              <a:rPr lang="zh-CN" altLang="en-US" sz="2400" b="1" dirty="0"/>
              <a:t>      金属在水溶液中因腐蚀、酸洗、电镀和阳极保护等，其表面可能有氢发生。</a:t>
            </a:r>
          </a:p>
          <a:p>
            <a:pPr defTabSz="914400" eaLnBrk="1" hangingPunct="1">
              <a:tabLst>
                <a:tab pos="2778125" algn="l"/>
              </a:tabLst>
            </a:pPr>
            <a:r>
              <a:rPr lang="zh-CN" altLang="en-US" sz="2400" b="1" dirty="0"/>
              <a:t>酸洗反应           </a:t>
            </a:r>
          </a:p>
          <a:p>
            <a:pPr defTabSz="914400" eaLnBrk="1" hangingPunct="1">
              <a:tabLst>
                <a:tab pos="2778125" algn="l"/>
              </a:tabLst>
            </a:pPr>
            <a:r>
              <a:rPr lang="zh-CN" altLang="en-US" sz="2400" b="1" dirty="0"/>
              <a:t>    </a:t>
            </a:r>
          </a:p>
          <a:p>
            <a:pPr defTabSz="914400" eaLnBrk="1" hangingPunct="1">
              <a:tabLst>
                <a:tab pos="2778125" algn="l"/>
              </a:tabLst>
            </a:pPr>
            <a:r>
              <a:rPr lang="zh-CN" altLang="en-US" sz="2400" b="1" dirty="0"/>
              <a:t>硫化氢氧化反应         </a:t>
            </a:r>
          </a:p>
          <a:p>
            <a:pPr defTabSz="914400" eaLnBrk="1" hangingPunct="1">
              <a:tabLst>
                <a:tab pos="2778125" algn="l"/>
              </a:tabLst>
            </a:pPr>
            <a:r>
              <a:rPr lang="zh-CN" altLang="en-US" sz="2400" b="1" i="1" u="sng" dirty="0">
                <a:solidFill>
                  <a:srgbClr val="FF3300"/>
                </a:solidFill>
              </a:rPr>
              <a:t>防止氢脆的方法</a:t>
            </a:r>
            <a:r>
              <a:rPr lang="en-US" altLang="zh-CN" sz="2400" b="1" dirty="0"/>
              <a:t>:</a:t>
            </a:r>
          </a:p>
          <a:p>
            <a:pPr defTabSz="914400" eaLnBrk="1" hangingPunct="1">
              <a:buNone/>
              <a:tabLst>
                <a:tab pos="2778125" algn="l"/>
              </a:tabLst>
            </a:pPr>
            <a:r>
              <a:rPr lang="en-US" altLang="zh-CN" sz="2400" b="1" dirty="0"/>
              <a:t>    ①</a:t>
            </a:r>
            <a:r>
              <a:rPr lang="zh-CN" altLang="en-US" sz="2400" b="1" dirty="0"/>
              <a:t>避免在金属表面上有产生氢的条件；</a:t>
            </a:r>
            <a:endParaRPr lang="en-US" altLang="zh-CN" sz="2400" b="1" dirty="0"/>
          </a:p>
          <a:p>
            <a:pPr defTabSz="914400" eaLnBrk="1" hangingPunct="1">
              <a:buNone/>
              <a:tabLst>
                <a:tab pos="2778125" algn="l"/>
              </a:tabLst>
            </a:pPr>
            <a:r>
              <a:rPr lang="en-US" altLang="zh-CN" sz="2400" b="1" dirty="0"/>
              <a:t>    </a:t>
            </a:r>
            <a:r>
              <a:rPr lang="zh-CN" altLang="en-US" sz="2400" b="1" dirty="0"/>
              <a:t>②改善介质性质，使氢成为无害的</a:t>
            </a:r>
            <a:r>
              <a:rPr lang="en-US" altLang="zh-CN" sz="2400" b="1" dirty="0"/>
              <a:t>H</a:t>
            </a:r>
            <a:r>
              <a:rPr lang="en-US" altLang="zh-CN" sz="2400" b="1" baseline="-25000" dirty="0"/>
              <a:t>2</a:t>
            </a:r>
            <a:r>
              <a:rPr lang="zh-CN" altLang="en-US" sz="2400" b="1" dirty="0"/>
              <a:t>在金属表面逸出；</a:t>
            </a:r>
            <a:endParaRPr lang="en-US" altLang="zh-CN" sz="2400" b="1" dirty="0"/>
          </a:p>
          <a:p>
            <a:pPr defTabSz="914400" eaLnBrk="1" hangingPunct="1">
              <a:buNone/>
              <a:tabLst>
                <a:tab pos="2778125" algn="l"/>
              </a:tabLst>
            </a:pPr>
            <a:r>
              <a:rPr lang="en-US" altLang="zh-CN" sz="2400" b="1" dirty="0"/>
              <a:t>    </a:t>
            </a:r>
            <a:r>
              <a:rPr lang="zh-CN" altLang="en-US" sz="2400" b="1" dirty="0"/>
              <a:t>③选择在给定介质中能抗氢脆的合金。</a:t>
            </a:r>
          </a:p>
        </p:txBody>
      </p:sp>
      <p:sp>
        <p:nvSpPr>
          <p:cNvPr id="80898" name="内容占位符 2"/>
          <p:cNvSpPr/>
          <p:nvPr/>
        </p:nvSpPr>
        <p:spPr>
          <a:xfrm>
            <a:off x="539750" y="265113"/>
            <a:ext cx="2447925" cy="481012"/>
          </a:xfrm>
          <a:prstGeom prst="rect">
            <a:avLst/>
          </a:prstGeom>
          <a:noFill/>
          <a:ln w="9525">
            <a:noFill/>
          </a:ln>
        </p:spPr>
        <p:txBody>
          <a:bodyPr anchor="t" anchorCtr="0"/>
          <a:lstStyle/>
          <a:p>
            <a:pPr marL="342900" indent="-342900">
              <a:spcBef>
                <a:spcPct val="20000"/>
              </a:spcBef>
              <a:buChar char="•"/>
            </a:pPr>
            <a:r>
              <a:rPr lang="en-US" altLang="zh-CN" sz="2800" b="1" dirty="0">
                <a:solidFill>
                  <a:srgbClr val="0000FF"/>
                </a:solidFill>
                <a:latin typeface="Times New Roman" panose="02020603050405020304" pitchFamily="18" charset="0"/>
                <a:ea typeface="宋体" panose="02010600030101010101" pitchFamily="2" charset="-122"/>
              </a:rPr>
              <a:t>3. </a:t>
            </a:r>
            <a:r>
              <a:rPr lang="en-US" altLang="en-US" sz="2800" b="1" dirty="0">
                <a:solidFill>
                  <a:srgbClr val="0000FF"/>
                </a:solidFill>
                <a:latin typeface="Times New Roman" panose="02020603050405020304" pitchFamily="18" charset="0"/>
                <a:ea typeface="宋体" panose="02010600030101010101" pitchFamily="2" charset="-122"/>
              </a:rPr>
              <a:t>氢脆</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80899"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1510" name="Object 6"/>
          <p:cNvGraphicFramePr>
            <a:graphicFrameLocks noChangeAspect="1"/>
          </p:cNvGraphicFramePr>
          <p:nvPr/>
        </p:nvGraphicFramePr>
        <p:xfrm>
          <a:off x="3059113" y="2497138"/>
          <a:ext cx="3436937" cy="666750"/>
        </p:xfrm>
        <a:graphic>
          <a:graphicData uri="http://schemas.openxmlformats.org/presentationml/2006/ole">
            <mc:AlternateContent xmlns:mc="http://schemas.openxmlformats.org/markup-compatibility/2006">
              <mc:Choice xmlns:v="urn:schemas-microsoft-com:vml" Requires="v">
                <p:oleObj r:id="rId2" imgW="1764665" imgH="406400" progId="Equation.DSMT4">
                  <p:embed/>
                </p:oleObj>
              </mc:Choice>
              <mc:Fallback>
                <p:oleObj r:id="rId2" imgW="1764665" imgH="406400" progId="Equation.DSMT4">
                  <p:embed/>
                  <p:pic>
                    <p:nvPicPr>
                      <p:cNvPr id="0" name="图片 3077"/>
                      <p:cNvPicPr/>
                      <p:nvPr/>
                    </p:nvPicPr>
                    <p:blipFill>
                      <a:blip r:embed="rId3"/>
                      <a:stretch>
                        <a:fillRect/>
                      </a:stretch>
                    </p:blipFill>
                    <p:spPr>
                      <a:xfrm>
                        <a:off x="3059113" y="2497138"/>
                        <a:ext cx="3436937" cy="666750"/>
                      </a:xfrm>
                      <a:prstGeom prst="rect">
                        <a:avLst/>
                      </a:prstGeom>
                      <a:noFill/>
                      <a:ln w="38100">
                        <a:noFill/>
                        <a:miter/>
                      </a:ln>
                    </p:spPr>
                  </p:pic>
                </p:oleObj>
              </mc:Fallback>
            </mc:AlternateContent>
          </a:graphicData>
        </a:graphic>
      </p:graphicFrame>
      <p:sp>
        <p:nvSpPr>
          <p:cNvPr id="80901" name="Rectangle 9"/>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1512" name="Object 8"/>
          <p:cNvGraphicFramePr>
            <a:graphicFrameLocks noChangeAspect="1"/>
          </p:cNvGraphicFramePr>
          <p:nvPr/>
        </p:nvGraphicFramePr>
        <p:xfrm>
          <a:off x="3132138" y="3241675"/>
          <a:ext cx="2952750" cy="323850"/>
        </p:xfrm>
        <a:graphic>
          <a:graphicData uri="http://schemas.openxmlformats.org/presentationml/2006/ole">
            <mc:AlternateContent xmlns:mc="http://schemas.openxmlformats.org/markup-compatibility/2006">
              <mc:Choice xmlns:v="urn:schemas-microsoft-com:vml" Requires="v">
                <p:oleObj r:id="rId4" imgW="1390015" imgH="178435" progId="Equation.3">
                  <p:embed/>
                </p:oleObj>
              </mc:Choice>
              <mc:Fallback>
                <p:oleObj r:id="rId4" imgW="1390015" imgH="178435" progId="Equation.3">
                  <p:embed/>
                  <p:pic>
                    <p:nvPicPr>
                      <p:cNvPr id="0" name="图片 3076"/>
                      <p:cNvPicPr/>
                      <p:nvPr/>
                    </p:nvPicPr>
                    <p:blipFill>
                      <a:blip r:embed="rId5"/>
                      <a:stretch>
                        <a:fillRect/>
                      </a:stretch>
                    </p:blipFill>
                    <p:spPr>
                      <a:xfrm>
                        <a:off x="3132138" y="3241675"/>
                        <a:ext cx="2952750" cy="323850"/>
                      </a:xfrm>
                      <a:prstGeom prst="rect">
                        <a:avLst/>
                      </a:prstGeom>
                      <a:noFill/>
                      <a:ln w="38100">
                        <a:noFill/>
                        <a:miter/>
                      </a:ln>
                    </p:spPr>
                  </p:pic>
                </p:oleObj>
              </mc:Fallback>
            </mc:AlternateContent>
          </a:graphicData>
        </a:graphic>
      </p:graphicFrame>
      <p:pic>
        <p:nvPicPr>
          <p:cNvPr id="80903" name="Picture 12"/>
          <p:cNvPicPr>
            <a:picLocks noChangeAspect="1"/>
          </p:cNvPicPr>
          <p:nvPr/>
        </p:nvPicPr>
        <p:blipFill>
          <a:blip r:embed="rId6"/>
          <a:stretch>
            <a:fillRect/>
          </a:stretch>
        </p:blipFill>
        <p:spPr>
          <a:xfrm>
            <a:off x="6372225" y="3001963"/>
            <a:ext cx="2493963" cy="1368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6">
                                            <p:bg/>
                                          </p:spTgt>
                                        </p:tgtEl>
                                        <p:attrNameLst>
                                          <p:attrName>style.visibility</p:attrName>
                                        </p:attrNameLst>
                                      </p:cBhvr>
                                      <p:to>
                                        <p:strVal val="visible"/>
                                      </p:to>
                                    </p:set>
                                    <p:animEffect transition="in" filter="dissolve">
                                      <p:cBhvr>
                                        <p:cTn id="7" dur="500"/>
                                        <p:tgtEl>
                                          <p:spTgt spid="21506">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6">
                                            <p:txEl>
                                              <p:pRg st="0" end="0"/>
                                            </p:txEl>
                                          </p:spTgt>
                                        </p:tgtEl>
                                        <p:attrNameLst>
                                          <p:attrName>style.visibility</p:attrName>
                                        </p:attrNameLst>
                                      </p:cBhvr>
                                      <p:to>
                                        <p:strVal val="visible"/>
                                      </p:to>
                                    </p:set>
                                    <p:animEffect transition="in" filter="dissolve">
                                      <p:cBhvr>
                                        <p:cTn id="12" dur="500"/>
                                        <p:tgtEl>
                                          <p:spTgt spid="2150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6">
                                            <p:txEl>
                                              <p:pRg st="1" end="1"/>
                                            </p:txEl>
                                          </p:spTgt>
                                        </p:tgtEl>
                                        <p:attrNameLst>
                                          <p:attrName>style.visibility</p:attrName>
                                        </p:attrNameLst>
                                      </p:cBhvr>
                                      <p:to>
                                        <p:strVal val="visible"/>
                                      </p:to>
                                    </p:set>
                                    <p:animEffect transition="in" filter="dissolve">
                                      <p:cBhvr>
                                        <p:cTn id="17" dur="500"/>
                                        <p:tgtEl>
                                          <p:spTgt spid="2150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6">
                                            <p:txEl>
                                              <p:pRg st="2" end="2"/>
                                            </p:txEl>
                                          </p:spTgt>
                                        </p:tgtEl>
                                        <p:attrNameLst>
                                          <p:attrName>style.visibility</p:attrName>
                                        </p:attrNameLst>
                                      </p:cBhvr>
                                      <p:to>
                                        <p:strVal val="visible"/>
                                      </p:to>
                                    </p:set>
                                    <p:animEffect transition="in" filter="dissolve">
                                      <p:cBhvr>
                                        <p:cTn id="22" dur="500"/>
                                        <p:tgtEl>
                                          <p:spTgt spid="2150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1510"/>
                                        </p:tgtEl>
                                        <p:attrNameLst>
                                          <p:attrName>style.visibility</p:attrName>
                                        </p:attrNameLst>
                                      </p:cBhvr>
                                      <p:to>
                                        <p:strVal val="visible"/>
                                      </p:to>
                                    </p:set>
                                    <p:animEffect transition="in" filter="dissolve">
                                      <p:cBhvr>
                                        <p:cTn id="27" dur="500"/>
                                        <p:tgtEl>
                                          <p:spTgt spid="215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506">
                                            <p:txEl>
                                              <p:pRg st="3" end="3"/>
                                            </p:txEl>
                                          </p:spTgt>
                                        </p:tgtEl>
                                        <p:attrNameLst>
                                          <p:attrName>style.visibility</p:attrName>
                                        </p:attrNameLst>
                                      </p:cBhvr>
                                      <p:to>
                                        <p:strVal val="visible"/>
                                      </p:to>
                                    </p:set>
                                    <p:animEffect transition="in" filter="dissolve">
                                      <p:cBhvr>
                                        <p:cTn id="32" dur="500"/>
                                        <p:tgtEl>
                                          <p:spTgt spid="2150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1506">
                                            <p:txEl>
                                              <p:pRg st="4" end="4"/>
                                            </p:txEl>
                                          </p:spTgt>
                                        </p:tgtEl>
                                        <p:attrNameLst>
                                          <p:attrName>style.visibility</p:attrName>
                                        </p:attrNameLst>
                                      </p:cBhvr>
                                      <p:to>
                                        <p:strVal val="visible"/>
                                      </p:to>
                                    </p:set>
                                    <p:animEffect transition="in" filter="dissolve">
                                      <p:cBhvr>
                                        <p:cTn id="37" dur="500"/>
                                        <p:tgtEl>
                                          <p:spTgt spid="2150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1512"/>
                                        </p:tgtEl>
                                        <p:attrNameLst>
                                          <p:attrName>style.visibility</p:attrName>
                                        </p:attrNameLst>
                                      </p:cBhvr>
                                      <p:to>
                                        <p:strVal val="visible"/>
                                      </p:to>
                                    </p:set>
                                    <p:animEffect transition="in" filter="dissolve">
                                      <p:cBhvr>
                                        <p:cTn id="42" dur="500"/>
                                        <p:tgtEl>
                                          <p:spTgt spid="2151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506">
                                            <p:txEl>
                                              <p:pRg st="5" end="5"/>
                                            </p:txEl>
                                          </p:spTgt>
                                        </p:tgtEl>
                                        <p:attrNameLst>
                                          <p:attrName>style.visibility</p:attrName>
                                        </p:attrNameLst>
                                      </p:cBhvr>
                                      <p:to>
                                        <p:strVal val="visible"/>
                                      </p:to>
                                    </p:set>
                                    <p:animEffect transition="in" filter="dissolve">
                                      <p:cBhvr>
                                        <p:cTn id="47" dur="500"/>
                                        <p:tgtEl>
                                          <p:spTgt spid="21506">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506">
                                            <p:txEl>
                                              <p:pRg st="6" end="6"/>
                                            </p:txEl>
                                          </p:spTgt>
                                        </p:tgtEl>
                                        <p:attrNameLst>
                                          <p:attrName>style.visibility</p:attrName>
                                        </p:attrNameLst>
                                      </p:cBhvr>
                                      <p:to>
                                        <p:strVal val="visible"/>
                                      </p:to>
                                    </p:set>
                                    <p:animEffect transition="in" filter="dissolve">
                                      <p:cBhvr>
                                        <p:cTn id="52" dur="500"/>
                                        <p:tgtEl>
                                          <p:spTgt spid="21506">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1506">
                                            <p:txEl>
                                              <p:pRg st="7" end="7"/>
                                            </p:txEl>
                                          </p:spTgt>
                                        </p:tgtEl>
                                        <p:attrNameLst>
                                          <p:attrName>style.visibility</p:attrName>
                                        </p:attrNameLst>
                                      </p:cBhvr>
                                      <p:to>
                                        <p:strVal val="visible"/>
                                      </p:to>
                                    </p:set>
                                    <p:animEffect transition="in" filter="dissolve">
                                      <p:cBhvr>
                                        <p:cTn id="57" dur="500"/>
                                        <p:tgtEl>
                                          <p:spTgt spid="21506">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1506">
                                            <p:txEl>
                                              <p:pRg st="8" end="8"/>
                                            </p:txEl>
                                          </p:spTgt>
                                        </p:tgtEl>
                                        <p:attrNameLst>
                                          <p:attrName>style.visibility</p:attrName>
                                        </p:attrNameLst>
                                      </p:cBhvr>
                                      <p:to>
                                        <p:strVal val="visible"/>
                                      </p:to>
                                    </p:set>
                                    <p:animEffect transition="in" filter="dissolve">
                                      <p:cBhvr>
                                        <p:cTn id="62" dur="500"/>
                                        <p:tgtEl>
                                          <p:spTgt spid="2150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179388" y="1417638"/>
            <a:ext cx="8856662" cy="2566987"/>
          </a:xfrm>
          <a:solidFill>
            <a:schemeClr val="accent1"/>
          </a:solidFill>
        </p:spPr>
        <p:txBody>
          <a:bodyPr vert="horz" wrap="square" lIns="91440" tIns="45720" rIns="91440" bIns="45720" anchor="t" anchorCtr="0"/>
          <a:lstStyle/>
          <a:p>
            <a:pPr algn="just" eaLnBrk="1" hangingPunct="1">
              <a:lnSpc>
                <a:spcPct val="125000"/>
              </a:lnSpc>
            </a:pPr>
            <a:r>
              <a:rPr lang="zh-CN" altLang="en-US" sz="2400" b="1" dirty="0">
                <a:latin typeface="Times New Roman" panose="02020603050405020304" pitchFamily="18" charset="0"/>
              </a:rPr>
              <a:t>       </a:t>
            </a:r>
            <a:r>
              <a:rPr lang="zh-CN" altLang="zh-CN" sz="2400" b="1" dirty="0">
                <a:latin typeface="Times New Roman" panose="02020603050405020304" pitchFamily="18" charset="0"/>
                <a:hlinkClick r:id="rId2" action="ppaction://hlinkfile"/>
              </a:rPr>
              <a:t>金属的电化学腐蚀</a:t>
            </a:r>
            <a:r>
              <a:rPr lang="zh-CN" altLang="zh-CN" sz="2400" b="1" dirty="0">
                <a:latin typeface="Times New Roman" panose="02020603050405020304" pitchFamily="18" charset="0"/>
              </a:rPr>
              <a:t>是最为广泛的一种腐蚀。</a:t>
            </a:r>
            <a:endParaRPr lang="zh-CN" altLang="en-US" sz="2400" b="1" dirty="0">
              <a:latin typeface="Times New Roman" panose="02020603050405020304" pitchFamily="18" charset="0"/>
            </a:endParaRPr>
          </a:p>
          <a:p>
            <a:pPr algn="just" eaLnBrk="1" hangingPunct="1">
              <a:lnSpc>
                <a:spcPct val="125000"/>
              </a:lnSpc>
            </a:pPr>
            <a:r>
              <a:rPr lang="zh-CN" altLang="en-US" sz="2400" b="1" dirty="0">
                <a:latin typeface="Times New Roman" panose="02020603050405020304" pitchFamily="18" charset="0"/>
              </a:rPr>
              <a:t>       </a:t>
            </a:r>
            <a:r>
              <a:rPr lang="zh-CN" altLang="zh-CN" sz="2400" b="1" dirty="0">
                <a:solidFill>
                  <a:srgbClr val="0000FF"/>
                </a:solidFill>
                <a:latin typeface="Times New Roman" panose="02020603050405020304" pitchFamily="18" charset="0"/>
              </a:rPr>
              <a:t>电化学腐蚀与化学腐蚀区别</a:t>
            </a:r>
            <a:r>
              <a:rPr lang="zh-CN" altLang="en-US" sz="2400" b="1" dirty="0">
                <a:latin typeface="Times New Roman" panose="02020603050405020304" pitchFamily="18" charset="0"/>
              </a:rPr>
              <a:t>：</a:t>
            </a:r>
          </a:p>
          <a:p>
            <a:pPr algn="just" eaLnBrk="1" hangingPunct="1">
              <a:lnSpc>
                <a:spcPct val="125000"/>
              </a:lnSpc>
            </a:pPr>
            <a:r>
              <a:rPr lang="zh-CN" altLang="en-US" sz="2400" b="1" dirty="0">
                <a:latin typeface="Times New Roman" panose="02020603050405020304" pitchFamily="18" charset="0"/>
              </a:rPr>
              <a:t>       </a:t>
            </a:r>
            <a:r>
              <a:rPr lang="zh-CN" altLang="zh-CN" sz="2400" b="1" dirty="0">
                <a:latin typeface="Times New Roman" panose="02020603050405020304" pitchFamily="18" charset="0"/>
              </a:rPr>
              <a:t>前者有电流产生。金属放在水溶液或潮湿的空气中，金属表面会形成一种微原电池。阳极发生氧化反应溶解；阴极发生还原反应，一般只起传递电子的作用。</a:t>
            </a:r>
            <a:r>
              <a:rPr lang="zh-CN" altLang="en-US" sz="2400" b="1" dirty="0">
                <a:latin typeface="Times New Roman" panose="02020603050405020304" pitchFamily="18" charset="0"/>
              </a:rPr>
              <a:t>    </a:t>
            </a:r>
            <a:endParaRPr lang="en-US" altLang="zh-CN" sz="2400" b="1" dirty="0">
              <a:latin typeface="Times New Roman" panose="02020603050405020304" pitchFamily="18" charset="0"/>
            </a:endParaRPr>
          </a:p>
        </p:txBody>
      </p:sp>
      <p:sp>
        <p:nvSpPr>
          <p:cNvPr id="81922" name="Rectangle 5"/>
          <p:cNvSpPr/>
          <p:nvPr/>
        </p:nvSpPr>
        <p:spPr>
          <a:xfrm>
            <a:off x="0" y="481013"/>
            <a:ext cx="4067175" cy="652462"/>
          </a:xfrm>
          <a:prstGeom prst="rect">
            <a:avLst/>
          </a:prstGeom>
          <a:noFill/>
          <a:ln w="9525">
            <a:noFill/>
          </a:ln>
        </p:spPr>
        <p:txBody>
          <a:bodyPr anchor="t" anchorCtr="0">
            <a:spAutoFit/>
          </a:bodyPr>
          <a:lstStyle/>
          <a:p>
            <a:pPr>
              <a:lnSpc>
                <a:spcPct val="130000"/>
              </a:lnSpc>
              <a:spcBef>
                <a:spcPct val="20000"/>
              </a:spcBef>
              <a:buChar char="•"/>
            </a:pPr>
            <a:r>
              <a:rPr lang="en-US" altLang="zh-CN" sz="2800" b="1" dirty="0">
                <a:solidFill>
                  <a:srgbClr val="9900CC"/>
                </a:solidFill>
                <a:latin typeface="Times New Roman" panose="02020603050405020304" pitchFamily="18" charset="0"/>
                <a:ea typeface="宋体" panose="02010600030101010101" pitchFamily="2" charset="-122"/>
              </a:rPr>
              <a:t>4.5.2  </a:t>
            </a:r>
            <a:r>
              <a:rPr lang="zh-CN" altLang="en-US" sz="2800" b="1" dirty="0">
                <a:solidFill>
                  <a:srgbClr val="9900CC"/>
                </a:solidFill>
                <a:latin typeface="Times New Roman" panose="02020603050405020304" pitchFamily="18" charset="0"/>
                <a:ea typeface="宋体" panose="02010600030101010101" pitchFamily="2" charset="-122"/>
              </a:rPr>
              <a:t>金属的电化学腐蚀</a:t>
            </a:r>
          </a:p>
        </p:txBody>
      </p:sp>
      <p:pic>
        <p:nvPicPr>
          <p:cNvPr id="81923" name="图片 1"/>
          <p:cNvPicPr>
            <a:picLocks noChangeAspect="1"/>
          </p:cNvPicPr>
          <p:nvPr/>
        </p:nvPicPr>
        <p:blipFill>
          <a:blip r:embed="rId3"/>
          <a:stretch>
            <a:fillRect/>
          </a:stretch>
        </p:blipFill>
        <p:spPr>
          <a:xfrm>
            <a:off x="7740650" y="147638"/>
            <a:ext cx="1095375" cy="9128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0">
                                            <p:bg/>
                                          </p:spTgt>
                                        </p:tgtEl>
                                        <p:attrNameLst>
                                          <p:attrName>style.visibility</p:attrName>
                                        </p:attrNameLst>
                                      </p:cBhvr>
                                      <p:to>
                                        <p:strVal val="visible"/>
                                      </p:to>
                                    </p:set>
                                    <p:animEffect transition="in" filter="dissolve">
                                      <p:cBhvr>
                                        <p:cTn id="7" dur="500"/>
                                        <p:tgtEl>
                                          <p:spTgt spid="22530">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530">
                                            <p:txEl>
                                              <p:pRg st="0" end="0"/>
                                            </p:txEl>
                                          </p:spTgt>
                                        </p:tgtEl>
                                        <p:attrNameLst>
                                          <p:attrName>style.visibility</p:attrName>
                                        </p:attrNameLst>
                                      </p:cBhvr>
                                      <p:to>
                                        <p:strVal val="visible"/>
                                      </p:to>
                                    </p:set>
                                    <p:animEffect transition="in" filter="dissolve">
                                      <p:cBhvr>
                                        <p:cTn id="12" dur="500"/>
                                        <p:tgtEl>
                                          <p:spTgt spid="225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530">
                                            <p:txEl>
                                              <p:pRg st="1" end="1"/>
                                            </p:txEl>
                                          </p:spTgt>
                                        </p:tgtEl>
                                        <p:attrNameLst>
                                          <p:attrName>style.visibility</p:attrName>
                                        </p:attrNameLst>
                                      </p:cBhvr>
                                      <p:to>
                                        <p:strVal val="visible"/>
                                      </p:to>
                                    </p:set>
                                    <p:animEffect transition="in" filter="dissolve">
                                      <p:cBhvr>
                                        <p:cTn id="17" dur="500"/>
                                        <p:tgtEl>
                                          <p:spTgt spid="2253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530">
                                            <p:txEl>
                                              <p:pRg st="2" end="2"/>
                                            </p:txEl>
                                          </p:spTgt>
                                        </p:tgtEl>
                                        <p:attrNameLst>
                                          <p:attrName>style.visibility</p:attrName>
                                        </p:attrNameLst>
                                      </p:cBhvr>
                                      <p:to>
                                        <p:strVal val="visible"/>
                                      </p:to>
                                    </p:set>
                                    <p:animEffect transition="in" filter="dissolve">
                                      <p:cBhvr>
                                        <p:cTn id="22"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noChangeArrowheads="1"/>
          </p:cNvSpPr>
          <p:nvPr>
            <p:ph idx="1"/>
          </p:nvPr>
        </p:nvSpPr>
        <p:spPr>
          <a:xfrm>
            <a:off x="179388" y="1239838"/>
            <a:ext cx="8856663" cy="2986088"/>
          </a:xfrm>
          <a:ln w="25400">
            <a:solidFill>
              <a:srgbClr val="C00000"/>
            </a:solidFill>
            <a:prstDash val="dash"/>
          </a:ln>
        </p:spPr>
        <p:txBody>
          <a:bodyPr vert="horz" wrap="square" lIns="91440" tIns="45720" rIns="91440" bIns="45720" numCol="1" anchor="t" anchorCtr="0" compatLnSpc="1"/>
          <a:lstStyle/>
          <a:p>
            <a:pPr marL="342900" marR="0" lvl="0" indent="-342900" algn="just" defTabSz="914400" rtl="0" eaLnBrk="1" fontAlgn="base" latinLnBrk="0" hangingPunct="1">
              <a:lnSpc>
                <a:spcPct val="125000"/>
              </a:lnSpc>
              <a:spcBef>
                <a:spcPct val="20000"/>
              </a:spcBef>
              <a:spcAft>
                <a:spcPct val="0"/>
              </a:spcAft>
              <a:buClrTx/>
              <a:buSzTx/>
              <a:buFontTx/>
              <a:buChar char="•"/>
              <a:defRPr/>
            </a:pPr>
            <a:r>
              <a:rPr kumimoji="0" lang="zh-CN"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mn-cs"/>
              </a:rPr>
              <a:t>腐蚀电池形成的原因</a:t>
            </a: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mn-cs"/>
              </a:rPr>
              <a:t>:</a:t>
            </a:r>
            <a:r>
              <a:rPr kumimoji="0" lang="zh-CN"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主要是由于金属表面吸附了空气中的水分，使空气中的</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CO</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mn-cs"/>
              </a:rPr>
              <a:t>2</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SO</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mn-cs"/>
              </a:rPr>
              <a:t>2</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NO</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mn-cs"/>
              </a:rPr>
              <a:t>2</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等溶解在这层水膜中，形成了电解质溶液。而浸泡在这层溶液中的金属一般都不纯，如工业用的钢铁，实际上是合金。</a:t>
            </a:r>
          </a:p>
          <a:p>
            <a:pPr marL="342900" marR="0" lvl="0" indent="-342900" algn="just" defTabSz="914400" rtl="0" eaLnBrk="1" fontAlgn="base" latinLnBrk="0" hangingPunct="1">
              <a:lnSpc>
                <a:spcPct val="125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因介质的</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pH</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不同，电化学腐蚀又分为</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25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析氢腐蚀和吸氧腐蚀。</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82946" name="Rectangle 5"/>
          <p:cNvSpPr/>
          <p:nvPr/>
        </p:nvSpPr>
        <p:spPr>
          <a:xfrm>
            <a:off x="0" y="277813"/>
            <a:ext cx="4067175" cy="652462"/>
          </a:xfrm>
          <a:prstGeom prst="rect">
            <a:avLst/>
          </a:prstGeom>
          <a:noFill/>
          <a:ln w="9525">
            <a:noFill/>
          </a:ln>
        </p:spPr>
        <p:txBody>
          <a:bodyPr anchor="t" anchorCtr="0">
            <a:spAutoFit/>
          </a:bodyPr>
          <a:lstStyle/>
          <a:p>
            <a:pPr>
              <a:lnSpc>
                <a:spcPct val="130000"/>
              </a:lnSpc>
              <a:spcBef>
                <a:spcPct val="20000"/>
              </a:spcBef>
              <a:buChar char="•"/>
            </a:pPr>
            <a:r>
              <a:rPr lang="en-US" altLang="zh-CN" sz="2800" b="1" dirty="0">
                <a:solidFill>
                  <a:srgbClr val="9900CC"/>
                </a:solidFill>
                <a:latin typeface="Times New Roman" panose="02020603050405020304" pitchFamily="18" charset="0"/>
                <a:ea typeface="宋体" panose="02010600030101010101" pitchFamily="2" charset="-122"/>
              </a:rPr>
              <a:t>4.5.2  </a:t>
            </a:r>
            <a:r>
              <a:rPr lang="zh-CN" altLang="en-US" sz="2800" b="1" dirty="0">
                <a:solidFill>
                  <a:srgbClr val="9900CC"/>
                </a:solidFill>
                <a:latin typeface="Times New Roman" panose="02020603050405020304" pitchFamily="18" charset="0"/>
                <a:ea typeface="宋体" panose="02010600030101010101" pitchFamily="2" charset="-122"/>
              </a:rPr>
              <a:t>金属的电化学腐蚀</a:t>
            </a:r>
          </a:p>
        </p:txBody>
      </p:sp>
      <p:pic>
        <p:nvPicPr>
          <p:cNvPr id="82947" name="图片 1"/>
          <p:cNvPicPr>
            <a:picLocks noChangeAspect="1"/>
          </p:cNvPicPr>
          <p:nvPr/>
        </p:nvPicPr>
        <p:blipFill>
          <a:blip r:embed="rId2"/>
          <a:stretch>
            <a:fillRect/>
          </a:stretch>
        </p:blipFill>
        <p:spPr>
          <a:xfrm>
            <a:off x="7740650" y="147638"/>
            <a:ext cx="1095375" cy="9128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0">
                                            <p:bg/>
                                          </p:spTgt>
                                        </p:tgtEl>
                                        <p:attrNameLst>
                                          <p:attrName>style.visibility</p:attrName>
                                        </p:attrNameLst>
                                      </p:cBhvr>
                                      <p:to>
                                        <p:strVal val="visible"/>
                                      </p:to>
                                    </p:set>
                                    <p:animEffect transition="in" filter="dissolve">
                                      <p:cBhvr>
                                        <p:cTn id="7" dur="500"/>
                                        <p:tgtEl>
                                          <p:spTgt spid="22530">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530">
                                            <p:txEl>
                                              <p:pRg st="0" end="0"/>
                                            </p:txEl>
                                          </p:spTgt>
                                        </p:tgtEl>
                                        <p:attrNameLst>
                                          <p:attrName>style.visibility</p:attrName>
                                        </p:attrNameLst>
                                      </p:cBhvr>
                                      <p:to>
                                        <p:strVal val="visible"/>
                                      </p:to>
                                    </p:set>
                                    <p:animEffect transition="in" filter="dissolve">
                                      <p:cBhvr>
                                        <p:cTn id="12" dur="500"/>
                                        <p:tgtEl>
                                          <p:spTgt spid="225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530">
                                            <p:txEl>
                                              <p:pRg st="1" end="1"/>
                                            </p:txEl>
                                          </p:spTgt>
                                        </p:tgtEl>
                                        <p:attrNameLst>
                                          <p:attrName>style.visibility</p:attrName>
                                        </p:attrNameLst>
                                      </p:cBhvr>
                                      <p:to>
                                        <p:strVal val="visible"/>
                                      </p:to>
                                    </p:set>
                                    <p:animEffect transition="in" filter="dissolve">
                                      <p:cBhvr>
                                        <p:cTn id="17" dur="500"/>
                                        <p:tgtEl>
                                          <p:spTgt spid="2253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530">
                                            <p:txEl>
                                              <p:pRg st="2" end="2"/>
                                            </p:txEl>
                                          </p:spTgt>
                                        </p:tgtEl>
                                        <p:attrNameLst>
                                          <p:attrName>style.visibility</p:attrName>
                                        </p:attrNameLst>
                                      </p:cBhvr>
                                      <p:to>
                                        <p:strVal val="visible"/>
                                      </p:to>
                                    </p:set>
                                    <p:animEffect transition="in" filter="dissolve">
                                      <p:cBhvr>
                                        <p:cTn id="22" dur="500"/>
                                        <p:tgtEl>
                                          <p:spTgt spid="22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p:cNvSpPr>
          <p:nvPr>
            <p:ph idx="4294967295"/>
          </p:nvPr>
        </p:nvSpPr>
        <p:spPr>
          <a:xfrm>
            <a:off x="468313" y="1012825"/>
            <a:ext cx="8424862" cy="4581525"/>
          </a:xfrm>
          <a:solidFill>
            <a:schemeClr val="accent1"/>
          </a:solidFill>
        </p:spPr>
        <p:txBody>
          <a:bodyPr vert="horz" wrap="square" lIns="91440" tIns="45720" rIns="91440" bIns="45720" anchor="t" anchorCtr="0"/>
          <a:lstStyle/>
          <a:p>
            <a:pPr eaLnBrk="1" hangingPunct="1">
              <a:lnSpc>
                <a:spcPct val="125000"/>
              </a:lnSpc>
              <a:spcBef>
                <a:spcPct val="0"/>
              </a:spcBef>
            </a:pPr>
            <a:r>
              <a:rPr lang="zh-CN" altLang="zh-CN" sz="2400" b="1" dirty="0"/>
              <a:t>如在钢铁表面吸附水膜酸性较强时，则会发生如下反应:</a:t>
            </a:r>
          </a:p>
          <a:p>
            <a:pPr eaLnBrk="1" hangingPunct="1">
              <a:lnSpc>
                <a:spcPct val="125000"/>
              </a:lnSpc>
              <a:spcBef>
                <a:spcPct val="0"/>
              </a:spcBef>
            </a:pPr>
            <a:r>
              <a:rPr lang="zh-CN" altLang="zh-CN" sz="2400" b="1" dirty="0"/>
              <a:t>阳极(Fe)           </a:t>
            </a:r>
          </a:p>
          <a:p>
            <a:pPr eaLnBrk="1" hangingPunct="1">
              <a:lnSpc>
                <a:spcPct val="125000"/>
              </a:lnSpc>
              <a:spcBef>
                <a:spcPct val="0"/>
              </a:spcBef>
            </a:pPr>
            <a:r>
              <a:rPr lang="zh-CN" altLang="zh-CN" sz="2400" b="1" dirty="0"/>
              <a:t>　　　　　          </a:t>
            </a:r>
          </a:p>
          <a:p>
            <a:pPr eaLnBrk="1" hangingPunct="1">
              <a:lnSpc>
                <a:spcPct val="125000"/>
              </a:lnSpc>
              <a:spcBef>
                <a:spcPct val="0"/>
              </a:spcBef>
            </a:pPr>
            <a:r>
              <a:rPr lang="zh-CN" altLang="zh-CN" sz="2400" b="1" dirty="0"/>
              <a:t>阴极(杂质)          </a:t>
            </a:r>
          </a:p>
          <a:p>
            <a:pPr eaLnBrk="1" hangingPunct="1">
              <a:lnSpc>
                <a:spcPct val="125000"/>
              </a:lnSpc>
              <a:spcBef>
                <a:spcPct val="0"/>
              </a:spcBef>
            </a:pPr>
            <a:r>
              <a:rPr lang="zh-CN" altLang="zh-CN" sz="2400" b="1" dirty="0"/>
              <a:t>电池反应            </a:t>
            </a:r>
          </a:p>
          <a:p>
            <a:pPr eaLnBrk="1" hangingPunct="1">
              <a:lnSpc>
                <a:spcPct val="125000"/>
              </a:lnSpc>
              <a:spcBef>
                <a:spcPct val="0"/>
              </a:spcBef>
            </a:pPr>
            <a:r>
              <a:rPr lang="zh-CN" altLang="en-US" sz="2400" b="1" dirty="0"/>
              <a:t>       在腐蚀过程中，阳极发生腐蚀溶解的同时阴极上有氢析出的腐蚀，称为</a:t>
            </a:r>
            <a:r>
              <a:rPr lang="zh-CN" altLang="en-US" sz="2400" b="1" dirty="0">
                <a:solidFill>
                  <a:srgbClr val="0000FF"/>
                </a:solidFill>
              </a:rPr>
              <a:t>析氢腐蚀</a:t>
            </a:r>
            <a:r>
              <a:rPr lang="zh-CN" altLang="en-US" sz="2400" b="1" dirty="0"/>
              <a:t>。氢在阴极上还原并以氢气形式析出。</a:t>
            </a:r>
          </a:p>
          <a:p>
            <a:pPr eaLnBrk="1" hangingPunct="1">
              <a:lnSpc>
                <a:spcPct val="125000"/>
              </a:lnSpc>
              <a:spcBef>
                <a:spcPct val="0"/>
              </a:spcBef>
            </a:pPr>
            <a:r>
              <a:rPr lang="zh-CN" altLang="en-US" sz="2400" b="1" dirty="0"/>
              <a:t>       此时</a:t>
            </a:r>
            <a:r>
              <a:rPr lang="zh-CN" altLang="en-US" sz="2400" b="1" i="1" u="sng" dirty="0">
                <a:solidFill>
                  <a:srgbClr val="CC3300"/>
                </a:solidFill>
              </a:rPr>
              <a:t>金属阳极的电极电势比氢电极的电极电势</a:t>
            </a:r>
            <a:r>
              <a:rPr lang="zh-CN" altLang="en-US" sz="2400" b="1" dirty="0">
                <a:solidFill>
                  <a:srgbClr val="CC3300"/>
                </a:solidFill>
              </a:rPr>
              <a:t>更负</a:t>
            </a:r>
            <a:r>
              <a:rPr lang="zh-CN" altLang="en-US" sz="2400" b="1" dirty="0"/>
              <a:t>，这是发生析氢腐蚀的必要条件。</a:t>
            </a:r>
            <a:endParaRPr lang="en-US" altLang="zh-CN" sz="2400" b="1" dirty="0"/>
          </a:p>
        </p:txBody>
      </p:sp>
      <p:sp>
        <p:nvSpPr>
          <p:cNvPr id="83970" name="Rectangle 3"/>
          <p:cNvSpPr/>
          <p:nvPr/>
        </p:nvSpPr>
        <p:spPr>
          <a:xfrm>
            <a:off x="0" y="217488"/>
            <a:ext cx="2411413" cy="652462"/>
          </a:xfrm>
          <a:prstGeom prst="rect">
            <a:avLst/>
          </a:prstGeom>
          <a:solidFill>
            <a:srgbClr val="FFCC99"/>
          </a:solidFill>
          <a:ln w="9525">
            <a:noFill/>
          </a:ln>
        </p:spPr>
        <p:txBody>
          <a:bodyPr anchor="t" anchorCtr="0">
            <a:spAutoFit/>
          </a:bodyPr>
          <a:lstStyle/>
          <a:p>
            <a:pPr>
              <a:lnSpc>
                <a:spcPct val="130000"/>
              </a:lnSpc>
              <a:spcBef>
                <a:spcPct val="20000"/>
              </a:spcBef>
              <a:buChar char="•"/>
            </a:pPr>
            <a:r>
              <a:rPr lang="zh-CN" altLang="en-US" sz="2800" b="1" dirty="0">
                <a:solidFill>
                  <a:srgbClr val="9900CC"/>
                </a:solidFill>
                <a:latin typeface="Times New Roman" panose="02020603050405020304" pitchFamily="18" charset="0"/>
                <a:ea typeface="宋体" panose="02010600030101010101" pitchFamily="2" charset="-122"/>
              </a:rPr>
              <a:t>   </a:t>
            </a:r>
            <a:r>
              <a:rPr lang="en-US" altLang="zh-CN" sz="2800" b="1" dirty="0">
                <a:solidFill>
                  <a:srgbClr val="9900CC"/>
                </a:solidFill>
                <a:latin typeface="Times New Roman" panose="02020603050405020304" pitchFamily="18" charset="0"/>
                <a:ea typeface="宋体" panose="02010600030101010101" pitchFamily="2" charset="-122"/>
              </a:rPr>
              <a:t>1.</a:t>
            </a:r>
            <a:r>
              <a:rPr lang="zh-CN" altLang="en-US" sz="2800" b="1" dirty="0">
                <a:solidFill>
                  <a:srgbClr val="9900CC"/>
                </a:solidFill>
                <a:latin typeface="Times New Roman" panose="02020603050405020304" pitchFamily="18" charset="0"/>
                <a:ea typeface="宋体" panose="02010600030101010101" pitchFamily="2" charset="-122"/>
              </a:rPr>
              <a:t>析氢腐蚀</a:t>
            </a:r>
          </a:p>
        </p:txBody>
      </p:sp>
      <p:sp>
        <p:nvSpPr>
          <p:cNvPr id="83971"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0420" name="Object 4"/>
          <p:cNvGraphicFramePr>
            <a:graphicFrameLocks noChangeAspect="1"/>
          </p:cNvGraphicFramePr>
          <p:nvPr/>
        </p:nvGraphicFramePr>
        <p:xfrm>
          <a:off x="3276600" y="1477963"/>
          <a:ext cx="2089150" cy="352425"/>
        </p:xfrm>
        <a:graphic>
          <a:graphicData uri="http://schemas.openxmlformats.org/presentationml/2006/ole">
            <mc:AlternateContent xmlns:mc="http://schemas.openxmlformats.org/markup-compatibility/2006">
              <mc:Choice xmlns:v="urn:schemas-microsoft-com:vml" Requires="v">
                <p:oleObj r:id="rId2" imgW="994410" imgH="203835" progId="Equation.3">
                  <p:embed/>
                </p:oleObj>
              </mc:Choice>
              <mc:Fallback>
                <p:oleObj r:id="rId2" imgW="994410" imgH="203835" progId="Equation.3">
                  <p:embed/>
                  <p:pic>
                    <p:nvPicPr>
                      <p:cNvPr id="0" name="图片 3075"/>
                      <p:cNvPicPr/>
                      <p:nvPr/>
                    </p:nvPicPr>
                    <p:blipFill>
                      <a:blip r:embed="rId3"/>
                      <a:stretch>
                        <a:fillRect/>
                      </a:stretch>
                    </p:blipFill>
                    <p:spPr>
                      <a:xfrm>
                        <a:off x="3276600" y="1477963"/>
                        <a:ext cx="2089150" cy="352425"/>
                      </a:xfrm>
                      <a:prstGeom prst="rect">
                        <a:avLst/>
                      </a:prstGeom>
                      <a:noFill/>
                      <a:ln w="38100">
                        <a:noFill/>
                        <a:miter/>
                      </a:ln>
                    </p:spPr>
                  </p:pic>
                </p:oleObj>
              </mc:Fallback>
            </mc:AlternateContent>
          </a:graphicData>
        </a:graphic>
      </p:graphicFrame>
      <p:graphicFrame>
        <p:nvGraphicFramePr>
          <p:cNvPr id="60422" name="Object 6"/>
          <p:cNvGraphicFramePr>
            <a:graphicFrameLocks noChangeAspect="1"/>
          </p:cNvGraphicFramePr>
          <p:nvPr/>
        </p:nvGraphicFramePr>
        <p:xfrm>
          <a:off x="3059113" y="1993900"/>
          <a:ext cx="3516312" cy="338138"/>
        </p:xfrm>
        <a:graphic>
          <a:graphicData uri="http://schemas.openxmlformats.org/presentationml/2006/ole">
            <mc:AlternateContent xmlns:mc="http://schemas.openxmlformats.org/markup-compatibility/2006">
              <mc:Choice xmlns:v="urn:schemas-microsoft-com:vml" Requires="v">
                <p:oleObj r:id="rId4" imgW="1981835" imgH="228600" progId="Equation.3">
                  <p:embed/>
                </p:oleObj>
              </mc:Choice>
              <mc:Fallback>
                <p:oleObj r:id="rId4" imgW="1981835" imgH="228600" progId="Equation.3">
                  <p:embed/>
                  <p:pic>
                    <p:nvPicPr>
                      <p:cNvPr id="0" name="图片 3083"/>
                      <p:cNvPicPr/>
                      <p:nvPr/>
                    </p:nvPicPr>
                    <p:blipFill>
                      <a:blip r:embed="rId5"/>
                      <a:stretch>
                        <a:fillRect/>
                      </a:stretch>
                    </p:blipFill>
                    <p:spPr>
                      <a:xfrm>
                        <a:off x="3059113" y="1993900"/>
                        <a:ext cx="3516312" cy="338138"/>
                      </a:xfrm>
                      <a:prstGeom prst="rect">
                        <a:avLst/>
                      </a:prstGeom>
                      <a:noFill/>
                      <a:ln w="38100">
                        <a:noFill/>
                        <a:miter/>
                      </a:ln>
                    </p:spPr>
                  </p:pic>
                </p:oleObj>
              </mc:Fallback>
            </mc:AlternateContent>
          </a:graphicData>
        </a:graphic>
      </p:graphicFrame>
      <p:sp>
        <p:nvSpPr>
          <p:cNvPr id="83974" name="Rectangle 9"/>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0424" name="Object 8"/>
          <p:cNvGraphicFramePr>
            <a:graphicFrameLocks noChangeAspect="1"/>
          </p:cNvGraphicFramePr>
          <p:nvPr/>
        </p:nvGraphicFramePr>
        <p:xfrm>
          <a:off x="3348038" y="2378075"/>
          <a:ext cx="2160587" cy="371475"/>
        </p:xfrm>
        <a:graphic>
          <a:graphicData uri="http://schemas.openxmlformats.org/presentationml/2006/ole">
            <mc:AlternateContent xmlns:mc="http://schemas.openxmlformats.org/markup-compatibility/2006">
              <mc:Choice xmlns:v="urn:schemas-microsoft-com:vml" Requires="v">
                <p:oleObj r:id="rId6" imgW="1159510" imgH="241935" progId="Equation.DSMT4">
                  <p:embed/>
                </p:oleObj>
              </mc:Choice>
              <mc:Fallback>
                <p:oleObj r:id="rId6" imgW="1159510" imgH="241935" progId="Equation.DSMT4">
                  <p:embed/>
                  <p:pic>
                    <p:nvPicPr>
                      <p:cNvPr id="0" name="图片 3084"/>
                      <p:cNvPicPr/>
                      <p:nvPr/>
                    </p:nvPicPr>
                    <p:blipFill>
                      <a:blip r:embed="rId7"/>
                      <a:stretch>
                        <a:fillRect/>
                      </a:stretch>
                    </p:blipFill>
                    <p:spPr>
                      <a:xfrm>
                        <a:off x="3348038" y="2378075"/>
                        <a:ext cx="2160587" cy="371475"/>
                      </a:xfrm>
                      <a:prstGeom prst="rect">
                        <a:avLst/>
                      </a:prstGeom>
                      <a:noFill/>
                      <a:ln w="38100">
                        <a:noFill/>
                        <a:miter/>
                      </a:ln>
                    </p:spPr>
                  </p:pic>
                </p:oleObj>
              </mc:Fallback>
            </mc:AlternateContent>
          </a:graphicData>
        </a:graphic>
      </p:graphicFrame>
      <p:sp>
        <p:nvSpPr>
          <p:cNvPr id="83976" name="Rectangle 11"/>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0426" name="Object 10"/>
          <p:cNvGraphicFramePr>
            <a:graphicFrameLocks noChangeAspect="1"/>
          </p:cNvGraphicFramePr>
          <p:nvPr/>
        </p:nvGraphicFramePr>
        <p:xfrm>
          <a:off x="2851150" y="2798763"/>
          <a:ext cx="3852863" cy="387350"/>
        </p:xfrm>
        <a:graphic>
          <a:graphicData uri="http://schemas.openxmlformats.org/presentationml/2006/ole">
            <mc:AlternateContent xmlns:mc="http://schemas.openxmlformats.org/markup-compatibility/2006">
              <mc:Choice xmlns:v="urn:schemas-microsoft-com:vml" Requires="v">
                <p:oleObj r:id="rId8" imgW="1892935" imgH="228600" progId="Equation.3">
                  <p:embed/>
                </p:oleObj>
              </mc:Choice>
              <mc:Fallback>
                <p:oleObj r:id="rId8" imgW="1892935" imgH="228600" progId="Equation.3">
                  <p:embed/>
                  <p:pic>
                    <p:nvPicPr>
                      <p:cNvPr id="0" name="图片 3081"/>
                      <p:cNvPicPr/>
                      <p:nvPr/>
                    </p:nvPicPr>
                    <p:blipFill>
                      <a:blip r:embed="rId9"/>
                      <a:stretch>
                        <a:fillRect/>
                      </a:stretch>
                    </p:blipFill>
                    <p:spPr>
                      <a:xfrm>
                        <a:off x="2851150" y="2798763"/>
                        <a:ext cx="3852863" cy="387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418">
                                            <p:bg/>
                                          </p:spTgt>
                                        </p:tgtEl>
                                        <p:attrNameLst>
                                          <p:attrName>style.visibility</p:attrName>
                                        </p:attrNameLst>
                                      </p:cBhvr>
                                      <p:to>
                                        <p:strVal val="visible"/>
                                      </p:to>
                                    </p:set>
                                    <p:animEffect transition="in" filter="dissolve">
                                      <p:cBhvr>
                                        <p:cTn id="7" dur="500"/>
                                        <p:tgtEl>
                                          <p:spTgt spid="60418">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418">
                                            <p:txEl>
                                              <p:pRg st="0" end="0"/>
                                            </p:txEl>
                                          </p:spTgt>
                                        </p:tgtEl>
                                        <p:attrNameLst>
                                          <p:attrName>style.visibility</p:attrName>
                                        </p:attrNameLst>
                                      </p:cBhvr>
                                      <p:to>
                                        <p:strVal val="visible"/>
                                      </p:to>
                                    </p:set>
                                    <p:animEffect transition="in" filter="dissolve">
                                      <p:cBhvr>
                                        <p:cTn id="12" dur="500"/>
                                        <p:tgtEl>
                                          <p:spTgt spid="604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418">
                                            <p:txEl>
                                              <p:pRg st="1" end="1"/>
                                            </p:txEl>
                                          </p:spTgt>
                                        </p:tgtEl>
                                        <p:attrNameLst>
                                          <p:attrName>style.visibility</p:attrName>
                                        </p:attrNameLst>
                                      </p:cBhvr>
                                      <p:to>
                                        <p:strVal val="visible"/>
                                      </p:to>
                                    </p:set>
                                    <p:animEffect transition="in" filter="dissolve">
                                      <p:cBhvr>
                                        <p:cTn id="17" dur="500"/>
                                        <p:tgtEl>
                                          <p:spTgt spid="604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420"/>
                                        </p:tgtEl>
                                        <p:attrNameLst>
                                          <p:attrName>style.visibility</p:attrName>
                                        </p:attrNameLst>
                                      </p:cBhvr>
                                      <p:to>
                                        <p:strVal val="visible"/>
                                      </p:to>
                                    </p:set>
                                    <p:animEffect transition="in" filter="wipe(left)">
                                      <p:cBhvr>
                                        <p:cTn id="22" dur="500"/>
                                        <p:tgtEl>
                                          <p:spTgt spid="604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0418">
                                            <p:txEl>
                                              <p:pRg st="2" end="2"/>
                                            </p:txEl>
                                          </p:spTgt>
                                        </p:tgtEl>
                                        <p:attrNameLst>
                                          <p:attrName>style.visibility</p:attrName>
                                        </p:attrNameLst>
                                      </p:cBhvr>
                                      <p:to>
                                        <p:strVal val="visible"/>
                                      </p:to>
                                    </p:set>
                                    <p:animEffect transition="in" filter="dissolve">
                                      <p:cBhvr>
                                        <p:cTn id="27" dur="500"/>
                                        <p:tgtEl>
                                          <p:spTgt spid="6041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0422"/>
                                        </p:tgtEl>
                                        <p:attrNameLst>
                                          <p:attrName>style.visibility</p:attrName>
                                        </p:attrNameLst>
                                      </p:cBhvr>
                                      <p:to>
                                        <p:strVal val="visible"/>
                                      </p:to>
                                    </p:set>
                                    <p:animEffect transition="in" filter="wipe(left)">
                                      <p:cBhvr>
                                        <p:cTn id="32" dur="500"/>
                                        <p:tgtEl>
                                          <p:spTgt spid="6042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0418">
                                            <p:txEl>
                                              <p:pRg st="3" end="3"/>
                                            </p:txEl>
                                          </p:spTgt>
                                        </p:tgtEl>
                                        <p:attrNameLst>
                                          <p:attrName>style.visibility</p:attrName>
                                        </p:attrNameLst>
                                      </p:cBhvr>
                                      <p:to>
                                        <p:strVal val="visible"/>
                                      </p:to>
                                    </p:set>
                                    <p:animEffect transition="in" filter="dissolve">
                                      <p:cBhvr>
                                        <p:cTn id="37" dur="500"/>
                                        <p:tgtEl>
                                          <p:spTgt spid="6041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0424"/>
                                        </p:tgtEl>
                                        <p:attrNameLst>
                                          <p:attrName>style.visibility</p:attrName>
                                        </p:attrNameLst>
                                      </p:cBhvr>
                                      <p:to>
                                        <p:strVal val="visible"/>
                                      </p:to>
                                    </p:set>
                                    <p:animEffect transition="in" filter="wipe(left)">
                                      <p:cBhvr>
                                        <p:cTn id="42" dur="500"/>
                                        <p:tgtEl>
                                          <p:spTgt spid="604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0418">
                                            <p:txEl>
                                              <p:pRg st="4" end="4"/>
                                            </p:txEl>
                                          </p:spTgt>
                                        </p:tgtEl>
                                        <p:attrNameLst>
                                          <p:attrName>style.visibility</p:attrName>
                                        </p:attrNameLst>
                                      </p:cBhvr>
                                      <p:to>
                                        <p:strVal val="visible"/>
                                      </p:to>
                                    </p:set>
                                    <p:animEffect transition="in" filter="dissolve">
                                      <p:cBhvr>
                                        <p:cTn id="47" dur="500"/>
                                        <p:tgtEl>
                                          <p:spTgt spid="60418">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0426"/>
                                        </p:tgtEl>
                                        <p:attrNameLst>
                                          <p:attrName>style.visibility</p:attrName>
                                        </p:attrNameLst>
                                      </p:cBhvr>
                                      <p:to>
                                        <p:strVal val="visible"/>
                                      </p:to>
                                    </p:set>
                                    <p:animEffect transition="in" filter="wipe(left)">
                                      <p:cBhvr>
                                        <p:cTn id="52" dur="500"/>
                                        <p:tgtEl>
                                          <p:spTgt spid="60426"/>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0418">
                                            <p:txEl>
                                              <p:pRg st="5" end="5"/>
                                            </p:txEl>
                                          </p:spTgt>
                                        </p:tgtEl>
                                        <p:attrNameLst>
                                          <p:attrName>style.visibility</p:attrName>
                                        </p:attrNameLst>
                                      </p:cBhvr>
                                      <p:to>
                                        <p:strVal val="visible"/>
                                      </p:to>
                                    </p:set>
                                    <p:animEffect transition="in" filter="dissolve">
                                      <p:cBhvr>
                                        <p:cTn id="57" dur="500"/>
                                        <p:tgtEl>
                                          <p:spTgt spid="60418">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0418">
                                            <p:txEl>
                                              <p:pRg st="6" end="6"/>
                                            </p:txEl>
                                          </p:spTgt>
                                        </p:tgtEl>
                                        <p:attrNameLst>
                                          <p:attrName>style.visibility</p:attrName>
                                        </p:attrNameLst>
                                      </p:cBhvr>
                                      <p:to>
                                        <p:strVal val="visible"/>
                                      </p:to>
                                    </p:set>
                                    <p:animEffect transition="in" filter="dissolve">
                                      <p:cBhvr>
                                        <p:cTn id="62" dur="500"/>
                                        <p:tgtEl>
                                          <p:spTgt spid="604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p:cNvSpPr>
            <a:spLocks noGrp="1"/>
          </p:cNvSpPr>
          <p:nvPr>
            <p:ph idx="4294967295"/>
          </p:nvPr>
        </p:nvSpPr>
        <p:spPr>
          <a:xfrm>
            <a:off x="539750" y="877888"/>
            <a:ext cx="8353425" cy="2051050"/>
          </a:xfrm>
        </p:spPr>
        <p:txBody>
          <a:bodyPr vert="horz" wrap="square" lIns="91440" tIns="45720" rIns="91440" bIns="45720" anchor="t" anchorCtr="0"/>
          <a:lstStyle/>
          <a:p>
            <a:pPr defTabSz="914400" eaLnBrk="1" hangingPunct="1">
              <a:lnSpc>
                <a:spcPct val="110000"/>
              </a:lnSpc>
              <a:spcBef>
                <a:spcPct val="0"/>
              </a:spcBef>
              <a:tabLst>
                <a:tab pos="2605405" algn="l"/>
              </a:tabLst>
            </a:pPr>
            <a:r>
              <a:rPr lang="zh-CN" altLang="en-US" sz="2400" b="1" dirty="0"/>
              <a:t>      </a:t>
            </a:r>
            <a:r>
              <a:rPr lang="zh-CN" altLang="zh-CN" sz="2400" b="1" dirty="0"/>
              <a:t>钢铁表面吸附水膜酸性较弱时，则会发生如下反应:</a:t>
            </a:r>
            <a:r>
              <a:rPr lang="zh-CN" altLang="en-US" sz="2400" b="1" dirty="0"/>
              <a:t>吸氧腐蚀</a:t>
            </a:r>
            <a:endParaRPr lang="en-US" altLang="zh-CN" sz="2400" b="1" dirty="0"/>
          </a:p>
          <a:p>
            <a:pPr defTabSz="914400" eaLnBrk="1" hangingPunct="1">
              <a:lnSpc>
                <a:spcPct val="110000"/>
              </a:lnSpc>
              <a:spcBef>
                <a:spcPct val="0"/>
              </a:spcBef>
              <a:tabLst>
                <a:tab pos="2605405" algn="l"/>
              </a:tabLst>
            </a:pPr>
            <a:r>
              <a:rPr lang="zh-CN" altLang="zh-CN" sz="2400" b="1" dirty="0"/>
              <a:t>阳极(Fe)           </a:t>
            </a:r>
          </a:p>
          <a:p>
            <a:pPr defTabSz="914400" eaLnBrk="1" hangingPunct="1">
              <a:lnSpc>
                <a:spcPct val="110000"/>
              </a:lnSpc>
              <a:spcBef>
                <a:spcPct val="0"/>
              </a:spcBef>
              <a:tabLst>
                <a:tab pos="2605405" algn="l"/>
              </a:tabLst>
            </a:pPr>
            <a:r>
              <a:rPr lang="zh-CN" altLang="zh-CN" sz="2400" b="1" dirty="0"/>
              <a:t>阴极(杂质)          </a:t>
            </a:r>
          </a:p>
          <a:p>
            <a:pPr defTabSz="914400" eaLnBrk="1" hangingPunct="1">
              <a:lnSpc>
                <a:spcPct val="110000"/>
              </a:lnSpc>
              <a:spcBef>
                <a:spcPct val="0"/>
              </a:spcBef>
              <a:tabLst>
                <a:tab pos="2605405" algn="l"/>
              </a:tabLst>
            </a:pPr>
            <a:r>
              <a:rPr lang="zh-CN" altLang="zh-CN" sz="2400" b="1" dirty="0"/>
              <a:t>电池反应</a:t>
            </a:r>
            <a:r>
              <a:rPr lang="zh-CN" altLang="en-US" sz="2400" b="1" dirty="0"/>
              <a:t>。</a:t>
            </a:r>
            <a:endParaRPr lang="en-US" altLang="zh-CN" sz="2400" b="1" dirty="0"/>
          </a:p>
        </p:txBody>
      </p:sp>
      <p:sp>
        <p:nvSpPr>
          <p:cNvPr id="84994" name="Rectangle 4"/>
          <p:cNvSpPr/>
          <p:nvPr/>
        </p:nvSpPr>
        <p:spPr>
          <a:xfrm>
            <a:off x="0" y="217488"/>
            <a:ext cx="2411413" cy="652462"/>
          </a:xfrm>
          <a:prstGeom prst="rect">
            <a:avLst/>
          </a:prstGeom>
          <a:solidFill>
            <a:srgbClr val="FFCC99"/>
          </a:solidFill>
          <a:ln w="9525">
            <a:noFill/>
          </a:ln>
        </p:spPr>
        <p:txBody>
          <a:bodyPr anchor="t" anchorCtr="0">
            <a:spAutoFit/>
          </a:bodyPr>
          <a:lstStyle/>
          <a:p>
            <a:pPr>
              <a:lnSpc>
                <a:spcPct val="130000"/>
              </a:lnSpc>
              <a:spcBef>
                <a:spcPct val="20000"/>
              </a:spcBef>
              <a:buChar char="•"/>
            </a:pPr>
            <a:r>
              <a:rPr lang="zh-CN" altLang="en-US" sz="2800" b="1" dirty="0">
                <a:solidFill>
                  <a:srgbClr val="9900CC"/>
                </a:solidFill>
                <a:latin typeface="Times New Roman" panose="02020603050405020304" pitchFamily="18" charset="0"/>
                <a:ea typeface="宋体" panose="02010600030101010101" pitchFamily="2" charset="-122"/>
              </a:rPr>
              <a:t>  </a:t>
            </a:r>
            <a:r>
              <a:rPr lang="en-US" altLang="zh-CN" sz="2800" b="1" dirty="0">
                <a:solidFill>
                  <a:srgbClr val="9900CC"/>
                </a:solidFill>
                <a:latin typeface="Times New Roman" panose="02020603050405020304" pitchFamily="18" charset="0"/>
                <a:ea typeface="宋体" panose="02010600030101010101" pitchFamily="2" charset="-122"/>
              </a:rPr>
              <a:t>2. </a:t>
            </a:r>
            <a:r>
              <a:rPr lang="zh-CN" altLang="en-US" sz="2800" b="1" dirty="0">
                <a:solidFill>
                  <a:srgbClr val="9900CC"/>
                </a:solidFill>
                <a:latin typeface="Times New Roman" panose="02020603050405020304" pitchFamily="18" charset="0"/>
                <a:ea typeface="宋体" panose="02010600030101010101" pitchFamily="2" charset="-122"/>
              </a:rPr>
              <a:t>吸氧腐蚀</a:t>
            </a:r>
          </a:p>
        </p:txBody>
      </p:sp>
      <p:sp>
        <p:nvSpPr>
          <p:cNvPr id="84995" name="Rectangle 6"/>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1445" name="Object 5"/>
          <p:cNvGraphicFramePr>
            <a:graphicFrameLocks noChangeAspect="1"/>
          </p:cNvGraphicFramePr>
          <p:nvPr/>
        </p:nvGraphicFramePr>
        <p:xfrm>
          <a:off x="2987675" y="1562100"/>
          <a:ext cx="2305050" cy="387350"/>
        </p:xfrm>
        <a:graphic>
          <a:graphicData uri="http://schemas.openxmlformats.org/presentationml/2006/ole">
            <mc:AlternateContent xmlns:mc="http://schemas.openxmlformats.org/markup-compatibility/2006">
              <mc:Choice xmlns:v="urn:schemas-microsoft-com:vml" Requires="v">
                <p:oleObj r:id="rId2" imgW="994410" imgH="203835" progId="Equation.3">
                  <p:embed/>
                </p:oleObj>
              </mc:Choice>
              <mc:Fallback>
                <p:oleObj r:id="rId2" imgW="994410" imgH="203835" progId="Equation.3">
                  <p:embed/>
                  <p:pic>
                    <p:nvPicPr>
                      <p:cNvPr id="0" name="图片 3080"/>
                      <p:cNvPicPr/>
                      <p:nvPr/>
                    </p:nvPicPr>
                    <p:blipFill>
                      <a:blip r:embed="rId3"/>
                      <a:stretch>
                        <a:fillRect/>
                      </a:stretch>
                    </p:blipFill>
                    <p:spPr>
                      <a:xfrm>
                        <a:off x="2987675" y="1562100"/>
                        <a:ext cx="2305050" cy="387350"/>
                      </a:xfrm>
                      <a:prstGeom prst="rect">
                        <a:avLst/>
                      </a:prstGeom>
                      <a:noFill/>
                      <a:ln w="38100">
                        <a:noFill/>
                        <a:miter/>
                      </a:ln>
                    </p:spPr>
                  </p:pic>
                </p:oleObj>
              </mc:Fallback>
            </mc:AlternateContent>
          </a:graphicData>
        </a:graphic>
      </p:graphicFrame>
      <p:sp>
        <p:nvSpPr>
          <p:cNvPr id="84997"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1447" name="Object 7"/>
          <p:cNvGraphicFramePr>
            <a:graphicFrameLocks noChangeAspect="1"/>
          </p:cNvGraphicFramePr>
          <p:nvPr/>
        </p:nvGraphicFramePr>
        <p:xfrm>
          <a:off x="2771775" y="2017713"/>
          <a:ext cx="3313113" cy="393700"/>
        </p:xfrm>
        <a:graphic>
          <a:graphicData uri="http://schemas.openxmlformats.org/presentationml/2006/ole">
            <mc:AlternateContent xmlns:mc="http://schemas.openxmlformats.org/markup-compatibility/2006">
              <mc:Choice xmlns:v="urn:schemas-microsoft-com:vml" Requires="v">
                <p:oleObj r:id="rId4" imgW="1606550" imgH="229235" progId="Equation.3">
                  <p:embed/>
                </p:oleObj>
              </mc:Choice>
              <mc:Fallback>
                <p:oleObj r:id="rId4" imgW="1606550" imgH="229235" progId="Equation.3">
                  <p:embed/>
                  <p:pic>
                    <p:nvPicPr>
                      <p:cNvPr id="0" name="图片 3085"/>
                      <p:cNvPicPr/>
                      <p:nvPr/>
                    </p:nvPicPr>
                    <p:blipFill>
                      <a:blip r:embed="rId5"/>
                      <a:stretch>
                        <a:fillRect/>
                      </a:stretch>
                    </p:blipFill>
                    <p:spPr>
                      <a:xfrm>
                        <a:off x="2771775" y="2017713"/>
                        <a:ext cx="3313113" cy="393700"/>
                      </a:xfrm>
                      <a:prstGeom prst="rect">
                        <a:avLst/>
                      </a:prstGeom>
                      <a:noFill/>
                      <a:ln w="38100">
                        <a:noFill/>
                        <a:miter/>
                      </a:ln>
                    </p:spPr>
                  </p:pic>
                </p:oleObj>
              </mc:Fallback>
            </mc:AlternateContent>
          </a:graphicData>
        </a:graphic>
      </p:graphicFrame>
      <p:sp>
        <p:nvSpPr>
          <p:cNvPr id="84999" name="Rectangle 10"/>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1449" name="Object 9"/>
          <p:cNvGraphicFramePr>
            <a:graphicFrameLocks noChangeAspect="1"/>
          </p:cNvGraphicFramePr>
          <p:nvPr/>
        </p:nvGraphicFramePr>
        <p:xfrm>
          <a:off x="2843213" y="2497138"/>
          <a:ext cx="3600450" cy="347662"/>
        </p:xfrm>
        <a:graphic>
          <a:graphicData uri="http://schemas.openxmlformats.org/presentationml/2006/ole">
            <mc:AlternateContent xmlns:mc="http://schemas.openxmlformats.org/markup-compatibility/2006">
              <mc:Choice xmlns:v="urn:schemas-microsoft-com:vml" Requires="v">
                <p:oleObj r:id="rId6" imgW="1892935" imgH="215900" progId="Equation.3">
                  <p:embed/>
                </p:oleObj>
              </mc:Choice>
              <mc:Fallback>
                <p:oleObj r:id="rId6" imgW="1892935" imgH="215900" progId="Equation.3">
                  <p:embed/>
                  <p:pic>
                    <p:nvPicPr>
                      <p:cNvPr id="0" name="图片 3079"/>
                      <p:cNvPicPr/>
                      <p:nvPr/>
                    </p:nvPicPr>
                    <p:blipFill>
                      <a:blip r:embed="rId7"/>
                      <a:stretch>
                        <a:fillRect/>
                      </a:stretch>
                    </p:blipFill>
                    <p:spPr>
                      <a:xfrm>
                        <a:off x="2843213" y="2497138"/>
                        <a:ext cx="3600450" cy="347662"/>
                      </a:xfrm>
                      <a:prstGeom prst="rect">
                        <a:avLst/>
                      </a:prstGeom>
                      <a:noFill/>
                      <a:ln w="38100">
                        <a:noFill/>
                        <a:miter/>
                      </a:ln>
                    </p:spPr>
                  </p:pic>
                </p:oleObj>
              </mc:Fallback>
            </mc:AlternateContent>
          </a:graphicData>
        </a:graphic>
      </p:graphicFrame>
      <p:sp>
        <p:nvSpPr>
          <p:cNvPr id="10" name="内容占位符 2"/>
          <p:cNvSpPr txBox="1">
            <a:spLocks noChangeArrowheads="1"/>
          </p:cNvSpPr>
          <p:nvPr/>
        </p:nvSpPr>
        <p:spPr bwMode="auto">
          <a:xfrm>
            <a:off x="555625" y="3003550"/>
            <a:ext cx="83534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10000"/>
              </a:lnSpc>
              <a:spcBef>
                <a:spcPts val="0"/>
              </a:spcBef>
              <a:spcAft>
                <a:spcPct val="0"/>
              </a:spcAft>
              <a:buClrTx/>
              <a:buSzTx/>
              <a:buFontTx/>
              <a:buChar char="•"/>
              <a:tabLst>
                <a:tab pos="2604770" algn="l"/>
              </a:tabLst>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腐蚀过程中阴极要吸收氧气，所以叫</a:t>
            </a:r>
            <a:r>
              <a:rPr kumimoji="0" lang="zh-CN" altLang="en-US" sz="2400" b="1" i="0" u="none" strike="noStrike" kern="0" cap="none" spc="0" normalizeH="0" baseline="0" noProof="0" dirty="0">
                <a:ln>
                  <a:noFill/>
                </a:ln>
                <a:solidFill>
                  <a:srgbClr val="0000FF"/>
                </a:solidFill>
                <a:effectLst/>
                <a:uLnTx/>
                <a:uFillTx/>
                <a:latin typeface="+mn-lt"/>
                <a:ea typeface="+mn-ea"/>
                <a:cs typeface="+mn-cs"/>
              </a:rPr>
              <a:t>吸氧腐蚀</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。阴极可看作是一个氧电极。与析氢腐蚀类似，发生吸氧腐蚀的必要条件应是</a:t>
            </a:r>
            <a:r>
              <a:rPr kumimoji="0" lang="zh-CN" altLang="en-US" sz="2400" b="1" i="1" u="sng" strike="noStrike" kern="0" cap="none" spc="0" normalizeH="0" baseline="0" noProof="0" dirty="0">
                <a:ln>
                  <a:noFill/>
                </a:ln>
                <a:solidFill>
                  <a:srgbClr val="CC3300"/>
                </a:solidFill>
                <a:effectLst/>
                <a:uLnTx/>
                <a:uFillTx/>
                <a:latin typeface="+mn-lt"/>
                <a:ea typeface="+mn-ea"/>
                <a:cs typeface="+mn-cs"/>
              </a:rPr>
              <a:t>阳极金属的电极电势小于氧电极的电极电势</a:t>
            </a:r>
            <a:r>
              <a:rPr kumimoji="0" lang="zh-CN" altLang="en-US" sz="2400" b="1" i="0" u="none" strike="noStrike" kern="0" cap="none" spc="0" normalizeH="0" baseline="0" noProof="0" dirty="0">
                <a:ln>
                  <a:noFill/>
                </a:ln>
                <a:solidFill>
                  <a:srgbClr val="CC3300"/>
                </a:solidFill>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由于</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O</a:t>
            </a:r>
            <a:r>
              <a:rPr kumimoji="0" lang="en-US" altLang="zh-CN" sz="2400" b="1" i="0" u="none" strike="noStrike" kern="0" cap="none" spc="0" normalizeH="0" baseline="-2500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氧化能力比</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H</a:t>
            </a:r>
            <a:r>
              <a:rPr kumimoji="0" lang="en-US" altLang="zh-CN" sz="2400" b="1" i="0" u="none" strike="noStrike" kern="0" cap="none" spc="0" normalizeH="0" baseline="30000" noProof="0" dirty="0">
                <a:ln>
                  <a:noFill/>
                </a:ln>
                <a:solidFill>
                  <a:schemeClr val="tx1"/>
                </a:solidFill>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强，故吸氧腐蚀是比析氢腐蚀更容易发生，不管在酸性、中性还是碱性溶液中，只要有氧存在。</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animEffect transition="in" filter="dissolve">
                                      <p:cBhvr>
                                        <p:cTn id="7" dur="500"/>
                                        <p:tgtEl>
                                          <p:spTgt spid="61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42">
                                            <p:txEl>
                                              <p:pRg st="1" end="1"/>
                                            </p:txEl>
                                          </p:spTgt>
                                        </p:tgtEl>
                                        <p:attrNameLst>
                                          <p:attrName>style.visibility</p:attrName>
                                        </p:attrNameLst>
                                      </p:cBhvr>
                                      <p:to>
                                        <p:strVal val="visible"/>
                                      </p:to>
                                    </p:set>
                                    <p:animEffect transition="in" filter="dissolve">
                                      <p:cBhvr>
                                        <p:cTn id="12" dur="500"/>
                                        <p:tgtEl>
                                          <p:spTgt spid="614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42">
                                            <p:txEl>
                                              <p:pRg st="2" end="2"/>
                                            </p:txEl>
                                          </p:spTgt>
                                        </p:tgtEl>
                                        <p:attrNameLst>
                                          <p:attrName>style.visibility</p:attrName>
                                        </p:attrNameLst>
                                      </p:cBhvr>
                                      <p:to>
                                        <p:strVal val="visible"/>
                                      </p:to>
                                    </p:set>
                                    <p:animEffect transition="in" filter="dissolve">
                                      <p:cBhvr>
                                        <p:cTn id="17" dur="500"/>
                                        <p:tgtEl>
                                          <p:spTgt spid="614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442">
                                            <p:txEl>
                                              <p:pRg st="3" end="3"/>
                                            </p:txEl>
                                          </p:spTgt>
                                        </p:tgtEl>
                                        <p:attrNameLst>
                                          <p:attrName>style.visibility</p:attrName>
                                        </p:attrNameLst>
                                      </p:cBhvr>
                                      <p:to>
                                        <p:strVal val="visible"/>
                                      </p:to>
                                    </p:set>
                                    <p:animEffect transition="in" filter="dissolve">
                                      <p:cBhvr>
                                        <p:cTn id="22" dur="500"/>
                                        <p:tgtEl>
                                          <p:spTgt spid="614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445"/>
                                        </p:tgtEl>
                                        <p:attrNameLst>
                                          <p:attrName>style.visibility</p:attrName>
                                        </p:attrNameLst>
                                      </p:cBhvr>
                                      <p:to>
                                        <p:strVal val="visible"/>
                                      </p:to>
                                    </p:set>
                                    <p:animEffect transition="in" filter="wipe(left)">
                                      <p:cBhvr>
                                        <p:cTn id="27" dur="500"/>
                                        <p:tgtEl>
                                          <p:spTgt spid="614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447"/>
                                        </p:tgtEl>
                                        <p:attrNameLst>
                                          <p:attrName>style.visibility</p:attrName>
                                        </p:attrNameLst>
                                      </p:cBhvr>
                                      <p:to>
                                        <p:strVal val="visible"/>
                                      </p:to>
                                    </p:set>
                                    <p:animEffect transition="in" filter="wipe(left)">
                                      <p:cBhvr>
                                        <p:cTn id="32" dur="500"/>
                                        <p:tgtEl>
                                          <p:spTgt spid="614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1449"/>
                                        </p:tgtEl>
                                        <p:attrNameLst>
                                          <p:attrName>style.visibility</p:attrName>
                                        </p:attrNameLst>
                                      </p:cBhvr>
                                      <p:to>
                                        <p:strVal val="visible"/>
                                      </p:to>
                                    </p:set>
                                    <p:animEffect transition="in" filter="wipe(left)">
                                      <p:cBhvr>
                                        <p:cTn id="37" dur="500"/>
                                        <p:tgtEl>
                                          <p:spTgt spid="6144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dissolve">
                                      <p:cBhvr>
                                        <p:cTn id="4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p:bldP spid="10"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p:cNvSpPr>
          <p:nvPr>
            <p:ph idx="4294967295"/>
          </p:nvPr>
        </p:nvSpPr>
        <p:spPr>
          <a:xfrm>
            <a:off x="468313" y="749300"/>
            <a:ext cx="8208962" cy="4379913"/>
          </a:xfrm>
        </p:spPr>
        <p:txBody>
          <a:bodyPr vert="horz" wrap="square" lIns="91440" tIns="45720" rIns="91440" bIns="45720" anchor="t" anchorCtr="0"/>
          <a:lstStyle/>
          <a:p>
            <a:pPr defTabSz="914400" eaLnBrk="1" hangingPunct="1">
              <a:tabLst>
                <a:tab pos="2605405" algn="l"/>
              </a:tabLst>
            </a:pPr>
            <a:r>
              <a:rPr lang="zh-CN" altLang="en-US" sz="2400" b="1" dirty="0">
                <a:latin typeface="Times New Roman" panose="02020603050405020304" pitchFamily="18" charset="0"/>
              </a:rPr>
              <a:t>       </a:t>
            </a:r>
            <a:r>
              <a:rPr lang="zh-CN" altLang="zh-CN" sz="2400" b="1" dirty="0">
                <a:latin typeface="Times New Roman" panose="02020603050405020304" pitchFamily="18" charset="0"/>
              </a:rPr>
              <a:t>析氢腐蚀和吸氧腐蚀生成的Fe(OH)</a:t>
            </a:r>
            <a:r>
              <a:rPr lang="zh-CN" altLang="zh-CN" sz="2400" b="1" baseline="-25000" dirty="0">
                <a:latin typeface="Times New Roman" panose="02020603050405020304" pitchFamily="18" charset="0"/>
              </a:rPr>
              <a:t>2，</a:t>
            </a:r>
            <a:r>
              <a:rPr lang="zh-CN" altLang="zh-CN" sz="2400" b="1" dirty="0">
                <a:latin typeface="Times New Roman" panose="02020603050405020304" pitchFamily="18" charset="0"/>
              </a:rPr>
              <a:t>在空气中不稳定，可进一步被氧化，生成Fe(OH)</a:t>
            </a:r>
            <a:r>
              <a:rPr lang="zh-CN" altLang="zh-CN" sz="2400" b="1" baseline="-25000" dirty="0">
                <a:latin typeface="Times New Roman" panose="02020603050405020304" pitchFamily="18" charset="0"/>
              </a:rPr>
              <a:t>3</a:t>
            </a:r>
            <a:r>
              <a:rPr lang="zh-CN" altLang="zh-CN" sz="2400" b="1" dirty="0">
                <a:latin typeface="Times New Roman" panose="02020603050405020304" pitchFamily="18" charset="0"/>
              </a:rPr>
              <a:t>，脱水后生成Fe</a:t>
            </a:r>
            <a:r>
              <a:rPr lang="zh-CN" altLang="zh-CN" sz="2400" b="1" baseline="-25000" dirty="0">
                <a:latin typeface="Times New Roman" panose="02020603050405020304" pitchFamily="18" charset="0"/>
              </a:rPr>
              <a:t>2</a:t>
            </a:r>
            <a:r>
              <a:rPr lang="zh-CN" altLang="zh-CN" sz="2400" b="1" dirty="0">
                <a:latin typeface="Times New Roman" panose="02020603050405020304" pitchFamily="18" charset="0"/>
              </a:rPr>
              <a:t>O</a:t>
            </a:r>
            <a:r>
              <a:rPr lang="zh-CN" altLang="zh-CN" sz="2400" b="1" baseline="-25000" dirty="0">
                <a:latin typeface="Times New Roman" panose="02020603050405020304" pitchFamily="18" charset="0"/>
              </a:rPr>
              <a:t>3</a:t>
            </a:r>
            <a:r>
              <a:rPr lang="zh-CN" altLang="zh-CN" sz="2400" b="1" dirty="0">
                <a:latin typeface="Times New Roman" panose="02020603050405020304" pitchFamily="18" charset="0"/>
              </a:rPr>
              <a:t>，它是红褐色铁锈的主要成分。</a:t>
            </a:r>
            <a:endParaRPr lang="zh-CN" altLang="en-US" sz="2400" b="1" dirty="0">
              <a:latin typeface="Times New Roman" panose="02020603050405020304" pitchFamily="18" charset="0"/>
            </a:endParaRPr>
          </a:p>
          <a:p>
            <a:pPr defTabSz="914400" eaLnBrk="1" hangingPunct="1">
              <a:tabLst>
                <a:tab pos="2605405" algn="l"/>
              </a:tabLst>
            </a:pPr>
            <a:endParaRPr lang="zh-CN" altLang="en-US" sz="2400" b="1" dirty="0">
              <a:latin typeface="Times New Roman" panose="02020603050405020304" pitchFamily="18" charset="0"/>
            </a:endParaRPr>
          </a:p>
          <a:p>
            <a:pPr defTabSz="914400" eaLnBrk="1" hangingPunct="1">
              <a:lnSpc>
                <a:spcPct val="125000"/>
              </a:lnSpc>
              <a:tabLst>
                <a:tab pos="2605405" algn="l"/>
              </a:tabLst>
            </a:pPr>
            <a:r>
              <a:rPr lang="zh-CN" altLang="en-US" sz="2400" b="1" dirty="0"/>
              <a:t>       锅炉、铁制水管等都与大气相通，而且不是经常有水。无水时，管道被空气充满，由于锅炉管道系统经常含有大量氧气，所以常有严重的吸氧腐蚀。</a:t>
            </a:r>
          </a:p>
        </p:txBody>
      </p:sp>
      <p:sp>
        <p:nvSpPr>
          <p:cNvPr id="86018"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86019" name="Rectangle 6"/>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2471" name="Object 7"/>
          <p:cNvGraphicFramePr>
            <a:graphicFrameLocks noChangeAspect="1"/>
          </p:cNvGraphicFramePr>
          <p:nvPr/>
        </p:nvGraphicFramePr>
        <p:xfrm>
          <a:off x="1116013" y="4513263"/>
          <a:ext cx="3168650" cy="377825"/>
        </p:xfrm>
        <a:graphic>
          <a:graphicData uri="http://schemas.openxmlformats.org/presentationml/2006/ole">
            <mc:AlternateContent xmlns:mc="http://schemas.openxmlformats.org/markup-compatibility/2006">
              <mc:Choice xmlns:v="urn:schemas-microsoft-com:vml" Requires="v">
                <p:oleObj r:id="rId2" imgW="1606550" imgH="229235" progId="Equation.3">
                  <p:embed/>
                </p:oleObj>
              </mc:Choice>
              <mc:Fallback>
                <p:oleObj r:id="rId2" imgW="1606550" imgH="229235" progId="Equation.3">
                  <p:embed/>
                  <p:pic>
                    <p:nvPicPr>
                      <p:cNvPr id="0" name="图片 3082"/>
                      <p:cNvPicPr/>
                      <p:nvPr/>
                    </p:nvPicPr>
                    <p:blipFill>
                      <a:blip r:embed="rId3"/>
                      <a:stretch>
                        <a:fillRect/>
                      </a:stretch>
                    </p:blipFill>
                    <p:spPr>
                      <a:xfrm>
                        <a:off x="1116013" y="4513263"/>
                        <a:ext cx="3168650" cy="377825"/>
                      </a:xfrm>
                      <a:prstGeom prst="rect">
                        <a:avLst/>
                      </a:prstGeom>
                      <a:noFill/>
                      <a:ln w="38100">
                        <a:noFill/>
                        <a:miter/>
                      </a:ln>
                    </p:spPr>
                  </p:pic>
                </p:oleObj>
              </mc:Fallback>
            </mc:AlternateContent>
          </a:graphicData>
        </a:graphic>
      </p:graphicFrame>
      <p:sp>
        <p:nvSpPr>
          <p:cNvPr id="86021"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62475" name="Object 11"/>
          <p:cNvGraphicFramePr>
            <a:graphicFrameLocks noChangeAspect="1"/>
          </p:cNvGraphicFramePr>
          <p:nvPr/>
        </p:nvGraphicFramePr>
        <p:xfrm>
          <a:off x="1116013" y="3957638"/>
          <a:ext cx="3816350" cy="385762"/>
        </p:xfrm>
        <a:graphic>
          <a:graphicData uri="http://schemas.openxmlformats.org/presentationml/2006/ole">
            <mc:AlternateContent xmlns:mc="http://schemas.openxmlformats.org/markup-compatibility/2006">
              <mc:Choice xmlns:v="urn:schemas-microsoft-com:vml" Requires="v">
                <p:oleObj r:id="rId4" imgW="1892935" imgH="228600" progId="Equation.3">
                  <p:embed/>
                </p:oleObj>
              </mc:Choice>
              <mc:Fallback>
                <p:oleObj r:id="rId4" imgW="1892935" imgH="228600" progId="Equation.3">
                  <p:embed/>
                  <p:pic>
                    <p:nvPicPr>
                      <p:cNvPr id="0" name="图片 3078"/>
                      <p:cNvPicPr/>
                      <p:nvPr/>
                    </p:nvPicPr>
                    <p:blipFill>
                      <a:blip r:embed="rId5"/>
                      <a:stretch>
                        <a:fillRect/>
                      </a:stretch>
                    </p:blipFill>
                    <p:spPr>
                      <a:xfrm>
                        <a:off x="1116013" y="3957638"/>
                        <a:ext cx="3816350" cy="385762"/>
                      </a:xfrm>
                      <a:prstGeom prst="rect">
                        <a:avLst/>
                      </a:prstGeom>
                      <a:noFill/>
                      <a:ln w="38100">
                        <a:noFill/>
                        <a:miter/>
                      </a:ln>
                    </p:spPr>
                  </p:pic>
                </p:oleObj>
              </mc:Fallback>
            </mc:AlternateContent>
          </a:graphicData>
        </a:graphic>
      </p:graphicFrame>
      <p:pic>
        <p:nvPicPr>
          <p:cNvPr id="62476" name="Picture 12"/>
          <p:cNvPicPr preferRelativeResize="0"/>
          <p:nvPr/>
        </p:nvPicPr>
        <p:blipFill>
          <a:blip r:embed="rId6"/>
          <a:stretch>
            <a:fillRect/>
          </a:stretch>
        </p:blipFill>
        <p:spPr>
          <a:xfrm>
            <a:off x="5980113" y="3433763"/>
            <a:ext cx="2520950" cy="16208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transition="in" filter="dissolve">
                                      <p:cBhvr>
                                        <p:cTn id="7" dur="500"/>
                                        <p:tgtEl>
                                          <p:spTgt spid="62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466">
                                            <p:txEl>
                                              <p:pRg st="2" end="2"/>
                                            </p:txEl>
                                          </p:spTgt>
                                        </p:tgtEl>
                                        <p:attrNameLst>
                                          <p:attrName>style.visibility</p:attrName>
                                        </p:attrNameLst>
                                      </p:cBhvr>
                                      <p:to>
                                        <p:strVal val="visible"/>
                                      </p:to>
                                    </p:set>
                                    <p:animEffect transition="in" filter="dissolve">
                                      <p:cBhvr>
                                        <p:cTn id="12" dur="500"/>
                                        <p:tgtEl>
                                          <p:spTgt spid="6246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75"/>
                                        </p:tgtEl>
                                        <p:attrNameLst>
                                          <p:attrName>style.visibility</p:attrName>
                                        </p:attrNameLst>
                                      </p:cBhvr>
                                      <p:to>
                                        <p:strVal val="visible"/>
                                      </p:to>
                                    </p:set>
                                    <p:animEffect transition="in" filter="wipe(left)">
                                      <p:cBhvr>
                                        <p:cTn id="17" dur="500"/>
                                        <p:tgtEl>
                                          <p:spTgt spid="624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471"/>
                                        </p:tgtEl>
                                        <p:attrNameLst>
                                          <p:attrName>style.visibility</p:attrName>
                                        </p:attrNameLst>
                                      </p:cBhvr>
                                      <p:to>
                                        <p:strVal val="visible"/>
                                      </p:to>
                                    </p:set>
                                    <p:animEffect transition="in" filter="wipe(left)">
                                      <p:cBhvr>
                                        <p:cTn id="22" dur="500"/>
                                        <p:tgtEl>
                                          <p:spTgt spid="6247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2476"/>
                                        </p:tgtEl>
                                        <p:attrNameLst>
                                          <p:attrName>style.visibility</p:attrName>
                                        </p:attrNameLst>
                                      </p:cBhvr>
                                      <p:to>
                                        <p:strVal val="visible"/>
                                      </p:to>
                                    </p:set>
                                    <p:animEffect transition="in" filter="dissolve">
                                      <p:cBhvr>
                                        <p:cTn id="27" dur="500"/>
                                        <p:tgtEl>
                                          <p:spTgt spid="62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2"/>
          <p:cNvSpPr>
            <a:spLocks noGrp="1"/>
          </p:cNvSpPr>
          <p:nvPr>
            <p:ph idx="4294967295"/>
          </p:nvPr>
        </p:nvSpPr>
        <p:spPr>
          <a:xfrm>
            <a:off x="0" y="1201738"/>
            <a:ext cx="8856663" cy="2832100"/>
          </a:xfrm>
        </p:spPr>
        <p:txBody>
          <a:bodyPr vert="horz" wrap="square" lIns="91440" tIns="45720" rIns="91440" bIns="45720" anchor="t" anchorCtr="0"/>
          <a:lstStyle/>
          <a:p>
            <a:pPr eaLnBrk="1" hangingPunct="1">
              <a:lnSpc>
                <a:spcPct val="125000"/>
              </a:lnSpc>
              <a:spcBef>
                <a:spcPct val="10000"/>
              </a:spcBef>
            </a:pPr>
            <a:r>
              <a:rPr lang="zh-CN" altLang="en-US" sz="2400" b="1" dirty="0"/>
              <a:t>       当金属棒插入水或泥土中时，由于金属与含氧量不同的介质接触，各部分的电极电势就不一样。以金属棒的上段</a:t>
            </a:r>
            <a:r>
              <a:rPr lang="en-US" altLang="zh-CN" sz="2400" b="1" dirty="0"/>
              <a:t>(</a:t>
            </a:r>
            <a:r>
              <a:rPr lang="zh-CN" altLang="en-US" sz="2400" b="1" dirty="0"/>
              <a:t>水面上部</a:t>
            </a:r>
            <a:r>
              <a:rPr lang="en-US" altLang="zh-CN" sz="2400" b="1" dirty="0"/>
              <a:t>)</a:t>
            </a:r>
            <a:r>
              <a:rPr lang="zh-CN" altLang="en-US" sz="2400" b="1" dirty="0"/>
              <a:t>为正极</a:t>
            </a:r>
            <a:r>
              <a:rPr lang="en-US" altLang="zh-CN" sz="2400" b="1" dirty="0"/>
              <a:t>(</a:t>
            </a:r>
            <a:r>
              <a:rPr lang="zh-CN" altLang="en-US" sz="2400" b="1" dirty="0"/>
              <a:t>阴极</a:t>
            </a:r>
            <a:r>
              <a:rPr lang="en-US" altLang="zh-CN" sz="2400" b="1" dirty="0"/>
              <a:t>)</a:t>
            </a:r>
            <a:r>
              <a:rPr lang="zh-CN" altLang="en-US" sz="2400" b="1" dirty="0"/>
              <a:t>，以金属棒下段</a:t>
            </a:r>
            <a:r>
              <a:rPr lang="en-US" altLang="zh-CN" sz="2400" b="1" dirty="0"/>
              <a:t>(</a:t>
            </a:r>
            <a:r>
              <a:rPr lang="zh-CN" altLang="en-US" sz="2400" b="1" dirty="0"/>
              <a:t>水面下部</a:t>
            </a:r>
            <a:r>
              <a:rPr lang="en-US" altLang="zh-CN" sz="2400" b="1" dirty="0"/>
              <a:t>)</a:t>
            </a:r>
            <a:r>
              <a:rPr lang="zh-CN" altLang="en-US" sz="2400" b="1" dirty="0"/>
              <a:t>为负极</a:t>
            </a:r>
            <a:r>
              <a:rPr lang="en-US" altLang="zh-CN" sz="2400" b="1" dirty="0"/>
              <a:t>(</a:t>
            </a:r>
            <a:r>
              <a:rPr lang="zh-CN" altLang="en-US" sz="2400" b="1" dirty="0"/>
              <a:t>阳极</a:t>
            </a:r>
            <a:r>
              <a:rPr lang="en-US" altLang="zh-CN" sz="2400" b="1" dirty="0"/>
              <a:t>)</a:t>
            </a:r>
            <a:r>
              <a:rPr lang="zh-CN" altLang="en-US" sz="2400" b="1" dirty="0"/>
              <a:t>的电池，结果是</a:t>
            </a:r>
            <a:r>
              <a:rPr lang="zh-CN" altLang="en-US" sz="2400" b="1" dirty="0">
                <a:solidFill>
                  <a:srgbClr val="CC3300"/>
                </a:solidFill>
              </a:rPr>
              <a:t>金属棒的水下部分发生腐蚀，这种腐蚀叫</a:t>
            </a:r>
            <a:r>
              <a:rPr lang="zh-CN" altLang="en-US" sz="2400" b="1" u="sng" dirty="0">
                <a:solidFill>
                  <a:srgbClr val="CC3300"/>
                </a:solidFill>
              </a:rPr>
              <a:t>差异充气腐蚀</a:t>
            </a:r>
            <a:r>
              <a:rPr lang="zh-CN" altLang="en-US" sz="2400" b="1" dirty="0"/>
              <a:t>。</a:t>
            </a:r>
            <a:endParaRPr lang="en-US" altLang="zh-CN" sz="2400" b="1" dirty="0"/>
          </a:p>
        </p:txBody>
      </p:sp>
      <p:sp>
        <p:nvSpPr>
          <p:cNvPr id="87042" name="Rectangle 4"/>
          <p:cNvSpPr/>
          <p:nvPr/>
        </p:nvSpPr>
        <p:spPr>
          <a:xfrm>
            <a:off x="0" y="217488"/>
            <a:ext cx="3635375" cy="652462"/>
          </a:xfrm>
          <a:prstGeom prst="rect">
            <a:avLst/>
          </a:prstGeom>
          <a:solidFill>
            <a:srgbClr val="FFCC99"/>
          </a:solidFill>
          <a:ln w="9525">
            <a:noFill/>
          </a:ln>
        </p:spPr>
        <p:txBody>
          <a:bodyPr anchor="t" anchorCtr="0">
            <a:spAutoFit/>
          </a:bodyPr>
          <a:lstStyle/>
          <a:p>
            <a:pPr>
              <a:lnSpc>
                <a:spcPct val="130000"/>
              </a:lnSpc>
              <a:spcBef>
                <a:spcPct val="20000"/>
              </a:spcBef>
              <a:buChar char="•"/>
            </a:pPr>
            <a:r>
              <a:rPr lang="en-US" altLang="zh-CN" sz="2800" b="1" dirty="0">
                <a:solidFill>
                  <a:srgbClr val="9900CC"/>
                </a:solidFill>
                <a:latin typeface="Times New Roman" panose="02020603050405020304" pitchFamily="18" charset="0"/>
                <a:ea typeface="宋体" panose="02010600030101010101" pitchFamily="2" charset="-122"/>
              </a:rPr>
              <a:t>3.  </a:t>
            </a:r>
            <a:r>
              <a:rPr lang="zh-CN" altLang="en-US" sz="2800" b="1" dirty="0">
                <a:solidFill>
                  <a:srgbClr val="9900CC"/>
                </a:solidFill>
                <a:latin typeface="Times New Roman" panose="02020603050405020304" pitchFamily="18" charset="0"/>
                <a:ea typeface="宋体" panose="02010600030101010101" pitchFamily="2" charset="-122"/>
              </a:rPr>
              <a:t>差异充气腐蚀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490">
                                            <p:txEl>
                                              <p:pRg st="0" end="0"/>
                                            </p:txEl>
                                          </p:spTgt>
                                        </p:tgtEl>
                                        <p:attrNameLst>
                                          <p:attrName>style.visibility</p:attrName>
                                        </p:attrNameLst>
                                      </p:cBhvr>
                                      <p:to>
                                        <p:strVal val="visible"/>
                                      </p:to>
                                    </p:set>
                                    <p:animEffect transition="in" filter="dissolve">
                                      <p:cBhvr>
                                        <p:cTn id="7" dur="500"/>
                                        <p:tgtEl>
                                          <p:spTgt spid="6349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2"/>
          <p:cNvSpPr>
            <a:spLocks noGrp="1"/>
          </p:cNvSpPr>
          <p:nvPr>
            <p:ph idx="4294967295"/>
          </p:nvPr>
        </p:nvSpPr>
        <p:spPr>
          <a:xfrm>
            <a:off x="80963" y="336550"/>
            <a:ext cx="8963025" cy="2976563"/>
          </a:xfrm>
        </p:spPr>
        <p:txBody>
          <a:bodyPr vert="horz" wrap="square" lIns="91440" tIns="45720" rIns="91440" bIns="45720" anchor="t" anchorCtr="0"/>
          <a:lstStyle/>
          <a:p>
            <a:pPr eaLnBrk="1" hangingPunct="1">
              <a:lnSpc>
                <a:spcPct val="125000"/>
              </a:lnSpc>
              <a:spcBef>
                <a:spcPct val="10000"/>
              </a:spcBef>
            </a:pPr>
            <a:r>
              <a:rPr lang="zh-CN" altLang="en-US" sz="2400" b="1" dirty="0"/>
              <a:t>       浸入水中的金属设备，因为水中溶解氧比空气中少，</a:t>
            </a:r>
            <a:r>
              <a:rPr lang="zh-CN" altLang="en-US" sz="2400" b="1" dirty="0">
                <a:solidFill>
                  <a:srgbClr val="CC3300"/>
                </a:solidFill>
              </a:rPr>
              <a:t>紧靠水面下的部分电极电势较低而使阳极被腐蚀，工程上常称之为</a:t>
            </a:r>
            <a:r>
              <a:rPr lang="zh-CN" altLang="en-US" sz="2400" b="1" u="sng" dirty="0">
                <a:solidFill>
                  <a:srgbClr val="CC3300"/>
                </a:solidFill>
              </a:rPr>
              <a:t>水线腐蚀</a:t>
            </a:r>
            <a:r>
              <a:rPr lang="zh-CN" altLang="en-US" sz="2400" b="1" dirty="0">
                <a:solidFill>
                  <a:srgbClr val="CC3300"/>
                </a:solidFill>
              </a:rPr>
              <a:t>。</a:t>
            </a:r>
          </a:p>
          <a:p>
            <a:pPr eaLnBrk="1" hangingPunct="1">
              <a:lnSpc>
                <a:spcPct val="125000"/>
              </a:lnSpc>
              <a:buNone/>
            </a:pPr>
            <a:r>
              <a:rPr lang="zh-CN" altLang="en-US" sz="2400" b="1" dirty="0"/>
              <a:t>           金属插入土中或浸入水中的腐蚀原因是很复杂的，即金属形成的是复杂电极，因此只能说氧浓度差异造成的腐蚀是主要原因。</a:t>
            </a:r>
            <a:endParaRPr lang="en-US" altLang="zh-CN" sz="2400" b="1" dirty="0"/>
          </a:p>
        </p:txBody>
      </p:sp>
      <p:pic>
        <p:nvPicPr>
          <p:cNvPr id="86018" name="Picture 2"/>
          <p:cNvPicPr>
            <a:picLocks noChangeAspect="1" noChangeArrowheads="1"/>
          </p:cNvPicPr>
          <p:nvPr/>
        </p:nvPicPr>
        <p:blipFill>
          <a:blip r:embed="rId2"/>
          <a:srcRect/>
          <a:stretch>
            <a:fillRect/>
          </a:stretch>
        </p:blipFill>
        <p:spPr bwMode="auto">
          <a:xfrm>
            <a:off x="1117600" y="3289300"/>
            <a:ext cx="3303588" cy="21304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6019" name="Picture 3"/>
          <p:cNvPicPr>
            <a:picLocks noChangeAspect="1" noChangeArrowheads="1"/>
          </p:cNvPicPr>
          <p:nvPr/>
        </p:nvPicPr>
        <p:blipFill>
          <a:blip r:embed="rId3"/>
          <a:srcRect/>
          <a:stretch>
            <a:fillRect/>
          </a:stretch>
        </p:blipFill>
        <p:spPr bwMode="auto">
          <a:xfrm>
            <a:off x="4932363" y="3292475"/>
            <a:ext cx="3824288" cy="2127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490">
                                            <p:txEl>
                                              <p:pRg st="0" end="0"/>
                                            </p:txEl>
                                          </p:spTgt>
                                        </p:tgtEl>
                                        <p:attrNameLst>
                                          <p:attrName>style.visibility</p:attrName>
                                        </p:attrNameLst>
                                      </p:cBhvr>
                                      <p:to>
                                        <p:strVal val="visible"/>
                                      </p:to>
                                    </p:set>
                                    <p:animEffect transition="in" filter="dissolve">
                                      <p:cBhvr>
                                        <p:cTn id="7" dur="500"/>
                                        <p:tgtEl>
                                          <p:spTgt spid="634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3490">
                                            <p:txEl>
                                              <p:pRg st="1" end="1"/>
                                            </p:txEl>
                                          </p:spTgt>
                                        </p:tgtEl>
                                        <p:attrNameLst>
                                          <p:attrName>style.visibility</p:attrName>
                                        </p:attrNameLst>
                                      </p:cBhvr>
                                      <p:to>
                                        <p:strVal val="visible"/>
                                      </p:to>
                                    </p:set>
                                    <p:animEffect transition="in" filter="dissolve">
                                      <p:cBhvr>
                                        <p:cTn id="12" dur="500"/>
                                        <p:tgtEl>
                                          <p:spTgt spid="634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内容占位符 2"/>
          <p:cNvSpPr>
            <a:spLocks noGrp="1"/>
          </p:cNvSpPr>
          <p:nvPr>
            <p:ph idx="4294967295"/>
          </p:nvPr>
        </p:nvSpPr>
        <p:spPr>
          <a:xfrm>
            <a:off x="323850" y="1128713"/>
            <a:ext cx="8423275" cy="4125912"/>
          </a:xfrm>
        </p:spPr>
        <p:txBody>
          <a:bodyPr vert="horz" wrap="square" lIns="91440" tIns="45720" rIns="91440" bIns="45720" anchor="t" anchorCtr="0"/>
          <a:lstStyle/>
          <a:p>
            <a:pPr eaLnBrk="1" hangingPunct="1">
              <a:lnSpc>
                <a:spcPct val="120000"/>
              </a:lnSpc>
              <a:spcBef>
                <a:spcPct val="0"/>
              </a:spcBef>
            </a:pPr>
            <a:r>
              <a:rPr lang="en-US" altLang="zh-CN" sz="2400" b="1" dirty="0">
                <a:solidFill>
                  <a:srgbClr val="0000FF"/>
                </a:solidFill>
                <a:latin typeface="Times New Roman" panose="02020603050405020304" pitchFamily="18" charset="0"/>
              </a:rPr>
              <a:t>    (1) </a:t>
            </a:r>
            <a:r>
              <a:rPr lang="zh-CN" altLang="en-US" sz="2400" b="1" dirty="0">
                <a:solidFill>
                  <a:srgbClr val="0000FF"/>
                </a:solidFill>
                <a:latin typeface="Times New Roman" panose="02020603050405020304" pitchFamily="18" charset="0"/>
              </a:rPr>
              <a:t>大气相对湿度对腐蚀速率的影响</a:t>
            </a:r>
            <a:endParaRPr lang="en-US" altLang="zh-CN" sz="2400" b="1" dirty="0">
              <a:solidFill>
                <a:srgbClr val="0000FF"/>
              </a:solidFill>
              <a:latin typeface="Times New Roman" panose="02020603050405020304" pitchFamily="18" charset="0"/>
            </a:endParaRPr>
          </a:p>
          <a:p>
            <a:pPr eaLnBrk="1" hangingPunct="1">
              <a:lnSpc>
                <a:spcPct val="120000"/>
              </a:lnSpc>
              <a:spcBef>
                <a:spcPct val="0"/>
              </a:spcBef>
              <a:buNone/>
            </a:pPr>
            <a:r>
              <a:rPr lang="zh-CN" altLang="en-US" sz="2400" b="1" dirty="0">
                <a:latin typeface="Times New Roman" panose="02020603050405020304" pitchFamily="18" charset="0"/>
              </a:rPr>
              <a:t>            </a:t>
            </a:r>
            <a:r>
              <a:rPr lang="zh-CN" altLang="zh-CN" sz="2400" b="1" dirty="0">
                <a:latin typeface="Times New Roman" panose="02020603050405020304" pitchFamily="18" charset="0"/>
              </a:rPr>
              <a:t>在某一大气相对湿度(称临界相对湿度)以下，金属即使较长时间暴露在大气中，也几乎不被腐蚀。但如果</a:t>
            </a:r>
            <a:r>
              <a:rPr lang="zh-CN" altLang="zh-CN" sz="2400" b="1" i="1" u="sng" dirty="0">
                <a:solidFill>
                  <a:srgbClr val="CC3300"/>
                </a:solidFill>
                <a:latin typeface="Times New Roman" panose="02020603050405020304" pitchFamily="18" charset="0"/>
              </a:rPr>
              <a:t>超过临界相对湿度</a:t>
            </a:r>
            <a:r>
              <a:rPr lang="zh-CN" altLang="zh-CN" sz="2400" b="1" dirty="0">
                <a:latin typeface="Times New Roman" panose="02020603050405020304" pitchFamily="18" charset="0"/>
              </a:rPr>
              <a:t>，金属表面很快就会吸附水汽形成含水膜而被腐蚀。</a:t>
            </a:r>
            <a:r>
              <a:rPr lang="zh-CN" altLang="en-US" sz="2400" b="1" dirty="0">
                <a:latin typeface="Times New Roman" panose="02020603050405020304" pitchFamily="18" charset="0"/>
              </a:rPr>
              <a:t>           </a:t>
            </a:r>
          </a:p>
          <a:p>
            <a:pPr eaLnBrk="1" hangingPunct="1">
              <a:lnSpc>
                <a:spcPct val="120000"/>
              </a:lnSpc>
              <a:spcBef>
                <a:spcPct val="0"/>
              </a:spcBef>
              <a:buNone/>
            </a:pPr>
            <a:r>
              <a:rPr lang="zh-CN" altLang="en-US" sz="2400" b="1" dirty="0">
                <a:latin typeface="Times New Roman" panose="02020603050405020304" pitchFamily="18" charset="0"/>
              </a:rPr>
              <a:t>            </a:t>
            </a:r>
            <a:r>
              <a:rPr lang="zh-CN" altLang="zh-CN" sz="2400" b="1" dirty="0">
                <a:latin typeface="Times New Roman" panose="02020603050405020304" pitchFamily="18" charset="0"/>
              </a:rPr>
              <a:t>临界相对湿度因金属的种类及表面状态不同而有所不同。一般来说，钢铁生锈的临界相对湿度大约为75%左右。如果金属表面有吸湿性物质(如灰尘、水溶性盐类等)污染，或其表面形状粗糙而多孔时，临界相对湿度值就会下降。</a:t>
            </a:r>
            <a:endParaRPr lang="zh-CN" altLang="en-US" sz="2400" b="1" dirty="0">
              <a:latin typeface="Times New Roman" panose="02020603050405020304" pitchFamily="18" charset="0"/>
            </a:endParaRPr>
          </a:p>
        </p:txBody>
      </p:sp>
      <p:sp>
        <p:nvSpPr>
          <p:cNvPr id="89090" name="Rectangle 3"/>
          <p:cNvSpPr/>
          <p:nvPr/>
        </p:nvSpPr>
        <p:spPr>
          <a:xfrm>
            <a:off x="0" y="277813"/>
            <a:ext cx="3635375" cy="652462"/>
          </a:xfrm>
          <a:prstGeom prst="rect">
            <a:avLst/>
          </a:prstGeom>
          <a:solidFill>
            <a:srgbClr val="FFCC99"/>
          </a:solidFill>
          <a:ln w="9525">
            <a:noFill/>
          </a:ln>
        </p:spPr>
        <p:txBody>
          <a:bodyPr anchor="t" anchorCtr="0">
            <a:spAutoFit/>
          </a:bodyPr>
          <a:lstStyle/>
          <a:p>
            <a:pPr>
              <a:lnSpc>
                <a:spcPct val="130000"/>
              </a:lnSpc>
              <a:spcBef>
                <a:spcPct val="20000"/>
              </a:spcBef>
              <a:buChar char="•"/>
            </a:pPr>
            <a:r>
              <a:rPr lang="en-US" altLang="zh-CN" sz="2800" b="1" dirty="0">
                <a:solidFill>
                  <a:srgbClr val="9900CC"/>
                </a:solidFill>
                <a:latin typeface="Times New Roman" panose="02020603050405020304" pitchFamily="18" charset="0"/>
                <a:ea typeface="宋体" panose="02010600030101010101" pitchFamily="2" charset="-122"/>
              </a:rPr>
              <a:t>4. 金属腐蚀速率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Effect transition="in" filter="checkerboard(across)">
                                      <p:cBhvr>
                                        <p:cTn id="7" dur="500"/>
                                        <p:tgtEl>
                                          <p:spTgt spid="645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514">
                                            <p:txEl>
                                              <p:pRg st="1" end="1"/>
                                            </p:txEl>
                                          </p:spTgt>
                                        </p:tgtEl>
                                        <p:attrNameLst>
                                          <p:attrName>style.visibility</p:attrName>
                                        </p:attrNameLst>
                                      </p:cBhvr>
                                      <p:to>
                                        <p:strVal val="visible"/>
                                      </p:to>
                                    </p:set>
                                    <p:animEffect transition="in" filter="checkerboard(across)">
                                      <p:cBhvr>
                                        <p:cTn id="12" dur="500"/>
                                        <p:tgtEl>
                                          <p:spTgt spid="645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4514">
                                            <p:txEl>
                                              <p:pRg st="2" end="2"/>
                                            </p:txEl>
                                          </p:spTgt>
                                        </p:tgtEl>
                                        <p:attrNameLst>
                                          <p:attrName>style.visibility</p:attrName>
                                        </p:attrNameLst>
                                      </p:cBhvr>
                                      <p:to>
                                        <p:strVal val="visible"/>
                                      </p:to>
                                    </p:set>
                                    <p:animEffect transition="in" filter="checkerboard(across)">
                                      <p:cBhvr>
                                        <p:cTn id="17" dur="500"/>
                                        <p:tgtEl>
                                          <p:spTgt spid="645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323850" y="1128713"/>
            <a:ext cx="8351838" cy="2533650"/>
          </a:xfrm>
        </p:spPr>
        <p:txBody>
          <a:bodyPr vert="horz" wrap="square" lIns="91440" tIns="45720" rIns="91440" bIns="45720" anchor="t" anchorCtr="0"/>
          <a:lstStyle/>
          <a:p>
            <a:pPr indent="466725" eaLnBrk="1" hangingPunct="1">
              <a:lnSpc>
                <a:spcPct val="125000"/>
              </a:lnSpc>
            </a:pPr>
            <a:r>
              <a:rPr lang="en-US" altLang="zh-CN" sz="2400" b="1" dirty="0">
                <a:solidFill>
                  <a:srgbClr val="0000FF"/>
                </a:solidFill>
                <a:latin typeface="Times New Roman" panose="02020603050405020304" pitchFamily="18" charset="0"/>
              </a:rPr>
              <a:t>(2)</a:t>
            </a:r>
            <a:r>
              <a:rPr lang="zh-CN" altLang="en-US" sz="2400" b="1" dirty="0">
                <a:solidFill>
                  <a:srgbClr val="0000FF"/>
                </a:solidFill>
                <a:latin typeface="Times New Roman" panose="02020603050405020304" pitchFamily="18" charset="0"/>
              </a:rPr>
              <a:t>环境温度影响</a:t>
            </a:r>
          </a:p>
          <a:p>
            <a:pPr indent="466725" eaLnBrk="1" hangingPunct="1">
              <a:lnSpc>
                <a:spcPct val="125000"/>
              </a:lnSpc>
            </a:pPr>
            <a:r>
              <a:rPr lang="zh-CN" altLang="en-US" sz="2400" b="1" dirty="0">
                <a:latin typeface="Times New Roman" panose="02020603050405020304" pitchFamily="18" charset="0"/>
              </a:rPr>
              <a:t>  温度的影响一般要和湿度综合考虑。当相对湿度</a:t>
            </a:r>
            <a:r>
              <a:rPr lang="en-US" altLang="zh-CN" sz="2400" b="1" dirty="0">
                <a:latin typeface="Times New Roman" panose="02020603050405020304" pitchFamily="18" charset="0"/>
              </a:rPr>
              <a:t>&lt;</a:t>
            </a:r>
            <a:r>
              <a:rPr lang="zh-CN" altLang="en-US" sz="2400" b="1" dirty="0">
                <a:latin typeface="Times New Roman" panose="02020603050405020304" pitchFamily="18" charset="0"/>
              </a:rPr>
              <a:t>金属的临界相对湿度时，温度对腐蚀的影响很小。当相对湿度</a:t>
            </a:r>
            <a:r>
              <a:rPr lang="en-US" altLang="zh-CN" sz="2400" b="1" dirty="0">
                <a:latin typeface="Times New Roman" panose="02020603050405020304" pitchFamily="18" charset="0"/>
              </a:rPr>
              <a:t>&gt;</a:t>
            </a:r>
            <a:r>
              <a:rPr lang="zh-CN" altLang="en-US" sz="2400" b="1" dirty="0">
                <a:latin typeface="Times New Roman" panose="02020603050405020304" pitchFamily="18" charset="0"/>
              </a:rPr>
              <a:t>临界相对湿度时，温度的影响就会增大。在通常温度下，温度每升高</a:t>
            </a:r>
            <a:r>
              <a:rPr lang="en-US" altLang="zh-CN" sz="2400" b="1" dirty="0">
                <a:latin typeface="Times New Roman" panose="02020603050405020304" pitchFamily="18" charset="0"/>
              </a:rPr>
              <a:t>10℃</a:t>
            </a:r>
            <a:r>
              <a:rPr lang="zh-CN" altLang="en-US" sz="2400" b="1" dirty="0">
                <a:latin typeface="Times New Roman" panose="02020603050405020304" pitchFamily="18" charset="0"/>
              </a:rPr>
              <a:t>，锈蚀速率提约</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dissolve">
                                      <p:cBhvr>
                                        <p:cTn id="7" dur="5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dissolve">
                                      <p:cBhvr>
                                        <p:cTn id="12" dur="500"/>
                                        <p:tgtEl>
                                          <p:spTgt spid="235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395288" y="696913"/>
            <a:ext cx="8353425" cy="3455987"/>
          </a:xfrm>
        </p:spPr>
        <p:txBody>
          <a:bodyPr vert="horz" wrap="square" lIns="91440" tIns="45720" rIns="91440" bIns="45720" anchor="t" anchorCtr="0"/>
          <a:lstStyle/>
          <a:p>
            <a:pPr indent="466725" eaLnBrk="1" hangingPunct="1">
              <a:lnSpc>
                <a:spcPct val="125000"/>
              </a:lnSpc>
            </a:pPr>
            <a:r>
              <a:rPr lang="en-US" altLang="zh-CN" sz="2400" b="1" dirty="0">
                <a:solidFill>
                  <a:srgbClr val="0000FF"/>
                </a:solidFill>
                <a:latin typeface="Times New Roman" panose="02020603050405020304" pitchFamily="18" charset="0"/>
              </a:rPr>
              <a:t>(3)</a:t>
            </a:r>
            <a:r>
              <a:rPr lang="zh-CN" altLang="en-US" sz="2400" b="1" dirty="0">
                <a:solidFill>
                  <a:srgbClr val="0000FF"/>
                </a:solidFill>
                <a:latin typeface="Times New Roman" panose="02020603050405020304" pitchFamily="18" charset="0"/>
              </a:rPr>
              <a:t>空气中污染物的影响</a:t>
            </a:r>
          </a:p>
          <a:p>
            <a:pPr indent="466725">
              <a:lnSpc>
                <a:spcPct val="125000"/>
              </a:lnSpc>
            </a:pPr>
            <a:r>
              <a:rPr lang="en-US" altLang="zh-CN" sz="2400" b="1" dirty="0">
                <a:latin typeface="Times New Roman" panose="02020603050405020304" pitchFamily="18" charset="0"/>
              </a:rPr>
              <a:t>  SO</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CO</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等气体溶于水膜，增加了水膜的酸性和导电性，使析氢腐蚀和吸氧腐蚀同时发生，加快了腐蚀速率。      </a:t>
            </a:r>
          </a:p>
          <a:p>
            <a:pPr indent="466725">
              <a:lnSpc>
                <a:spcPct val="125000"/>
              </a:lnSpc>
            </a:pPr>
            <a:r>
              <a:rPr lang="en-US" altLang="zh-CN" sz="2400" b="1" dirty="0">
                <a:latin typeface="Times New Roman" panose="02020603050405020304" pitchFamily="18" charset="0"/>
              </a:rPr>
              <a:t>  Cl</a:t>
            </a:r>
            <a:r>
              <a:rPr lang="en-US" altLang="zh-CN" sz="2400" b="1" baseline="30000" dirty="0">
                <a:latin typeface="Times New Roman" panose="02020603050405020304" pitchFamily="18" charset="0"/>
              </a:rPr>
              <a:t>-</a:t>
            </a:r>
            <a:r>
              <a:rPr lang="zh-CN" altLang="en-US" sz="2400" b="1" dirty="0">
                <a:latin typeface="Times New Roman" panose="02020603050405020304" pitchFamily="18" charset="0"/>
              </a:rPr>
              <a:t>的体积小，能穿透水膜，破坏金属表面的钝化膜，生成的</a:t>
            </a:r>
            <a:r>
              <a:rPr lang="en-US" altLang="zh-CN" sz="2400" b="1" dirty="0">
                <a:latin typeface="Times New Roman" panose="02020603050405020304" pitchFamily="18" charset="0"/>
              </a:rPr>
              <a:t>FeCl</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CrCl</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等又易溶于水，大大提高水膜的导电能力，使钢铁材料在海滨及海洋运输中腐蚀速率较快。</a:t>
            </a:r>
          </a:p>
          <a:p>
            <a:pPr indent="466725">
              <a:lnSpc>
                <a:spcPct val="125000"/>
              </a:lnSpc>
            </a:pPr>
            <a:endParaRPr lang="zh-CN" altLang="en-US"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dissolve">
                                      <p:cBhvr>
                                        <p:cTn id="7" dur="5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dissolve">
                                      <p:cBhvr>
                                        <p:cTn id="12" dur="500"/>
                                        <p:tgtEl>
                                          <p:spTgt spid="235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554">
                                            <p:txEl>
                                              <p:pRg st="2" end="2"/>
                                            </p:txEl>
                                          </p:spTgt>
                                        </p:tgtEl>
                                        <p:attrNameLst>
                                          <p:attrName>style.visibility</p:attrName>
                                        </p:attrNameLst>
                                      </p:cBhvr>
                                      <p:to>
                                        <p:strVal val="visible"/>
                                      </p:to>
                                    </p:set>
                                    <p:animEffect transition="in" filter="dissolve">
                                      <p:cBhvr>
                                        <p:cTn id="17" dur="500"/>
                                        <p:tgtEl>
                                          <p:spTgt spid="235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p:cNvSpPr>
            <a:spLocks noGrp="1"/>
          </p:cNvSpPr>
          <p:nvPr>
            <p:ph idx="1"/>
          </p:nvPr>
        </p:nvSpPr>
        <p:spPr>
          <a:xfrm>
            <a:off x="395288" y="1117600"/>
            <a:ext cx="8137525" cy="1595438"/>
          </a:xfrm>
        </p:spPr>
        <p:txBody>
          <a:bodyPr vert="horz" wrap="square" lIns="91440" tIns="45720" rIns="91440" bIns="45720" anchor="t" anchorCtr="0"/>
          <a:lstStyle/>
          <a:p>
            <a:pPr eaLnBrk="1" hangingPunct="1">
              <a:lnSpc>
                <a:spcPct val="125000"/>
              </a:lnSpc>
            </a:pPr>
            <a:r>
              <a:rPr lang="zh-CN" altLang="en-US" sz="2400" b="1" dirty="0">
                <a:solidFill>
                  <a:srgbClr val="0000FF"/>
                </a:solidFill>
              </a:rPr>
              <a:t>合金化法</a:t>
            </a:r>
            <a:endParaRPr lang="en-US" altLang="zh-CN" sz="2400" b="1" dirty="0">
              <a:solidFill>
                <a:srgbClr val="0000FF"/>
              </a:solidFill>
            </a:endParaRPr>
          </a:p>
          <a:p>
            <a:pPr eaLnBrk="1" hangingPunct="1">
              <a:lnSpc>
                <a:spcPct val="125000"/>
              </a:lnSpc>
              <a:buNone/>
            </a:pPr>
            <a:r>
              <a:rPr lang="en-US" altLang="zh-CN" sz="2400" b="1" dirty="0"/>
              <a:t>          </a:t>
            </a:r>
            <a:r>
              <a:rPr lang="zh-CN" altLang="en-US" sz="2400" b="1" dirty="0"/>
              <a:t>合金能提高金属的电极电势，减少电极活性，从而使金属的稳定性大大提高。</a:t>
            </a:r>
            <a:r>
              <a:rPr lang="en-US" altLang="zh-CN" sz="2400" b="1" dirty="0"/>
              <a:t>       </a:t>
            </a:r>
            <a:endParaRPr lang="en-US" altLang="zh-CN" sz="2400" b="1" dirty="0">
              <a:solidFill>
                <a:srgbClr val="FF0000"/>
              </a:solidFill>
              <a:latin typeface="Times New Roman" panose="02020603050405020304" pitchFamily="18" charset="0"/>
            </a:endParaRPr>
          </a:p>
        </p:txBody>
      </p:sp>
      <p:sp>
        <p:nvSpPr>
          <p:cNvPr id="92162" name="Rectangle 5"/>
          <p:cNvSpPr/>
          <p:nvPr/>
        </p:nvSpPr>
        <p:spPr>
          <a:xfrm>
            <a:off x="0" y="396875"/>
            <a:ext cx="3276600" cy="652463"/>
          </a:xfrm>
          <a:prstGeom prst="rect">
            <a:avLst/>
          </a:prstGeom>
          <a:solidFill>
            <a:srgbClr val="CCFFCC"/>
          </a:solidFill>
          <a:ln w="9525">
            <a:noFill/>
          </a:ln>
        </p:spPr>
        <p:txBody>
          <a:bodyPr anchor="t" anchorCtr="0">
            <a:spAutoFit/>
          </a:bodyPr>
          <a:lstStyle/>
          <a:p>
            <a:pPr>
              <a:lnSpc>
                <a:spcPct val="130000"/>
              </a:lnSpc>
              <a:spcBef>
                <a:spcPct val="20000"/>
              </a:spcBef>
              <a:buChar char="•"/>
            </a:pPr>
            <a:r>
              <a:rPr lang="en-US" altLang="zh-CN" sz="2800" b="1" dirty="0">
                <a:solidFill>
                  <a:srgbClr val="9900CC"/>
                </a:solidFill>
                <a:latin typeface="Times New Roman" panose="02020603050405020304" pitchFamily="18" charset="0"/>
                <a:ea typeface="宋体" panose="02010600030101010101" pitchFamily="2" charset="-122"/>
              </a:rPr>
              <a:t>4.5.3  </a:t>
            </a:r>
            <a:r>
              <a:rPr lang="zh-CN" altLang="en-US" sz="2800" b="1" dirty="0">
                <a:solidFill>
                  <a:srgbClr val="9900CC"/>
                </a:solidFill>
                <a:latin typeface="Times New Roman" panose="02020603050405020304" pitchFamily="18" charset="0"/>
                <a:ea typeface="宋体" panose="02010600030101010101" pitchFamily="2" charset="-122"/>
              </a:rPr>
              <a:t>金属的防护</a:t>
            </a:r>
          </a:p>
        </p:txBody>
      </p:sp>
      <p:pic>
        <p:nvPicPr>
          <p:cNvPr id="24583" name="Picture 7" descr="铬"/>
          <p:cNvPicPr>
            <a:picLocks noChangeAspect="1"/>
          </p:cNvPicPr>
          <p:nvPr/>
        </p:nvPicPr>
        <p:blipFill>
          <a:blip r:embed="rId2"/>
          <a:stretch>
            <a:fillRect/>
          </a:stretch>
        </p:blipFill>
        <p:spPr>
          <a:xfrm>
            <a:off x="604838" y="2924175"/>
            <a:ext cx="3360737" cy="2392363"/>
          </a:xfrm>
          <a:prstGeom prst="rect">
            <a:avLst/>
          </a:prstGeom>
          <a:noFill/>
          <a:ln w="9525">
            <a:noFill/>
          </a:ln>
        </p:spPr>
      </p:pic>
      <p:pic>
        <p:nvPicPr>
          <p:cNvPr id="24585" name="Picture 9" descr="e1fe9925bc315c60bb47527b8db1cb1348547757"/>
          <p:cNvPicPr>
            <a:picLocks noChangeAspect="1"/>
          </p:cNvPicPr>
          <p:nvPr/>
        </p:nvPicPr>
        <p:blipFill>
          <a:blip r:embed="rId3"/>
          <a:srcRect b="25069"/>
          <a:stretch>
            <a:fillRect/>
          </a:stretch>
        </p:blipFill>
        <p:spPr>
          <a:xfrm>
            <a:off x="4641850" y="2913063"/>
            <a:ext cx="3584575" cy="22383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checkerboard(across)">
                                      <p:cBhvr>
                                        <p:cTn id="7" dur="500"/>
                                        <p:tgtEl>
                                          <p:spTgt spid="24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578">
                                            <p:txEl>
                                              <p:pRg st="1" end="1"/>
                                            </p:txEl>
                                          </p:spTgt>
                                        </p:tgtEl>
                                        <p:attrNameLst>
                                          <p:attrName>style.visibility</p:attrName>
                                        </p:attrNameLst>
                                      </p:cBhvr>
                                      <p:to>
                                        <p:strVal val="visible"/>
                                      </p:to>
                                    </p:set>
                                    <p:animEffect transition="in" filter="checkerboard(across)">
                                      <p:cBhvr>
                                        <p:cTn id="12" dur="500"/>
                                        <p:tgtEl>
                                          <p:spTgt spid="245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583"/>
                                        </p:tgtEl>
                                        <p:attrNameLst>
                                          <p:attrName>style.visibility</p:attrName>
                                        </p:attrNameLst>
                                      </p:cBhvr>
                                      <p:to>
                                        <p:strVal val="visible"/>
                                      </p:to>
                                    </p:set>
                                    <p:animEffect transition="in" filter="checkerboard(across)">
                                      <p:cBhvr>
                                        <p:cTn id="17" dur="500"/>
                                        <p:tgtEl>
                                          <p:spTgt spid="2458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585"/>
                                        </p:tgtEl>
                                        <p:attrNameLst>
                                          <p:attrName>style.visibility</p:attrName>
                                        </p:attrNameLst>
                                      </p:cBhvr>
                                      <p:to>
                                        <p:strVal val="visible"/>
                                      </p:to>
                                    </p:set>
                                    <p:animEffect transition="in" filter="checkerboard(across)">
                                      <p:cBhvr>
                                        <p:cTn id="22"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2"/>
          <p:cNvSpPr>
            <a:spLocks noGrp="1"/>
          </p:cNvSpPr>
          <p:nvPr>
            <p:ph idx="4294967295"/>
          </p:nvPr>
        </p:nvSpPr>
        <p:spPr>
          <a:xfrm>
            <a:off x="250825" y="841375"/>
            <a:ext cx="8569325" cy="3540125"/>
          </a:xfrm>
        </p:spPr>
        <p:txBody>
          <a:bodyPr vert="horz" wrap="square" lIns="91440" tIns="45720" rIns="91440" bIns="45720" anchor="t" anchorCtr="0"/>
          <a:lstStyle/>
          <a:p>
            <a:pPr eaLnBrk="1" hangingPunct="1">
              <a:lnSpc>
                <a:spcPct val="125000"/>
              </a:lnSpc>
            </a:pPr>
            <a:r>
              <a:rPr lang="zh-CN" altLang="en-US" sz="2400" b="1" dirty="0">
                <a:solidFill>
                  <a:srgbClr val="0000FF"/>
                </a:solidFill>
              </a:rPr>
              <a:t>保护膜法</a:t>
            </a:r>
            <a:endParaRPr lang="en-US" altLang="zh-CN" sz="2400" b="1" dirty="0">
              <a:solidFill>
                <a:srgbClr val="0000FF"/>
              </a:solidFill>
            </a:endParaRPr>
          </a:p>
          <a:p>
            <a:pPr eaLnBrk="1" hangingPunct="1">
              <a:lnSpc>
                <a:spcPct val="125000"/>
              </a:lnSpc>
              <a:buNone/>
            </a:pPr>
            <a:r>
              <a:rPr lang="en-US" altLang="zh-CN" sz="2400" b="1" dirty="0"/>
              <a:t>    </a:t>
            </a:r>
            <a:r>
              <a:rPr lang="zh-CN" altLang="en-US" sz="2400" b="1" dirty="0"/>
              <a:t>　　在金属表面电沉积</a:t>
            </a:r>
            <a:r>
              <a:rPr lang="en-US" altLang="zh-CN" sz="2400" b="1" dirty="0"/>
              <a:t>(</a:t>
            </a:r>
            <a:r>
              <a:rPr lang="zh-CN" altLang="en-US" sz="2400" b="1" dirty="0"/>
              <a:t>如电镀</a:t>
            </a:r>
            <a:r>
              <a:rPr lang="en-US" altLang="zh-CN" sz="2400" b="1" dirty="0"/>
              <a:t>)</a:t>
            </a:r>
            <a:r>
              <a:rPr lang="zh-CN" altLang="en-US" sz="2400" b="1" dirty="0"/>
              <a:t>金属保护膜，或覆以非金属材料涂层</a:t>
            </a:r>
            <a:r>
              <a:rPr lang="en-US" altLang="zh-CN" sz="2400" b="1" dirty="0"/>
              <a:t>(</a:t>
            </a:r>
            <a:r>
              <a:rPr lang="zh-CN" altLang="en-US" sz="2400" b="1" dirty="0"/>
              <a:t>如：油漆、搪瓷及塑料膜等</a:t>
            </a:r>
            <a:r>
              <a:rPr lang="en-US" altLang="zh-CN" sz="2400" b="1" dirty="0"/>
              <a:t>)</a:t>
            </a:r>
            <a:r>
              <a:rPr lang="zh-CN" altLang="en-US" sz="2400" b="1" dirty="0"/>
              <a:t>，可使金属和大气隔绝，提高耐蚀性。</a:t>
            </a:r>
          </a:p>
          <a:p>
            <a:pPr eaLnBrk="1" hangingPunct="1">
              <a:lnSpc>
                <a:spcPct val="125000"/>
              </a:lnSpc>
            </a:pPr>
            <a:r>
              <a:rPr lang="zh-CN" altLang="en-US" sz="2400" b="1" dirty="0">
                <a:solidFill>
                  <a:srgbClr val="0000FF"/>
                </a:solidFill>
              </a:rPr>
              <a:t>缓蚀剂法</a:t>
            </a:r>
            <a:endParaRPr lang="en-US" altLang="zh-CN" sz="2400" b="1" dirty="0">
              <a:solidFill>
                <a:srgbClr val="0000FF"/>
              </a:solidFill>
            </a:endParaRPr>
          </a:p>
          <a:p>
            <a:pPr eaLnBrk="1" hangingPunct="1">
              <a:lnSpc>
                <a:spcPct val="125000"/>
              </a:lnSpc>
              <a:buNone/>
            </a:pPr>
            <a:r>
              <a:rPr lang="en-US" altLang="zh-CN" sz="2400" b="1" dirty="0"/>
              <a:t>    </a:t>
            </a:r>
            <a:r>
              <a:rPr lang="zh-CN" altLang="en-US" sz="2400" b="1" dirty="0"/>
              <a:t>　　在腐蚀介质中加入少量能减小腐蚀速率的物质来减缓腐蚀的方法叫做缓蚀剂法。所加的物质叫缓蚀剂。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Effect transition="in" filter="checkerboard(across)">
                                      <p:cBhvr>
                                        <p:cTn id="7" dur="500"/>
                                        <p:tgtEl>
                                          <p:spTgt spid="675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7586">
                                            <p:txEl>
                                              <p:pRg st="1" end="1"/>
                                            </p:txEl>
                                          </p:spTgt>
                                        </p:tgtEl>
                                        <p:attrNameLst>
                                          <p:attrName>style.visibility</p:attrName>
                                        </p:attrNameLst>
                                      </p:cBhvr>
                                      <p:to>
                                        <p:strVal val="visible"/>
                                      </p:to>
                                    </p:set>
                                    <p:animEffect transition="in" filter="checkerboard(across)">
                                      <p:cBhvr>
                                        <p:cTn id="12" dur="500"/>
                                        <p:tgtEl>
                                          <p:spTgt spid="675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7586">
                                            <p:txEl>
                                              <p:pRg st="2" end="2"/>
                                            </p:txEl>
                                          </p:spTgt>
                                        </p:tgtEl>
                                        <p:attrNameLst>
                                          <p:attrName>style.visibility</p:attrName>
                                        </p:attrNameLst>
                                      </p:cBhvr>
                                      <p:to>
                                        <p:strVal val="visible"/>
                                      </p:to>
                                    </p:set>
                                    <p:animEffect transition="in" filter="checkerboard(across)">
                                      <p:cBhvr>
                                        <p:cTn id="17" dur="500"/>
                                        <p:tgtEl>
                                          <p:spTgt spid="675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7586">
                                            <p:txEl>
                                              <p:pRg st="3" end="3"/>
                                            </p:txEl>
                                          </p:spTgt>
                                        </p:tgtEl>
                                        <p:attrNameLst>
                                          <p:attrName>style.visibility</p:attrName>
                                        </p:attrNameLst>
                                      </p:cBhvr>
                                      <p:to>
                                        <p:strVal val="visible"/>
                                      </p:to>
                                    </p:set>
                                    <p:animEffect transition="in" filter="checkerboard(across)">
                                      <p:cBhvr>
                                        <p:cTn id="22" dur="500"/>
                                        <p:tgtEl>
                                          <p:spTgt spid="675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p:cNvSpPr>
            <a:spLocks noGrp="1"/>
          </p:cNvSpPr>
          <p:nvPr>
            <p:ph idx="4294967295"/>
          </p:nvPr>
        </p:nvSpPr>
        <p:spPr>
          <a:xfrm>
            <a:off x="323850" y="625475"/>
            <a:ext cx="8642350" cy="3971925"/>
          </a:xfrm>
        </p:spPr>
        <p:txBody>
          <a:bodyPr vert="horz" wrap="square" lIns="91440" tIns="45720" rIns="91440" bIns="45720" anchor="t" anchorCtr="0"/>
          <a:lstStyle/>
          <a:p>
            <a:pPr eaLnBrk="1" hangingPunct="1"/>
            <a:r>
              <a:rPr lang="zh-CN" altLang="en-US" sz="2400" b="1" dirty="0">
                <a:solidFill>
                  <a:srgbClr val="0000FF"/>
                </a:solidFill>
              </a:rPr>
              <a:t>电化学保护法</a:t>
            </a:r>
            <a:endParaRPr lang="zh-CN" altLang="en-US" sz="2400" dirty="0">
              <a:solidFill>
                <a:srgbClr val="0000FF"/>
              </a:solidFill>
            </a:endParaRPr>
          </a:p>
          <a:p>
            <a:pPr eaLnBrk="1" hangingPunct="1">
              <a:lnSpc>
                <a:spcPct val="120000"/>
              </a:lnSpc>
              <a:buNone/>
            </a:pPr>
            <a:r>
              <a:rPr lang="zh-CN" altLang="en-US" sz="2400" b="1" dirty="0">
                <a:latin typeface="Times New Roman" panose="02020603050405020304" pitchFamily="18" charset="0"/>
              </a:rPr>
              <a:t>             可使用外加阳极、将被保护金属作为阴极来保护。</a:t>
            </a:r>
          </a:p>
          <a:p>
            <a:pPr>
              <a:lnSpc>
                <a:spcPct val="120000"/>
              </a:lnSpc>
            </a:pPr>
            <a:r>
              <a:rPr lang="zh-CN" altLang="en-US" sz="2400" b="1" dirty="0">
                <a:latin typeface="Times New Roman" panose="02020603050405020304" pitchFamily="18" charset="0"/>
              </a:rPr>
              <a:t>        根据外加阳极的不同，分为外加电源保护法和牺牲阳极保护法两种。</a:t>
            </a:r>
          </a:p>
          <a:p>
            <a:pPr>
              <a:lnSpc>
                <a:spcPct val="120000"/>
              </a:lnSpc>
            </a:pPr>
            <a:r>
              <a:rPr lang="en-US" altLang="zh-CN" sz="2400" b="1" dirty="0">
                <a:latin typeface="Times New Roman" panose="02020603050405020304" pitchFamily="18" charset="0"/>
              </a:rPr>
              <a:t>         </a:t>
            </a:r>
            <a:r>
              <a:rPr lang="en-US" altLang="zh-CN" sz="2400" b="1" dirty="0">
                <a:solidFill>
                  <a:srgbClr val="CC3300"/>
                </a:solidFill>
                <a:latin typeface="Times New Roman" panose="02020603050405020304" pitchFamily="18" charset="0"/>
              </a:rPr>
              <a:t>(1)</a:t>
            </a:r>
            <a:r>
              <a:rPr lang="zh-CN" altLang="en-US" sz="2400" b="1" dirty="0">
                <a:solidFill>
                  <a:srgbClr val="CC3300"/>
                </a:solidFill>
                <a:latin typeface="Times New Roman" panose="02020603050405020304" pitchFamily="18" charset="0"/>
              </a:rPr>
              <a:t>外加电源保护法</a:t>
            </a:r>
            <a:r>
              <a:rPr lang="zh-CN" altLang="en-US" sz="2400" b="1" dirty="0">
                <a:latin typeface="Times New Roman" panose="02020603050405020304" pitchFamily="18" charset="0"/>
              </a:rPr>
              <a:t>     </a:t>
            </a:r>
          </a:p>
          <a:p>
            <a:pPr>
              <a:lnSpc>
                <a:spcPct val="120000"/>
              </a:lnSpc>
            </a:pPr>
            <a:r>
              <a:rPr lang="zh-CN" altLang="en-US" sz="2400" b="1" dirty="0">
                <a:latin typeface="Times New Roman" panose="02020603050405020304" pitchFamily="18" charset="0"/>
              </a:rPr>
              <a:t>        将被保护金属与另一附加电极作为电解池的两极。外加直流电源的负极接被保护金属，另用一废钢铁接正极。广泛用于土壤、海水和河水中设备的防腐。</a:t>
            </a:r>
            <a:r>
              <a:rPr lang="en-US" altLang="zh-CN" sz="2400" b="1" dirty="0">
                <a:latin typeface="Times New Roman" panose="02020603050405020304" pitchFamily="18" charset="0"/>
              </a:rPr>
              <a:t>        </a:t>
            </a:r>
            <a:endParaRPr lang="zh-CN" altLang="en-US"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animEffect transition="in" filter="dissolve">
                                      <p:cBhvr>
                                        <p:cTn id="7" dur="500"/>
                                        <p:tgtEl>
                                          <p:spTgt spid="655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538">
                                            <p:txEl>
                                              <p:pRg st="1" end="1"/>
                                            </p:txEl>
                                          </p:spTgt>
                                        </p:tgtEl>
                                        <p:attrNameLst>
                                          <p:attrName>style.visibility</p:attrName>
                                        </p:attrNameLst>
                                      </p:cBhvr>
                                      <p:to>
                                        <p:strVal val="visible"/>
                                      </p:to>
                                    </p:set>
                                    <p:animEffect transition="in" filter="dissolve">
                                      <p:cBhvr>
                                        <p:cTn id="12" dur="500"/>
                                        <p:tgtEl>
                                          <p:spTgt spid="655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538">
                                            <p:txEl>
                                              <p:pRg st="2" end="2"/>
                                            </p:txEl>
                                          </p:spTgt>
                                        </p:tgtEl>
                                        <p:attrNameLst>
                                          <p:attrName>style.visibility</p:attrName>
                                        </p:attrNameLst>
                                      </p:cBhvr>
                                      <p:to>
                                        <p:strVal val="visible"/>
                                      </p:to>
                                    </p:set>
                                    <p:animEffect transition="in" filter="dissolve">
                                      <p:cBhvr>
                                        <p:cTn id="17" dur="500"/>
                                        <p:tgtEl>
                                          <p:spTgt spid="655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5538">
                                            <p:txEl>
                                              <p:pRg st="3" end="3"/>
                                            </p:txEl>
                                          </p:spTgt>
                                        </p:tgtEl>
                                        <p:attrNameLst>
                                          <p:attrName>style.visibility</p:attrName>
                                        </p:attrNameLst>
                                      </p:cBhvr>
                                      <p:to>
                                        <p:strVal val="visible"/>
                                      </p:to>
                                    </p:set>
                                    <p:animEffect transition="in" filter="dissolve">
                                      <p:cBhvr>
                                        <p:cTn id="22" dur="500"/>
                                        <p:tgtEl>
                                          <p:spTgt spid="655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5538">
                                            <p:txEl>
                                              <p:pRg st="4" end="4"/>
                                            </p:txEl>
                                          </p:spTgt>
                                        </p:tgtEl>
                                        <p:attrNameLst>
                                          <p:attrName>style.visibility</p:attrName>
                                        </p:attrNameLst>
                                      </p:cBhvr>
                                      <p:to>
                                        <p:strVal val="visible"/>
                                      </p:to>
                                    </p:set>
                                    <p:animEffect transition="in" filter="dissolve">
                                      <p:cBhvr>
                                        <p:cTn id="27" dur="500"/>
                                        <p:tgtEl>
                                          <p:spTgt spid="655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4294967295"/>
          </p:nvPr>
        </p:nvSpPr>
        <p:spPr>
          <a:xfrm>
            <a:off x="395288" y="938213"/>
            <a:ext cx="8497887" cy="3863975"/>
          </a:xfrm>
        </p:spPr>
        <p:txBody>
          <a:bodyPr vert="horz" wrap="square" lIns="91440" tIns="45720" rIns="91440" bIns="45720" anchor="t" anchorCtr="0"/>
          <a:lstStyle/>
          <a:p>
            <a:pPr>
              <a:lnSpc>
                <a:spcPct val="120000"/>
              </a:lnSpc>
            </a:pPr>
            <a:r>
              <a:rPr lang="en-US" altLang="zh-CN" sz="2400" b="1" dirty="0">
                <a:latin typeface="Times New Roman" panose="02020603050405020304" pitchFamily="18" charset="0"/>
              </a:rPr>
              <a:t>        </a:t>
            </a:r>
            <a:r>
              <a:rPr lang="en-US" altLang="zh-CN" sz="2400" b="1" dirty="0">
                <a:solidFill>
                  <a:srgbClr val="CC3300"/>
                </a:solidFill>
                <a:latin typeface="Times New Roman" panose="02020603050405020304" pitchFamily="18" charset="0"/>
              </a:rPr>
              <a:t>(2)</a:t>
            </a:r>
            <a:r>
              <a:rPr lang="zh-CN" altLang="en-US" sz="2400" b="1" dirty="0">
                <a:solidFill>
                  <a:srgbClr val="CC3300"/>
                </a:solidFill>
                <a:latin typeface="Times New Roman" panose="02020603050405020304" pitchFamily="18" charset="0"/>
              </a:rPr>
              <a:t>牺牲阳极保护法</a:t>
            </a:r>
            <a:r>
              <a:rPr lang="zh-CN" altLang="en-US" sz="2400" b="1" dirty="0">
                <a:latin typeface="Times New Roman" panose="02020603050405020304" pitchFamily="18" charset="0"/>
              </a:rPr>
              <a:t>     </a:t>
            </a:r>
          </a:p>
          <a:p>
            <a:pPr>
              <a:lnSpc>
                <a:spcPct val="120000"/>
              </a:lnSpc>
            </a:pPr>
            <a:r>
              <a:rPr lang="zh-CN" altLang="en-US" sz="2400" b="1" dirty="0">
                <a:latin typeface="Times New Roman" panose="02020603050405020304" pitchFamily="18" charset="0"/>
              </a:rPr>
              <a:t>        将较活泼金属或合金连接在被保护的金属设备上，与被保护金属形成原电池。这时活泼金属作为原电池的阳极而被腐蚀，被保护金属则作为阴极。常用作牺牲阳极的材料有</a:t>
            </a:r>
            <a:r>
              <a:rPr lang="en-US" altLang="zh-CN" sz="2400" b="1" dirty="0">
                <a:latin typeface="Times New Roman" panose="02020603050405020304" pitchFamily="18" charset="0"/>
              </a:rPr>
              <a:t>Mg</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Al</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Zn</a:t>
            </a:r>
            <a:r>
              <a:rPr lang="zh-CN" altLang="en-US" sz="2400" b="1" dirty="0">
                <a:latin typeface="Times New Roman" panose="02020603050405020304" pitchFamily="18" charset="0"/>
              </a:rPr>
              <a:t>及其合金。</a:t>
            </a:r>
          </a:p>
          <a:p>
            <a:pPr>
              <a:lnSpc>
                <a:spcPct val="120000"/>
              </a:lnSpc>
            </a:pPr>
            <a:r>
              <a:rPr lang="zh-CN" altLang="en-US" sz="2400" b="1" dirty="0">
                <a:latin typeface="Times New Roman" panose="02020603050405020304" pitchFamily="18" charset="0"/>
              </a:rPr>
              <a:t>        牺牲阳极保护法常用于蒸汽锅炉的内壁、海船的外壳、石油输送管道和海底设备等。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62">
                                            <p:txEl>
                                              <p:pRg st="0" end="0"/>
                                            </p:txEl>
                                          </p:spTgt>
                                        </p:tgtEl>
                                        <p:attrNameLst>
                                          <p:attrName>style.visibility</p:attrName>
                                        </p:attrNameLst>
                                      </p:cBhvr>
                                      <p:to>
                                        <p:strVal val="visible"/>
                                      </p:to>
                                    </p:set>
                                    <p:animEffect transition="in" filter="dissolve">
                                      <p:cBhvr>
                                        <p:cTn id="7" dur="500"/>
                                        <p:tgtEl>
                                          <p:spTgt spid="665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6562">
                                            <p:txEl>
                                              <p:pRg st="1" end="1"/>
                                            </p:txEl>
                                          </p:spTgt>
                                        </p:tgtEl>
                                        <p:attrNameLst>
                                          <p:attrName>style.visibility</p:attrName>
                                        </p:attrNameLst>
                                      </p:cBhvr>
                                      <p:to>
                                        <p:strVal val="visible"/>
                                      </p:to>
                                    </p:set>
                                    <p:animEffect transition="in" filter="dissolve">
                                      <p:cBhvr>
                                        <p:cTn id="12" dur="500"/>
                                        <p:tgtEl>
                                          <p:spTgt spid="665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6562">
                                            <p:txEl>
                                              <p:pRg st="2" end="2"/>
                                            </p:txEl>
                                          </p:spTgt>
                                        </p:tgtEl>
                                        <p:attrNameLst>
                                          <p:attrName>style.visibility</p:attrName>
                                        </p:attrNameLst>
                                      </p:cBhvr>
                                      <p:to>
                                        <p:strVal val="visible"/>
                                      </p:to>
                                    </p:set>
                                    <p:animEffect transition="in" filter="dissolve">
                                      <p:cBhvr>
                                        <p:cTn id="17" dur="500"/>
                                        <p:tgtEl>
                                          <p:spTgt spid="6656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内容占位符 2"/>
          <p:cNvSpPr>
            <a:spLocks noGrp="1"/>
          </p:cNvSpPr>
          <p:nvPr>
            <p:ph idx="4294967295"/>
          </p:nvPr>
        </p:nvSpPr>
        <p:spPr>
          <a:xfrm>
            <a:off x="468313" y="769938"/>
            <a:ext cx="8215312" cy="3671887"/>
          </a:xfrm>
          <a:solidFill>
            <a:schemeClr val="accent1"/>
          </a:solidFill>
        </p:spPr>
        <p:txBody>
          <a:bodyPr vert="horz" wrap="square" lIns="91440" tIns="45720" rIns="91440" bIns="45720" anchor="t" anchorCtr="0"/>
          <a:lstStyle/>
          <a:p>
            <a:pPr eaLnBrk="1" hangingPunct="1"/>
            <a:r>
              <a:rPr lang="zh-CN" altLang="en-US" b="1" dirty="0">
                <a:solidFill>
                  <a:srgbClr val="0000FF"/>
                </a:solidFill>
              </a:rPr>
              <a:t>分解电压</a:t>
            </a:r>
            <a:endParaRPr lang="en-US" altLang="zh-CN" b="1" dirty="0">
              <a:solidFill>
                <a:srgbClr val="0000FF"/>
              </a:solidFill>
            </a:endParaRPr>
          </a:p>
          <a:p>
            <a:pPr eaLnBrk="1" hangingPunct="1">
              <a:lnSpc>
                <a:spcPct val="150000"/>
              </a:lnSpc>
            </a:pPr>
            <a:r>
              <a:rPr lang="zh-CN" altLang="en-US" sz="2400" b="1" dirty="0"/>
              <a:t>       若使水的电解反应顺利进行，必须克服阳极有氧析出，阴极有氢</a:t>
            </a:r>
            <a:r>
              <a:rPr lang="zh-CN" altLang="en-US" sz="2400" b="1" dirty="0">
                <a:latin typeface="Times New Roman" panose="02020603050405020304" pitchFamily="18" charset="0"/>
              </a:rPr>
              <a:t>析出而组成的原电池电动势，施加≥</a:t>
            </a:r>
            <a:r>
              <a:rPr lang="en-US" altLang="zh-CN" sz="2400" b="1" dirty="0">
                <a:latin typeface="Times New Roman" panose="02020603050405020304" pitchFamily="18" charset="0"/>
              </a:rPr>
              <a:t>1.23V</a:t>
            </a:r>
            <a:r>
              <a:rPr lang="zh-CN" altLang="en-US" sz="2400" b="1" dirty="0">
                <a:latin typeface="Times New Roman" panose="02020603050405020304" pitchFamily="18" charset="0"/>
              </a:rPr>
              <a:t>的外电压，</a:t>
            </a:r>
            <a:r>
              <a:rPr lang="en-US" altLang="zh-CN" sz="2400" b="1" dirty="0">
                <a:latin typeface="Times New Roman" panose="02020603050405020304" pitchFamily="18" charset="0"/>
              </a:rPr>
              <a:t>1.23V</a:t>
            </a:r>
            <a:r>
              <a:rPr lang="zh-CN" altLang="en-US" sz="2400" b="1" dirty="0">
                <a:latin typeface="Times New Roman" panose="02020603050405020304" pitchFamily="18" charset="0"/>
              </a:rPr>
              <a:t>是</a:t>
            </a:r>
            <a:r>
              <a:rPr lang="zh-CN" altLang="en-US" sz="2400" b="1" dirty="0">
                <a:solidFill>
                  <a:srgbClr val="FF0000"/>
                </a:solidFill>
                <a:latin typeface="Times New Roman" panose="02020603050405020304" pitchFamily="18" charset="0"/>
              </a:rPr>
              <a:t>理论</a:t>
            </a:r>
            <a:r>
              <a:rPr lang="zh-CN" altLang="en-US" sz="2400" b="1" dirty="0">
                <a:solidFill>
                  <a:srgbClr val="FF0000"/>
                </a:solidFill>
              </a:rPr>
              <a:t>分解电压</a:t>
            </a:r>
            <a:r>
              <a:rPr lang="en-US" altLang="zh-CN" sz="2400" b="1" dirty="0">
                <a:solidFill>
                  <a:srgbClr val="FF0000"/>
                </a:solidFill>
              </a:rPr>
              <a:t>(</a:t>
            </a:r>
            <a:r>
              <a:rPr lang="zh-CN" altLang="en-US" sz="2400" b="1" dirty="0">
                <a:solidFill>
                  <a:srgbClr val="FF0000"/>
                </a:solidFill>
              </a:rPr>
              <a:t>即原电池的电动势</a:t>
            </a:r>
            <a:r>
              <a:rPr lang="en-US" altLang="zh-CN" sz="2400" b="1" dirty="0">
                <a:solidFill>
                  <a:srgbClr val="FF0000"/>
                </a:solidFill>
              </a:rPr>
              <a:t>)</a:t>
            </a:r>
            <a:r>
              <a:rPr lang="zh-CN" altLang="en-US" sz="2400" b="1" dirty="0"/>
              <a:t>。由于极化的结果产生了超电势，使实际分解电压高于理论分解电压。</a:t>
            </a:r>
          </a:p>
        </p:txBody>
      </p:sp>
      <p:sp>
        <p:nvSpPr>
          <p:cNvPr id="107522" name="Rectangle 11"/>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noChangeArrowheads="1"/>
          </p:cNvSpPr>
          <p:nvPr>
            <p:ph idx="4294967295"/>
          </p:nvPr>
        </p:nvSpPr>
        <p:spPr>
          <a:xfrm>
            <a:off x="468313" y="409575"/>
            <a:ext cx="8351838" cy="4535488"/>
          </a:xfrm>
          <a:solidFill>
            <a:schemeClr val="accent1"/>
          </a:solidFill>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3200" b="1" i="0" u="none" strike="noStrike" kern="0" cap="none" spc="0" normalizeH="0" baseline="0" noProof="0" dirty="0">
                <a:ln>
                  <a:noFill/>
                </a:ln>
                <a:solidFill>
                  <a:srgbClr val="0000FF"/>
                </a:solidFill>
                <a:effectLst/>
                <a:uLnTx/>
                <a:uFillTx/>
                <a:latin typeface="+mn-lt"/>
                <a:ea typeface="+mn-ea"/>
                <a:cs typeface="+mn-cs"/>
              </a:rPr>
              <a:t>极化与超电势</a:t>
            </a:r>
            <a:endParaRPr kumimoji="0" lang="en-US" altLang="zh-CN" sz="3200" b="1"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超电势</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凡是电极电势偏离可逆电极电势的现象，在电化学中称为“</a:t>
            </a:r>
            <a:r>
              <a:rPr kumimoji="0" lang="zh-CN" altLang="en-US" sz="2400" b="1" i="0" u="none" strike="noStrike" kern="0" cap="none" spc="0" normalizeH="0" baseline="0" noProof="0" dirty="0">
                <a:ln>
                  <a:noFill/>
                </a:ln>
                <a:solidFill>
                  <a:srgbClr val="FF0000"/>
                </a:solidFill>
                <a:effectLst/>
                <a:uLnTx/>
                <a:uFillTx/>
                <a:latin typeface="+mn-lt"/>
                <a:ea typeface="+mn-ea"/>
                <a:cs typeface="+mn-cs"/>
              </a:rPr>
              <a:t>极化</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”。可由超电势的大小来衡量一个电极极化的程度。</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极化产生的原因很复杂，既有浓度差异造成的浓差极化，也有在进行电化学反应时的电化学极化等。</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mn-lt"/>
                <a:ea typeface="+mn-ea"/>
                <a:cs typeface="+mn-cs"/>
              </a:rPr>
              <a:t>电极极化有以下规律</a:t>
            </a:r>
            <a:r>
              <a:rPr kumimoji="0" lang="en-US" altLang="zh-CN" sz="2800" b="1" i="0" u="none" strike="noStrike" kern="0" cap="none" spc="0" normalizeH="0" baseline="0" noProof="0" dirty="0">
                <a:ln>
                  <a:noFill/>
                </a:ln>
                <a:solidFill>
                  <a:srgbClr val="0000FF"/>
                </a:solidFill>
                <a:effectLst/>
                <a:uLnTx/>
                <a:uFillTx/>
                <a:latin typeface="+mn-lt"/>
                <a:ea typeface="+mn-ea"/>
                <a:cs typeface="+mn-cs"/>
              </a:rPr>
              <a:t>:</a:t>
            </a:r>
            <a:endParaRPr kumimoji="0" lang="zh-CN" altLang="zh-CN" sz="2800" b="1"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zh-CN" sz="2400" b="1" i="0" u="none" strike="noStrike" kern="0" cap="none" spc="0" normalizeH="0" baseline="0" noProof="0" dirty="0">
                <a:ln>
                  <a:noFill/>
                </a:ln>
                <a:solidFill>
                  <a:schemeClr val="tx1"/>
                </a:solidFill>
                <a:effectLst/>
                <a:uLnTx/>
                <a:uFillTx/>
                <a:latin typeface="+mn-lt"/>
                <a:ea typeface="+mn-ea"/>
                <a:cs typeface="+mn-cs"/>
              </a:rPr>
              <a:t>①</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阳极极化后电极电势升高。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②阴极极化后电极电势降低。</a:t>
            </a:r>
          </a:p>
        </p:txBody>
      </p:sp>
      <p:sp>
        <p:nvSpPr>
          <p:cNvPr id="108546" name="Rectangle 11"/>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6626" name="Object 10"/>
          <p:cNvGraphicFramePr>
            <a:graphicFrameLocks noChangeAspect="1"/>
          </p:cNvGraphicFramePr>
          <p:nvPr/>
        </p:nvGraphicFramePr>
        <p:xfrm>
          <a:off x="3779838" y="2281238"/>
          <a:ext cx="1728787" cy="417512"/>
        </p:xfrm>
        <a:graphic>
          <a:graphicData uri="http://schemas.openxmlformats.org/presentationml/2006/ole">
            <mc:AlternateContent xmlns:mc="http://schemas.openxmlformats.org/markup-compatibility/2006">
              <mc:Choice xmlns:v="urn:schemas-microsoft-com:vml" Requires="v">
                <p:oleObj r:id="rId2" imgW="789940" imgH="229235" progId="Equation.DSMT4">
                  <p:embed/>
                </p:oleObj>
              </mc:Choice>
              <mc:Fallback>
                <p:oleObj r:id="rId2" imgW="789940" imgH="229235" progId="Equation.DSMT4">
                  <p:embed/>
                  <p:pic>
                    <p:nvPicPr>
                      <p:cNvPr id="0" name="图片 3112"/>
                      <p:cNvPicPr/>
                      <p:nvPr/>
                    </p:nvPicPr>
                    <p:blipFill>
                      <a:blip r:embed="rId3"/>
                      <a:stretch>
                        <a:fillRect/>
                      </a:stretch>
                    </p:blipFill>
                    <p:spPr>
                      <a:xfrm>
                        <a:off x="3779838" y="2281238"/>
                        <a:ext cx="1728787" cy="4175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27">
                                            <p:bg/>
                                          </p:spTgt>
                                        </p:tgtEl>
                                        <p:attrNameLst>
                                          <p:attrName>style.visibility</p:attrName>
                                        </p:attrNameLst>
                                      </p:cBhvr>
                                      <p:to>
                                        <p:strVal val="visible"/>
                                      </p:to>
                                    </p:set>
                                    <p:animEffect transition="in" filter="checkerboard(across)">
                                      <p:cBhvr>
                                        <p:cTn id="7" dur="500"/>
                                        <p:tgtEl>
                                          <p:spTgt spid="26627">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checkerboard(across)">
                                      <p:cBhvr>
                                        <p:cTn id="12" dur="5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Effect transition="in" filter="checkerboard(across)">
                                      <p:cBhvr>
                                        <p:cTn id="17" dur="500"/>
                                        <p:tgtEl>
                                          <p:spTgt spid="266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6627">
                                            <p:txEl>
                                              <p:pRg st="2" end="2"/>
                                            </p:txEl>
                                          </p:spTgt>
                                        </p:tgtEl>
                                        <p:attrNameLst>
                                          <p:attrName>style.visibility</p:attrName>
                                        </p:attrNameLst>
                                      </p:cBhvr>
                                      <p:to>
                                        <p:strVal val="visible"/>
                                      </p:to>
                                    </p:set>
                                    <p:animEffect transition="in" filter="checkerboard(across)">
                                      <p:cBhvr>
                                        <p:cTn id="22" dur="500"/>
                                        <p:tgtEl>
                                          <p:spTgt spid="266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6626"/>
                                        </p:tgtEl>
                                        <p:attrNameLst>
                                          <p:attrName>style.visibility</p:attrName>
                                        </p:attrNameLst>
                                      </p:cBhvr>
                                      <p:to>
                                        <p:strVal val="visible"/>
                                      </p:to>
                                    </p:set>
                                    <p:animEffect transition="in" filter="checkerboard(across)">
                                      <p:cBhvr>
                                        <p:cTn id="27" dur="500"/>
                                        <p:tgtEl>
                                          <p:spTgt spid="2662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6627">
                                            <p:txEl>
                                              <p:pRg st="4" end="4"/>
                                            </p:txEl>
                                          </p:spTgt>
                                        </p:tgtEl>
                                        <p:attrNameLst>
                                          <p:attrName>style.visibility</p:attrName>
                                        </p:attrNameLst>
                                      </p:cBhvr>
                                      <p:to>
                                        <p:strVal val="visible"/>
                                      </p:to>
                                    </p:set>
                                    <p:animEffect transition="in" filter="checkerboard(across)">
                                      <p:cBhvr>
                                        <p:cTn id="32" dur="500"/>
                                        <p:tgtEl>
                                          <p:spTgt spid="2662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6627">
                                            <p:txEl>
                                              <p:pRg st="5" end="5"/>
                                            </p:txEl>
                                          </p:spTgt>
                                        </p:tgtEl>
                                        <p:attrNameLst>
                                          <p:attrName>style.visibility</p:attrName>
                                        </p:attrNameLst>
                                      </p:cBhvr>
                                      <p:to>
                                        <p:strVal val="visible"/>
                                      </p:to>
                                    </p:set>
                                    <p:animEffect transition="in" filter="checkerboard(across)">
                                      <p:cBhvr>
                                        <p:cTn id="37" dur="500"/>
                                        <p:tgtEl>
                                          <p:spTgt spid="2662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6627">
                                            <p:txEl>
                                              <p:pRg st="6" end="6"/>
                                            </p:txEl>
                                          </p:spTgt>
                                        </p:tgtEl>
                                        <p:attrNameLst>
                                          <p:attrName>style.visibility</p:attrName>
                                        </p:attrNameLst>
                                      </p:cBhvr>
                                      <p:to>
                                        <p:strVal val="visible"/>
                                      </p:to>
                                    </p:set>
                                    <p:animEffect transition="in" filter="checkerboard(across)">
                                      <p:cBhvr>
                                        <p:cTn id="42" dur="500"/>
                                        <p:tgtEl>
                                          <p:spTgt spid="2662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6627">
                                            <p:txEl>
                                              <p:pRg st="7" end="7"/>
                                            </p:txEl>
                                          </p:spTgt>
                                        </p:tgtEl>
                                        <p:attrNameLst>
                                          <p:attrName>style.visibility</p:attrName>
                                        </p:attrNameLst>
                                      </p:cBhvr>
                                      <p:to>
                                        <p:strVal val="visible"/>
                                      </p:to>
                                    </p:set>
                                    <p:animEffect transition="in" filter="checkerboard(across)">
                                      <p:cBhvr>
                                        <p:cTn id="47" dur="500"/>
                                        <p:tgtEl>
                                          <p:spTgt spid="26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内容占位符 2"/>
          <p:cNvSpPr>
            <a:spLocks noGrp="1"/>
          </p:cNvSpPr>
          <p:nvPr>
            <p:ph idx="4294967295"/>
          </p:nvPr>
        </p:nvSpPr>
        <p:spPr>
          <a:xfrm>
            <a:off x="539750" y="336550"/>
            <a:ext cx="8353425" cy="5060950"/>
          </a:xfrm>
          <a:solidFill>
            <a:schemeClr val="accent1"/>
          </a:solidFill>
        </p:spPr>
        <p:txBody>
          <a:bodyPr vert="horz" wrap="square" lIns="91440" tIns="45720" rIns="91440" bIns="45720" anchor="t" anchorCtr="0"/>
          <a:lstStyle/>
          <a:p>
            <a:pPr eaLnBrk="1" hangingPunct="1"/>
            <a:r>
              <a:rPr lang="zh-CN" altLang="en-US" sz="2400" b="1" dirty="0">
                <a:solidFill>
                  <a:srgbClr val="C00000"/>
                </a:solidFill>
              </a:rPr>
              <a:t>电解产物的析出规律</a:t>
            </a:r>
          </a:p>
          <a:p>
            <a:pPr eaLnBrk="1" hangingPunct="1"/>
            <a:r>
              <a:rPr lang="zh-CN" altLang="en-US" sz="2400" b="1" dirty="0">
                <a:solidFill>
                  <a:srgbClr val="C00000"/>
                </a:solidFill>
              </a:rPr>
              <a:t>阴极析出规律</a:t>
            </a:r>
            <a:endParaRPr lang="zh-CN" altLang="zh-CN" sz="2400" b="1" dirty="0">
              <a:solidFill>
                <a:srgbClr val="C00000"/>
              </a:solidFill>
            </a:endParaRPr>
          </a:p>
          <a:p>
            <a:pPr eaLnBrk="1" hangingPunct="1"/>
            <a:r>
              <a:rPr lang="zh-CN" altLang="zh-CN" sz="2000" b="1" dirty="0"/>
              <a:t>①</a:t>
            </a:r>
            <a:r>
              <a:rPr lang="zh-CN" altLang="en-US" sz="2000" b="1" dirty="0">
                <a:latin typeface="Times New Roman" panose="02020603050405020304" pitchFamily="18" charset="0"/>
              </a:rPr>
              <a:t>电极电势大于</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的金属离子在水溶液中首先获得电子。</a:t>
            </a:r>
          </a:p>
          <a:p>
            <a:pPr eaLnBrk="1" hangingPunct="1"/>
            <a:r>
              <a:rPr lang="zh-CN" altLang="en-US" sz="2000" b="1" dirty="0">
                <a:latin typeface="Times New Roman" panose="02020603050405020304" pitchFamily="18" charset="0"/>
              </a:rPr>
              <a:t>②电极电势小于</a:t>
            </a:r>
            <a:r>
              <a:rPr lang="en-US" altLang="zh-CN" sz="2000" b="1" dirty="0">
                <a:latin typeface="Times New Roman" panose="02020603050405020304" pitchFamily="18" charset="0"/>
              </a:rPr>
              <a:t> Al (</a:t>
            </a:r>
            <a:r>
              <a:rPr lang="zh-CN" altLang="en-US" sz="2000" b="1" dirty="0">
                <a:latin typeface="Times New Roman" panose="02020603050405020304" pitchFamily="18" charset="0"/>
              </a:rPr>
              <a:t>包括</a:t>
            </a:r>
            <a:r>
              <a:rPr lang="en-US" altLang="zh-CN" sz="2000" b="1" dirty="0">
                <a:latin typeface="Times New Roman" panose="02020603050405020304" pitchFamily="18" charset="0"/>
              </a:rPr>
              <a:t>Al)</a:t>
            </a:r>
            <a:r>
              <a:rPr lang="zh-CN" altLang="en-US" sz="2000" b="1" dirty="0">
                <a:latin typeface="Times New Roman" panose="02020603050405020304" pitchFamily="18" charset="0"/>
              </a:rPr>
              <a:t>的金属离子，在水溶液中不放电，放电的是</a:t>
            </a:r>
            <a:r>
              <a:rPr lang="en-US" altLang="zh-CN" sz="2000" b="1" dirty="0">
                <a:latin typeface="Times New Roman" panose="02020603050405020304" pitchFamily="18" charset="0"/>
              </a:rPr>
              <a:t>H</a:t>
            </a:r>
            <a:r>
              <a:rPr lang="en-US" altLang="zh-CN" sz="2000" b="1" baseline="30000"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离子，</a:t>
            </a:r>
          </a:p>
          <a:p>
            <a:pPr eaLnBrk="1" hangingPunct="1"/>
            <a:r>
              <a:rPr lang="zh-CN" altLang="en-US" sz="2400" b="1" dirty="0">
                <a:solidFill>
                  <a:srgbClr val="C00000"/>
                </a:solidFill>
                <a:latin typeface="Times New Roman" panose="02020603050405020304" pitchFamily="18" charset="0"/>
              </a:rPr>
              <a:t>阳极析出规律</a:t>
            </a:r>
            <a:endParaRPr lang="zh-CN" altLang="zh-CN" sz="2400" b="1" dirty="0">
              <a:solidFill>
                <a:srgbClr val="C00000"/>
              </a:solidFill>
              <a:latin typeface="Times New Roman" panose="02020603050405020304" pitchFamily="18" charset="0"/>
            </a:endParaRPr>
          </a:p>
          <a:p>
            <a:pPr eaLnBrk="1" hangingPunct="1"/>
            <a:r>
              <a:rPr lang="zh-CN" altLang="zh-CN" sz="2000" b="1" dirty="0">
                <a:latin typeface="Times New Roman" panose="02020603050405020304" pitchFamily="18" charset="0"/>
              </a:rPr>
              <a:t>①</a:t>
            </a:r>
            <a:r>
              <a:rPr lang="zh-CN" altLang="en-US" sz="2000" b="1" dirty="0">
                <a:latin typeface="Times New Roman" panose="02020603050405020304" pitchFamily="18" charset="0"/>
              </a:rPr>
              <a:t>除</a:t>
            </a:r>
            <a:r>
              <a:rPr lang="en-US" altLang="zh-CN" sz="2000" b="1" dirty="0">
                <a:latin typeface="Times New Roman" panose="02020603050405020304" pitchFamily="18" charset="0"/>
              </a:rPr>
              <a:t>Pt</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Au</a:t>
            </a:r>
            <a:r>
              <a:rPr lang="zh-CN" altLang="en-US" sz="2000" b="1" dirty="0">
                <a:latin typeface="Times New Roman" panose="02020603050405020304" pitchFamily="18" charset="0"/>
              </a:rPr>
              <a:t>外，其他可溶性金属阳极首先失去电子。</a:t>
            </a:r>
          </a:p>
          <a:p>
            <a:pPr eaLnBrk="1" hangingPunct="1"/>
            <a:r>
              <a:rPr lang="zh-CN" altLang="zh-CN" sz="2000" b="1" dirty="0">
                <a:latin typeface="Times New Roman" panose="02020603050405020304" pitchFamily="18" charset="0"/>
              </a:rPr>
              <a:t>②</a:t>
            </a:r>
            <a:r>
              <a:rPr lang="zh-CN" altLang="en-US" sz="2000" b="1" dirty="0">
                <a:latin typeface="Times New Roman" panose="02020603050405020304" pitchFamily="18" charset="0"/>
              </a:rPr>
              <a:t>当用惰性电极而又含有如</a:t>
            </a:r>
            <a:r>
              <a:rPr lang="en-US" altLang="zh-CN" sz="2000" b="1" dirty="0">
                <a:latin typeface="Times New Roman" panose="02020603050405020304" pitchFamily="18" charset="0"/>
              </a:rPr>
              <a:t>S</a:t>
            </a:r>
            <a:r>
              <a:rPr lang="en-US" altLang="zh-CN" sz="2000" b="1" baseline="30000" dirty="0">
                <a:latin typeface="Times New Roman" panose="02020603050405020304" pitchFamily="18" charset="0"/>
              </a:rPr>
              <a:t>2-</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I</a:t>
            </a:r>
            <a:r>
              <a:rPr lang="en-US" altLang="zh-CN" sz="2000" b="1" baseline="30000"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Br</a:t>
            </a:r>
            <a:r>
              <a:rPr lang="en-US" altLang="zh-CN" sz="2000" b="1" baseline="30000"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Cl</a:t>
            </a:r>
            <a:r>
              <a:rPr lang="en-US" altLang="zh-CN" sz="2000" b="1" baseline="30000"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等简单阴离子时，是这些阴离子先放电，而不是</a:t>
            </a:r>
            <a:r>
              <a:rPr lang="en-US" altLang="zh-CN" sz="2000" b="1" dirty="0">
                <a:latin typeface="Times New Roman" panose="02020603050405020304" pitchFamily="18" charset="0"/>
              </a:rPr>
              <a:t>OH</a:t>
            </a:r>
            <a:r>
              <a:rPr lang="en-US" altLang="zh-CN" sz="2000" b="1" baseline="30000" dirty="0"/>
              <a:t>-</a:t>
            </a:r>
            <a:r>
              <a:rPr lang="zh-CN" altLang="en-US" sz="2000" b="1" dirty="0">
                <a:latin typeface="Times New Roman" panose="02020603050405020304" pitchFamily="18" charset="0"/>
              </a:rPr>
              <a:t>失去电子。</a:t>
            </a:r>
          </a:p>
          <a:p>
            <a:pPr eaLnBrk="1" hangingPunct="1"/>
            <a:r>
              <a:rPr lang="zh-CN" altLang="en-US" sz="2000" b="1" dirty="0">
                <a:latin typeface="Times New Roman" panose="02020603050405020304" pitchFamily="18" charset="0"/>
              </a:rPr>
              <a:t>当不含简单阴离子而含有复杂阴离子时，复杂阴离子一般不放电，而是</a:t>
            </a:r>
            <a:r>
              <a:rPr lang="en-US" altLang="zh-CN" sz="2000" b="1" dirty="0">
                <a:latin typeface="Times New Roman" panose="02020603050405020304" pitchFamily="18" charset="0"/>
              </a:rPr>
              <a:t>OH</a:t>
            </a:r>
            <a:r>
              <a:rPr lang="en-US" altLang="zh-CN" sz="2000" b="1" baseline="30000" dirty="0"/>
              <a:t>-</a:t>
            </a:r>
            <a:r>
              <a:rPr lang="zh-CN" altLang="en-US" sz="2000" b="1" dirty="0">
                <a:latin typeface="Times New Roman" panose="02020603050405020304" pitchFamily="18" charset="0"/>
              </a:rPr>
              <a:t>放电</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但在电解</a:t>
            </a:r>
            <a:r>
              <a:rPr lang="en-US" altLang="zh-CN" sz="2000" b="1" dirty="0">
                <a:latin typeface="Times New Roman" panose="02020603050405020304" pitchFamily="18" charset="0"/>
              </a:rPr>
              <a:t>K</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MnO</a:t>
            </a:r>
            <a:r>
              <a:rPr lang="en-US" altLang="zh-CN" sz="2000" b="1" baseline="-25000" dirty="0">
                <a:latin typeface="Times New Roman" panose="02020603050405020304" pitchFamily="18" charset="0"/>
              </a:rPr>
              <a:t>4</a:t>
            </a:r>
            <a:r>
              <a:rPr lang="zh-CN" altLang="en-US" sz="2000" b="1" dirty="0">
                <a:latin typeface="Times New Roman" panose="02020603050405020304" pitchFamily="18" charset="0"/>
              </a:rPr>
              <a:t>碱性溶液时，在阳极上</a:t>
            </a:r>
            <a:r>
              <a:rPr lang="en-US" altLang="zh-CN" sz="2000" b="1" dirty="0">
                <a:latin typeface="Times New Roman" panose="02020603050405020304" pitchFamily="18" charset="0"/>
              </a:rPr>
              <a:t>MnO</a:t>
            </a:r>
            <a:r>
              <a:rPr lang="en-US" altLang="zh-CN" sz="2000" b="1" baseline="30000" dirty="0">
                <a:latin typeface="Times New Roman" panose="02020603050405020304" pitchFamily="18" charset="0"/>
              </a:rPr>
              <a:t>    </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失去电子，生成</a:t>
            </a:r>
            <a:r>
              <a:rPr lang="en-US" altLang="zh-CN" sz="2000" b="1" dirty="0">
                <a:latin typeface="Times New Roman" panose="02020603050405020304" pitchFamily="18" charset="0"/>
              </a:rPr>
              <a:t>KMnO</a:t>
            </a:r>
            <a:r>
              <a:rPr lang="en-US" altLang="zh-CN" sz="2000" b="1" baseline="-25000" dirty="0">
                <a:latin typeface="Times New Roman" panose="02020603050405020304" pitchFamily="18" charset="0"/>
              </a:rPr>
              <a:t>4</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a:p>
            <a:pPr eaLnBrk="1" hangingPunct="1"/>
            <a:r>
              <a:rPr lang="zh-CN" altLang="en-US" sz="2000" b="1" dirty="0"/>
              <a:t>电解产物析出的定量规律</a:t>
            </a:r>
          </a:p>
        </p:txBody>
      </p:sp>
      <p:sp>
        <p:nvSpPr>
          <p:cNvPr id="109570"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09571" name="Object 1"/>
          <p:cNvGraphicFramePr>
            <a:graphicFrameLocks noChangeAspect="1"/>
          </p:cNvGraphicFramePr>
          <p:nvPr/>
        </p:nvGraphicFramePr>
        <p:xfrm>
          <a:off x="4067175" y="4297363"/>
          <a:ext cx="1206500" cy="695325"/>
        </p:xfrm>
        <a:graphic>
          <a:graphicData uri="http://schemas.openxmlformats.org/presentationml/2006/ole">
            <mc:AlternateContent xmlns:mc="http://schemas.openxmlformats.org/markup-compatibility/2006">
              <mc:Choice xmlns:v="urn:schemas-microsoft-com:vml" Requires="v">
                <p:oleObj r:id="rId2" imgW="573405" imgH="394970" progId="Equation.DSMT4">
                  <p:embed/>
                </p:oleObj>
              </mc:Choice>
              <mc:Fallback>
                <p:oleObj r:id="rId2" imgW="573405" imgH="394970" progId="Equation.DSMT4">
                  <p:embed/>
                  <p:pic>
                    <p:nvPicPr>
                      <p:cNvPr id="0" name="图片 3114"/>
                      <p:cNvPicPr/>
                      <p:nvPr/>
                    </p:nvPicPr>
                    <p:blipFill>
                      <a:blip r:embed="rId3"/>
                      <a:stretch>
                        <a:fillRect/>
                      </a:stretch>
                    </p:blipFill>
                    <p:spPr>
                      <a:xfrm>
                        <a:off x="4067175" y="4297363"/>
                        <a:ext cx="1206500" cy="695325"/>
                      </a:xfrm>
                      <a:prstGeom prst="rect">
                        <a:avLst/>
                      </a:prstGeom>
                      <a:noFill/>
                      <a:ln w="38100">
                        <a:noFill/>
                        <a:miter/>
                      </a:ln>
                    </p:spPr>
                  </p:pic>
                </p:oleObj>
              </mc:Fallback>
            </mc:AlternateContent>
          </a:graphicData>
        </a:graphic>
      </p:graphicFrame>
      <p:graphicFrame>
        <p:nvGraphicFramePr>
          <p:cNvPr id="109572" name="Object 6"/>
          <p:cNvGraphicFramePr>
            <a:graphicFrameLocks noChangeAspect="1"/>
          </p:cNvGraphicFramePr>
          <p:nvPr/>
        </p:nvGraphicFramePr>
        <p:xfrm>
          <a:off x="4495800" y="2757488"/>
          <a:ext cx="152400" cy="200025"/>
        </p:xfrm>
        <a:graphic>
          <a:graphicData uri="http://schemas.openxmlformats.org/presentationml/2006/ole">
            <mc:AlternateContent xmlns:mc="http://schemas.openxmlformats.org/markup-compatibility/2006">
              <mc:Choice xmlns:v="urn:schemas-microsoft-com:vml" Requires="v">
                <p:oleObj r:id="rId4" imgW="152400" imgH="241300" progId="Equation.DSMT4">
                  <p:embed/>
                </p:oleObj>
              </mc:Choice>
              <mc:Fallback>
                <p:oleObj r:id="rId4" imgW="152400" imgH="241300" progId="Equation.DSMT4">
                  <p:embed/>
                  <p:pic>
                    <p:nvPicPr>
                      <p:cNvPr id="0" name="图片 3115"/>
                      <p:cNvPicPr/>
                      <p:nvPr/>
                    </p:nvPicPr>
                    <p:blipFill>
                      <a:blip r:embed="rId5"/>
                      <a:stretch>
                        <a:fillRect/>
                      </a:stretch>
                    </p:blipFill>
                    <p:spPr>
                      <a:xfrm>
                        <a:off x="4495800" y="2757488"/>
                        <a:ext cx="152400" cy="200025"/>
                      </a:xfrm>
                      <a:prstGeom prst="rect">
                        <a:avLst/>
                      </a:prstGeom>
                      <a:noFill/>
                      <a:ln w="38100">
                        <a:noFill/>
                        <a:miter/>
                      </a:ln>
                    </p:spPr>
                  </p:pic>
                </p:oleObj>
              </mc:Fallback>
            </mc:AlternateContent>
          </a:graphicData>
        </a:graphic>
      </p:graphicFrame>
      <p:graphicFrame>
        <p:nvGraphicFramePr>
          <p:cNvPr id="109573" name="Object 7"/>
          <p:cNvGraphicFramePr>
            <a:graphicFrameLocks noChangeAspect="1"/>
          </p:cNvGraphicFramePr>
          <p:nvPr/>
        </p:nvGraphicFramePr>
        <p:xfrm>
          <a:off x="4495800" y="2757488"/>
          <a:ext cx="152400" cy="200025"/>
        </p:xfrm>
        <a:graphic>
          <a:graphicData uri="http://schemas.openxmlformats.org/presentationml/2006/ole">
            <mc:AlternateContent xmlns:mc="http://schemas.openxmlformats.org/markup-compatibility/2006">
              <mc:Choice xmlns:v="urn:schemas-microsoft-com:vml" Requires="v">
                <p:oleObj r:id="rId6" imgW="152400" imgH="241300" progId="Equation.DSMT4">
                  <p:embed/>
                </p:oleObj>
              </mc:Choice>
              <mc:Fallback>
                <p:oleObj r:id="rId6" imgW="152400" imgH="241300" progId="Equation.DSMT4">
                  <p:embed/>
                  <p:pic>
                    <p:nvPicPr>
                      <p:cNvPr id="0" name="图片 3116"/>
                      <p:cNvPicPr/>
                      <p:nvPr/>
                    </p:nvPicPr>
                    <p:blipFill>
                      <a:blip r:embed="rId7"/>
                      <a:stretch>
                        <a:fillRect/>
                      </a:stretch>
                    </p:blipFill>
                    <p:spPr>
                      <a:xfrm>
                        <a:off x="4495800" y="2757488"/>
                        <a:ext cx="152400" cy="200025"/>
                      </a:xfrm>
                      <a:prstGeom prst="rect">
                        <a:avLst/>
                      </a:prstGeom>
                      <a:noFill/>
                      <a:ln w="38100">
                        <a:noFill/>
                        <a:miter/>
                      </a:ln>
                    </p:spPr>
                  </p:pic>
                </p:oleObj>
              </mc:Fallback>
            </mc:AlternateContent>
          </a:graphicData>
        </a:graphic>
      </p:graphicFrame>
      <p:graphicFrame>
        <p:nvGraphicFramePr>
          <p:cNvPr id="109574" name="Object 8"/>
          <p:cNvGraphicFramePr>
            <a:graphicFrameLocks noChangeAspect="1"/>
          </p:cNvGraphicFramePr>
          <p:nvPr/>
        </p:nvGraphicFramePr>
        <p:xfrm>
          <a:off x="2500313" y="4227513"/>
          <a:ext cx="285750" cy="376237"/>
        </p:xfrm>
        <a:graphic>
          <a:graphicData uri="http://schemas.openxmlformats.org/presentationml/2006/ole">
            <mc:AlternateContent xmlns:mc="http://schemas.openxmlformats.org/markup-compatibility/2006">
              <mc:Choice xmlns:v="urn:schemas-microsoft-com:vml" Requires="v">
                <p:oleObj r:id="rId8" imgW="152400" imgH="241300" progId="Equation.DSMT4">
                  <p:embed/>
                </p:oleObj>
              </mc:Choice>
              <mc:Fallback>
                <p:oleObj r:id="rId8" imgW="152400" imgH="241300" progId="Equation.DSMT4">
                  <p:embed/>
                  <p:pic>
                    <p:nvPicPr>
                      <p:cNvPr id="0" name="图片 3110"/>
                      <p:cNvPicPr/>
                      <p:nvPr/>
                    </p:nvPicPr>
                    <p:blipFill>
                      <a:blip r:embed="rId7"/>
                      <a:stretch>
                        <a:fillRect/>
                      </a:stretch>
                    </p:blipFill>
                    <p:spPr>
                      <a:xfrm>
                        <a:off x="2500313" y="4227513"/>
                        <a:ext cx="285750" cy="376237"/>
                      </a:xfrm>
                      <a:prstGeom prst="rect">
                        <a:avLst/>
                      </a:prstGeom>
                      <a:noFill/>
                      <a:ln w="38100">
                        <a:noFill/>
                        <a:miter/>
                      </a:ln>
                    </p:spPr>
                  </p:pic>
                </p:oleObj>
              </mc:Fallback>
            </mc:AlternateContent>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p:cNvSpPr>
          <p:nvPr>
            <p:ph type="body" idx="4294967295"/>
          </p:nvPr>
        </p:nvSpPr>
        <p:spPr>
          <a:xfrm>
            <a:off x="200025" y="2570163"/>
            <a:ext cx="8424863" cy="1919287"/>
          </a:xfrm>
        </p:spPr>
        <p:txBody>
          <a:bodyPr vert="horz" wrap="square" lIns="91440" tIns="45720" rIns="91440" bIns="45720" anchor="t" anchorCtr="0"/>
          <a:lstStyle/>
          <a:p>
            <a:pPr eaLnBrk="1" hangingPunct="1">
              <a:lnSpc>
                <a:spcPct val="125000"/>
              </a:lnSpc>
              <a:spcBef>
                <a:spcPct val="5000"/>
              </a:spcBef>
            </a:pPr>
            <a:r>
              <a:rPr lang="zh-CN" altLang="en-US" sz="2400" b="1" dirty="0"/>
              <a:t>      上式称为</a:t>
            </a:r>
            <a:r>
              <a:rPr lang="zh-CN" altLang="en-US" sz="2400" b="1" dirty="0">
                <a:solidFill>
                  <a:srgbClr val="C00000"/>
                </a:solidFill>
              </a:rPr>
              <a:t>能斯特</a:t>
            </a:r>
            <a:r>
              <a:rPr lang="en-US" altLang="zh-CN" sz="2400" b="1" dirty="0">
                <a:solidFill>
                  <a:srgbClr val="C00000"/>
                </a:solidFill>
                <a:latin typeface="Times New Roman" panose="02020603050405020304" pitchFamily="18" charset="0"/>
              </a:rPr>
              <a:t>(Nernst)</a:t>
            </a:r>
            <a:r>
              <a:rPr lang="zh-CN" altLang="en-US" sz="2400" b="1" dirty="0">
                <a:solidFill>
                  <a:srgbClr val="C00000"/>
                </a:solidFill>
                <a:latin typeface="Times New Roman" panose="02020603050405020304" pitchFamily="18" charset="0"/>
              </a:rPr>
              <a:t>公</a:t>
            </a:r>
            <a:r>
              <a:rPr lang="zh-CN" altLang="en-US" sz="2400" b="1" dirty="0">
                <a:solidFill>
                  <a:srgbClr val="C00000"/>
                </a:solidFill>
              </a:rPr>
              <a:t>式</a:t>
            </a:r>
            <a:r>
              <a:rPr lang="zh-CN" altLang="en-US" sz="2400" b="1" dirty="0"/>
              <a:t>，由公式可见，当产物的浓度</a:t>
            </a:r>
            <a:r>
              <a:rPr lang="en-US" altLang="zh-CN" sz="2400" b="1" dirty="0"/>
              <a:t>(</a:t>
            </a:r>
            <a:r>
              <a:rPr lang="zh-CN" altLang="en-US" sz="2400" b="1" dirty="0"/>
              <a:t>或分压</a:t>
            </a:r>
            <a:r>
              <a:rPr lang="en-US" altLang="zh-CN" sz="2400" b="1" dirty="0"/>
              <a:t>)</a:t>
            </a:r>
            <a:r>
              <a:rPr lang="zh-CN" altLang="en-US" sz="2400" b="1" dirty="0"/>
              <a:t>增大时，电池电动势减小；当反应物浓度</a:t>
            </a:r>
            <a:r>
              <a:rPr lang="en-US" altLang="zh-CN" sz="2400" b="1" dirty="0"/>
              <a:t>(</a:t>
            </a:r>
            <a:r>
              <a:rPr lang="zh-CN" altLang="en-US" sz="2400" b="1" dirty="0"/>
              <a:t>或分压</a:t>
            </a:r>
            <a:r>
              <a:rPr lang="en-US" altLang="zh-CN" sz="2400" b="1" dirty="0"/>
              <a:t>)</a:t>
            </a:r>
            <a:r>
              <a:rPr lang="zh-CN" altLang="en-US" sz="2400" b="1" dirty="0"/>
              <a:t>增大时，电池电动势增加。</a:t>
            </a:r>
            <a:endParaRPr lang="en-US" altLang="zh-CN" sz="2400" b="1" dirty="0"/>
          </a:p>
          <a:p>
            <a:pPr eaLnBrk="1" hangingPunct="1"/>
            <a:r>
              <a:rPr lang="en-US" altLang="zh-CN" sz="2400" b="1" dirty="0"/>
              <a:t>        如果原电池的负极选的是标准氢电极，而正极是待测电极，其电</a:t>
            </a:r>
            <a:r>
              <a:rPr lang="zh-CN" altLang="en-US" sz="2400" b="1" dirty="0"/>
              <a:t>池反应为</a:t>
            </a:r>
          </a:p>
        </p:txBody>
      </p:sp>
      <p:sp>
        <p:nvSpPr>
          <p:cNvPr id="110594"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7828" name="Object 4"/>
          <p:cNvGraphicFramePr>
            <a:graphicFrameLocks noChangeAspect="1"/>
          </p:cNvGraphicFramePr>
          <p:nvPr/>
        </p:nvGraphicFramePr>
        <p:xfrm>
          <a:off x="3059113" y="2138363"/>
          <a:ext cx="2857500" cy="528637"/>
        </p:xfrm>
        <a:graphic>
          <a:graphicData uri="http://schemas.openxmlformats.org/presentationml/2006/ole">
            <mc:AlternateContent xmlns:mc="http://schemas.openxmlformats.org/markup-compatibility/2006">
              <mc:Choice xmlns:v="urn:schemas-microsoft-com:vml" Requires="v">
                <p:oleObj r:id="rId2" imgW="1094740" imgH="241935" progId="Equation.DSMT4">
                  <p:embed/>
                </p:oleObj>
              </mc:Choice>
              <mc:Fallback>
                <p:oleObj r:id="rId2" imgW="1094740" imgH="241935" progId="Equation.DSMT4">
                  <p:embed/>
                  <p:pic>
                    <p:nvPicPr>
                      <p:cNvPr id="0" name="图片 3109"/>
                      <p:cNvPicPr/>
                      <p:nvPr/>
                    </p:nvPicPr>
                    <p:blipFill>
                      <a:blip r:embed="rId3"/>
                      <a:stretch>
                        <a:fillRect/>
                      </a:stretch>
                    </p:blipFill>
                    <p:spPr>
                      <a:xfrm>
                        <a:off x="3059113" y="2138363"/>
                        <a:ext cx="2857500" cy="528637"/>
                      </a:xfrm>
                      <a:prstGeom prst="rect">
                        <a:avLst/>
                      </a:prstGeom>
                      <a:noFill/>
                      <a:ln w="38100">
                        <a:noFill/>
                        <a:miter/>
                      </a:ln>
                    </p:spPr>
                  </p:pic>
                </p:oleObj>
              </mc:Fallback>
            </mc:AlternateContent>
          </a:graphicData>
        </a:graphic>
      </p:graphicFrame>
      <p:sp>
        <p:nvSpPr>
          <p:cNvPr id="110596"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77830" name="Object 6"/>
          <p:cNvGraphicFramePr>
            <a:graphicFrameLocks noChangeAspect="1"/>
          </p:cNvGraphicFramePr>
          <p:nvPr/>
        </p:nvGraphicFramePr>
        <p:xfrm>
          <a:off x="2484438" y="4802188"/>
          <a:ext cx="3867150" cy="615950"/>
        </p:xfrm>
        <a:graphic>
          <a:graphicData uri="http://schemas.openxmlformats.org/presentationml/2006/ole">
            <mc:AlternateContent xmlns:mc="http://schemas.openxmlformats.org/markup-compatibility/2006">
              <mc:Choice xmlns:v="urn:schemas-microsoft-com:vml" Requires="v">
                <p:oleObj r:id="rId4" imgW="2094865" imgH="406400" progId="Equation.DSMT4">
                  <p:embed/>
                </p:oleObj>
              </mc:Choice>
              <mc:Fallback>
                <p:oleObj r:id="rId4" imgW="2094865" imgH="406400" progId="Equation.DSMT4">
                  <p:embed/>
                  <p:pic>
                    <p:nvPicPr>
                      <p:cNvPr id="0" name="图片 3111"/>
                      <p:cNvPicPr/>
                      <p:nvPr/>
                    </p:nvPicPr>
                    <p:blipFill>
                      <a:blip r:embed="rId5"/>
                      <a:stretch>
                        <a:fillRect/>
                      </a:stretch>
                    </p:blipFill>
                    <p:spPr>
                      <a:xfrm>
                        <a:off x="2484438" y="4802188"/>
                        <a:ext cx="3867150" cy="615950"/>
                      </a:xfrm>
                      <a:prstGeom prst="rect">
                        <a:avLst/>
                      </a:prstGeom>
                      <a:noFill/>
                      <a:ln w="38100">
                        <a:noFill/>
                        <a:miter/>
                      </a:ln>
                    </p:spPr>
                  </p:pic>
                </p:oleObj>
              </mc:Fallback>
            </mc:AlternateContent>
          </a:graphicData>
        </a:graphic>
      </p:graphicFrame>
      <p:sp>
        <p:nvSpPr>
          <p:cNvPr id="77831" name="Rectangle 7"/>
          <p:cNvSpPr/>
          <p:nvPr/>
        </p:nvSpPr>
        <p:spPr>
          <a:xfrm>
            <a:off x="0" y="517525"/>
            <a:ext cx="5364163" cy="587375"/>
          </a:xfrm>
          <a:prstGeom prst="rect">
            <a:avLst/>
          </a:prstGeom>
          <a:solidFill>
            <a:srgbClr val="CC99FF"/>
          </a:solidFill>
          <a:ln w="9525">
            <a:noFill/>
          </a:ln>
        </p:spPr>
        <p:txBody>
          <a:bodyPr anchor="t" anchorCtr="0">
            <a:spAutoFit/>
          </a:bodyPr>
          <a:lstStyle/>
          <a:p>
            <a:pPr>
              <a:lnSpc>
                <a:spcPct val="115000"/>
              </a:lnSpc>
              <a:spcBef>
                <a:spcPct val="20000"/>
              </a:spcBef>
              <a:buClr>
                <a:schemeClr val="folHlink"/>
              </a:buClr>
              <a:buFont typeface="Wingdings" panose="05000000000000000000" pitchFamily="2" charset="2"/>
              <a:buChar char="§"/>
            </a:pPr>
            <a:r>
              <a:rPr lang="en-US" altLang="zh-CN" sz="2800" b="1" dirty="0">
                <a:solidFill>
                  <a:schemeClr val="tx2"/>
                </a:solidFill>
                <a:latin typeface="Arial" panose="020B0604020202020204" pitchFamily="34" charset="0"/>
                <a:ea typeface="宋体" panose="02010600030101010101" pitchFamily="2" charset="-122"/>
              </a:rPr>
              <a:t>5.浓度或分压对电极电势的影响</a:t>
            </a:r>
            <a:endParaRPr lang="zh-CN" altLang="en-US" sz="2800" b="1" dirty="0">
              <a:solidFill>
                <a:schemeClr val="tx2"/>
              </a:solidFill>
              <a:latin typeface="Arial" panose="020B0604020202020204" pitchFamily="34" charset="0"/>
              <a:ea typeface="宋体" panose="02010600030101010101" pitchFamily="2" charset="-122"/>
            </a:endParaRPr>
          </a:p>
        </p:txBody>
      </p:sp>
      <p:sp>
        <p:nvSpPr>
          <p:cNvPr id="110599"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 name="Group 9"/>
          <p:cNvGrpSpPr/>
          <p:nvPr/>
        </p:nvGrpSpPr>
        <p:grpSpPr>
          <a:xfrm>
            <a:off x="344488" y="1177925"/>
            <a:ext cx="6675437" cy="461963"/>
            <a:chOff x="217" y="890"/>
            <a:chExt cx="4205" cy="350"/>
          </a:xfrm>
        </p:grpSpPr>
        <p:graphicFrame>
          <p:nvGraphicFramePr>
            <p:cNvPr id="110601" name="Object 10"/>
            <p:cNvGraphicFramePr>
              <a:graphicFrameLocks noChangeAspect="1"/>
            </p:cNvGraphicFramePr>
            <p:nvPr/>
          </p:nvGraphicFramePr>
          <p:xfrm>
            <a:off x="2789" y="890"/>
            <a:ext cx="1633" cy="270"/>
          </p:xfrm>
          <a:graphic>
            <a:graphicData uri="http://schemas.openxmlformats.org/presentationml/2006/ole">
              <mc:AlternateContent xmlns:mc="http://schemas.openxmlformats.org/markup-compatibility/2006">
                <mc:Choice xmlns:v="urn:schemas-microsoft-com:vml" Requires="v">
                  <p:oleObj r:id="rId6" imgW="1209040" imgH="203835" progId="Equation.DSMT4">
                    <p:embed/>
                  </p:oleObj>
                </mc:Choice>
                <mc:Fallback>
                  <p:oleObj r:id="rId6" imgW="1209040" imgH="203835" progId="Equation.DSMT4">
                    <p:embed/>
                    <p:pic>
                      <p:nvPicPr>
                        <p:cNvPr id="0" name="图片 3113"/>
                        <p:cNvPicPr/>
                        <p:nvPr/>
                      </p:nvPicPr>
                      <p:blipFill>
                        <a:blip r:embed="rId7"/>
                        <a:stretch>
                          <a:fillRect/>
                        </a:stretch>
                      </p:blipFill>
                      <p:spPr>
                        <a:xfrm>
                          <a:off x="2789" y="890"/>
                          <a:ext cx="1633" cy="270"/>
                        </a:xfrm>
                        <a:prstGeom prst="rect">
                          <a:avLst/>
                        </a:prstGeom>
                        <a:noFill/>
                        <a:ln w="38100">
                          <a:noFill/>
                          <a:miter/>
                        </a:ln>
                      </p:spPr>
                    </p:pic>
                  </p:oleObj>
                </mc:Fallback>
              </mc:AlternateContent>
            </a:graphicData>
          </a:graphic>
        </p:graphicFrame>
        <p:sp>
          <p:nvSpPr>
            <p:cNvPr id="110602" name="Rectangle 11"/>
            <p:cNvSpPr/>
            <p:nvPr/>
          </p:nvSpPr>
          <p:spPr>
            <a:xfrm>
              <a:off x="217" y="890"/>
              <a:ext cx="2313" cy="350"/>
            </a:xfrm>
            <a:prstGeom prst="rect">
              <a:avLst/>
            </a:prstGeom>
            <a:noFill/>
            <a:ln w="9525">
              <a:noFill/>
            </a:ln>
          </p:spPr>
          <p:txBody>
            <a:bodyPr anchor="t" anchorCtr="0">
              <a:spAutoFit/>
            </a:bodyPr>
            <a:lstStyle/>
            <a:p>
              <a:pPr>
                <a:spcBef>
                  <a:spcPct val="20000"/>
                </a:spcBef>
                <a:buChar char="•"/>
              </a:pPr>
              <a:r>
                <a:rPr lang="zh-CN" altLang="en-US" sz="2400" b="1" dirty="0">
                  <a:latin typeface="Arial" panose="020B0604020202020204" pitchFamily="34" charset="0"/>
                  <a:ea typeface="宋体" panose="02010600030101010101" pitchFamily="2" charset="-122"/>
                </a:rPr>
                <a:t>对于任一氧化还原反应，</a:t>
              </a:r>
            </a:p>
          </p:txBody>
        </p:sp>
      </p:grpSp>
      <p:graphicFrame>
        <p:nvGraphicFramePr>
          <p:cNvPr id="77836" name="Object 12"/>
          <p:cNvGraphicFramePr>
            <a:graphicFrameLocks noChangeAspect="1"/>
          </p:cNvGraphicFramePr>
          <p:nvPr/>
        </p:nvGraphicFramePr>
        <p:xfrm>
          <a:off x="2987675" y="1657350"/>
          <a:ext cx="3079750" cy="403225"/>
        </p:xfrm>
        <a:graphic>
          <a:graphicData uri="http://schemas.openxmlformats.org/presentationml/2006/ole">
            <mc:AlternateContent xmlns:mc="http://schemas.openxmlformats.org/markup-compatibility/2006">
              <mc:Choice xmlns:v="urn:schemas-microsoft-com:vml" Requires="v">
                <p:oleObj r:id="rId8" imgW="1524000" imgH="241300" progId="Equation.DSMT4">
                  <p:embed/>
                </p:oleObj>
              </mc:Choice>
              <mc:Fallback>
                <p:oleObj r:id="rId8" imgW="1524000" imgH="241300" progId="Equation.DSMT4">
                  <p:embed/>
                  <p:pic>
                    <p:nvPicPr>
                      <p:cNvPr id="0" name="图片 3125"/>
                      <p:cNvPicPr/>
                      <p:nvPr/>
                    </p:nvPicPr>
                    <p:blipFill>
                      <a:blip r:embed="rId9"/>
                      <a:stretch>
                        <a:fillRect/>
                      </a:stretch>
                    </p:blipFill>
                    <p:spPr>
                      <a:xfrm>
                        <a:off x="2987675" y="1657350"/>
                        <a:ext cx="3079750" cy="4032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Effect transition="in" filter="checkerboard(across)">
                                      <p:cBhvr>
                                        <p:cTn id="7" dur="1000"/>
                                        <p:tgtEl>
                                          <p:spTgt spid="778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7836"/>
                                        </p:tgtEl>
                                        <p:attrNameLst>
                                          <p:attrName>style.visibility</p:attrName>
                                        </p:attrNameLst>
                                      </p:cBhvr>
                                      <p:to>
                                        <p:strVal val="visible"/>
                                      </p:to>
                                    </p:set>
                                    <p:animEffect transition="in" filter="wipe(left)">
                                      <p:cBhvr>
                                        <p:cTn id="17" dur="500"/>
                                        <p:tgtEl>
                                          <p:spTgt spid="778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7828"/>
                                        </p:tgtEl>
                                        <p:attrNameLst>
                                          <p:attrName>style.visibility</p:attrName>
                                        </p:attrNameLst>
                                      </p:cBhvr>
                                      <p:to>
                                        <p:strVal val="visible"/>
                                      </p:to>
                                    </p:set>
                                    <p:animEffect transition="in" filter="wipe(left)">
                                      <p:cBhvr>
                                        <p:cTn id="22" dur="500"/>
                                        <p:tgtEl>
                                          <p:spTgt spid="778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7826">
                                            <p:txEl>
                                              <p:pRg st="0" end="0"/>
                                            </p:txEl>
                                          </p:spTgt>
                                        </p:tgtEl>
                                        <p:attrNameLst>
                                          <p:attrName>style.visibility</p:attrName>
                                        </p:attrNameLst>
                                      </p:cBhvr>
                                      <p:to>
                                        <p:strVal val="visible"/>
                                      </p:to>
                                    </p:set>
                                    <p:animEffect transition="in" filter="dissolve">
                                      <p:cBhvr>
                                        <p:cTn id="27" dur="500"/>
                                        <p:tgtEl>
                                          <p:spTgt spid="7782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7826">
                                            <p:txEl>
                                              <p:pRg st="1" end="1"/>
                                            </p:txEl>
                                          </p:spTgt>
                                        </p:tgtEl>
                                        <p:attrNameLst>
                                          <p:attrName>style.visibility</p:attrName>
                                        </p:attrNameLst>
                                      </p:cBhvr>
                                      <p:to>
                                        <p:strVal val="visible"/>
                                      </p:to>
                                    </p:set>
                                    <p:animEffect transition="in" filter="dissolve">
                                      <p:cBhvr>
                                        <p:cTn id="32" dur="500"/>
                                        <p:tgtEl>
                                          <p:spTgt spid="7782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7830"/>
                                        </p:tgtEl>
                                        <p:attrNameLst>
                                          <p:attrName>style.visibility</p:attrName>
                                        </p:attrNameLst>
                                      </p:cBhvr>
                                      <p:to>
                                        <p:strVal val="visible"/>
                                      </p:to>
                                    </p:set>
                                    <p:animEffect transition="in" filter="wipe(left)">
                                      <p:cBhvr>
                                        <p:cTn id="37" dur="500"/>
                                        <p:tgtEl>
                                          <p:spTgt spid="77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p:bldP spid="7783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type="body" idx="4294967295"/>
          </p:nvPr>
        </p:nvSpPr>
        <p:spPr>
          <a:xfrm>
            <a:off x="250825" y="1236663"/>
            <a:ext cx="8496300" cy="720725"/>
          </a:xfrm>
        </p:spPr>
        <p:txBody>
          <a:bodyPr vert="horz" wrap="square" lIns="91440" tIns="45720" rIns="91440" bIns="45720" anchor="t" anchorCtr="0"/>
          <a:lstStyle/>
          <a:p>
            <a:pPr eaLnBrk="1" hangingPunct="1">
              <a:lnSpc>
                <a:spcPct val="125000"/>
              </a:lnSpc>
              <a:spcBef>
                <a:spcPct val="5000"/>
              </a:spcBef>
            </a:pPr>
            <a:r>
              <a:rPr lang="en-US" altLang="zh-CN" sz="2400" b="1" dirty="0"/>
              <a:t>电极反应为              </a:t>
            </a:r>
            <a:r>
              <a:rPr lang="zh-CN" altLang="en-US" sz="2400" b="1" dirty="0">
                <a:latin typeface="Times New Roman" panose="02020603050405020304" pitchFamily="18" charset="0"/>
              </a:rPr>
              <a:t>氧化态</a:t>
            </a:r>
            <a:r>
              <a:rPr lang="en-US" altLang="zh-CN" sz="2400" b="1" dirty="0">
                <a:latin typeface="Times New Roman" panose="02020603050405020304" pitchFamily="18" charset="0"/>
              </a:rPr>
              <a:t> + ze</a:t>
            </a:r>
            <a:r>
              <a:rPr lang="en-US" altLang="zh-CN" sz="2400" b="1" baseline="30000" dirty="0">
                <a:latin typeface="Times New Roman" panose="02020603050405020304" pitchFamily="18" charset="0"/>
              </a:rPr>
              <a:t>- </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还原态</a:t>
            </a:r>
          </a:p>
          <a:p>
            <a:pPr eaLnBrk="1" hangingPunct="1"/>
            <a:r>
              <a:rPr lang="en-US" altLang="zh-CN" sz="2400" b="1" dirty="0">
                <a:latin typeface="Times New Roman" panose="02020603050405020304" pitchFamily="18" charset="0"/>
              </a:rPr>
              <a:t>                   </a:t>
            </a:r>
          </a:p>
          <a:p>
            <a:pPr eaLnBrk="1" hangingPunct="1"/>
            <a:endParaRPr lang="en-US" altLang="zh-CN" sz="2400" b="1" dirty="0">
              <a:latin typeface="Times New Roman" panose="02020603050405020304" pitchFamily="18" charset="0"/>
            </a:endParaRPr>
          </a:p>
          <a:p>
            <a:pPr eaLnBrk="1" hangingPunct="1"/>
            <a:endParaRPr lang="en-US" altLang="zh-CN" sz="2400" b="1" dirty="0">
              <a:latin typeface="Times New Roman" panose="02020603050405020304" pitchFamily="18" charset="0"/>
            </a:endParaRPr>
          </a:p>
          <a:p>
            <a:pPr eaLnBrk="1" hangingPunct="1"/>
            <a:endParaRPr lang="en-US" altLang="zh-CN" sz="2400" b="1" dirty="0">
              <a:latin typeface="Times New Roman" panose="02020603050405020304" pitchFamily="18" charset="0"/>
            </a:endParaRPr>
          </a:p>
          <a:p>
            <a:pPr eaLnBrk="1" hangingPunct="1"/>
            <a:endParaRPr lang="en-US" altLang="zh-CN" sz="2400" b="1" dirty="0"/>
          </a:p>
        </p:txBody>
      </p:sp>
      <p:sp>
        <p:nvSpPr>
          <p:cNvPr id="111618"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111619" name="Rectangle 7"/>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111620" name="Rectangle 5"/>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 name="Group 6"/>
          <p:cNvGrpSpPr/>
          <p:nvPr/>
        </p:nvGrpSpPr>
        <p:grpSpPr>
          <a:xfrm>
            <a:off x="755650" y="517525"/>
            <a:ext cx="6119813" cy="461963"/>
            <a:chOff x="567" y="841"/>
            <a:chExt cx="3855" cy="349"/>
          </a:xfrm>
        </p:grpSpPr>
        <p:graphicFrame>
          <p:nvGraphicFramePr>
            <p:cNvPr id="111622" name="Object 7"/>
            <p:cNvGraphicFramePr>
              <a:graphicFrameLocks noChangeAspect="1"/>
            </p:cNvGraphicFramePr>
            <p:nvPr/>
          </p:nvGraphicFramePr>
          <p:xfrm>
            <a:off x="2789" y="890"/>
            <a:ext cx="1633" cy="270"/>
          </p:xfrm>
          <a:graphic>
            <a:graphicData uri="http://schemas.openxmlformats.org/presentationml/2006/ole">
              <mc:AlternateContent xmlns:mc="http://schemas.openxmlformats.org/markup-compatibility/2006">
                <mc:Choice xmlns:v="urn:schemas-microsoft-com:vml" Requires="v">
                  <p:oleObj r:id="rId2" imgW="1209040" imgH="203835" progId="Equation.DSMT4">
                    <p:embed/>
                  </p:oleObj>
                </mc:Choice>
                <mc:Fallback>
                  <p:oleObj r:id="rId2" imgW="1209040" imgH="203835" progId="Equation.DSMT4">
                    <p:embed/>
                    <p:pic>
                      <p:nvPicPr>
                        <p:cNvPr id="0" name="图片 3119"/>
                        <p:cNvPicPr/>
                        <p:nvPr/>
                      </p:nvPicPr>
                      <p:blipFill>
                        <a:blip r:embed="rId3"/>
                        <a:stretch>
                          <a:fillRect/>
                        </a:stretch>
                      </p:blipFill>
                      <p:spPr>
                        <a:xfrm>
                          <a:off x="2789" y="890"/>
                          <a:ext cx="1633" cy="270"/>
                        </a:xfrm>
                        <a:prstGeom prst="rect">
                          <a:avLst/>
                        </a:prstGeom>
                        <a:noFill/>
                        <a:ln w="38100">
                          <a:noFill/>
                          <a:miter/>
                        </a:ln>
                      </p:spPr>
                    </p:pic>
                  </p:oleObj>
                </mc:Fallback>
              </mc:AlternateContent>
            </a:graphicData>
          </a:graphic>
        </p:graphicFrame>
        <p:sp>
          <p:nvSpPr>
            <p:cNvPr id="111623" name="Rectangle 8"/>
            <p:cNvSpPr/>
            <p:nvPr/>
          </p:nvSpPr>
          <p:spPr>
            <a:xfrm>
              <a:off x="567" y="841"/>
              <a:ext cx="2313" cy="349"/>
            </a:xfrm>
            <a:prstGeom prst="rect">
              <a:avLst/>
            </a:prstGeom>
            <a:noFill/>
            <a:ln w="9525">
              <a:noFill/>
            </a:ln>
          </p:spPr>
          <p:txBody>
            <a:bodyPr anchor="t" anchorCtr="0">
              <a:spAutoFit/>
            </a:bodyPr>
            <a:lstStyle/>
            <a:p>
              <a:pPr>
                <a:spcBef>
                  <a:spcPct val="20000"/>
                </a:spcBef>
                <a:buChar char="•"/>
              </a:pPr>
              <a:r>
                <a:rPr lang="zh-CN" altLang="en-US" sz="2400" b="1" dirty="0">
                  <a:latin typeface="Arial" panose="020B0604020202020204" pitchFamily="34" charset="0"/>
                  <a:ea typeface="宋体" panose="02010600030101010101" pitchFamily="2" charset="-122"/>
                </a:rPr>
                <a:t>对于任一氧化还原反应，</a:t>
              </a:r>
            </a:p>
          </p:txBody>
        </p:sp>
      </p:grpSp>
      <p:graphicFrame>
        <p:nvGraphicFramePr>
          <p:cNvPr id="78857" name="Object 9"/>
          <p:cNvGraphicFramePr>
            <a:graphicFrameLocks noChangeAspect="1"/>
          </p:cNvGraphicFramePr>
          <p:nvPr/>
        </p:nvGraphicFramePr>
        <p:xfrm>
          <a:off x="1935163" y="2387600"/>
          <a:ext cx="3424237" cy="792163"/>
        </p:xfrm>
        <a:graphic>
          <a:graphicData uri="http://schemas.openxmlformats.org/presentationml/2006/ole">
            <mc:AlternateContent xmlns:mc="http://schemas.openxmlformats.org/markup-compatibility/2006">
              <mc:Choice xmlns:v="urn:schemas-microsoft-com:vml" Requires="v">
                <p:oleObj r:id="rId4" imgW="1651000" imgH="457200" progId="Equation.3">
                  <p:embed/>
                </p:oleObj>
              </mc:Choice>
              <mc:Fallback>
                <p:oleObj r:id="rId4" imgW="1651000" imgH="457200" progId="Equation.3">
                  <p:embed/>
                  <p:pic>
                    <p:nvPicPr>
                      <p:cNvPr id="0" name="图片 3121"/>
                      <p:cNvPicPr/>
                      <p:nvPr/>
                    </p:nvPicPr>
                    <p:blipFill>
                      <a:blip r:embed="rId5"/>
                      <a:stretch>
                        <a:fillRect/>
                      </a:stretch>
                    </p:blipFill>
                    <p:spPr>
                      <a:xfrm>
                        <a:off x="1935163" y="2387600"/>
                        <a:ext cx="3424237" cy="792163"/>
                      </a:xfrm>
                      <a:prstGeom prst="rect">
                        <a:avLst/>
                      </a:prstGeom>
                      <a:noFill/>
                      <a:ln w="38100">
                        <a:noFill/>
                        <a:miter/>
                      </a:ln>
                    </p:spPr>
                  </p:pic>
                </p:oleObj>
              </mc:Fallback>
            </mc:AlternateContent>
          </a:graphicData>
        </a:graphic>
      </p:graphicFrame>
      <p:sp>
        <p:nvSpPr>
          <p:cNvPr id="78858" name="Text Box 10"/>
          <p:cNvSpPr txBox="1"/>
          <p:nvPr/>
        </p:nvSpPr>
        <p:spPr>
          <a:xfrm>
            <a:off x="4572000" y="3697288"/>
            <a:ext cx="4032250" cy="523875"/>
          </a:xfrm>
          <a:prstGeom prst="rect">
            <a:avLst/>
          </a:prstGeom>
          <a:solidFill>
            <a:srgbClr val="800080"/>
          </a:solidFill>
          <a:ln w="9525">
            <a:noFill/>
          </a:ln>
        </p:spPr>
        <p:txBody>
          <a:bodyPr anchor="t" anchorCtr="0">
            <a:spAutoFit/>
          </a:bodyPr>
          <a:lstStyle/>
          <a:p>
            <a:pPr>
              <a:spcBef>
                <a:spcPct val="50000"/>
              </a:spcBef>
            </a:pPr>
            <a:r>
              <a:rPr lang="zh-CN" altLang="en-US" sz="2800" b="1" dirty="0">
                <a:solidFill>
                  <a:schemeClr val="bg1"/>
                </a:solidFill>
                <a:latin typeface="Times New Roman" panose="02020603050405020304" pitchFamily="18" charset="0"/>
                <a:ea typeface="宋体" panose="02010600030101010101" pitchFamily="2" charset="-122"/>
              </a:rPr>
              <a:t>电极电势的能斯特方程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50">
                                            <p:txEl>
                                              <p:pRg st="0" end="0"/>
                                            </p:txEl>
                                          </p:spTgt>
                                        </p:tgtEl>
                                        <p:attrNameLst>
                                          <p:attrName>style.visibility</p:attrName>
                                        </p:attrNameLst>
                                      </p:cBhvr>
                                      <p:to>
                                        <p:strVal val="visible"/>
                                      </p:to>
                                    </p:set>
                                    <p:animEffect transition="in" filter="dissolve">
                                      <p:cBhvr>
                                        <p:cTn id="12" dur="500"/>
                                        <p:tgtEl>
                                          <p:spTgt spid="7885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50">
                                            <p:txEl>
                                              <p:pRg st="1" end="1"/>
                                            </p:txEl>
                                          </p:spTgt>
                                        </p:tgtEl>
                                        <p:attrNameLst>
                                          <p:attrName>style.visibility</p:attrName>
                                        </p:attrNameLst>
                                      </p:cBhvr>
                                      <p:to>
                                        <p:strVal val="visible"/>
                                      </p:to>
                                    </p:set>
                                    <p:animEffect transition="in" filter="dissolve">
                                      <p:cBhvr>
                                        <p:cTn id="17" dur="500"/>
                                        <p:tgtEl>
                                          <p:spTgt spid="7885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78857"/>
                                        </p:tgtEl>
                                        <p:attrNameLst>
                                          <p:attrName>style.visibility</p:attrName>
                                        </p:attrNameLst>
                                      </p:cBhvr>
                                      <p:to>
                                        <p:strVal val="visible"/>
                                      </p:to>
                                    </p:set>
                                    <p:animEffect transition="in" filter="barn(inHorizontal)">
                                      <p:cBhvr>
                                        <p:cTn id="22" dur="500"/>
                                        <p:tgtEl>
                                          <p:spTgt spid="7885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858"/>
                                        </p:tgtEl>
                                        <p:attrNameLst>
                                          <p:attrName>style.visibility</p:attrName>
                                        </p:attrNameLst>
                                      </p:cBhvr>
                                      <p:to>
                                        <p:strVal val="visible"/>
                                      </p:to>
                                    </p:set>
                                    <p:animEffect transition="in" filter="blinds(horizontal)">
                                      <p:cBhvr>
                                        <p:cTn id="27" dur="2000"/>
                                        <p:tgtEl>
                                          <p:spTgt spid="7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7885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p:cNvGraphicFramePr>
            <a:graphicFrameLocks noChangeAspect="1"/>
          </p:cNvGraphicFramePr>
          <p:nvPr/>
        </p:nvGraphicFramePr>
        <p:xfrm>
          <a:off x="1379538" y="1177925"/>
          <a:ext cx="6042025" cy="557213"/>
        </p:xfrm>
        <a:graphic>
          <a:graphicData uri="http://schemas.openxmlformats.org/presentationml/2006/ole">
            <mc:AlternateContent xmlns:mc="http://schemas.openxmlformats.org/markup-compatibility/2006">
              <mc:Choice xmlns:v="urn:schemas-microsoft-com:vml" Requires="v">
                <p:oleObj r:id="rId2" imgW="2514600" imgH="279400" progId="Equation.3">
                  <p:embed/>
                </p:oleObj>
              </mc:Choice>
              <mc:Fallback>
                <p:oleObj r:id="rId2" imgW="2514600" imgH="279400" progId="Equation.3">
                  <p:embed/>
                  <p:pic>
                    <p:nvPicPr>
                      <p:cNvPr id="0" name="图片 3120"/>
                      <p:cNvPicPr/>
                      <p:nvPr/>
                    </p:nvPicPr>
                    <p:blipFill>
                      <a:blip r:embed="rId3"/>
                      <a:stretch>
                        <a:fillRect/>
                      </a:stretch>
                    </p:blipFill>
                    <p:spPr>
                      <a:xfrm>
                        <a:off x="1379538" y="1177925"/>
                        <a:ext cx="6042025" cy="557213"/>
                      </a:xfrm>
                      <a:prstGeom prst="rect">
                        <a:avLst/>
                      </a:prstGeom>
                      <a:noFill/>
                      <a:ln w="38100">
                        <a:noFill/>
                        <a:miter/>
                      </a:ln>
                    </p:spPr>
                  </p:pic>
                </p:oleObj>
              </mc:Fallback>
            </mc:AlternateContent>
          </a:graphicData>
        </a:graphic>
      </p:graphicFrame>
      <p:sp>
        <p:nvSpPr>
          <p:cNvPr id="79875" name="Line 3"/>
          <p:cNvSpPr/>
          <p:nvPr/>
        </p:nvSpPr>
        <p:spPr>
          <a:xfrm>
            <a:off x="971550" y="2917825"/>
            <a:ext cx="7613650" cy="0"/>
          </a:xfrm>
          <a:prstGeom prst="line">
            <a:avLst/>
          </a:prstGeom>
          <a:ln w="38100" cap="flat" cmpd="sng">
            <a:solidFill>
              <a:srgbClr val="CC99FF"/>
            </a:solidFill>
            <a:prstDash val="solid"/>
            <a:round/>
            <a:headEnd type="none" w="med" len="med"/>
            <a:tailEnd type="none" w="med" len="med"/>
          </a:ln>
        </p:spPr>
      </p:sp>
      <p:graphicFrame>
        <p:nvGraphicFramePr>
          <p:cNvPr id="79876" name="Object 4"/>
          <p:cNvGraphicFramePr>
            <a:graphicFrameLocks noChangeAspect="1"/>
          </p:cNvGraphicFramePr>
          <p:nvPr/>
        </p:nvGraphicFramePr>
        <p:xfrm>
          <a:off x="1236663" y="3157538"/>
          <a:ext cx="6742112" cy="454025"/>
        </p:xfrm>
        <a:graphic>
          <a:graphicData uri="http://schemas.openxmlformats.org/presentationml/2006/ole">
            <mc:AlternateContent xmlns:mc="http://schemas.openxmlformats.org/markup-compatibility/2006">
              <mc:Choice xmlns:v="urn:schemas-microsoft-com:vml" Requires="v">
                <p:oleObj r:id="rId4" imgW="2832100" imgH="228600" progId="Equation.3">
                  <p:embed/>
                </p:oleObj>
              </mc:Choice>
              <mc:Fallback>
                <p:oleObj r:id="rId4" imgW="2832100" imgH="228600" progId="Equation.3">
                  <p:embed/>
                  <p:pic>
                    <p:nvPicPr>
                      <p:cNvPr id="0" name="图片 3118"/>
                      <p:cNvPicPr/>
                      <p:nvPr/>
                    </p:nvPicPr>
                    <p:blipFill>
                      <a:blip r:embed="rId5"/>
                      <a:stretch>
                        <a:fillRect/>
                      </a:stretch>
                    </p:blipFill>
                    <p:spPr>
                      <a:xfrm>
                        <a:off x="1236663" y="3157538"/>
                        <a:ext cx="6742112" cy="454025"/>
                      </a:xfrm>
                      <a:prstGeom prst="rect">
                        <a:avLst/>
                      </a:prstGeom>
                      <a:noFill/>
                      <a:ln w="38100">
                        <a:noFill/>
                        <a:miter/>
                      </a:ln>
                    </p:spPr>
                  </p:pic>
                </p:oleObj>
              </mc:Fallback>
            </mc:AlternateContent>
          </a:graphicData>
        </a:graphic>
      </p:graphicFrame>
      <p:graphicFrame>
        <p:nvGraphicFramePr>
          <p:cNvPr id="79877" name="Object 5"/>
          <p:cNvGraphicFramePr>
            <a:graphicFrameLocks noChangeAspect="1"/>
          </p:cNvGraphicFramePr>
          <p:nvPr/>
        </p:nvGraphicFramePr>
        <p:xfrm>
          <a:off x="1597025" y="3817938"/>
          <a:ext cx="4941888" cy="981075"/>
        </p:xfrm>
        <a:graphic>
          <a:graphicData uri="http://schemas.openxmlformats.org/presentationml/2006/ole">
            <mc:AlternateContent xmlns:mc="http://schemas.openxmlformats.org/markup-compatibility/2006">
              <mc:Choice xmlns:v="urn:schemas-microsoft-com:vml" Requires="v">
                <p:oleObj r:id="rId6" imgW="1917700" imgH="457200" progId="Equation.3">
                  <p:embed/>
                </p:oleObj>
              </mc:Choice>
              <mc:Fallback>
                <p:oleObj r:id="rId6" imgW="1917700" imgH="457200" progId="Equation.3">
                  <p:embed/>
                  <p:pic>
                    <p:nvPicPr>
                      <p:cNvPr id="0" name="图片 3123"/>
                      <p:cNvPicPr/>
                      <p:nvPr/>
                    </p:nvPicPr>
                    <p:blipFill>
                      <a:blip r:embed="rId7"/>
                      <a:stretch>
                        <a:fillRect/>
                      </a:stretch>
                    </p:blipFill>
                    <p:spPr>
                      <a:xfrm>
                        <a:off x="1597025" y="3817938"/>
                        <a:ext cx="4941888" cy="981075"/>
                      </a:xfrm>
                      <a:prstGeom prst="rect">
                        <a:avLst/>
                      </a:prstGeom>
                      <a:noFill/>
                      <a:ln w="38100">
                        <a:noFill/>
                        <a:miter/>
                      </a:ln>
                    </p:spPr>
                  </p:pic>
                </p:oleObj>
              </mc:Fallback>
            </mc:AlternateContent>
          </a:graphicData>
        </a:graphic>
      </p:graphicFrame>
      <p:grpSp>
        <p:nvGrpSpPr>
          <p:cNvPr id="2" name="Group 6"/>
          <p:cNvGrpSpPr/>
          <p:nvPr/>
        </p:nvGrpSpPr>
        <p:grpSpPr>
          <a:xfrm>
            <a:off x="1835150" y="1836738"/>
            <a:ext cx="3617913" cy="990600"/>
            <a:chOff x="1104" y="1491"/>
            <a:chExt cx="2279" cy="748"/>
          </a:xfrm>
        </p:grpSpPr>
        <p:graphicFrame>
          <p:nvGraphicFramePr>
            <p:cNvPr id="112646" name="Object 7"/>
            <p:cNvGraphicFramePr>
              <a:graphicFrameLocks noChangeAspect="1"/>
            </p:cNvGraphicFramePr>
            <p:nvPr/>
          </p:nvGraphicFramePr>
          <p:xfrm>
            <a:off x="1104" y="1888"/>
            <a:ext cx="2279" cy="351"/>
          </p:xfrm>
          <a:graphic>
            <a:graphicData uri="http://schemas.openxmlformats.org/presentationml/2006/ole">
              <mc:AlternateContent xmlns:mc="http://schemas.openxmlformats.org/markup-compatibility/2006">
                <mc:Choice xmlns:v="urn:schemas-microsoft-com:vml" Requires="v">
                  <p:oleObj r:id="rId8" imgW="1485900" imgH="228600" progId="Equation.3">
                    <p:embed/>
                  </p:oleObj>
                </mc:Choice>
                <mc:Fallback>
                  <p:oleObj r:id="rId8" imgW="1485900" imgH="228600" progId="Equation.3">
                    <p:embed/>
                    <p:pic>
                      <p:nvPicPr>
                        <p:cNvPr id="0" name="图片 3124"/>
                        <p:cNvPicPr/>
                        <p:nvPr/>
                      </p:nvPicPr>
                      <p:blipFill>
                        <a:blip r:embed="rId9"/>
                        <a:stretch>
                          <a:fillRect/>
                        </a:stretch>
                      </p:blipFill>
                      <p:spPr>
                        <a:xfrm>
                          <a:off x="1104" y="1888"/>
                          <a:ext cx="2279" cy="351"/>
                        </a:xfrm>
                        <a:prstGeom prst="rect">
                          <a:avLst/>
                        </a:prstGeom>
                        <a:noFill/>
                        <a:ln w="38100">
                          <a:noFill/>
                          <a:miter/>
                        </a:ln>
                      </p:spPr>
                    </p:pic>
                  </p:oleObj>
                </mc:Fallback>
              </mc:AlternateContent>
            </a:graphicData>
          </a:graphic>
        </p:graphicFrame>
        <p:graphicFrame>
          <p:nvGraphicFramePr>
            <p:cNvPr id="112647" name="Object 8"/>
            <p:cNvGraphicFramePr>
              <a:graphicFrameLocks noChangeAspect="1"/>
            </p:cNvGraphicFramePr>
            <p:nvPr/>
          </p:nvGraphicFramePr>
          <p:xfrm>
            <a:off x="1392" y="1491"/>
            <a:ext cx="1948" cy="351"/>
          </p:xfrm>
          <a:graphic>
            <a:graphicData uri="http://schemas.openxmlformats.org/presentationml/2006/ole">
              <mc:AlternateContent xmlns:mc="http://schemas.openxmlformats.org/markup-compatibility/2006">
                <mc:Choice xmlns:v="urn:schemas-microsoft-com:vml" Requires="v">
                  <p:oleObj r:id="rId10" imgW="1270000" imgH="228600" progId="Equation.3">
                    <p:embed/>
                  </p:oleObj>
                </mc:Choice>
                <mc:Fallback>
                  <p:oleObj r:id="rId10" imgW="1270000" imgH="228600" progId="Equation.3">
                    <p:embed/>
                    <p:pic>
                      <p:nvPicPr>
                        <p:cNvPr id="0" name="图片 3122"/>
                        <p:cNvPicPr/>
                        <p:nvPr/>
                      </p:nvPicPr>
                      <p:blipFill>
                        <a:blip r:embed="rId11"/>
                        <a:stretch>
                          <a:fillRect/>
                        </a:stretch>
                      </p:blipFill>
                      <p:spPr>
                        <a:xfrm>
                          <a:off x="1392" y="1491"/>
                          <a:ext cx="1948" cy="351"/>
                        </a:xfrm>
                        <a:prstGeom prst="rect">
                          <a:avLst/>
                        </a:prstGeom>
                        <a:noFill/>
                        <a:ln w="38100">
                          <a:noFill/>
                          <a:miter/>
                        </a:ln>
                      </p:spPr>
                    </p:pic>
                  </p:oleObj>
                </mc:Fallback>
              </mc:AlternateContent>
            </a:graphicData>
          </a:graphic>
        </p:graphicFrame>
      </p:grpSp>
      <p:sp>
        <p:nvSpPr>
          <p:cNvPr id="112648" name="Rectangle 9"/>
          <p:cNvSpPr/>
          <p:nvPr/>
        </p:nvSpPr>
        <p:spPr>
          <a:xfrm>
            <a:off x="0" y="457200"/>
            <a:ext cx="3924300" cy="523875"/>
          </a:xfrm>
          <a:prstGeom prst="rect">
            <a:avLst/>
          </a:prstGeom>
          <a:solidFill>
            <a:srgbClr val="CC99FF"/>
          </a:solidFill>
          <a:ln w="9525">
            <a:noFill/>
          </a:ln>
        </p:spPr>
        <p:txBody>
          <a:bodyPr anchor="t" anchorCtr="0">
            <a:spAutoFit/>
          </a:bodyPr>
          <a:lstStyle/>
          <a:p>
            <a:pPr>
              <a:spcBef>
                <a:spcPct val="20000"/>
              </a:spcBef>
              <a:buChar char="•"/>
            </a:pPr>
            <a:r>
              <a:rPr lang="zh-CN" altLang="en-US" sz="2800" b="1" dirty="0">
                <a:latin typeface="Times New Roman" panose="02020603050405020304" pitchFamily="18" charset="0"/>
                <a:ea typeface="宋体" panose="02010600030101010101" pitchFamily="2" charset="-122"/>
              </a:rPr>
              <a:t>能斯特公式的应用举例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diamond(in)">
                                      <p:cBhvr>
                                        <p:cTn id="7" dur="1000"/>
                                        <p:tgtEl>
                                          <p:spTgt spid="7987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79875"/>
                                        </p:tgtEl>
                                        <p:attrNameLst>
                                          <p:attrName>style.visibility</p:attrName>
                                        </p:attrNameLst>
                                      </p:cBhvr>
                                      <p:to>
                                        <p:strVal val="visible"/>
                                      </p:to>
                                    </p:set>
                                    <p:animEffect transition="in" filter="blinds(vertical)">
                                      <p:cBhvr>
                                        <p:cTn id="17" dur="1000"/>
                                        <p:tgtEl>
                                          <p:spTgt spid="7987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9876"/>
                                        </p:tgtEl>
                                        <p:attrNameLst>
                                          <p:attrName>style.visibility</p:attrName>
                                        </p:attrNameLst>
                                      </p:cBhvr>
                                      <p:to>
                                        <p:strVal val="visible"/>
                                      </p:to>
                                    </p:set>
                                    <p:animEffect transition="in" filter="slide(fromBottom)">
                                      <p:cBhvr>
                                        <p:cTn id="22" dur="500"/>
                                        <p:tgtEl>
                                          <p:spTgt spid="7987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9877"/>
                                        </p:tgtEl>
                                        <p:attrNameLst>
                                          <p:attrName>style.visibility</p:attrName>
                                        </p:attrNameLst>
                                      </p:cBhvr>
                                      <p:to>
                                        <p:strVal val="visible"/>
                                      </p:to>
                                    </p:set>
                                    <p:animEffect transition="in" filter="slide(fromBottom)">
                                      <p:cBhvr>
                                        <p:cTn id="27" dur="500"/>
                                        <p:tgtEl>
                                          <p:spTgt spid="7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p:cNvGraphicFramePr>
            <a:graphicFrameLocks noChangeAspect="1"/>
          </p:cNvGraphicFramePr>
          <p:nvPr/>
        </p:nvGraphicFramePr>
        <p:xfrm>
          <a:off x="427038" y="3148013"/>
          <a:ext cx="7786687" cy="1035050"/>
        </p:xfrm>
        <a:graphic>
          <a:graphicData uri="http://schemas.openxmlformats.org/presentationml/2006/ole">
            <mc:AlternateContent xmlns:mc="http://schemas.openxmlformats.org/markup-compatibility/2006">
              <mc:Choice xmlns:v="urn:schemas-microsoft-com:vml" Requires="v">
                <p:oleObj r:id="rId2" imgW="2946400" imgH="469900" progId="Equation.3">
                  <p:embed/>
                </p:oleObj>
              </mc:Choice>
              <mc:Fallback>
                <p:oleObj r:id="rId2" imgW="2946400" imgH="469900" progId="Equation.3">
                  <p:embed/>
                  <p:pic>
                    <p:nvPicPr>
                      <p:cNvPr id="0" name="图片 3126"/>
                      <p:cNvPicPr/>
                      <p:nvPr/>
                    </p:nvPicPr>
                    <p:blipFill>
                      <a:blip r:embed="rId3"/>
                      <a:stretch>
                        <a:fillRect/>
                      </a:stretch>
                    </p:blipFill>
                    <p:spPr>
                      <a:xfrm>
                        <a:off x="427038" y="3148013"/>
                        <a:ext cx="7786687" cy="1035050"/>
                      </a:xfrm>
                      <a:prstGeom prst="rect">
                        <a:avLst/>
                      </a:prstGeom>
                      <a:noFill/>
                      <a:ln w="38100">
                        <a:noFill/>
                        <a:miter/>
                      </a:ln>
                    </p:spPr>
                  </p:pic>
                </p:oleObj>
              </mc:Fallback>
            </mc:AlternateContent>
          </a:graphicData>
        </a:graphic>
      </p:graphicFrame>
      <p:graphicFrame>
        <p:nvGraphicFramePr>
          <p:cNvPr id="80899" name="Object 3"/>
          <p:cNvGraphicFramePr>
            <a:graphicFrameLocks noChangeAspect="1"/>
          </p:cNvGraphicFramePr>
          <p:nvPr/>
        </p:nvGraphicFramePr>
        <p:xfrm>
          <a:off x="971550" y="696913"/>
          <a:ext cx="6696075" cy="1117600"/>
        </p:xfrm>
        <a:graphic>
          <a:graphicData uri="http://schemas.openxmlformats.org/presentationml/2006/ole">
            <mc:AlternateContent xmlns:mc="http://schemas.openxmlformats.org/markup-compatibility/2006">
              <mc:Choice xmlns:v="urn:schemas-microsoft-com:vml" Requires="v">
                <p:oleObj r:id="rId4" imgW="2603500" imgH="520700" progId="Equation.3">
                  <p:embed/>
                </p:oleObj>
              </mc:Choice>
              <mc:Fallback>
                <p:oleObj r:id="rId4" imgW="2603500" imgH="520700" progId="Equation.3">
                  <p:embed/>
                  <p:pic>
                    <p:nvPicPr>
                      <p:cNvPr id="0" name="图片 3128"/>
                      <p:cNvPicPr/>
                      <p:nvPr/>
                    </p:nvPicPr>
                    <p:blipFill>
                      <a:blip r:embed="rId5"/>
                      <a:stretch>
                        <a:fillRect/>
                      </a:stretch>
                    </p:blipFill>
                    <p:spPr>
                      <a:xfrm>
                        <a:off x="971550" y="696913"/>
                        <a:ext cx="6696075" cy="1117600"/>
                      </a:xfrm>
                      <a:prstGeom prst="rect">
                        <a:avLst/>
                      </a:prstGeom>
                      <a:noFill/>
                      <a:ln w="38100">
                        <a:noFill/>
                        <a:miter/>
                      </a:ln>
                    </p:spPr>
                  </p:pic>
                </p:oleObj>
              </mc:Fallback>
            </mc:AlternateContent>
          </a:graphicData>
        </a:graphic>
      </p:graphicFrame>
      <p:graphicFrame>
        <p:nvGraphicFramePr>
          <p:cNvPr id="80900" name="Object 4"/>
          <p:cNvGraphicFramePr>
            <a:graphicFrameLocks noChangeAspect="1"/>
          </p:cNvGraphicFramePr>
          <p:nvPr/>
        </p:nvGraphicFramePr>
        <p:xfrm>
          <a:off x="1397000" y="1909763"/>
          <a:ext cx="3973513" cy="1049337"/>
        </p:xfrm>
        <a:graphic>
          <a:graphicData uri="http://schemas.openxmlformats.org/presentationml/2006/ole">
            <mc:AlternateContent xmlns:mc="http://schemas.openxmlformats.org/markup-compatibility/2006">
              <mc:Choice xmlns:v="urn:schemas-microsoft-com:vml" Requires="v">
                <p:oleObj r:id="rId6" imgW="1524000" imgH="482600" progId="Equation.3">
                  <p:embed/>
                </p:oleObj>
              </mc:Choice>
              <mc:Fallback>
                <p:oleObj r:id="rId6" imgW="1524000" imgH="482600" progId="Equation.3">
                  <p:embed/>
                  <p:pic>
                    <p:nvPicPr>
                      <p:cNvPr id="0" name="图片 3129"/>
                      <p:cNvPicPr/>
                      <p:nvPr/>
                    </p:nvPicPr>
                    <p:blipFill>
                      <a:blip r:embed="rId7"/>
                      <a:stretch>
                        <a:fillRect/>
                      </a:stretch>
                    </p:blipFill>
                    <p:spPr>
                      <a:xfrm>
                        <a:off x="1397000" y="1909763"/>
                        <a:ext cx="3973513" cy="1049337"/>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wedge">
                                      <p:cBhvr>
                                        <p:cTn id="7" dur="1000"/>
                                        <p:tgtEl>
                                          <p:spTgt spid="8089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0900"/>
                                        </p:tgtEl>
                                        <p:attrNameLst>
                                          <p:attrName>style.visibility</p:attrName>
                                        </p:attrNameLst>
                                      </p:cBhvr>
                                      <p:to>
                                        <p:strVal val="visible"/>
                                      </p:to>
                                    </p:set>
                                    <p:animEffect transition="in" filter="slide(fromBottom)">
                                      <p:cBhvr>
                                        <p:cTn id="12" dur="500"/>
                                        <p:tgtEl>
                                          <p:spTgt spid="8090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80898"/>
                                        </p:tgtEl>
                                        <p:attrNameLst>
                                          <p:attrName>style.visibility</p:attrName>
                                        </p:attrNameLst>
                                      </p:cBhvr>
                                      <p:to>
                                        <p:strVal val="visible"/>
                                      </p:to>
                                    </p:set>
                                    <p:animEffect transition="in" filter="barn(inHorizontal)">
                                      <p:cBhvr>
                                        <p:cTn id="17"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内容占位符 2"/>
          <p:cNvSpPr>
            <a:spLocks noGrp="1"/>
          </p:cNvSpPr>
          <p:nvPr>
            <p:ph idx="1"/>
          </p:nvPr>
        </p:nvSpPr>
        <p:spPr>
          <a:xfrm>
            <a:off x="468313" y="184150"/>
            <a:ext cx="8351837" cy="5000625"/>
          </a:xfrm>
        </p:spPr>
        <p:txBody>
          <a:bodyPr vert="horz" wrap="square" lIns="91440" tIns="45720" rIns="91440" bIns="45720" anchor="t" anchorCtr="0"/>
          <a:lstStyle/>
          <a:p>
            <a:pPr eaLnBrk="1" hangingPunct="1"/>
            <a:r>
              <a:rPr lang="zh-CN" altLang="en-US" b="1" dirty="0">
                <a:solidFill>
                  <a:srgbClr val="C00000"/>
                </a:solidFill>
              </a:rPr>
              <a:t>电解的应用</a:t>
            </a:r>
            <a:endParaRPr lang="en-US" altLang="zh-CN" b="1" dirty="0">
              <a:solidFill>
                <a:srgbClr val="C00000"/>
              </a:solidFill>
            </a:endParaRPr>
          </a:p>
          <a:p>
            <a:pPr eaLnBrk="1" hangingPunct="1"/>
            <a:r>
              <a:rPr lang="zh-CN" altLang="en-US" b="1" dirty="0">
                <a:solidFill>
                  <a:srgbClr val="0000FF"/>
                </a:solidFill>
              </a:rPr>
              <a:t>电抛光</a:t>
            </a:r>
            <a:endParaRPr lang="en-US" altLang="zh-CN" b="1" dirty="0">
              <a:solidFill>
                <a:srgbClr val="0000FF"/>
              </a:solidFill>
            </a:endParaRPr>
          </a:p>
          <a:p>
            <a:pPr eaLnBrk="1" hangingPunct="1"/>
            <a:r>
              <a:rPr lang="zh-CN" altLang="en-US" sz="2400" b="1" dirty="0"/>
              <a:t>      将欲抛光工件</a:t>
            </a:r>
            <a:r>
              <a:rPr lang="en-US" altLang="zh-CN" sz="2400" b="1" dirty="0"/>
              <a:t>(</a:t>
            </a:r>
            <a:r>
              <a:rPr lang="zh-CN" altLang="en-US" sz="2400" b="1" dirty="0"/>
              <a:t>如钢铁工件</a:t>
            </a:r>
            <a:r>
              <a:rPr lang="en-US" altLang="zh-CN" sz="2400" b="1" dirty="0"/>
              <a:t>)</a:t>
            </a:r>
            <a:r>
              <a:rPr lang="zh-CN" altLang="en-US" sz="2400" b="1" dirty="0"/>
              <a:t>作阳极，铅板作阴极，选含有磷酸、硫酸和铬酐的溶液为电解液。在电解时，阳极铁因氧化而发生溶解</a:t>
            </a:r>
            <a:endParaRPr lang="en-US" altLang="zh-CN" sz="2400" b="1" dirty="0"/>
          </a:p>
          <a:p>
            <a:pPr eaLnBrk="1" hangingPunct="1">
              <a:buNone/>
            </a:pPr>
            <a:r>
              <a:rPr lang="zh-CN" altLang="en-US" sz="2400" b="1" dirty="0"/>
              <a:t>　</a:t>
            </a:r>
            <a:r>
              <a:rPr lang="en-US" altLang="zh-CN" sz="2400" b="1" dirty="0"/>
              <a:t> </a:t>
            </a:r>
            <a:r>
              <a:rPr lang="zh-CN" altLang="en-US" sz="2400" b="1" dirty="0"/>
              <a:t>生成的</a:t>
            </a:r>
            <a:r>
              <a:rPr lang="en-US" altLang="zh-CN" sz="2400" b="1" dirty="0"/>
              <a:t>     </a:t>
            </a:r>
            <a:r>
              <a:rPr lang="zh-CN" altLang="en-US" sz="2400" b="1" dirty="0"/>
              <a:t>与溶液中的</a:t>
            </a:r>
            <a:r>
              <a:rPr lang="en-US" altLang="zh-CN" sz="2400" b="1" dirty="0"/>
              <a:t>         </a:t>
            </a:r>
            <a:r>
              <a:rPr lang="zh-CN" altLang="en-US" sz="2400" b="1" dirty="0"/>
              <a:t>发生氧化还原反应</a:t>
            </a:r>
            <a:endParaRPr lang="en-US" altLang="zh-CN" sz="2400" b="1" dirty="0"/>
          </a:p>
          <a:p>
            <a:pPr eaLnBrk="1" hangingPunct="1">
              <a:buNone/>
            </a:pPr>
            <a:r>
              <a:rPr lang="zh-CN" altLang="en-US" sz="2400" b="1" dirty="0"/>
              <a:t>　</a:t>
            </a:r>
            <a:r>
              <a:rPr lang="en-US" altLang="zh-CN" sz="2400" b="1" dirty="0"/>
              <a:t> </a:t>
            </a:r>
            <a:r>
              <a:rPr lang="zh-CN" altLang="en-US" sz="2400" b="1" dirty="0"/>
              <a:t>　</a:t>
            </a:r>
            <a:r>
              <a:rPr lang="en-US" altLang="zh-CN" sz="2400" b="1" dirty="0"/>
              <a:t>        </a:t>
            </a:r>
            <a:endParaRPr lang="zh-CN" altLang="en-US" sz="2400" b="1" dirty="0"/>
          </a:p>
          <a:p>
            <a:pPr eaLnBrk="1" hangingPunct="1"/>
            <a:r>
              <a:rPr lang="en-US" altLang="zh-CN" sz="2400" b="1" dirty="0">
                <a:latin typeface="Times New Roman" panose="02020603050405020304" pitchFamily="18" charset="0"/>
              </a:rPr>
              <a:t>  Fe</a:t>
            </a:r>
            <a:r>
              <a:rPr lang="en-US" altLang="zh-CN" sz="2400" b="1" baseline="30000" dirty="0">
                <a:latin typeface="Times New Roman" panose="02020603050405020304" pitchFamily="18" charset="0"/>
              </a:rPr>
              <a:t>3+</a:t>
            </a:r>
            <a:r>
              <a:rPr lang="zh-CN" altLang="en-US" sz="2400" b="1" dirty="0">
                <a:latin typeface="Times New Roman" panose="02020603050405020304" pitchFamily="18" charset="0"/>
              </a:rPr>
              <a:t>进一步与溶液中的</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形成</a:t>
            </a:r>
            <a:r>
              <a:rPr lang="en-US" altLang="zh-CN" sz="2400" b="1" dirty="0">
                <a:latin typeface="Times New Roman" panose="02020603050405020304" pitchFamily="18" charset="0"/>
              </a:rPr>
              <a:t>Fe</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(HPO</a:t>
            </a:r>
            <a:r>
              <a:rPr lang="en-US" altLang="zh-CN" sz="2400" b="1" baseline="-25000" dirty="0">
                <a:latin typeface="Times New Roman" panose="02020603050405020304" pitchFamily="18" charset="0"/>
              </a:rPr>
              <a:t>4</a:t>
            </a:r>
            <a:r>
              <a:rPr lang="en-US" altLang="zh-CN" sz="2400" b="1" dirty="0">
                <a:latin typeface="Times New Roman" panose="02020603050405020304" pitchFamily="18" charset="0"/>
              </a:rPr>
              <a:t>)</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Fe</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(SO</a:t>
            </a:r>
            <a:r>
              <a:rPr lang="en-US" altLang="zh-CN" sz="2400" b="1" baseline="-25000" dirty="0">
                <a:latin typeface="Times New Roman" panose="02020603050405020304" pitchFamily="18" charset="0"/>
              </a:rPr>
              <a:t>4</a:t>
            </a:r>
            <a:r>
              <a:rPr lang="en-US" altLang="zh-CN" sz="2400" b="1" dirty="0">
                <a:latin typeface="Times New Roman" panose="02020603050405020304" pitchFamily="18" charset="0"/>
              </a:rPr>
              <a:t>)</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等盐</a:t>
            </a:r>
            <a:r>
              <a:rPr lang="zh-CN" altLang="en-US" sz="2400" b="1" dirty="0"/>
              <a:t>。由于阳极附近盐的浓度不断增加，在金属表面形成一种粘度较大的液膜。因金属凸凹不平的表面上液膜厚度分布不均匀，突起部分液膜薄、电阻小、电流密度大、溶解快，于是金属粗糙表面逐渐变得平整光亮。</a:t>
            </a:r>
            <a:endParaRPr lang="zh-CN" altLang="en-US" b="1" dirty="0"/>
          </a:p>
        </p:txBody>
      </p:sp>
      <p:sp>
        <p:nvSpPr>
          <p:cNvPr id="114690" name="Rectangle 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691" name="Object 1"/>
          <p:cNvGraphicFramePr>
            <a:graphicFrameLocks noChangeAspect="1"/>
          </p:cNvGraphicFramePr>
          <p:nvPr/>
        </p:nvGraphicFramePr>
        <p:xfrm>
          <a:off x="3492500" y="2136775"/>
          <a:ext cx="2001838" cy="344488"/>
        </p:xfrm>
        <a:graphic>
          <a:graphicData uri="http://schemas.openxmlformats.org/presentationml/2006/ole">
            <mc:AlternateContent xmlns:mc="http://schemas.openxmlformats.org/markup-compatibility/2006">
              <mc:Choice xmlns:v="urn:schemas-microsoft-com:vml" Requires="v">
                <p:oleObj r:id="rId2" imgW="993140" imgH="203835" progId="Equation.DSMT4">
                  <p:embed/>
                </p:oleObj>
              </mc:Choice>
              <mc:Fallback>
                <p:oleObj r:id="rId2" imgW="993140" imgH="203835" progId="Equation.DSMT4">
                  <p:embed/>
                  <p:pic>
                    <p:nvPicPr>
                      <p:cNvPr id="0" name="图片 3127"/>
                      <p:cNvPicPr/>
                      <p:nvPr/>
                    </p:nvPicPr>
                    <p:blipFill>
                      <a:blip r:embed="rId3"/>
                      <a:stretch>
                        <a:fillRect/>
                      </a:stretch>
                    </p:blipFill>
                    <p:spPr>
                      <a:xfrm>
                        <a:off x="3492500" y="2136775"/>
                        <a:ext cx="2001838" cy="344488"/>
                      </a:xfrm>
                      <a:prstGeom prst="rect">
                        <a:avLst/>
                      </a:prstGeom>
                      <a:noFill/>
                      <a:ln w="38100">
                        <a:noFill/>
                        <a:miter/>
                      </a:ln>
                    </p:spPr>
                  </p:pic>
                </p:oleObj>
              </mc:Fallback>
            </mc:AlternateContent>
          </a:graphicData>
        </a:graphic>
      </p:graphicFrame>
      <p:sp>
        <p:nvSpPr>
          <p:cNvPr id="114692" name="Rectangle 4"/>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693" name="Object 3"/>
          <p:cNvGraphicFramePr>
            <a:graphicFrameLocks noChangeAspect="1"/>
          </p:cNvGraphicFramePr>
          <p:nvPr/>
        </p:nvGraphicFramePr>
        <p:xfrm>
          <a:off x="1692275" y="2928938"/>
          <a:ext cx="5254625" cy="357187"/>
        </p:xfrm>
        <a:graphic>
          <a:graphicData uri="http://schemas.openxmlformats.org/presentationml/2006/ole">
            <mc:AlternateContent xmlns:mc="http://schemas.openxmlformats.org/markup-compatibility/2006">
              <mc:Choice xmlns:v="urn:schemas-microsoft-com:vml" Requires="v">
                <p:oleObj r:id="rId4" imgW="2957830" imgH="241300" progId="Equation.DSMT4">
                  <p:embed/>
                </p:oleObj>
              </mc:Choice>
              <mc:Fallback>
                <p:oleObj r:id="rId4" imgW="2957830" imgH="241300" progId="Equation.DSMT4">
                  <p:embed/>
                  <p:pic>
                    <p:nvPicPr>
                      <p:cNvPr id="0" name="图片 3130"/>
                      <p:cNvPicPr/>
                      <p:nvPr/>
                    </p:nvPicPr>
                    <p:blipFill>
                      <a:blip r:embed="rId5"/>
                      <a:stretch>
                        <a:fillRect/>
                      </a:stretch>
                    </p:blipFill>
                    <p:spPr>
                      <a:xfrm>
                        <a:off x="1692275" y="2928938"/>
                        <a:ext cx="5254625" cy="357187"/>
                      </a:xfrm>
                      <a:prstGeom prst="rect">
                        <a:avLst/>
                      </a:prstGeom>
                      <a:noFill/>
                      <a:ln w="38100">
                        <a:noFill/>
                        <a:miter/>
                      </a:ln>
                    </p:spPr>
                  </p:pic>
                </p:oleObj>
              </mc:Fallback>
            </mc:AlternateContent>
          </a:graphicData>
        </a:graphic>
      </p:graphicFrame>
      <p:sp>
        <p:nvSpPr>
          <p:cNvPr id="114694" name="Rectangle 6"/>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695" name="Object 5"/>
          <p:cNvGraphicFramePr>
            <a:graphicFrameLocks noChangeAspect="1"/>
          </p:cNvGraphicFramePr>
          <p:nvPr/>
        </p:nvGraphicFramePr>
        <p:xfrm>
          <a:off x="1835150" y="2570163"/>
          <a:ext cx="571500" cy="304800"/>
        </p:xfrm>
        <a:graphic>
          <a:graphicData uri="http://schemas.openxmlformats.org/presentationml/2006/ole">
            <mc:AlternateContent xmlns:mc="http://schemas.openxmlformats.org/markup-compatibility/2006">
              <mc:Choice xmlns:v="urn:schemas-microsoft-com:vml" Requires="v">
                <p:oleObj r:id="rId6" imgW="319405" imgH="204470" progId="Equation.DSMT4">
                  <p:embed/>
                </p:oleObj>
              </mc:Choice>
              <mc:Fallback>
                <p:oleObj r:id="rId6" imgW="319405" imgH="204470" progId="Equation.DSMT4">
                  <p:embed/>
                  <p:pic>
                    <p:nvPicPr>
                      <p:cNvPr id="0" name="图片 3134"/>
                      <p:cNvPicPr/>
                      <p:nvPr/>
                    </p:nvPicPr>
                    <p:blipFill>
                      <a:blip r:embed="rId7"/>
                      <a:stretch>
                        <a:fillRect/>
                      </a:stretch>
                    </p:blipFill>
                    <p:spPr>
                      <a:xfrm>
                        <a:off x="1835150" y="2570163"/>
                        <a:ext cx="571500" cy="304800"/>
                      </a:xfrm>
                      <a:prstGeom prst="rect">
                        <a:avLst/>
                      </a:prstGeom>
                      <a:noFill/>
                      <a:ln w="38100">
                        <a:noFill/>
                        <a:miter/>
                      </a:ln>
                    </p:spPr>
                  </p:pic>
                </p:oleObj>
              </mc:Fallback>
            </mc:AlternateContent>
          </a:graphicData>
        </a:graphic>
      </p:graphicFrame>
      <p:sp>
        <p:nvSpPr>
          <p:cNvPr id="114696"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697" name="Object 7"/>
          <p:cNvGraphicFramePr>
            <a:graphicFrameLocks noChangeAspect="1"/>
          </p:cNvGraphicFramePr>
          <p:nvPr/>
        </p:nvGraphicFramePr>
        <p:xfrm>
          <a:off x="3851275" y="2570163"/>
          <a:ext cx="798513" cy="357187"/>
        </p:xfrm>
        <a:graphic>
          <a:graphicData uri="http://schemas.openxmlformats.org/presentationml/2006/ole">
            <mc:AlternateContent xmlns:mc="http://schemas.openxmlformats.org/markup-compatibility/2006">
              <mc:Choice xmlns:v="urn:schemas-microsoft-com:vml" Requires="v">
                <p:oleObj r:id="rId8" imgW="460375" imgH="242570" progId="Equation.DSMT4">
                  <p:embed/>
                </p:oleObj>
              </mc:Choice>
              <mc:Fallback>
                <p:oleObj r:id="rId8" imgW="460375" imgH="242570" progId="Equation.DSMT4">
                  <p:embed/>
                  <p:pic>
                    <p:nvPicPr>
                      <p:cNvPr id="0" name="图片 3132"/>
                      <p:cNvPicPr/>
                      <p:nvPr/>
                    </p:nvPicPr>
                    <p:blipFill>
                      <a:blip r:embed="rId9"/>
                      <a:stretch>
                        <a:fillRect/>
                      </a:stretch>
                    </p:blipFill>
                    <p:spPr>
                      <a:xfrm>
                        <a:off x="3851275" y="2570163"/>
                        <a:ext cx="798513" cy="357187"/>
                      </a:xfrm>
                      <a:prstGeom prst="rect">
                        <a:avLst/>
                      </a:prstGeom>
                      <a:noFill/>
                      <a:ln w="38100">
                        <a:noFill/>
                        <a:miter/>
                      </a:ln>
                    </p:spPr>
                  </p:pic>
                </p:oleObj>
              </mc:Fallback>
            </mc:AlternateContent>
          </a:graphicData>
        </a:graphic>
      </p:graphicFrame>
      <p:sp>
        <p:nvSpPr>
          <p:cNvPr id="114698" name="Rectangle 10"/>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699" name="Object 9"/>
          <p:cNvGraphicFramePr>
            <a:graphicFrameLocks noChangeAspect="1"/>
          </p:cNvGraphicFramePr>
          <p:nvPr/>
        </p:nvGraphicFramePr>
        <p:xfrm>
          <a:off x="3995738" y="3433763"/>
          <a:ext cx="838200" cy="357187"/>
        </p:xfrm>
        <a:graphic>
          <a:graphicData uri="http://schemas.openxmlformats.org/presentationml/2006/ole">
            <mc:AlternateContent xmlns:mc="http://schemas.openxmlformats.org/markup-compatibility/2006">
              <mc:Choice xmlns:v="urn:schemas-microsoft-com:vml" Requires="v">
                <p:oleObj r:id="rId10" imgW="473075" imgH="242570" progId="Equation.DSMT4">
                  <p:embed/>
                </p:oleObj>
              </mc:Choice>
              <mc:Fallback>
                <p:oleObj r:id="rId10" imgW="473075" imgH="242570" progId="Equation.DSMT4">
                  <p:embed/>
                  <p:pic>
                    <p:nvPicPr>
                      <p:cNvPr id="0" name="图片 3131"/>
                      <p:cNvPicPr/>
                      <p:nvPr/>
                    </p:nvPicPr>
                    <p:blipFill>
                      <a:blip r:embed="rId11"/>
                      <a:stretch>
                        <a:fillRect/>
                      </a:stretch>
                    </p:blipFill>
                    <p:spPr>
                      <a:xfrm>
                        <a:off x="3995738" y="3433763"/>
                        <a:ext cx="838200" cy="357187"/>
                      </a:xfrm>
                      <a:prstGeom prst="rect">
                        <a:avLst/>
                      </a:prstGeom>
                      <a:noFill/>
                      <a:ln w="38100">
                        <a:noFill/>
                        <a:miter/>
                      </a:ln>
                    </p:spPr>
                  </p:pic>
                </p:oleObj>
              </mc:Fallback>
            </mc:AlternateContent>
          </a:graphicData>
        </a:graphic>
      </p:graphicFrame>
      <p:sp>
        <p:nvSpPr>
          <p:cNvPr id="114700" name="Rectangle 12"/>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114701" name="Object 11"/>
          <p:cNvGraphicFramePr>
            <a:graphicFrameLocks noChangeAspect="1"/>
          </p:cNvGraphicFramePr>
          <p:nvPr/>
        </p:nvGraphicFramePr>
        <p:xfrm>
          <a:off x="5076825" y="3433763"/>
          <a:ext cx="571500" cy="333375"/>
        </p:xfrm>
        <a:graphic>
          <a:graphicData uri="http://schemas.openxmlformats.org/presentationml/2006/ole">
            <mc:AlternateContent xmlns:mc="http://schemas.openxmlformats.org/markup-compatibility/2006">
              <mc:Choice xmlns:v="urn:schemas-microsoft-com:vml" Requires="v">
                <p:oleObj r:id="rId12" imgW="345440" imgH="242570" progId="Equation.DSMT4">
                  <p:embed/>
                </p:oleObj>
              </mc:Choice>
              <mc:Fallback>
                <p:oleObj r:id="rId12" imgW="345440" imgH="242570" progId="Equation.DSMT4">
                  <p:embed/>
                  <p:pic>
                    <p:nvPicPr>
                      <p:cNvPr id="0" name="图片 3133"/>
                      <p:cNvPicPr/>
                      <p:nvPr/>
                    </p:nvPicPr>
                    <p:blipFill>
                      <a:blip r:embed="rId13"/>
                      <a:stretch>
                        <a:fillRect/>
                      </a:stretch>
                    </p:blipFill>
                    <p:spPr>
                      <a:xfrm>
                        <a:off x="5076825" y="3433763"/>
                        <a:ext cx="571500" cy="333375"/>
                      </a:xfrm>
                      <a:prstGeom prst="rect">
                        <a:avLst/>
                      </a:prstGeom>
                      <a:noFill/>
                      <a:ln w="38100">
                        <a:noFill/>
                        <a:miter/>
                      </a:ln>
                    </p:spPr>
                  </p:pic>
                </p:oleObj>
              </mc:Fallback>
            </mc:AlternateContent>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p:cNvSpPr>
          <p:nvPr>
            <p:ph idx="1"/>
          </p:nvPr>
        </p:nvSpPr>
        <p:spPr>
          <a:xfrm>
            <a:off x="539750" y="409575"/>
            <a:ext cx="8208963" cy="4989513"/>
          </a:xfrm>
        </p:spPr>
        <p:txBody>
          <a:bodyPr vert="horz" wrap="square" lIns="91440" tIns="45720" rIns="91440" bIns="45720" anchor="t" anchorCtr="0"/>
          <a:lstStyle/>
          <a:p>
            <a:pPr eaLnBrk="1" hangingPunct="1">
              <a:lnSpc>
                <a:spcPct val="125000"/>
              </a:lnSpc>
            </a:pPr>
            <a:r>
              <a:rPr lang="zh-CN" altLang="en-US" sz="2800" b="1" dirty="0">
                <a:solidFill>
                  <a:srgbClr val="0000FF"/>
                </a:solidFill>
              </a:rPr>
              <a:t>电解加工</a:t>
            </a:r>
            <a:endParaRPr lang="en-US" altLang="zh-CN" sz="2800" b="1" dirty="0">
              <a:solidFill>
                <a:srgbClr val="0000FF"/>
              </a:solidFill>
            </a:endParaRPr>
          </a:p>
          <a:p>
            <a:pPr eaLnBrk="1" hangingPunct="1">
              <a:lnSpc>
                <a:spcPct val="125000"/>
              </a:lnSpc>
              <a:buNone/>
            </a:pPr>
            <a:r>
              <a:rPr lang="en-US" altLang="zh-CN" sz="2400" dirty="0"/>
              <a:t>          </a:t>
            </a:r>
            <a:r>
              <a:rPr lang="zh-CN" altLang="en-US" sz="2400" b="1" dirty="0"/>
              <a:t>电解加工原理与电抛光相同，也是利用阳极溶解将工件加工成型。</a:t>
            </a:r>
          </a:p>
          <a:p>
            <a:pPr eaLnBrk="1" hangingPunct="1">
              <a:lnSpc>
                <a:spcPct val="125000"/>
              </a:lnSpc>
              <a:buNone/>
            </a:pPr>
            <a:r>
              <a:rPr lang="zh-CN" altLang="en-US" sz="2400" b="1" dirty="0"/>
              <a:t>            区别</a:t>
            </a:r>
            <a:r>
              <a:rPr lang="en-US" altLang="zh-CN" sz="2400" b="1" dirty="0"/>
              <a:t>:</a:t>
            </a:r>
            <a:r>
              <a:rPr lang="zh-CN" altLang="en-US" sz="2400" b="1" dirty="0"/>
              <a:t>电抛光时阳极与阴极距离较大，电解液在槽中是不流动的，通过的电流密度小，金属去除量少，只进行抛光而不改变工件的形状。电解加工时，工件仍为阳极，而用模具作阴极，在两极间保持很小的间隙，随着阳极的溶解，阴极缓慢向阳极工件推进，电解液在间隙中高速流过并及时带走电解产物，工件表面不断溶解，一直到工件表面和阴极模型表面形状基本符合为止。</a:t>
            </a:r>
            <a:endParaRPr lang="en-US" altLang="zh-CN" sz="2400" b="1" dirty="0"/>
          </a:p>
        </p:txBody>
      </p:sp>
      <p:pic>
        <p:nvPicPr>
          <p:cNvPr id="115714" name="图片 1"/>
          <p:cNvPicPr>
            <a:picLocks noChangeAspect="1"/>
          </p:cNvPicPr>
          <p:nvPr/>
        </p:nvPicPr>
        <p:blipFill>
          <a:blip r:embed="rId2"/>
          <a:stretch>
            <a:fillRect/>
          </a:stretch>
        </p:blipFill>
        <p:spPr>
          <a:xfrm>
            <a:off x="7451725" y="193675"/>
            <a:ext cx="931863" cy="7762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wipe(down)">
                                      <p:cBhvr>
                                        <p:cTn id="7" dur="5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wipe(down)">
                                      <p:cBhvr>
                                        <p:cTn id="12" dur="500"/>
                                        <p:tgtEl>
                                          <p:spTgt spid="204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482">
                                            <p:txEl>
                                              <p:pRg st="2" end="2"/>
                                            </p:txEl>
                                          </p:spTgt>
                                        </p:tgtEl>
                                        <p:attrNameLst>
                                          <p:attrName>style.visibility</p:attrName>
                                        </p:attrNameLst>
                                      </p:cBhvr>
                                      <p:to>
                                        <p:strVal val="visible"/>
                                      </p:to>
                                    </p:set>
                                    <p:animEffect transition="in" filter="wipe(down)">
                                      <p:cBhvr>
                                        <p:cTn id="17" dur="500"/>
                                        <p:tgtEl>
                                          <p:spTgt spid="204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内容占位符 2"/>
          <p:cNvSpPr>
            <a:spLocks noGrp="1"/>
          </p:cNvSpPr>
          <p:nvPr>
            <p:ph idx="4294967295"/>
          </p:nvPr>
        </p:nvSpPr>
        <p:spPr>
          <a:xfrm>
            <a:off x="468313" y="481013"/>
            <a:ext cx="8286750" cy="4524375"/>
          </a:xfrm>
        </p:spPr>
        <p:txBody>
          <a:bodyPr vert="horz" wrap="square" lIns="91440" tIns="45720" rIns="91440" bIns="45720" anchor="t" anchorCtr="0"/>
          <a:lstStyle/>
          <a:p>
            <a:pPr eaLnBrk="1" hangingPunct="1"/>
            <a:r>
              <a:rPr lang="zh-CN" altLang="en-US" sz="2400" b="1" dirty="0"/>
              <a:t> </a:t>
            </a:r>
            <a:r>
              <a:rPr lang="zh-CN" altLang="en-US" sz="2800" b="1" dirty="0">
                <a:solidFill>
                  <a:srgbClr val="0000FF"/>
                </a:solidFill>
              </a:rPr>
              <a:t>阳极氧化</a:t>
            </a:r>
            <a:r>
              <a:rPr lang="zh-CN" altLang="en-US" sz="2400" b="1" dirty="0"/>
              <a:t> </a:t>
            </a:r>
            <a:endParaRPr lang="en-US" altLang="zh-CN" sz="2400" b="1" dirty="0"/>
          </a:p>
          <a:p>
            <a:pPr eaLnBrk="1" hangingPunct="1">
              <a:lnSpc>
                <a:spcPct val="150000"/>
              </a:lnSpc>
              <a:buNone/>
            </a:pPr>
            <a:r>
              <a:rPr lang="en-US" altLang="zh-CN" sz="2200" b="1" dirty="0"/>
              <a:t>           </a:t>
            </a:r>
            <a:r>
              <a:rPr lang="zh-CN" altLang="en-US" sz="2400" b="1" dirty="0"/>
              <a:t>以铝和铝合金为例。将表面抛光、除油等处理的铝合金工件作电解池的阳极，铅板做阴极，稀硫酸作电解液，加适当电压，通过适当电流，阳极铝工件表面可生成一层氧化铝膜。</a:t>
            </a:r>
          </a:p>
          <a:p>
            <a:pPr eaLnBrk="1" hangingPunct="1">
              <a:lnSpc>
                <a:spcPct val="150000"/>
              </a:lnSpc>
              <a:buNone/>
            </a:pPr>
            <a:r>
              <a:rPr lang="zh-CN" altLang="en-US" sz="2400" b="1" dirty="0"/>
              <a:t>           所得氧化膜能与金属牢固结合，且厚度均匀，提高铝及铝合金的耐腐蚀性和耐磨性，并可提高表面的电阻和热绝缘性。由于氧化铝膜中有许多小孔，可吸附各种染料，以增加工件表面的美观。</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dissolve">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dissolve">
                                      <p:cBhvr>
                                        <p:cTn id="12" dur="500"/>
                                        <p:tgtEl>
                                          <p:spTgt spid="860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018">
                                            <p:txEl>
                                              <p:pRg st="2" end="2"/>
                                            </p:txEl>
                                          </p:spTgt>
                                        </p:tgtEl>
                                        <p:attrNameLst>
                                          <p:attrName>style.visibility</p:attrName>
                                        </p:attrNameLst>
                                      </p:cBhvr>
                                      <p:to>
                                        <p:strVal val="visible"/>
                                      </p:to>
                                    </p:set>
                                    <p:animEffect transition="in" filter="dissolve">
                                      <p:cBhvr>
                                        <p:cTn id="17" dur="500"/>
                                        <p:tgtEl>
                                          <p:spTgt spid="860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I1M2FlZmQzZWJiYjEzOWM5ZWIzMjc3YTFhNTk2NTU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1z">
  <a:themeElements>
    <a:clrScheme name="">
      <a:dk1>
        <a:srgbClr val="1C1C1C"/>
      </a:dk1>
      <a:lt1>
        <a:srgbClr val="FFFFFF"/>
      </a:lt1>
      <a:dk2>
        <a:srgbClr val="000066"/>
      </a:dk2>
      <a:lt2>
        <a:srgbClr val="666699"/>
      </a:lt2>
      <a:accent1>
        <a:srgbClr val="FF5050"/>
      </a:accent1>
      <a:accent2>
        <a:srgbClr val="009999"/>
      </a:accent2>
      <a:accent3>
        <a:srgbClr val="FFFFFF"/>
      </a:accent3>
      <a:accent4>
        <a:srgbClr val="161616"/>
      </a:accent4>
      <a:accent5>
        <a:srgbClr val="FFB3B3"/>
      </a:accent5>
      <a:accent6>
        <a:srgbClr val="008989"/>
      </a:accent6>
      <a:hlink>
        <a:srgbClr val="3366CC"/>
      </a:hlink>
      <a:folHlink>
        <a:srgbClr val="B2B2B2"/>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1z 1">
        <a:dk1>
          <a:srgbClr val="402000"/>
        </a:dk1>
        <a:lt1>
          <a:srgbClr val="FBFAE2"/>
        </a:lt1>
        <a:dk2>
          <a:srgbClr val="996633"/>
        </a:dk2>
        <a:lt2>
          <a:srgbClr val="A08366"/>
        </a:lt2>
        <a:accent1>
          <a:srgbClr val="CE9964"/>
        </a:accent1>
        <a:accent2>
          <a:srgbClr val="CD3333"/>
        </a:accent2>
        <a:accent3>
          <a:srgbClr val="FDFCEE"/>
        </a:accent3>
        <a:accent4>
          <a:srgbClr val="351A00"/>
        </a:accent4>
        <a:accent5>
          <a:srgbClr val="E3CAB8"/>
        </a:accent5>
        <a:accent6>
          <a:srgbClr val="BA2D2D"/>
        </a:accent6>
        <a:hlink>
          <a:srgbClr val="9A7F32"/>
        </a:hlink>
        <a:folHlink>
          <a:srgbClr val="ECA07A"/>
        </a:folHlink>
      </a:clrScheme>
      <a:clrMap bg1="lt1" tx1="dk1" bg2="lt2" tx2="dk2" accent1="accent1" accent2="accent2" accent3="accent3" accent4="accent4" accent5="accent5" accent6="accent6" hlink="hlink" folHlink="folHlink"/>
    </a:extraClrScheme>
    <a:extraClrScheme>
      <a:clrScheme name="d1z 2">
        <a:dk1>
          <a:srgbClr val="402000"/>
        </a:dk1>
        <a:lt1>
          <a:srgbClr val="FFFFFF"/>
        </a:lt1>
        <a:dk2>
          <a:srgbClr val="996633"/>
        </a:dk2>
        <a:lt2>
          <a:srgbClr val="A08366"/>
        </a:lt2>
        <a:accent1>
          <a:srgbClr val="CE9964"/>
        </a:accent1>
        <a:accent2>
          <a:srgbClr val="CD3333"/>
        </a:accent2>
        <a:accent3>
          <a:srgbClr val="FFFFFF"/>
        </a:accent3>
        <a:accent4>
          <a:srgbClr val="351A00"/>
        </a:accent4>
        <a:accent5>
          <a:srgbClr val="E3CAB8"/>
        </a:accent5>
        <a:accent6>
          <a:srgbClr val="BA2D2D"/>
        </a:accent6>
        <a:hlink>
          <a:srgbClr val="9A7F32"/>
        </a:hlink>
        <a:folHlink>
          <a:srgbClr val="ECA07A"/>
        </a:folHlink>
      </a:clrScheme>
      <a:clrMap bg1="lt1" tx1="dk1" bg2="lt2" tx2="dk2" accent1="accent1" accent2="accent2" accent3="accent3" accent4="accent4" accent5="accent5" accent6="accent6" hlink="hlink" folHlink="folHlink"/>
    </a:extraClrScheme>
    <a:extraClrScheme>
      <a:clrScheme name="d1z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1z 4">
        <a:dk1>
          <a:srgbClr val="1C1C1C"/>
        </a:dk1>
        <a:lt1>
          <a:srgbClr val="FFFFFF"/>
        </a:lt1>
        <a:dk2>
          <a:srgbClr val="000066"/>
        </a:dk2>
        <a:lt2>
          <a:srgbClr val="666699"/>
        </a:lt2>
        <a:accent1>
          <a:srgbClr val="FF5050"/>
        </a:accent1>
        <a:accent2>
          <a:srgbClr val="009999"/>
        </a:accent2>
        <a:accent3>
          <a:srgbClr val="FFFFFF"/>
        </a:accent3>
        <a:accent4>
          <a:srgbClr val="161616"/>
        </a:accent4>
        <a:accent5>
          <a:srgbClr val="FFB3B3"/>
        </a:accent5>
        <a:accent6>
          <a:srgbClr val="008A8A"/>
        </a:accent6>
        <a:hlink>
          <a:srgbClr val="3366CC"/>
        </a:hlink>
        <a:folHlink>
          <a:srgbClr val="B2B2B2"/>
        </a:folHlink>
      </a:clrScheme>
      <a:clrMap bg1="lt1" tx1="dk1" bg2="lt2" tx2="dk2" accent1="accent1" accent2="accent2" accent3="accent3" accent4="accent4" accent5="accent5" accent6="accent6" hlink="hlink" folHlink="folHlink"/>
    </a:extraClrScheme>
    <a:extraClrScheme>
      <a:clrScheme name="d1z 5">
        <a:dk1>
          <a:srgbClr val="402000"/>
        </a:dk1>
        <a:lt1>
          <a:srgbClr val="FBFAE2"/>
        </a:lt1>
        <a:dk2>
          <a:srgbClr val="996633"/>
        </a:dk2>
        <a:lt2>
          <a:srgbClr val="A08366"/>
        </a:lt2>
        <a:accent1>
          <a:srgbClr val="CE9964"/>
        </a:accent1>
        <a:accent2>
          <a:srgbClr val="CD3333"/>
        </a:accent2>
        <a:accent3>
          <a:srgbClr val="FDFCEE"/>
        </a:accent3>
        <a:accent4>
          <a:srgbClr val="351A00"/>
        </a:accent4>
        <a:accent5>
          <a:srgbClr val="E3CAB8"/>
        </a:accent5>
        <a:accent6>
          <a:srgbClr val="BA2D2D"/>
        </a:accent6>
        <a:hlink>
          <a:srgbClr val="AE1E39"/>
        </a:hlink>
        <a:folHlink>
          <a:srgbClr val="ECA07A"/>
        </a:folHlink>
      </a:clrScheme>
      <a:clrMap bg1="lt1" tx1="dk1" bg2="lt2" tx2="dk2" accent1="accent1" accent2="accent2" accent3="accent3" accent4="accent4" accent5="accent5" accent6="accent6" hlink="hlink" folHlink="folHlink"/>
    </a:extraClrScheme>
    <a:extraClrScheme>
      <a:clrScheme name="d1z 6">
        <a:dk1>
          <a:srgbClr val="040200"/>
        </a:dk1>
        <a:lt1>
          <a:srgbClr val="F8FDE1"/>
        </a:lt1>
        <a:dk2>
          <a:srgbClr val="003300"/>
        </a:dk2>
        <a:lt2>
          <a:srgbClr val="A08366"/>
        </a:lt2>
        <a:accent1>
          <a:srgbClr val="99CCFF"/>
        </a:accent1>
        <a:accent2>
          <a:srgbClr val="CD3333"/>
        </a:accent2>
        <a:accent3>
          <a:srgbClr val="FBFEEE"/>
        </a:accent3>
        <a:accent4>
          <a:srgbClr val="030100"/>
        </a:accent4>
        <a:accent5>
          <a:srgbClr val="CAE2FF"/>
        </a:accent5>
        <a:accent6>
          <a:srgbClr val="BA2D2D"/>
        </a:accent6>
        <a:hlink>
          <a:srgbClr val="84424D"/>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TotalTime>
  <Words>6458</Words>
  <Application>Microsoft Office PowerPoint</Application>
  <PresentationFormat>全屏显示(16:10)</PresentationFormat>
  <Paragraphs>540</Paragraphs>
  <Slides>110</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5</vt:i4>
      </vt:variant>
      <vt:variant>
        <vt:lpstr>幻灯片标题</vt:lpstr>
      </vt:variant>
      <vt:variant>
        <vt:i4>110</vt:i4>
      </vt:variant>
    </vt:vector>
  </HeadingPairs>
  <TitlesOfParts>
    <vt:vector size="131" baseType="lpstr">
      <vt:lpstr>Menlo</vt:lpstr>
      <vt:lpstr>Monotype Sorts</vt:lpstr>
      <vt:lpstr>quote-cjk-patch</vt:lpstr>
      <vt:lpstr>黑体</vt:lpstr>
      <vt:lpstr>楷体</vt:lpstr>
      <vt:lpstr>楷体_GB2312</vt:lpstr>
      <vt:lpstr>宋体</vt:lpstr>
      <vt:lpstr>Arial</vt:lpstr>
      <vt:lpstr>Calibri</vt:lpstr>
      <vt:lpstr>Symbol</vt:lpstr>
      <vt:lpstr>Tahoma</vt:lpstr>
      <vt:lpstr>Times New Roman</vt:lpstr>
      <vt:lpstr>Wingdings</vt:lpstr>
      <vt:lpstr>Wingdings 2</vt:lpstr>
      <vt:lpstr>默认设计模板</vt:lpstr>
      <vt:lpstr>d1z</vt:lpstr>
      <vt:lpstr>Paintbrush Picture</vt:lpstr>
      <vt:lpstr>Equation.DSMT4</vt:lpstr>
      <vt:lpstr>Microsoft Word 97 - 2003 Document</vt:lpstr>
      <vt:lpstr>Equation.3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(1)标准氢电极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训臣 刘</cp:lastModifiedBy>
  <cp:revision>158</cp:revision>
  <dcterms:created xsi:type="dcterms:W3CDTF">2012-08-13T23:43:00Z</dcterms:created>
  <dcterms:modified xsi:type="dcterms:W3CDTF">2026-01-04T05:16:03Z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F0038B478B1D44ABAC5EDA616E81F23D_12</vt:lpwstr>
  </property>
</Properties>
</file>