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</p:sldMasterIdLst>
  <p:handoutMasterIdLst>
    <p:handoutMasterId r:id="rId141"/>
  </p:handoutMasterIdLst>
  <p:sldIdLst>
    <p:sldId id="423" r:id="rId4"/>
    <p:sldId id="424" r:id="rId5"/>
    <p:sldId id="425" r:id="rId6"/>
    <p:sldId id="440" r:id="rId7"/>
    <p:sldId id="257" r:id="rId8"/>
    <p:sldId id="280" r:id="rId9"/>
    <p:sldId id="277" r:id="rId10"/>
    <p:sldId id="427" r:id="rId11"/>
    <p:sldId id="428" r:id="rId12"/>
    <p:sldId id="429" r:id="rId13"/>
    <p:sldId id="430" r:id="rId14"/>
    <p:sldId id="431" r:id="rId15"/>
    <p:sldId id="432" r:id="rId16"/>
    <p:sldId id="433" r:id="rId17"/>
    <p:sldId id="434" r:id="rId18"/>
    <p:sldId id="441" r:id="rId19"/>
    <p:sldId id="435" r:id="rId20"/>
    <p:sldId id="436" r:id="rId21"/>
    <p:sldId id="437" r:id="rId22"/>
    <p:sldId id="279" r:id="rId23"/>
    <p:sldId id="439" r:id="rId24"/>
    <p:sldId id="265" r:id="rId25"/>
    <p:sldId id="260" r:id="rId26"/>
    <p:sldId id="259" r:id="rId27"/>
    <p:sldId id="443" r:id="rId28"/>
    <p:sldId id="442" r:id="rId29"/>
    <p:sldId id="270" r:id="rId30"/>
    <p:sldId id="264" r:id="rId31"/>
    <p:sldId id="285" r:id="rId32"/>
    <p:sldId id="367" r:id="rId33"/>
    <p:sldId id="284" r:id="rId34"/>
    <p:sldId id="286" r:id="rId35"/>
    <p:sldId id="287" r:id="rId36"/>
    <p:sldId id="288" r:id="rId37"/>
    <p:sldId id="289" r:id="rId38"/>
    <p:sldId id="290" r:id="rId39"/>
    <p:sldId id="291" r:id="rId40"/>
    <p:sldId id="283" r:id="rId41"/>
    <p:sldId id="295" r:id="rId42"/>
    <p:sldId id="292" r:id="rId43"/>
    <p:sldId id="293" r:id="rId44"/>
    <p:sldId id="296" r:id="rId45"/>
    <p:sldId id="294" r:id="rId46"/>
    <p:sldId id="453" r:id="rId47"/>
    <p:sldId id="448" r:id="rId48"/>
    <p:sldId id="446" r:id="rId49"/>
    <p:sldId id="447" r:id="rId50"/>
    <p:sldId id="449" r:id="rId51"/>
    <p:sldId id="450" r:id="rId52"/>
    <p:sldId id="451" r:id="rId53"/>
    <p:sldId id="452" r:id="rId54"/>
    <p:sldId id="297" r:id="rId55"/>
    <p:sldId id="298" r:id="rId56"/>
    <p:sldId id="445" r:id="rId57"/>
    <p:sldId id="454" r:id="rId58"/>
    <p:sldId id="300" r:id="rId59"/>
    <p:sldId id="455" r:id="rId60"/>
    <p:sldId id="299" r:id="rId61"/>
    <p:sldId id="301" r:id="rId62"/>
    <p:sldId id="456" r:id="rId63"/>
    <p:sldId id="302" r:id="rId64"/>
    <p:sldId id="303" r:id="rId65"/>
    <p:sldId id="304" r:id="rId66"/>
    <p:sldId id="305" r:id="rId67"/>
    <p:sldId id="457" r:id="rId68"/>
    <p:sldId id="426" r:id="rId69"/>
    <p:sldId id="306" r:id="rId70"/>
    <p:sldId id="307" r:id="rId71"/>
    <p:sldId id="308" r:id="rId72"/>
    <p:sldId id="309" r:id="rId73"/>
    <p:sldId id="310" r:id="rId74"/>
    <p:sldId id="311" r:id="rId75"/>
    <p:sldId id="312" r:id="rId76"/>
    <p:sldId id="313" r:id="rId77"/>
    <p:sldId id="315" r:id="rId78"/>
    <p:sldId id="314" r:id="rId79"/>
    <p:sldId id="316" r:id="rId80"/>
    <p:sldId id="371" r:id="rId81"/>
    <p:sldId id="317" r:id="rId82"/>
    <p:sldId id="319" r:id="rId83"/>
    <p:sldId id="320" r:id="rId84"/>
    <p:sldId id="321" r:id="rId85"/>
    <p:sldId id="372" r:id="rId86"/>
    <p:sldId id="318" r:id="rId87"/>
    <p:sldId id="322" r:id="rId88"/>
    <p:sldId id="460" r:id="rId89"/>
    <p:sldId id="459" r:id="rId90"/>
    <p:sldId id="388" r:id="rId91"/>
    <p:sldId id="323" r:id="rId92"/>
    <p:sldId id="387" r:id="rId93"/>
    <p:sldId id="386" r:id="rId94"/>
    <p:sldId id="385" r:id="rId95"/>
    <p:sldId id="384" r:id="rId96"/>
    <p:sldId id="383" r:id="rId97"/>
    <p:sldId id="382" r:id="rId98"/>
    <p:sldId id="381" r:id="rId99"/>
    <p:sldId id="324" r:id="rId100"/>
    <p:sldId id="373" r:id="rId101"/>
    <p:sldId id="461" r:id="rId102"/>
    <p:sldId id="380" r:id="rId103"/>
    <p:sldId id="379" r:id="rId104"/>
    <p:sldId id="378" r:id="rId105"/>
    <p:sldId id="377" r:id="rId106"/>
    <p:sldId id="376" r:id="rId107"/>
    <p:sldId id="375" r:id="rId108"/>
    <p:sldId id="389" r:id="rId109"/>
    <p:sldId id="413" r:id="rId110"/>
    <p:sldId id="412" r:id="rId111"/>
    <p:sldId id="411" r:id="rId112"/>
    <p:sldId id="410" r:id="rId113"/>
    <p:sldId id="409" r:id="rId114"/>
    <p:sldId id="408" r:id="rId115"/>
    <p:sldId id="407" r:id="rId116"/>
    <p:sldId id="406" r:id="rId117"/>
    <p:sldId id="405" r:id="rId118"/>
    <p:sldId id="404" r:id="rId119"/>
    <p:sldId id="403" r:id="rId120"/>
    <p:sldId id="402" r:id="rId121"/>
    <p:sldId id="401" r:id="rId122"/>
    <p:sldId id="400" r:id="rId123"/>
    <p:sldId id="399" r:id="rId124"/>
    <p:sldId id="398" r:id="rId125"/>
    <p:sldId id="458" r:id="rId126"/>
    <p:sldId id="397" r:id="rId127"/>
    <p:sldId id="396" r:id="rId128"/>
    <p:sldId id="395" r:id="rId129"/>
    <p:sldId id="394" r:id="rId130"/>
    <p:sldId id="393" r:id="rId131"/>
    <p:sldId id="392" r:id="rId132"/>
    <p:sldId id="390" r:id="rId133"/>
    <p:sldId id="391" r:id="rId134"/>
    <p:sldId id="414" r:id="rId135"/>
    <p:sldId id="421" r:id="rId136"/>
    <p:sldId id="420" r:id="rId137"/>
    <p:sldId id="419" r:id="rId138"/>
    <p:sldId id="418" r:id="rId139"/>
    <p:sldId id="422" r:id="rId140"/>
  </p:sldIdLst>
  <p:sldSz cx="9144000" cy="5143500" type="screen16x9"/>
  <p:notesSz cx="6858000" cy="9144000"/>
  <p:custShowLst>
    <p:custShow name="自定义放映1" id="0">
      <p:sldLst/>
    </p:custShow>
  </p:custShowLst>
  <p:custDataLst>
    <p:tags r:id="rId142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Times New Roman" panose="02020603050405020304" pitchFamily="18" charset="0"/>
        <a:ea typeface="华文新魏" panose="020108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Rg st="1" end="109"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CC"/>
    <a:srgbClr val="0066CC"/>
    <a:srgbClr val="FF0000"/>
    <a:srgbClr val="003300"/>
    <a:srgbClr val="0066FF"/>
    <a:srgbClr val="FF9966"/>
    <a:srgbClr val="66FF33"/>
    <a:srgbClr val="33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6"/>
    <p:restoredTop sz="90814"/>
  </p:normalViewPr>
  <p:slideViewPr>
    <p:cSldViewPr showGuides="1">
      <p:cViewPr varScale="1">
        <p:scale>
          <a:sx n="122" d="100"/>
          <a:sy n="122" d="100"/>
        </p:scale>
        <p:origin x="76" y="8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1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63" Type="http://schemas.openxmlformats.org/officeDocument/2006/relationships/slide" Target="slides/slide60.xml"/><Relationship Id="rId84" Type="http://schemas.openxmlformats.org/officeDocument/2006/relationships/slide" Target="slides/slide81.xml"/><Relationship Id="rId138" Type="http://schemas.openxmlformats.org/officeDocument/2006/relationships/slide" Target="slides/slide135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53" Type="http://schemas.openxmlformats.org/officeDocument/2006/relationships/slide" Target="slides/slide50.xml"/><Relationship Id="rId74" Type="http://schemas.openxmlformats.org/officeDocument/2006/relationships/slide" Target="slides/slide71.xml"/><Relationship Id="rId128" Type="http://schemas.openxmlformats.org/officeDocument/2006/relationships/slide" Target="slides/slide125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18" Type="http://schemas.openxmlformats.org/officeDocument/2006/relationships/slide" Target="slides/slide115.xml"/><Relationship Id="rId134" Type="http://schemas.openxmlformats.org/officeDocument/2006/relationships/slide" Target="slides/slide131.xml"/><Relationship Id="rId139" Type="http://schemas.openxmlformats.org/officeDocument/2006/relationships/slide" Target="slides/slide13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slide" Target="slides/slide105.xml"/><Relationship Id="rId124" Type="http://schemas.openxmlformats.org/officeDocument/2006/relationships/slide" Target="slides/slide121.xml"/><Relationship Id="rId129" Type="http://schemas.openxmlformats.org/officeDocument/2006/relationships/slide" Target="slides/slide126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40" Type="http://schemas.openxmlformats.org/officeDocument/2006/relationships/slide" Target="slides/slide137.xml"/><Relationship Id="rId14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Relationship Id="rId119" Type="http://schemas.openxmlformats.org/officeDocument/2006/relationships/slide" Target="slides/slide116.xml"/><Relationship Id="rId44" Type="http://schemas.openxmlformats.org/officeDocument/2006/relationships/slide" Target="slides/slide41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130" Type="http://schemas.openxmlformats.org/officeDocument/2006/relationships/slide" Target="slides/slide127.xml"/><Relationship Id="rId135" Type="http://schemas.openxmlformats.org/officeDocument/2006/relationships/slide" Target="slides/slide132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120" Type="http://schemas.openxmlformats.org/officeDocument/2006/relationships/slide" Target="slides/slide117.xml"/><Relationship Id="rId125" Type="http://schemas.openxmlformats.org/officeDocument/2006/relationships/slide" Target="slides/slide122.xml"/><Relationship Id="rId141" Type="http://schemas.openxmlformats.org/officeDocument/2006/relationships/handoutMaster" Target="handoutMasters/handoutMaster1.xml"/><Relationship Id="rId146" Type="http://schemas.openxmlformats.org/officeDocument/2006/relationships/tableStyles" Target="tableStyle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slide" Target="slides/slide112.xml"/><Relationship Id="rId131" Type="http://schemas.openxmlformats.org/officeDocument/2006/relationships/slide" Target="slides/slide128.xml"/><Relationship Id="rId136" Type="http://schemas.openxmlformats.org/officeDocument/2006/relationships/slide" Target="slides/slide133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126" Type="http://schemas.openxmlformats.org/officeDocument/2006/relationships/slide" Target="slides/slide12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121" Type="http://schemas.openxmlformats.org/officeDocument/2006/relationships/slide" Target="slides/slide118.xml"/><Relationship Id="rId142" Type="http://schemas.openxmlformats.org/officeDocument/2006/relationships/tags" Target="tags/tag1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slide" Target="slides/slide113.xml"/><Relationship Id="rId137" Type="http://schemas.openxmlformats.org/officeDocument/2006/relationships/slide" Target="slides/slide13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32" Type="http://schemas.openxmlformats.org/officeDocument/2006/relationships/slide" Target="slides/slide129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27" Type="http://schemas.openxmlformats.org/officeDocument/2006/relationships/slide" Target="slides/slide12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52" Type="http://schemas.openxmlformats.org/officeDocument/2006/relationships/slide" Target="slides/slide49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slide" Target="slides/slide119.xml"/><Relationship Id="rId143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26" Type="http://schemas.openxmlformats.org/officeDocument/2006/relationships/slide" Target="slides/slide23.xml"/><Relationship Id="rId47" Type="http://schemas.openxmlformats.org/officeDocument/2006/relationships/slide" Target="slides/slide44.xml"/><Relationship Id="rId68" Type="http://schemas.openxmlformats.org/officeDocument/2006/relationships/slide" Target="slides/slide65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33" Type="http://schemas.openxmlformats.org/officeDocument/2006/relationships/slide" Target="slides/slide130.xml"/><Relationship Id="rId16" Type="http://schemas.openxmlformats.org/officeDocument/2006/relationships/slide" Target="slides/slide13.xml"/><Relationship Id="rId37" Type="http://schemas.openxmlformats.org/officeDocument/2006/relationships/slide" Target="slides/slide34.xml"/><Relationship Id="rId58" Type="http://schemas.openxmlformats.org/officeDocument/2006/relationships/slide" Target="slides/slide55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123" Type="http://schemas.openxmlformats.org/officeDocument/2006/relationships/slide" Target="slides/slide120.xml"/><Relationship Id="rId14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Arial" panose="020B0604020202020204" pitchFamily="34" charset="0"/>
                <a:ea typeface="宋体" panose="02010600030101010101" pitchFamily="2" charset="-122"/>
              </a:rPr>
              <a:t>‹#›</a:t>
            </a:fld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0">
          <a:gsLst>
            <a:gs pos="0">
              <a:schemeClr val="bg1"/>
            </a:gs>
            <a:gs pos="100000">
              <a:schemeClr val="accent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/>
          <p:nvPr/>
        </p:nvGrpSpPr>
        <p:grpSpPr>
          <a:xfrm>
            <a:off x="0" y="0"/>
            <a:ext cx="9144000" cy="5143500"/>
            <a:chOff x="0" y="0"/>
            <a:chExt cx="5760" cy="4320"/>
          </a:xfrm>
        </p:grpSpPr>
        <p:sp>
          <p:nvSpPr>
            <p:cNvPr id="4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Rectangle 4"/>
            <p:cNvSpPr>
              <a:spLocks noChangeArrowheads="1"/>
            </p:cNvSpPr>
            <p:nvPr/>
          </p:nvSpPr>
          <p:spPr bwMode="hidden">
            <a:xfrm>
              <a:off x="1081" y="1066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4105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7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1081" y="1066"/>
                <a:ext cx="362" cy="404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10"/>
              <p:cNvSpPr>
                <a:spLocks noChangeArrowheads="1"/>
              </p:cNvSpPr>
              <p:nvPr/>
            </p:nvSpPr>
            <p:spPr bwMode="auto">
              <a:xfrm>
                <a:off x="1437" y="1066"/>
                <a:ext cx="369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401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401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40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14"/>
              <p:cNvSpPr>
                <a:spLocks noChangeArrowheads="1"/>
              </p:cNvSpPr>
              <p:nvPr/>
            </p:nvSpPr>
            <p:spPr bwMode="auto">
              <a:xfrm>
                <a:off x="361" y="1859"/>
                <a:ext cx="363" cy="407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Rectangle 15"/>
              <p:cNvSpPr>
                <a:spLocks noChangeArrowheads="1"/>
              </p:cNvSpPr>
              <p:nvPr/>
            </p:nvSpPr>
            <p:spPr bwMode="auto">
              <a:xfrm>
                <a:off x="719" y="1859"/>
                <a:ext cx="368" cy="407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371600"/>
            <a:ext cx="6019800" cy="165735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3200400"/>
            <a:ext cx="6019800" cy="131445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7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6300"/>
            <a:ext cx="2133600" cy="3429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2133600" cy="3429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latin typeface="Arial Black" panose="020B0A04020102020204" pitchFamily="34" charset="0"/>
                <a:ea typeface="宋体" panose="02010600030101010101" pitchFamily="2" charset="-122"/>
              </a:rPr>
              <a:t>‹#›</a:t>
            </a:fld>
            <a:endParaRPr lang="en-US" altLang="zh-CN" sz="1200" dirty="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0">
              <a:schemeClr val="bg1"/>
            </a:gs>
            <a:gs pos="100000">
              <a:schemeClr val="accent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gradFill rotWithShape="0">
          <a:gsLst>
            <a:gs pos="0">
              <a:schemeClr val="bg1"/>
            </a:gs>
            <a:gs pos="100000">
              <a:schemeClr val="accent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83"/>
            <a:ext cx="7772400" cy="102155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gradFill rotWithShape="0">
          <a:gsLst>
            <a:gs pos="0">
              <a:schemeClr val="bg1"/>
            </a:gs>
            <a:gs pos="100000">
              <a:schemeClr val="accent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5900"/>
            <a:ext cx="4038600" cy="2914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4038600" cy="2914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gradFill rotWithShape="0">
          <a:gsLst>
            <a:gs pos="0">
              <a:schemeClr val="bg1"/>
            </a:gs>
            <a:gs pos="100000">
              <a:schemeClr val="accent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gradFill rotWithShape="0">
          <a:gsLst>
            <a:gs pos="0">
              <a:schemeClr val="bg1"/>
            </a:gs>
            <a:gs pos="100000">
              <a:schemeClr val="accent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 rotWithShape="0">
          <a:gsLst>
            <a:gs pos="0">
              <a:schemeClr val="bg1"/>
            </a:gs>
            <a:gs pos="100000">
              <a:schemeClr val="accent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gradFill rotWithShape="0">
          <a:gsLst>
            <a:gs pos="0">
              <a:schemeClr val="bg1"/>
            </a:gs>
            <a:gs pos="100000">
              <a:schemeClr val="accent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16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16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gradFill rotWithShape="0">
          <a:gsLst>
            <a:gs pos="0">
              <a:schemeClr val="bg1"/>
            </a:gs>
            <a:gs pos="100000">
              <a:schemeClr val="accent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gradFill rotWithShape="0">
          <a:gsLst>
            <a:gs pos="0">
              <a:schemeClr val="bg1"/>
            </a:gs>
            <a:gs pos="100000">
              <a:schemeClr val="accent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gradFill rotWithShape="0">
          <a:gsLst>
            <a:gs pos="0">
              <a:schemeClr val="bg1"/>
            </a:gs>
            <a:gs pos="100000">
              <a:schemeClr val="accent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1300" y="171450"/>
            <a:ext cx="2095500" cy="42291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71450"/>
            <a:ext cx="6134100" cy="42291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2"/>
          <p:cNvGrpSpPr/>
          <p:nvPr/>
        </p:nvGrpSpPr>
        <p:grpSpPr>
          <a:xfrm>
            <a:off x="0" y="0"/>
            <a:ext cx="9144000" cy="5143500"/>
            <a:chOff x="0" y="0"/>
            <a:chExt cx="5760" cy="4320"/>
          </a:xfrm>
        </p:grpSpPr>
        <p:sp>
          <p:nvSpPr>
            <p:cNvPr id="4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Rectangle 4"/>
            <p:cNvSpPr>
              <a:spLocks noChangeArrowheads="1"/>
            </p:cNvSpPr>
            <p:nvPr/>
          </p:nvSpPr>
          <p:spPr bwMode="hidden">
            <a:xfrm>
              <a:off x="1081" y="1066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5369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7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1081" y="1066"/>
                <a:ext cx="362" cy="404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10"/>
              <p:cNvSpPr>
                <a:spLocks noChangeArrowheads="1"/>
              </p:cNvSpPr>
              <p:nvPr/>
            </p:nvSpPr>
            <p:spPr bwMode="auto">
              <a:xfrm>
                <a:off x="1437" y="1066"/>
                <a:ext cx="369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401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401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40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14"/>
              <p:cNvSpPr>
                <a:spLocks noChangeArrowheads="1"/>
              </p:cNvSpPr>
              <p:nvPr/>
            </p:nvSpPr>
            <p:spPr bwMode="auto">
              <a:xfrm>
                <a:off x="361" y="1859"/>
                <a:ext cx="363" cy="408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Rectangle 15"/>
              <p:cNvSpPr>
                <a:spLocks noChangeArrowheads="1"/>
              </p:cNvSpPr>
              <p:nvPr/>
            </p:nvSpPr>
            <p:spPr bwMode="auto">
              <a:xfrm>
                <a:off x="719" y="1859"/>
                <a:ext cx="368" cy="40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371600"/>
            <a:ext cx="6019800" cy="165735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3200400"/>
            <a:ext cx="6019800" cy="131445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7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6300"/>
            <a:ext cx="2133600" cy="3429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2133600" cy="3429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‹#›</a:t>
            </a:fld>
            <a:endParaRPr lang="en-US" altLang="zh-CN" sz="1200" dirty="0">
              <a:solidFill>
                <a:srgbClr val="000000"/>
              </a:solidFill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81"/>
            <a:ext cx="7772400" cy="102155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5900"/>
            <a:ext cx="4038600" cy="2914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4038600" cy="2914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12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12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1300" y="171450"/>
            <a:ext cx="2095500" cy="42291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71450"/>
            <a:ext cx="6134100" cy="42291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6" name="Group 2"/>
          <p:cNvGrpSpPr/>
          <p:nvPr/>
        </p:nvGrpSpPr>
        <p:grpSpPr>
          <a:xfrm>
            <a:off x="0" y="0"/>
            <a:ext cx="9144000" cy="5143500"/>
            <a:chOff x="0" y="0"/>
            <a:chExt cx="5760" cy="4320"/>
          </a:xfrm>
        </p:grpSpPr>
        <p:sp>
          <p:nvSpPr>
            <p:cNvPr id="4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" name="Rectangle 4"/>
            <p:cNvSpPr>
              <a:spLocks noChangeArrowheads="1"/>
            </p:cNvSpPr>
            <p:nvPr/>
          </p:nvSpPr>
          <p:spPr bwMode="hidden">
            <a:xfrm>
              <a:off x="1081" y="1066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1pPr>
              <a:lvl2pPr marL="742950" indent="-28575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2pPr>
              <a:lvl3pPr marL="11430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3pPr>
              <a:lvl4pPr marL="16002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4pPr>
              <a:lvl5pPr marL="2057400" indent="-22860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华文新魏" panose="0201080004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6393" name="Group 5"/>
            <p:cNvGrpSpPr/>
            <p:nvPr/>
          </p:nvGrpSpPr>
          <p:grpSpPr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7" name="Rectangle 6"/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1081" y="1066"/>
                <a:ext cx="362" cy="404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9"/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10"/>
              <p:cNvSpPr>
                <a:spLocks noChangeArrowheads="1"/>
              </p:cNvSpPr>
              <p:nvPr/>
            </p:nvSpPr>
            <p:spPr bwMode="auto">
              <a:xfrm>
                <a:off x="1437" y="1066"/>
                <a:ext cx="369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11"/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401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12"/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401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13"/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40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14"/>
              <p:cNvSpPr>
                <a:spLocks noChangeArrowheads="1"/>
              </p:cNvSpPr>
              <p:nvPr/>
            </p:nvSpPr>
            <p:spPr bwMode="auto">
              <a:xfrm>
                <a:off x="361" y="1859"/>
                <a:ext cx="363" cy="408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Rectangle 15"/>
              <p:cNvSpPr>
                <a:spLocks noChangeArrowheads="1"/>
              </p:cNvSpPr>
              <p:nvPr/>
            </p:nvSpPr>
            <p:spPr bwMode="auto">
              <a:xfrm>
                <a:off x="719" y="1859"/>
                <a:ext cx="368" cy="40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zh-CN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742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371600"/>
            <a:ext cx="6019800" cy="165735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742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3200400"/>
            <a:ext cx="6019800" cy="131445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7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6300"/>
            <a:ext cx="2133600" cy="3429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2133600" cy="3429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>
                <a:solidFill>
                  <a:srgbClr val="000000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‹#›</a:t>
            </a:fld>
            <a:endParaRPr lang="en-US" altLang="zh-CN" sz="1200" dirty="0">
              <a:solidFill>
                <a:srgbClr val="000000"/>
              </a:solidFill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80"/>
            <a:ext cx="7772400" cy="102155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5900"/>
            <a:ext cx="4038600" cy="2914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4038600" cy="2914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10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10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1300" y="171450"/>
            <a:ext cx="2095500" cy="42291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71450"/>
            <a:ext cx="6134100" cy="42291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accent2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4"/>
          <p:cNvSpPr>
            <a:spLocks noGrp="1"/>
          </p:cNvSpPr>
          <p:nvPr>
            <p:ph type="title"/>
          </p:nvPr>
        </p:nvSpPr>
        <p:spPr>
          <a:xfrm>
            <a:off x="304800" y="171450"/>
            <a:ext cx="82296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bg1"/>
            </a:gs>
            <a:gs pos="6000">
              <a:srgbClr val="92D050"/>
            </a:gs>
            <a:gs pos="81000">
              <a:srgbClr val="CCECFF"/>
            </a:gs>
            <a:gs pos="93000">
              <a:srgbClr val="00B0F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4"/>
          <p:cNvSpPr>
            <a:spLocks noGrp="1"/>
          </p:cNvSpPr>
          <p:nvPr>
            <p:ph type="title"/>
          </p:nvPr>
        </p:nvSpPr>
        <p:spPr>
          <a:xfrm>
            <a:off x="304800" y="171450"/>
            <a:ext cx="82296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bg1"/>
            </a:gs>
            <a:gs pos="6000">
              <a:srgbClr val="92D050"/>
            </a:gs>
            <a:gs pos="81000">
              <a:srgbClr val="CCECFF"/>
            </a:gs>
            <a:gs pos="93000">
              <a:srgbClr val="00B0F0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4"/>
          <p:cNvSpPr>
            <a:spLocks noGrp="1"/>
          </p:cNvSpPr>
          <p:nvPr>
            <p:ph type="title"/>
          </p:nvPr>
        </p:nvSpPr>
        <p:spPr>
          <a:xfrm>
            <a:off x="304800" y="171450"/>
            <a:ext cx="8229600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med">
    <p:wipe dir="r"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&#35270;&#39057;1.%20&#32654;&#20029;&#30340;&#21270;&#23398;&#32467;&#26500;.flv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&#35270;&#39057;2%20&#22270;5.4%20&#30005;&#23376;&#34893;&#23556;.mp4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&#35270;&#39057;3.&#26680;&#22806;&#30005;&#23376;&#30340;&#36816;&#21160;&#29366;&#24577;.flv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oleObject" Target="../embeddings/oleObject14.bin"/><Relationship Id="rId18" Type="http://schemas.openxmlformats.org/officeDocument/2006/relationships/oleObject" Target="../embeddings/oleObject18.bin"/><Relationship Id="rId3" Type="http://schemas.openxmlformats.org/officeDocument/2006/relationships/image" Target="../media/image32.png"/><Relationship Id="rId21" Type="http://schemas.openxmlformats.org/officeDocument/2006/relationships/image" Target="../media/image35.png"/><Relationship Id="rId7" Type="http://schemas.openxmlformats.org/officeDocument/2006/relationships/oleObject" Target="../embeddings/oleObject9.bin"/><Relationship Id="rId12" Type="http://schemas.openxmlformats.org/officeDocument/2006/relationships/oleObject" Target="../embeddings/oleObject13.bin"/><Relationship Id="rId17" Type="http://schemas.openxmlformats.org/officeDocument/2006/relationships/oleObject" Target="../embeddings/oleObject17.bin"/><Relationship Id="rId2" Type="http://schemas.openxmlformats.org/officeDocument/2006/relationships/oleObject" Target="../embeddings/oleObject5.bin"/><Relationship Id="rId16" Type="http://schemas.openxmlformats.org/officeDocument/2006/relationships/image" Target="../media/image34.png"/><Relationship Id="rId20" Type="http://schemas.openxmlformats.org/officeDocument/2006/relationships/oleObject" Target="../embeddings/oleObject2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.bin"/><Relationship Id="rId11" Type="http://schemas.openxmlformats.org/officeDocument/2006/relationships/oleObject" Target="../embeddings/oleObject12.bin"/><Relationship Id="rId24" Type="http://schemas.openxmlformats.org/officeDocument/2006/relationships/oleObject" Target="../embeddings/oleObject23.bin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6.bin"/><Relationship Id="rId23" Type="http://schemas.openxmlformats.org/officeDocument/2006/relationships/oleObject" Target="../embeddings/oleObject22.bin"/><Relationship Id="rId10" Type="http://schemas.openxmlformats.org/officeDocument/2006/relationships/oleObject" Target="../embeddings/oleObject11.bin"/><Relationship Id="rId19" Type="http://schemas.openxmlformats.org/officeDocument/2006/relationships/oleObject" Target="../embeddings/oleObject19.bin"/><Relationship Id="rId4" Type="http://schemas.openxmlformats.org/officeDocument/2006/relationships/oleObject" Target="../embeddings/oleObject6.bin"/><Relationship Id="rId9" Type="http://schemas.openxmlformats.org/officeDocument/2006/relationships/oleObject" Target="../embeddings/oleObject10.bin"/><Relationship Id="rId14" Type="http://schemas.openxmlformats.org/officeDocument/2006/relationships/oleObject" Target="../embeddings/oleObject15.bin"/><Relationship Id="rId22" Type="http://schemas.openxmlformats.org/officeDocument/2006/relationships/oleObject" Target="../embeddings/oleObject21.bin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oleObject" Target="../embeddings/oleObject25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oleObject" Target="../embeddings/oleObject27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hyperlink" Target="&#35270;&#39057;4.%20&#40077;&#26519;.mp4" TargetMode="Externa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image" Target="../media/image56.png"/><Relationship Id="rId7" Type="http://schemas.openxmlformats.org/officeDocument/2006/relationships/image" Target="../media/image58.png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57.png"/><Relationship Id="rId4" Type="http://schemas.openxmlformats.org/officeDocument/2006/relationships/oleObject" Target="../embeddings/oleObject31.bin"/><Relationship Id="rId9" Type="http://schemas.openxmlformats.org/officeDocument/2006/relationships/image" Target="../media/image59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67.png"/><Relationship Id="rId4" Type="http://schemas.openxmlformats.org/officeDocument/2006/relationships/image" Target="../media/image64.png"/><Relationship Id="rId9" Type="http://schemas.openxmlformats.org/officeDocument/2006/relationships/oleObject" Target="../embeddings/oleObject40.bin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oleObject" Target="../embeddings/oleObject46.bin"/><Relationship Id="rId3" Type="http://schemas.openxmlformats.org/officeDocument/2006/relationships/oleObject" Target="../embeddings/oleObject41.bin"/><Relationship Id="rId7" Type="http://schemas.openxmlformats.org/officeDocument/2006/relationships/oleObject" Target="../embeddings/oleObject43.bin"/><Relationship Id="rId12" Type="http://schemas.openxmlformats.org/officeDocument/2006/relationships/image" Target="../media/image72.png"/><Relationship Id="rId2" Type="http://schemas.openxmlformats.org/officeDocument/2006/relationships/image" Target="../media/image63.jpeg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11" Type="http://schemas.openxmlformats.org/officeDocument/2006/relationships/oleObject" Target="../embeddings/oleObject45.bin"/><Relationship Id="rId5" Type="http://schemas.openxmlformats.org/officeDocument/2006/relationships/oleObject" Target="../embeddings/oleObject42.bin"/><Relationship Id="rId15" Type="http://schemas.openxmlformats.org/officeDocument/2006/relationships/oleObject" Target="../embeddings/oleObject47.bin"/><Relationship Id="rId10" Type="http://schemas.openxmlformats.org/officeDocument/2006/relationships/image" Target="../media/image71.png"/><Relationship Id="rId4" Type="http://schemas.openxmlformats.org/officeDocument/2006/relationships/image" Target="../media/image68.png"/><Relationship Id="rId9" Type="http://schemas.openxmlformats.org/officeDocument/2006/relationships/oleObject" Target="../embeddings/oleObject44.bin"/><Relationship Id="rId14" Type="http://schemas.openxmlformats.org/officeDocument/2006/relationships/image" Target="../media/image7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slide" Target="slide100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78.png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0.bin"/><Relationship Id="rId5" Type="http://schemas.openxmlformats.org/officeDocument/2006/relationships/image" Target="../media/image77.png"/><Relationship Id="rId4" Type="http://schemas.openxmlformats.org/officeDocument/2006/relationships/oleObject" Target="../embeddings/oleObject49.bin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hyperlink" Target="&#35270;&#39057;5&#22270;5.14%20%20sp&#26434;&#21270;&#36712;&#36947;.flv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&#35270;&#39057;6%20&#22270;5.15%20&#20004;&#20010;SP&#26434;&#21270;&#36712;&#36947;.flv" TargetMode="External"/><Relationship Id="rId4" Type="http://schemas.openxmlformats.org/officeDocument/2006/relationships/image" Target="../media/image85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hyperlink" Target="&#35270;&#39057;7%20sp2&#26434;&#21270;&#36712;&#36947;.flv" TargetMode="Externa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hyperlink" Target="&#35270;&#39057;8%20sp3&#26434;&#21270;&#36712;&#36947;.flv" TargetMode="Externa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hyperlink" Target="&#35270;&#39057;9.%20&#20998;&#23376;&#38388;&#30340;&#20316;&#29992;&#21147;.flv" TargetMode="Externa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6.png"/><Relationship Id="rId4" Type="http://schemas.openxmlformats.org/officeDocument/2006/relationships/oleObject" Target="../embeddings/oleObject57.bin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8.png"/><Relationship Id="rId4" Type="http://schemas.openxmlformats.org/officeDocument/2006/relationships/oleObject" Target="../embeddings/oleObject59.bin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oleObject" Target="../embeddings/oleObject60.bin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1.png"/><Relationship Id="rId4" Type="http://schemas.openxmlformats.org/officeDocument/2006/relationships/oleObject" Target="../embeddings/oleObject62.bin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" Target="slide112.xml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oleObject" Target="../embeddings/oleObject64.bin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oleObject" Target="../embeddings/oleObject66.bin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9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oleObject" Target="../embeddings/oleObject68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1.png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hyperlink" Target="&#35270;&#39057;10.%20&#22270;5.31%20NaCl&#30340;&#26230;&#20307;&#32467;&#26500;.flv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&#35270;&#39057;11.&#22270;5.31%20NaCl&#32467;&#26230;.flv" TargetMode="External"/><Relationship Id="rId4" Type="http://schemas.openxmlformats.org/officeDocument/2006/relationships/image" Target="../media/image112.png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hyperlink" Target="&#35270;&#39057;12.&#22270;5.32%20&#37329;&#21018;&#30707;&#26230;&#20307;&#32467;&#26500;.flv" TargetMode="External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hyperlink" Target="&#35270;&#39057;13.%20&#22270;5.35%20&#30707;&#22696;&#30340;&#23618;&#29366;&#32467;&#26500;.flv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5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4" name="WordArt 4"/>
          <p:cNvSpPr>
            <a:spLocks noChangeArrowheads="1" noChangeShapeType="1" noTextEdit="1"/>
          </p:cNvSpPr>
          <p:nvPr/>
        </p:nvSpPr>
        <p:spPr bwMode="auto">
          <a:xfrm>
            <a:off x="1979629" y="1762125"/>
            <a:ext cx="5329237" cy="1350169"/>
          </a:xfrm>
          <a:prstGeom prst="rect">
            <a:avLst/>
          </a:prstGeom>
        </p:spPr>
        <p:txBody>
          <a:bodyPr wrap="none" numCol="1" fromWordArt="1">
            <a:prstTxWarp prst="textWave1">
              <a:avLst>
                <a:gd name="adj1" fmla="val 13005"/>
                <a:gd name="adj2" fmla="val 0"/>
              </a:avLst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0" cap="none" spc="0" normalizeH="0" baseline="0" noProof="0" dirty="0">
                <a:ln w="19050">
                  <a:solidFill>
                    <a:srgbClr val="3366FF"/>
                  </a:solidFill>
                  <a:round/>
                </a:ln>
                <a:solidFill>
                  <a:srgbClr val="80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第</a:t>
            </a:r>
            <a:r>
              <a:rPr kumimoji="0" lang="en-US" altLang="zh-CN" sz="3600" b="1" i="0" u="none" strike="noStrike" kern="10" cap="none" spc="0" normalizeH="0" baseline="0" noProof="0" dirty="0">
                <a:ln w="19050">
                  <a:solidFill>
                    <a:srgbClr val="3366FF"/>
                  </a:solidFill>
                  <a:round/>
                </a:ln>
                <a:solidFill>
                  <a:srgbClr val="80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5</a:t>
            </a:r>
            <a:r>
              <a:rPr kumimoji="0" lang="zh-CN" altLang="en-US" sz="3600" b="1" i="0" u="none" strike="noStrike" kern="10" cap="none" spc="0" normalizeH="0" baseline="0" noProof="0" dirty="0">
                <a:ln w="19050">
                  <a:solidFill>
                    <a:srgbClr val="3366FF"/>
                  </a:solidFill>
                  <a:round/>
                </a:ln>
                <a:solidFill>
                  <a:srgbClr val="80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章  物质</a:t>
            </a:r>
            <a:r>
              <a:rPr kumimoji="0" lang="zh-CN" altLang="en-US" sz="3600" b="1" i="0" u="none" strike="noStrike" kern="10" cap="none" spc="0" normalizeH="0" baseline="0" noProof="0" dirty="0">
                <a:ln w="19050">
                  <a:solidFill>
                    <a:srgbClr val="3366FF"/>
                  </a:solidFill>
                  <a:round/>
                </a:ln>
                <a:solidFill>
                  <a:srgbClr val="80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hlinkClick r:id="rId3" action="ppaction://hlinkfile"/>
              </a:rPr>
              <a:t>结构</a:t>
            </a:r>
            <a:r>
              <a:rPr kumimoji="0" lang="zh-CN" altLang="en-US" sz="3600" b="1" i="0" u="none" strike="noStrike" kern="10" cap="none" spc="0" normalizeH="0" baseline="0" noProof="0" dirty="0">
                <a:ln w="19050">
                  <a:solidFill>
                    <a:srgbClr val="3366FF"/>
                  </a:solidFill>
                  <a:round/>
                </a:ln>
                <a:solidFill>
                  <a:srgbClr val="80000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基础  </a:t>
            </a:r>
          </a:p>
        </p:txBody>
      </p:sp>
      <p:pic>
        <p:nvPicPr>
          <p:cNvPr id="17411" name="Picture 4" descr="http://a0.att.hudong.com/83/14/013000007679431349501420995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71875"/>
            <a:ext cx="2095500" cy="15716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check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4294967295"/>
          </p:nvPr>
        </p:nvGraphicFramePr>
        <p:xfrm>
          <a:off x="0" y="0"/>
          <a:ext cx="833440" cy="11519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7977"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91475" marR="91475" marT="34260" marB="3426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91475" marR="91475" marT="34260" marB="3426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91475" marR="91475" marT="34260" marB="3426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91475" marR="91475" marT="34260" marB="342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977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91475" marR="91475" marT="34260" marB="3426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91475" marR="91475" marT="34260" marB="3426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91475" marR="91475" marT="34260" marB="3426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91475" marR="91475" marT="34260" marB="342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977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91475" marR="91475" marT="34260" marB="3426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91475" marR="91475" marT="34260" marB="3426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91475" marR="91475" marT="34260" marB="3426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91475" marR="91475" marT="34260" marB="342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977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91475" marR="91475" marT="34260" marB="3426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91475" marR="91475" marT="34260" marB="3426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91475" marR="91475" marT="34260" marB="3426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91475" marR="91475" marT="34260" marB="342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846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563" y="161925"/>
            <a:ext cx="4779962" cy="65722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9" name="Group 6"/>
          <p:cNvGraphicFramePr>
            <a:graphicFrameLocks noGrp="1"/>
          </p:cNvGraphicFramePr>
          <p:nvPr/>
        </p:nvGraphicFramePr>
        <p:xfrm>
          <a:off x="107950" y="896938"/>
          <a:ext cx="8856663" cy="3777616"/>
        </p:xfrm>
        <a:graphic>
          <a:graphicData uri="http://schemas.openxmlformats.org/drawingml/2006/table">
            <a:tbl>
              <a:tblPr/>
              <a:tblGrid>
                <a:gridCol w="139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07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11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知识要点</a:t>
                      </a:r>
                    </a:p>
                  </a:txBody>
                  <a:tcPr marL="91441" marR="91441" marT="34301" marB="34301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掌握程度</a:t>
                      </a:r>
                    </a:p>
                  </a:txBody>
                  <a:tcPr marL="91441" marR="91441" marT="34301" marB="343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相关知识</a:t>
                      </a:r>
                    </a:p>
                  </a:txBody>
                  <a:tcPr marL="91441" marR="91441" marT="34301" marB="3430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691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原子结构</a:t>
                      </a:r>
                    </a:p>
                  </a:txBody>
                  <a:tcPr marL="68581" marR="68581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0" lang="zh-CN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了解原子结构的近代概念；</a:t>
                      </a:r>
                      <a:r>
                        <a:rPr kumimoji="0" lang="zh-CN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掌握四个量子数及其意义；熟悉原子核外电子排布；掌握元素周期律与核外电子排布的关系，原子性质的周期性。</a:t>
                      </a:r>
                    </a:p>
                  </a:txBody>
                  <a:tcPr marL="68581" marR="6858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0" lang="zh-CN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电子的运动特征、核外电子的运动状态、原子核外电子的排布、原子电子层结构与元素周期表、元素的周期性</a:t>
                      </a: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。</a:t>
                      </a:r>
                      <a:endParaRPr kumimoji="0" lang="zh-CN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1" marR="6858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213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分子结构</a:t>
                      </a:r>
                    </a:p>
                  </a:txBody>
                  <a:tcPr marL="68581" marR="68581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0" lang="zh-CN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了解离子键、金属键、共价键的形成；熟悉键参数、共价键类型；掌握现代价键理论、杂化轨道理论；了解分子的极性和变形性、分子间力和氢键。</a:t>
                      </a:r>
                    </a:p>
                  </a:txBody>
                  <a:tcPr marL="68581" marR="6858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</a:t>
                      </a:r>
                      <a:r>
                        <a:rPr kumimoji="0" lang="zh-CN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离子键、共价键、金属键；现代价键理论、杂化轨道理论；分子的极性和变形性、分子间作用力</a:t>
                      </a: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。</a:t>
                      </a:r>
                      <a:endParaRPr kumimoji="0" lang="zh-CN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1" marR="6858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44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ts val="18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晶体结构</a:t>
                      </a:r>
                    </a:p>
                  </a:txBody>
                  <a:tcPr marL="68581" marR="68581" marT="0" marB="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0" lang="zh-CN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了解晶体的基本类型和性质</a:t>
                      </a: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。</a:t>
                      </a:r>
                      <a:r>
                        <a:rPr kumimoji="0" lang="zh-CN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</a:txBody>
                  <a:tcPr marL="68581" marR="6858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</a:t>
                      </a:r>
                      <a:r>
                        <a:rPr kumimoji="0" lang="zh-CN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离子晶体、原子晶体、分子晶体、金属晶体、过渡型晶体</a:t>
                      </a: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。</a:t>
                      </a:r>
                      <a:endParaRPr kumimoji="0" lang="zh-CN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1" marR="68581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grpSp>
        <p:nvGrpSpPr>
          <p:cNvPr id="19459" name="Group 2"/>
          <p:cNvGrpSpPr/>
          <p:nvPr/>
        </p:nvGrpSpPr>
        <p:grpSpPr>
          <a:xfrm>
            <a:off x="1571625" y="482600"/>
            <a:ext cx="5113338" cy="639763"/>
            <a:chOff x="1338" y="300"/>
            <a:chExt cx="2858" cy="538"/>
          </a:xfrm>
        </p:grpSpPr>
        <p:sp>
          <p:nvSpPr>
            <p:cNvPr id="19465" name="AutoShape 3"/>
            <p:cNvSpPr/>
            <p:nvPr/>
          </p:nvSpPr>
          <p:spPr>
            <a:xfrm>
              <a:off x="1338" y="300"/>
              <a:ext cx="2858" cy="499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rgbClr val="000000"/>
                </a:gs>
                <a:gs pos="50000">
                  <a:srgbClr val="6600CC"/>
                </a:gs>
                <a:gs pos="100000">
                  <a:srgbClr val="000000"/>
                </a:gs>
              </a:gsLst>
              <a:lin ang="5400000" scaled="1"/>
              <a:tileRect/>
            </a:gradFill>
            <a:ln w="22225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  <a:ea typeface="幼圆" panose="02010509060101010101" pitchFamily="49" charset="-122"/>
              </a:endParaRPr>
            </a:p>
          </p:txBody>
        </p:sp>
        <p:sp>
          <p:nvSpPr>
            <p:cNvPr id="19466" name="Rectangle 4"/>
            <p:cNvSpPr/>
            <p:nvPr/>
          </p:nvSpPr>
          <p:spPr>
            <a:xfrm>
              <a:off x="2018" y="346"/>
              <a:ext cx="1577" cy="49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3200" dirty="0">
                  <a:solidFill>
                    <a:schemeClr val="bg1"/>
                  </a:solidFill>
                  <a:latin typeface="Arial" panose="020B0604020202020204" pitchFamily="34" charset="0"/>
                  <a:ea typeface="楷体_GB2312" panose="02010609030101010101" pitchFamily="49" charset="-122"/>
                </a:rPr>
                <a:t>本章主要内容</a:t>
              </a:r>
            </a:p>
          </p:txBody>
        </p:sp>
      </p:grpSp>
      <p:sp>
        <p:nvSpPr>
          <p:cNvPr id="19460" name="Rectangle 5"/>
          <p:cNvSpPr/>
          <p:nvPr/>
        </p:nvSpPr>
        <p:spPr>
          <a:xfrm>
            <a:off x="827088" y="2405063"/>
            <a:ext cx="3671887" cy="447675"/>
          </a:xfrm>
          <a:prstGeom prst="rect">
            <a:avLst/>
          </a:prstGeom>
          <a:noFill/>
          <a:ln w="9525">
            <a:noFill/>
          </a:ln>
        </p:spPr>
        <p:txBody>
          <a:bodyPr tIns="76176" bIns="0" anchor="ctr" anchorCtr="0">
            <a:spAutoFit/>
          </a:bodyPr>
          <a:lstStyle/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461" name="Rectangle 6"/>
          <p:cNvSpPr/>
          <p:nvPr/>
        </p:nvSpPr>
        <p:spPr>
          <a:xfrm>
            <a:off x="827088" y="3484563"/>
            <a:ext cx="3457575" cy="447675"/>
          </a:xfrm>
          <a:prstGeom prst="rect">
            <a:avLst/>
          </a:prstGeom>
          <a:noFill/>
          <a:ln w="9525">
            <a:noFill/>
          </a:ln>
        </p:spPr>
        <p:txBody>
          <a:bodyPr tIns="76176" bIns="0" anchor="ctr" anchorCtr="0">
            <a:spAutoFit/>
          </a:bodyPr>
          <a:lstStyle/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AutoShape 7"/>
          <p:cNvSpPr/>
          <p:nvPr/>
        </p:nvSpPr>
        <p:spPr>
          <a:xfrm>
            <a:off x="1071563" y="2551113"/>
            <a:ext cx="6121400" cy="485775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§5</a:t>
            </a:r>
            <a:r>
              <a:rPr lang="en-US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.2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分子结构</a:t>
            </a:r>
            <a:endParaRPr lang="zh-CN" altLang="en-US" b="1" dirty="0"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3" name="AutoShape 8"/>
          <p:cNvSpPr/>
          <p:nvPr/>
        </p:nvSpPr>
        <p:spPr>
          <a:xfrm>
            <a:off x="1042988" y="1682750"/>
            <a:ext cx="6121400" cy="431800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§5</a:t>
            </a:r>
            <a:r>
              <a:rPr lang="en-US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.1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原子结构</a:t>
            </a:r>
            <a:endParaRPr lang="zh-CN" altLang="en-US" b="1" dirty="0"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6" name="AutoShape 11"/>
          <p:cNvSpPr/>
          <p:nvPr/>
        </p:nvSpPr>
        <p:spPr>
          <a:xfrm>
            <a:off x="1042988" y="3543300"/>
            <a:ext cx="6121400" cy="433388"/>
          </a:xfrm>
          <a:prstGeom prst="roundRect">
            <a:avLst>
              <a:gd name="adj" fmla="val 16667"/>
            </a:avLst>
          </a:prstGeom>
          <a:solidFill>
            <a:srgbClr val="FFFF99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r>
              <a:rPr lang="en-US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§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5.3   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晶体结构</a:t>
            </a:r>
            <a:endParaRPr lang="zh-CN" altLang="en-US" b="1" dirty="0"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街道上立着牌子&#10;&#10;AI 生成的内容可能不正确。">
            <a:extLst>
              <a:ext uri="{FF2B5EF4-FFF2-40B4-BE49-F238E27FC236}">
                <a16:creationId xmlns:a16="http://schemas.microsoft.com/office/drawing/2014/main" id="{FA438044-9738-EC05-5586-012C8F8EA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1609" y="349771"/>
            <a:ext cx="5918051" cy="4443958"/>
          </a:xfrm>
          <a:prstGeom prst="rect">
            <a:avLst/>
          </a:prstGeom>
        </p:spPr>
      </p:pic>
      <p:pic>
        <p:nvPicPr>
          <p:cNvPr id="7" name="图片 6" descr="花园里有石头&#10;&#10;AI 生成的内容可能不正确。">
            <a:extLst>
              <a:ext uri="{FF2B5EF4-FFF2-40B4-BE49-F238E27FC236}">
                <a16:creationId xmlns:a16="http://schemas.microsoft.com/office/drawing/2014/main" id="{5360B215-DE62-B1EF-8FCD-30A1144CAC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0"/>
            <a:ext cx="290200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984890"/>
      </p:ext>
    </p:extLst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6" name="Text Box 8"/>
          <p:cNvSpPr txBox="1">
            <a:spLocks noChangeArrowheads="1"/>
          </p:cNvSpPr>
          <p:nvPr/>
        </p:nvSpPr>
        <p:spPr bwMode="auto">
          <a:xfrm>
            <a:off x="2916238" y="141288"/>
            <a:ext cx="3024188" cy="64611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3600" b="1" kern="1200" cap="none" spc="0" normalizeH="0" baseline="0" noProof="0" dirty="0">
                <a:solidFill>
                  <a:schemeClr val="bg1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5.1 </a:t>
            </a:r>
            <a:r>
              <a:rPr kumimoji="0" lang="zh-CN" altLang="en-US" sz="3600" b="1" kern="1200" cap="none" spc="0" normalizeH="0" baseline="0" noProof="0" dirty="0">
                <a:solidFill>
                  <a:schemeClr val="bg1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原子结构</a:t>
            </a:r>
          </a:p>
        </p:txBody>
      </p:sp>
      <p:sp>
        <p:nvSpPr>
          <p:cNvPr id="27657" name="Text Box 9"/>
          <p:cNvSpPr txBox="1">
            <a:spLocks noChangeArrowheads="1"/>
          </p:cNvSpPr>
          <p:nvPr/>
        </p:nvSpPr>
        <p:spPr bwMode="auto">
          <a:xfrm>
            <a:off x="179388" y="760413"/>
            <a:ext cx="4749800" cy="523875"/>
          </a:xfrm>
          <a:prstGeom prst="rect">
            <a:avLst/>
          </a:prstGeom>
          <a:solidFill>
            <a:srgbClr val="00B050"/>
          </a:solidFill>
          <a:ln>
            <a:noFill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marR="0" algn="just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5.1.1 </a:t>
            </a:r>
            <a:r>
              <a:rPr kumimoji="0" lang="zh-CN" altLang="en-US" kern="1200" cap="none" spc="0" normalizeH="0" baseline="0" noProof="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电子的运动特征</a:t>
            </a:r>
            <a:endParaRPr kumimoji="0" lang="zh-CN" altLang="en-US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8" name="Text Box 10"/>
          <p:cNvSpPr txBox="1">
            <a:spLocks noChangeArrowheads="1"/>
          </p:cNvSpPr>
          <p:nvPr/>
        </p:nvSpPr>
        <p:spPr bwMode="auto">
          <a:xfrm>
            <a:off x="250825" y="1330325"/>
            <a:ext cx="2735263" cy="584200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>
            <a:spAutoFit/>
          </a:bodyPr>
          <a:lstStyle/>
          <a:p>
            <a:pPr marR="0" defTabSz="914400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kumimoji="0" lang="en-US" altLang="zh-CN" sz="3200" kern="1200" cap="none" spc="0" normalizeH="0" baseline="0" noProof="0" dirty="0">
                <a:solidFill>
                  <a:srgbClr val="9900CC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1. </a:t>
            </a:r>
            <a:r>
              <a:rPr kumimoji="0" lang="zh-CN" altLang="en-US" sz="3200" kern="1200" cap="none" spc="0" normalizeH="0" baseline="0" noProof="0" dirty="0">
                <a:solidFill>
                  <a:srgbClr val="9900CC"/>
                </a:solidFill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能量量子化 </a:t>
            </a:r>
          </a:p>
        </p:txBody>
      </p:sp>
      <p:sp>
        <p:nvSpPr>
          <p:cNvPr id="27662" name="Rectangle 14"/>
          <p:cNvSpPr>
            <a:spLocks noChangeArrowheads="1"/>
          </p:cNvSpPr>
          <p:nvPr/>
        </p:nvSpPr>
        <p:spPr bwMode="auto">
          <a:xfrm>
            <a:off x="4351338" y="2397125"/>
            <a:ext cx="441325" cy="246063"/>
          </a:xfrm>
          <a:prstGeom prst="rect">
            <a:avLst/>
          </a:prstGeom>
          <a:noFill/>
          <a:ln>
            <a:noFill/>
          </a:ln>
          <a:effectLst>
            <a:prstShdw prst="shdw18" dist="17961" dir="135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6" name="Rectangle 24"/>
          <p:cNvSpPr/>
          <p:nvPr/>
        </p:nvSpPr>
        <p:spPr>
          <a:xfrm>
            <a:off x="0" y="2166938"/>
            <a:ext cx="184150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27665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0" y="681038"/>
            <a:ext cx="4140200" cy="17287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66" name="Rectangle 18"/>
          <p:cNvSpPr/>
          <p:nvPr/>
        </p:nvSpPr>
        <p:spPr>
          <a:xfrm>
            <a:off x="5940425" y="2411413"/>
            <a:ext cx="2300288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</a:rPr>
              <a:t>氢原子光谱示意图 </a:t>
            </a:r>
          </a:p>
        </p:txBody>
      </p:sp>
      <p:sp>
        <p:nvSpPr>
          <p:cNvPr id="27667" name="Rectangle 19"/>
          <p:cNvSpPr/>
          <p:nvPr/>
        </p:nvSpPr>
        <p:spPr>
          <a:xfrm>
            <a:off x="250825" y="1944688"/>
            <a:ext cx="4762500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玻尔原子结构模型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点假设： </a:t>
            </a:r>
          </a:p>
        </p:txBody>
      </p:sp>
      <p:sp>
        <p:nvSpPr>
          <p:cNvPr id="27668" name="Rectangle 20"/>
          <p:cNvSpPr/>
          <p:nvPr/>
        </p:nvSpPr>
        <p:spPr>
          <a:xfrm>
            <a:off x="1871663" y="2773363"/>
            <a:ext cx="7308850" cy="8302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电子沿着特定的轨道绕原子核做圆周运动 。电子在这些轨道上运动不吸收或放出能量。</a:t>
            </a:r>
            <a:endParaRPr lang="en-US" altLang="zh-CN" sz="24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7670" name="Rectangle 22"/>
          <p:cNvSpPr/>
          <p:nvPr/>
        </p:nvSpPr>
        <p:spPr>
          <a:xfrm>
            <a:off x="250825" y="4233863"/>
            <a:ext cx="1711325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跃迁假设 </a:t>
            </a:r>
          </a:p>
        </p:txBody>
      </p:sp>
      <p:grpSp>
        <p:nvGrpSpPr>
          <p:cNvPr id="2" name="Group 73"/>
          <p:cNvGrpSpPr/>
          <p:nvPr/>
        </p:nvGrpSpPr>
        <p:grpSpPr>
          <a:xfrm>
            <a:off x="1692275" y="3487738"/>
            <a:ext cx="7451725" cy="852487"/>
            <a:chOff x="1066" y="2880"/>
            <a:chExt cx="4694" cy="716"/>
          </a:xfrm>
        </p:grpSpPr>
        <p:sp>
          <p:nvSpPr>
            <p:cNvPr id="20530" name="Rectangle 21"/>
            <p:cNvSpPr/>
            <p:nvPr/>
          </p:nvSpPr>
          <p:spPr>
            <a:xfrm>
              <a:off x="1066" y="2880"/>
              <a:ext cx="4694" cy="69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r>
                <a:rPr lang="zh-CN" altLang="en-US" sz="24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电子运动时所处的能量状态称为能级。能级是量子化的（不连续的）。 </a:t>
              </a:r>
            </a:p>
          </p:txBody>
        </p:sp>
        <p:graphicFrame>
          <p:nvGraphicFramePr>
            <p:cNvPr id="20531" name="Object 23"/>
            <p:cNvGraphicFramePr>
              <a:graphicFrameLocks noChangeAspect="1"/>
            </p:cNvGraphicFramePr>
            <p:nvPr/>
          </p:nvGraphicFramePr>
          <p:xfrm>
            <a:off x="2607" y="3148"/>
            <a:ext cx="1860" cy="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454785" imgH="382905" progId="Equation.3">
                    <p:embed/>
                  </p:oleObj>
                </mc:Choice>
                <mc:Fallback>
                  <p:oleObj r:id="rId3" imgW="1454785" imgH="382905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607" y="3148"/>
                          <a:ext cx="1860" cy="4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4"/>
          <p:cNvGrpSpPr/>
          <p:nvPr/>
        </p:nvGrpSpPr>
        <p:grpSpPr>
          <a:xfrm>
            <a:off x="1835150" y="4211638"/>
            <a:ext cx="7129463" cy="830262"/>
            <a:chOff x="1156" y="3220"/>
            <a:chExt cx="4491" cy="698"/>
          </a:xfrm>
        </p:grpSpPr>
        <p:graphicFrame>
          <p:nvGraphicFramePr>
            <p:cNvPr id="20528" name="Object 25"/>
            <p:cNvGraphicFramePr>
              <a:graphicFrameLocks noChangeAspect="1"/>
            </p:cNvGraphicFramePr>
            <p:nvPr/>
          </p:nvGraphicFramePr>
          <p:xfrm>
            <a:off x="3016" y="3521"/>
            <a:ext cx="1633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009650" imgH="204470" progId="Equation.3">
                    <p:embed/>
                  </p:oleObj>
                </mc:Choice>
                <mc:Fallback>
                  <p:oleObj r:id="rId5" imgW="1009650" imgH="20447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016" y="3521"/>
                          <a:ext cx="1633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29" name="Rectangle 27"/>
            <p:cNvSpPr/>
            <p:nvPr/>
          </p:nvSpPr>
          <p:spPr>
            <a:xfrm>
              <a:off x="1156" y="3220"/>
              <a:ext cx="4491" cy="69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r>
                <a:rPr lang="zh-CN" altLang="en-US" sz="24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电子从某一轨道跳跃到另一轨道的过程称为电子的跃迁。 </a:t>
              </a:r>
            </a:p>
          </p:txBody>
        </p:sp>
      </p:grpSp>
      <p:grpSp>
        <p:nvGrpSpPr>
          <p:cNvPr id="4" name="Group 30"/>
          <p:cNvGrpSpPr/>
          <p:nvPr/>
        </p:nvGrpSpPr>
        <p:grpSpPr>
          <a:xfrm>
            <a:off x="941388" y="549275"/>
            <a:ext cx="2982912" cy="1970088"/>
            <a:chOff x="158" y="1429"/>
            <a:chExt cx="2807" cy="2495"/>
          </a:xfrm>
        </p:grpSpPr>
        <p:graphicFrame>
          <p:nvGraphicFramePr>
            <p:cNvPr id="20526" name="Object 31"/>
            <p:cNvGraphicFramePr>
              <a:graphicFrameLocks noChangeAspect="1"/>
            </p:cNvGraphicFramePr>
            <p:nvPr/>
          </p:nvGraphicFramePr>
          <p:xfrm>
            <a:off x="243" y="1429"/>
            <a:ext cx="2722" cy="24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2895600" imgH="2886075" progId="Paint.Picture">
                    <p:embed/>
                  </p:oleObj>
                </mc:Choice>
                <mc:Fallback>
                  <p:oleObj r:id="rId7" imgW="2895600" imgH="2886075" progId="Paint.Picture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43" y="1429"/>
                          <a:ext cx="2722" cy="249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27" name="Text Box 32"/>
            <p:cNvSpPr txBox="1"/>
            <p:nvPr/>
          </p:nvSpPr>
          <p:spPr>
            <a:xfrm>
              <a:off x="158" y="2813"/>
              <a:ext cx="227" cy="60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sz="36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n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27718" name="Group 70"/>
          <p:cNvGraphicFramePr>
            <a:graphicFrameLocks noGrp="1"/>
          </p:cNvGraphicFramePr>
          <p:nvPr/>
        </p:nvGraphicFramePr>
        <p:xfrm>
          <a:off x="4887913" y="590550"/>
          <a:ext cx="4211637" cy="2243953"/>
        </p:xfrm>
        <a:graphic>
          <a:graphicData uri="http://schemas.openxmlformats.org/drawingml/2006/table">
            <a:tbl>
              <a:tblPr/>
              <a:tblGrid>
                <a:gridCol w="1004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n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E</a:t>
                      </a:r>
                      <a:r>
                        <a:rPr kumimoji="0" lang="en-US" altLang="zh-CN" sz="2100" b="1" i="1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n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/J</a:t>
                      </a:r>
                      <a:endParaRPr kumimoji="0" lang="en-US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1</a:t>
                      </a:r>
                      <a:endParaRPr kumimoji="0" lang="en-US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-2.179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10</a:t>
                      </a:r>
                      <a:r>
                        <a:rPr kumimoji="0" lang="en-US" altLang="zh-CN" sz="21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-18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 </a:t>
                      </a:r>
                      <a:endParaRPr kumimoji="0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ˎ̥"/>
                        <a:cs typeface="ˎ̥"/>
                        <a:sym typeface="Symbol" panose="05050102010706020507" pitchFamily="18" charset="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2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-5.45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10</a:t>
                      </a:r>
                      <a:r>
                        <a:rPr kumimoji="0" lang="en-US" altLang="zh-CN" sz="21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-19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 </a:t>
                      </a:r>
                      <a:endParaRPr kumimoji="0" lang="en-US" altLang="zh-CN" sz="2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ˎ̥"/>
                        <a:cs typeface="ˎ̥"/>
                        <a:sym typeface="Symbol" panose="05050102010706020507" pitchFamily="18" charset="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3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-2.42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10</a:t>
                      </a:r>
                      <a:r>
                        <a:rPr kumimoji="0" lang="en-US" altLang="zh-CN" sz="21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-19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 </a:t>
                      </a:r>
                      <a:endParaRPr kumimoji="0" lang="en-US" altLang="zh-CN" sz="2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ˎ̥"/>
                        <a:cs typeface="ˎ̥"/>
                        <a:sym typeface="Symbol" panose="05050102010706020507" pitchFamily="18" charset="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-1.36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10</a:t>
                      </a:r>
                      <a:r>
                        <a:rPr kumimoji="0" lang="en-US" altLang="zh-CN" sz="21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-19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 </a:t>
                      </a:r>
                      <a:endParaRPr kumimoji="0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ˎ̥"/>
                        <a:cs typeface="ˎ̥"/>
                        <a:sym typeface="Symbol" panose="05050102010706020507" pitchFamily="18" charset="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5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 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-8.72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10</a:t>
                      </a:r>
                      <a:r>
                        <a:rPr kumimoji="0" lang="en-US" altLang="zh-CN" sz="21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-20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 </a:t>
                      </a:r>
                      <a:endParaRPr kumimoji="0" lang="en-US" altLang="zh-CN" sz="2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ˎ̥"/>
                        <a:cs typeface="ˎ̥"/>
                        <a:sym typeface="Symbol" panose="05050102010706020507" pitchFamily="18" charset="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6</a:t>
                      </a:r>
                      <a:endParaRPr kumimoji="0" lang="en-US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-6.05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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10</a:t>
                      </a:r>
                      <a:r>
                        <a:rPr kumimoji="0" lang="en-US" altLang="zh-CN" sz="21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-20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 </a:t>
                      </a:r>
                      <a:endParaRPr kumimoji="0" lang="en-US" altLang="zh-CN" sz="2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ˎ̥"/>
                        <a:cs typeface="ˎ̥"/>
                        <a:sym typeface="Symbol" panose="05050102010706020507" pitchFamily="18" charset="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719" name="Rectangle 71"/>
          <p:cNvSpPr/>
          <p:nvPr/>
        </p:nvSpPr>
        <p:spPr>
          <a:xfrm>
            <a:off x="179388" y="3543300"/>
            <a:ext cx="1620837" cy="523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能级假设</a:t>
            </a:r>
          </a:p>
        </p:txBody>
      </p:sp>
      <p:sp>
        <p:nvSpPr>
          <p:cNvPr id="27720" name="Rectangle 72"/>
          <p:cNvSpPr/>
          <p:nvPr/>
        </p:nvSpPr>
        <p:spPr>
          <a:xfrm>
            <a:off x="179388" y="2787650"/>
            <a:ext cx="1620837" cy="5222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定态假设</a:t>
            </a:r>
          </a:p>
        </p:txBody>
      </p:sp>
      <p:sp>
        <p:nvSpPr>
          <p:cNvPr id="25" name="Rectangle 2"/>
          <p:cNvSpPr>
            <a:spLocks noChangeArrowheads="1"/>
          </p:cNvSpPr>
          <p:nvPr/>
        </p:nvSpPr>
        <p:spPr bwMode="auto">
          <a:xfrm>
            <a:off x="0" y="41586"/>
            <a:ext cx="9144000" cy="540544"/>
          </a:xfrm>
          <a:prstGeom prst="rect">
            <a:avLst/>
          </a:prstGeom>
          <a:gradFill rotWithShape="1">
            <a:gsLst>
              <a:gs pos="0">
                <a:srgbClr val="0000FF">
                  <a:gamma/>
                  <a:shade val="46275"/>
                  <a:invGamma/>
                </a:srgbClr>
              </a:gs>
              <a:gs pos="50000">
                <a:srgbClr val="0000FF">
                  <a:alpha val="98999"/>
                </a:srgbClr>
              </a:gs>
              <a:gs pos="100000">
                <a:srgbClr val="0000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§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5.1 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原子结构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7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7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7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77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7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7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7" grpId="0" animBg="1"/>
      <p:bldP spid="27658" grpId="0"/>
      <p:bldP spid="27666" grpId="0"/>
      <p:bldP spid="27667" grpId="0"/>
      <p:bldP spid="27668" grpId="0"/>
      <p:bldP spid="27670" grpId="0"/>
      <p:bldP spid="27719" grpId="0"/>
      <p:bldP spid="277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3" name="Rectangle 11"/>
          <p:cNvSpPr/>
          <p:nvPr/>
        </p:nvSpPr>
        <p:spPr>
          <a:xfrm>
            <a:off x="214313" y="568325"/>
            <a:ext cx="2749550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3200" dirty="0">
                <a:solidFill>
                  <a:srgbClr val="9900CC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3200" dirty="0">
                <a:solidFill>
                  <a:srgbClr val="9900CC"/>
                </a:solidFill>
                <a:latin typeface="Times New Roman" panose="02020603050405020304" pitchFamily="18" charset="0"/>
              </a:rPr>
              <a:t>波粒二象性 </a:t>
            </a:r>
          </a:p>
        </p:txBody>
      </p:sp>
      <p:sp>
        <p:nvSpPr>
          <p:cNvPr id="28684" name="Rectangle 12"/>
          <p:cNvSpPr/>
          <p:nvPr/>
        </p:nvSpPr>
        <p:spPr>
          <a:xfrm>
            <a:off x="395288" y="1239838"/>
            <a:ext cx="4248150" cy="4619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波动性和粒子性 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(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质量）</a:t>
            </a:r>
          </a:p>
        </p:txBody>
      </p:sp>
      <p:pic>
        <p:nvPicPr>
          <p:cNvPr id="28685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363" y="681038"/>
            <a:ext cx="3459162" cy="1187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86" name="Rectangle 14"/>
          <p:cNvSpPr/>
          <p:nvPr/>
        </p:nvSpPr>
        <p:spPr>
          <a:xfrm>
            <a:off x="4945063" y="1873250"/>
            <a:ext cx="3840162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hlinkClick r:id="rId3" action="ppaction://hlinkfile"/>
              </a:rPr>
              <a:t>电子衍射示意图和电子衍射图谱 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28688" name="Rectangle 16"/>
          <p:cNvSpPr/>
          <p:nvPr/>
        </p:nvSpPr>
        <p:spPr>
          <a:xfrm>
            <a:off x="107950" y="1631950"/>
            <a:ext cx="2032000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solidFill>
                  <a:srgbClr val="9900CC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sz="3200" dirty="0">
                <a:solidFill>
                  <a:srgbClr val="9900CC"/>
                </a:solidFill>
                <a:latin typeface="Times New Roman" panose="02020603050405020304" pitchFamily="18" charset="0"/>
              </a:rPr>
              <a:t>统计性 </a:t>
            </a:r>
          </a:p>
        </p:txBody>
      </p:sp>
      <p:sp>
        <p:nvSpPr>
          <p:cNvPr id="28689" name="Rectangle 17"/>
          <p:cNvSpPr/>
          <p:nvPr/>
        </p:nvSpPr>
        <p:spPr>
          <a:xfrm>
            <a:off x="34925" y="2076450"/>
            <a:ext cx="9109075" cy="12604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    电子的波动性是电子无数次行为的统计结果。衍射斑点密集，电子波强度大的地方，单位微体积内电子出现的概率密度大；反之，概率密度小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。  </a:t>
            </a:r>
          </a:p>
        </p:txBody>
      </p:sp>
      <p:pic>
        <p:nvPicPr>
          <p:cNvPr id="28690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638" y="3273425"/>
            <a:ext cx="1871662" cy="12430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91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7900" y="3216275"/>
            <a:ext cx="1871663" cy="13001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692" name="Rectangle 20"/>
          <p:cNvSpPr/>
          <p:nvPr/>
        </p:nvSpPr>
        <p:spPr>
          <a:xfrm>
            <a:off x="1844675" y="4440238"/>
            <a:ext cx="5032375" cy="7064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algn="ctr" eaLnBrk="1" hangingPunct="1"/>
            <a:r>
              <a:rPr lang="en-US" altLang="zh-CN" sz="2000" dirty="0">
                <a:latin typeface="Times New Roman" panose="02020603050405020304" pitchFamily="18" charset="0"/>
              </a:rPr>
              <a:t>(a) </a:t>
            </a:r>
            <a:r>
              <a:rPr lang="zh-CN" altLang="en-US" sz="2000" dirty="0">
                <a:latin typeface="Times New Roman" panose="02020603050405020304" pitchFamily="18" charset="0"/>
              </a:rPr>
              <a:t>实验时间不长             </a:t>
            </a:r>
            <a:r>
              <a:rPr lang="en-US" altLang="zh-CN" sz="2000" dirty="0">
                <a:latin typeface="Times New Roman" panose="02020603050405020304" pitchFamily="18" charset="0"/>
              </a:rPr>
              <a:t>(b) </a:t>
            </a:r>
            <a:r>
              <a:rPr lang="zh-CN" altLang="en-US" sz="2000" dirty="0">
                <a:latin typeface="Times New Roman" panose="02020603050405020304" pitchFamily="18" charset="0"/>
              </a:rPr>
              <a:t>实验时间较长</a:t>
            </a:r>
          </a:p>
          <a:p>
            <a:pPr algn="ctr" eaLnBrk="1" hangingPunct="1"/>
            <a:r>
              <a:rPr lang="zh-CN" altLang="en-US" sz="2000" dirty="0">
                <a:latin typeface="Times New Roman" panose="02020603050405020304" pitchFamily="18" charset="0"/>
              </a:rPr>
              <a:t>电子衍射环纹示意图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8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28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8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83" grpId="0"/>
      <p:bldP spid="28684" grpId="0"/>
      <p:bldP spid="28686" grpId="0"/>
      <p:bldP spid="28688" grpId="0"/>
      <p:bldP spid="28689" grpId="0"/>
      <p:bldP spid="2869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0"/>
          <p:cNvSpPr>
            <a:spLocks noChangeArrowheads="1"/>
          </p:cNvSpPr>
          <p:nvPr/>
        </p:nvSpPr>
        <p:spPr bwMode="auto">
          <a:xfrm>
            <a:off x="250825" y="66675"/>
            <a:ext cx="4259263" cy="763588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165048" bIns="165048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5.1.2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hlinkClick r:id="rId2" action="ppaction://hlinkfile"/>
              </a:rPr>
              <a:t>核外电子的运动状态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22531" name="Rectangle 21"/>
          <p:cNvSpPr/>
          <p:nvPr/>
        </p:nvSpPr>
        <p:spPr>
          <a:xfrm>
            <a:off x="323850" y="822325"/>
            <a:ext cx="3775075" cy="58578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3200" dirty="0">
                <a:solidFill>
                  <a:srgbClr val="9900CC"/>
                </a:solidFill>
                <a:latin typeface="Times New Roman" panose="02020603050405020304" pitchFamily="18" charset="0"/>
              </a:rPr>
              <a:t>1.</a:t>
            </a:r>
            <a:r>
              <a:rPr lang="zh-CN" altLang="en-US" sz="3200" dirty="0">
                <a:solidFill>
                  <a:srgbClr val="9900CC"/>
                </a:solidFill>
                <a:latin typeface="Times New Roman" panose="02020603050405020304" pitchFamily="18" charset="0"/>
              </a:rPr>
              <a:t>波函数与原子轨道</a:t>
            </a:r>
          </a:p>
        </p:txBody>
      </p:sp>
      <p:sp>
        <p:nvSpPr>
          <p:cNvPr id="22532" name="Text Box 24"/>
          <p:cNvSpPr txBox="1"/>
          <p:nvPr/>
        </p:nvSpPr>
        <p:spPr>
          <a:xfrm>
            <a:off x="4787900" y="1492250"/>
            <a:ext cx="273685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—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薛定谔方程</a:t>
            </a:r>
          </a:p>
        </p:txBody>
      </p:sp>
      <p:pic>
        <p:nvPicPr>
          <p:cNvPr id="22533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13" y="1436688"/>
            <a:ext cx="4000500" cy="4873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4" name="Text Box 27"/>
          <p:cNvSpPr txBox="1"/>
          <p:nvPr/>
        </p:nvSpPr>
        <p:spPr>
          <a:xfrm>
            <a:off x="323850" y="2136775"/>
            <a:ext cx="8642350" cy="138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 </a:t>
            </a:r>
            <a:r>
              <a:rPr lang="en-US" altLang="zh-CN" b="1" i="1" dirty="0">
                <a:latin typeface="Times New Roman" panose="02020603050405020304" pitchFamily="18" charset="0"/>
              </a:rPr>
              <a:t>ψ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代表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波函数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，是空间坐标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x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y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z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的函数。对于原子核外的电子，每个波函数</a:t>
            </a:r>
            <a:r>
              <a:rPr lang="en-US" altLang="zh-CN" b="1" i="1" dirty="0">
                <a:latin typeface="Times New Roman" panose="02020603050405020304" pitchFamily="18" charset="0"/>
              </a:rPr>
              <a:t>ψ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都代表一种具有一定能量的在定态下的电子运动状态。 </a:t>
            </a:r>
          </a:p>
        </p:txBody>
      </p:sp>
      <p:sp>
        <p:nvSpPr>
          <p:cNvPr id="1052" name="Text Box 28"/>
          <p:cNvSpPr txBox="1"/>
          <p:nvPr/>
        </p:nvSpPr>
        <p:spPr>
          <a:xfrm>
            <a:off x="441325" y="3506788"/>
            <a:ext cx="8280400" cy="1385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    </a:t>
            </a:r>
            <a:r>
              <a:rPr lang="zh-CN" altLang="en-US" b="1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波函数的空间图像就是原子轨道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，原子轨道的数学式就是波函数，波函数与原子轨道常作同义语混用。 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矩形 1"/>
          <p:cNvSpPr/>
          <p:nvPr/>
        </p:nvSpPr>
        <p:spPr>
          <a:xfrm>
            <a:off x="358775" y="636588"/>
            <a:ext cx="8785225" cy="1420812"/>
          </a:xfrm>
          <a:prstGeom prst="rect">
            <a:avLst/>
          </a:prstGeom>
          <a:solidFill>
            <a:srgbClr val="92D05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①主量子数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主量子数为除零以外的正整数。其中每一个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值代表一个电子层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如表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1-2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所示。</a:t>
            </a:r>
          </a:p>
        </p:txBody>
      </p:sp>
      <p:pic>
        <p:nvPicPr>
          <p:cNvPr id="48131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2106613"/>
            <a:ext cx="8550275" cy="1504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53317" name="图片 653316" descr="fig0113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725" y="4445000"/>
            <a:ext cx="685800" cy="6175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53318" name="图片 653317" descr="fig0113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325" y="4238625"/>
            <a:ext cx="914400" cy="823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53319" name="图片 653318" descr="fig0113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725" y="4033838"/>
            <a:ext cx="1143000" cy="1028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53320" name="图片 653319" descr="fig0113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725" y="3622675"/>
            <a:ext cx="1574800" cy="14398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60" name="Rectangle 54"/>
          <p:cNvSpPr/>
          <p:nvPr/>
        </p:nvSpPr>
        <p:spPr>
          <a:xfrm>
            <a:off x="233363" y="76200"/>
            <a:ext cx="2543175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3200" dirty="0">
                <a:solidFill>
                  <a:srgbClr val="9900CC"/>
                </a:solidFill>
                <a:latin typeface="Times New Roman" panose="02020603050405020304" pitchFamily="18" charset="0"/>
              </a:rPr>
              <a:t>2.</a:t>
            </a:r>
            <a:r>
              <a:rPr lang="zh-CN" altLang="en-US" sz="3200" dirty="0">
                <a:solidFill>
                  <a:srgbClr val="9900CC"/>
                </a:solidFill>
                <a:latin typeface="Times New Roman" panose="02020603050405020304" pitchFamily="18" charset="0"/>
              </a:rPr>
              <a:t>四个量子数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5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65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65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65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矩形 1"/>
          <p:cNvSpPr/>
          <p:nvPr/>
        </p:nvSpPr>
        <p:spPr>
          <a:xfrm>
            <a:off x="250825" y="238125"/>
            <a:ext cx="8785225" cy="1644650"/>
          </a:xfrm>
          <a:prstGeom prst="rect">
            <a:avLst/>
          </a:prstGeom>
          <a:solidFill>
            <a:srgbClr val="92D050"/>
          </a:solidFill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②角量子数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角量子数可为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到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(n-1)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的正整数。其中每一个值代表一个电子亚层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如表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1-3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所示。</a:t>
            </a:r>
          </a:p>
        </p:txBody>
      </p:sp>
      <p:sp>
        <p:nvSpPr>
          <p:cNvPr id="654342" name="矩形 654341"/>
          <p:cNvSpPr/>
          <p:nvPr/>
        </p:nvSpPr>
        <p:spPr>
          <a:xfrm>
            <a:off x="611188" y="1858963"/>
            <a:ext cx="8137525" cy="147002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60000"/>
              </a:lnSpc>
              <a:buNone/>
            </a:pPr>
            <a:r>
              <a:rPr lang="zh-CN" altLang="fr-FR" b="1" dirty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fr-FR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取值：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fr-FR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0   1   2   3   4    …   n-1 </a:t>
            </a:r>
            <a:r>
              <a:rPr lang="fr-FR" altLang="zh-CN" b="1" dirty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</a:t>
            </a:r>
          </a:p>
          <a:p>
            <a:pPr>
              <a:lnSpc>
                <a:spcPct val="160000"/>
              </a:lnSpc>
              <a:buNone/>
            </a:pPr>
            <a:r>
              <a:rPr lang="zh-CN" altLang="fr-FR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    符号：</a:t>
            </a:r>
            <a:r>
              <a:rPr lang="fr-FR" altLang="zh-CN" b="1" dirty="0">
                <a:solidFill>
                  <a:srgbClr val="1818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   p  d  </a:t>
            </a:r>
            <a:r>
              <a:rPr lang="en-US" altLang="fr-FR" b="1" dirty="0">
                <a:solidFill>
                  <a:srgbClr val="1818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fr-FR" altLang="zh-CN" b="1" dirty="0">
                <a:solidFill>
                  <a:srgbClr val="1818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f  </a:t>
            </a:r>
            <a:r>
              <a:rPr lang="en-US" altLang="fr-FR" b="1" dirty="0">
                <a:solidFill>
                  <a:srgbClr val="1818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fr-FR" altLang="zh-CN" b="1" dirty="0">
                <a:solidFill>
                  <a:srgbClr val="1818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g   …</a:t>
            </a:r>
            <a:r>
              <a:rPr lang="zh-CN" altLang="fr-FR" b="1" dirty="0">
                <a:solidFill>
                  <a:srgbClr val="1818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</a:p>
        </p:txBody>
      </p:sp>
      <p:sp>
        <p:nvSpPr>
          <p:cNvPr id="656390" name="矩形 656389"/>
          <p:cNvSpPr/>
          <p:nvPr/>
        </p:nvSpPr>
        <p:spPr>
          <a:xfrm>
            <a:off x="368300" y="3181350"/>
            <a:ext cx="8380413" cy="5667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buNone/>
            </a:pPr>
            <a:r>
              <a:rPr lang="zh-CN" altLang="fr-FR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 例如：</a:t>
            </a:r>
            <a:r>
              <a:rPr lang="fr-FR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n=2, l=0</a:t>
            </a:r>
            <a:r>
              <a:rPr lang="zh-CN" altLang="fr-FR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的运动状态为</a:t>
            </a:r>
          </a:p>
        </p:txBody>
      </p:sp>
      <p:sp>
        <p:nvSpPr>
          <p:cNvPr id="5" name="矩形 4"/>
          <p:cNvSpPr/>
          <p:nvPr/>
        </p:nvSpPr>
        <p:spPr>
          <a:xfrm>
            <a:off x="5580063" y="3178175"/>
            <a:ext cx="576262" cy="56515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  <a:buNone/>
            </a:pPr>
            <a:r>
              <a:rPr lang="fr-FR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2s</a:t>
            </a:r>
            <a:endParaRPr lang="zh-CN" altLang="fr-FR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0838" y="3608665"/>
            <a:ext cx="8381365" cy="104028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+mn-ea"/>
              </a:rPr>
              <a:t>                    n=2, l=1</a:t>
            </a:r>
            <a:r>
              <a:rPr kumimoji="0" lang="zh-CN" altLang="fr-FR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+mn-ea"/>
              </a:rPr>
              <a:t>的运动状态为   </a:t>
            </a:r>
            <a:r>
              <a:rPr kumimoji="0" lang="fr-FR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+mn-ea"/>
              </a:rPr>
              <a:t>2p  </a:t>
            </a: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+mn-ea"/>
              </a:rPr>
              <a:t> </a:t>
            </a:r>
            <a:r>
              <a:rPr kumimoji="0" lang="fr-FR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+mn-ea"/>
              </a:rPr>
              <a:t> </a:t>
            </a:r>
            <a:r>
              <a:rPr kumimoji="0" lang="en-US" altLang="fr-FR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+mn-ea"/>
              </a:rPr>
              <a:t>                  </a:t>
            </a:r>
            <a:r>
              <a:rPr kumimoji="0" lang="fr-FR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n=2, l=2</a:t>
            </a:r>
            <a:r>
              <a:rPr kumimoji="0" lang="zh-CN" altLang="fr-FR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的运动状态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</a:t>
            </a:r>
            <a:r>
              <a:rPr kumimoji="0" lang="zh-CN" altLang="fr-FR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+mn-ea"/>
              </a:rPr>
              <a:t>不存在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2">
                                            <p:txEl>
                                              <p:charRg st="0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54342">
                                            <p:txEl>
                                              <p:charRg st="0" end="4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2">
                                            <p:txEl>
                                              <p:charRg st="49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654342">
                                            <p:txEl>
                                              <p:charRg st="49" end="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1000"/>
                                        <p:tgtEl>
                                          <p:spTgt spid="656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build="p" animBg="1"/>
      <p:bldP spid="656390" grpId="0" build="p"/>
      <p:bldP spid="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92D050">
                <a:alpha val="100000"/>
              </a:srgbClr>
            </a:gs>
            <a:gs pos="6000">
              <a:srgbClr val="92D050">
                <a:alpha val="100000"/>
              </a:srgbClr>
            </a:gs>
            <a:gs pos="9000">
              <a:srgbClr val="CCECFF">
                <a:alpha val="100000"/>
              </a:srgbClr>
            </a:gs>
            <a:gs pos="64000">
              <a:srgbClr val="0066FF">
                <a:alpha val="100000"/>
              </a:srgbClr>
            </a:gs>
            <a:gs pos="100000">
              <a:srgbClr val="00B0F0"/>
            </a:gs>
          </a:gsLst>
          <a:lin ang="27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文本框 655361"/>
          <p:cNvSpPr txBox="1"/>
          <p:nvPr/>
        </p:nvSpPr>
        <p:spPr>
          <a:xfrm>
            <a:off x="1692275" y="1112838"/>
            <a:ext cx="2640013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363" name="矩形 655362"/>
          <p:cNvSpPr/>
          <p:nvPr/>
        </p:nvSpPr>
        <p:spPr>
          <a:xfrm>
            <a:off x="1271588" y="141288"/>
            <a:ext cx="6781800" cy="452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如： 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n=2    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l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 0   1 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</a:t>
            </a:r>
          </a:p>
        </p:txBody>
      </p:sp>
      <p:grpSp>
        <p:nvGrpSpPr>
          <p:cNvPr id="655364" name="组合 655363"/>
          <p:cNvGrpSpPr/>
          <p:nvPr/>
        </p:nvGrpSpPr>
        <p:grpSpPr>
          <a:xfrm>
            <a:off x="1271588" y="2679700"/>
            <a:ext cx="1801812" cy="2182813"/>
            <a:chOff x="385" y="2251"/>
            <a:chExt cx="1362" cy="1833"/>
          </a:xfrm>
        </p:grpSpPr>
        <p:pic>
          <p:nvPicPr>
            <p:cNvPr id="25617" name="图片 655364" descr="fig0113c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2251"/>
              <a:ext cx="1361" cy="136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5618" name="矩形 655365"/>
            <p:cNvSpPr/>
            <p:nvPr/>
          </p:nvSpPr>
          <p:spPr>
            <a:xfrm>
              <a:off x="431" y="3748"/>
              <a:ext cx="1316" cy="336"/>
            </a:xfrm>
            <a:prstGeom prst="rect">
              <a:avLst/>
            </a:prstGeom>
            <a:noFill/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>
                <a:buNone/>
              </a:pPr>
              <a:r>
                <a:rPr lang="en-US" altLang="zh-CN" sz="2000" b="1" i="1" dirty="0">
                  <a:solidFill>
                    <a:srgbClr val="FFFF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s</a:t>
              </a:r>
              <a:r>
                <a:rPr lang="en-US" altLang="zh-CN" sz="2000" b="1" dirty="0">
                  <a:solidFill>
                    <a:srgbClr val="FFFF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</a:t>
              </a:r>
              <a:r>
                <a:rPr lang="zh-CN" altLang="zh-CN" sz="2000" b="1" dirty="0">
                  <a:solidFill>
                    <a:srgbClr val="FFFF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轨道</a:t>
              </a:r>
              <a:r>
                <a:rPr lang="zh-CN" altLang="en-US" sz="2000" b="1" dirty="0">
                  <a:solidFill>
                    <a:srgbClr val="FFFF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</a:t>
              </a:r>
              <a:r>
                <a:rPr lang="zh-CN" altLang="zh-CN" sz="2000" b="1" dirty="0">
                  <a:solidFill>
                    <a:srgbClr val="FFFF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球形</a:t>
              </a:r>
              <a:endParaRPr lang="zh-CN" altLang="en-US" sz="2000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</p:txBody>
        </p:sp>
      </p:grpSp>
      <p:grpSp>
        <p:nvGrpSpPr>
          <p:cNvPr id="655367" name="组合 655366"/>
          <p:cNvGrpSpPr/>
          <p:nvPr/>
        </p:nvGrpSpPr>
        <p:grpSpPr>
          <a:xfrm>
            <a:off x="3613150" y="2679700"/>
            <a:ext cx="2098675" cy="2436813"/>
            <a:chOff x="2155" y="2251"/>
            <a:chExt cx="1587" cy="2046"/>
          </a:xfrm>
        </p:grpSpPr>
        <p:pic>
          <p:nvPicPr>
            <p:cNvPr id="25615" name="图片 655367" descr="fig0114c"/>
            <p:cNvPicPr>
              <a:picLocks noChangeAspect="1"/>
            </p:cNvPicPr>
            <p:nvPr/>
          </p:nvPicPr>
          <p:blipFill>
            <a:blip r:embed="rId3"/>
            <a:srcRect l="32608" r="34782"/>
            <a:stretch>
              <a:fillRect/>
            </a:stretch>
          </p:blipFill>
          <p:spPr>
            <a:xfrm>
              <a:off x="2155" y="2251"/>
              <a:ext cx="1587" cy="1269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5616" name="矩形 655368"/>
            <p:cNvSpPr/>
            <p:nvPr/>
          </p:nvSpPr>
          <p:spPr>
            <a:xfrm>
              <a:off x="2200" y="3702"/>
              <a:ext cx="1542" cy="595"/>
            </a:xfrm>
            <a:prstGeom prst="rect">
              <a:avLst/>
            </a:prstGeom>
            <a:noFill/>
            <a:ln w="12700" cap="sq" cmpd="sng">
              <a:solidFill>
                <a:schemeClr val="tx1"/>
              </a:solidFill>
              <a:prstDash val="solid"/>
              <a:miter/>
              <a:headEnd type="none" w="sm" len="sm"/>
              <a:tailEnd type="none" w="sm" len="sm"/>
            </a:ln>
          </p:spPr>
          <p:txBody>
            <a:bodyPr>
              <a:spAutoFit/>
            </a:bodyPr>
            <a:lstStyle/>
            <a:p>
              <a:pPr>
                <a:buNone/>
              </a:pPr>
              <a:r>
                <a:rPr lang="en-US" altLang="zh-CN" sz="2000" b="1" i="1" dirty="0">
                  <a:solidFill>
                    <a:srgbClr val="FFFF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p</a:t>
              </a:r>
              <a:r>
                <a:rPr lang="en-US" altLang="zh-CN" sz="20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楷体_GB2312" panose="02010609030101010101" pitchFamily="49" charset="-122"/>
                </a:rPr>
                <a:t> </a:t>
              </a:r>
              <a:r>
                <a:rPr lang="zh-CN" altLang="zh-CN" sz="2000" b="1" dirty="0">
                  <a:solidFill>
                    <a:srgbClr val="FFFF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轨道</a:t>
              </a:r>
              <a:r>
                <a:rPr lang="zh-CN" altLang="en-US" sz="2000" b="1" dirty="0">
                  <a:solidFill>
                    <a:srgbClr val="FFFF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 </a:t>
              </a:r>
              <a:r>
                <a:rPr lang="zh-CN" altLang="zh-CN" sz="2000" b="1" dirty="0">
                  <a:solidFill>
                    <a:srgbClr val="FFFF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哑铃形</a:t>
              </a:r>
              <a:endParaRPr lang="zh-CN" altLang="en-US" sz="2000" b="1" dirty="0">
                <a:solidFill>
                  <a:srgbClr val="FFFF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endParaRPr>
            </a:p>
            <a:p>
              <a:pPr>
                <a:buNone/>
              </a:pPr>
              <a:r>
                <a:rPr lang="zh-CN" altLang="en-US" sz="2000" b="1" dirty="0">
                  <a:solidFill>
                    <a:srgbClr val="66FF33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</a:rPr>
                <a:t>   双纺锤体</a:t>
              </a:r>
            </a:p>
          </p:txBody>
        </p:sp>
      </p:grpSp>
      <p:grpSp>
        <p:nvGrpSpPr>
          <p:cNvPr id="655370" name="组合 655369"/>
          <p:cNvGrpSpPr/>
          <p:nvPr/>
        </p:nvGrpSpPr>
        <p:grpSpPr>
          <a:xfrm>
            <a:off x="6402388" y="1189038"/>
            <a:ext cx="1979612" cy="4703762"/>
            <a:chOff x="4150" y="1575"/>
            <a:chExt cx="1497" cy="3951"/>
          </a:xfrm>
        </p:grpSpPr>
        <p:pic>
          <p:nvPicPr>
            <p:cNvPr id="25611" name="图片 655370" descr="图0111d"/>
            <p:cNvPicPr>
              <a:picLocks noChangeAspect="1"/>
            </p:cNvPicPr>
            <p:nvPr/>
          </p:nvPicPr>
          <p:blipFill>
            <a:blip r:embed="rId4"/>
            <a:srcRect r="53444" b="65152"/>
            <a:stretch>
              <a:fillRect/>
            </a:stretch>
          </p:blipFill>
          <p:spPr>
            <a:xfrm>
              <a:off x="4150" y="2886"/>
              <a:ext cx="1089" cy="1074"/>
            </a:xfrm>
            <a:prstGeom prst="rect">
              <a:avLst/>
            </a:prstGeom>
            <a:noFill/>
            <a:ln w="28575">
              <a:noFill/>
            </a:ln>
          </p:spPr>
        </p:pic>
        <p:grpSp>
          <p:nvGrpSpPr>
            <p:cNvPr id="25612" name="组合 655371"/>
            <p:cNvGrpSpPr/>
            <p:nvPr/>
          </p:nvGrpSpPr>
          <p:grpSpPr>
            <a:xfrm>
              <a:off x="4150" y="1575"/>
              <a:ext cx="1497" cy="3951"/>
              <a:chOff x="4150" y="1575"/>
              <a:chExt cx="1497" cy="3951"/>
            </a:xfrm>
          </p:grpSpPr>
          <p:pic>
            <p:nvPicPr>
              <p:cNvPr id="25613" name="图片 655372" descr="图0111d"/>
              <p:cNvPicPr>
                <a:picLocks noChangeAspect="1"/>
              </p:cNvPicPr>
              <p:nvPr/>
            </p:nvPicPr>
            <p:blipFill>
              <a:blip r:embed="rId4"/>
              <a:srcRect t="36363" r="52495" b="31818"/>
              <a:stretch>
                <a:fillRect/>
              </a:stretch>
            </p:blipFill>
            <p:spPr>
              <a:xfrm>
                <a:off x="4150" y="1731"/>
                <a:ext cx="1134" cy="1064"/>
              </a:xfrm>
              <a:prstGeom prst="rect">
                <a:avLst/>
              </a:prstGeom>
              <a:noFill/>
              <a:ln w="28575">
                <a:noFill/>
              </a:ln>
            </p:spPr>
          </p:pic>
          <p:sp>
            <p:nvSpPr>
              <p:cNvPr id="655374" name="矩形 655373"/>
              <p:cNvSpPr/>
              <p:nvPr/>
            </p:nvSpPr>
            <p:spPr>
              <a:xfrm>
                <a:off x="5347" y="1575"/>
                <a:ext cx="300" cy="39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65" b="1" i="1" u="none" strike="noStrike" kern="1200" cap="none" spc="0" normalizeH="0" baseline="0" noProof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anose="02010609030101010101" pitchFamily="49" charset="-122"/>
                    <a:cs typeface="+mn-cs"/>
                  </a:rPr>
                  <a:t>d</a:t>
                </a:r>
                <a:endParaRPr kumimoji="0" lang="en-US" altLang="zh-CN" sz="1665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anose="0201060903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zh-CN" sz="166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楷体_GB2312" panose="02010609030101010101" pitchFamily="49" charset="-122"/>
                    <a:ea typeface="楷体_GB2312" panose="02010609030101010101" pitchFamily="49" charset="-122"/>
                    <a:cs typeface="+mn-cs"/>
                  </a:rPr>
                  <a:t>轨</a:t>
                </a:r>
                <a:endParaRPr kumimoji="0" lang="zh-CN" altLang="en-US" sz="1665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zh-CN" sz="166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楷体_GB2312" panose="02010609030101010101" pitchFamily="49" charset="-122"/>
                    <a:ea typeface="楷体_GB2312" panose="02010609030101010101" pitchFamily="49" charset="-122"/>
                    <a:cs typeface="+mn-cs"/>
                  </a:rPr>
                  <a:t>道</a:t>
                </a:r>
                <a:endParaRPr kumimoji="0" lang="zh-CN" altLang="en-US" sz="1665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zh-CN" sz="166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楷体_GB2312" panose="02010609030101010101" pitchFamily="49" charset="-122"/>
                    <a:ea typeface="楷体_GB2312" panose="02010609030101010101" pitchFamily="49" charset="-122"/>
                    <a:cs typeface="+mn-cs"/>
                  </a:rPr>
                  <a:t>有</a:t>
                </a:r>
                <a:endParaRPr kumimoji="0" lang="zh-CN" altLang="en-US" sz="1665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zh-CN" sz="166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楷体_GB2312" panose="02010609030101010101" pitchFamily="49" charset="-122"/>
                    <a:ea typeface="楷体_GB2312" panose="02010609030101010101" pitchFamily="49" charset="-122"/>
                    <a:cs typeface="+mn-cs"/>
                  </a:rPr>
                  <a:t>两</a:t>
                </a:r>
                <a:endParaRPr kumimoji="0" lang="zh-CN" altLang="en-US" sz="1665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zh-CN" sz="166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楷体_GB2312" panose="02010609030101010101" pitchFamily="49" charset="-122"/>
                    <a:ea typeface="楷体_GB2312" panose="02010609030101010101" pitchFamily="49" charset="-122"/>
                    <a:cs typeface="+mn-cs"/>
                  </a:rPr>
                  <a:t>种</a:t>
                </a:r>
                <a:endParaRPr kumimoji="0" lang="zh-CN" altLang="en-US" sz="1665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zh-CN" sz="166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楷体_GB2312" panose="02010609030101010101" pitchFamily="49" charset="-122"/>
                    <a:ea typeface="楷体_GB2312" panose="02010609030101010101" pitchFamily="49" charset="-122"/>
                    <a:cs typeface="+mn-cs"/>
                  </a:rPr>
                  <a:t>形</a:t>
                </a:r>
                <a:endParaRPr kumimoji="0" lang="zh-CN" altLang="en-US" sz="1665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zh-CN" sz="166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楷体_GB2312" panose="02010609030101010101" pitchFamily="49" charset="-122"/>
                    <a:ea typeface="楷体_GB2312" panose="02010609030101010101" pitchFamily="49" charset="-122"/>
                    <a:cs typeface="+mn-cs"/>
                  </a:rPr>
                  <a:t>状</a:t>
                </a:r>
                <a:endParaRPr kumimoji="0" lang="en-US" altLang="zh-CN" sz="1665" b="1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6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楷体_GB2312" panose="02010609030101010101" pitchFamily="49" charset="-122"/>
                    <a:ea typeface="楷体_GB2312" panose="02010609030101010101" pitchFamily="49" charset="-122"/>
                    <a:cs typeface="+mn-cs"/>
                  </a:rPr>
                  <a:t>：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6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楷体_GB2312" panose="02010609030101010101" pitchFamily="49" charset="-122"/>
                    <a:ea typeface="楷体_GB2312" panose="02010609030101010101" pitchFamily="49" charset="-122"/>
                    <a:cs typeface="+mn-cs"/>
                  </a:rPr>
                  <a:t>花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6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楷体_GB2312" panose="02010609030101010101" pitchFamily="49" charset="-122"/>
                    <a:ea typeface="楷体_GB2312" panose="02010609030101010101" pitchFamily="49" charset="-122"/>
                    <a:cs typeface="+mn-cs"/>
                  </a:rPr>
                  <a:t>瓣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6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楷体_GB2312" panose="02010609030101010101" pitchFamily="49" charset="-122"/>
                    <a:ea typeface="楷体_GB2312" panose="02010609030101010101" pitchFamily="49" charset="-122"/>
                    <a:cs typeface="+mn-cs"/>
                  </a:rPr>
                  <a:t>形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6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楷体_GB2312" panose="02010609030101010101" pitchFamily="49" charset="-122"/>
                    <a:ea typeface="楷体_GB2312" panose="02010609030101010101" pitchFamily="49" charset="-122"/>
                    <a:cs typeface="+mn-cs"/>
                  </a:rPr>
                  <a:t>：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6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楷体_GB2312" panose="02010609030101010101" pitchFamily="49" charset="-122"/>
                    <a:ea typeface="楷体_GB2312" panose="02010609030101010101" pitchFamily="49" charset="-122"/>
                    <a:cs typeface="+mn-cs"/>
                  </a:rPr>
                  <a:t>多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6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楷体_GB2312" panose="02010609030101010101" pitchFamily="49" charset="-122"/>
                    <a:ea typeface="楷体_GB2312" panose="02010609030101010101" pitchFamily="49" charset="-122"/>
                    <a:cs typeface="+mn-cs"/>
                  </a:rPr>
                  <a:t>纺锤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65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00"/>
                    </a:solidFill>
                    <a:effectLst/>
                    <a:uLnTx/>
                    <a:uFillTx/>
                    <a:latin typeface="楷体_GB2312" panose="02010609030101010101" pitchFamily="49" charset="-122"/>
                    <a:ea typeface="楷体_GB2312" panose="02010609030101010101" pitchFamily="49" charset="-122"/>
                    <a:cs typeface="+mn-cs"/>
                  </a:rPr>
                  <a:t>体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65" b="1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endParaRPr>
              </a:p>
            </p:txBody>
          </p:sp>
        </p:grpSp>
      </p:grpSp>
      <p:sp>
        <p:nvSpPr>
          <p:cNvPr id="655375" name="矩形 655374"/>
          <p:cNvSpPr/>
          <p:nvPr/>
        </p:nvSpPr>
        <p:spPr>
          <a:xfrm>
            <a:off x="1690688" y="1354138"/>
            <a:ext cx="5641975" cy="452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当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l=1</a:t>
            </a: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时，原子轨道为哑铃形分布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p</a:t>
            </a:r>
          </a:p>
        </p:txBody>
      </p:sp>
      <p:sp>
        <p:nvSpPr>
          <p:cNvPr id="655376" name="矩形 655375"/>
          <p:cNvSpPr/>
          <p:nvPr/>
        </p:nvSpPr>
        <p:spPr>
          <a:xfrm>
            <a:off x="1692275" y="1895475"/>
            <a:ext cx="5281613" cy="452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当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l=2</a:t>
            </a: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时，原子轨道呈花瓣形分布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d</a:t>
            </a:r>
          </a:p>
        </p:txBody>
      </p:sp>
      <p:sp>
        <p:nvSpPr>
          <p:cNvPr id="655377" name="矩形 655376"/>
          <p:cNvSpPr/>
          <p:nvPr/>
        </p:nvSpPr>
        <p:spPr>
          <a:xfrm>
            <a:off x="1271588" y="765175"/>
            <a:ext cx="6781800" cy="5953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4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∴  </a:t>
            </a: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当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l=0</a:t>
            </a: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时，原子轨道为球形对称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s</a:t>
            </a:r>
          </a:p>
        </p:txBody>
      </p:sp>
      <p:sp>
        <p:nvSpPr>
          <p:cNvPr id="655378" name="矩形 655377"/>
          <p:cNvSpPr/>
          <p:nvPr/>
        </p:nvSpPr>
        <p:spPr>
          <a:xfrm>
            <a:off x="1990725" y="465138"/>
            <a:ext cx="3660775" cy="452438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n=3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l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 0   1   2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5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5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5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65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55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55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65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55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55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65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75" grpId="0"/>
      <p:bldP spid="655376" grpId="0"/>
      <p:bldP spid="65537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6" name="矩形 4"/>
          <p:cNvSpPr/>
          <p:nvPr/>
        </p:nvSpPr>
        <p:spPr>
          <a:xfrm>
            <a:off x="179716" y="238320"/>
            <a:ext cx="8785225" cy="2160591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③磁量子数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m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   m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的取值决定于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值，取值为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±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l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可取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(2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l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+1)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个从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l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~+</a:t>
            </a:r>
            <a:r>
              <a:rPr kumimoji="0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l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包括零在内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的整数。每一个</a:t>
            </a:r>
            <a:r>
              <a:rPr kumimoji="0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m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值代表一个具有空间取向的原子轨道</a:t>
            </a:r>
          </a:p>
        </p:txBody>
      </p:sp>
      <p:sp>
        <p:nvSpPr>
          <p:cNvPr id="657414" name="矩形 657413"/>
          <p:cNvSpPr/>
          <p:nvPr/>
        </p:nvSpPr>
        <p:spPr>
          <a:xfrm>
            <a:off x="179388" y="1987550"/>
            <a:ext cx="8583612" cy="26781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buNone/>
            </a:pPr>
            <a:endParaRPr lang="zh-CN" altLang="fr-FR" b="1" dirty="0">
              <a:solidFill>
                <a:srgbClr val="FFFF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buNone/>
            </a:pPr>
            <a:r>
              <a:rPr lang="fr-FR" altLang="zh-CN" b="1" dirty="0">
                <a:solidFill>
                  <a:srgbClr val="FFFF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lang="fr-FR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l                         m                   </a:t>
            </a:r>
            <a:r>
              <a:rPr lang="fr-FR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fr-FR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空间运动状态数</a:t>
            </a:r>
          </a:p>
          <a:p>
            <a:pPr>
              <a:buNone/>
            </a:pPr>
            <a:r>
              <a:rPr lang="fr-FR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0                         0                         s</a:t>
            </a:r>
            <a:r>
              <a:rPr lang="zh-CN" altLang="fr-FR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轨道，    </a:t>
            </a:r>
            <a:r>
              <a:rPr lang="fr-FR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endParaRPr lang="zh-CN" altLang="fr-FR" b="1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buNone/>
            </a:pPr>
            <a:r>
              <a:rPr lang="fr-FR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1                  +1   0  -1                    p</a:t>
            </a:r>
            <a:r>
              <a:rPr lang="zh-CN" altLang="fr-FR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轨道，   </a:t>
            </a:r>
            <a:r>
              <a:rPr lang="fr-FR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</a:p>
          <a:p>
            <a:pPr>
              <a:buNone/>
            </a:pPr>
            <a:r>
              <a:rPr lang="fr-FR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2            +2  +1   0  -1  -2               d</a:t>
            </a:r>
            <a:r>
              <a:rPr lang="zh-CN" altLang="fr-FR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轨道，  </a:t>
            </a:r>
            <a:r>
              <a:rPr lang="fr-FR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</a:p>
          <a:p>
            <a:pPr>
              <a:buNone/>
            </a:pPr>
            <a:r>
              <a:rPr lang="fr-FR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 3       +3 +2  +1   0  -1  -2  -3         f </a:t>
            </a:r>
            <a:r>
              <a:rPr lang="zh-CN" altLang="fr-FR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轨道，  </a:t>
            </a:r>
            <a:r>
              <a:rPr lang="fr-FR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7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57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657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6574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6574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6574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6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434" name="图片 658433" descr="fig0113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888" y="573088"/>
            <a:ext cx="1217612" cy="1200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58435" name="图片 658434" descr="fig0114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888" y="2317750"/>
            <a:ext cx="5334000" cy="11557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" name="组合 2"/>
          <p:cNvGrpSpPr/>
          <p:nvPr/>
        </p:nvGrpSpPr>
        <p:grpSpPr>
          <a:xfrm>
            <a:off x="2874963" y="573088"/>
            <a:ext cx="5329237" cy="1201737"/>
            <a:chOff x="3808" y="6827"/>
            <a:chExt cx="8392" cy="2102"/>
          </a:xfrm>
        </p:grpSpPr>
        <p:sp>
          <p:nvSpPr>
            <p:cNvPr id="27656" name="左箭头 1"/>
            <p:cNvSpPr/>
            <p:nvPr/>
          </p:nvSpPr>
          <p:spPr>
            <a:xfrm>
              <a:off x="3808" y="6827"/>
              <a:ext cx="8392" cy="2102"/>
            </a:xfrm>
            <a:prstGeom prst="leftArrow">
              <a:avLst>
                <a:gd name="adj1" fmla="val 50000"/>
                <a:gd name="adj2" fmla="val 49997"/>
              </a:avLst>
            </a:prstGeom>
            <a:solidFill>
              <a:srgbClr val="FF0000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eaLnBrk="1" hangingPunct="1"/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58441" name="文本框 658440"/>
            <p:cNvSpPr txBox="1"/>
            <p:nvPr/>
          </p:nvSpPr>
          <p:spPr>
            <a:xfrm>
              <a:off x="4846" y="7274"/>
              <a:ext cx="7354" cy="1253"/>
            </a:xfrm>
            <a:prstGeom prst="rect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wrap="square" lIns="76729" tIns="38364" rIns="76729" bIns="38364" anchor="ctr" anchorCtr="0">
              <a:spAutoFit/>
            </a:bodyPr>
            <a:lstStyle/>
            <a:p>
              <a:pPr marR="0" algn="ctr" defTabSz="914400">
                <a:spcBef>
                  <a:spcPct val="50000"/>
                </a:spcBef>
                <a:buClr>
                  <a:srgbClr val="9999CC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60" b="1" i="1" u="sng" kern="1200" cap="none" spc="0" normalizeH="0" baseline="0" noProof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  <a:sym typeface="+mn-ea"/>
                </a:rPr>
                <a:t>s</a:t>
              </a:r>
              <a:r>
                <a:rPr kumimoji="0" lang="en-US" altLang="zh-CN" sz="1660" b="1" u="sng" kern="1200" cap="none" spc="0" normalizeH="0" baseline="0" noProof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  <a:sym typeface="+mn-ea"/>
                </a:rPr>
                <a:t> </a:t>
              </a:r>
              <a:r>
                <a:rPr kumimoji="0" lang="zh-CN" altLang="zh-CN" sz="1660" b="1" u="sng" kern="1200" cap="none" spc="0" normalizeH="0" baseline="0" noProof="0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  <a:sym typeface="+mn-ea"/>
                </a:rPr>
                <a:t>轨道(</a:t>
              </a:r>
              <a:r>
                <a:rPr kumimoji="0" lang="en-US" altLang="zh-CN" sz="1660" b="1" i="1" u="sng" kern="1200" cap="none" spc="0" normalizeH="0" baseline="0" noProof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  <a:sym typeface="+mn-ea"/>
                </a:rPr>
                <a:t>l </a:t>
              </a:r>
              <a:r>
                <a:rPr kumimoji="0" lang="en-US" altLang="zh-CN" sz="1660" b="1" u="sng" kern="1200" cap="none" spc="0" normalizeH="0" baseline="0" noProof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  <a:sym typeface="+mn-ea"/>
                </a:rPr>
                <a:t>= 0, </a:t>
              </a:r>
              <a:r>
                <a:rPr kumimoji="0" lang="en-US" altLang="zh-CN" sz="1660" b="1" i="1" u="sng" kern="1200" cap="none" spc="0" normalizeH="0" baseline="0" noProof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  <a:sym typeface="+mn-ea"/>
                </a:rPr>
                <a:t>m </a:t>
              </a:r>
              <a:r>
                <a:rPr kumimoji="0" lang="en-US" altLang="zh-CN" sz="1660" b="1" u="sng" kern="1200" cap="none" spc="0" normalizeH="0" baseline="0" noProof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  <a:sym typeface="+mn-ea"/>
                </a:rPr>
                <a:t>= 0 ) </a:t>
              </a:r>
              <a:r>
                <a:rPr kumimoji="0" lang="en-US" altLang="zh-CN" sz="1660" b="1" kern="1200" cap="none" spc="0" normalizeH="0" baseline="0" noProof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  <a:sym typeface="+mn-ea"/>
                </a:rPr>
                <a:t>: </a:t>
              </a:r>
              <a:endParaRPr kumimoji="0" lang="en-US" altLang="zh-CN" sz="1660" b="1" kern="1200" cap="none" spc="0" normalizeH="0" baseline="0" noProof="0">
                <a:solidFill>
                  <a:srgbClr val="000000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endParaRPr>
            </a:p>
            <a:p>
              <a:pPr marR="0" algn="ctr" defTabSz="914400">
                <a:spcBef>
                  <a:spcPct val="50000"/>
                </a:spcBef>
                <a:buClr>
                  <a:srgbClr val="9999CC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60" b="1" i="1" kern="1200" cap="none" spc="0" normalizeH="0" baseline="0" noProof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  <a:sym typeface="+mn-ea"/>
                </a:rPr>
                <a:t>m </a:t>
              </a:r>
              <a:r>
                <a:rPr kumimoji="0" lang="zh-CN" altLang="zh-CN" sz="1660" b="1" i="1" kern="1200" cap="none" spc="0" normalizeH="0" baseline="0" noProof="0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  <a:sym typeface="+mn-ea"/>
                </a:rPr>
                <a:t>一</a:t>
              </a:r>
              <a:r>
                <a:rPr kumimoji="0" lang="zh-CN" altLang="zh-CN" sz="1660" b="1" kern="1200" cap="none" spc="0" normalizeH="0" baseline="0" noProof="0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  <a:sym typeface="+mn-ea"/>
                </a:rPr>
                <a:t>种取值, 空间一种取向, 一条 </a:t>
              </a:r>
              <a:r>
                <a:rPr kumimoji="0" lang="en-US" altLang="zh-CN" sz="1660" b="1" i="1" kern="1200" cap="none" spc="0" normalizeH="0" baseline="0" noProof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  <a:sym typeface="+mn-ea"/>
                </a:rPr>
                <a:t>s</a:t>
              </a:r>
              <a:r>
                <a:rPr kumimoji="0" lang="en-US" altLang="zh-CN" sz="1660" b="1" kern="1200" cap="none" spc="0" normalizeH="0" baseline="0" noProof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  <a:sym typeface="+mn-ea"/>
                </a:rPr>
                <a:t> </a:t>
              </a:r>
              <a:r>
                <a:rPr kumimoji="0" lang="zh-CN" altLang="zh-CN" sz="1660" b="1" kern="1200" cap="none" spc="0" normalizeH="0" baseline="0" noProof="0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  <a:sym typeface="+mn-ea"/>
                </a:rPr>
                <a:t>轨道.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473325" y="3706813"/>
            <a:ext cx="5327650" cy="1201737"/>
            <a:chOff x="3808" y="6827"/>
            <a:chExt cx="8392" cy="2102"/>
          </a:xfrm>
        </p:grpSpPr>
        <p:sp>
          <p:nvSpPr>
            <p:cNvPr id="27654" name="左箭头 4"/>
            <p:cNvSpPr/>
            <p:nvPr/>
          </p:nvSpPr>
          <p:spPr>
            <a:xfrm>
              <a:off x="3808" y="6827"/>
              <a:ext cx="8392" cy="2102"/>
            </a:xfrm>
            <a:prstGeom prst="leftArrow">
              <a:avLst>
                <a:gd name="adj1" fmla="val 50000"/>
                <a:gd name="adj2" fmla="val 49997"/>
              </a:avLst>
            </a:prstGeom>
            <a:solidFill>
              <a:srgbClr val="FF0000"/>
            </a:solidFill>
            <a:ln w="12700" cap="sq" cmpd="sng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wrap="none"/>
            <a:lstStyle/>
            <a:p>
              <a:pPr eaLnBrk="1" hangingPunct="1"/>
              <a:endPara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846" y="7272"/>
              <a:ext cx="7354" cy="1256"/>
            </a:xfrm>
            <a:prstGeom prst="rect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wrap="square" lIns="76729" tIns="38364" rIns="76729" bIns="38364" anchor="ctr" anchorCtr="0">
              <a:spAutoFit/>
            </a:bodyPr>
            <a:lstStyle/>
            <a:p>
              <a:pPr marR="0" algn="ctr" defTabSz="914400">
                <a:spcBef>
                  <a:spcPct val="50000"/>
                </a:spcBef>
                <a:buClr>
                  <a:srgbClr val="9999CC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65" b="1" i="1" u="sng" kern="1200" cap="none" spc="0" normalizeH="0" baseline="0" noProof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rPr>
                <a:t>p</a:t>
              </a:r>
              <a:r>
                <a:rPr kumimoji="0" lang="zh-CN" altLang="zh-CN" sz="1665" b="1" u="sng" kern="1200" cap="none" spc="0" normalizeH="0" baseline="0" noProof="0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rPr>
                <a:t>轨道(</a:t>
              </a:r>
              <a:r>
                <a:rPr kumimoji="0" lang="en-US" altLang="zh-CN" sz="1665" b="1" i="1" u="sng" kern="1200" cap="none" spc="0" normalizeH="0" baseline="0" noProof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rPr>
                <a:t>l </a:t>
              </a:r>
              <a:r>
                <a:rPr kumimoji="0" lang="en-US" altLang="zh-CN" sz="1665" b="1" u="sng" kern="1200" cap="none" spc="0" normalizeH="0" baseline="0" noProof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rPr>
                <a:t>= 1, </a:t>
              </a:r>
              <a:r>
                <a:rPr kumimoji="0" lang="en-US" altLang="zh-CN" sz="1665" b="1" i="1" u="sng" kern="1200" cap="none" spc="0" normalizeH="0" baseline="0" noProof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rPr>
                <a:t>m </a:t>
              </a:r>
              <a:r>
                <a:rPr kumimoji="0" lang="en-US" altLang="zh-CN" sz="1665" b="1" u="sng" kern="1200" cap="none" spc="0" normalizeH="0" baseline="0" noProof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rPr>
                <a:t>= 0  +1   -1 </a:t>
              </a:r>
              <a:r>
                <a:rPr kumimoji="0" lang="zh-CN" altLang="en-US" sz="1665" b="1" u="sng" kern="1200" cap="none" spc="0" normalizeH="0" baseline="0" noProof="0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rPr>
                <a:t>）  </a:t>
              </a:r>
              <a:r>
                <a:rPr kumimoji="0" lang="en-US" altLang="zh-CN" sz="1665" b="1" kern="1200" cap="none" spc="0" normalizeH="0" baseline="0" noProof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rPr>
                <a:t>: </a:t>
              </a:r>
            </a:p>
            <a:p>
              <a:pPr marR="0" algn="ctr" defTabSz="914400">
                <a:spcBef>
                  <a:spcPct val="50000"/>
                </a:spcBef>
                <a:buClr>
                  <a:srgbClr val="9999CC"/>
                </a:buClr>
                <a:buSzPct val="80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1665" b="1" i="1" kern="1200" cap="none" spc="0" normalizeH="0" baseline="0" noProof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rPr>
                <a:t>m </a:t>
              </a:r>
              <a:r>
                <a:rPr kumimoji="0" lang="zh-CN" altLang="en-US" sz="1665" b="1" i="1" kern="1200" cap="none" spc="0" normalizeH="0" baseline="0" noProof="0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rPr>
                <a:t>三</a:t>
              </a:r>
              <a:r>
                <a:rPr kumimoji="0" lang="zh-CN" altLang="zh-CN" sz="1665" b="1" kern="1200" cap="none" spc="0" normalizeH="0" baseline="0" noProof="0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rPr>
                <a:t>种取值,空间</a:t>
              </a:r>
              <a:r>
                <a:rPr kumimoji="0" lang="zh-CN" altLang="en-US" sz="1665" b="1" kern="1200" cap="none" spc="0" normalizeH="0" baseline="0" noProof="0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rPr>
                <a:t>三</a:t>
              </a:r>
              <a:r>
                <a:rPr kumimoji="0" lang="zh-CN" altLang="zh-CN" sz="1665" b="1" kern="1200" cap="none" spc="0" normalizeH="0" baseline="0" noProof="0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rPr>
                <a:t>种取向,</a:t>
              </a:r>
              <a:r>
                <a:rPr kumimoji="0" lang="zh-CN" altLang="en-US" sz="1665" b="1" kern="1200" cap="none" spc="0" normalizeH="0" baseline="0" noProof="0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rPr>
                <a:t>三</a:t>
              </a:r>
              <a:r>
                <a:rPr kumimoji="0" lang="zh-CN" altLang="zh-CN" sz="1665" b="1" kern="1200" cap="none" spc="0" normalizeH="0" baseline="0" noProof="0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rPr>
                <a:t>条</a:t>
              </a:r>
              <a:r>
                <a:rPr kumimoji="0" lang="zh-CN" altLang="en-US" sz="1665" b="1" i="1" kern="1200" cap="none" spc="0" normalizeH="0" baseline="0" noProof="0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rPr>
                <a:t>简并的</a:t>
              </a:r>
              <a:r>
                <a:rPr kumimoji="0" lang="en-US" altLang="zh-CN" sz="1665" b="1" i="1" kern="1200" cap="none" spc="0" normalizeH="0" baseline="0" noProof="0">
                  <a:solidFill>
                    <a:srgbClr val="000000"/>
                  </a:solidFill>
                  <a:latin typeface="Times New Roman" panose="02020603050405020304" pitchFamily="18" charset="0"/>
                  <a:ea typeface="华文新魏" panose="02010800040101010101" pitchFamily="2" charset="-122"/>
                  <a:cs typeface="+mn-cs"/>
                </a:rPr>
                <a:t>p</a:t>
              </a:r>
              <a:r>
                <a:rPr kumimoji="0" lang="zh-CN" altLang="zh-CN" sz="1665" b="1" kern="1200" cap="none" spc="0" normalizeH="0" baseline="0" noProof="0" dirty="0">
                  <a:solidFill>
                    <a:srgbClr val="000000"/>
                  </a:solidFill>
                  <a:latin typeface="楷体_GB2312" panose="02010609030101010101" pitchFamily="49" charset="-122"/>
                  <a:ea typeface="楷体_GB2312" panose="02010609030101010101" pitchFamily="49" charset="-122"/>
                  <a:cs typeface="+mn-cs"/>
                </a:rPr>
                <a:t>轨道.</a:t>
              </a:r>
            </a:p>
          </p:txBody>
        </p: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58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58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9458" name="图片 659457" descr="图0111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738" y="0"/>
            <a:ext cx="3748087" cy="4408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9459" name="文本框 659458"/>
          <p:cNvSpPr txBox="1"/>
          <p:nvPr/>
        </p:nvSpPr>
        <p:spPr>
          <a:xfrm>
            <a:off x="1512888" y="4310063"/>
            <a:ext cx="6540500" cy="846138"/>
          </a:xfrm>
          <a:prstGeom prst="rect">
            <a:avLst/>
          </a:prstGeom>
          <a:noFill/>
          <a:ln w="9525">
            <a:noFill/>
          </a:ln>
        </p:spPr>
        <p:txBody>
          <a:bodyPr lIns="76729" tIns="38364" rIns="76729" bIns="38364" anchor="ctr" anchorCtr="0">
            <a:spAutoFit/>
          </a:bodyPr>
          <a:lstStyle/>
          <a:p>
            <a:pPr marR="0" algn="ctr" defTabSz="914400">
              <a:spcBef>
                <a:spcPct val="50000"/>
              </a:spcBef>
              <a:buClr>
                <a:srgbClr val="9999CC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u="sng" kern="1200" cap="none" spc="0" normalizeH="0" baseline="0" noProof="0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d </a:t>
            </a:r>
            <a:r>
              <a:rPr kumimoji="0" lang="zh-CN" altLang="zh-CN" sz="2000" b="1" u="sng" kern="1200" cap="none" spc="0" normalizeH="0" baseline="0" noProof="0" dirty="0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轨道(</a:t>
            </a:r>
            <a:r>
              <a:rPr kumimoji="0" lang="en-US" altLang="zh-CN" sz="2000" b="1" i="1" u="sng" kern="1200" cap="none" spc="0" normalizeH="0" baseline="0" noProof="0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l </a:t>
            </a:r>
            <a:r>
              <a:rPr kumimoji="0" lang="en-US" altLang="zh-CN" sz="2000" b="1" u="sng" kern="1200" cap="none" spc="0" normalizeH="0" baseline="0" noProof="0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= 2, </a:t>
            </a:r>
            <a:r>
              <a:rPr kumimoji="0" lang="en-US" altLang="zh-CN" sz="2000" b="1" i="1" u="sng" kern="1200" cap="none" spc="0" normalizeH="0" baseline="0" noProof="0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m </a:t>
            </a:r>
            <a:r>
              <a:rPr kumimoji="0" lang="en-US" altLang="zh-CN" sz="2000" b="1" u="sng" kern="1200" cap="none" spc="0" normalizeH="0" baseline="0" noProof="0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= +2, +1,  0,  -1, -2) </a:t>
            </a:r>
            <a:r>
              <a:rPr kumimoji="0" lang="en-US" altLang="zh-CN" sz="2000" b="1" kern="1200" cap="none" spc="0" normalizeH="0" baseline="0" noProof="0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:  </a:t>
            </a:r>
          </a:p>
          <a:p>
            <a:pPr marR="0" algn="ctr" defTabSz="914400">
              <a:spcBef>
                <a:spcPct val="50000"/>
              </a:spcBef>
              <a:buClr>
                <a:srgbClr val="9999CC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1" kern="1200" cap="none" spc="0" normalizeH="0" baseline="0" noProof="0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m </a:t>
            </a:r>
            <a:r>
              <a:rPr kumimoji="0" lang="zh-CN" altLang="en-US" sz="2000" b="1" kern="1200" cap="none" spc="0" normalizeH="0" baseline="0" noProof="0" dirty="0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五</a:t>
            </a:r>
            <a:r>
              <a:rPr kumimoji="0" lang="zh-CN" altLang="zh-CN" sz="2000" b="1" kern="1200" cap="none" spc="0" normalizeH="0" baseline="0" noProof="0" dirty="0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种取值, 空间五种取向, 五条等价(简并) </a:t>
            </a:r>
            <a:r>
              <a:rPr kumimoji="0" lang="en-US" altLang="zh-CN" sz="2000" b="1" i="1" kern="1200" cap="none" spc="0" normalizeH="0" baseline="0" noProof="0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d </a:t>
            </a:r>
            <a:r>
              <a:rPr kumimoji="0" lang="zh-CN" altLang="zh-CN" sz="2000" b="1" kern="1200" cap="none" spc="0" normalizeH="0" baseline="0" noProof="0" dirty="0">
                <a:solidFill>
                  <a:srgbClr val="FFFFFF"/>
                </a:solidFill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轨道.</a:t>
            </a:r>
            <a:endParaRPr kumimoji="0" lang="zh-CN" altLang="en-US" sz="1665" b="1" kern="1200" cap="none" spc="0" normalizeH="0" baseline="0" noProof="0" dirty="0">
              <a:solidFill>
                <a:srgbClr val="FFFFFF"/>
              </a:solidFill>
              <a:latin typeface="楷体_GB2312" panose="02010609030101010101" pitchFamily="49" charset="-122"/>
              <a:ea typeface="楷体_GB2312" panose="02010609030101010101" pitchFamily="49" charset="-122"/>
              <a:cs typeface="+mn-cs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5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945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矩形 1"/>
          <p:cNvSpPr/>
          <p:nvPr/>
        </p:nvSpPr>
        <p:spPr>
          <a:xfrm>
            <a:off x="179388" y="757238"/>
            <a:ext cx="8785225" cy="21605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④自旋量子数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    与电子的自旋状态对应的量子数称作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自旋量子数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符号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</a:t>
            </a:r>
            <a:r>
              <a:rPr lang="en-US" altLang="zh-CN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只有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+1/2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或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-1/2 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两种取值，有时用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+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和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表示相反的自旋。</a:t>
            </a:r>
            <a:r>
              <a:rPr lang="zh-CN" altLang="fr-FR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（</a:t>
            </a:r>
            <a:r>
              <a:rPr lang="zh-CN" altLang="fr-FR" b="1" i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不是从薛定谔方程得来的，而是引入的</a:t>
            </a:r>
            <a:r>
              <a:rPr lang="zh-CN" altLang="fr-FR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+mn-ea"/>
              </a:rPr>
              <a:t>）   </a:t>
            </a:r>
            <a:endParaRPr lang="zh-CN" altLang="fr-FR" b="1" dirty="0">
              <a:solidFill>
                <a:srgbClr val="FFFF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chemeClr val="bg1"/>
            </a:gs>
            <a:gs pos="6000">
              <a:srgbClr val="92D050"/>
            </a:gs>
            <a:gs pos="81000">
              <a:srgbClr val="CCECFF"/>
            </a:gs>
            <a:gs pos="93000">
              <a:srgbClr val="00B0F0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739" name="文本占位符 756738"/>
          <p:cNvSpPr>
            <a:spLocks noGrp="1"/>
          </p:cNvSpPr>
          <p:nvPr>
            <p:ph idx="1"/>
          </p:nvPr>
        </p:nvSpPr>
        <p:spPr>
          <a:xfrm>
            <a:off x="792163" y="174625"/>
            <a:ext cx="7845425" cy="2017713"/>
          </a:xfrm>
        </p:spPr>
        <p:txBody>
          <a:bodyPr/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33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主量子数</a:t>
            </a:r>
            <a:r>
              <a:rPr kumimoji="0" lang="en-US" altLang="zh-CN" sz="233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kumimoji="0" lang="zh-CN" altLang="en-US" sz="233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决定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能层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33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主量子数</a:t>
            </a:r>
            <a:r>
              <a:rPr kumimoji="0" lang="en-US" altLang="zh-CN" sz="233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kumimoji="0" lang="zh-CN" altLang="en-US" sz="233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和角量子数</a:t>
            </a:r>
            <a:r>
              <a:rPr kumimoji="0" lang="en-US" altLang="zh-CN" sz="233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kumimoji="0" lang="zh-CN" altLang="en-US" sz="233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决定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能级</a:t>
            </a:r>
            <a:endParaRPr kumimoji="0" lang="zh-CN" altLang="en-US" sz="3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33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主量子数</a:t>
            </a:r>
            <a:r>
              <a:rPr kumimoji="0" lang="en-US" altLang="zh-CN" sz="233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kumimoji="0" lang="zh-CN" altLang="en-US" sz="233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、角量子数</a:t>
            </a:r>
            <a:r>
              <a:rPr kumimoji="0" lang="en-US" altLang="zh-CN" sz="233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kumimoji="0" lang="zh-CN" altLang="en-US" sz="233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和磁量子数</a:t>
            </a:r>
            <a:r>
              <a:rPr kumimoji="0" lang="en-US" altLang="zh-CN" sz="233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kumimoji="0" lang="zh-CN" altLang="en-US" sz="233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决定</a:t>
            </a: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原子轨道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33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主量子数</a:t>
            </a:r>
            <a:r>
              <a:rPr kumimoji="0" lang="en-US" altLang="zh-CN" sz="233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kumimoji="0" lang="zh-CN" altLang="en-US" sz="233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、角量子数</a:t>
            </a:r>
            <a:r>
              <a:rPr kumimoji="0" lang="en-US" altLang="zh-CN" sz="233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kumimoji="0" lang="zh-CN" altLang="en-US" sz="233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、磁量子数</a:t>
            </a:r>
            <a:r>
              <a:rPr kumimoji="0" lang="en-US" altLang="zh-CN" sz="233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kumimoji="0" lang="zh-CN" altLang="en-US" sz="233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和自旋量子数</a:t>
            </a:r>
            <a:r>
              <a:rPr kumimoji="0" lang="en-US" altLang="zh-CN" sz="2335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kumimoji="0" lang="en-US" altLang="zh-CN" sz="2335" b="0" i="0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kumimoji="0" lang="zh-CN" altLang="en-US" sz="233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决定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一个电子的运动状态</a:t>
            </a:r>
          </a:p>
          <a:p>
            <a:pPr marL="342900" marR="0" lvl="0" indent="-342900" algn="l" defTabSz="914400" rtl="0" eaLnBrk="0" fontAlgn="base" latinLnBrk="0" hangingPunct="0">
              <a:lnSpc>
                <a:spcPct val="130000"/>
              </a:lnSpc>
              <a:spcBef>
                <a:spcPts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33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</a:t>
            </a:r>
            <a:endParaRPr kumimoji="0" lang="zh-CN" altLang="en-US" sz="2335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072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663" y="3025775"/>
            <a:ext cx="2457450" cy="20399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>
            <a:off x="179512" y="3514382"/>
            <a:ext cx="6156176" cy="82099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通常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n</a:t>
            </a: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和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l</a:t>
            </a: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相同，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m</a:t>
            </a:r>
            <a:r>
              <a:rPr kumimoji="0" lang="zh-CN" alt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不同</a:t>
            </a: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的轨道，能量相同，</a:t>
            </a:r>
            <a:endParaRPr kumimoji="0" lang="en-US" altLang="zh-CN" sz="2335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称为</a:t>
            </a: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E30000"/>
                    </a:gs>
                    <a:gs pos="100000">
                      <a:srgbClr val="760303"/>
                    </a:gs>
                  </a:gsLst>
                  <a:lin scaled="0"/>
                </a:gra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简并或等价轨道</a:t>
            </a: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0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charRg st="0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charRg st="0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6739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54068E6-0E9E-1D7A-585C-C3908DDA6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7197" y="0"/>
            <a:ext cx="3669606" cy="51435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E5EBBAD-9B3E-7059-676A-B28FE6E95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0"/>
            <a:ext cx="24625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566558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文本框 665601"/>
          <p:cNvSpPr txBox="1"/>
          <p:nvPr/>
        </p:nvSpPr>
        <p:spPr>
          <a:xfrm>
            <a:off x="1692275" y="1112838"/>
            <a:ext cx="2640013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03" name="矩形 665602"/>
          <p:cNvSpPr/>
          <p:nvPr/>
        </p:nvSpPr>
        <p:spPr>
          <a:xfrm>
            <a:off x="1271588" y="619125"/>
            <a:ext cx="6781800" cy="3656013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练习：</a:t>
            </a:r>
          </a:p>
          <a:p>
            <a:pPr marL="0" marR="0" lvl="0" indent="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</a:t>
            </a:r>
            <a:r>
              <a:rPr kumimoji="0" lang="zh-CN" altLang="fr-FR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指错：</a:t>
            </a:r>
          </a:p>
          <a:p>
            <a:pPr marL="0" marR="0" lvl="0" indent="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    </a:t>
            </a: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（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</a:t>
            </a: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）  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n=1   l=1   m=0     </a:t>
            </a:r>
          </a:p>
          <a:p>
            <a:pPr marL="0" marR="0" lvl="0" indent="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    （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）  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n=2   l=0  m=±1  </a:t>
            </a:r>
          </a:p>
          <a:p>
            <a:pPr marL="0" marR="0" lvl="0" indent="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    （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3</a:t>
            </a: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）  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n=3   l=3  m=±1  </a:t>
            </a:r>
          </a:p>
          <a:p>
            <a:pPr marL="0" marR="0" lvl="0" indent="0" algn="l" defTabSz="914400" rtl="0" eaLnBrk="0" fontAlgn="base" latinLnBrk="0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        （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4</a:t>
            </a: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）  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n=4   l=3  m=±2</a:t>
            </a:r>
          </a:p>
        </p:txBody>
      </p:sp>
      <p:pic>
        <p:nvPicPr>
          <p:cNvPr id="31748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288" y="109538"/>
            <a:ext cx="1647825" cy="1457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文本框 666625"/>
          <p:cNvSpPr txBox="1"/>
          <p:nvPr/>
        </p:nvSpPr>
        <p:spPr>
          <a:xfrm>
            <a:off x="1692275" y="1112838"/>
            <a:ext cx="2640013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6627" name="矩形 666626"/>
          <p:cNvSpPr/>
          <p:nvPr/>
        </p:nvSpPr>
        <p:spPr>
          <a:xfrm>
            <a:off x="1271588" y="811213"/>
            <a:ext cx="6781800" cy="350520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</a:t>
            </a: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指错：</a:t>
            </a:r>
          </a:p>
          <a:p>
            <a:pPr marL="0" marR="0" lvl="0" indent="0" algn="l" defTabSz="914400" rtl="0" eaLnBrk="0" fontAlgn="base" latinLnBrk="0" hangingPunct="0">
              <a:lnSpc>
                <a:spcPct val="1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（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</a:t>
            </a: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）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n=1   l=1   m=0     (l=0)</a:t>
            </a:r>
          </a:p>
          <a:p>
            <a:pPr marL="0" marR="0" lvl="0" indent="0" algn="l" defTabSz="914400" rtl="0" eaLnBrk="0" fontAlgn="base" latinLnBrk="0" hangingPunct="0">
              <a:lnSpc>
                <a:spcPct val="1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（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）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n=2   l=0  m=±1  (l=1</a:t>
            </a: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或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m=0)</a:t>
            </a:r>
          </a:p>
          <a:p>
            <a:pPr marL="0" marR="0" lvl="0" indent="0" algn="l" defTabSz="914400" rtl="0" eaLnBrk="0" fontAlgn="base" latinLnBrk="0" hangingPunct="0">
              <a:lnSpc>
                <a:spcPct val="1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（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3</a:t>
            </a: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）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n=3   l=3  m=±1  (l=2,1,0)</a:t>
            </a:r>
          </a:p>
          <a:p>
            <a:pPr marL="0" marR="0" lvl="0" indent="0" algn="l" defTabSz="914400" rtl="0" eaLnBrk="0" fontAlgn="base" latinLnBrk="0" hangingPunct="0">
              <a:lnSpc>
                <a:spcPct val="1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（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4</a:t>
            </a:r>
            <a:r>
              <a:rPr kumimoji="0" lang="zh-CN" altLang="fr-F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）</a:t>
            </a:r>
            <a:r>
              <a:rPr kumimoji="0" lang="fr-F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n=4   l=3  m=±2</a:t>
            </a:r>
          </a:p>
        </p:txBody>
      </p:sp>
    </p:spTree>
  </p:cSld>
  <p:clrMapOvr>
    <a:masterClrMapping/>
  </p:clrMapOvr>
  <p:transition spd="med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1" name="文本占位符 759810"/>
          <p:cNvSpPr>
            <a:spLocks noGrp="1"/>
          </p:cNvSpPr>
          <p:nvPr/>
        </p:nvSpPr>
        <p:spPr>
          <a:xfrm>
            <a:off x="323850" y="238125"/>
            <a:ext cx="8562975" cy="47339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>
              <a:lnSpc>
                <a:spcPct val="110000"/>
              </a:lnSpc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、对多电子原子，和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(2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+1/2)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电子能量相等的是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    )</a:t>
            </a:r>
          </a:p>
          <a:p>
            <a:pPr marL="342900" indent="-342900">
              <a:lnSpc>
                <a:spcPct val="110000"/>
              </a:lnSpc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A.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+1/2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  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B.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+1/2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  <a:p>
            <a:pPr marL="342900" indent="-342900">
              <a:lnSpc>
                <a:spcPct val="110000"/>
              </a:lnSpc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C.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-1/2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    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D.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+1/2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）</a:t>
            </a:r>
          </a:p>
          <a:p>
            <a:pPr marL="342900" indent="-342900">
              <a:lnSpc>
                <a:spcPct val="110000"/>
              </a:lnSpc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答：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</a:p>
          <a:p>
            <a:pPr marL="342900" indent="-342900">
              <a:lnSpc>
                <a:spcPct val="110000"/>
              </a:lnSpc>
              <a:buClr>
                <a:srgbClr val="00007D"/>
              </a:buClr>
              <a:buSzPct val="75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文本占位符 761858"/>
          <p:cNvSpPr>
            <a:spLocks noGrp="1"/>
          </p:cNvSpPr>
          <p:nvPr/>
        </p:nvSpPr>
        <p:spPr>
          <a:xfrm>
            <a:off x="323850" y="1793875"/>
            <a:ext cx="8202613" cy="2362200"/>
          </a:xfr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、对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3d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电子来说 ，下列量子数表示正确的一组是（     ）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A. (3, 1, 2, +1/2 )                  B. ( 3 , 2 , 2 , +1/2 )                             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C. (3, 1, 1 , +1/2 )                  D. ( 3 , 1 , 1 , 0 )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答：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下列哪一个轨道上的电子在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YZ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平面上的电子概率密度为零（     ）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pt-BR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A. 3p</a:t>
            </a:r>
            <a:r>
              <a:rPr kumimoji="0" lang="pt-BR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r>
              <a:rPr kumimoji="0" lang="pt-BR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B. 3d</a:t>
            </a:r>
            <a:r>
              <a:rPr kumimoji="0" lang="pt-BR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r>
              <a:rPr kumimoji="0" lang="pt-BR" altLang="zh-CN" sz="2000" b="1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pt-BR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C. 3s     D. 3p</a:t>
            </a:r>
            <a:r>
              <a:rPr kumimoji="0" lang="pt-BR" altLang="zh-CN" sz="20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</a:p>
          <a:p>
            <a:pPr marL="342900" marR="0" lvl="0" indent="-342900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pt-BR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答：</a:t>
            </a:r>
            <a:r>
              <a:rPr kumimoji="0" lang="pt-BR" altLang="zh-CN" sz="2335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5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75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75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75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3"/>
          <p:cNvSpPr/>
          <p:nvPr/>
        </p:nvSpPr>
        <p:spPr>
          <a:xfrm>
            <a:off x="2411413" y="206375"/>
            <a:ext cx="4699000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3200" dirty="0">
                <a:latin typeface="Arial" panose="020B0604020202020204" pitchFamily="34" charset="0"/>
                <a:ea typeface="黑体" panose="02010609060101010101" pitchFamily="49" charset="-122"/>
              </a:rPr>
              <a:t>量子数与电子的运动状态</a:t>
            </a: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5843" name="Group 510"/>
          <p:cNvGrpSpPr/>
          <p:nvPr/>
        </p:nvGrpSpPr>
        <p:grpSpPr>
          <a:xfrm>
            <a:off x="3779838" y="3976688"/>
            <a:ext cx="1547812" cy="830262"/>
            <a:chOff x="0" y="210"/>
            <a:chExt cx="975" cy="698"/>
          </a:xfrm>
        </p:grpSpPr>
        <p:sp>
          <p:nvSpPr>
            <p:cNvPr id="35937" name="Rectangle 74"/>
            <p:cNvSpPr/>
            <p:nvPr/>
          </p:nvSpPr>
          <p:spPr>
            <a:xfrm>
              <a:off x="0" y="210"/>
              <a:ext cx="768" cy="69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3d</a:t>
              </a:r>
              <a:r>
                <a:rPr lang="en-US" altLang="zh-CN" sz="1600" b="1" baseline="-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z</a:t>
              </a:r>
              <a:r>
                <a:rPr lang="en-US" altLang="zh-CN" sz="1600" b="1" baseline="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3d</a:t>
              </a:r>
              <a:r>
                <a:rPr lang="en-US" altLang="zh-CN" sz="1600" b="1" baseline="-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xz</a:t>
              </a:r>
              <a:r>
                <a:rPr lang="en-US" altLang="zh-CN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3d</a:t>
              </a:r>
              <a:r>
                <a:rPr lang="en-US" altLang="zh-CN" sz="1600" b="1" baseline="-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yz</a:t>
              </a:r>
              <a:endParaRPr lang="en-US" altLang="zh-CN" sz="1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buNone/>
              </a:pPr>
              <a:r>
                <a:rPr lang="en-US" altLang="zh-CN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3d</a:t>
              </a:r>
              <a:r>
                <a:rPr lang="en-US" altLang="zh-CN" sz="1600" b="1" baseline="-30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xy  </a:t>
              </a:r>
              <a:r>
                <a:rPr lang="en-US" altLang="zh-CN" sz="16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3d</a:t>
              </a:r>
            </a:p>
          </p:txBody>
        </p:sp>
        <p:graphicFrame>
          <p:nvGraphicFramePr>
            <p:cNvPr id="35938" name="Object 12"/>
            <p:cNvGraphicFramePr>
              <a:graphicFrameLocks noChangeAspect="1"/>
            </p:cNvGraphicFramePr>
            <p:nvPr/>
          </p:nvGraphicFramePr>
          <p:xfrm>
            <a:off x="612" y="709"/>
            <a:ext cx="363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464185" imgH="231775" progId="Equation.3">
                    <p:embed/>
                  </p:oleObj>
                </mc:Choice>
                <mc:Fallback>
                  <p:oleObj r:id="rId2" imgW="464185" imgH="231775" progId="Equation.3">
                    <p:embed/>
                    <p:pic>
                      <p:nvPicPr>
                        <p:cNvPr id="0" name="图片 3075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612" y="709"/>
                          <a:ext cx="363" cy="18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81" name="Group 509"/>
          <p:cNvGraphicFramePr>
            <a:graphicFrameLocks noGrp="1"/>
          </p:cNvGraphicFramePr>
          <p:nvPr/>
        </p:nvGraphicFramePr>
        <p:xfrm>
          <a:off x="179388" y="950913"/>
          <a:ext cx="8713787" cy="3872233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01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77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01693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15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状态总数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15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n</a:t>
                      </a:r>
                      <a:r>
                        <a:rPr kumimoji="0" lang="en-US" altLang="zh-CN" sz="15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93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取值</a:t>
                      </a:r>
                    </a:p>
                  </a:txBody>
                  <a:tcPr marT="34260" marB="342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电子层符号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取值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能级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符号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取值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原子轨道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取值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符号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001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符号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轨道数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69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60" marB="342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1s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1s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±1/2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↑↓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693"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34260" marB="342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2s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2s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±1/2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↑↓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8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2p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±1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2p</a:t>
                      </a:r>
                      <a:r>
                        <a:rPr kumimoji="0" lang="en-US" altLang="zh-CN" sz="15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2p</a:t>
                      </a:r>
                      <a:r>
                        <a:rPr kumimoji="0" lang="en-US" altLang="zh-CN" sz="15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2p</a:t>
                      </a:r>
                      <a:r>
                        <a:rPr kumimoji="0" lang="en-US" altLang="zh-CN" sz="15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±1/2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±1/2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↑↓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↑↓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693"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34260" marB="34260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3s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3s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±1/2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↑↓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86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3p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±1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3p</a:t>
                      </a:r>
                      <a:r>
                        <a:rPr kumimoji="0" lang="en-US" altLang="zh-CN" sz="15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z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3p</a:t>
                      </a:r>
                      <a:r>
                        <a:rPr kumimoji="0" lang="en-US" altLang="zh-CN" sz="15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3p</a:t>
                      </a:r>
                      <a:r>
                        <a:rPr kumimoji="0" lang="en-US" altLang="zh-CN" sz="15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±1/2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±1/2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↑↓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↑↓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68037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3d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±1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±2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±1/2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±1/2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±1/2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↑↓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↑↓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↑↓</a:t>
                      </a:r>
                    </a:p>
                  </a:txBody>
                  <a:tcPr marT="34260" marB="3426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5935" name="Rectangle 506"/>
          <p:cNvSpPr/>
          <p:nvPr/>
        </p:nvSpPr>
        <p:spPr>
          <a:xfrm>
            <a:off x="0" y="3546475"/>
            <a:ext cx="184150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584" name="Text Box 512"/>
          <p:cNvSpPr txBox="1"/>
          <p:nvPr/>
        </p:nvSpPr>
        <p:spPr>
          <a:xfrm>
            <a:off x="971550" y="1276350"/>
            <a:ext cx="7272338" cy="1446213"/>
          </a:xfrm>
          <a:prstGeom prst="rect">
            <a:avLst/>
          </a:prstGeom>
          <a:gradFill rotWithShape="1">
            <a:gsLst>
              <a:gs pos="0">
                <a:srgbClr val="008000"/>
              </a:gs>
              <a:gs pos="100000">
                <a:srgbClr val="CCFF66"/>
              </a:gs>
            </a:gsLst>
            <a:lin ang="5400000" scaled="1"/>
            <a:tileRect/>
          </a:gradFill>
          <a:ln w="9525" cap="flat" cmpd="sng">
            <a:solidFill>
              <a:srgbClr val="CCFF66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defTabSz="914400" eaLnBrk="1" hangingPunct="1">
              <a:spcBef>
                <a:spcPct val="50000"/>
              </a:spcBef>
              <a:tabLst>
                <a:tab pos="176530" algn="l"/>
              </a:tabLst>
            </a:pPr>
            <a:r>
              <a:rPr lang="zh-CN" altLang="en-US" sz="32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 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用</a:t>
            </a:r>
            <a:r>
              <a:rPr lang="en-US" altLang="zh-CN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、</a:t>
            </a:r>
            <a:r>
              <a:rPr lang="en-US" altLang="zh-CN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l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、</a:t>
            </a:r>
            <a:r>
              <a:rPr lang="en-US" altLang="zh-CN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三个量子数可以确定一个原子轨道，用</a:t>
            </a:r>
            <a:r>
              <a:rPr lang="en-US" altLang="zh-CN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、</a:t>
            </a:r>
            <a:r>
              <a:rPr lang="en-US" altLang="zh-CN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l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、</a:t>
            </a:r>
            <a:r>
              <a:rPr lang="en-US" altLang="zh-CN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、</a:t>
            </a:r>
            <a:r>
              <a:rPr lang="en-US" altLang="zh-CN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s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四个量子数可以确定核外电子的运动状态。 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427177"/>
            <a:ext cx="2362200" cy="156305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36867" name="Rectangle 12"/>
          <p:cNvSpPr/>
          <p:nvPr/>
        </p:nvSpPr>
        <p:spPr>
          <a:xfrm>
            <a:off x="107950" y="128588"/>
            <a:ext cx="3775075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3200" dirty="0">
                <a:solidFill>
                  <a:srgbClr val="9900CC"/>
                </a:solidFill>
                <a:latin typeface="Times New Roman" panose="02020603050405020304" pitchFamily="18" charset="0"/>
              </a:rPr>
              <a:t>3.</a:t>
            </a:r>
            <a:r>
              <a:rPr lang="zh-CN" altLang="en-US" sz="3200" dirty="0">
                <a:solidFill>
                  <a:srgbClr val="9900CC"/>
                </a:solidFill>
                <a:latin typeface="Times New Roman" panose="02020603050405020304" pitchFamily="18" charset="0"/>
              </a:rPr>
              <a:t>概率密度与电子云</a:t>
            </a:r>
          </a:p>
        </p:txBody>
      </p:sp>
      <p:sp>
        <p:nvSpPr>
          <p:cNvPr id="36868" name="Rectangle 13"/>
          <p:cNvSpPr/>
          <p:nvPr/>
        </p:nvSpPr>
        <p:spPr>
          <a:xfrm>
            <a:off x="107950" y="712788"/>
            <a:ext cx="8943975" cy="12001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概率密度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：核外电子在空间某处单位体积内出现的概率。</a:t>
            </a:r>
            <a:endParaRPr lang="en-US" altLang="zh-CN" sz="2400" b="1" dirty="0"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             小黑点疏密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空间各点的概率密度大小，</a:t>
            </a:r>
            <a:endParaRPr lang="en-US" altLang="zh-CN" sz="2400" b="1" dirty="0"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            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黑点越密集，概率密度越大。</a:t>
            </a:r>
          </a:p>
        </p:txBody>
      </p:sp>
      <p:sp>
        <p:nvSpPr>
          <p:cNvPr id="7" name="Rectangle 14"/>
          <p:cNvSpPr/>
          <p:nvPr/>
        </p:nvSpPr>
        <p:spPr>
          <a:xfrm>
            <a:off x="212725" y="1995488"/>
            <a:ext cx="842486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电子云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：以黑点疏密形象地表示电子概率密度分布的图形。 </a:t>
            </a:r>
          </a:p>
        </p:txBody>
      </p:sp>
      <p:sp>
        <p:nvSpPr>
          <p:cNvPr id="8" name="Rectangle 18"/>
          <p:cNvSpPr/>
          <p:nvPr/>
        </p:nvSpPr>
        <p:spPr>
          <a:xfrm>
            <a:off x="215900" y="3952875"/>
            <a:ext cx="8728075" cy="12001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电子云的界面图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: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把电子出现概率密度相等的地方联接起来，作为一个界面，使界面内电子出现概率很大（如＞ 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95%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），在界面外概率很小（如＜ 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5%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）。</a:t>
            </a:r>
          </a:p>
        </p:txBody>
      </p:sp>
      <p:pic>
        <p:nvPicPr>
          <p:cNvPr id="129026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3025" y="2528888"/>
            <a:ext cx="1682750" cy="135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17"/>
          <p:cNvSpPr/>
          <p:nvPr/>
        </p:nvSpPr>
        <p:spPr>
          <a:xfrm>
            <a:off x="6084888" y="3519488"/>
            <a:ext cx="2005012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1800" b="1" dirty="0">
                <a:latin typeface="Times New Roman" panose="02020603050405020304" pitchFamily="18" charset="0"/>
              </a:rPr>
              <a:t>氢原子的</a:t>
            </a:r>
            <a:r>
              <a:rPr lang="en-US" altLang="zh-CN" sz="1800" b="1" dirty="0">
                <a:latin typeface="Times New Roman" panose="02020603050405020304" pitchFamily="18" charset="0"/>
              </a:rPr>
              <a:t>1s</a:t>
            </a:r>
            <a:r>
              <a:rPr lang="zh-CN" altLang="en-US" sz="1800" b="1" dirty="0">
                <a:latin typeface="Times New Roman" panose="02020603050405020304" pitchFamily="18" charset="0"/>
              </a:rPr>
              <a:t>电子云</a:t>
            </a:r>
            <a:endParaRPr lang="en-US" altLang="zh-CN" sz="1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9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29"/>
          <p:cNvSpPr/>
          <p:nvPr/>
        </p:nvSpPr>
        <p:spPr>
          <a:xfrm>
            <a:off x="179388" y="87313"/>
            <a:ext cx="5608637" cy="646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3600" dirty="0">
                <a:solidFill>
                  <a:srgbClr val="9900CC"/>
                </a:solidFill>
                <a:latin typeface="Times New Roman" panose="02020603050405020304" pitchFamily="18" charset="0"/>
              </a:rPr>
              <a:t>4.</a:t>
            </a:r>
            <a:r>
              <a:rPr lang="zh-CN" altLang="en-US" sz="3600" dirty="0">
                <a:solidFill>
                  <a:srgbClr val="9900CC"/>
                </a:solidFill>
                <a:latin typeface="Times New Roman" panose="02020603050405020304" pitchFamily="18" charset="0"/>
              </a:rPr>
              <a:t>原子轨道与电子云的图像</a:t>
            </a:r>
          </a:p>
        </p:txBody>
      </p:sp>
      <p:sp>
        <p:nvSpPr>
          <p:cNvPr id="37891" name="Rectangle 130"/>
          <p:cNvSpPr/>
          <p:nvPr/>
        </p:nvSpPr>
        <p:spPr>
          <a:xfrm>
            <a:off x="250825" y="735013"/>
            <a:ext cx="4219575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defTabSz="914400">
              <a:tabLst>
                <a:tab pos="342900" algn="l"/>
                <a:tab pos="457200" algn="l"/>
              </a:tabLst>
            </a:pPr>
            <a:r>
              <a:rPr lang="en-US" altLang="zh-CN" sz="3200" dirty="0">
                <a:latin typeface="Times New Roman" panose="02020603050405020304" pitchFamily="18" charset="0"/>
              </a:rPr>
              <a:t>1)</a:t>
            </a:r>
            <a:r>
              <a:rPr lang="zh-CN" altLang="en-US" sz="3200" dirty="0">
                <a:latin typeface="Times New Roman" panose="02020603050405020304" pitchFamily="18" charset="0"/>
              </a:rPr>
              <a:t>原子轨道角度分布图</a:t>
            </a:r>
          </a:p>
        </p:txBody>
      </p:sp>
      <p:sp>
        <p:nvSpPr>
          <p:cNvPr id="37892" name="Rectangle 133"/>
          <p:cNvSpPr/>
          <p:nvPr/>
        </p:nvSpPr>
        <p:spPr>
          <a:xfrm>
            <a:off x="395288" y="1419225"/>
            <a:ext cx="3671887" cy="3540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  角度分布图中“﹢、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﹣”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号，不是表示正、负电荷，而是表示波函数的角度部分 </a:t>
            </a:r>
            <a:r>
              <a:rPr lang="en-US" altLang="zh-CN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Y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值是正值还是负值。</a:t>
            </a:r>
          </a:p>
          <a:p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   符号相同，对称性相同；符号相反，对称性不同或反对称  </a:t>
            </a:r>
          </a:p>
        </p:txBody>
      </p:sp>
      <p:pic>
        <p:nvPicPr>
          <p:cNvPr id="37893" name="Picture 134" descr="51_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538" y="628650"/>
            <a:ext cx="4176712" cy="41576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64"/>
          <p:cNvSpPr/>
          <p:nvPr/>
        </p:nvSpPr>
        <p:spPr>
          <a:xfrm>
            <a:off x="179388" y="122238"/>
            <a:ext cx="4262437" cy="646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defTabSz="914400">
              <a:tabLst>
                <a:tab pos="342900" algn="l"/>
                <a:tab pos="457200" algn="l"/>
              </a:tabLst>
            </a:pPr>
            <a:r>
              <a:rPr lang="en-US" altLang="zh-CN" sz="3600" dirty="0">
                <a:latin typeface="Times New Roman" panose="02020603050405020304" pitchFamily="18" charset="0"/>
              </a:rPr>
              <a:t>2)</a:t>
            </a:r>
            <a:r>
              <a:rPr lang="zh-CN" altLang="en-US" sz="3600" dirty="0">
                <a:latin typeface="Times New Roman" panose="02020603050405020304" pitchFamily="18" charset="0"/>
              </a:rPr>
              <a:t>电子云角度分布图</a:t>
            </a:r>
          </a:p>
        </p:txBody>
      </p:sp>
      <p:sp>
        <p:nvSpPr>
          <p:cNvPr id="38915" name="Rectangle 66"/>
          <p:cNvSpPr/>
          <p:nvPr/>
        </p:nvSpPr>
        <p:spPr>
          <a:xfrm>
            <a:off x="157163" y="3363913"/>
            <a:ext cx="9001125" cy="16303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电子云角度分布图与原子轨道角度分布图的区别：①原子轨道的角度分布有“﹢、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﹣”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号之分，而电子云角度分布没有“﹢、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﹣”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号；②除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s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轨道电子云外，电子云的角度分布图形比原子轨道的角度分布图形“瘦”了些。</a:t>
            </a:r>
          </a:p>
        </p:txBody>
      </p:sp>
      <p:pic>
        <p:nvPicPr>
          <p:cNvPr id="38916" name="Picture 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" y="844550"/>
            <a:ext cx="3889375" cy="25923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8917" name="Picture 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563" y="803275"/>
            <a:ext cx="4176712" cy="26336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1"/>
          <p:cNvSpPr>
            <a:spLocks noChangeArrowheads="1"/>
          </p:cNvSpPr>
          <p:nvPr/>
        </p:nvSpPr>
        <p:spPr bwMode="auto">
          <a:xfrm>
            <a:off x="214313" y="84138"/>
            <a:ext cx="4259263" cy="765175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165048" bIns="165048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5.1.3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原子核外电子的排布</a:t>
            </a:r>
          </a:p>
        </p:txBody>
      </p:sp>
      <p:sp>
        <p:nvSpPr>
          <p:cNvPr id="39939" name="Rectangle 72"/>
          <p:cNvSpPr/>
          <p:nvPr/>
        </p:nvSpPr>
        <p:spPr>
          <a:xfrm>
            <a:off x="179388" y="830263"/>
            <a:ext cx="4224337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dirty="0">
                <a:solidFill>
                  <a:srgbClr val="9900CC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dirty="0">
                <a:solidFill>
                  <a:srgbClr val="9900CC"/>
                </a:solidFill>
                <a:latin typeface="Times New Roman" panose="02020603050405020304" pitchFamily="18" charset="0"/>
              </a:rPr>
              <a:t>多电子原子轨道的能级 </a:t>
            </a:r>
          </a:p>
        </p:txBody>
      </p:sp>
      <p:pic>
        <p:nvPicPr>
          <p:cNvPr id="39940" name="Picture 73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88" y="1276350"/>
            <a:ext cx="4321175" cy="3402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41" name="Rectangle 74"/>
          <p:cNvSpPr/>
          <p:nvPr/>
        </p:nvSpPr>
        <p:spPr>
          <a:xfrm>
            <a:off x="809625" y="4706938"/>
            <a:ext cx="3070225" cy="4016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</a:rPr>
              <a:t>多电子原子的近似能级图 </a:t>
            </a:r>
          </a:p>
        </p:txBody>
      </p:sp>
      <p:sp>
        <p:nvSpPr>
          <p:cNvPr id="33867" name="Rectangle 75"/>
          <p:cNvSpPr/>
          <p:nvPr/>
        </p:nvSpPr>
        <p:spPr>
          <a:xfrm>
            <a:off x="4500563" y="195263"/>
            <a:ext cx="4537075" cy="4851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indent="200025" eaLnBrk="1" hangingPunct="1">
              <a:lnSpc>
                <a:spcPct val="13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从能级近似图可见：</a:t>
            </a:r>
          </a:p>
          <a:p>
            <a:pPr indent="200025" algn="ctr" eaLnBrk="1" hangingPunct="1">
              <a:lnSpc>
                <a:spcPct val="13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⑴ 当角量子数</a:t>
            </a:r>
            <a:r>
              <a:rPr lang="en-US" altLang="zh-CN" sz="20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l</a:t>
            </a:r>
            <a:r>
              <a:rPr lang="zh-CN" altLang="en-US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相同时，随主量子数</a:t>
            </a:r>
            <a:r>
              <a:rPr lang="en-US" altLang="zh-CN" sz="20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n</a:t>
            </a:r>
            <a:r>
              <a:rPr lang="zh-CN" altLang="en-US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增大，轨道能级升高。如</a:t>
            </a:r>
          </a:p>
          <a:p>
            <a:pPr indent="200025" algn="ctr" eaLnBrk="1" hangingPunct="1">
              <a:lnSpc>
                <a:spcPct val="130000"/>
              </a:lnSpc>
            </a:pPr>
            <a:r>
              <a:rPr lang="zh-CN" altLang="pt-BR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</a:t>
            </a:r>
            <a:r>
              <a:rPr lang="pt-BR" altLang="zh-CN" sz="20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E</a:t>
            </a:r>
            <a:r>
              <a:rPr lang="pt-BR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1s﹤</a:t>
            </a:r>
            <a:r>
              <a:rPr lang="pt-BR" altLang="zh-CN" sz="20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E</a:t>
            </a:r>
            <a:r>
              <a:rPr lang="pt-BR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2s﹤</a:t>
            </a:r>
            <a:r>
              <a:rPr lang="pt-BR" altLang="zh-CN" sz="20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E</a:t>
            </a:r>
            <a:r>
              <a:rPr lang="pt-BR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3s           </a:t>
            </a:r>
          </a:p>
          <a:p>
            <a:pPr indent="200025" algn="ctr" eaLnBrk="1" hangingPunct="1">
              <a:lnSpc>
                <a:spcPct val="130000"/>
              </a:lnSpc>
            </a:pPr>
            <a:r>
              <a:rPr lang="pt-BR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</a:t>
            </a:r>
            <a:r>
              <a:rPr lang="pt-BR" altLang="zh-CN" sz="20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E</a:t>
            </a:r>
            <a:r>
              <a:rPr lang="pt-BR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2p﹤</a:t>
            </a:r>
            <a:r>
              <a:rPr lang="pt-BR" altLang="zh-CN" sz="20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E</a:t>
            </a:r>
            <a:r>
              <a:rPr lang="pt-BR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3p﹤</a:t>
            </a:r>
            <a:r>
              <a:rPr lang="pt-BR" altLang="zh-CN" sz="20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E</a:t>
            </a:r>
            <a:r>
              <a:rPr lang="pt-BR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4p   </a:t>
            </a:r>
          </a:p>
          <a:p>
            <a:pPr indent="200025" eaLnBrk="1" hangingPunct="1">
              <a:lnSpc>
                <a:spcPct val="130000"/>
              </a:lnSpc>
            </a:pPr>
            <a:r>
              <a:rPr lang="pt-BR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⑵ </a:t>
            </a:r>
            <a:r>
              <a:rPr lang="zh-CN" altLang="pt-BR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当主量子数</a:t>
            </a:r>
            <a:r>
              <a:rPr lang="en-US" altLang="zh-CN" sz="20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n</a:t>
            </a:r>
            <a:r>
              <a:rPr lang="zh-CN" altLang="en-US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相同时，随角量子数</a:t>
            </a:r>
            <a:r>
              <a:rPr lang="en-US" altLang="zh-CN" sz="20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l</a:t>
            </a:r>
            <a:r>
              <a:rPr lang="zh-CN" altLang="en-US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增大，轨道能级升高。如</a:t>
            </a:r>
          </a:p>
          <a:p>
            <a:pPr indent="200025" algn="ctr" eaLnBrk="1" hangingPunct="1">
              <a:lnSpc>
                <a:spcPct val="130000"/>
              </a:lnSpc>
            </a:pPr>
            <a:r>
              <a:rPr lang="zh-CN" altLang="pt-BR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  </a:t>
            </a:r>
            <a:r>
              <a:rPr lang="pt-BR" altLang="zh-CN" sz="20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E</a:t>
            </a:r>
            <a:r>
              <a:rPr lang="pt-BR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4s﹤</a:t>
            </a:r>
            <a:r>
              <a:rPr lang="pt-BR" altLang="zh-CN" sz="20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E</a:t>
            </a:r>
            <a:r>
              <a:rPr lang="pt-BR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4p﹤</a:t>
            </a:r>
            <a:r>
              <a:rPr lang="pt-BR" altLang="zh-CN" sz="20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E</a:t>
            </a:r>
            <a:r>
              <a:rPr lang="pt-BR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4d﹤</a:t>
            </a:r>
            <a:r>
              <a:rPr lang="pt-BR" altLang="zh-CN" sz="20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E</a:t>
            </a:r>
            <a:r>
              <a:rPr lang="pt-BR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4f</a:t>
            </a:r>
          </a:p>
          <a:p>
            <a:pPr indent="200025" algn="ctr" eaLnBrk="1" hangingPunct="1">
              <a:lnSpc>
                <a:spcPct val="130000"/>
              </a:lnSpc>
            </a:pPr>
            <a:r>
              <a:rPr lang="pt-BR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⑶ </a:t>
            </a:r>
            <a:r>
              <a:rPr lang="zh-CN" altLang="pt-BR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当主量子数和角量子数都不同时，有时会出现能级交错现象</a:t>
            </a:r>
          </a:p>
          <a:p>
            <a:pPr indent="200025" algn="ctr" eaLnBrk="1" hangingPunct="1">
              <a:lnSpc>
                <a:spcPct val="130000"/>
              </a:lnSpc>
            </a:pPr>
            <a:r>
              <a:rPr lang="zh-CN" altLang="pt-BR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 </a:t>
            </a:r>
            <a:r>
              <a:rPr lang="pt-BR" altLang="zh-CN" sz="20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E</a:t>
            </a:r>
            <a:r>
              <a:rPr lang="pt-BR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4s﹤</a:t>
            </a:r>
            <a:r>
              <a:rPr lang="pt-BR" altLang="zh-CN" sz="20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E</a:t>
            </a:r>
            <a:r>
              <a:rPr lang="pt-BR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3d ﹤</a:t>
            </a:r>
            <a:r>
              <a:rPr lang="pt-BR" altLang="zh-CN" sz="20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E</a:t>
            </a:r>
            <a:r>
              <a:rPr lang="pt-BR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4p   </a:t>
            </a:r>
          </a:p>
          <a:p>
            <a:pPr indent="200025" algn="ctr" eaLnBrk="1" hangingPunct="1">
              <a:lnSpc>
                <a:spcPct val="130000"/>
              </a:lnSpc>
            </a:pPr>
            <a:r>
              <a:rPr lang="pt-BR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</a:t>
            </a:r>
            <a:r>
              <a:rPr lang="pt-BR" altLang="zh-CN" sz="20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E</a:t>
            </a:r>
            <a:r>
              <a:rPr lang="pt-BR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5s﹤</a:t>
            </a:r>
            <a:r>
              <a:rPr lang="pt-BR" altLang="zh-CN" sz="20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E</a:t>
            </a:r>
            <a:r>
              <a:rPr lang="pt-BR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4d ﹤</a:t>
            </a:r>
            <a:r>
              <a:rPr lang="pt-BR" altLang="zh-CN" sz="20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E</a:t>
            </a:r>
            <a:r>
              <a:rPr lang="pt-BR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5p 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8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6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>
            <a:extLst>
              <a:ext uri="{FF2B5EF4-FFF2-40B4-BE49-F238E27FC236}">
                <a16:creationId xmlns:a16="http://schemas.microsoft.com/office/drawing/2014/main" id="{1D655E16-9CAD-9E83-0A77-5B4FF1E25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3" y="0"/>
            <a:ext cx="771207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8C7591A-ECD0-917B-03BF-1EB175ACF2C2}"/>
              </a:ext>
            </a:extLst>
          </p:cNvPr>
          <p:cNvSpPr txBox="1"/>
          <p:nvPr/>
        </p:nvSpPr>
        <p:spPr>
          <a:xfrm>
            <a:off x="137422" y="4803998"/>
            <a:ext cx="10971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400nm-700nm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729407722"/>
      </p:ext>
    </p:extLst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8D579D3-4A4B-70A6-B62C-F464CCCE4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6136" y="19641"/>
            <a:ext cx="2976996" cy="51435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EA8833C-49B6-1A00-1BBB-50D6C74FC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131590"/>
            <a:ext cx="5651390" cy="310698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FF50B77-5C5B-2883-7F35-28AFE1807658}"/>
              </a:ext>
            </a:extLst>
          </p:cNvPr>
          <p:cNvSpPr txBox="1"/>
          <p:nvPr/>
        </p:nvSpPr>
        <p:spPr>
          <a:xfrm>
            <a:off x="395536" y="483518"/>
            <a:ext cx="37444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氢原子光谱带</a:t>
            </a:r>
          </a:p>
        </p:txBody>
      </p:sp>
    </p:spTree>
    <p:extLst>
      <p:ext uri="{BB962C8B-B14F-4D97-AF65-F5344CB8AC3E}">
        <p14:creationId xmlns:p14="http://schemas.microsoft.com/office/powerpoint/2010/main" val="176503754"/>
      </p:ext>
    </p:extLst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0"/>
          <p:cNvSpPr/>
          <p:nvPr/>
        </p:nvSpPr>
        <p:spPr>
          <a:xfrm>
            <a:off x="79375" y="66675"/>
            <a:ext cx="6135688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3200" dirty="0">
                <a:solidFill>
                  <a:srgbClr val="9900CC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3200" dirty="0">
                <a:solidFill>
                  <a:srgbClr val="9900CC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3200" dirty="0">
                <a:solidFill>
                  <a:srgbClr val="9900CC"/>
                </a:solidFill>
                <a:latin typeface="Times New Roman" panose="02020603050405020304" pitchFamily="18" charset="0"/>
              </a:rPr>
              <a:t>基态原子的核外电子分布规则</a:t>
            </a:r>
          </a:p>
        </p:txBody>
      </p:sp>
      <p:sp>
        <p:nvSpPr>
          <p:cNvPr id="40963" name="Rectangle 51"/>
          <p:cNvSpPr/>
          <p:nvPr/>
        </p:nvSpPr>
        <p:spPr>
          <a:xfrm>
            <a:off x="179388" y="506413"/>
            <a:ext cx="3178175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1)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泡利不相容原理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0964" name="Rectangle 52"/>
          <p:cNvSpPr/>
          <p:nvPr/>
        </p:nvSpPr>
        <p:spPr>
          <a:xfrm>
            <a:off x="179388" y="1477963"/>
            <a:ext cx="2817812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2)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能量最低原理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40965" name="Rectangle 53"/>
          <p:cNvSpPr/>
          <p:nvPr/>
        </p:nvSpPr>
        <p:spPr>
          <a:xfrm>
            <a:off x="250825" y="2505075"/>
            <a:ext cx="2100263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</a:rPr>
              <a:t>3)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 洪特规则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5894" name="Rectangle 54"/>
          <p:cNvSpPr/>
          <p:nvPr/>
        </p:nvSpPr>
        <p:spPr>
          <a:xfrm>
            <a:off x="3419475" y="565150"/>
            <a:ext cx="5472113" cy="1016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一个原子内不可能有四个量子数完全相同的两个电子存在，即一个原子轨道最多只能容纳两个自旋相反的电子。 </a:t>
            </a:r>
          </a:p>
        </p:txBody>
      </p:sp>
      <p:sp>
        <p:nvSpPr>
          <p:cNvPr id="35895" name="Rectangle 55"/>
          <p:cNvSpPr/>
          <p:nvPr/>
        </p:nvSpPr>
        <p:spPr>
          <a:xfrm>
            <a:off x="3132138" y="1646238"/>
            <a:ext cx="5616575" cy="8683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电子按照原子轨道的能量由低到高的顺序依次填充，使整个原子体系处于能量最低状态。</a:t>
            </a:r>
          </a:p>
        </p:txBody>
      </p:sp>
      <p:sp>
        <p:nvSpPr>
          <p:cNvPr id="35896" name="Rectangle 56"/>
          <p:cNvSpPr/>
          <p:nvPr/>
        </p:nvSpPr>
        <p:spPr>
          <a:xfrm>
            <a:off x="2339975" y="2579688"/>
            <a:ext cx="6480175" cy="7080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电子在等价轨道上分布时，将尽可能分占不同的轨道，且自旋状态相同（自旋平行）。 </a:t>
            </a:r>
          </a:p>
        </p:txBody>
      </p:sp>
      <p:sp>
        <p:nvSpPr>
          <p:cNvPr id="35897" name="Rectangle 57"/>
          <p:cNvSpPr/>
          <p:nvPr/>
        </p:nvSpPr>
        <p:spPr>
          <a:xfrm>
            <a:off x="323850" y="4138613"/>
            <a:ext cx="8713788" cy="8302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当简并轨道处于全充满（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p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6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d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10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f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14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）、半满（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p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d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5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f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7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）和全空（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p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d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f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0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）状态时，原子结构较为稳定。</a:t>
            </a:r>
          </a:p>
        </p:txBody>
      </p:sp>
      <p:sp>
        <p:nvSpPr>
          <p:cNvPr id="35898" name="Text Box 58"/>
          <p:cNvSpPr txBox="1"/>
          <p:nvPr/>
        </p:nvSpPr>
        <p:spPr>
          <a:xfrm>
            <a:off x="684213" y="3533775"/>
            <a:ext cx="360045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如　</a:t>
            </a:r>
            <a:r>
              <a:rPr lang="en-US" altLang="zh-CN" b="1" baseline="-25000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7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N   1s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2s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2p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3</a:t>
            </a:r>
            <a:endParaRPr lang="en-US" altLang="zh-CN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59"/>
          <p:cNvGrpSpPr/>
          <p:nvPr/>
        </p:nvGrpSpPr>
        <p:grpSpPr>
          <a:xfrm>
            <a:off x="4932363" y="3436938"/>
            <a:ext cx="3313112" cy="830262"/>
            <a:chOff x="3457" y="3294"/>
            <a:chExt cx="2087" cy="760"/>
          </a:xfrm>
        </p:grpSpPr>
        <p:grpSp>
          <p:nvGrpSpPr>
            <p:cNvPr id="40972" name="Group 60"/>
            <p:cNvGrpSpPr/>
            <p:nvPr/>
          </p:nvGrpSpPr>
          <p:grpSpPr>
            <a:xfrm>
              <a:off x="3515" y="3294"/>
              <a:ext cx="1769" cy="227"/>
              <a:chOff x="3515" y="3385"/>
              <a:chExt cx="1769" cy="227"/>
            </a:xfrm>
          </p:grpSpPr>
          <p:grpSp>
            <p:nvGrpSpPr>
              <p:cNvPr id="40974" name="Group 61"/>
              <p:cNvGrpSpPr/>
              <p:nvPr/>
            </p:nvGrpSpPr>
            <p:grpSpPr>
              <a:xfrm>
                <a:off x="3515" y="3385"/>
                <a:ext cx="227" cy="227"/>
                <a:chOff x="1474" y="3702"/>
                <a:chExt cx="227" cy="227"/>
              </a:xfrm>
            </p:grpSpPr>
            <p:sp>
              <p:nvSpPr>
                <p:cNvPr id="40990" name="Oval 62"/>
                <p:cNvSpPr/>
                <p:nvPr/>
              </p:nvSpPr>
              <p:spPr>
                <a:xfrm>
                  <a:off x="1474" y="3702"/>
                  <a:ext cx="227" cy="22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40991" name="Group 63"/>
                <p:cNvGrpSpPr/>
                <p:nvPr/>
              </p:nvGrpSpPr>
              <p:grpSpPr>
                <a:xfrm>
                  <a:off x="1565" y="3724"/>
                  <a:ext cx="52" cy="193"/>
                  <a:chOff x="2789" y="3521"/>
                  <a:chExt cx="52" cy="239"/>
                </a:xfrm>
              </p:grpSpPr>
              <p:sp>
                <p:nvSpPr>
                  <p:cNvPr id="40992" name="Line 64"/>
                  <p:cNvSpPr/>
                  <p:nvPr/>
                </p:nvSpPr>
                <p:spPr>
                  <a:xfrm flipV="1">
                    <a:off x="2789" y="3521"/>
                    <a:ext cx="0" cy="227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40993" name="Line 65"/>
                  <p:cNvSpPr/>
                  <p:nvPr/>
                </p:nvSpPr>
                <p:spPr>
                  <a:xfrm>
                    <a:off x="2841" y="3533"/>
                    <a:ext cx="0" cy="227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</p:grpSp>
          </p:grpSp>
          <p:grpSp>
            <p:nvGrpSpPr>
              <p:cNvPr id="40975" name="Group 66"/>
              <p:cNvGrpSpPr/>
              <p:nvPr/>
            </p:nvGrpSpPr>
            <p:grpSpPr>
              <a:xfrm>
                <a:off x="4059" y="3385"/>
                <a:ext cx="227" cy="227"/>
                <a:chOff x="1474" y="3702"/>
                <a:chExt cx="227" cy="227"/>
              </a:xfrm>
            </p:grpSpPr>
            <p:sp>
              <p:nvSpPr>
                <p:cNvPr id="40986" name="Oval 67"/>
                <p:cNvSpPr/>
                <p:nvPr/>
              </p:nvSpPr>
              <p:spPr>
                <a:xfrm>
                  <a:off x="1474" y="3702"/>
                  <a:ext cx="227" cy="22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40987" name="Group 68"/>
                <p:cNvGrpSpPr/>
                <p:nvPr/>
              </p:nvGrpSpPr>
              <p:grpSpPr>
                <a:xfrm>
                  <a:off x="1565" y="3724"/>
                  <a:ext cx="52" cy="193"/>
                  <a:chOff x="2789" y="3521"/>
                  <a:chExt cx="52" cy="239"/>
                </a:xfrm>
              </p:grpSpPr>
              <p:sp>
                <p:nvSpPr>
                  <p:cNvPr id="40988" name="Line 69"/>
                  <p:cNvSpPr/>
                  <p:nvPr/>
                </p:nvSpPr>
                <p:spPr>
                  <a:xfrm flipV="1">
                    <a:off x="2789" y="3521"/>
                    <a:ext cx="0" cy="227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40989" name="Line 70"/>
                  <p:cNvSpPr/>
                  <p:nvPr/>
                </p:nvSpPr>
                <p:spPr>
                  <a:xfrm>
                    <a:off x="2841" y="3533"/>
                    <a:ext cx="0" cy="227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</p:grpSp>
          </p:grpSp>
          <p:grpSp>
            <p:nvGrpSpPr>
              <p:cNvPr id="40976" name="Group 71"/>
              <p:cNvGrpSpPr/>
              <p:nvPr/>
            </p:nvGrpSpPr>
            <p:grpSpPr>
              <a:xfrm>
                <a:off x="4606" y="3385"/>
                <a:ext cx="678" cy="227"/>
                <a:chOff x="2381" y="3566"/>
                <a:chExt cx="678" cy="227"/>
              </a:xfrm>
            </p:grpSpPr>
            <p:grpSp>
              <p:nvGrpSpPr>
                <p:cNvPr id="40977" name="Group 72"/>
                <p:cNvGrpSpPr/>
                <p:nvPr/>
              </p:nvGrpSpPr>
              <p:grpSpPr>
                <a:xfrm>
                  <a:off x="2381" y="3566"/>
                  <a:ext cx="227" cy="227"/>
                  <a:chOff x="2381" y="3566"/>
                  <a:chExt cx="227" cy="227"/>
                </a:xfrm>
              </p:grpSpPr>
              <p:sp>
                <p:nvSpPr>
                  <p:cNvPr id="40984" name="Oval 73"/>
                  <p:cNvSpPr/>
                  <p:nvPr/>
                </p:nvSpPr>
                <p:spPr>
                  <a:xfrm>
                    <a:off x="2381" y="3566"/>
                    <a:ext cx="227" cy="22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0985" name="Line 74"/>
                  <p:cNvSpPr/>
                  <p:nvPr/>
                </p:nvSpPr>
                <p:spPr>
                  <a:xfrm flipV="1">
                    <a:off x="2493" y="3588"/>
                    <a:ext cx="0" cy="183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</p:grpSp>
            <p:grpSp>
              <p:nvGrpSpPr>
                <p:cNvPr id="40978" name="Group 75"/>
                <p:cNvGrpSpPr/>
                <p:nvPr/>
              </p:nvGrpSpPr>
              <p:grpSpPr>
                <a:xfrm>
                  <a:off x="2608" y="3566"/>
                  <a:ext cx="227" cy="227"/>
                  <a:chOff x="2381" y="3566"/>
                  <a:chExt cx="227" cy="227"/>
                </a:xfrm>
              </p:grpSpPr>
              <p:sp>
                <p:nvSpPr>
                  <p:cNvPr id="40982" name="Oval 76"/>
                  <p:cNvSpPr/>
                  <p:nvPr/>
                </p:nvSpPr>
                <p:spPr>
                  <a:xfrm>
                    <a:off x="2381" y="3566"/>
                    <a:ext cx="227" cy="22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0983" name="Line 77"/>
                  <p:cNvSpPr/>
                  <p:nvPr/>
                </p:nvSpPr>
                <p:spPr>
                  <a:xfrm flipV="1">
                    <a:off x="2493" y="3588"/>
                    <a:ext cx="0" cy="183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</p:grpSp>
            <p:grpSp>
              <p:nvGrpSpPr>
                <p:cNvPr id="40979" name="Group 78"/>
                <p:cNvGrpSpPr/>
                <p:nvPr/>
              </p:nvGrpSpPr>
              <p:grpSpPr>
                <a:xfrm>
                  <a:off x="2832" y="3566"/>
                  <a:ext cx="227" cy="227"/>
                  <a:chOff x="2381" y="3566"/>
                  <a:chExt cx="227" cy="227"/>
                </a:xfrm>
              </p:grpSpPr>
              <p:sp>
                <p:nvSpPr>
                  <p:cNvPr id="40980" name="Oval 79"/>
                  <p:cNvSpPr/>
                  <p:nvPr/>
                </p:nvSpPr>
                <p:spPr>
                  <a:xfrm>
                    <a:off x="2381" y="3566"/>
                    <a:ext cx="227" cy="22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0981" name="Line 80"/>
                  <p:cNvSpPr/>
                  <p:nvPr/>
                </p:nvSpPr>
                <p:spPr>
                  <a:xfrm flipV="1">
                    <a:off x="2493" y="3588"/>
                    <a:ext cx="0" cy="183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</p:grpSp>
          </p:grpSp>
        </p:grpSp>
        <p:sp>
          <p:nvSpPr>
            <p:cNvPr id="40973" name="Text Box 81"/>
            <p:cNvSpPr txBox="1"/>
            <p:nvPr/>
          </p:nvSpPr>
          <p:spPr>
            <a:xfrm>
              <a:off x="3457" y="3463"/>
              <a:ext cx="2087" cy="5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36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1s    2s       2p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35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5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94" grpId="0"/>
      <p:bldP spid="35895" grpId="0"/>
      <p:bldP spid="35896" grpId="0"/>
      <p:bldP spid="35897" grpId="0"/>
      <p:bldP spid="3589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Group 213"/>
          <p:cNvGrpSpPr/>
          <p:nvPr/>
        </p:nvGrpSpPr>
        <p:grpSpPr>
          <a:xfrm>
            <a:off x="395288" y="1060450"/>
            <a:ext cx="3552825" cy="3922713"/>
            <a:chOff x="295" y="890"/>
            <a:chExt cx="2238" cy="3295"/>
          </a:xfrm>
        </p:grpSpPr>
        <p:grpSp>
          <p:nvGrpSpPr>
            <p:cNvPr id="42035" name="Group 212"/>
            <p:cNvGrpSpPr/>
            <p:nvPr/>
          </p:nvGrpSpPr>
          <p:grpSpPr>
            <a:xfrm>
              <a:off x="295" y="890"/>
              <a:ext cx="2238" cy="3295"/>
              <a:chOff x="295" y="890"/>
              <a:chExt cx="2238" cy="3295"/>
            </a:xfrm>
          </p:grpSpPr>
          <p:graphicFrame>
            <p:nvGraphicFramePr>
              <p:cNvPr id="42037" name="Object 192"/>
              <p:cNvGraphicFramePr>
                <a:graphicFrameLocks noChangeAspect="1"/>
              </p:cNvGraphicFramePr>
              <p:nvPr/>
            </p:nvGraphicFramePr>
            <p:xfrm>
              <a:off x="975" y="1797"/>
              <a:ext cx="438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" imgW="381000" imgH="381000" progId="Photoshop.Image.7">
                      <p:embed/>
                    </p:oleObj>
                  </mc:Choice>
                  <mc:Fallback>
                    <p:oleObj r:id="rId2" imgW="381000" imgH="381000" progId="Photoshop.Image.7">
                      <p:embed/>
                      <p:pic>
                        <p:nvPicPr>
                          <p:cNvPr id="0" name="图片 3078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975" y="1797"/>
                            <a:ext cx="438" cy="43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38" name="Object 193"/>
              <p:cNvGraphicFramePr>
                <a:graphicFrameLocks noChangeAspect="1"/>
              </p:cNvGraphicFramePr>
              <p:nvPr/>
            </p:nvGraphicFramePr>
            <p:xfrm>
              <a:off x="975" y="3158"/>
              <a:ext cx="438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4" imgW="381000" imgH="381000" progId="Photoshop.Image.7">
                      <p:embed/>
                    </p:oleObj>
                  </mc:Choice>
                  <mc:Fallback>
                    <p:oleObj r:id="rId4" imgW="381000" imgH="381000" progId="Photoshop.Image.7">
                      <p:embed/>
                      <p:pic>
                        <p:nvPicPr>
                          <p:cNvPr id="0" name="图片 3079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975" y="3158"/>
                            <a:ext cx="438" cy="43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39" name="Object 194"/>
              <p:cNvGraphicFramePr>
                <a:graphicFrameLocks noChangeAspect="1"/>
              </p:cNvGraphicFramePr>
              <p:nvPr/>
            </p:nvGraphicFramePr>
            <p:xfrm>
              <a:off x="991" y="906"/>
              <a:ext cx="438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5" imgW="381000" imgH="381000" progId="Photoshop.Image.7">
                      <p:embed/>
                    </p:oleObj>
                  </mc:Choice>
                  <mc:Fallback>
                    <p:oleObj r:id="rId5" imgW="381000" imgH="381000" progId="Photoshop.Image.7">
                      <p:embed/>
                      <p:pic>
                        <p:nvPicPr>
                          <p:cNvPr id="0" name="图片 3080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991" y="906"/>
                            <a:ext cx="438" cy="43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40" name="Object 195"/>
              <p:cNvGraphicFramePr>
                <a:graphicFrameLocks noChangeAspect="1"/>
              </p:cNvGraphicFramePr>
              <p:nvPr/>
            </p:nvGraphicFramePr>
            <p:xfrm>
              <a:off x="975" y="1389"/>
              <a:ext cx="438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6" imgW="381000" imgH="381000" progId="Photoshop.Image.7">
                      <p:embed/>
                    </p:oleObj>
                  </mc:Choice>
                  <mc:Fallback>
                    <p:oleObj r:id="rId6" imgW="381000" imgH="381000" progId="Photoshop.Image.7">
                      <p:embed/>
                      <p:pic>
                        <p:nvPicPr>
                          <p:cNvPr id="0" name="图片 3081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975" y="1389"/>
                            <a:ext cx="438" cy="43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41" name="Object 196"/>
              <p:cNvGraphicFramePr>
                <a:graphicFrameLocks noChangeAspect="1"/>
              </p:cNvGraphicFramePr>
              <p:nvPr/>
            </p:nvGraphicFramePr>
            <p:xfrm>
              <a:off x="340" y="3294"/>
              <a:ext cx="453" cy="4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7" imgW="381000" imgH="381000" progId="Photoshop.Image.7">
                      <p:embed/>
                    </p:oleObj>
                  </mc:Choice>
                  <mc:Fallback>
                    <p:oleObj r:id="rId7" imgW="381000" imgH="381000" progId="Photoshop.Image.7">
                      <p:embed/>
                      <p:pic>
                        <p:nvPicPr>
                          <p:cNvPr id="0" name="图片 3088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40" y="3294"/>
                            <a:ext cx="453" cy="43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42" name="Object 197"/>
              <p:cNvGraphicFramePr>
                <a:graphicFrameLocks noChangeAspect="1"/>
              </p:cNvGraphicFramePr>
              <p:nvPr/>
            </p:nvGraphicFramePr>
            <p:xfrm>
              <a:off x="340" y="3748"/>
              <a:ext cx="453" cy="4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9" imgW="381000" imgH="381000" progId="Photoshop.Image.7">
                      <p:embed/>
                    </p:oleObj>
                  </mc:Choice>
                  <mc:Fallback>
                    <p:oleObj r:id="rId9" imgW="381000" imgH="381000" progId="Photoshop.Image.7">
                      <p:embed/>
                      <p:pic>
                        <p:nvPicPr>
                          <p:cNvPr id="0" name="图片 3089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40" y="3748"/>
                            <a:ext cx="453" cy="43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43" name="Object 198"/>
              <p:cNvGraphicFramePr>
                <a:graphicFrameLocks noChangeAspect="1"/>
              </p:cNvGraphicFramePr>
              <p:nvPr/>
            </p:nvGraphicFramePr>
            <p:xfrm>
              <a:off x="295" y="2840"/>
              <a:ext cx="453" cy="4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381000" imgH="381000" progId="Photoshop.Image.7">
                      <p:embed/>
                    </p:oleObj>
                  </mc:Choice>
                  <mc:Fallback>
                    <p:oleObj r:id="rId10" imgW="381000" imgH="381000" progId="Photoshop.Image.7">
                      <p:embed/>
                      <p:pic>
                        <p:nvPicPr>
                          <p:cNvPr id="0" name="图片 3087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295" y="2840"/>
                            <a:ext cx="453" cy="43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44" name="Object 199"/>
              <p:cNvGraphicFramePr>
                <a:graphicFrameLocks noChangeAspect="1"/>
              </p:cNvGraphicFramePr>
              <p:nvPr/>
            </p:nvGraphicFramePr>
            <p:xfrm>
              <a:off x="295" y="2341"/>
              <a:ext cx="453" cy="4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1" imgW="381000" imgH="381000" progId="Photoshop.Image.7">
                      <p:embed/>
                    </p:oleObj>
                  </mc:Choice>
                  <mc:Fallback>
                    <p:oleObj r:id="rId11" imgW="381000" imgH="381000" progId="Photoshop.Image.7">
                      <p:embed/>
                      <p:pic>
                        <p:nvPicPr>
                          <p:cNvPr id="0" name="图片 3082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295" y="2341"/>
                            <a:ext cx="453" cy="43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45" name="Object 200"/>
              <p:cNvGraphicFramePr>
                <a:graphicFrameLocks noChangeAspect="1"/>
              </p:cNvGraphicFramePr>
              <p:nvPr/>
            </p:nvGraphicFramePr>
            <p:xfrm>
              <a:off x="295" y="1842"/>
              <a:ext cx="453" cy="4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381000" imgH="381000" progId="Photoshop.Image.7">
                      <p:embed/>
                    </p:oleObj>
                  </mc:Choice>
                  <mc:Fallback>
                    <p:oleObj r:id="rId12" imgW="381000" imgH="381000" progId="Photoshop.Image.7">
                      <p:embed/>
                      <p:pic>
                        <p:nvPicPr>
                          <p:cNvPr id="0" name="图片 3090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295" y="1842"/>
                            <a:ext cx="453" cy="43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46" name="Object 201"/>
              <p:cNvGraphicFramePr>
                <a:graphicFrameLocks noChangeAspect="1"/>
              </p:cNvGraphicFramePr>
              <p:nvPr/>
            </p:nvGraphicFramePr>
            <p:xfrm>
              <a:off x="340" y="1389"/>
              <a:ext cx="453" cy="4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3" imgW="381000" imgH="381000" progId="Photoshop.Image.7">
                      <p:embed/>
                    </p:oleObj>
                  </mc:Choice>
                  <mc:Fallback>
                    <p:oleObj r:id="rId13" imgW="381000" imgH="381000" progId="Photoshop.Image.7">
                      <p:embed/>
                      <p:pic>
                        <p:nvPicPr>
                          <p:cNvPr id="0" name="图片 3083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40" y="1389"/>
                            <a:ext cx="453" cy="43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47" name="Object 202"/>
              <p:cNvGraphicFramePr>
                <a:graphicFrameLocks noChangeAspect="1"/>
              </p:cNvGraphicFramePr>
              <p:nvPr/>
            </p:nvGraphicFramePr>
            <p:xfrm>
              <a:off x="340" y="890"/>
              <a:ext cx="453" cy="4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4" imgW="381000" imgH="381000" progId="Photoshop.Image.7">
                      <p:embed/>
                    </p:oleObj>
                  </mc:Choice>
                  <mc:Fallback>
                    <p:oleObj r:id="rId14" imgW="381000" imgH="381000" progId="Photoshop.Image.7">
                      <p:embed/>
                      <p:pic>
                        <p:nvPicPr>
                          <p:cNvPr id="0" name="图片 3091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40" y="890"/>
                            <a:ext cx="453" cy="43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48" name="Object 203"/>
              <p:cNvGraphicFramePr>
                <a:graphicFrameLocks noChangeAspect="1"/>
              </p:cNvGraphicFramePr>
              <p:nvPr/>
            </p:nvGraphicFramePr>
            <p:xfrm>
              <a:off x="1520" y="1329"/>
              <a:ext cx="453" cy="4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5" imgW="381000" imgH="355600" progId="Photoshop.Image.7">
                      <p:embed/>
                    </p:oleObj>
                  </mc:Choice>
                  <mc:Fallback>
                    <p:oleObj r:id="rId15" imgW="381000" imgH="355600" progId="Photoshop.Image.7">
                      <p:embed/>
                      <p:pic>
                        <p:nvPicPr>
                          <p:cNvPr id="0" name="图片 3092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1520" y="1329"/>
                            <a:ext cx="453" cy="42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49" name="Object 204"/>
              <p:cNvGraphicFramePr>
                <a:graphicFrameLocks noChangeAspect="1"/>
              </p:cNvGraphicFramePr>
              <p:nvPr/>
            </p:nvGraphicFramePr>
            <p:xfrm>
              <a:off x="1519" y="1782"/>
              <a:ext cx="453" cy="4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7" imgW="381000" imgH="355600" progId="Photoshop.Image.7">
                      <p:embed/>
                    </p:oleObj>
                  </mc:Choice>
                  <mc:Fallback>
                    <p:oleObj r:id="rId17" imgW="381000" imgH="355600" progId="Photoshop.Image.7">
                      <p:embed/>
                      <p:pic>
                        <p:nvPicPr>
                          <p:cNvPr id="0" name="图片 3084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1519" y="1782"/>
                            <a:ext cx="453" cy="42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50" name="Object 205"/>
              <p:cNvGraphicFramePr>
                <a:graphicFrameLocks noChangeAspect="1"/>
              </p:cNvGraphicFramePr>
              <p:nvPr/>
            </p:nvGraphicFramePr>
            <p:xfrm>
              <a:off x="1519" y="2281"/>
              <a:ext cx="453" cy="4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8" imgW="381000" imgH="355600" progId="Photoshop.Image.7">
                      <p:embed/>
                    </p:oleObj>
                  </mc:Choice>
                  <mc:Fallback>
                    <p:oleObj r:id="rId18" imgW="381000" imgH="355600" progId="Photoshop.Image.7">
                      <p:embed/>
                      <p:pic>
                        <p:nvPicPr>
                          <p:cNvPr id="0" name="图片 3093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1519" y="2281"/>
                            <a:ext cx="453" cy="42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51" name="Object 206"/>
              <p:cNvGraphicFramePr>
                <a:graphicFrameLocks noChangeAspect="1"/>
              </p:cNvGraphicFramePr>
              <p:nvPr/>
            </p:nvGraphicFramePr>
            <p:xfrm>
              <a:off x="1519" y="2735"/>
              <a:ext cx="453" cy="42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9" imgW="381000" imgH="355600" progId="Photoshop.Image.7">
                      <p:embed/>
                    </p:oleObj>
                  </mc:Choice>
                  <mc:Fallback>
                    <p:oleObj r:id="rId19" imgW="381000" imgH="355600" progId="Photoshop.Image.7">
                      <p:embed/>
                      <p:pic>
                        <p:nvPicPr>
                          <p:cNvPr id="0" name="图片 3085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1519" y="2735"/>
                            <a:ext cx="453" cy="42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52" name="Object 207"/>
              <p:cNvGraphicFramePr>
                <a:graphicFrameLocks noChangeAspect="1"/>
              </p:cNvGraphicFramePr>
              <p:nvPr/>
            </p:nvGraphicFramePr>
            <p:xfrm>
              <a:off x="2109" y="1722"/>
              <a:ext cx="424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0" imgW="368300" imgH="381000" progId="Photoshop.Image.7">
                      <p:embed/>
                    </p:oleObj>
                  </mc:Choice>
                  <mc:Fallback>
                    <p:oleObj r:id="rId20" imgW="368300" imgH="381000" progId="Photoshop.Image.7">
                      <p:embed/>
                      <p:pic>
                        <p:nvPicPr>
                          <p:cNvPr id="0" name="图片 3086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2109" y="1722"/>
                            <a:ext cx="424" cy="43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53" name="Object 208"/>
              <p:cNvGraphicFramePr>
                <a:graphicFrameLocks noChangeAspect="1"/>
              </p:cNvGraphicFramePr>
              <p:nvPr/>
            </p:nvGraphicFramePr>
            <p:xfrm>
              <a:off x="2093" y="2251"/>
              <a:ext cx="424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2" imgW="368300" imgH="381000" progId="Photoshop.Image.7">
                      <p:embed/>
                    </p:oleObj>
                  </mc:Choice>
                  <mc:Fallback>
                    <p:oleObj r:id="rId22" imgW="368300" imgH="381000" progId="Photoshop.Image.7">
                      <p:embed/>
                      <p:pic>
                        <p:nvPicPr>
                          <p:cNvPr id="0" name="图片 3094"/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2093" y="2251"/>
                            <a:ext cx="424" cy="43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2054" name="Object 210"/>
              <p:cNvGraphicFramePr>
                <a:graphicFrameLocks noChangeAspect="1"/>
              </p:cNvGraphicFramePr>
              <p:nvPr/>
            </p:nvGraphicFramePr>
            <p:xfrm>
              <a:off x="975" y="2251"/>
              <a:ext cx="438" cy="4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3" imgW="381000" imgH="381000" progId="Photoshop.Image.7">
                      <p:embed/>
                    </p:oleObj>
                  </mc:Choice>
                  <mc:Fallback>
                    <p:oleObj r:id="rId23" imgW="381000" imgH="381000" progId="Photoshop.Image.7">
                      <p:embed/>
                      <p:pic>
                        <p:nvPicPr>
                          <p:cNvPr id="0" name="图片 3076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975" y="2251"/>
                            <a:ext cx="438" cy="43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2036" name="Object 149"/>
            <p:cNvGraphicFramePr>
              <a:graphicFrameLocks noChangeAspect="1"/>
            </p:cNvGraphicFramePr>
            <p:nvPr/>
          </p:nvGraphicFramePr>
          <p:xfrm>
            <a:off x="975" y="2720"/>
            <a:ext cx="438" cy="4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381000" imgH="381000" progId="Photoshop.Image.7">
                    <p:embed/>
                  </p:oleObj>
                </mc:Choice>
                <mc:Fallback>
                  <p:oleObj r:id="rId24" imgW="381000" imgH="381000" progId="Photoshop.Image.7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975" y="2720"/>
                          <a:ext cx="438" cy="43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987" name="Rectangle 39"/>
          <p:cNvSpPr/>
          <p:nvPr/>
        </p:nvSpPr>
        <p:spPr>
          <a:xfrm>
            <a:off x="179388" y="66675"/>
            <a:ext cx="7570787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3200" dirty="0">
                <a:solidFill>
                  <a:srgbClr val="9900CC"/>
                </a:solidFill>
                <a:latin typeface="Times New Roman" panose="02020603050405020304" pitchFamily="18" charset="0"/>
              </a:rPr>
              <a:t>3.</a:t>
            </a:r>
            <a:r>
              <a:rPr lang="zh-CN" altLang="en-US" sz="3200" dirty="0">
                <a:solidFill>
                  <a:srgbClr val="9900CC"/>
                </a:solidFill>
                <a:latin typeface="Times New Roman" panose="02020603050405020304" pitchFamily="18" charset="0"/>
              </a:rPr>
              <a:t>原子的核外电子分布式和外层电子构型 </a:t>
            </a:r>
          </a:p>
        </p:txBody>
      </p:sp>
      <p:sp>
        <p:nvSpPr>
          <p:cNvPr id="41988" name="Rectangle 40"/>
          <p:cNvSpPr/>
          <p:nvPr/>
        </p:nvSpPr>
        <p:spPr>
          <a:xfrm>
            <a:off x="0" y="452438"/>
            <a:ext cx="4165600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1)</a:t>
            </a:r>
            <a:r>
              <a:rPr lang="zh-CN" altLang="en-US" dirty="0">
                <a:latin typeface="Times New Roman" panose="02020603050405020304" pitchFamily="18" charset="0"/>
              </a:rPr>
              <a:t>原子的核外电子分布式</a:t>
            </a:r>
          </a:p>
        </p:txBody>
      </p:sp>
      <p:grpSp>
        <p:nvGrpSpPr>
          <p:cNvPr id="41989" name="Group 150"/>
          <p:cNvGrpSpPr/>
          <p:nvPr/>
        </p:nvGrpSpPr>
        <p:grpSpPr>
          <a:xfrm>
            <a:off x="438150" y="1168400"/>
            <a:ext cx="3773488" cy="4119563"/>
            <a:chOff x="412" y="890"/>
            <a:chExt cx="2377" cy="3461"/>
          </a:xfrm>
        </p:grpSpPr>
        <p:sp>
          <p:nvSpPr>
            <p:cNvPr id="41995" name="Text Box 128"/>
            <p:cNvSpPr txBox="1"/>
            <p:nvPr/>
          </p:nvSpPr>
          <p:spPr>
            <a:xfrm>
              <a:off x="478" y="3294"/>
              <a:ext cx="408" cy="5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(2)2s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996" name="Text Box 129"/>
            <p:cNvSpPr txBox="1"/>
            <p:nvPr/>
          </p:nvSpPr>
          <p:spPr>
            <a:xfrm>
              <a:off x="478" y="2840"/>
              <a:ext cx="408" cy="5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(4)3s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997" name="Text Box 130"/>
            <p:cNvSpPr txBox="1"/>
            <p:nvPr/>
          </p:nvSpPr>
          <p:spPr>
            <a:xfrm>
              <a:off x="478" y="3767"/>
              <a:ext cx="408" cy="5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(1)1s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998" name="Text Box 131"/>
            <p:cNvSpPr txBox="1"/>
            <p:nvPr/>
          </p:nvSpPr>
          <p:spPr>
            <a:xfrm>
              <a:off x="478" y="2296"/>
              <a:ext cx="408" cy="5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(6)4s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999" name="Text Box 132"/>
            <p:cNvSpPr txBox="1"/>
            <p:nvPr/>
          </p:nvSpPr>
          <p:spPr>
            <a:xfrm>
              <a:off x="478" y="1797"/>
              <a:ext cx="408" cy="5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(9)5s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00" name="Text Box 133"/>
            <p:cNvSpPr txBox="1"/>
            <p:nvPr/>
          </p:nvSpPr>
          <p:spPr>
            <a:xfrm>
              <a:off x="412" y="890"/>
              <a:ext cx="544" cy="51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(16) </a:t>
              </a:r>
              <a:endParaRPr lang="en-US" altLang="zh-CN" sz="18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0"/>
                </a:lnSpc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7s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42001" name="Group 147"/>
            <p:cNvGrpSpPr/>
            <p:nvPr/>
          </p:nvGrpSpPr>
          <p:grpSpPr>
            <a:xfrm>
              <a:off x="793" y="1136"/>
              <a:ext cx="1996" cy="2949"/>
              <a:chOff x="793" y="935"/>
              <a:chExt cx="1996" cy="2949"/>
            </a:xfrm>
          </p:grpSpPr>
          <p:grpSp>
            <p:nvGrpSpPr>
              <p:cNvPr id="42014" name="Group 51"/>
              <p:cNvGrpSpPr/>
              <p:nvPr/>
            </p:nvGrpSpPr>
            <p:grpSpPr>
              <a:xfrm>
                <a:off x="793" y="935"/>
                <a:ext cx="1996" cy="2949"/>
                <a:chOff x="793" y="968"/>
                <a:chExt cx="1996" cy="2949"/>
              </a:xfrm>
            </p:grpSpPr>
            <p:sp>
              <p:nvSpPr>
                <p:cNvPr id="42016" name="Line 52"/>
                <p:cNvSpPr/>
                <p:nvPr/>
              </p:nvSpPr>
              <p:spPr>
                <a:xfrm flipH="1" flipV="1">
                  <a:off x="839" y="3781"/>
                  <a:ext cx="181" cy="13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2017" name="Line 53"/>
                <p:cNvSpPr/>
                <p:nvPr/>
              </p:nvSpPr>
              <p:spPr>
                <a:xfrm flipH="1" flipV="1">
                  <a:off x="839" y="3327"/>
                  <a:ext cx="181" cy="13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2018" name="Line 54"/>
                <p:cNvSpPr/>
                <p:nvPr/>
              </p:nvSpPr>
              <p:spPr>
                <a:xfrm flipH="1" flipV="1">
                  <a:off x="827" y="2852"/>
                  <a:ext cx="227" cy="18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2019" name="Line 55"/>
                <p:cNvSpPr/>
                <p:nvPr/>
              </p:nvSpPr>
              <p:spPr>
                <a:xfrm flipH="1" flipV="1">
                  <a:off x="1429" y="3282"/>
                  <a:ext cx="181" cy="13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2020" name="Line 56"/>
                <p:cNvSpPr/>
                <p:nvPr/>
              </p:nvSpPr>
              <p:spPr>
                <a:xfrm flipH="1" flipV="1">
                  <a:off x="839" y="2375"/>
                  <a:ext cx="227" cy="18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2021" name="Line 57"/>
                <p:cNvSpPr/>
                <p:nvPr/>
              </p:nvSpPr>
              <p:spPr>
                <a:xfrm flipH="1" flipV="1">
                  <a:off x="1383" y="2828"/>
                  <a:ext cx="227" cy="18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2022" name="Line 58"/>
                <p:cNvSpPr/>
                <p:nvPr/>
              </p:nvSpPr>
              <p:spPr>
                <a:xfrm flipH="1" flipV="1">
                  <a:off x="793" y="1876"/>
                  <a:ext cx="273" cy="227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2023" name="Line 59"/>
                <p:cNvSpPr/>
                <p:nvPr/>
              </p:nvSpPr>
              <p:spPr>
                <a:xfrm flipH="1" flipV="1">
                  <a:off x="1383" y="2375"/>
                  <a:ext cx="227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2024" name="Line 60"/>
                <p:cNvSpPr/>
                <p:nvPr/>
              </p:nvSpPr>
              <p:spPr>
                <a:xfrm flipH="1" flipV="1">
                  <a:off x="793" y="1422"/>
                  <a:ext cx="273" cy="227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2025" name="Line 61"/>
                <p:cNvSpPr/>
                <p:nvPr/>
              </p:nvSpPr>
              <p:spPr>
                <a:xfrm flipH="1" flipV="1">
                  <a:off x="1383" y="969"/>
                  <a:ext cx="227" cy="18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2026" name="Line 62"/>
                <p:cNvSpPr/>
                <p:nvPr/>
              </p:nvSpPr>
              <p:spPr>
                <a:xfrm flipH="1" flipV="1">
                  <a:off x="1383" y="1468"/>
                  <a:ext cx="227" cy="18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2027" name="Line 63"/>
                <p:cNvSpPr/>
                <p:nvPr/>
              </p:nvSpPr>
              <p:spPr>
                <a:xfrm flipH="1" flipV="1">
                  <a:off x="1383" y="1921"/>
                  <a:ext cx="227" cy="18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2028" name="Line 64"/>
                <p:cNvSpPr/>
                <p:nvPr/>
              </p:nvSpPr>
              <p:spPr>
                <a:xfrm flipH="1" flipV="1">
                  <a:off x="1973" y="2329"/>
                  <a:ext cx="227" cy="18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2029" name="Line 65"/>
                <p:cNvSpPr/>
                <p:nvPr/>
              </p:nvSpPr>
              <p:spPr>
                <a:xfrm flipH="1" flipV="1">
                  <a:off x="1973" y="2783"/>
                  <a:ext cx="227" cy="18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2030" name="Line 66"/>
                <p:cNvSpPr/>
                <p:nvPr/>
              </p:nvSpPr>
              <p:spPr>
                <a:xfrm flipH="1" flipV="1">
                  <a:off x="2562" y="2329"/>
                  <a:ext cx="227" cy="18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2031" name="Line 67"/>
                <p:cNvSpPr/>
                <p:nvPr/>
              </p:nvSpPr>
              <p:spPr>
                <a:xfrm flipH="1" flipV="1">
                  <a:off x="2562" y="1876"/>
                  <a:ext cx="227" cy="18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2032" name="Line 68"/>
                <p:cNvSpPr/>
                <p:nvPr/>
              </p:nvSpPr>
              <p:spPr>
                <a:xfrm flipH="1" flipV="1">
                  <a:off x="1973" y="1422"/>
                  <a:ext cx="227" cy="18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2033" name="Line 69"/>
                <p:cNvSpPr/>
                <p:nvPr/>
              </p:nvSpPr>
              <p:spPr>
                <a:xfrm flipH="1" flipV="1">
                  <a:off x="1973" y="1876"/>
                  <a:ext cx="227" cy="18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42034" name="Line 70"/>
                <p:cNvSpPr/>
                <p:nvPr/>
              </p:nvSpPr>
              <p:spPr>
                <a:xfrm flipH="1" flipV="1">
                  <a:off x="815" y="968"/>
                  <a:ext cx="227" cy="18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42015" name="Text Box 134"/>
              <p:cNvSpPr txBox="1"/>
              <p:nvPr/>
            </p:nvSpPr>
            <p:spPr>
              <a:xfrm>
                <a:off x="1068" y="2938"/>
                <a:ext cx="454" cy="5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rgbClr val="DD0BBF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(3)2p</a:t>
                </a:r>
                <a:endPara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2002" name="Text Box 135"/>
            <p:cNvSpPr txBox="1"/>
            <p:nvPr/>
          </p:nvSpPr>
          <p:spPr>
            <a:xfrm>
              <a:off x="423" y="1344"/>
              <a:ext cx="544" cy="51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(12) </a:t>
              </a:r>
              <a:endParaRPr lang="en-US" altLang="zh-CN" sz="18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0"/>
                </a:lnSpc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6s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03" name="Text Box 136"/>
            <p:cNvSpPr txBox="1"/>
            <p:nvPr/>
          </p:nvSpPr>
          <p:spPr>
            <a:xfrm>
              <a:off x="1059" y="2659"/>
              <a:ext cx="454" cy="5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b="1" dirty="0">
                  <a:solidFill>
                    <a:srgbClr val="DD0BBF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(5)3p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04" name="Text Box 137"/>
            <p:cNvSpPr txBox="1"/>
            <p:nvPr/>
          </p:nvSpPr>
          <p:spPr>
            <a:xfrm>
              <a:off x="1068" y="2205"/>
              <a:ext cx="454" cy="58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b="1" dirty="0">
                  <a:solidFill>
                    <a:srgbClr val="DD0BBF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(8)4p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05" name="Text Box 138"/>
            <p:cNvSpPr txBox="1"/>
            <p:nvPr/>
          </p:nvSpPr>
          <p:spPr>
            <a:xfrm>
              <a:off x="1008" y="1797"/>
              <a:ext cx="511" cy="51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b="1" dirty="0">
                  <a:solidFill>
                    <a:srgbClr val="DD0BBF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(11) </a:t>
              </a:r>
              <a:endParaRPr lang="en-US" altLang="zh-CN" sz="18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0"/>
                </a:lnSpc>
                <a:spcBef>
                  <a:spcPct val="50000"/>
                </a:spcBef>
              </a:pPr>
              <a:r>
                <a:rPr lang="en-US" altLang="zh-CN" b="1" dirty="0">
                  <a:solidFill>
                    <a:srgbClr val="DD0BBF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5p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06" name="Text Box 139"/>
            <p:cNvSpPr txBox="1"/>
            <p:nvPr/>
          </p:nvSpPr>
          <p:spPr>
            <a:xfrm>
              <a:off x="1008" y="1389"/>
              <a:ext cx="511" cy="51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b="1" dirty="0">
                  <a:solidFill>
                    <a:srgbClr val="DD0BBF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(15) </a:t>
              </a:r>
              <a:endParaRPr lang="en-US" altLang="zh-CN" sz="18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0"/>
                </a:lnSpc>
                <a:spcBef>
                  <a:spcPct val="50000"/>
                </a:spcBef>
              </a:pPr>
              <a:r>
                <a:rPr lang="en-US" altLang="zh-CN" b="1" dirty="0">
                  <a:solidFill>
                    <a:srgbClr val="DD0BBF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6p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07" name="Text Box 140"/>
            <p:cNvSpPr txBox="1"/>
            <p:nvPr/>
          </p:nvSpPr>
          <p:spPr>
            <a:xfrm>
              <a:off x="996" y="890"/>
              <a:ext cx="511" cy="51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en-US" altLang="zh-CN" b="1" dirty="0">
                  <a:solidFill>
                    <a:srgbClr val="DD0BBF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(19) </a:t>
              </a:r>
              <a:endParaRPr lang="en-US" altLang="zh-CN" sz="18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0"/>
                </a:lnSpc>
                <a:spcBef>
                  <a:spcPct val="50000"/>
                </a:spcBef>
              </a:pPr>
              <a:r>
                <a:rPr lang="en-US" altLang="zh-CN" b="1" dirty="0">
                  <a:solidFill>
                    <a:srgbClr val="DD0BBF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7p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08" name="Text Box 141"/>
            <p:cNvSpPr txBox="1"/>
            <p:nvPr/>
          </p:nvSpPr>
          <p:spPr>
            <a:xfrm>
              <a:off x="1636" y="2659"/>
              <a:ext cx="454" cy="62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75000"/>
                </a:lnSpc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(7)3d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09" name="Text Box 142"/>
            <p:cNvSpPr txBox="1"/>
            <p:nvPr/>
          </p:nvSpPr>
          <p:spPr>
            <a:xfrm>
              <a:off x="1576" y="2251"/>
              <a:ext cx="499" cy="5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75000"/>
                </a:lnSpc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(10) </a:t>
              </a:r>
              <a:endParaRPr lang="en-US" altLang="zh-CN" sz="18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5000"/>
                </a:lnSpc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4d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10" name="Text Box 143"/>
            <p:cNvSpPr txBox="1"/>
            <p:nvPr/>
          </p:nvSpPr>
          <p:spPr>
            <a:xfrm>
              <a:off x="1571" y="1752"/>
              <a:ext cx="499" cy="5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75000"/>
                </a:lnSpc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(14) </a:t>
              </a:r>
              <a:endParaRPr lang="en-US" altLang="zh-CN" sz="18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5000"/>
                </a:lnSpc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5d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11" name="Text Box 144"/>
            <p:cNvSpPr txBox="1"/>
            <p:nvPr/>
          </p:nvSpPr>
          <p:spPr>
            <a:xfrm>
              <a:off x="1555" y="1298"/>
              <a:ext cx="499" cy="54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75000"/>
                </a:lnSpc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(18) </a:t>
              </a:r>
              <a:endParaRPr lang="en-US" altLang="zh-CN" sz="18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5000"/>
                </a:lnSpc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6d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12" name="Text Box 145"/>
            <p:cNvSpPr txBox="1"/>
            <p:nvPr/>
          </p:nvSpPr>
          <p:spPr>
            <a:xfrm>
              <a:off x="2154" y="2115"/>
              <a:ext cx="545" cy="6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(13) </a:t>
              </a:r>
              <a:endParaRPr lang="en-US" altLang="zh-CN" sz="18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5000"/>
                </a:lnSpc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4f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013" name="Text Box 146"/>
            <p:cNvSpPr txBox="1"/>
            <p:nvPr/>
          </p:nvSpPr>
          <p:spPr>
            <a:xfrm>
              <a:off x="2142" y="1661"/>
              <a:ext cx="545" cy="6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(17) </a:t>
              </a:r>
              <a:endParaRPr lang="en-US" altLang="zh-CN" sz="18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5000"/>
                </a:lnSpc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5f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1990" name="Text Box 215"/>
          <p:cNvSpPr txBox="1"/>
          <p:nvPr/>
        </p:nvSpPr>
        <p:spPr>
          <a:xfrm>
            <a:off x="3276600" y="950913"/>
            <a:ext cx="5257800" cy="458787"/>
          </a:xfrm>
          <a:prstGeom prst="rect">
            <a:avLst/>
          </a:prstGeom>
          <a:gradFill rotWithShape="1">
            <a:gsLst>
              <a:gs pos="0">
                <a:srgbClr val="32256F"/>
              </a:gs>
              <a:gs pos="50000">
                <a:srgbClr val="6B50F0"/>
              </a:gs>
              <a:gs pos="100000">
                <a:srgbClr val="32256F"/>
              </a:gs>
            </a:gsLst>
            <a:lin ang="5400000" scaled="1"/>
            <a:tileRect/>
          </a:gradFill>
          <a:ln w="9525">
            <a:noFill/>
          </a:ln>
          <a:effectLst>
            <a:outerShdw sy="50000" kx="-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核外电子填入轨道的顺序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080" name="Text Box 216"/>
          <p:cNvSpPr txBox="1"/>
          <p:nvPr/>
        </p:nvSpPr>
        <p:spPr>
          <a:xfrm>
            <a:off x="4302125" y="1327150"/>
            <a:ext cx="4716463" cy="1630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应用核外电子填入轨道顺序图，根据泡利不相容原理、能量最低原理、洪特规则，可以写出元素原子的核外电子分布式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. </a:t>
            </a:r>
            <a:endParaRPr lang="en-US" altLang="zh-CN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7081" name="Text Box 217"/>
          <p:cNvSpPr txBox="1"/>
          <p:nvPr/>
        </p:nvSpPr>
        <p:spPr>
          <a:xfrm>
            <a:off x="4230688" y="2874963"/>
            <a:ext cx="4787900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如 </a:t>
            </a:r>
            <a:r>
              <a:rPr lang="en-US" altLang="zh-CN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19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K  1s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2s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2p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6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3s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3p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6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4s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1</a:t>
            </a:r>
            <a:r>
              <a:rPr lang="en-US" altLang="zh-CN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       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082" name="Text Box 218"/>
          <p:cNvSpPr txBox="1"/>
          <p:nvPr/>
        </p:nvSpPr>
        <p:spPr>
          <a:xfrm>
            <a:off x="4191000" y="3489325"/>
            <a:ext cx="5040313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26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Fe  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1s</a:t>
            </a:r>
            <a:r>
              <a:rPr lang="en-US" altLang="zh-CN" b="1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2s</a:t>
            </a:r>
            <a:r>
              <a:rPr lang="en-US" altLang="zh-CN" b="1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2p</a:t>
            </a:r>
            <a:r>
              <a:rPr lang="en-US" altLang="zh-CN" b="1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6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3s</a:t>
            </a:r>
            <a:r>
              <a:rPr lang="en-US" altLang="zh-CN" b="1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3p</a:t>
            </a:r>
            <a:r>
              <a:rPr lang="en-US" altLang="zh-CN" b="1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6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3d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6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4s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2 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083" name="Rectangle 219"/>
          <p:cNvSpPr/>
          <p:nvPr/>
        </p:nvSpPr>
        <p:spPr>
          <a:xfrm>
            <a:off x="2544763" y="3911600"/>
            <a:ext cx="6599237" cy="1262063"/>
          </a:xfrm>
          <a:prstGeom prst="rect">
            <a:avLst/>
          </a:prstGeom>
          <a:gradFill rotWithShape="1">
            <a:gsLst>
              <a:gs pos="0">
                <a:schemeClr val="accent1">
                  <a:alpha val="99001"/>
                </a:schemeClr>
              </a:gs>
              <a:gs pos="100000">
                <a:srgbClr val="CCECFF"/>
              </a:gs>
            </a:gsLst>
            <a:lin ang="5400000" scaled="1"/>
            <a:tileRect/>
          </a:gradFill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为简便起见，用元素前一周期的稀有气体的元素符号表示原子内层电子，称为原子实，如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26Fe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：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[Ar] 3d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6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4s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endParaRPr lang="zh-CN" altLang="en-US" sz="24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7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500"/>
                                        <p:tgtEl>
                                          <p:spTgt spid="37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7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7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80" grpId="0"/>
      <p:bldP spid="37081" grpId="0"/>
      <p:bldP spid="37082" grpId="0"/>
      <p:bldP spid="3708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0"/>
          <p:cNvSpPr/>
          <p:nvPr/>
        </p:nvSpPr>
        <p:spPr>
          <a:xfrm>
            <a:off x="107950" y="66675"/>
            <a:ext cx="4219575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</a:rPr>
              <a:t>2)</a:t>
            </a:r>
            <a:r>
              <a:rPr lang="zh-CN" altLang="en-US" sz="3200" dirty="0">
                <a:latin typeface="Times New Roman" panose="02020603050405020304" pitchFamily="18" charset="0"/>
              </a:rPr>
              <a:t>原子的外层电子构型</a:t>
            </a:r>
          </a:p>
        </p:txBody>
      </p:sp>
      <p:sp>
        <p:nvSpPr>
          <p:cNvPr id="43011" name="Rectangle 31"/>
          <p:cNvSpPr/>
          <p:nvPr/>
        </p:nvSpPr>
        <p:spPr>
          <a:xfrm>
            <a:off x="1512888" y="519113"/>
            <a:ext cx="6410325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ts val="35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价层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—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价电子所在的亚层 </a:t>
            </a:r>
          </a:p>
          <a:p>
            <a:pPr eaLnBrk="1" hangingPunct="1">
              <a:lnSpc>
                <a:spcPts val="35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外层电子构型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—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指价层的电子分布式</a:t>
            </a:r>
          </a:p>
        </p:txBody>
      </p:sp>
      <p:sp>
        <p:nvSpPr>
          <p:cNvPr id="39973" name="Rectangle 37"/>
          <p:cNvSpPr/>
          <p:nvPr/>
        </p:nvSpPr>
        <p:spPr>
          <a:xfrm>
            <a:off x="898525" y="4124325"/>
            <a:ext cx="7777163" cy="939800"/>
          </a:xfrm>
          <a:prstGeom prst="rect">
            <a:avLst/>
          </a:prstGeom>
          <a:gradFill rotWithShape="1">
            <a:gsLst>
              <a:gs pos="0">
                <a:srgbClr val="993366">
                  <a:alpha val="98000"/>
                </a:srgbClr>
              </a:gs>
              <a:gs pos="100000">
                <a:srgbClr val="CC6600"/>
              </a:gs>
            </a:gsLst>
            <a:lin ang="5400000" scaled="1"/>
            <a:tileRect/>
          </a:gradFill>
          <a:ln w="9525">
            <a:noFill/>
          </a:ln>
        </p:spPr>
        <p:txBody>
          <a:bodyPr anchor="ctr" anchorCtr="0">
            <a:spAutoFit/>
          </a:bodyPr>
          <a:lstStyle/>
          <a:p>
            <a:pPr indent="228600" eaLnBrk="1" hangingPunct="1">
              <a:lnSpc>
                <a:spcPts val="33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 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根据上述，下列元素的外层电子构型依次为： </a:t>
            </a:r>
          </a:p>
          <a:p>
            <a:pPr indent="228600" eaLnBrk="1" hangingPunct="1">
              <a:lnSpc>
                <a:spcPts val="3300"/>
              </a:lnSpc>
            </a:pP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      </a:t>
            </a:r>
            <a:r>
              <a:rPr lang="en-US" altLang="zh-CN" b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6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C-2s</a:t>
            </a:r>
            <a:r>
              <a:rPr lang="en-US" altLang="zh-CN" b="1" baseline="30000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2p</a:t>
            </a:r>
            <a:r>
              <a:rPr lang="en-US" altLang="zh-CN" b="1" baseline="30000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   </a:t>
            </a:r>
            <a:r>
              <a:rPr lang="en-US" altLang="zh-CN" b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26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Fe-3d</a:t>
            </a:r>
            <a:r>
              <a:rPr lang="en-US" altLang="zh-CN" b="1" baseline="30000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6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4s</a:t>
            </a:r>
            <a:r>
              <a:rPr lang="en-US" altLang="zh-CN" b="1" baseline="30000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  </a:t>
            </a:r>
            <a:r>
              <a:rPr lang="en-US" altLang="zh-CN" b="1" baseline="-25000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29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Cu-3d</a:t>
            </a:r>
            <a:r>
              <a:rPr lang="en-US" altLang="zh-CN" b="1" baseline="30000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10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4s</a:t>
            </a:r>
            <a:r>
              <a:rPr lang="en-US" altLang="zh-CN" b="1" baseline="30000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</a:t>
            </a:r>
            <a:endParaRPr lang="zh-CN" altLang="en-US" b="1" dirty="0">
              <a:solidFill>
                <a:srgbClr val="FFFF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graphicFrame>
        <p:nvGraphicFramePr>
          <p:cNvPr id="39975" name="Group 39"/>
          <p:cNvGraphicFramePr>
            <a:graphicFrameLocks noGrp="1"/>
          </p:cNvGraphicFramePr>
          <p:nvPr/>
        </p:nvGraphicFramePr>
        <p:xfrm>
          <a:off x="323850" y="1006475"/>
          <a:ext cx="8642350" cy="3144681"/>
        </p:xfrm>
        <a:graphic>
          <a:graphicData uri="http://schemas.openxmlformats.org/drawingml/2006/table">
            <a:tbl>
              <a:tblPr/>
              <a:tblGrid>
                <a:gridCol w="433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3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561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243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24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561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5561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33387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2009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ⅠA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>
                        <a:alpha val="49001"/>
                      </a:srgbClr>
                    </a:solidFill>
                  </a:tcPr>
                </a:tc>
                <a:tc gridSpan="5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10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0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4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一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 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1s</a:t>
                      </a:r>
                      <a:r>
                        <a:rPr kumimoji="0" lang="en-US" altLang="zh-CN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ⅡA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>
                        <a:alpha val="50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5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ⅢA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ⅣA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ⅤA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ⅥA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ⅦA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 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4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1s</a:t>
                      </a:r>
                      <a:r>
                        <a:rPr kumimoji="0" lang="en-US" altLang="zh-CN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9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二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>
                        <a:alpha val="50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6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6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9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4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三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12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ⅢB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ⅣB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ⅤB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ⅥB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ⅦB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Ⅷ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ⅠB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ⅡB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13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15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16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17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18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7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四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19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20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22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23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25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26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27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28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29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30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32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33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35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36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96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五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37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38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39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40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42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43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45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46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47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48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49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50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52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53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20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六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55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56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72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73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75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76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77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78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FF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79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80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82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83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85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86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8877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8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 gridSpan="8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079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8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8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3155" name="Text Box 184"/>
          <p:cNvSpPr txBox="1"/>
          <p:nvPr/>
        </p:nvSpPr>
        <p:spPr>
          <a:xfrm>
            <a:off x="757238" y="3402013"/>
            <a:ext cx="8277225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lang="en-US" altLang="zh-CN" sz="3600" b="1" i="1" dirty="0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n</a:t>
            </a:r>
            <a:r>
              <a:rPr lang="en-US" altLang="zh-CN" sz="3600" b="1" dirty="0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s</a:t>
            </a:r>
            <a:r>
              <a:rPr lang="en-US" altLang="zh-CN" sz="3600" b="1" baseline="30000" dirty="0">
                <a:solidFill>
                  <a:srgbClr val="0000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1~2 </a:t>
            </a:r>
            <a:r>
              <a:rPr lang="en-US" altLang="zh-CN" sz="3600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    </a:t>
            </a:r>
            <a:r>
              <a:rPr lang="en-US" altLang="zh-CN" sz="3600" b="1" dirty="0">
                <a:solidFill>
                  <a:srgbClr val="80008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(</a:t>
            </a:r>
            <a:r>
              <a:rPr lang="en-US" altLang="zh-CN" sz="3600" b="1" i="1" dirty="0">
                <a:solidFill>
                  <a:srgbClr val="80008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n</a:t>
            </a:r>
            <a:r>
              <a:rPr lang="en-US" altLang="zh-CN" sz="3600" b="1" dirty="0">
                <a:solidFill>
                  <a:srgbClr val="80008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-1)d</a:t>
            </a:r>
            <a:r>
              <a:rPr lang="en-US" altLang="zh-CN" sz="3600" b="1" baseline="30000" dirty="0">
                <a:solidFill>
                  <a:srgbClr val="80008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1~9</a:t>
            </a:r>
            <a:r>
              <a:rPr lang="en-US" altLang="zh-CN" sz="3600" b="1" i="1" dirty="0">
                <a:solidFill>
                  <a:srgbClr val="80008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n</a:t>
            </a:r>
            <a:r>
              <a:rPr lang="en-US" altLang="zh-CN" sz="3600" b="1" dirty="0">
                <a:solidFill>
                  <a:srgbClr val="80008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s</a:t>
            </a:r>
            <a:r>
              <a:rPr lang="en-US" altLang="zh-CN" sz="3600" b="1" baseline="30000" dirty="0">
                <a:solidFill>
                  <a:srgbClr val="80008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1~2</a:t>
            </a:r>
            <a:r>
              <a:rPr lang="en-US" altLang="zh-CN" sz="3600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                                  </a:t>
            </a:r>
            <a:r>
              <a:rPr lang="en-US" altLang="zh-CN" sz="3600" b="1" i="1" dirty="0">
                <a:solidFill>
                  <a:srgbClr val="FF00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n</a:t>
            </a:r>
            <a:r>
              <a:rPr lang="en-US" altLang="zh-CN" sz="3600" b="1" dirty="0">
                <a:solidFill>
                  <a:srgbClr val="FF00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s</a:t>
            </a:r>
            <a:r>
              <a:rPr lang="en-US" altLang="zh-CN" sz="3600" b="1" baseline="30000" dirty="0">
                <a:solidFill>
                  <a:srgbClr val="FF00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sz="3600" b="1" i="1" dirty="0">
                <a:solidFill>
                  <a:srgbClr val="FF00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n</a:t>
            </a:r>
            <a:r>
              <a:rPr lang="en-US" altLang="zh-CN" sz="3600" b="1" dirty="0">
                <a:solidFill>
                  <a:srgbClr val="FF00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p</a:t>
            </a:r>
            <a:r>
              <a:rPr lang="en-US" altLang="zh-CN" sz="3600" b="1" baseline="30000" dirty="0">
                <a:solidFill>
                  <a:srgbClr val="FF00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1~6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156" name="Text Box 185"/>
          <p:cNvSpPr txBox="1"/>
          <p:nvPr/>
        </p:nvSpPr>
        <p:spPr>
          <a:xfrm>
            <a:off x="4502150" y="3611563"/>
            <a:ext cx="2808288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solidFill>
                  <a:srgbClr val="008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(</a:t>
            </a:r>
            <a:r>
              <a:rPr lang="en-US" altLang="zh-CN" sz="3600" b="1" i="1" dirty="0">
                <a:solidFill>
                  <a:srgbClr val="008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n</a:t>
            </a:r>
            <a:r>
              <a:rPr lang="en-US" altLang="zh-CN" sz="3600" b="1" dirty="0">
                <a:solidFill>
                  <a:srgbClr val="008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-1)d</a:t>
            </a:r>
            <a:r>
              <a:rPr lang="en-US" altLang="zh-CN" sz="3600" b="1" baseline="30000" dirty="0">
                <a:solidFill>
                  <a:srgbClr val="008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10</a:t>
            </a:r>
            <a:r>
              <a:rPr lang="en-US" altLang="zh-CN" sz="3600" b="1" i="1" dirty="0">
                <a:solidFill>
                  <a:srgbClr val="008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n</a:t>
            </a:r>
            <a:r>
              <a:rPr lang="en-US" altLang="zh-CN" sz="3600" b="1" dirty="0">
                <a:solidFill>
                  <a:srgbClr val="008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s</a:t>
            </a:r>
            <a:r>
              <a:rPr lang="en-US" altLang="zh-CN" sz="3600" b="1" baseline="30000" dirty="0">
                <a:solidFill>
                  <a:srgbClr val="008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1~2</a:t>
            </a:r>
            <a:endParaRPr lang="en-US" altLang="zh-CN" sz="1800" dirty="0"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43157" name="Line 186"/>
          <p:cNvSpPr/>
          <p:nvPr/>
        </p:nvSpPr>
        <p:spPr>
          <a:xfrm flipH="1">
            <a:off x="4070350" y="3341688"/>
            <a:ext cx="1295400" cy="7556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3158" name="Line 187"/>
          <p:cNvSpPr/>
          <p:nvPr/>
        </p:nvSpPr>
        <p:spPr>
          <a:xfrm>
            <a:off x="6302375" y="3341688"/>
            <a:ext cx="1439863" cy="7556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7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51"/>
          <p:cNvSpPr>
            <a:spLocks noChangeArrowheads="1"/>
          </p:cNvSpPr>
          <p:nvPr/>
        </p:nvSpPr>
        <p:spPr bwMode="auto">
          <a:xfrm>
            <a:off x="179388" y="44450"/>
            <a:ext cx="5695950" cy="763588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165048" bIns="165048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5.1.4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原子电子层结构与元素周期表</a:t>
            </a:r>
          </a:p>
        </p:txBody>
      </p:sp>
      <p:sp>
        <p:nvSpPr>
          <p:cNvPr id="44035" name="Rectangle 152"/>
          <p:cNvSpPr/>
          <p:nvPr/>
        </p:nvSpPr>
        <p:spPr>
          <a:xfrm>
            <a:off x="250825" y="735013"/>
            <a:ext cx="4378325" cy="646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</a:rPr>
              <a:t>1)</a:t>
            </a:r>
            <a:r>
              <a:rPr lang="zh-CN" altLang="en-US" sz="3600" dirty="0">
                <a:latin typeface="Times New Roman" panose="02020603050405020304" pitchFamily="18" charset="0"/>
              </a:rPr>
              <a:t>每周期元素的数目 </a:t>
            </a:r>
          </a:p>
        </p:txBody>
      </p:sp>
      <p:sp>
        <p:nvSpPr>
          <p:cNvPr id="155801" name="Rectangle 153"/>
          <p:cNvSpPr/>
          <p:nvPr/>
        </p:nvSpPr>
        <p:spPr>
          <a:xfrm>
            <a:off x="684213" y="1262063"/>
            <a:ext cx="7667625" cy="9540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 等于相应能级组内各轨道所能容纳的最多电子数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2n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。</a:t>
            </a:r>
          </a:p>
        </p:txBody>
      </p:sp>
      <p:sp>
        <p:nvSpPr>
          <p:cNvPr id="44037" name="Rectangle 154"/>
          <p:cNvSpPr/>
          <p:nvPr/>
        </p:nvSpPr>
        <p:spPr>
          <a:xfrm>
            <a:off x="323850" y="2055813"/>
            <a:ext cx="5302250" cy="6477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</a:rPr>
              <a:t>2)</a:t>
            </a:r>
            <a:r>
              <a:rPr lang="zh-CN" altLang="en-US" sz="3600" dirty="0">
                <a:latin typeface="Times New Roman" panose="02020603050405020304" pitchFamily="18" charset="0"/>
              </a:rPr>
              <a:t>元素在周期表中的位置 </a:t>
            </a:r>
          </a:p>
        </p:txBody>
      </p:sp>
      <p:sp>
        <p:nvSpPr>
          <p:cNvPr id="155803" name="Rectangle 155"/>
          <p:cNvSpPr/>
          <p:nvPr/>
        </p:nvSpPr>
        <p:spPr>
          <a:xfrm>
            <a:off x="1619250" y="2559050"/>
            <a:ext cx="6697663" cy="9540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等于该元素原子的最外层电子层数或最外层主量子数</a:t>
            </a:r>
            <a:r>
              <a:rPr lang="en-US" altLang="zh-CN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Pt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除外）。 </a:t>
            </a:r>
          </a:p>
        </p:txBody>
      </p:sp>
      <p:sp>
        <p:nvSpPr>
          <p:cNvPr id="155809" name="Rectangle 161"/>
          <p:cNvSpPr/>
          <p:nvPr/>
        </p:nvSpPr>
        <p:spPr>
          <a:xfrm>
            <a:off x="468313" y="2678113"/>
            <a:ext cx="1004887" cy="584200"/>
          </a:xfrm>
          <a:prstGeom prst="rect">
            <a:avLst/>
          </a:prstGeom>
          <a:solidFill>
            <a:srgbClr val="0000FF"/>
          </a:solidFill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dirty="0">
                <a:solidFill>
                  <a:srgbClr val="FFFF00"/>
                </a:solidFill>
                <a:latin typeface="Times New Roman" panose="02020603050405020304" pitchFamily="18" charset="0"/>
              </a:rPr>
              <a:t>周期</a:t>
            </a:r>
          </a:p>
        </p:txBody>
      </p:sp>
      <p:sp>
        <p:nvSpPr>
          <p:cNvPr id="155839" name="Rectangle 191"/>
          <p:cNvSpPr/>
          <p:nvPr/>
        </p:nvSpPr>
        <p:spPr>
          <a:xfrm>
            <a:off x="1690688" y="3725863"/>
            <a:ext cx="6769100" cy="9540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根据元素原子外层电子构型的不同，可将元素周期表分为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s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，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p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，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d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，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ds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，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f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五个区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。 </a:t>
            </a:r>
          </a:p>
        </p:txBody>
      </p:sp>
      <p:sp>
        <p:nvSpPr>
          <p:cNvPr id="155840" name="Rectangle 192"/>
          <p:cNvSpPr/>
          <p:nvPr/>
        </p:nvSpPr>
        <p:spPr>
          <a:xfrm>
            <a:off x="468313" y="3605213"/>
            <a:ext cx="595312" cy="584200"/>
          </a:xfrm>
          <a:prstGeom prst="rect">
            <a:avLst/>
          </a:prstGeom>
          <a:solidFill>
            <a:srgbClr val="0000FF"/>
          </a:solidFill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200" dirty="0">
                <a:solidFill>
                  <a:srgbClr val="FFFF00"/>
                </a:solidFill>
                <a:latin typeface="Times New Roman" panose="02020603050405020304" pitchFamily="18" charset="0"/>
              </a:rPr>
              <a:t>区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55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55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55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55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801" grpId="0"/>
      <p:bldP spid="155803" grpId="0"/>
      <p:bldP spid="155809" grpId="0" animBg="1"/>
      <p:bldP spid="155839" grpId="0"/>
      <p:bldP spid="15584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3"/>
          <p:cNvSpPr/>
          <p:nvPr/>
        </p:nvSpPr>
        <p:spPr>
          <a:xfrm>
            <a:off x="1973263" y="66675"/>
            <a:ext cx="4289425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元素在周期表中的分区</a:t>
            </a:r>
          </a:p>
        </p:txBody>
      </p:sp>
      <p:graphicFrame>
        <p:nvGraphicFramePr>
          <p:cNvPr id="38986" name="Group 74"/>
          <p:cNvGraphicFramePr>
            <a:graphicFrameLocks noGrp="1"/>
          </p:cNvGraphicFramePr>
          <p:nvPr/>
        </p:nvGraphicFramePr>
        <p:xfrm>
          <a:off x="138113" y="681038"/>
          <a:ext cx="8713787" cy="3023234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3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561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243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24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561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5561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55612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30516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ⅠA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 gridSpan="5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10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80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一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</a:t>
                      </a:r>
                      <a:r>
                        <a:rPr kumimoji="0" lang="en-US" altLang="zh-CN" sz="17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ⅡA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5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ⅢA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ⅣA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ⅤA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ⅥA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ⅦA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</a:t>
                      </a:r>
                      <a:r>
                        <a:rPr kumimoji="0" lang="en-US" altLang="zh-CN" sz="17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16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二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6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43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三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ⅢB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ⅣB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ⅤB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ⅥB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ⅦB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Ⅷ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ⅠB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ⅡB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8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20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五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66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六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71*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59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七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103*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110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111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112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 gridSpan="6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9152" name="Text Box 240"/>
          <p:cNvSpPr txBox="1"/>
          <p:nvPr/>
        </p:nvSpPr>
        <p:spPr>
          <a:xfrm>
            <a:off x="785813" y="1006475"/>
            <a:ext cx="576262" cy="646113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S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153" name="Text Box 241"/>
          <p:cNvSpPr txBox="1"/>
          <p:nvPr/>
        </p:nvSpPr>
        <p:spPr>
          <a:xfrm>
            <a:off x="3090863" y="1924050"/>
            <a:ext cx="576262" cy="646113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rgbClr val="3333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d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154" name="Text Box 242"/>
          <p:cNvSpPr txBox="1"/>
          <p:nvPr/>
        </p:nvSpPr>
        <p:spPr>
          <a:xfrm>
            <a:off x="5322888" y="1876425"/>
            <a:ext cx="720725" cy="646113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rgbClr val="008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ds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155" name="Text Box 243"/>
          <p:cNvSpPr txBox="1"/>
          <p:nvPr/>
        </p:nvSpPr>
        <p:spPr>
          <a:xfrm>
            <a:off x="7267575" y="1546225"/>
            <a:ext cx="576263" cy="646113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rgbClr val="80008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p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156" name="Text Box 244"/>
          <p:cNvSpPr txBox="1"/>
          <p:nvPr/>
        </p:nvSpPr>
        <p:spPr>
          <a:xfrm>
            <a:off x="3140075" y="4151313"/>
            <a:ext cx="465138" cy="6477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rgbClr val="9966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f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158" name="AutoShape 246"/>
          <p:cNvSpPr/>
          <p:nvPr/>
        </p:nvSpPr>
        <p:spPr>
          <a:xfrm>
            <a:off x="107950" y="1520825"/>
            <a:ext cx="7345363" cy="457200"/>
          </a:xfrm>
          <a:prstGeom prst="accentBorderCallout3">
            <a:avLst>
              <a:gd name="adj1" fmla="val 18750"/>
              <a:gd name="adj2" fmla="val 101037"/>
              <a:gd name="adj3" fmla="val 18750"/>
              <a:gd name="adj4" fmla="val 110440"/>
              <a:gd name="adj5" fmla="val 142449"/>
              <a:gd name="adj6" fmla="val 110440"/>
              <a:gd name="adj7" fmla="val 266407"/>
              <a:gd name="adj8" fmla="val 73287"/>
            </a:avLst>
          </a:prstGeom>
          <a:gradFill rotWithShape="1">
            <a:gsLst>
              <a:gs pos="0">
                <a:srgbClr val="003B00"/>
              </a:gs>
              <a:gs pos="50000">
                <a:srgbClr val="008000"/>
              </a:gs>
              <a:gs pos="100000">
                <a:srgbClr val="003B00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最后一个电子一般填入最外层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s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亚层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9159" name="AutoShape 247"/>
          <p:cNvSpPr/>
          <p:nvPr/>
        </p:nvSpPr>
        <p:spPr>
          <a:xfrm>
            <a:off x="1798638" y="681038"/>
            <a:ext cx="4964112" cy="457200"/>
          </a:xfrm>
          <a:prstGeom prst="accentBorderCallout2">
            <a:avLst>
              <a:gd name="adj1" fmla="val 18750"/>
              <a:gd name="adj2" fmla="val -1537"/>
              <a:gd name="adj3" fmla="val 18750"/>
              <a:gd name="adj4" fmla="val -8444"/>
              <a:gd name="adj5" fmla="val 76042"/>
              <a:gd name="adj6" fmla="val -15639"/>
            </a:avLst>
          </a:prstGeom>
          <a:gradFill rotWithShape="1">
            <a:gsLst>
              <a:gs pos="0">
                <a:srgbClr val="760000"/>
              </a:gs>
              <a:gs pos="50000">
                <a:srgbClr val="FF0000"/>
              </a:gs>
              <a:gs pos="100000">
                <a:srgbClr val="760000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最后一个电子填入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s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亚层 </a:t>
            </a:r>
            <a:endParaRPr lang="zh-CN" altLang="en-US" dirty="0">
              <a:latin typeface="Arial" panose="020B0604020202020204" pitchFamily="34" charset="0"/>
              <a:ea typeface="ˎ̥"/>
            </a:endParaRPr>
          </a:p>
          <a:p>
            <a:pPr eaLnBrk="1" hangingPunct="1"/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9160" name="Group 248"/>
          <p:cNvGraphicFramePr>
            <a:graphicFrameLocks noGrp="1"/>
          </p:cNvGraphicFramePr>
          <p:nvPr/>
        </p:nvGraphicFramePr>
        <p:xfrm>
          <a:off x="168275" y="4119563"/>
          <a:ext cx="7762875" cy="577216"/>
        </p:xfrm>
        <a:graphic>
          <a:graphicData uri="http://schemas.openxmlformats.org/drawingml/2006/table">
            <a:tbl>
              <a:tblPr/>
              <a:tblGrid>
                <a:gridCol w="865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3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8860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镧系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57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58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59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60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61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62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63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64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65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66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67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68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69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70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71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60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锕系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89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90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91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92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93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94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95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96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97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98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99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100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101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102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969696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103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" name="Group 301"/>
          <p:cNvGrpSpPr/>
          <p:nvPr/>
        </p:nvGrpSpPr>
        <p:grpSpPr>
          <a:xfrm>
            <a:off x="498475" y="2876550"/>
            <a:ext cx="7920038" cy="1411288"/>
            <a:chOff x="340" y="2416"/>
            <a:chExt cx="4989" cy="1185"/>
          </a:xfrm>
        </p:grpSpPr>
        <p:sp>
          <p:nvSpPr>
            <p:cNvPr id="45281" name="Text Box 302"/>
            <p:cNvSpPr txBox="1"/>
            <p:nvPr/>
          </p:nvSpPr>
          <p:spPr>
            <a:xfrm>
              <a:off x="340" y="2708"/>
              <a:ext cx="2540" cy="5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36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n</a:t>
              </a:r>
              <a:r>
                <a:rPr lang="en-US" altLang="zh-CN" sz="3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s</a:t>
              </a:r>
              <a:r>
                <a:rPr lang="en-US" altLang="zh-CN" sz="3600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1~2</a:t>
              </a:r>
              <a:r>
                <a:rPr lang="en-US" altLang="zh-CN" sz="3600" b="1" baseline="30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    </a:t>
              </a:r>
              <a:r>
                <a:rPr lang="en-US" altLang="zh-CN" sz="36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(</a:t>
              </a:r>
              <a:r>
                <a:rPr lang="en-US" altLang="zh-CN" sz="3600" b="1" i="1" dirty="0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n</a:t>
              </a:r>
              <a:r>
                <a:rPr lang="en-US" altLang="zh-CN" sz="36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-1)d</a:t>
              </a:r>
              <a:r>
                <a:rPr lang="en-US" altLang="zh-CN" sz="3600" b="1" baseline="30000" dirty="0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1~8</a:t>
              </a:r>
              <a:r>
                <a:rPr lang="en-US" altLang="zh-CN" sz="3600" b="1" i="1" dirty="0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n</a:t>
              </a:r>
              <a:r>
                <a:rPr lang="en-US" altLang="zh-CN" sz="36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s</a:t>
              </a:r>
              <a:r>
                <a:rPr lang="en-US" altLang="zh-CN" sz="3600" b="1" baseline="30000" dirty="0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1~2</a:t>
              </a:r>
              <a:r>
                <a:rPr lang="en-US" altLang="zh-CN" sz="3600" b="1" baseline="30000" dirty="0">
                  <a:solidFill>
                    <a:srgbClr val="80008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282" name="Text Box 303"/>
            <p:cNvSpPr txBox="1"/>
            <p:nvPr/>
          </p:nvSpPr>
          <p:spPr>
            <a:xfrm>
              <a:off x="2835" y="2712"/>
              <a:ext cx="1769" cy="5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3600" b="1" dirty="0">
                  <a:solidFill>
                    <a:srgbClr val="008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(</a:t>
              </a:r>
              <a:r>
                <a:rPr lang="en-US" altLang="zh-CN" sz="3600" b="1" i="1" dirty="0">
                  <a:solidFill>
                    <a:srgbClr val="008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n</a:t>
              </a:r>
              <a:r>
                <a:rPr lang="en-US" altLang="zh-CN" sz="3600" b="1" dirty="0">
                  <a:solidFill>
                    <a:srgbClr val="008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-1)d</a:t>
              </a:r>
              <a:r>
                <a:rPr lang="en-US" altLang="zh-CN" sz="3600" b="1" baseline="30000" dirty="0">
                  <a:solidFill>
                    <a:srgbClr val="008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10</a:t>
              </a:r>
              <a:r>
                <a:rPr lang="en-US" altLang="zh-CN" sz="3600" b="1" i="1" dirty="0">
                  <a:solidFill>
                    <a:srgbClr val="008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n</a:t>
              </a:r>
              <a:r>
                <a:rPr lang="en-US" altLang="zh-CN" sz="3600" b="1" dirty="0">
                  <a:solidFill>
                    <a:srgbClr val="008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s</a:t>
              </a:r>
              <a:r>
                <a:rPr lang="en-US" altLang="zh-CN" sz="3600" b="1" baseline="30000" dirty="0">
                  <a:solidFill>
                    <a:srgbClr val="008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1~2</a:t>
              </a:r>
              <a:endParaRPr lang="en-US" altLang="zh-CN" sz="1800" dirty="0"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  <p:sp>
          <p:nvSpPr>
            <p:cNvPr id="45283" name="Text Box 304"/>
            <p:cNvSpPr txBox="1"/>
            <p:nvPr/>
          </p:nvSpPr>
          <p:spPr>
            <a:xfrm>
              <a:off x="4195" y="2416"/>
              <a:ext cx="1134" cy="5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3600" b="1" i="1" dirty="0">
                  <a:solidFill>
                    <a:srgbClr val="80008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n</a:t>
              </a:r>
              <a:r>
                <a:rPr lang="en-US" altLang="zh-CN" sz="3600" b="1" dirty="0">
                  <a:solidFill>
                    <a:srgbClr val="80008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s</a:t>
              </a:r>
              <a:r>
                <a:rPr lang="en-US" altLang="zh-CN" sz="3600" b="1" baseline="30000" dirty="0">
                  <a:solidFill>
                    <a:srgbClr val="80008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2</a:t>
              </a:r>
              <a:r>
                <a:rPr lang="en-US" altLang="zh-CN" sz="3600" b="1" i="1" dirty="0">
                  <a:solidFill>
                    <a:srgbClr val="80008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n</a:t>
              </a:r>
              <a:r>
                <a:rPr lang="en-US" altLang="zh-CN" sz="3600" b="1" dirty="0">
                  <a:solidFill>
                    <a:srgbClr val="80008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p</a:t>
              </a:r>
              <a:r>
                <a:rPr lang="en-US" altLang="zh-CN" sz="3600" b="1" baseline="30000" dirty="0">
                  <a:solidFill>
                    <a:srgbClr val="80008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1~6</a:t>
              </a:r>
              <a:r>
                <a:rPr lang="en-US" altLang="zh-CN" sz="36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endParaRPr lang="en-US" altLang="zh-CN" sz="1800" dirty="0"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  <p:sp>
          <p:nvSpPr>
            <p:cNvPr id="45284" name="Text Box 305"/>
            <p:cNvSpPr txBox="1"/>
            <p:nvPr/>
          </p:nvSpPr>
          <p:spPr>
            <a:xfrm>
              <a:off x="1292" y="3058"/>
              <a:ext cx="2677" cy="5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3600" b="1" dirty="0">
                  <a:solidFill>
                    <a:srgbClr val="99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(</a:t>
              </a:r>
              <a:r>
                <a:rPr lang="en-US" altLang="zh-CN" sz="3600" b="1" i="1" dirty="0">
                  <a:solidFill>
                    <a:srgbClr val="99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n</a:t>
              </a:r>
              <a:r>
                <a:rPr lang="en-US" altLang="zh-CN" sz="3600" b="1" dirty="0">
                  <a:solidFill>
                    <a:srgbClr val="99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-2)f</a:t>
              </a:r>
              <a:r>
                <a:rPr lang="en-US" altLang="zh-CN" sz="3600" b="1" baseline="30000" dirty="0">
                  <a:solidFill>
                    <a:srgbClr val="99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0~14</a:t>
              </a:r>
              <a:r>
                <a:rPr lang="en-US" altLang="zh-CN" sz="3600" b="1" dirty="0">
                  <a:solidFill>
                    <a:srgbClr val="99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(</a:t>
              </a:r>
              <a:r>
                <a:rPr lang="en-US" altLang="zh-CN" sz="3600" b="1" i="1" dirty="0">
                  <a:solidFill>
                    <a:srgbClr val="99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n</a:t>
              </a:r>
              <a:r>
                <a:rPr lang="en-US" altLang="zh-CN" sz="3600" b="1" dirty="0">
                  <a:solidFill>
                    <a:srgbClr val="99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-1)d</a:t>
              </a:r>
              <a:r>
                <a:rPr lang="en-US" altLang="zh-CN" sz="3600" b="1" baseline="30000" dirty="0">
                  <a:solidFill>
                    <a:srgbClr val="99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0~2</a:t>
              </a:r>
              <a:r>
                <a:rPr lang="en-US" altLang="zh-CN" sz="3600" b="1" i="1" dirty="0">
                  <a:solidFill>
                    <a:srgbClr val="99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n</a:t>
              </a:r>
              <a:r>
                <a:rPr lang="en-US" altLang="zh-CN" sz="3600" b="1" dirty="0">
                  <a:solidFill>
                    <a:srgbClr val="99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s</a:t>
              </a:r>
              <a:r>
                <a:rPr lang="en-US" altLang="zh-CN" sz="3600" b="1" baseline="30000" dirty="0">
                  <a:solidFill>
                    <a:srgbClr val="99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2</a:t>
              </a:r>
              <a:r>
                <a:rPr lang="en-US" altLang="zh-CN" sz="3600" b="1" dirty="0">
                  <a:solidFill>
                    <a:srgbClr val="99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endParaRPr lang="en-US" altLang="zh-CN" sz="1800" dirty="0"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</p:grpSp>
      <p:sp>
        <p:nvSpPr>
          <p:cNvPr id="39157" name="AutoShape 245"/>
          <p:cNvSpPr/>
          <p:nvPr/>
        </p:nvSpPr>
        <p:spPr>
          <a:xfrm flipH="1">
            <a:off x="1258888" y="3140075"/>
            <a:ext cx="7416800" cy="457200"/>
          </a:xfrm>
          <a:prstGeom prst="accentBorderCallout3">
            <a:avLst>
              <a:gd name="adj1" fmla="val 18750"/>
              <a:gd name="adj2" fmla="val 101023"/>
              <a:gd name="adj3" fmla="val 18750"/>
              <a:gd name="adj4" fmla="val 107958"/>
              <a:gd name="adj5" fmla="val -7292"/>
              <a:gd name="adj6" fmla="val 107958"/>
              <a:gd name="adj7" fmla="val -104949"/>
              <a:gd name="adj8" fmla="val 75361"/>
            </a:avLst>
          </a:prstGeom>
          <a:gradFill rotWithShape="1">
            <a:gsLst>
              <a:gs pos="0">
                <a:srgbClr val="00005E"/>
              </a:gs>
              <a:gs pos="50000">
                <a:srgbClr val="0000CC"/>
              </a:gs>
              <a:gs pos="100000">
                <a:srgbClr val="00005E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最后一个电子一般填入次外层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d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亚层 </a:t>
            </a:r>
            <a:endParaRPr lang="zh-CN" altLang="en-US" dirty="0">
              <a:latin typeface="Arial" panose="020B0604020202020204" pitchFamily="34" charset="0"/>
              <a:ea typeface="ˎ̥"/>
            </a:endParaRPr>
          </a:p>
          <a:p>
            <a:pPr eaLnBrk="1" hangingPunct="1"/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9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9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9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9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9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9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52" grpId="0" animBg="1"/>
      <p:bldP spid="39153" grpId="0" animBg="1"/>
      <p:bldP spid="39154" grpId="0" animBg="1"/>
      <p:bldP spid="39155" grpId="0" animBg="1"/>
      <p:bldP spid="39156" grpId="0" animBg="1"/>
      <p:bldP spid="39158" grpId="0" animBg="1"/>
      <p:bldP spid="39159" grpId="0" animBg="1"/>
      <p:bldP spid="3915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011" name="Group 51"/>
          <p:cNvGraphicFramePr>
            <a:graphicFrameLocks noGrp="1"/>
          </p:cNvGraphicFramePr>
          <p:nvPr/>
        </p:nvGraphicFramePr>
        <p:xfrm>
          <a:off x="204788" y="714375"/>
          <a:ext cx="8713787" cy="2781022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3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561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243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24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561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5561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55612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43446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ⅠA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 gridSpan="5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10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04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一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</a:t>
                      </a:r>
                      <a:r>
                        <a:rPr kumimoji="0" lang="en-US" altLang="zh-CN" sz="17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ⅡA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5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ⅢA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ⅣA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ⅤA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ⅥA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ⅦA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</a:t>
                      </a:r>
                      <a:r>
                        <a:rPr kumimoji="0" lang="en-US" altLang="zh-CN" sz="17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二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6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69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三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ⅢB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ⅣB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ⅤB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ⅥB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ⅦB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Ⅷ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ⅠB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ⅡB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88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19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五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42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六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71*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50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七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103</a:t>
                      </a: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*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110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111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112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 gridSpan="6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41177" name="Group 217"/>
          <p:cNvGraphicFramePr>
            <a:graphicFrameLocks noGrp="1"/>
          </p:cNvGraphicFramePr>
          <p:nvPr/>
        </p:nvGraphicFramePr>
        <p:xfrm>
          <a:off x="204788" y="714375"/>
          <a:ext cx="8713787" cy="2781022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33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561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243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5243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5561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5561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540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55612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</a:tblGrid>
              <a:tr h="43446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ⅠA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 gridSpan="5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10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04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一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</a:t>
                      </a:r>
                      <a:r>
                        <a:rPr kumimoji="0" lang="en-US" altLang="zh-CN" sz="17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ⅡA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5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ⅢA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ⅣA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ⅤA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ⅥA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ⅦA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</a:t>
                      </a:r>
                      <a:r>
                        <a:rPr kumimoji="0" lang="en-US" altLang="zh-CN" sz="17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二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6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69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三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ⅢB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ⅣB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ⅤB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ⅥB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ⅦB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Ⅷ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ⅠB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ⅡB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88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19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五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42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六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71*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0008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50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七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103</a:t>
                      </a:r>
                      <a:r>
                        <a:rPr kumimoji="0" lang="en-US" altLang="zh-CN" sz="13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*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110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CC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111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112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8000">
                        <a:alpha val="10001"/>
                      </a:srgbClr>
                    </a:solidFill>
                  </a:tcPr>
                </a:tc>
                <a:tc gridSpan="6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6402" name="Text Box 383"/>
          <p:cNvSpPr txBox="1"/>
          <p:nvPr/>
        </p:nvSpPr>
        <p:spPr>
          <a:xfrm>
            <a:off x="852488" y="1006475"/>
            <a:ext cx="576262" cy="646113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S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403" name="Text Box 384"/>
          <p:cNvSpPr txBox="1"/>
          <p:nvPr/>
        </p:nvSpPr>
        <p:spPr>
          <a:xfrm>
            <a:off x="3157538" y="1924050"/>
            <a:ext cx="576262" cy="646113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rgbClr val="3333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d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404" name="Text Box 385"/>
          <p:cNvSpPr txBox="1"/>
          <p:nvPr/>
        </p:nvSpPr>
        <p:spPr>
          <a:xfrm>
            <a:off x="5389563" y="1876425"/>
            <a:ext cx="720725" cy="646113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rgbClr val="008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ds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405" name="Text Box 386"/>
          <p:cNvSpPr txBox="1"/>
          <p:nvPr/>
        </p:nvSpPr>
        <p:spPr>
          <a:xfrm>
            <a:off x="7334250" y="1546225"/>
            <a:ext cx="576263" cy="646113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rgbClr val="80008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p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406" name="Text Box 387"/>
          <p:cNvSpPr txBox="1"/>
          <p:nvPr/>
        </p:nvSpPr>
        <p:spPr>
          <a:xfrm>
            <a:off x="3206750" y="4151313"/>
            <a:ext cx="465138" cy="647700"/>
          </a:xfrm>
          <a:prstGeom prst="rect">
            <a:avLst/>
          </a:prstGeom>
          <a:solidFill>
            <a:srgbClr val="FFFF00">
              <a:alpha val="50195"/>
            </a:srgbClr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rgbClr val="9966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f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46407" name="Group 388"/>
          <p:cNvGrpSpPr/>
          <p:nvPr/>
        </p:nvGrpSpPr>
        <p:grpSpPr>
          <a:xfrm>
            <a:off x="565150" y="2876550"/>
            <a:ext cx="7920038" cy="1411288"/>
            <a:chOff x="340" y="2416"/>
            <a:chExt cx="4989" cy="1185"/>
          </a:xfrm>
        </p:grpSpPr>
        <p:sp>
          <p:nvSpPr>
            <p:cNvPr id="46464" name="Text Box 389"/>
            <p:cNvSpPr txBox="1"/>
            <p:nvPr/>
          </p:nvSpPr>
          <p:spPr>
            <a:xfrm>
              <a:off x="340" y="2708"/>
              <a:ext cx="2540" cy="5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3600" b="1" i="1" dirty="0">
                  <a:solidFill>
                    <a:srgbClr val="FF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n</a:t>
              </a:r>
              <a:r>
                <a:rPr lang="en-US" altLang="zh-CN" sz="36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s</a:t>
              </a:r>
              <a:r>
                <a:rPr lang="en-US" altLang="zh-CN" sz="3600" b="1" baseline="30000" dirty="0">
                  <a:solidFill>
                    <a:srgbClr val="FF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1~2</a:t>
              </a:r>
              <a:r>
                <a:rPr lang="en-US" altLang="zh-CN" sz="3600" b="1" baseline="30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    </a:t>
              </a:r>
              <a:r>
                <a:rPr lang="en-US" altLang="zh-CN" sz="36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(</a:t>
              </a:r>
              <a:r>
                <a:rPr lang="en-US" altLang="zh-CN" sz="3600" b="1" i="1" dirty="0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n</a:t>
              </a:r>
              <a:r>
                <a:rPr lang="en-US" altLang="zh-CN" sz="36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-1)d</a:t>
              </a:r>
              <a:r>
                <a:rPr lang="en-US" altLang="zh-CN" sz="3600" b="1" baseline="30000" dirty="0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1~9</a:t>
              </a:r>
              <a:r>
                <a:rPr lang="en-US" altLang="zh-CN" sz="3600" b="1" i="1" dirty="0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n</a:t>
              </a:r>
              <a:r>
                <a:rPr lang="en-US" altLang="zh-CN" sz="3600" b="1" dirty="0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s</a:t>
              </a:r>
              <a:r>
                <a:rPr lang="en-US" altLang="zh-CN" sz="3600" b="1" baseline="30000" dirty="0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1~2</a:t>
              </a:r>
              <a:r>
                <a:rPr lang="en-US" altLang="zh-CN" sz="3600" b="1" baseline="30000" dirty="0">
                  <a:solidFill>
                    <a:srgbClr val="80008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465" name="Text Box 390"/>
            <p:cNvSpPr txBox="1"/>
            <p:nvPr/>
          </p:nvSpPr>
          <p:spPr>
            <a:xfrm>
              <a:off x="2835" y="2712"/>
              <a:ext cx="1769" cy="5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3600" b="1" dirty="0">
                  <a:solidFill>
                    <a:srgbClr val="008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(</a:t>
              </a:r>
              <a:r>
                <a:rPr lang="en-US" altLang="zh-CN" sz="3600" b="1" i="1" dirty="0">
                  <a:solidFill>
                    <a:srgbClr val="008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n</a:t>
              </a:r>
              <a:r>
                <a:rPr lang="en-US" altLang="zh-CN" sz="3600" b="1" dirty="0">
                  <a:solidFill>
                    <a:srgbClr val="008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-1)d</a:t>
              </a:r>
              <a:r>
                <a:rPr lang="en-US" altLang="zh-CN" sz="3600" b="1" baseline="30000" dirty="0">
                  <a:solidFill>
                    <a:srgbClr val="008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10</a:t>
              </a:r>
              <a:r>
                <a:rPr lang="en-US" altLang="zh-CN" sz="3600" b="1" i="1" dirty="0">
                  <a:solidFill>
                    <a:srgbClr val="008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n</a:t>
              </a:r>
              <a:r>
                <a:rPr lang="en-US" altLang="zh-CN" sz="3600" b="1" dirty="0">
                  <a:solidFill>
                    <a:srgbClr val="008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s</a:t>
              </a:r>
              <a:r>
                <a:rPr lang="en-US" altLang="zh-CN" sz="3600" b="1" baseline="30000" dirty="0">
                  <a:solidFill>
                    <a:srgbClr val="008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1~2</a:t>
              </a:r>
              <a:endParaRPr lang="en-US" altLang="zh-CN" sz="1800" dirty="0"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  <p:sp>
          <p:nvSpPr>
            <p:cNvPr id="46466" name="Text Box 391"/>
            <p:cNvSpPr txBox="1"/>
            <p:nvPr/>
          </p:nvSpPr>
          <p:spPr>
            <a:xfrm>
              <a:off x="4195" y="2416"/>
              <a:ext cx="1134" cy="5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3600" b="1" i="1" dirty="0">
                  <a:solidFill>
                    <a:srgbClr val="80008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n</a:t>
              </a:r>
              <a:r>
                <a:rPr lang="en-US" altLang="zh-CN" sz="3600" b="1" dirty="0">
                  <a:solidFill>
                    <a:srgbClr val="80008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s</a:t>
              </a:r>
              <a:r>
                <a:rPr lang="en-US" altLang="zh-CN" sz="3600" b="1" baseline="30000" dirty="0">
                  <a:solidFill>
                    <a:srgbClr val="80008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2</a:t>
              </a:r>
              <a:r>
                <a:rPr lang="en-US" altLang="zh-CN" sz="3600" b="1" i="1" dirty="0">
                  <a:solidFill>
                    <a:srgbClr val="80008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n</a:t>
              </a:r>
              <a:r>
                <a:rPr lang="en-US" altLang="zh-CN" sz="3600" b="1" dirty="0">
                  <a:solidFill>
                    <a:srgbClr val="80008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p</a:t>
              </a:r>
              <a:r>
                <a:rPr lang="en-US" altLang="zh-CN" sz="3600" b="1" baseline="30000" dirty="0">
                  <a:solidFill>
                    <a:srgbClr val="80008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1~6</a:t>
              </a:r>
              <a:r>
                <a:rPr lang="en-US" altLang="zh-CN" sz="36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endParaRPr lang="en-US" altLang="zh-CN" sz="1800" dirty="0"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  <p:sp>
          <p:nvSpPr>
            <p:cNvPr id="46467" name="Text Box 392"/>
            <p:cNvSpPr txBox="1"/>
            <p:nvPr/>
          </p:nvSpPr>
          <p:spPr>
            <a:xfrm>
              <a:off x="1292" y="3058"/>
              <a:ext cx="2677" cy="5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3600" b="1" dirty="0">
                  <a:solidFill>
                    <a:srgbClr val="99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(</a:t>
              </a:r>
              <a:r>
                <a:rPr lang="en-US" altLang="zh-CN" sz="3600" b="1" i="1" dirty="0">
                  <a:solidFill>
                    <a:srgbClr val="99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n</a:t>
              </a:r>
              <a:r>
                <a:rPr lang="en-US" altLang="zh-CN" sz="3600" b="1" dirty="0">
                  <a:solidFill>
                    <a:srgbClr val="99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-2)f</a:t>
              </a:r>
              <a:r>
                <a:rPr lang="en-US" altLang="zh-CN" sz="3600" b="1" baseline="30000" dirty="0">
                  <a:solidFill>
                    <a:srgbClr val="99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0~14</a:t>
              </a:r>
              <a:r>
                <a:rPr lang="en-US" altLang="zh-CN" sz="3600" b="1" dirty="0">
                  <a:solidFill>
                    <a:srgbClr val="99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(</a:t>
              </a:r>
              <a:r>
                <a:rPr lang="en-US" altLang="zh-CN" sz="3600" b="1" i="1" dirty="0">
                  <a:solidFill>
                    <a:srgbClr val="99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n</a:t>
              </a:r>
              <a:r>
                <a:rPr lang="en-US" altLang="zh-CN" sz="3600" b="1" dirty="0">
                  <a:solidFill>
                    <a:srgbClr val="99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-1)d</a:t>
              </a:r>
              <a:r>
                <a:rPr lang="en-US" altLang="zh-CN" sz="3600" b="1" baseline="30000" dirty="0">
                  <a:solidFill>
                    <a:srgbClr val="99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0~2</a:t>
              </a:r>
              <a:r>
                <a:rPr lang="en-US" altLang="zh-CN" sz="3600" b="1" i="1" dirty="0">
                  <a:solidFill>
                    <a:srgbClr val="99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n</a:t>
              </a:r>
              <a:r>
                <a:rPr lang="en-US" altLang="zh-CN" sz="3600" b="1" dirty="0">
                  <a:solidFill>
                    <a:srgbClr val="99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s</a:t>
              </a:r>
              <a:r>
                <a:rPr lang="en-US" altLang="zh-CN" sz="3600" b="1" baseline="30000" dirty="0">
                  <a:solidFill>
                    <a:srgbClr val="99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2</a:t>
              </a:r>
              <a:r>
                <a:rPr lang="en-US" altLang="zh-CN" sz="3600" b="1" dirty="0">
                  <a:solidFill>
                    <a:srgbClr val="9966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endParaRPr lang="en-US" altLang="zh-CN" sz="1800" dirty="0"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</p:grpSp>
      <p:graphicFrame>
        <p:nvGraphicFramePr>
          <p:cNvPr id="41353" name="Group 393"/>
          <p:cNvGraphicFramePr>
            <a:graphicFrameLocks noGrp="1"/>
          </p:cNvGraphicFramePr>
          <p:nvPr/>
        </p:nvGraphicFramePr>
        <p:xfrm>
          <a:off x="234950" y="4119563"/>
          <a:ext cx="7762875" cy="577216"/>
        </p:xfrm>
        <a:graphic>
          <a:graphicData uri="http://schemas.openxmlformats.org/drawingml/2006/table">
            <a:tbl>
              <a:tblPr/>
              <a:tblGrid>
                <a:gridCol w="865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3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28860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镧系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57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58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59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60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61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62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63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64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65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66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67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68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69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70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71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60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锕系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89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90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91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92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93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94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95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96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97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98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99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100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101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102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ˎ̥"/>
                          <a:cs typeface="ˎ̥"/>
                        </a:rPr>
                        <a:t>103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6600">
                        <a:alpha val="100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406" name="AutoShape 446"/>
          <p:cNvSpPr/>
          <p:nvPr/>
        </p:nvSpPr>
        <p:spPr>
          <a:xfrm>
            <a:off x="1254125" y="736600"/>
            <a:ext cx="6126163" cy="457200"/>
          </a:xfrm>
          <a:prstGeom prst="accentBorderCallout2">
            <a:avLst>
              <a:gd name="adj1" fmla="val 18750"/>
              <a:gd name="adj2" fmla="val 101245"/>
              <a:gd name="adj3" fmla="val 18750"/>
              <a:gd name="adj4" fmla="val 103444"/>
              <a:gd name="adj5" fmla="val 185417"/>
              <a:gd name="adj6" fmla="val 104278"/>
            </a:avLst>
          </a:prstGeom>
          <a:gradFill rotWithShape="1">
            <a:gsLst>
              <a:gs pos="0">
                <a:srgbClr val="3B003B"/>
              </a:gs>
              <a:gs pos="50000">
                <a:srgbClr val="800080"/>
              </a:gs>
              <a:gs pos="100000">
                <a:srgbClr val="3B003B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algn="ctr" eaLnBrk="1" hangingPunct="1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最后一个电子填入外层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p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亚层</a:t>
            </a:r>
            <a:endParaRPr lang="zh-CN" altLang="en-US" sz="1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407" name="AutoShape 447"/>
          <p:cNvSpPr/>
          <p:nvPr/>
        </p:nvSpPr>
        <p:spPr>
          <a:xfrm>
            <a:off x="420688" y="3249613"/>
            <a:ext cx="8424862" cy="457200"/>
          </a:xfrm>
          <a:prstGeom prst="accentBorderCallout3">
            <a:avLst>
              <a:gd name="adj1" fmla="val 18750"/>
              <a:gd name="adj2" fmla="val -903"/>
              <a:gd name="adj3" fmla="val 18750"/>
              <a:gd name="adj4" fmla="val -2602"/>
              <a:gd name="adj5" fmla="val 147134"/>
              <a:gd name="adj6" fmla="val -2602"/>
              <a:gd name="adj7" fmla="val 203907"/>
              <a:gd name="adj8" fmla="val 32861"/>
            </a:avLst>
          </a:prstGeom>
          <a:gradFill rotWithShape="1">
            <a:gsLst>
              <a:gs pos="0">
                <a:srgbClr val="472F00"/>
              </a:gs>
              <a:gs pos="50000">
                <a:srgbClr val="996600"/>
              </a:gs>
              <a:gs pos="100000">
                <a:srgbClr val="472F00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pPr eaLnBrk="1" hangingPunct="1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最后一个电子一般填入外数第三层 </a:t>
            </a:r>
            <a:r>
              <a:rPr lang="en-US" altLang="zh-CN" sz="32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f </a:t>
            </a: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亚层</a:t>
            </a:r>
            <a:endParaRPr lang="zh-CN" altLang="en-US" sz="1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6463" name="Rectangle 448"/>
          <p:cNvSpPr/>
          <p:nvPr/>
        </p:nvSpPr>
        <p:spPr>
          <a:xfrm>
            <a:off x="2189163" y="66675"/>
            <a:ext cx="4289425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</a:rPr>
              <a:t>元素在周期表中的分区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06" grpId="0" animBg="1"/>
      <p:bldP spid="4140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1"/>
          <p:cNvSpPr/>
          <p:nvPr/>
        </p:nvSpPr>
        <p:spPr>
          <a:xfrm>
            <a:off x="395288" y="285750"/>
            <a:ext cx="646112" cy="646113"/>
          </a:xfrm>
          <a:prstGeom prst="rect">
            <a:avLst/>
          </a:prstGeom>
          <a:solidFill>
            <a:srgbClr val="0000FF"/>
          </a:solidFill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600" dirty="0">
                <a:solidFill>
                  <a:srgbClr val="FFFF00"/>
                </a:solidFill>
                <a:latin typeface="Times New Roman" panose="02020603050405020304" pitchFamily="18" charset="0"/>
              </a:rPr>
              <a:t>族</a:t>
            </a:r>
          </a:p>
        </p:txBody>
      </p:sp>
      <p:sp>
        <p:nvSpPr>
          <p:cNvPr id="47107" name="Rectangle 32"/>
          <p:cNvSpPr/>
          <p:nvPr/>
        </p:nvSpPr>
        <p:spPr>
          <a:xfrm>
            <a:off x="1116013" y="322263"/>
            <a:ext cx="7570787" cy="646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根据区和最外层、次外层电子数确定</a:t>
            </a:r>
          </a:p>
        </p:txBody>
      </p:sp>
      <p:graphicFrame>
        <p:nvGraphicFramePr>
          <p:cNvPr id="42037" name="Group 53"/>
          <p:cNvGraphicFramePr>
            <a:graphicFrameLocks noGrp="1"/>
          </p:cNvGraphicFramePr>
          <p:nvPr/>
        </p:nvGraphicFramePr>
        <p:xfrm>
          <a:off x="215900" y="1112838"/>
          <a:ext cx="8748713" cy="2638984"/>
        </p:xfrm>
        <a:graphic>
          <a:graphicData uri="http://schemas.openxmlformats.org/drawingml/2006/table">
            <a:tbl>
              <a:tblPr/>
              <a:tblGrid>
                <a:gridCol w="16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59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区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族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s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、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p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主族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(A)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，族数＝最外层电子数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31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d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副族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(B) 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族数＝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(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最外层＋次外层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d)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电子数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ds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副族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(B)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，族数＝最外层电子数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f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镧系、锕系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 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30" name="Group 51"/>
          <p:cNvGrpSpPr/>
          <p:nvPr/>
        </p:nvGrpSpPr>
        <p:grpSpPr>
          <a:xfrm>
            <a:off x="323850" y="357188"/>
            <a:ext cx="8569325" cy="931862"/>
            <a:chOff x="204" y="436"/>
            <a:chExt cx="5398" cy="783"/>
          </a:xfrm>
        </p:grpSpPr>
        <p:sp>
          <p:nvSpPr>
            <p:cNvPr id="48143" name="Rectangle 52"/>
            <p:cNvSpPr/>
            <p:nvPr/>
          </p:nvSpPr>
          <p:spPr>
            <a:xfrm>
              <a:off x="204" y="663"/>
              <a:ext cx="5398" cy="54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8144" name="Text Box 53"/>
            <p:cNvSpPr txBox="1"/>
            <p:nvPr/>
          </p:nvSpPr>
          <p:spPr>
            <a:xfrm>
              <a:off x="340" y="436"/>
              <a:ext cx="4627" cy="497"/>
            </a:xfrm>
            <a:prstGeom prst="rect">
              <a:avLst/>
            </a:prstGeom>
            <a:gradFill rotWithShape="1">
              <a:gsLst>
                <a:gs pos="0">
                  <a:srgbClr val="00005E"/>
                </a:gs>
                <a:gs pos="50000">
                  <a:srgbClr val="0000CC"/>
                </a:gs>
                <a:gs pos="100000">
                  <a:srgbClr val="00005E"/>
                </a:gs>
              </a:gsLst>
              <a:lin ang="5400000" scaled="1"/>
              <a:tileRect/>
            </a:gradFill>
            <a:ln w="9525">
              <a:noFill/>
            </a:ln>
            <a:effectLst>
              <a:outerShdw sy="50000" kx="2453608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32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元素在周期表的位置</a:t>
              </a:r>
              <a:r>
                <a:rPr lang="en-US" altLang="zh-CN" sz="32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(</a:t>
              </a:r>
              <a:r>
                <a:rPr lang="zh-CN" altLang="en-US" sz="32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周期、区、族</a:t>
              </a:r>
              <a:r>
                <a:rPr lang="en-US" altLang="zh-CN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)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45" name="Text Box 54"/>
            <p:cNvSpPr txBox="1"/>
            <p:nvPr/>
          </p:nvSpPr>
          <p:spPr>
            <a:xfrm>
              <a:off x="658" y="779"/>
              <a:ext cx="4626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取决于该元素原子核外电子的分布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199" name="Text Box 55"/>
          <p:cNvSpPr txBox="1"/>
          <p:nvPr/>
        </p:nvSpPr>
        <p:spPr>
          <a:xfrm>
            <a:off x="247650" y="1550988"/>
            <a:ext cx="1803400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例  </a:t>
            </a:r>
            <a:r>
              <a:rPr lang="en-US" altLang="zh-CN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20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Ca</a:t>
            </a:r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200" name="Text Box 56"/>
          <p:cNvSpPr txBox="1"/>
          <p:nvPr/>
        </p:nvSpPr>
        <p:spPr>
          <a:xfrm>
            <a:off x="819150" y="2036763"/>
            <a:ext cx="81724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写出电子排布式     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1s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2s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2p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6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3s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3p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6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4s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" name="Group 57"/>
          <p:cNvGrpSpPr/>
          <p:nvPr/>
        </p:nvGrpSpPr>
        <p:grpSpPr>
          <a:xfrm>
            <a:off x="468313" y="2632075"/>
            <a:ext cx="7248525" cy="522288"/>
            <a:chOff x="295" y="2093"/>
            <a:chExt cx="4566" cy="440"/>
          </a:xfrm>
        </p:grpSpPr>
        <p:sp>
          <p:nvSpPr>
            <p:cNvPr id="48141" name="Oval 58"/>
            <p:cNvSpPr/>
            <p:nvPr/>
          </p:nvSpPr>
          <p:spPr>
            <a:xfrm>
              <a:off x="295" y="2251"/>
              <a:ext cx="136" cy="136"/>
            </a:xfrm>
            <a:prstGeom prst="ellipse">
              <a:avLst/>
            </a:prstGeom>
            <a:solidFill>
              <a:srgbClr val="0000CC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8142" name="Text Box 59"/>
            <p:cNvSpPr txBox="1"/>
            <p:nvPr/>
          </p:nvSpPr>
          <p:spPr>
            <a:xfrm>
              <a:off x="507" y="2093"/>
              <a:ext cx="4354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周期数＝电子层数　　  </a:t>
              </a:r>
              <a:r>
                <a:rPr lang="zh-CN" altLang="en-US" b="1" dirty="0">
                  <a:solidFill>
                    <a:srgbClr val="80008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第四周期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60"/>
          <p:cNvGrpSpPr/>
          <p:nvPr/>
        </p:nvGrpSpPr>
        <p:grpSpPr>
          <a:xfrm>
            <a:off x="468313" y="3225800"/>
            <a:ext cx="7848600" cy="523875"/>
            <a:chOff x="295" y="2614"/>
            <a:chExt cx="4944" cy="440"/>
          </a:xfrm>
        </p:grpSpPr>
        <p:sp>
          <p:nvSpPr>
            <p:cNvPr id="48139" name="Oval 61"/>
            <p:cNvSpPr/>
            <p:nvPr/>
          </p:nvSpPr>
          <p:spPr>
            <a:xfrm>
              <a:off x="295" y="2772"/>
              <a:ext cx="136" cy="136"/>
            </a:xfrm>
            <a:prstGeom prst="ellipse">
              <a:avLst/>
            </a:prstGeom>
            <a:solidFill>
              <a:srgbClr val="0000CC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8140" name="Text Box 62"/>
            <p:cNvSpPr txBox="1"/>
            <p:nvPr/>
          </p:nvSpPr>
          <p:spPr>
            <a:xfrm>
              <a:off x="507" y="2614"/>
              <a:ext cx="4732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最后一个电子填入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s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亚层　</a:t>
              </a:r>
              <a:r>
                <a:rPr lang="en-US" altLang="zh-CN" b="1" dirty="0">
                  <a:solidFill>
                    <a:srgbClr val="80008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s</a:t>
              </a:r>
              <a:r>
                <a:rPr lang="zh-CN" altLang="en-US" b="1" dirty="0">
                  <a:solidFill>
                    <a:srgbClr val="80008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区元素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63"/>
          <p:cNvGrpSpPr/>
          <p:nvPr/>
        </p:nvGrpSpPr>
        <p:grpSpPr>
          <a:xfrm>
            <a:off x="482600" y="3711575"/>
            <a:ext cx="7796213" cy="523875"/>
            <a:chOff x="328" y="3067"/>
            <a:chExt cx="4911" cy="440"/>
          </a:xfrm>
        </p:grpSpPr>
        <p:sp>
          <p:nvSpPr>
            <p:cNvPr id="48137" name="Oval 64"/>
            <p:cNvSpPr/>
            <p:nvPr/>
          </p:nvSpPr>
          <p:spPr>
            <a:xfrm>
              <a:off x="328" y="3225"/>
              <a:ext cx="136" cy="136"/>
            </a:xfrm>
            <a:prstGeom prst="ellipse">
              <a:avLst/>
            </a:prstGeom>
            <a:solidFill>
              <a:srgbClr val="0000CC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8138" name="Text Box 65"/>
            <p:cNvSpPr txBox="1"/>
            <p:nvPr/>
          </p:nvSpPr>
          <p:spPr>
            <a:xfrm>
              <a:off x="540" y="3067"/>
              <a:ext cx="4699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族数＝最外层电子数＝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2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　　</a:t>
              </a:r>
              <a:r>
                <a:rPr lang="en-US" altLang="zh-CN" b="1" dirty="0">
                  <a:solidFill>
                    <a:srgbClr val="80008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ⅡA</a:t>
              </a:r>
              <a:r>
                <a:rPr lang="en-US" altLang="zh-CN" b="1" dirty="0">
                  <a:solidFill>
                    <a:srgbClr val="80008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210" name="Text Box 66"/>
          <p:cNvSpPr txBox="1"/>
          <p:nvPr/>
        </p:nvSpPr>
        <p:spPr>
          <a:xfrm>
            <a:off x="1331913" y="4192588"/>
            <a:ext cx="7200900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Ca 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为第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四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周期、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ⅡA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族元素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6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99" grpId="0"/>
      <p:bldP spid="6200" grpId="0"/>
      <p:bldP spid="62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4" name="Group 36"/>
          <p:cNvGrpSpPr/>
          <p:nvPr/>
        </p:nvGrpSpPr>
        <p:grpSpPr>
          <a:xfrm>
            <a:off x="323850" y="195263"/>
            <a:ext cx="8569325" cy="931862"/>
            <a:chOff x="204" y="436"/>
            <a:chExt cx="5398" cy="783"/>
          </a:xfrm>
        </p:grpSpPr>
        <p:sp>
          <p:nvSpPr>
            <p:cNvPr id="49167" name="Rectangle 37"/>
            <p:cNvSpPr/>
            <p:nvPr/>
          </p:nvSpPr>
          <p:spPr>
            <a:xfrm>
              <a:off x="204" y="663"/>
              <a:ext cx="5398" cy="54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9168" name="Text Box 38"/>
            <p:cNvSpPr txBox="1"/>
            <p:nvPr/>
          </p:nvSpPr>
          <p:spPr>
            <a:xfrm>
              <a:off x="340" y="436"/>
              <a:ext cx="4627" cy="497"/>
            </a:xfrm>
            <a:prstGeom prst="rect">
              <a:avLst/>
            </a:prstGeom>
            <a:gradFill rotWithShape="1">
              <a:gsLst>
                <a:gs pos="0">
                  <a:srgbClr val="00005E"/>
                </a:gs>
                <a:gs pos="50000">
                  <a:srgbClr val="0000CC"/>
                </a:gs>
                <a:gs pos="100000">
                  <a:srgbClr val="00005E"/>
                </a:gs>
              </a:gsLst>
              <a:lin ang="5400000" scaled="1"/>
              <a:tileRect/>
            </a:gradFill>
            <a:ln w="9525">
              <a:noFill/>
            </a:ln>
            <a:effectLst>
              <a:outerShdw sy="50000" kx="2453608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元素在周期表的位置</a:t>
              </a:r>
              <a:r>
                <a:rPr lang="en-US" altLang="zh-CN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(</a:t>
              </a:r>
              <a:r>
                <a:rPr lang="zh-CN" altLang="en-US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周期、区、族</a:t>
              </a:r>
              <a:r>
                <a:rPr lang="en-US" altLang="zh-CN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)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69" name="Text Box 39"/>
            <p:cNvSpPr txBox="1"/>
            <p:nvPr/>
          </p:nvSpPr>
          <p:spPr>
            <a:xfrm>
              <a:off x="658" y="779"/>
              <a:ext cx="4626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取决于该元素原子核外电子的分布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9155" name="Text Box 40"/>
          <p:cNvSpPr txBox="1"/>
          <p:nvPr/>
        </p:nvSpPr>
        <p:spPr>
          <a:xfrm>
            <a:off x="247650" y="1112838"/>
            <a:ext cx="237966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例  </a:t>
            </a:r>
            <a:r>
              <a:rPr lang="en-US" altLang="zh-CN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24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Cr</a:t>
            </a:r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49" name="Text Box 41"/>
          <p:cNvSpPr txBox="1"/>
          <p:nvPr/>
        </p:nvSpPr>
        <p:spPr>
          <a:xfrm>
            <a:off x="819150" y="1654175"/>
            <a:ext cx="81724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写出电子排布式     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1s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2s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2p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6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3s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3p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6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3d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5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4s</a:t>
            </a:r>
            <a:r>
              <a:rPr lang="en-US" altLang="zh-CN" b="1" baseline="30000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</a:t>
            </a:r>
            <a:endParaRPr lang="en-US" altLang="zh-CN" sz="1400" dirty="0">
              <a:solidFill>
                <a:srgbClr val="C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" name="Group 42"/>
          <p:cNvGrpSpPr/>
          <p:nvPr/>
        </p:nvGrpSpPr>
        <p:grpSpPr>
          <a:xfrm>
            <a:off x="468313" y="2193925"/>
            <a:ext cx="8351837" cy="522288"/>
            <a:chOff x="295" y="2028"/>
            <a:chExt cx="5261" cy="439"/>
          </a:xfrm>
        </p:grpSpPr>
        <p:sp>
          <p:nvSpPr>
            <p:cNvPr id="49165" name="Oval 43"/>
            <p:cNvSpPr/>
            <p:nvPr/>
          </p:nvSpPr>
          <p:spPr>
            <a:xfrm>
              <a:off x="295" y="2186"/>
              <a:ext cx="136" cy="136"/>
            </a:xfrm>
            <a:prstGeom prst="ellipse">
              <a:avLst/>
            </a:prstGeom>
            <a:solidFill>
              <a:srgbClr val="0000CC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9166" name="Text Box 44"/>
            <p:cNvSpPr txBox="1"/>
            <p:nvPr/>
          </p:nvSpPr>
          <p:spPr>
            <a:xfrm>
              <a:off x="507" y="2028"/>
              <a:ext cx="5049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周期数＝电子层数　　            </a:t>
              </a:r>
              <a:r>
                <a:rPr lang="zh-CN" altLang="en-US" b="1" dirty="0">
                  <a:solidFill>
                    <a:srgbClr val="80008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第四周期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45"/>
          <p:cNvGrpSpPr/>
          <p:nvPr/>
        </p:nvGrpSpPr>
        <p:grpSpPr>
          <a:xfrm>
            <a:off x="468313" y="2733675"/>
            <a:ext cx="8675687" cy="522288"/>
            <a:chOff x="295" y="2507"/>
            <a:chExt cx="5465" cy="439"/>
          </a:xfrm>
        </p:grpSpPr>
        <p:sp>
          <p:nvSpPr>
            <p:cNvPr id="49163" name="Oval 46"/>
            <p:cNvSpPr/>
            <p:nvPr/>
          </p:nvSpPr>
          <p:spPr>
            <a:xfrm>
              <a:off x="295" y="2665"/>
              <a:ext cx="136" cy="136"/>
            </a:xfrm>
            <a:prstGeom prst="ellipse">
              <a:avLst/>
            </a:prstGeom>
            <a:solidFill>
              <a:srgbClr val="0000CC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9164" name="Text Box 47"/>
            <p:cNvSpPr txBox="1"/>
            <p:nvPr/>
          </p:nvSpPr>
          <p:spPr>
            <a:xfrm>
              <a:off x="507" y="2507"/>
              <a:ext cx="5253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最后一个电子填入次外层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d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亚层 </a:t>
              </a:r>
              <a:r>
                <a:rPr lang="en-US" altLang="zh-CN" b="1" dirty="0">
                  <a:solidFill>
                    <a:srgbClr val="80008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d</a:t>
              </a:r>
              <a:r>
                <a:rPr lang="zh-CN" altLang="en-US" b="1" dirty="0">
                  <a:solidFill>
                    <a:srgbClr val="80008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区元素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48"/>
          <p:cNvGrpSpPr/>
          <p:nvPr/>
        </p:nvGrpSpPr>
        <p:grpSpPr>
          <a:xfrm>
            <a:off x="482600" y="3232150"/>
            <a:ext cx="8661400" cy="911225"/>
            <a:chOff x="304" y="2976"/>
            <a:chExt cx="5456" cy="765"/>
          </a:xfrm>
        </p:grpSpPr>
        <p:sp>
          <p:nvSpPr>
            <p:cNvPr id="49161" name="Oval 49"/>
            <p:cNvSpPr/>
            <p:nvPr/>
          </p:nvSpPr>
          <p:spPr>
            <a:xfrm>
              <a:off x="304" y="3125"/>
              <a:ext cx="136" cy="136"/>
            </a:xfrm>
            <a:prstGeom prst="ellipse">
              <a:avLst/>
            </a:prstGeom>
            <a:solidFill>
              <a:srgbClr val="0000CC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9162" name="Text Box 50"/>
            <p:cNvSpPr txBox="1"/>
            <p:nvPr/>
          </p:nvSpPr>
          <p:spPr>
            <a:xfrm>
              <a:off x="516" y="2976"/>
              <a:ext cx="5244" cy="7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族数＝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最外层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次外层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d)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电子数 </a:t>
              </a:r>
              <a:endParaRPr lang="zh-CN" altLang="en-US" sz="14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       ＝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(1+5)=6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　　</a:t>
              </a:r>
              <a:r>
                <a:rPr lang="en-US" altLang="zh-CN" b="1" dirty="0">
                  <a:solidFill>
                    <a:srgbClr val="80008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ⅥB 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3059" name="Text Box 51"/>
          <p:cNvSpPr txBox="1"/>
          <p:nvPr/>
        </p:nvSpPr>
        <p:spPr>
          <a:xfrm>
            <a:off x="1331913" y="4192588"/>
            <a:ext cx="7200900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Cr 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为第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四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周期、 </a:t>
            </a:r>
            <a:r>
              <a:rPr lang="en-US" altLang="zh-CN" b="1" dirty="0">
                <a:solidFill>
                  <a:srgbClr val="C0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Ⅵ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B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族元素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3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4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49" grpId="0"/>
      <p:bldP spid="4305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8" name="Group 44"/>
          <p:cNvGrpSpPr/>
          <p:nvPr/>
        </p:nvGrpSpPr>
        <p:grpSpPr>
          <a:xfrm>
            <a:off x="323850" y="141288"/>
            <a:ext cx="8569325" cy="931862"/>
            <a:chOff x="204" y="436"/>
            <a:chExt cx="5398" cy="782"/>
          </a:xfrm>
        </p:grpSpPr>
        <p:sp>
          <p:nvSpPr>
            <p:cNvPr id="50191" name="Rectangle 45"/>
            <p:cNvSpPr/>
            <p:nvPr/>
          </p:nvSpPr>
          <p:spPr>
            <a:xfrm>
              <a:off x="204" y="663"/>
              <a:ext cx="5398" cy="54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0192" name="Text Box 46"/>
            <p:cNvSpPr txBox="1"/>
            <p:nvPr/>
          </p:nvSpPr>
          <p:spPr>
            <a:xfrm>
              <a:off x="340" y="436"/>
              <a:ext cx="4627" cy="496"/>
            </a:xfrm>
            <a:prstGeom prst="rect">
              <a:avLst/>
            </a:prstGeom>
            <a:gradFill rotWithShape="1">
              <a:gsLst>
                <a:gs pos="0">
                  <a:srgbClr val="00005E"/>
                </a:gs>
                <a:gs pos="50000">
                  <a:srgbClr val="0000CC"/>
                </a:gs>
                <a:gs pos="100000">
                  <a:srgbClr val="00005E"/>
                </a:gs>
              </a:gsLst>
              <a:lin ang="5400000" scaled="1"/>
              <a:tileRect/>
            </a:gradFill>
            <a:ln w="9525">
              <a:noFill/>
            </a:ln>
            <a:effectLst>
              <a:outerShdw sy="50000" kx="2453608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元素在周期表的位置</a:t>
              </a:r>
              <a:r>
                <a:rPr lang="en-US" altLang="zh-CN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(</a:t>
              </a:r>
              <a:r>
                <a:rPr lang="zh-CN" altLang="en-US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周期、区、族</a:t>
              </a:r>
              <a:r>
                <a:rPr lang="en-US" altLang="zh-CN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)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193" name="Text Box 47"/>
            <p:cNvSpPr txBox="1"/>
            <p:nvPr/>
          </p:nvSpPr>
          <p:spPr>
            <a:xfrm>
              <a:off x="658" y="779"/>
              <a:ext cx="4626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取决于该元素原子核外电子的分布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0179" name="Text Box 48"/>
          <p:cNvSpPr txBox="1"/>
          <p:nvPr/>
        </p:nvSpPr>
        <p:spPr>
          <a:xfrm>
            <a:off x="247650" y="1065213"/>
            <a:ext cx="2379663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例  </a:t>
            </a:r>
            <a:r>
              <a:rPr lang="en-US" altLang="zh-CN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47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Ag</a:t>
            </a:r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0" name="Text Box 49"/>
          <p:cNvSpPr txBox="1"/>
          <p:nvPr/>
        </p:nvSpPr>
        <p:spPr>
          <a:xfrm>
            <a:off x="2411413" y="1168400"/>
            <a:ext cx="662463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写出电子排布式   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[Kr]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4d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10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5s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" name="Group 50"/>
          <p:cNvGrpSpPr/>
          <p:nvPr/>
        </p:nvGrpSpPr>
        <p:grpSpPr>
          <a:xfrm>
            <a:off x="468313" y="1766888"/>
            <a:ext cx="8351837" cy="523875"/>
            <a:chOff x="295" y="2028"/>
            <a:chExt cx="5261" cy="440"/>
          </a:xfrm>
        </p:grpSpPr>
        <p:sp>
          <p:nvSpPr>
            <p:cNvPr id="50189" name="Oval 51"/>
            <p:cNvSpPr/>
            <p:nvPr/>
          </p:nvSpPr>
          <p:spPr>
            <a:xfrm>
              <a:off x="295" y="2186"/>
              <a:ext cx="136" cy="136"/>
            </a:xfrm>
            <a:prstGeom prst="ellipse">
              <a:avLst/>
            </a:prstGeom>
            <a:solidFill>
              <a:srgbClr val="0000CC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0190" name="Text Box 52"/>
            <p:cNvSpPr txBox="1"/>
            <p:nvPr/>
          </p:nvSpPr>
          <p:spPr>
            <a:xfrm>
              <a:off x="507" y="2028"/>
              <a:ext cx="5049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周期数＝电子层数　　           </a:t>
              </a:r>
              <a:r>
                <a:rPr lang="zh-CN" altLang="en-US" b="1" dirty="0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第五周期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53"/>
          <p:cNvGrpSpPr/>
          <p:nvPr/>
        </p:nvGrpSpPr>
        <p:grpSpPr>
          <a:xfrm>
            <a:off x="468313" y="2381250"/>
            <a:ext cx="8675687" cy="1041400"/>
            <a:chOff x="295" y="2507"/>
            <a:chExt cx="5465" cy="874"/>
          </a:xfrm>
        </p:grpSpPr>
        <p:sp>
          <p:nvSpPr>
            <p:cNvPr id="50187" name="Oval 54"/>
            <p:cNvSpPr/>
            <p:nvPr/>
          </p:nvSpPr>
          <p:spPr>
            <a:xfrm>
              <a:off x="295" y="2665"/>
              <a:ext cx="136" cy="136"/>
            </a:xfrm>
            <a:prstGeom prst="ellipse">
              <a:avLst/>
            </a:prstGeom>
            <a:solidFill>
              <a:srgbClr val="0000CC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0188" name="Text Box 55"/>
            <p:cNvSpPr txBox="1"/>
            <p:nvPr/>
          </p:nvSpPr>
          <p:spPr>
            <a:xfrm>
              <a:off x="507" y="2507"/>
              <a:ext cx="5253" cy="87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最后一个电子填入次外层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d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亚层， </a:t>
              </a:r>
              <a:endParaRPr lang="zh-CN" altLang="en-US" sz="14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而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d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电子数为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10                          </a:t>
              </a:r>
              <a:r>
                <a:rPr lang="en-US" altLang="zh-CN" b="1" dirty="0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ds</a:t>
              </a:r>
              <a:r>
                <a:rPr lang="zh-CN" altLang="en-US" b="1" dirty="0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区元素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56"/>
          <p:cNvGrpSpPr/>
          <p:nvPr/>
        </p:nvGrpSpPr>
        <p:grpSpPr>
          <a:xfrm>
            <a:off x="482600" y="3440113"/>
            <a:ext cx="8661400" cy="523875"/>
            <a:chOff x="304" y="2976"/>
            <a:chExt cx="5456" cy="439"/>
          </a:xfrm>
        </p:grpSpPr>
        <p:sp>
          <p:nvSpPr>
            <p:cNvPr id="50185" name="Oval 57"/>
            <p:cNvSpPr/>
            <p:nvPr/>
          </p:nvSpPr>
          <p:spPr>
            <a:xfrm>
              <a:off x="304" y="3125"/>
              <a:ext cx="136" cy="136"/>
            </a:xfrm>
            <a:prstGeom prst="ellipse">
              <a:avLst/>
            </a:prstGeom>
            <a:solidFill>
              <a:srgbClr val="0000CC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0186" name="Text Box 58"/>
            <p:cNvSpPr txBox="1"/>
            <p:nvPr/>
          </p:nvSpPr>
          <p:spPr>
            <a:xfrm>
              <a:off x="516" y="2976"/>
              <a:ext cx="5244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族数＝最外层电子数＝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1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　　  </a:t>
              </a:r>
              <a:r>
                <a:rPr lang="en-US" altLang="zh-CN" b="1" dirty="0">
                  <a:solidFill>
                    <a:srgbClr val="0000CC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IB 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44091" name="Text Box 59"/>
          <p:cNvSpPr txBox="1"/>
          <p:nvPr/>
        </p:nvSpPr>
        <p:spPr>
          <a:xfrm>
            <a:off x="1547813" y="4035425"/>
            <a:ext cx="7200900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Ag 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为第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五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周期、 </a:t>
            </a:r>
            <a:r>
              <a:rPr lang="en-US" altLang="zh-CN" b="1" dirty="0">
                <a:solidFill>
                  <a:srgbClr val="FF0066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IB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族元素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44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9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02" name="Group 37"/>
          <p:cNvGrpSpPr/>
          <p:nvPr/>
        </p:nvGrpSpPr>
        <p:grpSpPr>
          <a:xfrm>
            <a:off x="323850" y="141288"/>
            <a:ext cx="8569325" cy="931862"/>
            <a:chOff x="204" y="436"/>
            <a:chExt cx="5398" cy="782"/>
          </a:xfrm>
        </p:grpSpPr>
        <p:sp>
          <p:nvSpPr>
            <p:cNvPr id="51214" name="Rectangle 38"/>
            <p:cNvSpPr/>
            <p:nvPr/>
          </p:nvSpPr>
          <p:spPr>
            <a:xfrm>
              <a:off x="204" y="663"/>
              <a:ext cx="5398" cy="544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1215" name="Text Box 39"/>
            <p:cNvSpPr txBox="1"/>
            <p:nvPr/>
          </p:nvSpPr>
          <p:spPr>
            <a:xfrm>
              <a:off x="340" y="436"/>
              <a:ext cx="4627" cy="496"/>
            </a:xfrm>
            <a:prstGeom prst="rect">
              <a:avLst/>
            </a:prstGeom>
            <a:gradFill rotWithShape="1">
              <a:gsLst>
                <a:gs pos="0">
                  <a:srgbClr val="00005E"/>
                </a:gs>
                <a:gs pos="50000">
                  <a:srgbClr val="0000CC"/>
                </a:gs>
                <a:gs pos="100000">
                  <a:srgbClr val="00005E"/>
                </a:gs>
              </a:gsLst>
              <a:lin ang="5400000" scaled="1"/>
              <a:tileRect/>
            </a:gradFill>
            <a:ln w="9525">
              <a:noFill/>
            </a:ln>
            <a:effectLst>
              <a:outerShdw sy="50000" kx="2453608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元素在周期表的位置</a:t>
              </a:r>
              <a:r>
                <a:rPr lang="en-US" altLang="zh-CN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(</a:t>
              </a:r>
              <a:r>
                <a:rPr lang="zh-CN" altLang="en-US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周期、区、族</a:t>
              </a:r>
              <a:r>
                <a:rPr lang="en-US" altLang="zh-CN" sz="3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)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216" name="Text Box 40"/>
            <p:cNvSpPr txBox="1"/>
            <p:nvPr/>
          </p:nvSpPr>
          <p:spPr>
            <a:xfrm>
              <a:off x="658" y="779"/>
              <a:ext cx="4626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取决于该元素原子核外电子的分布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203" name="Text Box 53"/>
          <p:cNvSpPr txBox="1"/>
          <p:nvPr/>
        </p:nvSpPr>
        <p:spPr>
          <a:xfrm>
            <a:off x="247650" y="1112838"/>
            <a:ext cx="8896350" cy="911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例  已知某副族元素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原子，最后一个电子 </a:t>
            </a:r>
            <a:endParaRPr lang="zh-CN" altLang="en-US" sz="14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4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 填入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3d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轨道，族号＝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3</a:t>
            </a:r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5110" name="Text Box 54"/>
          <p:cNvSpPr txBox="1"/>
          <p:nvPr/>
        </p:nvSpPr>
        <p:spPr>
          <a:xfrm>
            <a:off x="920750" y="4246563"/>
            <a:ext cx="8208963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电子排布式   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1s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2s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2p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6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3s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3p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6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3d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4s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" name="Group 55"/>
          <p:cNvGrpSpPr/>
          <p:nvPr/>
        </p:nvGrpSpPr>
        <p:grpSpPr>
          <a:xfrm>
            <a:off x="485775" y="3765550"/>
            <a:ext cx="8351838" cy="522288"/>
            <a:chOff x="295" y="2028"/>
            <a:chExt cx="5261" cy="439"/>
          </a:xfrm>
        </p:grpSpPr>
        <p:sp>
          <p:nvSpPr>
            <p:cNvPr id="51212" name="Oval 56"/>
            <p:cNvSpPr/>
            <p:nvPr/>
          </p:nvSpPr>
          <p:spPr>
            <a:xfrm>
              <a:off x="295" y="2186"/>
              <a:ext cx="136" cy="136"/>
            </a:xfrm>
            <a:prstGeom prst="ellipse">
              <a:avLst/>
            </a:prstGeom>
            <a:solidFill>
              <a:srgbClr val="0000CC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51213" name="Text Box 57"/>
            <p:cNvSpPr txBox="1"/>
            <p:nvPr/>
          </p:nvSpPr>
          <p:spPr>
            <a:xfrm>
              <a:off x="507" y="2028"/>
              <a:ext cx="5049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周期数＝电子层数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=4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58"/>
          <p:cNvGrpSpPr/>
          <p:nvPr/>
        </p:nvGrpSpPr>
        <p:grpSpPr>
          <a:xfrm>
            <a:off x="468313" y="1978025"/>
            <a:ext cx="8675687" cy="909638"/>
            <a:chOff x="295" y="2507"/>
            <a:chExt cx="5465" cy="765"/>
          </a:xfrm>
        </p:grpSpPr>
        <p:sp>
          <p:nvSpPr>
            <p:cNvPr id="51210" name="Oval 59"/>
            <p:cNvSpPr/>
            <p:nvPr/>
          </p:nvSpPr>
          <p:spPr>
            <a:xfrm>
              <a:off x="295" y="2665"/>
              <a:ext cx="136" cy="136"/>
            </a:xfrm>
            <a:prstGeom prst="ellipse">
              <a:avLst/>
            </a:prstGeom>
            <a:solidFill>
              <a:srgbClr val="0000CC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1211" name="Text Box 60"/>
            <p:cNvSpPr txBox="1"/>
            <p:nvPr/>
          </p:nvSpPr>
          <p:spPr>
            <a:xfrm>
              <a:off x="507" y="2507"/>
              <a:ext cx="5253" cy="7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最后一个电子填入次外层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d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亚层 </a:t>
              </a:r>
              <a:endParaRPr lang="zh-CN" altLang="en-US" sz="14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40000"/>
                </a:lnSpc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为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d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区元素，最外层电子数＝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2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61"/>
          <p:cNvGrpSpPr/>
          <p:nvPr/>
        </p:nvGrpSpPr>
        <p:grpSpPr>
          <a:xfrm>
            <a:off x="482600" y="2951163"/>
            <a:ext cx="8661400" cy="954087"/>
            <a:chOff x="304" y="2976"/>
            <a:chExt cx="5456" cy="801"/>
          </a:xfrm>
        </p:grpSpPr>
        <p:sp>
          <p:nvSpPr>
            <p:cNvPr id="51208" name="Oval 62"/>
            <p:cNvSpPr/>
            <p:nvPr/>
          </p:nvSpPr>
          <p:spPr>
            <a:xfrm>
              <a:off x="304" y="3125"/>
              <a:ext cx="136" cy="136"/>
            </a:xfrm>
            <a:prstGeom prst="ellipse">
              <a:avLst/>
            </a:prstGeom>
            <a:solidFill>
              <a:srgbClr val="0000CC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51209" name="Text Box 63"/>
            <p:cNvSpPr txBox="1"/>
            <p:nvPr/>
          </p:nvSpPr>
          <p:spPr>
            <a:xfrm>
              <a:off x="516" y="2976"/>
              <a:ext cx="5244" cy="80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族数＝电子数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最外层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次外层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d) 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＝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3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　　  </a:t>
              </a:r>
              <a:endPara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endParaRPr>
            </a:p>
            <a:p>
              <a:pPr eaLnBrk="1" hangingPunct="1"/>
              <a:r>
                <a:rPr lang="zh-CN" altLang="en-US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则</a:t>
              </a:r>
              <a:r>
                <a:rPr lang="en-US" altLang="zh-CN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d</a:t>
              </a:r>
              <a:r>
                <a:rPr lang="zh-CN" altLang="en-US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电子数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=3</a:t>
              </a:r>
              <a:r>
                <a:rPr lang="en-US" altLang="zh-CN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-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2=1 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4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81"/>
          <p:cNvSpPr/>
          <p:nvPr/>
        </p:nvSpPr>
        <p:spPr>
          <a:xfrm>
            <a:off x="357188" y="238125"/>
            <a:ext cx="3613150" cy="825500"/>
          </a:xfrm>
          <a:prstGeom prst="rect">
            <a:avLst/>
          </a:prstGeom>
          <a:solidFill>
            <a:srgbClr val="00B050"/>
          </a:solidFill>
          <a:ln w="9525">
            <a:noFill/>
          </a:ln>
        </p:spPr>
        <p:txBody>
          <a:bodyPr wrap="none" tIns="165048" bIns="165048" anchor="ctr" anchorCtr="0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华文新魏" panose="02010800040101010101" pitchFamily="2" charset="-122"/>
              </a:rPr>
              <a:t>5.1.5 </a:t>
            </a:r>
            <a:r>
              <a:rPr lang="zh-CN" altLang="en-US" sz="3200" b="1" dirty="0">
                <a:solidFill>
                  <a:schemeClr val="bg1"/>
                </a:solidFill>
                <a:latin typeface="华文新魏" panose="02010800040101010101" pitchFamily="2" charset="-122"/>
              </a:rPr>
              <a:t>元素的周期性</a:t>
            </a:r>
            <a:endParaRPr lang="zh-CN" altLang="en-US" sz="3200" dirty="0">
              <a:solidFill>
                <a:schemeClr val="bg1"/>
              </a:solidFill>
              <a:latin typeface="华文新魏" panose="02010800040101010101" pitchFamily="2" charset="-122"/>
            </a:endParaRPr>
          </a:p>
        </p:txBody>
      </p:sp>
      <p:sp>
        <p:nvSpPr>
          <p:cNvPr id="52227" name="Text Box 283"/>
          <p:cNvSpPr txBox="1"/>
          <p:nvPr/>
        </p:nvSpPr>
        <p:spPr>
          <a:xfrm>
            <a:off x="323850" y="1390650"/>
            <a:ext cx="8261350" cy="27638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40000"/>
              </a:lnSpc>
              <a:spcBef>
                <a:spcPct val="50000"/>
              </a:spcBef>
              <a:buNone/>
            </a:pP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　   原子的电子层结构随核电荷的递增呈周期性变化，促使原子的某些性质呈周期性变化，如</a:t>
            </a:r>
            <a:endParaRPr lang="en-US" altLang="zh-CN" b="1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lnSpc>
                <a:spcPct val="140000"/>
              </a:lnSpc>
              <a:spcBef>
                <a:spcPct val="50000"/>
              </a:spcBef>
              <a:buNone/>
            </a:pP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     原子半径   电离能 </a:t>
            </a:r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     电子亲合能   电负性</a:t>
            </a:r>
            <a:endParaRPr lang="zh-CN" altLang="en-US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4"/>
          <p:cNvSpPr/>
          <p:nvPr/>
        </p:nvSpPr>
        <p:spPr>
          <a:xfrm>
            <a:off x="323850" y="176213"/>
            <a:ext cx="2608263" cy="646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3600" b="1" dirty="0">
                <a:solidFill>
                  <a:srgbClr val="9900CC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3600" b="1" dirty="0">
                <a:solidFill>
                  <a:srgbClr val="9900CC"/>
                </a:solidFill>
                <a:latin typeface="Times New Roman" panose="02020603050405020304" pitchFamily="18" charset="0"/>
              </a:rPr>
              <a:t>原子半径</a:t>
            </a:r>
            <a:r>
              <a:rPr lang="zh-CN" altLang="en-US" sz="3600" dirty="0">
                <a:solidFill>
                  <a:srgbClr val="9900CC"/>
                </a:solidFill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53251" name="Group 25"/>
          <p:cNvGrpSpPr/>
          <p:nvPr/>
        </p:nvGrpSpPr>
        <p:grpSpPr>
          <a:xfrm>
            <a:off x="179388" y="681038"/>
            <a:ext cx="8713787" cy="1512887"/>
            <a:chOff x="158" y="255"/>
            <a:chExt cx="5444" cy="1134"/>
          </a:xfrm>
        </p:grpSpPr>
        <p:sp>
          <p:nvSpPr>
            <p:cNvPr id="53258" name="Text Box 26"/>
            <p:cNvSpPr txBox="1"/>
            <p:nvPr/>
          </p:nvSpPr>
          <p:spPr>
            <a:xfrm>
              <a:off x="295" y="572"/>
              <a:ext cx="5204" cy="71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共价半径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——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两个相同原子形成共价键 </a:t>
              </a:r>
              <a:endParaRPr lang="zh-CN" altLang="en-US" sz="14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                       时，其核间距离的一半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259" name="Rectangle 27"/>
            <p:cNvSpPr/>
            <p:nvPr/>
          </p:nvSpPr>
          <p:spPr>
            <a:xfrm>
              <a:off x="158" y="436"/>
              <a:ext cx="5444" cy="95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53260" name="Text Box 28"/>
            <p:cNvSpPr txBox="1"/>
            <p:nvPr/>
          </p:nvSpPr>
          <p:spPr>
            <a:xfrm>
              <a:off x="4286" y="255"/>
              <a:ext cx="953" cy="361"/>
            </a:xfrm>
            <a:prstGeom prst="rect">
              <a:avLst/>
            </a:prstGeom>
            <a:gradFill rotWithShape="1">
              <a:gsLst>
                <a:gs pos="0">
                  <a:srgbClr val="760000"/>
                </a:gs>
                <a:gs pos="50000">
                  <a:srgbClr val="FF0000"/>
                </a:gs>
                <a:gs pos="100000">
                  <a:srgbClr val="760000"/>
                </a:gs>
              </a:gsLst>
              <a:lin ang="5400000" scaled="1"/>
              <a:tileRect/>
            </a:gradFill>
            <a:ln w="9525">
              <a:noFill/>
            </a:ln>
            <a:effectLst>
              <a:outerShdw sy="50000" kx="-2453608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4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定义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29"/>
          <p:cNvGrpSpPr/>
          <p:nvPr/>
        </p:nvGrpSpPr>
        <p:grpSpPr>
          <a:xfrm>
            <a:off x="1258888" y="2311400"/>
            <a:ext cx="7058025" cy="1363663"/>
            <a:chOff x="793" y="1704"/>
            <a:chExt cx="4446" cy="1144"/>
          </a:xfrm>
        </p:grpSpPr>
        <p:graphicFrame>
          <p:nvGraphicFramePr>
            <p:cNvPr id="53256" name="Object 30"/>
            <p:cNvGraphicFramePr>
              <a:graphicFrameLocks noChangeAspect="1"/>
            </p:cNvGraphicFramePr>
            <p:nvPr/>
          </p:nvGraphicFramePr>
          <p:xfrm>
            <a:off x="793" y="1704"/>
            <a:ext cx="1592" cy="1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527300" imgH="1816100" progId="Photoshop.Image.7">
                    <p:embed/>
                  </p:oleObj>
                </mc:Choice>
                <mc:Fallback>
                  <p:oleObj r:id="rId2" imgW="2527300" imgH="1816100" progId="Photoshop.Image.7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93" y="1704"/>
                          <a:ext cx="1592" cy="11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57" name="Text Box 31"/>
            <p:cNvSpPr txBox="1"/>
            <p:nvPr/>
          </p:nvSpPr>
          <p:spPr>
            <a:xfrm>
              <a:off x="2789" y="1759"/>
              <a:ext cx="2450" cy="90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d 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= 198pm </a:t>
              </a:r>
              <a:endParaRPr lang="en-US" altLang="zh-CN" sz="14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r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(Cl) = 99pm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32"/>
          <p:cNvGrpSpPr/>
          <p:nvPr/>
        </p:nvGrpSpPr>
        <p:grpSpPr>
          <a:xfrm>
            <a:off x="1419225" y="3736975"/>
            <a:ext cx="6970713" cy="1125538"/>
            <a:chOff x="894" y="2939"/>
            <a:chExt cx="4391" cy="945"/>
          </a:xfrm>
        </p:grpSpPr>
        <p:graphicFrame>
          <p:nvGraphicFramePr>
            <p:cNvPr id="53254" name="Object 33"/>
            <p:cNvGraphicFramePr>
              <a:graphicFrameLocks noChangeAspect="1"/>
            </p:cNvGraphicFramePr>
            <p:nvPr/>
          </p:nvGraphicFramePr>
          <p:xfrm>
            <a:off x="894" y="2964"/>
            <a:ext cx="1488" cy="9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362200" imgH="1460500" progId="Photoshop.Image.7">
                    <p:embed/>
                  </p:oleObj>
                </mc:Choice>
                <mc:Fallback>
                  <p:oleObj r:id="rId4" imgW="2362200" imgH="1460500" progId="Photoshop.Image.7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894" y="2964"/>
                          <a:ext cx="1488" cy="9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55" name="Text Box 34"/>
            <p:cNvSpPr txBox="1"/>
            <p:nvPr/>
          </p:nvSpPr>
          <p:spPr>
            <a:xfrm>
              <a:off x="2835" y="2939"/>
              <a:ext cx="2450" cy="7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d 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= 154pm </a:t>
              </a:r>
              <a:endParaRPr lang="en-US" altLang="zh-CN" sz="12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r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(C) = 77pm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274" name="Group 34"/>
          <p:cNvGrpSpPr/>
          <p:nvPr/>
        </p:nvGrpSpPr>
        <p:grpSpPr>
          <a:xfrm>
            <a:off x="250825" y="681038"/>
            <a:ext cx="8642350" cy="1350962"/>
            <a:chOff x="158" y="255"/>
            <a:chExt cx="5444" cy="1134"/>
          </a:xfrm>
        </p:grpSpPr>
        <p:sp>
          <p:nvSpPr>
            <p:cNvPr id="54282" name="Text Box 35"/>
            <p:cNvSpPr txBox="1"/>
            <p:nvPr/>
          </p:nvSpPr>
          <p:spPr>
            <a:xfrm>
              <a:off x="296" y="484"/>
              <a:ext cx="5204" cy="82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共价半径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——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两个相同原子形成共价键 </a:t>
              </a:r>
              <a:endParaRPr lang="zh-CN" altLang="en-US" sz="14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                       时，其核间距离的一半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4283" name="Rectangle 36"/>
            <p:cNvSpPr/>
            <p:nvPr/>
          </p:nvSpPr>
          <p:spPr>
            <a:xfrm>
              <a:off x="158" y="436"/>
              <a:ext cx="5444" cy="95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284" name="Text Box 37"/>
            <p:cNvSpPr txBox="1"/>
            <p:nvPr/>
          </p:nvSpPr>
          <p:spPr>
            <a:xfrm>
              <a:off x="4286" y="255"/>
              <a:ext cx="953" cy="450"/>
            </a:xfrm>
            <a:prstGeom prst="rect">
              <a:avLst/>
            </a:prstGeom>
            <a:gradFill rotWithShape="1">
              <a:gsLst>
                <a:gs pos="0">
                  <a:srgbClr val="760000"/>
                </a:gs>
                <a:gs pos="50000">
                  <a:srgbClr val="FF0000"/>
                </a:gs>
                <a:gs pos="100000">
                  <a:srgbClr val="760000"/>
                </a:gs>
              </a:gsLst>
              <a:lin ang="5400000" scaled="1"/>
              <a:tileRect/>
            </a:gradFill>
            <a:ln w="9525">
              <a:noFill/>
            </a:ln>
            <a:effectLst>
              <a:outerShdw sy="50000" kx="-2453608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4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定义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38"/>
          <p:cNvGrpSpPr/>
          <p:nvPr/>
        </p:nvGrpSpPr>
        <p:grpSpPr>
          <a:xfrm>
            <a:off x="1258888" y="2127250"/>
            <a:ext cx="7058025" cy="1363663"/>
            <a:chOff x="793" y="1549"/>
            <a:chExt cx="4446" cy="1144"/>
          </a:xfrm>
        </p:grpSpPr>
        <p:graphicFrame>
          <p:nvGraphicFramePr>
            <p:cNvPr id="54280" name="Object 39"/>
            <p:cNvGraphicFramePr>
              <a:graphicFrameLocks noChangeAspect="1"/>
            </p:cNvGraphicFramePr>
            <p:nvPr/>
          </p:nvGraphicFramePr>
          <p:xfrm>
            <a:off x="793" y="1549"/>
            <a:ext cx="1592" cy="1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527300" imgH="1816100" progId="Photoshop.Image.7">
                    <p:embed/>
                  </p:oleObj>
                </mc:Choice>
                <mc:Fallback>
                  <p:oleObj r:id="rId2" imgW="2527300" imgH="1816100" progId="Photoshop.Image.7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93" y="1549"/>
                          <a:ext cx="1592" cy="11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81" name="Text Box 40"/>
            <p:cNvSpPr txBox="1"/>
            <p:nvPr/>
          </p:nvSpPr>
          <p:spPr>
            <a:xfrm>
              <a:off x="2789" y="1616"/>
              <a:ext cx="2450" cy="90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d 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= 198pm </a:t>
              </a:r>
              <a:endParaRPr lang="en-US" altLang="zh-CN" sz="14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r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(Cl) = 99pm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41"/>
          <p:cNvGrpSpPr/>
          <p:nvPr/>
        </p:nvGrpSpPr>
        <p:grpSpPr>
          <a:xfrm>
            <a:off x="1419225" y="3552825"/>
            <a:ext cx="6970713" cy="1125538"/>
            <a:chOff x="894" y="2939"/>
            <a:chExt cx="4391" cy="945"/>
          </a:xfrm>
        </p:grpSpPr>
        <p:graphicFrame>
          <p:nvGraphicFramePr>
            <p:cNvPr id="54278" name="Object 42"/>
            <p:cNvGraphicFramePr>
              <a:graphicFrameLocks noChangeAspect="1"/>
            </p:cNvGraphicFramePr>
            <p:nvPr/>
          </p:nvGraphicFramePr>
          <p:xfrm>
            <a:off x="894" y="2964"/>
            <a:ext cx="1488" cy="9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362200" imgH="1460500" progId="Photoshop.Image.7">
                    <p:embed/>
                  </p:oleObj>
                </mc:Choice>
                <mc:Fallback>
                  <p:oleObj r:id="rId4" imgW="2362200" imgH="1460500" progId="Photoshop.Image.7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894" y="2964"/>
                          <a:ext cx="1488" cy="92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279" name="Text Box 43"/>
            <p:cNvSpPr txBox="1"/>
            <p:nvPr/>
          </p:nvSpPr>
          <p:spPr>
            <a:xfrm>
              <a:off x="2835" y="2939"/>
              <a:ext cx="2450" cy="9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d 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= 154pm </a:t>
              </a:r>
              <a:endParaRPr lang="en-US" altLang="zh-CN" sz="14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r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(C) = 77pm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4277" name="Rectangle 44"/>
          <p:cNvSpPr/>
          <p:nvPr/>
        </p:nvSpPr>
        <p:spPr>
          <a:xfrm>
            <a:off x="323850" y="176213"/>
            <a:ext cx="2608263" cy="646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</a:rPr>
              <a:t>1. </a:t>
            </a:r>
            <a:r>
              <a:rPr lang="zh-CN" altLang="en-US" sz="3600" b="1" dirty="0">
                <a:latin typeface="Times New Roman" panose="02020603050405020304" pitchFamily="18" charset="0"/>
              </a:rPr>
              <a:t>原子半径</a:t>
            </a:r>
            <a:r>
              <a:rPr lang="zh-CN" altLang="en-US" sz="3600" dirty="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8"/>
          <p:cNvSpPr/>
          <p:nvPr/>
        </p:nvSpPr>
        <p:spPr>
          <a:xfrm>
            <a:off x="323850" y="176213"/>
            <a:ext cx="2608263" cy="646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</a:rPr>
              <a:t>1. </a:t>
            </a:r>
            <a:r>
              <a:rPr lang="zh-CN" altLang="en-US" sz="3600" b="1" dirty="0">
                <a:latin typeface="Times New Roman" panose="02020603050405020304" pitchFamily="18" charset="0"/>
              </a:rPr>
              <a:t>原子半径</a:t>
            </a:r>
            <a:r>
              <a:rPr lang="zh-CN" altLang="en-US" sz="3600" dirty="0"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55299" name="Group 29"/>
          <p:cNvGrpSpPr/>
          <p:nvPr/>
        </p:nvGrpSpPr>
        <p:grpSpPr>
          <a:xfrm>
            <a:off x="250825" y="790575"/>
            <a:ext cx="8775700" cy="1349375"/>
            <a:chOff x="158" y="255"/>
            <a:chExt cx="5528" cy="1134"/>
          </a:xfrm>
        </p:grpSpPr>
        <p:sp>
          <p:nvSpPr>
            <p:cNvPr id="55303" name="Text Box 30"/>
            <p:cNvSpPr txBox="1"/>
            <p:nvPr/>
          </p:nvSpPr>
          <p:spPr>
            <a:xfrm>
              <a:off x="221" y="484"/>
              <a:ext cx="5465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金属半径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——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金属单质晶体中，两个相邻 </a:t>
              </a:r>
              <a:endParaRPr lang="zh-CN" altLang="en-US" sz="14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　　　　　　金属原子核间距离的一半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5304" name="Rectangle 31"/>
            <p:cNvSpPr/>
            <p:nvPr/>
          </p:nvSpPr>
          <p:spPr>
            <a:xfrm>
              <a:off x="158" y="436"/>
              <a:ext cx="5444" cy="95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5305" name="Text Box 32"/>
            <p:cNvSpPr txBox="1"/>
            <p:nvPr/>
          </p:nvSpPr>
          <p:spPr>
            <a:xfrm>
              <a:off x="4286" y="255"/>
              <a:ext cx="953" cy="450"/>
            </a:xfrm>
            <a:prstGeom prst="rect">
              <a:avLst/>
            </a:prstGeom>
            <a:gradFill rotWithShape="1">
              <a:gsLst>
                <a:gs pos="0">
                  <a:srgbClr val="760000"/>
                </a:gs>
                <a:gs pos="50000">
                  <a:srgbClr val="FF0000"/>
                </a:gs>
                <a:gs pos="100000">
                  <a:srgbClr val="760000"/>
                </a:gs>
              </a:gsLst>
              <a:lin ang="5400000" scaled="1"/>
              <a:tileRect/>
            </a:gradFill>
            <a:ln w="9525">
              <a:noFill/>
            </a:ln>
            <a:effectLst>
              <a:outerShdw sy="50000" kx="-2453608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4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定义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33"/>
          <p:cNvGrpSpPr/>
          <p:nvPr/>
        </p:nvGrpSpPr>
        <p:grpSpPr>
          <a:xfrm>
            <a:off x="1308100" y="2668588"/>
            <a:ext cx="6791325" cy="1362075"/>
            <a:chOff x="824" y="1923"/>
            <a:chExt cx="4278" cy="1144"/>
          </a:xfrm>
        </p:grpSpPr>
        <p:sp>
          <p:nvSpPr>
            <p:cNvPr id="55301" name="Text Box 34"/>
            <p:cNvSpPr txBox="1"/>
            <p:nvPr/>
          </p:nvSpPr>
          <p:spPr>
            <a:xfrm>
              <a:off x="3061" y="2115"/>
              <a:ext cx="2041" cy="91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d 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= 256pm </a:t>
              </a:r>
              <a:endParaRPr lang="en-US" altLang="zh-CN" sz="14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r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(Cu) = 128pm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5302" name="Object 35"/>
            <p:cNvGraphicFramePr>
              <a:graphicFrameLocks noChangeAspect="1"/>
            </p:cNvGraphicFramePr>
            <p:nvPr/>
          </p:nvGraphicFramePr>
          <p:xfrm>
            <a:off x="824" y="1923"/>
            <a:ext cx="1936" cy="1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3073400" imgH="1816100" progId="Photoshop.Image.7">
                    <p:embed/>
                  </p:oleObj>
                </mc:Choice>
                <mc:Fallback>
                  <p:oleObj r:id="rId2" imgW="3073400" imgH="1816100" progId="Photoshop.Image.7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824" y="1923"/>
                          <a:ext cx="1936" cy="11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22" name="Group 42"/>
          <p:cNvGrpSpPr/>
          <p:nvPr/>
        </p:nvGrpSpPr>
        <p:grpSpPr>
          <a:xfrm>
            <a:off x="198438" y="771525"/>
            <a:ext cx="8748712" cy="1350963"/>
            <a:chOff x="158" y="255"/>
            <a:chExt cx="5511" cy="1134"/>
          </a:xfrm>
        </p:grpSpPr>
        <p:sp>
          <p:nvSpPr>
            <p:cNvPr id="56328" name="Text Box 43"/>
            <p:cNvSpPr txBox="1"/>
            <p:nvPr/>
          </p:nvSpPr>
          <p:spPr>
            <a:xfrm>
              <a:off x="204" y="480"/>
              <a:ext cx="5465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范德华半径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——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分子晶体中，两个相邻 </a:t>
              </a:r>
              <a:endParaRPr lang="zh-CN" altLang="en-US" sz="14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　　　　　　　分子核间距离的一半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6329" name="Rectangle 44"/>
            <p:cNvSpPr/>
            <p:nvPr/>
          </p:nvSpPr>
          <p:spPr>
            <a:xfrm>
              <a:off x="158" y="436"/>
              <a:ext cx="5444" cy="953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6330" name="Text Box 45"/>
            <p:cNvSpPr txBox="1"/>
            <p:nvPr/>
          </p:nvSpPr>
          <p:spPr>
            <a:xfrm>
              <a:off x="4286" y="255"/>
              <a:ext cx="953" cy="450"/>
            </a:xfrm>
            <a:prstGeom prst="rect">
              <a:avLst/>
            </a:prstGeom>
            <a:gradFill rotWithShape="1">
              <a:gsLst>
                <a:gs pos="0">
                  <a:srgbClr val="760000"/>
                </a:gs>
                <a:gs pos="50000">
                  <a:srgbClr val="FF0000"/>
                </a:gs>
                <a:gs pos="100000">
                  <a:srgbClr val="760000"/>
                </a:gs>
              </a:gsLst>
              <a:lin ang="5400000" scaled="1"/>
              <a:tileRect/>
            </a:gradFill>
            <a:ln w="9525">
              <a:noFill/>
            </a:ln>
            <a:effectLst>
              <a:outerShdw sy="50000" kx="-2453608" rotWithShape="0">
                <a:schemeClr val="bg2">
                  <a:alpha val="50000"/>
                </a:schemeClr>
              </a:outerShdw>
            </a:effectLst>
          </p:spPr>
          <p:txBody>
            <a:bodyPr>
              <a:spAutoFit/>
            </a:bodyPr>
            <a:lstStyle/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48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定义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46"/>
          <p:cNvGrpSpPr/>
          <p:nvPr/>
        </p:nvGrpSpPr>
        <p:grpSpPr>
          <a:xfrm>
            <a:off x="1257300" y="2247900"/>
            <a:ext cx="6842125" cy="1219200"/>
            <a:chOff x="792" y="2043"/>
            <a:chExt cx="4310" cy="1024"/>
          </a:xfrm>
        </p:grpSpPr>
        <p:sp>
          <p:nvSpPr>
            <p:cNvPr id="56326" name="Text Box 47"/>
            <p:cNvSpPr txBox="1"/>
            <p:nvPr/>
          </p:nvSpPr>
          <p:spPr>
            <a:xfrm>
              <a:off x="3061" y="2115"/>
              <a:ext cx="2041" cy="7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d 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= 320pm </a:t>
              </a:r>
              <a:endParaRPr lang="en-US" altLang="zh-CN" sz="12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r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(Ne) = 160pm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56327" name="Object 48"/>
            <p:cNvGraphicFramePr>
              <a:graphicFrameLocks noChangeAspect="1"/>
            </p:cNvGraphicFramePr>
            <p:nvPr/>
          </p:nvGraphicFramePr>
          <p:xfrm>
            <a:off x="792" y="2043"/>
            <a:ext cx="1816" cy="10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882900" imgH="1625600" progId="Photoshop.Image.7">
                    <p:embed/>
                  </p:oleObj>
                </mc:Choice>
                <mc:Fallback>
                  <p:oleObj r:id="rId2" imgW="2882900" imgH="1625600" progId="Photoshop.Image.7">
                    <p:embed/>
                    <p:pic>
                      <p:nvPicPr>
                        <p:cNvPr id="0" name="图片 3098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792" y="2043"/>
                          <a:ext cx="1816" cy="102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324" name="Rectangle 49"/>
          <p:cNvSpPr/>
          <p:nvPr/>
        </p:nvSpPr>
        <p:spPr>
          <a:xfrm>
            <a:off x="323850" y="176213"/>
            <a:ext cx="2608263" cy="646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</a:rPr>
              <a:t>1. </a:t>
            </a:r>
            <a:r>
              <a:rPr lang="zh-CN" altLang="en-US" sz="3600" b="1" dirty="0">
                <a:latin typeface="Times New Roman" panose="02020603050405020304" pitchFamily="18" charset="0"/>
              </a:rPr>
              <a:t>原子半径</a:t>
            </a:r>
            <a:r>
              <a:rPr lang="zh-CN" altLang="en-US" sz="3600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0226" name="Text Box 50"/>
          <p:cNvSpPr txBox="1"/>
          <p:nvPr/>
        </p:nvSpPr>
        <p:spPr>
          <a:xfrm>
            <a:off x="377825" y="3803650"/>
            <a:ext cx="8281988" cy="95408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  非金属为共价半径、金属为金属半径、稀有气体为范德华半径。</a:t>
            </a:r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2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189"/>
          <p:cNvSpPr txBox="1"/>
          <p:nvPr/>
        </p:nvSpPr>
        <p:spPr>
          <a:xfrm>
            <a:off x="2825750" y="415925"/>
            <a:ext cx="2663825" cy="720725"/>
          </a:xfrm>
          <a:prstGeom prst="rect">
            <a:avLst/>
          </a:prstGeom>
          <a:gradFill rotWithShape="1">
            <a:gsLst>
              <a:gs pos="0">
                <a:srgbClr val="760000"/>
              </a:gs>
              <a:gs pos="50000">
                <a:srgbClr val="FF0000"/>
              </a:gs>
              <a:gs pos="100000">
                <a:srgbClr val="760000"/>
              </a:gs>
            </a:gsLst>
            <a:lin ang="5400000" scaled="1"/>
            <a:tileRect/>
          </a:gradFill>
          <a:ln w="9525">
            <a:noFill/>
          </a:ln>
          <a:effectLst>
            <a:outerShdw sy="50000" kx="-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marL="457200" indent="-457200"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 sz="4800" b="1" dirty="0">
                <a:solidFill>
                  <a:schemeClr val="bg1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变化规律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9009" name="Group 881"/>
          <p:cNvGraphicFramePr>
            <a:graphicFrameLocks noGrp="1"/>
          </p:cNvGraphicFramePr>
          <p:nvPr/>
        </p:nvGraphicFramePr>
        <p:xfrm>
          <a:off x="179388" y="141288"/>
          <a:ext cx="8964612" cy="3725374"/>
        </p:xfrm>
        <a:graphic>
          <a:graphicData uri="http://schemas.openxmlformats.org/drawingml/2006/table">
            <a:tbl>
              <a:tblPr/>
              <a:tblGrid>
                <a:gridCol w="519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10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2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84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92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84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84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984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984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984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9688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4038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21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Li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160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15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186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Mg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160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Si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Ar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99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227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Ca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Sc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160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Ti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V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Cr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Mn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Ni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Zn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Ga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Kr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99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Rb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247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Sr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215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181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Zr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160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Nb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Mo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Ru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Rh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Pd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Ag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Cd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162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Sb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220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829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265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Ba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217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镧系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Hf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Ta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Os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Ir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Pt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Au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Hg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160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Tl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170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Pb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175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Bi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Po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153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At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Rn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8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270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Ra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220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锕系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6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0" marB="3429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8967" name="Rectangle 839"/>
          <p:cNvSpPr/>
          <p:nvPr/>
        </p:nvSpPr>
        <p:spPr>
          <a:xfrm>
            <a:off x="323850" y="3541713"/>
            <a:ext cx="8388350" cy="1384300"/>
          </a:xfrm>
          <a:prstGeom prst="rect">
            <a:avLst/>
          </a:prstGeom>
          <a:gradFill rotWithShape="1">
            <a:gsLst>
              <a:gs pos="0">
                <a:srgbClr val="003300"/>
              </a:gs>
              <a:gs pos="100000">
                <a:srgbClr val="33CC33"/>
              </a:gs>
            </a:gsLst>
            <a:lin ang="5400000" scaled="1"/>
            <a:tileRect/>
          </a:gradFill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同周期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—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从左到右原子半径逐渐减小</a:t>
            </a:r>
          </a:p>
          <a:p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同主族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—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自上而下原子半径逐渐增大；</a:t>
            </a:r>
          </a:p>
          <a:p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副族元素</a:t>
            </a:r>
            <a:r>
              <a:rPr lang="en-US" altLang="zh-CN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—</a:t>
            </a:r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变化规律不如主族元素那么明显。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6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0EE47F-4C2E-F077-21B7-C1B531BEB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E2D3BB-432D-247A-D839-0C04E4CEB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170" name="Picture 2" descr="Atomic Radius and Ionic Radius">
            <a:extLst>
              <a:ext uri="{FF2B5EF4-FFF2-40B4-BE49-F238E27FC236}">
                <a16:creationId xmlns:a16="http://schemas.microsoft.com/office/drawing/2014/main" id="{28E102EE-CB4F-DCDC-D552-E645BF0B3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013" y="0"/>
            <a:ext cx="6656387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206803"/>
      </p:ext>
    </p:extLst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背景图案&#10;&#10;AI 生成的内容可能不正确。">
            <a:extLst>
              <a:ext uri="{FF2B5EF4-FFF2-40B4-BE49-F238E27FC236}">
                <a16:creationId xmlns:a16="http://schemas.microsoft.com/office/drawing/2014/main" id="{C09B5261-8B07-E704-BF35-BFE6DA4CB4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625" y="0"/>
            <a:ext cx="41547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76533"/>
      </p:ext>
    </p:extLst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395D377D-4426-E36F-3032-92C5BD77E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409"/>
            <a:ext cx="5328592" cy="5142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3296803"/>
      </p:ext>
    </p:extLst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A6C57A24-4ECF-D146-F828-7CB1B1410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0"/>
            <a:ext cx="533717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2599470"/>
      </p:ext>
    </p:extLst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8A0AB884-E223-7291-2629-1B6D2B35D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413" y="0"/>
            <a:ext cx="533717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988118"/>
      </p:ext>
    </p:extLst>
  </p:cSld>
  <p:clrMapOvr>
    <a:masterClrMapping/>
  </p:clrMapOvr>
  <p:transition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A2A7DB0A-6B54-FF98-6F95-18F53EC7D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413" y="0"/>
            <a:ext cx="533717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5925662"/>
      </p:ext>
    </p:extLst>
  </p:cSld>
  <p:clrMapOvr>
    <a:masterClrMapping/>
  </p:clrMapOvr>
  <p:transition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C2312716-D148-3E7C-AF0F-5259D7F72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413" y="0"/>
            <a:ext cx="533717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3054963"/>
      </p:ext>
    </p:extLst>
  </p:cSld>
  <p:clrMapOvr>
    <a:masterClrMapping/>
  </p:clrMapOvr>
  <p:transition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BC99B269-AAA9-EF7D-5D43-CC118CF79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413" y="0"/>
            <a:ext cx="5337175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9726917"/>
      </p:ext>
    </p:extLst>
  </p:cSld>
  <p:clrMapOvr>
    <a:masterClrMapping/>
  </p:clrMapOvr>
  <p:transition spd="med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9"/>
          <p:cNvSpPr/>
          <p:nvPr/>
        </p:nvSpPr>
        <p:spPr>
          <a:xfrm>
            <a:off x="395288" y="176213"/>
            <a:ext cx="2146300" cy="646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3600" dirty="0">
                <a:solidFill>
                  <a:srgbClr val="9900CC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3600" dirty="0">
                <a:solidFill>
                  <a:srgbClr val="9900CC"/>
                </a:solidFill>
                <a:latin typeface="Times New Roman" panose="02020603050405020304" pitchFamily="18" charset="0"/>
              </a:rPr>
              <a:t>电离能 </a:t>
            </a:r>
          </a:p>
        </p:txBody>
      </p:sp>
      <p:sp>
        <p:nvSpPr>
          <p:cNvPr id="58371" name="Rectangle 23"/>
          <p:cNvSpPr/>
          <p:nvPr/>
        </p:nvSpPr>
        <p:spPr>
          <a:xfrm>
            <a:off x="360363" y="844550"/>
            <a:ext cx="8675687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基态气态原子失去电子变为气态阳离子，克服核电荷对电子的引力所消耗的能量。</a:t>
            </a:r>
          </a:p>
        </p:txBody>
      </p:sp>
      <p:sp>
        <p:nvSpPr>
          <p:cNvPr id="51224" name="Text Box 24"/>
          <p:cNvSpPr txBox="1"/>
          <p:nvPr/>
        </p:nvSpPr>
        <p:spPr>
          <a:xfrm>
            <a:off x="319088" y="1609725"/>
            <a:ext cx="8748712" cy="831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第一电离能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I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1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)——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基态的中性气态原子失去一个电子       形成气态阳离子所需的能量。</a:t>
            </a:r>
          </a:p>
        </p:txBody>
      </p:sp>
      <p:sp>
        <p:nvSpPr>
          <p:cNvPr id="51225" name="Text Box 25"/>
          <p:cNvSpPr txBox="1"/>
          <p:nvPr/>
        </p:nvSpPr>
        <p:spPr>
          <a:xfrm>
            <a:off x="393700" y="2414588"/>
            <a:ext cx="82819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Al(g) - e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- </a:t>
            </a:r>
            <a:r>
              <a:rPr lang="en-US" altLang="zh-CN" sz="2400" b="1" dirty="0">
                <a:latin typeface="Times New Roman" panose="02020603050405020304" pitchFamily="18" charset="0"/>
              </a:rPr>
              <a:t>→ Al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sz="2400" b="1" dirty="0">
                <a:latin typeface="Times New Roman" panose="02020603050405020304" pitchFamily="18" charset="0"/>
              </a:rPr>
              <a:t>(g)   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=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</a:rPr>
              <a:t>=578kJ</a:t>
            </a:r>
            <a:r>
              <a:rPr lang="en-US" altLang="zh-CN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·</a:t>
            </a:r>
            <a:r>
              <a:rPr lang="en-US" altLang="zh-CN" sz="2400" b="1" dirty="0">
                <a:latin typeface="Times New Roman" panose="02020603050405020304" pitchFamily="18" charset="0"/>
              </a:rPr>
              <a:t>mol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-1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1226" name="Text Box 26"/>
          <p:cNvSpPr txBox="1"/>
          <p:nvPr/>
        </p:nvSpPr>
        <p:spPr>
          <a:xfrm>
            <a:off x="319088" y="2919413"/>
            <a:ext cx="8748712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第二电离能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(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I</a:t>
            </a:r>
            <a:r>
              <a:rPr lang="en-US" altLang="zh-CN" sz="24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)——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氧化数为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+1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的气态阳离子失去一个电子形成氧化数为 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+2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的气态阳离子所需的能量。</a:t>
            </a:r>
          </a:p>
        </p:txBody>
      </p:sp>
      <p:sp>
        <p:nvSpPr>
          <p:cNvPr id="51227" name="Text Box 27"/>
          <p:cNvSpPr txBox="1"/>
          <p:nvPr/>
        </p:nvSpPr>
        <p:spPr>
          <a:xfrm>
            <a:off x="323850" y="3760788"/>
            <a:ext cx="871220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</a:rPr>
              <a:t>Al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sz="2400" b="1" dirty="0">
                <a:latin typeface="Times New Roman" panose="02020603050405020304" pitchFamily="18" charset="0"/>
              </a:rPr>
              <a:t>(g) - e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- </a:t>
            </a:r>
            <a:r>
              <a:rPr lang="en-US" altLang="zh-CN" sz="2400" b="1" dirty="0">
                <a:latin typeface="Times New Roman" panose="02020603050405020304" pitchFamily="18" charset="0"/>
              </a:rPr>
              <a:t>→ Al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2+</a:t>
            </a:r>
            <a:r>
              <a:rPr lang="en-US" altLang="zh-CN" sz="2400" b="1" dirty="0">
                <a:latin typeface="Times New Roman" panose="02020603050405020304" pitchFamily="18" charset="0"/>
              </a:rPr>
              <a:t>(g)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I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=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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H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</a:rPr>
              <a:t>=1825kJ</a:t>
            </a:r>
            <a:r>
              <a:rPr lang="en-US" altLang="zh-CN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·</a:t>
            </a:r>
            <a:r>
              <a:rPr lang="en-US" altLang="zh-CN" sz="2400" b="1" dirty="0">
                <a:latin typeface="Times New Roman" panose="02020603050405020304" pitchFamily="18" charset="0"/>
              </a:rPr>
              <a:t>mol</a:t>
            </a:r>
            <a:r>
              <a:rPr lang="en-US" altLang="zh-CN" sz="2400" b="1" baseline="30000" dirty="0">
                <a:latin typeface="Times New Roman" panose="02020603050405020304" pitchFamily="18" charset="0"/>
              </a:rPr>
              <a:t>-1 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1228" name="Text Box 28"/>
          <p:cNvSpPr txBox="1"/>
          <p:nvPr/>
        </p:nvSpPr>
        <p:spPr>
          <a:xfrm>
            <a:off x="323850" y="4246563"/>
            <a:ext cx="8496300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同一种元素的第二电离能要比第一电离能大，余此类推：</a:t>
            </a:r>
            <a:r>
              <a:rPr lang="en-US" altLang="zh-CN" sz="24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I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﹤</a:t>
            </a:r>
            <a:r>
              <a:rPr lang="en-US" altLang="zh-CN" sz="24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I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﹤</a:t>
            </a:r>
            <a:r>
              <a:rPr lang="en-US" altLang="zh-CN" sz="24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I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﹤…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en-US" altLang="zh-CN" sz="2400" b="1" dirty="0"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1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500"/>
                                        <p:tgtEl>
                                          <p:spTgt spid="5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5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51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4" grpId="0"/>
      <p:bldP spid="51225" grpId="0"/>
      <p:bldP spid="51226" grpId="0"/>
      <p:bldP spid="51227" grpId="0"/>
      <p:bldP spid="5122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3"/>
          <p:cNvSpPr/>
          <p:nvPr/>
        </p:nvSpPr>
        <p:spPr>
          <a:xfrm>
            <a:off x="1476375" y="128588"/>
            <a:ext cx="6481763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</a:rPr>
              <a:t>元素的第一电离能</a:t>
            </a:r>
            <a:r>
              <a:rPr lang="en-US" altLang="zh-CN" b="1" i="1" dirty="0">
                <a:latin typeface="Times New Roman" panose="02020603050405020304" pitchFamily="18" charset="0"/>
              </a:rPr>
              <a:t>I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（单位：</a:t>
            </a:r>
            <a:r>
              <a:rPr lang="pt-BR" altLang="zh-CN" b="1" dirty="0">
                <a:latin typeface="Times New Roman" panose="02020603050405020304" pitchFamily="18" charset="0"/>
              </a:rPr>
              <a:t>kJ·mol</a:t>
            </a:r>
            <a:r>
              <a:rPr lang="pt-BR" altLang="zh-CN" b="1" baseline="30000" dirty="0">
                <a:latin typeface="Times New Roman" panose="02020603050405020304" pitchFamily="18" charset="0"/>
              </a:rPr>
              <a:t>-1</a:t>
            </a:r>
            <a:r>
              <a:rPr lang="zh-CN" altLang="en-US" b="1" dirty="0">
                <a:latin typeface="Times New Roman" panose="02020603050405020304" pitchFamily="18" charset="0"/>
              </a:rPr>
              <a:t>） </a:t>
            </a:r>
          </a:p>
        </p:txBody>
      </p:sp>
      <p:graphicFrame>
        <p:nvGraphicFramePr>
          <p:cNvPr id="53027" name="Group 803"/>
          <p:cNvGraphicFramePr>
            <a:graphicFrameLocks noGrp="1"/>
          </p:cNvGraphicFramePr>
          <p:nvPr/>
        </p:nvGraphicFramePr>
        <p:xfrm>
          <a:off x="-36512" y="725488"/>
          <a:ext cx="9144001" cy="2880360"/>
        </p:xfrm>
        <a:graphic>
          <a:graphicData uri="http://schemas.openxmlformats.org/drawingml/2006/table">
            <a:tbl>
              <a:tblPr/>
              <a:tblGrid>
                <a:gridCol w="504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68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27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276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492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276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4800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1312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He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2372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Li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520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Be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900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801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1086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1402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1314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1681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Ne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2081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496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Mg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738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1" marB="34281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578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Si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787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1019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1000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1251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Ar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1251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419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Ca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599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Sc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631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Ti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658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V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650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Cr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653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Mn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717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759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758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Ni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737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746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Zn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906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Ga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579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Ge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726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As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944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941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1140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Kr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1351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Rb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403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Sr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550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616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Zr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660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Nb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664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Mo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685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Te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702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Ru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711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Rh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720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Pd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805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Ag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731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Cd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868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558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709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Sb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832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Te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869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1008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Xe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1170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Cs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356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Ba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503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538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Hf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642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Ta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761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770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760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Os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840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Ir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880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Pt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870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Au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890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Hg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1007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Tl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589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Pb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716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Bi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703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Po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812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At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912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Rn</a:t>
                      </a:r>
                      <a:endParaRPr kumimoji="0" lang="en-US" altLang="zh-CN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1037</a:t>
                      </a:r>
                    </a:p>
                  </a:txBody>
                  <a:tcPr marT="34281" marB="3428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3028" name="Group 804"/>
          <p:cNvGraphicFramePr>
            <a:graphicFrameLocks noGrp="1"/>
          </p:cNvGraphicFramePr>
          <p:nvPr/>
        </p:nvGraphicFramePr>
        <p:xfrm>
          <a:off x="395288" y="3760788"/>
          <a:ext cx="8497887" cy="487205"/>
        </p:xfrm>
        <a:graphic>
          <a:graphicData uri="http://schemas.openxmlformats.org/drawingml/2006/table">
            <a:tbl>
              <a:tblPr/>
              <a:tblGrid>
                <a:gridCol w="565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67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92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83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6673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6991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0594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Ce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Pr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Nd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Pm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Sm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Eu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Gd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Tb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Dy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Ho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Er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Tm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Yb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Lu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2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538</a:t>
                      </a:r>
                    </a:p>
                  </a:txBody>
                  <a:tcPr marT="34323" marB="34323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528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523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530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536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549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547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592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564</a:t>
                      </a:r>
                    </a:p>
                  </a:txBody>
                  <a:tcPr marT="34323" marB="34323" horzOverflow="overflow"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572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581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589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597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603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524</a:t>
                      </a:r>
                    </a:p>
                  </a:txBody>
                  <a:tcPr marT="34323" marB="3432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" name="Group 797"/>
          <p:cNvGrpSpPr/>
          <p:nvPr/>
        </p:nvGrpSpPr>
        <p:grpSpPr>
          <a:xfrm>
            <a:off x="1116013" y="844550"/>
            <a:ext cx="5761037" cy="830263"/>
            <a:chOff x="748" y="527"/>
            <a:chExt cx="3629" cy="698"/>
          </a:xfrm>
        </p:grpSpPr>
        <p:sp>
          <p:nvSpPr>
            <p:cNvPr id="59595" name="Text Box 787"/>
            <p:cNvSpPr txBox="1"/>
            <p:nvPr/>
          </p:nvSpPr>
          <p:spPr>
            <a:xfrm>
              <a:off x="930" y="527"/>
              <a:ext cx="3447" cy="698"/>
            </a:xfrm>
            <a:prstGeom prst="rect">
              <a:avLst/>
            </a:prstGeom>
            <a:gradFill rotWithShape="1">
              <a:gsLst>
                <a:gs pos="0">
                  <a:srgbClr val="CC6600"/>
                </a:gs>
                <a:gs pos="100000">
                  <a:srgbClr val="FF996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同一周期主族元素，从左到右，电离能逐渐增大</a:t>
              </a:r>
              <a:endParaRPr lang="zh-CN" altLang="en-US" sz="2400" dirty="0">
                <a:solidFill>
                  <a:srgbClr val="FFFF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596" name="Oval 791"/>
            <p:cNvSpPr/>
            <p:nvPr/>
          </p:nvSpPr>
          <p:spPr>
            <a:xfrm>
              <a:off x="748" y="618"/>
              <a:ext cx="136" cy="136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798"/>
          <p:cNvGrpSpPr/>
          <p:nvPr/>
        </p:nvGrpSpPr>
        <p:grpSpPr>
          <a:xfrm>
            <a:off x="1187450" y="1546225"/>
            <a:ext cx="4824413" cy="830263"/>
            <a:chOff x="748" y="1117"/>
            <a:chExt cx="3039" cy="698"/>
          </a:xfrm>
        </p:grpSpPr>
        <p:sp>
          <p:nvSpPr>
            <p:cNvPr id="59593" name="Rectangle 789"/>
            <p:cNvSpPr/>
            <p:nvPr/>
          </p:nvSpPr>
          <p:spPr>
            <a:xfrm>
              <a:off x="930" y="1117"/>
              <a:ext cx="2857" cy="698"/>
            </a:xfrm>
            <a:prstGeom prst="rect">
              <a:avLst/>
            </a:prstGeom>
            <a:gradFill rotWithShape="1">
              <a:gsLst>
                <a:gs pos="0">
                  <a:srgbClr val="336600"/>
                </a:gs>
                <a:gs pos="100000">
                  <a:srgbClr val="66FF33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24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同一周期副族元素，从左到右，电离能变化不规律</a:t>
              </a:r>
            </a:p>
          </p:txBody>
        </p:sp>
        <p:sp>
          <p:nvSpPr>
            <p:cNvPr id="59594" name="Oval 792"/>
            <p:cNvSpPr/>
            <p:nvPr/>
          </p:nvSpPr>
          <p:spPr>
            <a:xfrm>
              <a:off x="748" y="1207"/>
              <a:ext cx="136" cy="136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799"/>
          <p:cNvGrpSpPr/>
          <p:nvPr/>
        </p:nvGrpSpPr>
        <p:grpSpPr>
          <a:xfrm>
            <a:off x="-180975" y="4408488"/>
            <a:ext cx="4897438" cy="830262"/>
            <a:chOff x="748" y="1661"/>
            <a:chExt cx="3085" cy="698"/>
          </a:xfrm>
        </p:grpSpPr>
        <p:sp>
          <p:nvSpPr>
            <p:cNvPr id="59591" name="Oval 786"/>
            <p:cNvSpPr/>
            <p:nvPr/>
          </p:nvSpPr>
          <p:spPr>
            <a:xfrm>
              <a:off x="748" y="1752"/>
              <a:ext cx="136" cy="136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9592" name="Rectangle 794"/>
            <p:cNvSpPr/>
            <p:nvPr/>
          </p:nvSpPr>
          <p:spPr>
            <a:xfrm>
              <a:off x="930" y="1661"/>
              <a:ext cx="2903" cy="698"/>
            </a:xfrm>
            <a:prstGeom prst="rect">
              <a:avLst/>
            </a:prstGeom>
            <a:gradFill rotWithShape="1">
              <a:gsLst>
                <a:gs pos="0">
                  <a:schemeClr val="tx2"/>
                </a:gs>
                <a:gs pos="100000">
                  <a:srgbClr val="FF996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同一主族元素，从上往下，电离能逐渐减小</a:t>
              </a:r>
            </a:p>
          </p:txBody>
        </p:sp>
      </p:grpSp>
      <p:grpSp>
        <p:nvGrpSpPr>
          <p:cNvPr id="5" name="Group 800"/>
          <p:cNvGrpSpPr/>
          <p:nvPr/>
        </p:nvGrpSpPr>
        <p:grpSpPr>
          <a:xfrm>
            <a:off x="4500563" y="4408488"/>
            <a:ext cx="4643437" cy="830262"/>
            <a:chOff x="2835" y="2205"/>
            <a:chExt cx="2925" cy="698"/>
          </a:xfrm>
        </p:grpSpPr>
        <p:sp>
          <p:nvSpPr>
            <p:cNvPr id="59589" name="Oval 790"/>
            <p:cNvSpPr/>
            <p:nvPr/>
          </p:nvSpPr>
          <p:spPr>
            <a:xfrm>
              <a:off x="2835" y="2251"/>
              <a:ext cx="136" cy="136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9590" name="Rectangle 796"/>
            <p:cNvSpPr/>
            <p:nvPr/>
          </p:nvSpPr>
          <p:spPr>
            <a:xfrm>
              <a:off x="3038" y="2205"/>
              <a:ext cx="2722" cy="698"/>
            </a:xfrm>
            <a:prstGeom prst="rect">
              <a:avLst/>
            </a:prstGeom>
            <a:gradFill rotWithShape="1">
              <a:gsLst>
                <a:gs pos="0">
                  <a:srgbClr val="FFFF00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2400" b="1" dirty="0">
                  <a:solidFill>
                    <a:schemeClr val="bg2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同一副族元素，从上往下，电离能略有增大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0164A5-F454-010D-E5B1-6216A741E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170328-CD91-305D-33E0-AF2436637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937BD06-B690-F730-0EB1-BFA4364D7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915566"/>
            <a:ext cx="5832648" cy="390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490072"/>
      </p:ext>
    </p:extLst>
  </p:cSld>
  <p:clrMapOvr>
    <a:masterClrMapping/>
  </p:clrMapOvr>
  <p:transition spd="med">
    <p:wipe dir="r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6B0A70-9A9D-75A3-70B7-D281E5C62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内容占位符 5" descr="图表&#10;&#10;AI 生成的内容可能不正确。">
            <a:extLst>
              <a:ext uri="{FF2B5EF4-FFF2-40B4-BE49-F238E27FC236}">
                <a16:creationId xmlns:a16="http://schemas.microsoft.com/office/drawing/2014/main" id="{F11A0289-1185-6EDA-6ED9-B85DB7B41C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9BC2B4C4-84FB-4BFC-6433-637028E2F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733" y="0"/>
            <a:ext cx="534653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162445"/>
      </p:ext>
    </p:extLst>
  </p:cSld>
  <p:clrMapOvr>
    <a:masterClrMapping/>
  </p:clrMapOvr>
  <p:transition spd="med">
    <p:wipe dir="r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6"/>
          <p:cNvSpPr/>
          <p:nvPr/>
        </p:nvSpPr>
        <p:spPr>
          <a:xfrm>
            <a:off x="250825" y="234950"/>
            <a:ext cx="2749550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3200" b="1" dirty="0">
                <a:solidFill>
                  <a:srgbClr val="9900CC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sz="3200" b="1" dirty="0">
                <a:solidFill>
                  <a:srgbClr val="9900CC"/>
                </a:solidFill>
                <a:latin typeface="Times New Roman" panose="02020603050405020304" pitchFamily="18" charset="0"/>
              </a:rPr>
              <a:t>电子亲和能</a:t>
            </a:r>
            <a:r>
              <a:rPr lang="zh-CN" altLang="en-US" sz="3200" dirty="0">
                <a:solidFill>
                  <a:srgbClr val="9900CC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0419" name="Rectangle 27"/>
          <p:cNvSpPr/>
          <p:nvPr/>
        </p:nvSpPr>
        <p:spPr>
          <a:xfrm>
            <a:off x="69850" y="976313"/>
            <a:ext cx="9382125" cy="5222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1" hangingPunct="1"/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 基态气态原子得到电子变为气态阴离子，所放出的能量。</a:t>
            </a:r>
          </a:p>
        </p:txBody>
      </p:sp>
      <p:sp>
        <p:nvSpPr>
          <p:cNvPr id="53276" name="Text Box 28"/>
          <p:cNvSpPr txBox="1"/>
          <p:nvPr/>
        </p:nvSpPr>
        <p:spPr>
          <a:xfrm>
            <a:off x="319088" y="1570038"/>
            <a:ext cx="8824912" cy="954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第一电子亲合能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(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E</a:t>
            </a:r>
            <a:r>
              <a:rPr lang="en-US" altLang="zh-CN" b="1" baseline="-25000" dirty="0">
                <a:solidFill>
                  <a:srgbClr val="0066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A1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)——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基态气态原子得到一个电子形成气态阴离子所放出的能量 。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77" name="Text Box 29"/>
          <p:cNvSpPr txBox="1"/>
          <p:nvPr/>
        </p:nvSpPr>
        <p:spPr>
          <a:xfrm>
            <a:off x="700088" y="2414588"/>
            <a:ext cx="8642350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O(g) + e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- 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→ O</a:t>
            </a:r>
            <a:r>
              <a:rPr lang="en-US" altLang="zh-CN" b="1" baseline="30000" dirty="0">
                <a:latin typeface="幼圆" panose="02010509060101010101" pitchFamily="49" charset="-122"/>
                <a:ea typeface="幼圆" panose="02010509060101010101" pitchFamily="49" charset="-122"/>
              </a:rPr>
              <a:t>-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(g)     </a:t>
            </a:r>
            <a:r>
              <a:rPr lang="en-US" altLang="zh-CN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E</a:t>
            </a:r>
            <a:r>
              <a:rPr lang="en-US" altLang="zh-CN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A1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=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-141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 kJ·mol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-1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78" name="Text Box 30"/>
          <p:cNvSpPr txBox="1"/>
          <p:nvPr/>
        </p:nvSpPr>
        <p:spPr>
          <a:xfrm>
            <a:off x="319088" y="2887663"/>
            <a:ext cx="8748712" cy="9540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第二电子亲合能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(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E</a:t>
            </a:r>
            <a:r>
              <a:rPr lang="en-US" altLang="zh-CN" b="1" baseline="-25000" dirty="0">
                <a:solidFill>
                  <a:srgbClr val="0066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A2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)——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氧化数为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-1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的气态阴离子得到一个电子形成氧化数为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-2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的气态阴离子所放出的能量。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79" name="Text Box 31"/>
          <p:cNvSpPr txBox="1"/>
          <p:nvPr/>
        </p:nvSpPr>
        <p:spPr>
          <a:xfrm>
            <a:off x="180975" y="3760788"/>
            <a:ext cx="9144000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　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O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-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(g) + e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- 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→ O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2-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(g)     </a:t>
            </a:r>
            <a:r>
              <a:rPr lang="en-US" altLang="zh-CN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E</a:t>
            </a:r>
            <a:r>
              <a:rPr lang="en-US" altLang="zh-CN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A2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=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+780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 kJ·mol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-1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80" name="Text Box 32"/>
          <p:cNvSpPr txBox="1"/>
          <p:nvPr/>
        </p:nvSpPr>
        <p:spPr>
          <a:xfrm>
            <a:off x="323850" y="4300538"/>
            <a:ext cx="460851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其余依次类推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...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3281" name="Text Box 33"/>
          <p:cNvSpPr txBox="1"/>
          <p:nvPr/>
        </p:nvSpPr>
        <p:spPr>
          <a:xfrm>
            <a:off x="212725" y="2976563"/>
            <a:ext cx="8748713" cy="1216025"/>
          </a:xfrm>
          <a:prstGeom prst="rect">
            <a:avLst/>
          </a:prstGeom>
          <a:gradFill rotWithShape="1">
            <a:gsLst>
              <a:gs pos="0">
                <a:srgbClr val="00005E"/>
              </a:gs>
              <a:gs pos="50000">
                <a:srgbClr val="0000CC"/>
              </a:gs>
              <a:gs pos="100000">
                <a:srgbClr val="00005E"/>
              </a:gs>
            </a:gsLst>
            <a:lin ang="5400000" scaled="1"/>
            <a:tileRect/>
          </a:gradFill>
          <a:ln w="9525">
            <a:noFill/>
          </a:ln>
        </p:spPr>
        <p:txBody>
          <a:bodyPr lIns="0" rIns="0"/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电子亲合能用来衡量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气态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原子得电子的难易 </a:t>
            </a:r>
            <a:endParaRPr lang="zh-CN" altLang="en-US" sz="1400" dirty="0">
              <a:latin typeface="Arial" panose="020B0604020202020204" pitchFamily="34" charset="0"/>
              <a:ea typeface="ˎ̥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电子亲合能代数值越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小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,  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原子越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易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得到电子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3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3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500"/>
                                        <p:tgtEl>
                                          <p:spTgt spid="53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53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53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53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76" grpId="0"/>
      <p:bldP spid="53277" grpId="0"/>
      <p:bldP spid="53278" grpId="0"/>
      <p:bldP spid="53279" grpId="0"/>
      <p:bldP spid="53280" grpId="0"/>
      <p:bldP spid="5328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Electron Affinity List">
            <a:extLst>
              <a:ext uri="{FF2B5EF4-FFF2-40B4-BE49-F238E27FC236}">
                <a16:creationId xmlns:a16="http://schemas.microsoft.com/office/drawing/2014/main" id="{D35C62AA-D3D8-76A8-CF2D-BA6928B65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428625"/>
            <a:ext cx="714375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5464966"/>
      </p:ext>
    </p:extLst>
  </p:cSld>
  <p:clrMapOvr>
    <a:masterClrMapping/>
  </p:clrMapOvr>
  <p:transition spd="med"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8"/>
          <p:cNvSpPr/>
          <p:nvPr/>
        </p:nvSpPr>
        <p:spPr>
          <a:xfrm>
            <a:off x="250825" y="234950"/>
            <a:ext cx="2032000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9900CC"/>
                </a:solidFill>
                <a:latin typeface="Times New Roman" panose="02020603050405020304" pitchFamily="18" charset="0"/>
              </a:rPr>
              <a:t>4. </a:t>
            </a:r>
            <a:r>
              <a:rPr lang="zh-CN" altLang="en-US" sz="3200" b="1" dirty="0">
                <a:solidFill>
                  <a:srgbClr val="9900CC"/>
                </a:solidFill>
                <a:latin typeface="Times New Roman" panose="02020603050405020304" pitchFamily="18" charset="0"/>
              </a:rPr>
              <a:t>电负性</a:t>
            </a:r>
            <a:r>
              <a:rPr lang="zh-CN" altLang="en-US" sz="3200" dirty="0">
                <a:solidFill>
                  <a:srgbClr val="9900CC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1443" name="Rectangle 29"/>
          <p:cNvSpPr/>
          <p:nvPr/>
        </p:nvSpPr>
        <p:spPr>
          <a:xfrm>
            <a:off x="466725" y="771525"/>
            <a:ext cx="5761038" cy="18780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   分子中元素原子吸引电子的能力以最活泼非金属元素原子</a:t>
            </a:r>
            <a:r>
              <a:rPr lang="el-GR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χ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p(F)=4.0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为基础，计算其它元素原子的电负性值。</a:t>
            </a:r>
          </a:p>
        </p:txBody>
      </p:sp>
      <p:sp>
        <p:nvSpPr>
          <p:cNvPr id="61444" name="Text Box 30"/>
          <p:cNvSpPr txBox="1"/>
          <p:nvPr/>
        </p:nvSpPr>
        <p:spPr>
          <a:xfrm>
            <a:off x="430213" y="2679700"/>
            <a:ext cx="8713787" cy="2124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电负性越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大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元素原子吸引电子能力越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强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 </a:t>
            </a:r>
            <a:endParaRPr lang="en-US" altLang="zh-CN" sz="24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即元素原子越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易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得到电子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越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难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失去电子；</a:t>
            </a:r>
            <a:endParaRPr lang="zh-CN" altLang="en-US" sz="24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电负性越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小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元素原子吸引电子能力越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弱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 </a:t>
            </a:r>
            <a:endParaRPr lang="en-US" altLang="zh-CN" sz="24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即元素原子越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难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得到电子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越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易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失去电子。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61445" name="图片 1">
            <a:hlinkClick r:id="rId2" action="ppaction://hlinkfile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488" y="260350"/>
            <a:ext cx="2655887" cy="2139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wipe dir="r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52"/>
          <p:cNvSpPr/>
          <p:nvPr/>
        </p:nvSpPr>
        <p:spPr>
          <a:xfrm>
            <a:off x="2916238" y="228600"/>
            <a:ext cx="2998787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</a:rPr>
              <a:t>元素的电负性</a:t>
            </a:r>
            <a:r>
              <a:rPr lang="en-US" altLang="zh-CN" sz="3200" i="1" dirty="0">
                <a:latin typeface="Times New Roman" panose="02020603050405020304" pitchFamily="18" charset="0"/>
              </a:rPr>
              <a:t>X</a:t>
            </a:r>
            <a:r>
              <a:rPr lang="en-US" altLang="zh-CN" sz="3200" dirty="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54980" name="Group 708"/>
          <p:cNvGraphicFramePr>
            <a:graphicFrameLocks noGrp="1"/>
          </p:cNvGraphicFramePr>
          <p:nvPr/>
        </p:nvGraphicFramePr>
        <p:xfrm>
          <a:off x="0" y="250825"/>
          <a:ext cx="9498013" cy="3307164"/>
        </p:xfrm>
        <a:graphic>
          <a:graphicData uri="http://schemas.openxmlformats.org/drawingml/2006/table">
            <a:tbl>
              <a:tblPr/>
              <a:tblGrid>
                <a:gridCol w="50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32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64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6356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206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548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2.11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Li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1.0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Be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1.5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2.0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2.5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3.0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3.5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4.0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</a:p>
                  </a:txBody>
                  <a:tcPr marT="34293" marB="342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Na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0.9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Mg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1.2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Al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1.5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Si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1.8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2.1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2.5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Cl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3.0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</a:p>
                  </a:txBody>
                  <a:tcPr marT="34293" marB="342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K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0.8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Ca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1.0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Sc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1.3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Ti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1.5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V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1.6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Cr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1.6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Mn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1.5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Fe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1.8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1.9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Ni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1.9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Cu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1.9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Zn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1.6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Ga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1.6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Ge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1.8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As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2.0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Se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2.4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Br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2.8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</a:p>
                  </a:txBody>
                  <a:tcPr marT="34293" marB="342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Rb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0.8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Sr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1.0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1.2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Zr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1.4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Nb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1.6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Mo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1.8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Te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1.9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Ru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2.2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Rh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2.2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Pd</a:t>
                      </a:r>
                      <a:endParaRPr kumimoji="0" lang="en-US" altLang="zh-CN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2.2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Ag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1.9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Cd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1.7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In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1.7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Sn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1.8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Sb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1.9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Te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2.1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2.5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</a:p>
                  </a:txBody>
                  <a:tcPr marT="34293" marB="342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Cs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0.7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Ba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0.9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</a:t>
                      </a: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Lu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1.0</a:t>
                      </a:r>
                      <a:r>
                        <a:rPr kumimoji="0" lang="zh-CN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1.2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Hf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1.3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Ta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1.5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W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1.7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Re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1.9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Os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2.2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Ir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2.2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Pt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2.2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Au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2.4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Hg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1.9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Tl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1.8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Pb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1.9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Bi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1.9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Po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2.0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At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2.2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</a:p>
                  </a:txBody>
                  <a:tcPr marT="34293" marB="342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914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Fr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0.7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Ra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0.9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Ac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1.1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Th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1.3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Pa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1.4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U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1.4</a:t>
                      </a: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tabLst>
                          <a:tab pos="1350645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Np</a:t>
                      </a: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</a:t>
                      </a: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o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350645" algn="l"/>
                        </a:tabLst>
                      </a:pP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1.4</a:t>
                      </a:r>
                      <a:r>
                        <a:rPr kumimoji="0" lang="zh-CN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～</a:t>
                      </a:r>
                      <a:r>
                        <a:rPr kumimoji="0" lang="en-US" altLang="zh-CN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1.3</a:t>
                      </a:r>
                      <a:endParaRPr kumimoji="0" lang="en-US" altLang="zh-CN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93" marB="34293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</a:p>
                  </a:txBody>
                  <a:tcPr marT="34293" marB="342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" name="Group 709"/>
          <p:cNvGrpSpPr/>
          <p:nvPr/>
        </p:nvGrpSpPr>
        <p:grpSpPr>
          <a:xfrm>
            <a:off x="0" y="3219450"/>
            <a:ext cx="5113338" cy="996950"/>
            <a:chOff x="2290" y="164"/>
            <a:chExt cx="3221" cy="837"/>
          </a:xfrm>
        </p:grpSpPr>
        <p:sp>
          <p:nvSpPr>
            <p:cNvPr id="62626" name="Text Box 710"/>
            <p:cNvSpPr txBox="1"/>
            <p:nvPr/>
          </p:nvSpPr>
          <p:spPr>
            <a:xfrm>
              <a:off x="2290" y="164"/>
              <a:ext cx="3221" cy="837"/>
            </a:xfrm>
            <a:prstGeom prst="rect">
              <a:avLst/>
            </a:prstGeom>
            <a:gradFill rotWithShape="1">
              <a:gsLst>
                <a:gs pos="0">
                  <a:srgbClr val="002F76"/>
                </a:gs>
                <a:gs pos="50000">
                  <a:srgbClr val="0066FF"/>
                </a:gs>
                <a:gs pos="100000">
                  <a:srgbClr val="002F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    </a:t>
              </a:r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同一周期，从左到右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, </a:t>
              </a:r>
              <a:endParaRPr lang="en-US" altLang="zh-CN" sz="14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    </a:t>
              </a:r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电负性逐渐增大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627" name="Oval 711"/>
            <p:cNvSpPr/>
            <p:nvPr/>
          </p:nvSpPr>
          <p:spPr>
            <a:xfrm>
              <a:off x="2426" y="300"/>
              <a:ext cx="136" cy="136"/>
            </a:xfrm>
            <a:prstGeom prst="ellipse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712"/>
          <p:cNvGrpSpPr/>
          <p:nvPr/>
        </p:nvGrpSpPr>
        <p:grpSpPr>
          <a:xfrm>
            <a:off x="1692275" y="3436938"/>
            <a:ext cx="5113338" cy="995362"/>
            <a:chOff x="2290" y="164"/>
            <a:chExt cx="3221" cy="837"/>
          </a:xfrm>
        </p:grpSpPr>
        <p:sp>
          <p:nvSpPr>
            <p:cNvPr id="62624" name="Text Box 713"/>
            <p:cNvSpPr txBox="1"/>
            <p:nvPr/>
          </p:nvSpPr>
          <p:spPr>
            <a:xfrm>
              <a:off x="2290" y="164"/>
              <a:ext cx="3221" cy="837"/>
            </a:xfrm>
            <a:prstGeom prst="rect">
              <a:avLst/>
            </a:prstGeom>
            <a:gradFill rotWithShape="1">
              <a:gsLst>
                <a:gs pos="0">
                  <a:srgbClr val="002F76"/>
                </a:gs>
                <a:gs pos="50000">
                  <a:srgbClr val="0066FF"/>
                </a:gs>
                <a:gs pos="100000">
                  <a:srgbClr val="002F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    </a:t>
              </a:r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同一主族，从上到下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, </a:t>
              </a:r>
              <a:endParaRPr lang="en-US" altLang="zh-CN" sz="14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    </a:t>
              </a:r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电负性逐渐减小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625" name="Oval 714"/>
            <p:cNvSpPr/>
            <p:nvPr/>
          </p:nvSpPr>
          <p:spPr>
            <a:xfrm>
              <a:off x="2426" y="300"/>
              <a:ext cx="136" cy="136"/>
            </a:xfrm>
            <a:prstGeom prst="ellipse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715"/>
          <p:cNvGrpSpPr/>
          <p:nvPr/>
        </p:nvGrpSpPr>
        <p:grpSpPr>
          <a:xfrm>
            <a:off x="4030663" y="3597275"/>
            <a:ext cx="5113337" cy="1262063"/>
            <a:chOff x="2018" y="164"/>
            <a:chExt cx="3493" cy="1059"/>
          </a:xfrm>
        </p:grpSpPr>
        <p:sp>
          <p:nvSpPr>
            <p:cNvPr id="62622" name="Text Box 716"/>
            <p:cNvSpPr txBox="1"/>
            <p:nvPr/>
          </p:nvSpPr>
          <p:spPr>
            <a:xfrm>
              <a:off x="2018" y="164"/>
              <a:ext cx="3493" cy="1059"/>
            </a:xfrm>
            <a:prstGeom prst="rect">
              <a:avLst/>
            </a:prstGeom>
            <a:gradFill rotWithShape="1">
              <a:gsLst>
                <a:gs pos="0">
                  <a:srgbClr val="002F76"/>
                </a:gs>
                <a:gs pos="50000">
                  <a:srgbClr val="0066FF"/>
                </a:gs>
                <a:gs pos="100000">
                  <a:srgbClr val="002F76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    </a:t>
              </a:r>
              <a:r>
                <a:rPr lang="zh-CN" alt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同一副族，从上到下</a:t>
              </a:r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,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r>
                <a:rPr lang="en-US" altLang="zh-CN" sz="2400" b="1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ⅢB</a:t>
              </a:r>
              <a:r>
                <a:rPr lang="en-US" altLang="zh-CN" sz="2400" b="1" baseline="-25000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~</a:t>
              </a:r>
              <a:r>
                <a:rPr lang="en-US" altLang="zh-CN" sz="2400" b="1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ⅤB</a:t>
              </a:r>
              <a:r>
                <a:rPr lang="zh-CN" alt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电负性逐渐减小，</a:t>
              </a:r>
              <a:r>
                <a:rPr lang="en-US" altLang="zh-CN" sz="2400" b="1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ⅥB</a:t>
              </a:r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~</a:t>
              </a:r>
              <a:r>
                <a:rPr lang="en-US" altLang="zh-CN" sz="2400" b="1" dirty="0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ⅡB</a:t>
              </a:r>
              <a:r>
                <a:rPr lang="zh-CN" alt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电负性逐渐增大</a:t>
              </a: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623" name="Oval 717"/>
            <p:cNvSpPr/>
            <p:nvPr/>
          </p:nvSpPr>
          <p:spPr>
            <a:xfrm>
              <a:off x="2200" y="300"/>
              <a:ext cx="136" cy="136"/>
            </a:xfrm>
            <a:prstGeom prst="ellipse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AC56F-F35F-3B1C-15D1-6F5349DF5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273925-D19B-DC4E-F00C-4667CC9A2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42" name="Picture 2" descr="Electronegativity Definition and Trend">
            <a:extLst>
              <a:ext uri="{FF2B5EF4-FFF2-40B4-BE49-F238E27FC236}">
                <a16:creationId xmlns:a16="http://schemas.microsoft.com/office/drawing/2014/main" id="{3032D73D-CC91-4354-E173-DAB07AA68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013" y="0"/>
            <a:ext cx="6656387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0502239"/>
      </p:ext>
    </p:extLst>
  </p:cSld>
  <p:clrMapOvr>
    <a:masterClrMapping/>
  </p:clrMapOvr>
  <p:transition spd="med">
    <p:wipe dir="r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8"/>
          <p:cNvSpPr/>
          <p:nvPr/>
        </p:nvSpPr>
        <p:spPr>
          <a:xfrm>
            <a:off x="250825" y="176213"/>
            <a:ext cx="4570413" cy="646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3600" dirty="0">
                <a:latin typeface="Times New Roman" panose="02020603050405020304" pitchFamily="18" charset="0"/>
              </a:rPr>
              <a:t>  </a:t>
            </a:r>
            <a:r>
              <a:rPr lang="en-US" altLang="zh-CN" sz="3600" b="1" dirty="0">
                <a:solidFill>
                  <a:srgbClr val="9900CC"/>
                </a:solidFill>
                <a:latin typeface="Times New Roman" panose="02020603050405020304" pitchFamily="18" charset="0"/>
              </a:rPr>
              <a:t>5. </a:t>
            </a:r>
            <a:r>
              <a:rPr lang="zh-CN" altLang="en-US" sz="3600" b="1" dirty="0">
                <a:solidFill>
                  <a:srgbClr val="9900CC"/>
                </a:solidFill>
                <a:latin typeface="Times New Roman" panose="02020603050405020304" pitchFamily="18" charset="0"/>
              </a:rPr>
              <a:t>金属性和非金属性</a:t>
            </a:r>
          </a:p>
        </p:txBody>
      </p:sp>
      <p:sp>
        <p:nvSpPr>
          <p:cNvPr id="63491" name="Text Box 19"/>
          <p:cNvSpPr txBox="1"/>
          <p:nvPr/>
        </p:nvSpPr>
        <p:spPr>
          <a:xfrm>
            <a:off x="503238" y="965200"/>
            <a:ext cx="8101012" cy="1385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金属性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在化学反应中失去电子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变为低正 氧化数阳离子的特性。 </a:t>
            </a:r>
            <a:endParaRPr lang="zh-CN" altLang="en-US" sz="24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非金属性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在化学反应中得到电子，变为阴离子的特性。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5316" name="Text Box 20"/>
          <p:cNvSpPr txBox="1"/>
          <p:nvPr/>
        </p:nvSpPr>
        <p:spPr>
          <a:xfrm>
            <a:off x="179388" y="2500313"/>
            <a:ext cx="8891587" cy="2246312"/>
          </a:xfrm>
          <a:prstGeom prst="rect">
            <a:avLst/>
          </a:prstGeom>
          <a:solidFill>
            <a:srgbClr val="800080"/>
          </a:solidFill>
          <a:ln w="38100" cap="flat" cmpd="sng">
            <a:solidFill>
              <a:srgbClr val="00FF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b="1" dirty="0">
                <a:solidFill>
                  <a:srgbClr val="FFFF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判断 </a:t>
            </a:r>
            <a:endParaRPr lang="zh-CN" altLang="en-US" dirty="0">
              <a:latin typeface="Arial" panose="020B0604020202020204" pitchFamily="34" charset="0"/>
              <a:ea typeface="ˎ̥"/>
            </a:endParaRPr>
          </a:p>
          <a:p>
            <a:pPr eaLnBrk="1" hangingPunct="1"/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金属性：元素的电负性越小或电离能越小 </a:t>
            </a:r>
            <a:endParaRPr lang="zh-CN" altLang="en-US" dirty="0">
              <a:latin typeface="Arial" panose="020B0604020202020204" pitchFamily="34" charset="0"/>
              <a:ea typeface="ˎ̥"/>
            </a:endParaRPr>
          </a:p>
          <a:p>
            <a:pPr eaLnBrk="1" hangingPunct="1"/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　　　　　　　　　　　　　金属性越强 </a:t>
            </a:r>
            <a:endParaRPr lang="zh-CN" altLang="en-US" dirty="0">
              <a:latin typeface="Arial" panose="020B0604020202020204" pitchFamily="34" charset="0"/>
              <a:ea typeface="ˎ̥"/>
            </a:endParaRPr>
          </a:p>
          <a:p>
            <a:pPr eaLnBrk="1" hangingPunct="1"/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非金属性：元素的电负性越大或电子亲合能越小 </a:t>
            </a:r>
            <a:endParaRPr lang="zh-CN" altLang="en-US" dirty="0">
              <a:latin typeface="Arial" panose="020B0604020202020204" pitchFamily="34" charset="0"/>
              <a:ea typeface="ˎ̥"/>
            </a:endParaRPr>
          </a:p>
          <a:p>
            <a:pPr eaLnBrk="1" hangingPunct="1"/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　　　　　　　　　　　　  非金属性越强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1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3"/>
          <p:cNvSpPr txBox="1"/>
          <p:nvPr/>
        </p:nvSpPr>
        <p:spPr>
          <a:xfrm>
            <a:off x="684213" y="195263"/>
            <a:ext cx="2305050" cy="563562"/>
          </a:xfrm>
          <a:prstGeom prst="rect">
            <a:avLst/>
          </a:prstGeom>
          <a:gradFill rotWithShape="1">
            <a:gsLst>
              <a:gs pos="0">
                <a:srgbClr val="760000"/>
              </a:gs>
              <a:gs pos="50000">
                <a:srgbClr val="FF0000"/>
              </a:gs>
              <a:gs pos="100000">
                <a:srgbClr val="760000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变化规律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515" name="Text Box 24"/>
          <p:cNvSpPr txBox="1"/>
          <p:nvPr/>
        </p:nvSpPr>
        <p:spPr>
          <a:xfrm>
            <a:off x="400050" y="987425"/>
            <a:ext cx="8497888" cy="831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同一周期，从左到右，元素原子的电负性增大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元素的金属性逐渐减弱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非金属性逐渐增强。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45" name="Text Box 25"/>
          <p:cNvSpPr txBox="1"/>
          <p:nvPr/>
        </p:nvSpPr>
        <p:spPr>
          <a:xfrm>
            <a:off x="400050" y="1949450"/>
            <a:ext cx="8353425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同一主族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自上而下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元素原子的电负性减小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元素的金属性逐渐增强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非金属性逐渐减弱。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346" name="Text Box 26"/>
          <p:cNvSpPr txBox="1"/>
          <p:nvPr/>
        </p:nvSpPr>
        <p:spPr>
          <a:xfrm>
            <a:off x="396875" y="2986088"/>
            <a:ext cx="8428038" cy="16811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ⅢB~ⅤB,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同一副族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自上而下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元素原子的电负性减小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金属性增强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; </a:t>
            </a:r>
            <a:endParaRPr lang="en-US" altLang="zh-CN" sz="24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VIB~ⅡB,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同一副族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自上而下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元素原子的电负性增大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金属性减弱。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6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6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45" grpId="0"/>
      <p:bldP spid="5634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1"/>
          <p:cNvSpPr/>
          <p:nvPr/>
        </p:nvSpPr>
        <p:spPr>
          <a:xfrm>
            <a:off x="395288" y="122238"/>
            <a:ext cx="2262187" cy="646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3600" dirty="0">
                <a:solidFill>
                  <a:srgbClr val="9900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3600" b="1" dirty="0">
                <a:solidFill>
                  <a:srgbClr val="9900CC"/>
                </a:solidFill>
                <a:latin typeface="Times New Roman" panose="02020603050405020304" pitchFamily="18" charset="0"/>
              </a:rPr>
              <a:t>6. </a:t>
            </a:r>
            <a:r>
              <a:rPr lang="zh-CN" altLang="en-US" sz="3600" b="1" dirty="0">
                <a:solidFill>
                  <a:srgbClr val="9900CC"/>
                </a:solidFill>
                <a:latin typeface="Times New Roman" panose="02020603050405020304" pitchFamily="18" charset="0"/>
              </a:rPr>
              <a:t>氧化数</a:t>
            </a:r>
            <a:r>
              <a:rPr lang="zh-CN" altLang="en-US" sz="3600" dirty="0">
                <a:solidFill>
                  <a:srgbClr val="9900CC"/>
                </a:solidFill>
                <a:latin typeface="Times New Roman" panose="02020603050405020304" pitchFamily="18" charset="0"/>
              </a:rPr>
              <a:t> </a:t>
            </a:r>
          </a:p>
        </p:txBody>
      </p:sp>
      <p:grpSp>
        <p:nvGrpSpPr>
          <p:cNvPr id="65539" name="Group 22"/>
          <p:cNvGrpSpPr/>
          <p:nvPr/>
        </p:nvGrpSpPr>
        <p:grpSpPr>
          <a:xfrm>
            <a:off x="276225" y="1109663"/>
            <a:ext cx="8772525" cy="461962"/>
            <a:chOff x="174" y="530"/>
            <a:chExt cx="5526" cy="387"/>
          </a:xfrm>
        </p:grpSpPr>
        <p:sp>
          <p:nvSpPr>
            <p:cNvPr id="65546" name="Oval 23"/>
            <p:cNvSpPr/>
            <p:nvPr/>
          </p:nvSpPr>
          <p:spPr>
            <a:xfrm>
              <a:off x="174" y="662"/>
              <a:ext cx="136" cy="137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65547" name="Text Box 24"/>
            <p:cNvSpPr txBox="1"/>
            <p:nvPr/>
          </p:nvSpPr>
          <p:spPr>
            <a:xfrm>
              <a:off x="326" y="530"/>
              <a:ext cx="5374" cy="3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主族元素氧化数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: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最高氧化数＝价电子数＝族号</a:t>
              </a: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5540" name="Group 25"/>
          <p:cNvGrpSpPr/>
          <p:nvPr/>
        </p:nvGrpSpPr>
        <p:grpSpPr>
          <a:xfrm>
            <a:off x="250825" y="1820863"/>
            <a:ext cx="3673475" cy="460375"/>
            <a:chOff x="158" y="25"/>
            <a:chExt cx="2314" cy="387"/>
          </a:xfrm>
        </p:grpSpPr>
        <p:sp>
          <p:nvSpPr>
            <p:cNvPr id="65544" name="Oval 26"/>
            <p:cNvSpPr/>
            <p:nvPr/>
          </p:nvSpPr>
          <p:spPr>
            <a:xfrm>
              <a:off x="158" y="205"/>
              <a:ext cx="136" cy="137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65545" name="Text Box 27"/>
            <p:cNvSpPr txBox="1"/>
            <p:nvPr/>
          </p:nvSpPr>
          <p:spPr>
            <a:xfrm>
              <a:off x="310" y="25"/>
              <a:ext cx="2162" cy="3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副族元素氧化数</a:t>
              </a: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5541" name="Text Box 28"/>
          <p:cNvSpPr txBox="1"/>
          <p:nvPr/>
        </p:nvSpPr>
        <p:spPr>
          <a:xfrm>
            <a:off x="142875" y="2522538"/>
            <a:ext cx="88931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ⅢB~ⅦB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族：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最高氧化数＝价电子数＝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族数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73" name="Text Box 29"/>
          <p:cNvSpPr txBox="1"/>
          <p:nvPr/>
        </p:nvSpPr>
        <p:spPr>
          <a:xfrm>
            <a:off x="179388" y="3279775"/>
            <a:ext cx="85693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66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Ⅷ</a:t>
            </a:r>
            <a:r>
              <a:rPr lang="zh-CN" altLang="en-US" sz="2400" b="1" dirty="0">
                <a:solidFill>
                  <a:srgbClr val="0066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族、</a:t>
            </a:r>
            <a:r>
              <a:rPr lang="en-US" altLang="zh-CN" sz="2400" b="1" dirty="0">
                <a:solidFill>
                  <a:srgbClr val="0066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ⅠB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族：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氧化数变化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不规律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374" name="Text Box 30"/>
          <p:cNvSpPr txBox="1"/>
          <p:nvPr/>
        </p:nvSpPr>
        <p:spPr>
          <a:xfrm>
            <a:off x="142875" y="3981450"/>
            <a:ext cx="889317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66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Ⅱ</a:t>
            </a:r>
            <a:r>
              <a:rPr lang="en-US" altLang="zh-CN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B</a:t>
            </a:r>
            <a:r>
              <a:rPr lang="zh-CN" altLang="en-US" sz="2400" b="1" dirty="0">
                <a:solidFill>
                  <a:srgbClr val="0066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族：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最高氧化数＝价电子数＝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族数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=+2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7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7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73" grpId="0"/>
      <p:bldP spid="5737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444" name="Group 76"/>
          <p:cNvGraphicFramePr>
            <a:graphicFrameLocks noGrp="1"/>
          </p:cNvGraphicFramePr>
          <p:nvPr/>
        </p:nvGraphicFramePr>
        <p:xfrm>
          <a:off x="250825" y="990600"/>
          <a:ext cx="8642350" cy="1992246"/>
        </p:xfrm>
        <a:graphic>
          <a:graphicData uri="http://schemas.openxmlformats.org/drawingml/2006/table">
            <a:tbl>
              <a:tblPr/>
              <a:tblGrid>
                <a:gridCol w="50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16903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原子性质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r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I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l-G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χ</a:t>
                      </a:r>
                      <a:endParaRPr kumimoji="0" lang="el-G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金属性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非金属性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803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主族元素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同周期 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从左向右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减 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增 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大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增 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大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减 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弱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增 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强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54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同族 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自上而下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显著增大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减 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小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减 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小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增 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强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减 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弱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8443" name="Group 75"/>
          <p:cNvGraphicFramePr>
            <a:graphicFrameLocks noGrp="1"/>
          </p:cNvGraphicFramePr>
          <p:nvPr/>
        </p:nvGraphicFramePr>
        <p:xfrm>
          <a:off x="250825" y="3097213"/>
          <a:ext cx="8642350" cy="1850232"/>
        </p:xfrm>
        <a:graphic>
          <a:graphicData uri="http://schemas.openxmlformats.org/drawingml/2006/table">
            <a:tbl>
              <a:tblPr/>
              <a:tblGrid>
                <a:gridCol w="50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1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63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8375"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原子性质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r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I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l-G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χ</a:t>
                      </a:r>
                      <a:endParaRPr kumimoji="0" lang="el-GR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金属性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246"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副族元素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同周期 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从左向右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略有减小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不 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规律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增 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大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减 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弱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969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同族 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自上而下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略有增大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不 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规律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ⅢB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~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ⅤB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减小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增强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642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ⅣB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~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ⅡB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增大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减弱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6625" name="Text Box 77"/>
          <p:cNvSpPr txBox="1"/>
          <p:nvPr/>
        </p:nvSpPr>
        <p:spPr>
          <a:xfrm>
            <a:off x="827088" y="250825"/>
            <a:ext cx="1295400" cy="614363"/>
          </a:xfrm>
          <a:prstGeom prst="rect">
            <a:avLst/>
          </a:prstGeom>
          <a:gradFill rotWithShape="1">
            <a:gsLst>
              <a:gs pos="0">
                <a:srgbClr val="760000"/>
              </a:gs>
              <a:gs pos="50000">
                <a:srgbClr val="FF0000"/>
              </a:gs>
              <a:gs pos="100000">
                <a:srgbClr val="760000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 sz="40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小结</a:t>
            </a:r>
            <a:endParaRPr lang="zh-CN" altLang="en-US" sz="4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8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Periodic Table Trends Printable Quiz">
            <a:extLst>
              <a:ext uri="{FF2B5EF4-FFF2-40B4-BE49-F238E27FC236}">
                <a16:creationId xmlns:a16="http://schemas.microsoft.com/office/drawing/2014/main" id="{25FE3D06-7002-A591-C926-897776CE0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013" y="0"/>
            <a:ext cx="6656387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853809"/>
      </p:ext>
    </p:extLst>
  </p:cSld>
  <p:clrMapOvr>
    <a:masterClrMapping/>
  </p:clrMapOvr>
  <p:transition spd="med">
    <p:wipe dir="r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5" descr="u=800448305,1521519603&amp;fm=24&amp;gp=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Picture 11"/>
          <p:cNvPicPr>
            <a:picLocks noChangeAspect="1"/>
          </p:cNvPicPr>
          <p:nvPr/>
        </p:nvPicPr>
        <p:blipFill>
          <a:blip r:embed="rId3">
            <a:lum bright="-17999"/>
          </a:blip>
          <a:stretch>
            <a:fillRect/>
          </a:stretch>
        </p:blipFill>
        <p:spPr>
          <a:xfrm>
            <a:off x="6372225" y="3976688"/>
            <a:ext cx="2533650" cy="1085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7"/>
          <p:cNvSpPr/>
          <p:nvPr/>
        </p:nvSpPr>
        <p:spPr>
          <a:xfrm>
            <a:off x="2857500" y="-57150"/>
            <a:ext cx="3381375" cy="1011238"/>
          </a:xfrm>
          <a:prstGeom prst="rect">
            <a:avLst/>
          </a:prstGeom>
          <a:noFill/>
          <a:ln w="9525">
            <a:noFill/>
          </a:ln>
        </p:spPr>
        <p:txBody>
          <a:bodyPr wrap="none" tIns="165048" bIns="165048" anchor="ctr" anchorCtr="0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  <a:latin typeface="华文新魏" panose="02010800040101010101" pitchFamily="2" charset="-122"/>
              </a:rPr>
              <a:t>5.2 </a:t>
            </a:r>
            <a:r>
              <a:rPr lang="zh-CN" altLang="en-US" sz="4400" dirty="0">
                <a:solidFill>
                  <a:schemeClr val="bg1"/>
                </a:solidFill>
                <a:latin typeface="华文新魏" panose="02010800040101010101" pitchFamily="2" charset="-122"/>
              </a:rPr>
              <a:t>分子结构</a:t>
            </a:r>
          </a:p>
        </p:txBody>
      </p:sp>
      <p:sp>
        <p:nvSpPr>
          <p:cNvPr id="58371" name="Rectangle 78"/>
          <p:cNvSpPr/>
          <p:nvPr/>
        </p:nvSpPr>
        <p:spPr>
          <a:xfrm>
            <a:off x="250825" y="882650"/>
            <a:ext cx="2840038" cy="647700"/>
          </a:xfrm>
          <a:prstGeom prst="rect">
            <a:avLst/>
          </a:prstGeom>
          <a:solidFill>
            <a:srgbClr val="00B050"/>
          </a:solidFill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3600" dirty="0">
                <a:latin typeface="Times New Roman" panose="02020603050405020304" pitchFamily="18" charset="0"/>
              </a:rPr>
              <a:t>5.2.1  </a:t>
            </a:r>
            <a:r>
              <a:rPr lang="zh-CN" altLang="en-US" sz="3600" dirty="0">
                <a:latin typeface="Times New Roman" panose="02020603050405020304" pitchFamily="18" charset="0"/>
              </a:rPr>
              <a:t>键参数 </a:t>
            </a:r>
          </a:p>
        </p:txBody>
      </p:sp>
      <p:sp>
        <p:nvSpPr>
          <p:cNvPr id="58372" name="Text Box 80"/>
          <p:cNvSpPr txBox="1"/>
          <p:nvPr/>
        </p:nvSpPr>
        <p:spPr>
          <a:xfrm>
            <a:off x="1617663" y="1622425"/>
            <a:ext cx="6626225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表征化学键性质的物理量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373" name="Text Box 81"/>
          <p:cNvSpPr txBox="1"/>
          <p:nvPr/>
        </p:nvSpPr>
        <p:spPr>
          <a:xfrm>
            <a:off x="1692275" y="2532063"/>
            <a:ext cx="5400675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如  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键能、键长、键角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8030" y="210741"/>
            <a:ext cx="9144000" cy="540544"/>
          </a:xfrm>
          <a:prstGeom prst="rect">
            <a:avLst/>
          </a:prstGeom>
          <a:gradFill rotWithShape="1">
            <a:gsLst>
              <a:gs pos="0">
                <a:srgbClr val="0000FF">
                  <a:gamma/>
                  <a:shade val="46275"/>
                  <a:invGamma/>
                </a:srgbClr>
              </a:gs>
              <a:gs pos="50000">
                <a:srgbClr val="0000FF">
                  <a:alpha val="98999"/>
                </a:srgbClr>
              </a:gs>
              <a:gs pos="100000">
                <a:srgbClr val="0000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§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5.2 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分子结构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1" grpId="0" animBg="1"/>
      <p:bldP spid="58372" grpId="0"/>
      <p:bldP spid="58373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52"/>
          <p:cNvSpPr/>
          <p:nvPr/>
        </p:nvSpPr>
        <p:spPr>
          <a:xfrm>
            <a:off x="395288" y="114300"/>
            <a:ext cx="2017712" cy="7699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4400" dirty="0">
                <a:solidFill>
                  <a:srgbClr val="9900CC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sz="4400" dirty="0">
                <a:solidFill>
                  <a:srgbClr val="9900CC"/>
                </a:solidFill>
                <a:latin typeface="Times New Roman" panose="02020603050405020304" pitchFamily="18" charset="0"/>
              </a:rPr>
              <a:t>键能 </a:t>
            </a:r>
          </a:p>
        </p:txBody>
      </p:sp>
      <p:grpSp>
        <p:nvGrpSpPr>
          <p:cNvPr id="69635" name="Group 53"/>
          <p:cNvGrpSpPr/>
          <p:nvPr/>
        </p:nvGrpSpPr>
        <p:grpSpPr>
          <a:xfrm>
            <a:off x="80963" y="836613"/>
            <a:ext cx="8950325" cy="523875"/>
            <a:chOff x="192" y="572"/>
            <a:chExt cx="5638" cy="439"/>
          </a:xfrm>
        </p:grpSpPr>
        <p:sp>
          <p:nvSpPr>
            <p:cNvPr id="69671" name="Text Box 54"/>
            <p:cNvSpPr txBox="1"/>
            <p:nvPr/>
          </p:nvSpPr>
          <p:spPr>
            <a:xfrm>
              <a:off x="305" y="572"/>
              <a:ext cx="5525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键能：气体分子每断开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1mol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某键时的焓变 </a:t>
              </a:r>
              <a:r>
                <a:rPr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。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672" name="Oval 55"/>
            <p:cNvSpPr/>
            <p:nvPr/>
          </p:nvSpPr>
          <p:spPr>
            <a:xfrm>
              <a:off x="192" y="721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56"/>
          <p:cNvGrpSpPr/>
          <p:nvPr/>
        </p:nvGrpSpPr>
        <p:grpSpPr>
          <a:xfrm>
            <a:off x="122238" y="2317750"/>
            <a:ext cx="7775575" cy="519113"/>
            <a:chOff x="201" y="1715"/>
            <a:chExt cx="4898" cy="436"/>
          </a:xfrm>
        </p:grpSpPr>
        <p:sp>
          <p:nvSpPr>
            <p:cNvPr id="69669" name="Text Box 57"/>
            <p:cNvSpPr txBox="1"/>
            <p:nvPr/>
          </p:nvSpPr>
          <p:spPr>
            <a:xfrm>
              <a:off x="336" y="1715"/>
              <a:ext cx="4763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键能可衡量化学键的牢固程度        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670" name="Oval 58"/>
            <p:cNvSpPr/>
            <p:nvPr/>
          </p:nvSpPr>
          <p:spPr>
            <a:xfrm>
              <a:off x="201" y="2015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0475" name="Text Box 59"/>
          <p:cNvSpPr txBox="1"/>
          <p:nvPr/>
        </p:nvSpPr>
        <p:spPr>
          <a:xfrm>
            <a:off x="1482725" y="2847975"/>
            <a:ext cx="5543550" cy="458788"/>
          </a:xfrm>
          <a:prstGeom prst="rect">
            <a:avLst/>
          </a:prstGeom>
          <a:gradFill rotWithShape="1">
            <a:gsLst>
              <a:gs pos="0">
                <a:srgbClr val="32256F"/>
              </a:gs>
              <a:gs pos="50000">
                <a:srgbClr val="6B50F0"/>
              </a:gs>
              <a:gs pos="100000">
                <a:srgbClr val="32256F"/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键能越大，化学键越牢固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4" name="Group 60"/>
          <p:cNvGrpSpPr/>
          <p:nvPr/>
        </p:nvGrpSpPr>
        <p:grpSpPr>
          <a:xfrm>
            <a:off x="122238" y="3370263"/>
            <a:ext cx="8272462" cy="461962"/>
            <a:chOff x="223" y="2704"/>
            <a:chExt cx="5211" cy="388"/>
          </a:xfrm>
        </p:grpSpPr>
        <p:sp>
          <p:nvSpPr>
            <p:cNvPr id="69667" name="Text Box 61"/>
            <p:cNvSpPr txBox="1"/>
            <p:nvPr/>
          </p:nvSpPr>
          <p:spPr>
            <a:xfrm>
              <a:off x="329" y="2704"/>
              <a:ext cx="5105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对双原子分子，键能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=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键的解离能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(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D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)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9668" name="Oval 62"/>
            <p:cNvSpPr/>
            <p:nvPr/>
          </p:nvSpPr>
          <p:spPr>
            <a:xfrm>
              <a:off x="223" y="2877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9639" name="Group 93"/>
          <p:cNvGrpSpPr/>
          <p:nvPr/>
        </p:nvGrpSpPr>
        <p:grpSpPr>
          <a:xfrm>
            <a:off x="1744663" y="1238250"/>
            <a:ext cx="6624637" cy="736600"/>
            <a:chOff x="1066" y="799"/>
            <a:chExt cx="4173" cy="618"/>
          </a:xfrm>
        </p:grpSpPr>
        <p:sp>
          <p:nvSpPr>
            <p:cNvPr id="69662" name="Line 66"/>
            <p:cNvSpPr/>
            <p:nvPr/>
          </p:nvSpPr>
          <p:spPr>
            <a:xfrm>
              <a:off x="1982" y="1117"/>
              <a:ext cx="117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69663" name="Group 92"/>
            <p:cNvGrpSpPr/>
            <p:nvPr/>
          </p:nvGrpSpPr>
          <p:grpSpPr>
            <a:xfrm>
              <a:off x="1066" y="799"/>
              <a:ext cx="4173" cy="618"/>
              <a:chOff x="1066" y="1152"/>
              <a:chExt cx="4173" cy="618"/>
            </a:xfrm>
          </p:grpSpPr>
          <p:sp>
            <p:nvSpPr>
              <p:cNvPr id="69664" name="Text Box 65"/>
              <p:cNvSpPr txBox="1"/>
              <p:nvPr/>
            </p:nvSpPr>
            <p:spPr>
              <a:xfrm>
                <a:off x="1066" y="1257"/>
                <a:ext cx="4173" cy="4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 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Cl</a:t>
                </a:r>
                <a:r>
                  <a:rPr lang="en-US" altLang="zh-CN" sz="2400" b="1" baseline="-25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2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(g)  </a:t>
                </a:r>
                <a:r>
                  <a:rPr lang="zh-CN" altLang="en-US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　　　       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2 Cl(g) </a:t>
                </a:r>
                <a:endParaRPr lang="en-US" altLang="zh-CN" sz="12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65" name="Text Box 67"/>
              <p:cNvSpPr txBox="1"/>
              <p:nvPr/>
            </p:nvSpPr>
            <p:spPr>
              <a:xfrm>
                <a:off x="2042" y="1152"/>
                <a:ext cx="1089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298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rPr>
                  <a:t></a:t>
                </a:r>
                <a:r>
                  <a:rPr lang="en-US" altLang="zh-CN" sz="24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15K</a:t>
                </a:r>
                <a:endPara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sym typeface="Symbol" panose="05050102010706020507" pitchFamily="18" charset="2"/>
                </a:endParaRPr>
              </a:p>
            </p:txBody>
          </p:sp>
          <p:sp>
            <p:nvSpPr>
              <p:cNvPr id="69666" name="Text Box 68"/>
              <p:cNvSpPr txBox="1"/>
              <p:nvPr/>
            </p:nvSpPr>
            <p:spPr>
              <a:xfrm>
                <a:off x="2145" y="1434"/>
                <a:ext cx="826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标准态</a:t>
                </a:r>
                <a:endParaRPr lang="zh-CN" altLang="en-US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69640" name="Group 84"/>
          <p:cNvGrpSpPr/>
          <p:nvPr/>
        </p:nvGrpSpPr>
        <p:grpSpPr>
          <a:xfrm>
            <a:off x="1458913" y="1911350"/>
            <a:ext cx="6840537" cy="461963"/>
            <a:chOff x="1565" y="1420"/>
            <a:chExt cx="4309" cy="388"/>
          </a:xfrm>
        </p:grpSpPr>
        <p:sp>
          <p:nvSpPr>
            <p:cNvPr id="69655" name="Text Box 85"/>
            <p:cNvSpPr txBox="1"/>
            <p:nvPr/>
          </p:nvSpPr>
          <p:spPr>
            <a:xfrm>
              <a:off x="1565" y="1420"/>
              <a:ext cx="4309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E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(Cl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－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Cl)=</a:t>
              </a:r>
              <a:r>
                <a:rPr lang="en-US" altLang="zh-CN" sz="2400" b="1" dirty="0">
                  <a:solidFill>
                    <a:srgbClr val="00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△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H  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=242kJ·mol</a:t>
              </a:r>
              <a:r>
                <a:rPr lang="en-US" altLang="zh-CN" sz="2400" b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-1</a:t>
              </a: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69656" name="Group 86"/>
            <p:cNvGrpSpPr/>
            <p:nvPr/>
          </p:nvGrpSpPr>
          <p:grpSpPr>
            <a:xfrm>
              <a:off x="1825" y="1550"/>
              <a:ext cx="91" cy="91"/>
              <a:chOff x="748" y="3657"/>
              <a:chExt cx="91" cy="91"/>
            </a:xfrm>
          </p:grpSpPr>
          <p:sp>
            <p:nvSpPr>
              <p:cNvPr id="69660" name="Oval 87"/>
              <p:cNvSpPr/>
              <p:nvPr/>
            </p:nvSpPr>
            <p:spPr>
              <a:xfrm>
                <a:off x="748" y="3657"/>
                <a:ext cx="91" cy="91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9661" name="Line 88"/>
              <p:cNvSpPr/>
              <p:nvPr/>
            </p:nvSpPr>
            <p:spPr>
              <a:xfrm>
                <a:off x="748" y="3702"/>
                <a:ext cx="9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69657" name="Group 89"/>
            <p:cNvGrpSpPr/>
            <p:nvPr/>
          </p:nvGrpSpPr>
          <p:grpSpPr>
            <a:xfrm>
              <a:off x="3551" y="1562"/>
              <a:ext cx="91" cy="91"/>
              <a:chOff x="748" y="3657"/>
              <a:chExt cx="91" cy="91"/>
            </a:xfrm>
          </p:grpSpPr>
          <p:sp>
            <p:nvSpPr>
              <p:cNvPr id="69658" name="Oval 90"/>
              <p:cNvSpPr/>
              <p:nvPr/>
            </p:nvSpPr>
            <p:spPr>
              <a:xfrm>
                <a:off x="748" y="3657"/>
                <a:ext cx="91" cy="91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9659" name="Line 91"/>
              <p:cNvSpPr/>
              <p:nvPr/>
            </p:nvSpPr>
            <p:spPr>
              <a:xfrm>
                <a:off x="748" y="3702"/>
                <a:ext cx="9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0" name="Group 94"/>
          <p:cNvGrpSpPr/>
          <p:nvPr/>
        </p:nvGrpSpPr>
        <p:grpSpPr>
          <a:xfrm>
            <a:off x="1258888" y="4408488"/>
            <a:ext cx="6840537" cy="460375"/>
            <a:chOff x="1565" y="1480"/>
            <a:chExt cx="4309" cy="388"/>
          </a:xfrm>
        </p:grpSpPr>
        <p:sp>
          <p:nvSpPr>
            <p:cNvPr id="69648" name="Text Box 95"/>
            <p:cNvSpPr txBox="1"/>
            <p:nvPr/>
          </p:nvSpPr>
          <p:spPr>
            <a:xfrm>
              <a:off x="1565" y="1480"/>
              <a:ext cx="4309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E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(H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－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Cl) =</a:t>
              </a:r>
              <a:r>
                <a:rPr lang="en-US" altLang="zh-CN" sz="2400" b="1" dirty="0">
                  <a:solidFill>
                    <a:srgbClr val="00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  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D  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=431kJ·mol</a:t>
              </a:r>
              <a:r>
                <a:rPr lang="en-US" altLang="zh-CN" sz="2400" b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-1</a:t>
              </a: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69649" name="Group 96"/>
            <p:cNvGrpSpPr/>
            <p:nvPr/>
          </p:nvGrpSpPr>
          <p:grpSpPr>
            <a:xfrm>
              <a:off x="1825" y="1550"/>
              <a:ext cx="91" cy="91"/>
              <a:chOff x="748" y="3657"/>
              <a:chExt cx="91" cy="91"/>
            </a:xfrm>
          </p:grpSpPr>
          <p:sp>
            <p:nvSpPr>
              <p:cNvPr id="69653" name="Oval 97"/>
              <p:cNvSpPr/>
              <p:nvPr/>
            </p:nvSpPr>
            <p:spPr>
              <a:xfrm>
                <a:off x="748" y="3657"/>
                <a:ext cx="91" cy="91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9654" name="Line 98"/>
              <p:cNvSpPr/>
              <p:nvPr/>
            </p:nvSpPr>
            <p:spPr>
              <a:xfrm>
                <a:off x="748" y="3702"/>
                <a:ext cx="9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69650" name="Group 99"/>
            <p:cNvGrpSpPr/>
            <p:nvPr/>
          </p:nvGrpSpPr>
          <p:grpSpPr>
            <a:xfrm>
              <a:off x="3551" y="1562"/>
              <a:ext cx="91" cy="91"/>
              <a:chOff x="748" y="3657"/>
              <a:chExt cx="91" cy="91"/>
            </a:xfrm>
          </p:grpSpPr>
          <p:sp>
            <p:nvSpPr>
              <p:cNvPr id="69651" name="Oval 100"/>
              <p:cNvSpPr/>
              <p:nvPr/>
            </p:nvSpPr>
            <p:spPr>
              <a:xfrm>
                <a:off x="748" y="3657"/>
                <a:ext cx="91" cy="91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9652" name="Line 101"/>
              <p:cNvSpPr/>
              <p:nvPr/>
            </p:nvSpPr>
            <p:spPr>
              <a:xfrm>
                <a:off x="748" y="3702"/>
                <a:ext cx="9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3" name="Group 102"/>
          <p:cNvGrpSpPr/>
          <p:nvPr/>
        </p:nvGrpSpPr>
        <p:grpSpPr>
          <a:xfrm>
            <a:off x="1258888" y="3748088"/>
            <a:ext cx="6624637" cy="823912"/>
            <a:chOff x="839" y="921"/>
            <a:chExt cx="4173" cy="692"/>
          </a:xfrm>
        </p:grpSpPr>
        <p:grpSp>
          <p:nvGrpSpPr>
            <p:cNvPr id="69643" name="Group 103"/>
            <p:cNvGrpSpPr/>
            <p:nvPr/>
          </p:nvGrpSpPr>
          <p:grpSpPr>
            <a:xfrm>
              <a:off x="839" y="921"/>
              <a:ext cx="4173" cy="648"/>
              <a:chOff x="839" y="921"/>
              <a:chExt cx="4173" cy="648"/>
            </a:xfrm>
          </p:grpSpPr>
          <p:sp>
            <p:nvSpPr>
              <p:cNvPr id="69645" name="Text Box 104"/>
              <p:cNvSpPr txBox="1"/>
              <p:nvPr/>
            </p:nvSpPr>
            <p:spPr>
              <a:xfrm>
                <a:off x="839" y="1026"/>
                <a:ext cx="4173" cy="5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36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    </a:t>
                </a:r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HCl (g)       </a:t>
                </a:r>
                <a:r>
                  <a:rPr lang="zh-CN" altLang="en-US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　　　　 </a:t>
                </a:r>
                <a:r>
                  <a:rPr lang="en-US" altLang="zh-CN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H(g) + Cl(g) 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69646" name="Line 105"/>
              <p:cNvSpPr/>
              <p:nvPr/>
            </p:nvSpPr>
            <p:spPr>
              <a:xfrm>
                <a:off x="1982" y="1243"/>
                <a:ext cx="117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9647" name="Text Box 106"/>
              <p:cNvSpPr txBox="1"/>
              <p:nvPr/>
            </p:nvSpPr>
            <p:spPr>
              <a:xfrm>
                <a:off x="2042" y="921"/>
                <a:ext cx="1089" cy="4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298</a:t>
                </a:r>
                <a:r>
                  <a:rPr lang="en-US" altLang="zh-CN" sz="32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rPr>
                  <a:t></a:t>
                </a:r>
                <a:r>
                  <a:rPr lang="en-US" altLang="zh-CN" sz="3200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15K</a:t>
                </a:r>
                <a:endParaRPr lang="en-US" altLang="zh-CN" sz="3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sym typeface="Symbol" panose="05050102010706020507" pitchFamily="18" charset="2"/>
                </a:endParaRPr>
              </a:p>
            </p:txBody>
          </p:sp>
        </p:grpSp>
        <p:sp>
          <p:nvSpPr>
            <p:cNvPr id="69644" name="Text Box 107"/>
            <p:cNvSpPr txBox="1"/>
            <p:nvPr/>
          </p:nvSpPr>
          <p:spPr>
            <a:xfrm>
              <a:off x="2200" y="1174"/>
              <a:ext cx="826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标准态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0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7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32"/>
          <p:cNvSpPr txBox="1"/>
          <p:nvPr/>
        </p:nvSpPr>
        <p:spPr>
          <a:xfrm>
            <a:off x="44450" y="842963"/>
            <a:ext cx="9144000" cy="2370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对多原子分子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,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键能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=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逐级解离能的平均值 </a:t>
            </a:r>
            <a:endParaRPr lang="zh-CN" altLang="en-US" sz="24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H</a:t>
            </a:r>
            <a:r>
              <a:rPr lang="en-US" altLang="zh-CN" sz="2400" b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O(g) → H(g) + OH(g)     </a:t>
            </a:r>
            <a:endParaRPr lang="en-US" altLang="zh-CN" sz="24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                           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D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(H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－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OH) = 502 kJ·mol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-1 </a:t>
            </a:r>
            <a:endParaRPr lang="en-US" altLang="zh-CN" sz="24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  OH(g) → H(g) + O(g)     </a:t>
            </a:r>
            <a:endParaRPr lang="en-US" altLang="zh-CN" sz="24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                            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D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(O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－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H) = 423 kJ·mol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-1 </a:t>
            </a:r>
            <a:endParaRPr lang="en-US" altLang="zh-CN" sz="24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buNone/>
            </a:pP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E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(O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－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H)={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D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(H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－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OH)+</a:t>
            </a:r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D 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(O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－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H)}/2=463kJ·mol</a:t>
            </a:r>
            <a:r>
              <a: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-1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33"/>
          <p:cNvGrpSpPr/>
          <p:nvPr/>
        </p:nvGrpSpPr>
        <p:grpSpPr>
          <a:xfrm>
            <a:off x="-39687" y="3489325"/>
            <a:ext cx="9359900" cy="1347788"/>
            <a:chOff x="156" y="2757"/>
            <a:chExt cx="5896" cy="1132"/>
          </a:xfrm>
        </p:grpSpPr>
        <p:sp>
          <p:nvSpPr>
            <p:cNvPr id="70661" name="Text Box 34"/>
            <p:cNvSpPr txBox="1"/>
            <p:nvPr/>
          </p:nvSpPr>
          <p:spPr>
            <a:xfrm>
              <a:off x="292" y="2757"/>
              <a:ext cx="5760" cy="11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同一种键在不同分子中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,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键能大小可能不同 </a:t>
              </a:r>
              <a:endParaRPr lang="zh-CN" altLang="en-US" sz="24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120000"/>
                </a:lnSpc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   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ˎ̥"/>
                </a:rPr>
                <a:t>N</a:t>
              </a:r>
              <a:r>
                <a:rPr lang="en-US" altLang="zh-CN" sz="2400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ea typeface="ˎ̥"/>
                </a:rPr>
                <a:t>2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ˎ̥"/>
                </a:rPr>
                <a:t>O</a:t>
              </a:r>
              <a:r>
                <a:rPr lang="en-US" altLang="zh-CN" sz="2400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ea typeface="ˎ̥"/>
                </a:rPr>
                <a:t>4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ˎ̥"/>
                </a:rPr>
                <a:t>(g)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中       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D 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(N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－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N) = 167 kJ·mol</a:t>
              </a:r>
              <a:r>
                <a:rPr lang="en-US" altLang="zh-CN" sz="2400" b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-1 </a:t>
              </a:r>
              <a:endParaRPr lang="en-US" altLang="zh-CN" sz="24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120000"/>
                </a:lnSpc>
                <a:buNone/>
              </a:pP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   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ˎ̥"/>
                </a:rPr>
                <a:t>N</a:t>
              </a:r>
              <a:r>
                <a:rPr lang="en-US" altLang="zh-CN" sz="2400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ea typeface="ˎ̥"/>
                </a:rPr>
                <a:t>2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ˎ̥"/>
                </a:rPr>
                <a:t>H</a:t>
              </a:r>
              <a:r>
                <a:rPr lang="en-US" altLang="zh-CN" sz="2400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ea typeface="ˎ̥"/>
                </a:rPr>
                <a:t>4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ˎ̥"/>
                </a:rPr>
                <a:t>(g)</a:t>
              </a:r>
              <a:r>
                <a:rPr lang="zh-CN" altLang="en-US" sz="2400" b="1" dirty="0">
                  <a:solidFill>
                    <a:srgbClr val="00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中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      </a:t>
              </a:r>
              <a:r>
                <a:rPr lang="en-US" altLang="zh-CN" sz="24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D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(N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－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N) = 247 kJ·mol</a:t>
              </a:r>
              <a:r>
                <a:rPr lang="en-US" altLang="zh-CN" sz="2400" b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-1</a:t>
              </a:r>
              <a:endParaRPr lang="en-US" altLang="zh-CN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0662" name="Oval 35"/>
            <p:cNvSpPr/>
            <p:nvPr/>
          </p:nvSpPr>
          <p:spPr>
            <a:xfrm>
              <a:off x="156" y="2875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70663" name="Group 36"/>
            <p:cNvGrpSpPr/>
            <p:nvPr/>
          </p:nvGrpSpPr>
          <p:grpSpPr>
            <a:xfrm>
              <a:off x="2562" y="3170"/>
              <a:ext cx="91" cy="91"/>
              <a:chOff x="748" y="3657"/>
              <a:chExt cx="91" cy="91"/>
            </a:xfrm>
          </p:grpSpPr>
          <p:sp>
            <p:nvSpPr>
              <p:cNvPr id="70667" name="Oval 37"/>
              <p:cNvSpPr/>
              <p:nvPr/>
            </p:nvSpPr>
            <p:spPr>
              <a:xfrm>
                <a:off x="748" y="3657"/>
                <a:ext cx="91" cy="91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668" name="Line 38"/>
              <p:cNvSpPr/>
              <p:nvPr/>
            </p:nvSpPr>
            <p:spPr>
              <a:xfrm>
                <a:off x="748" y="3702"/>
                <a:ext cx="9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70664" name="Group 39"/>
            <p:cNvGrpSpPr/>
            <p:nvPr/>
          </p:nvGrpSpPr>
          <p:grpSpPr>
            <a:xfrm>
              <a:off x="2562" y="3588"/>
              <a:ext cx="91" cy="91"/>
              <a:chOff x="748" y="3657"/>
              <a:chExt cx="91" cy="91"/>
            </a:xfrm>
          </p:grpSpPr>
          <p:sp>
            <p:nvSpPr>
              <p:cNvPr id="70665" name="Oval 40"/>
              <p:cNvSpPr/>
              <p:nvPr/>
            </p:nvSpPr>
            <p:spPr>
              <a:xfrm>
                <a:off x="748" y="3657"/>
                <a:ext cx="91" cy="91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0666" name="Line 41"/>
              <p:cNvSpPr/>
              <p:nvPr/>
            </p:nvSpPr>
            <p:spPr>
              <a:xfrm>
                <a:off x="748" y="3702"/>
                <a:ext cx="9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70660" name="Rectangle 42"/>
          <p:cNvSpPr/>
          <p:nvPr/>
        </p:nvSpPr>
        <p:spPr>
          <a:xfrm>
            <a:off x="395288" y="114300"/>
            <a:ext cx="2017712" cy="76993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4400" dirty="0">
                <a:latin typeface="Times New Roman" panose="02020603050405020304" pitchFamily="18" charset="0"/>
              </a:rPr>
              <a:t>1. </a:t>
            </a:r>
            <a:r>
              <a:rPr lang="zh-CN" altLang="en-US" sz="4400" dirty="0">
                <a:latin typeface="Times New Roman" panose="02020603050405020304" pitchFamily="18" charset="0"/>
              </a:rPr>
              <a:t>键能 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Line 59"/>
          <p:cNvSpPr/>
          <p:nvPr/>
        </p:nvSpPr>
        <p:spPr>
          <a:xfrm flipV="1">
            <a:off x="1027113" y="1350963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71683" name="Text Box 60"/>
          <p:cNvSpPr txBox="1"/>
          <p:nvPr/>
        </p:nvSpPr>
        <p:spPr>
          <a:xfrm>
            <a:off x="215900" y="207963"/>
            <a:ext cx="3492500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solidFill>
                  <a:srgbClr val="9900CC"/>
                </a:solidFill>
                <a:latin typeface="华文新魏" panose="02010800040101010101" pitchFamily="2" charset="-122"/>
              </a:rPr>
              <a:t>2.</a:t>
            </a:r>
            <a:r>
              <a:rPr lang="zh-CN" altLang="en-US" sz="3200" dirty="0">
                <a:solidFill>
                  <a:srgbClr val="9900CC"/>
                </a:solidFill>
                <a:latin typeface="华文新魏" panose="02010800040101010101" pitchFamily="2" charset="-122"/>
              </a:rPr>
              <a:t>键长</a:t>
            </a:r>
            <a:r>
              <a:rPr lang="en-US" altLang="zh-CN" sz="3200" dirty="0">
                <a:solidFill>
                  <a:srgbClr val="9900CC"/>
                </a:solidFill>
                <a:latin typeface="华文新魏" panose="02010800040101010101" pitchFamily="2" charset="-122"/>
              </a:rPr>
              <a:t>(</a:t>
            </a:r>
            <a:r>
              <a:rPr lang="en-US" altLang="zh-CN" sz="3200" i="1" dirty="0">
                <a:solidFill>
                  <a:srgbClr val="9900CC"/>
                </a:solidFill>
                <a:latin typeface="Times New Roman" panose="02020603050405020304" pitchFamily="18" charset="0"/>
              </a:rPr>
              <a:t>L</a:t>
            </a:r>
            <a:r>
              <a:rPr lang="en-US" altLang="zh-CN" sz="3200" baseline="-25000" dirty="0">
                <a:solidFill>
                  <a:srgbClr val="9900CC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3200" dirty="0">
                <a:solidFill>
                  <a:srgbClr val="9900CC"/>
                </a:solidFill>
                <a:latin typeface="华文新魏" panose="02010800040101010101" pitchFamily="2" charset="-122"/>
              </a:rPr>
              <a:t>) </a:t>
            </a:r>
          </a:p>
        </p:txBody>
      </p:sp>
      <p:grpSp>
        <p:nvGrpSpPr>
          <p:cNvPr id="71684" name="Group 66"/>
          <p:cNvGrpSpPr/>
          <p:nvPr/>
        </p:nvGrpSpPr>
        <p:grpSpPr>
          <a:xfrm>
            <a:off x="238125" y="790575"/>
            <a:ext cx="8770938" cy="460375"/>
            <a:chOff x="127" y="548"/>
            <a:chExt cx="5525" cy="388"/>
          </a:xfrm>
        </p:grpSpPr>
        <p:sp>
          <p:nvSpPr>
            <p:cNvPr id="71746" name="Text Box 67"/>
            <p:cNvSpPr txBox="1"/>
            <p:nvPr/>
          </p:nvSpPr>
          <p:spPr>
            <a:xfrm>
              <a:off x="232" y="548"/>
              <a:ext cx="5420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键长：分子内成键两原子核间的平衡距离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47" name="Oval 68"/>
            <p:cNvSpPr/>
            <p:nvPr/>
          </p:nvSpPr>
          <p:spPr>
            <a:xfrm>
              <a:off x="127" y="721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62533" name="Group 69"/>
          <p:cNvGraphicFramePr>
            <a:graphicFrameLocks noGrp="1"/>
          </p:cNvGraphicFramePr>
          <p:nvPr/>
        </p:nvGraphicFramePr>
        <p:xfrm>
          <a:off x="323850" y="1373188"/>
          <a:ext cx="8642350" cy="2033165"/>
        </p:xfrm>
        <a:graphic>
          <a:graphicData uri="http://schemas.openxmlformats.org/drawingml/2006/table">
            <a:tbl>
              <a:tblPr/>
              <a:tblGrid>
                <a:gridCol w="2160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5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900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键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L</a:t>
                      </a:r>
                      <a:r>
                        <a:rPr kumimoji="0" lang="en-US" altLang="zh-CN" sz="2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b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/pm</a:t>
                      </a:r>
                      <a:r>
                        <a:rPr kumimoji="0" lang="en-US" altLang="zh-CN" sz="2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键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L</a:t>
                      </a:r>
                      <a:r>
                        <a:rPr kumimoji="0" lang="en-US" altLang="zh-CN" sz="2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b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/pm</a:t>
                      </a:r>
                      <a:r>
                        <a:rPr kumimoji="0" lang="en-US" altLang="zh-CN" sz="2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   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H</a:t>
                      </a:r>
                      <a:r>
                        <a:rPr kumimoji="0" lang="zh-CN" altLang="en-US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－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H 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74.0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   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H</a:t>
                      </a:r>
                      <a:r>
                        <a:rPr kumimoji="0" lang="zh-CN" altLang="en-US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－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F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91.8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  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Cl</a:t>
                      </a:r>
                      <a:r>
                        <a:rPr kumimoji="0" lang="zh-CN" altLang="en-US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－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Cl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198.8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   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H</a:t>
                      </a:r>
                      <a:r>
                        <a:rPr kumimoji="0" lang="zh-CN" altLang="en-US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－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Cl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127.4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1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 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Br</a:t>
                      </a:r>
                      <a:r>
                        <a:rPr kumimoji="0" lang="zh-CN" altLang="en-US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－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Br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228.4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   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H</a:t>
                      </a:r>
                      <a:r>
                        <a:rPr kumimoji="0" lang="zh-CN" altLang="en-US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－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Br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140.8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    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I</a:t>
                      </a:r>
                      <a:r>
                        <a:rPr kumimoji="0" lang="zh-CN" altLang="en-US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－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I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266.6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   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H</a:t>
                      </a:r>
                      <a:r>
                        <a:rPr kumimoji="0" lang="zh-CN" altLang="en-US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－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I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160.8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" name="Group 107"/>
          <p:cNvGrpSpPr/>
          <p:nvPr/>
        </p:nvGrpSpPr>
        <p:grpSpPr>
          <a:xfrm>
            <a:off x="46038" y="3422650"/>
            <a:ext cx="9266237" cy="460375"/>
            <a:chOff x="134" y="2795"/>
            <a:chExt cx="5837" cy="387"/>
          </a:xfrm>
        </p:grpSpPr>
        <p:sp>
          <p:nvSpPr>
            <p:cNvPr id="71744" name="Text Box 108"/>
            <p:cNvSpPr txBox="1"/>
            <p:nvPr/>
          </p:nvSpPr>
          <p:spPr>
            <a:xfrm>
              <a:off x="248" y="2795"/>
              <a:ext cx="5723" cy="3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同一种键在不同分子中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,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键长基本是个定值</a:t>
              </a:r>
              <a:r>
                <a:rPr lang="zh-CN" altLang="en-US" sz="1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1745" name="Oval 109"/>
            <p:cNvSpPr/>
            <p:nvPr/>
          </p:nvSpPr>
          <p:spPr>
            <a:xfrm>
              <a:off x="134" y="2944"/>
              <a:ext cx="144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62574" name="Group 110"/>
          <p:cNvGraphicFramePr>
            <a:graphicFrameLocks noGrp="1"/>
          </p:cNvGraphicFramePr>
          <p:nvPr/>
        </p:nvGraphicFramePr>
        <p:xfrm>
          <a:off x="360363" y="3973513"/>
          <a:ext cx="8569325" cy="87764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1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8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键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44" marB="342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－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44" marB="342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金刚石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44" marB="342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乙烷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44" marB="342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丙烷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44" marB="342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82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L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/pm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44" marB="3424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154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44" marB="342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153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44" marB="342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154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44" marB="342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155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44" marB="3424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62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AutoShape 46"/>
          <p:cNvSpPr>
            <a:spLocks noChangeAspect="1"/>
          </p:cNvSpPr>
          <p:nvPr/>
        </p:nvSpPr>
        <p:spPr>
          <a:xfrm>
            <a:off x="-17462" y="0"/>
            <a:ext cx="9144000" cy="51435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2707" name="Line 47"/>
          <p:cNvSpPr/>
          <p:nvPr/>
        </p:nvSpPr>
        <p:spPr>
          <a:xfrm flipV="1">
            <a:off x="973138" y="1200150"/>
            <a:ext cx="7848600" cy="0"/>
          </a:xfrm>
          <a:prstGeom prst="line">
            <a:avLst/>
          </a:prstGeom>
          <a:ln w="9525">
            <a:noFill/>
          </a:ln>
        </p:spPr>
      </p:sp>
      <p:grpSp>
        <p:nvGrpSpPr>
          <p:cNvPr id="72708" name="Group 53"/>
          <p:cNvGrpSpPr/>
          <p:nvPr/>
        </p:nvGrpSpPr>
        <p:grpSpPr>
          <a:xfrm>
            <a:off x="392113" y="95250"/>
            <a:ext cx="8770937" cy="523875"/>
            <a:chOff x="127" y="548"/>
            <a:chExt cx="5525" cy="440"/>
          </a:xfrm>
        </p:grpSpPr>
        <p:sp>
          <p:nvSpPr>
            <p:cNvPr id="72784" name="Text Box 54"/>
            <p:cNvSpPr txBox="1"/>
            <p:nvPr/>
          </p:nvSpPr>
          <p:spPr>
            <a:xfrm>
              <a:off x="232" y="548"/>
              <a:ext cx="5420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键长越</a:t>
              </a:r>
              <a:r>
                <a:rPr lang="zh-CN" altLang="en-US" b="1" dirty="0">
                  <a:solidFill>
                    <a:srgbClr val="F72F63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短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，键能越</a:t>
              </a:r>
              <a:r>
                <a:rPr lang="zh-CN" altLang="en-US" b="1" dirty="0">
                  <a:solidFill>
                    <a:srgbClr val="F72F63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大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，化学键越</a:t>
              </a:r>
              <a:r>
                <a:rPr lang="zh-CN" altLang="en-US" b="1" dirty="0">
                  <a:solidFill>
                    <a:srgbClr val="F72F63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牢固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2785" name="Oval 55"/>
            <p:cNvSpPr/>
            <p:nvPr/>
          </p:nvSpPr>
          <p:spPr>
            <a:xfrm>
              <a:off x="127" y="721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63544" name="Group 56"/>
          <p:cNvGraphicFramePr>
            <a:graphicFrameLocks noGrp="1"/>
          </p:cNvGraphicFramePr>
          <p:nvPr/>
        </p:nvGraphicFramePr>
        <p:xfrm>
          <a:off x="233363" y="633413"/>
          <a:ext cx="8569325" cy="1271589"/>
        </p:xfrm>
        <a:graphic>
          <a:graphicData uri="http://schemas.openxmlformats.org/drawingml/2006/table">
            <a:tbl>
              <a:tblPr/>
              <a:tblGrid>
                <a:gridCol w="273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键</a:t>
                      </a:r>
                      <a:endParaRPr kumimoji="0" lang="zh-CN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</a:t>
                      </a:r>
                      <a:r>
                        <a:rPr kumimoji="0" lang="zh-CN" altLang="en-US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－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C=C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≡C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77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L</a:t>
                      </a:r>
                      <a:r>
                        <a:rPr kumimoji="0" lang="en-US" altLang="zh-CN" sz="2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b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/pm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154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134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120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00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E 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/kJ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·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mol</a:t>
                      </a:r>
                      <a:r>
                        <a:rPr kumimoji="0" lang="en-US" altLang="zh-CN" sz="27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356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598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813</a:t>
                      </a:r>
                      <a:endParaRPr kumimoji="0" lang="en-US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2731" name="Group 78"/>
          <p:cNvGrpSpPr/>
          <p:nvPr/>
        </p:nvGrpSpPr>
        <p:grpSpPr>
          <a:xfrm>
            <a:off x="862013" y="1554163"/>
            <a:ext cx="144462" cy="107950"/>
            <a:chOff x="1383" y="3566"/>
            <a:chExt cx="91" cy="91"/>
          </a:xfrm>
        </p:grpSpPr>
        <p:sp>
          <p:nvSpPr>
            <p:cNvPr id="72782" name="Oval 79"/>
            <p:cNvSpPr/>
            <p:nvPr/>
          </p:nvSpPr>
          <p:spPr>
            <a:xfrm>
              <a:off x="1383" y="3566"/>
              <a:ext cx="91" cy="91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2783" name="Line 80"/>
            <p:cNvSpPr/>
            <p:nvPr/>
          </p:nvSpPr>
          <p:spPr>
            <a:xfrm>
              <a:off x="1383" y="3612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63569" name="Group 81"/>
          <p:cNvGraphicFramePr>
            <a:graphicFrameLocks noGrp="1"/>
          </p:cNvGraphicFramePr>
          <p:nvPr/>
        </p:nvGraphicFramePr>
        <p:xfrm>
          <a:off x="233363" y="3436938"/>
          <a:ext cx="8569325" cy="1278733"/>
        </p:xfrm>
        <a:graphic>
          <a:graphicData uri="http://schemas.openxmlformats.org/drawingml/2006/table">
            <a:tbl>
              <a:tblPr/>
              <a:tblGrid>
                <a:gridCol w="273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3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键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</a:t>
                      </a:r>
                      <a:r>
                        <a:rPr kumimoji="0" lang="zh-CN" altLang="en-US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－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N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C=N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≡N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5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L</a:t>
                      </a:r>
                      <a:r>
                        <a:rPr kumimoji="0" lang="en-US" altLang="zh-CN" sz="2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b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/pm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147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132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116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3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E 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/kJ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·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mol</a:t>
                      </a:r>
                      <a:r>
                        <a:rPr kumimoji="0" lang="en-US" altLang="zh-CN" sz="27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285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616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866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幼圆" panose="020105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3591" name="Group 103"/>
          <p:cNvGraphicFramePr>
            <a:graphicFrameLocks noGrp="1"/>
          </p:cNvGraphicFramePr>
          <p:nvPr/>
        </p:nvGraphicFramePr>
        <p:xfrm>
          <a:off x="233363" y="2085975"/>
          <a:ext cx="8569325" cy="1241584"/>
        </p:xfrm>
        <a:graphic>
          <a:graphicData uri="http://schemas.openxmlformats.org/drawingml/2006/table">
            <a:tbl>
              <a:tblPr/>
              <a:tblGrid>
                <a:gridCol w="268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735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键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N</a:t>
                      </a:r>
                      <a:r>
                        <a:rPr kumimoji="0" lang="zh-CN" altLang="en-US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－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N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N=N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N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≡N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11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L</a:t>
                      </a:r>
                      <a:r>
                        <a:rPr kumimoji="0" lang="en-US" altLang="zh-CN" sz="2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b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/pm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146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125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109.8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11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E 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/kJ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·</a:t>
                      </a: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mol</a:t>
                      </a:r>
                      <a:r>
                        <a:rPr kumimoji="0" lang="en-US" altLang="zh-CN" sz="27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160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418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946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2776" name="Group 125"/>
          <p:cNvGrpSpPr/>
          <p:nvPr/>
        </p:nvGrpSpPr>
        <p:grpSpPr>
          <a:xfrm>
            <a:off x="841375" y="2951163"/>
            <a:ext cx="144463" cy="107950"/>
            <a:chOff x="1383" y="3566"/>
            <a:chExt cx="91" cy="91"/>
          </a:xfrm>
        </p:grpSpPr>
        <p:sp>
          <p:nvSpPr>
            <p:cNvPr id="72780" name="Oval 126"/>
            <p:cNvSpPr/>
            <p:nvPr/>
          </p:nvSpPr>
          <p:spPr>
            <a:xfrm>
              <a:off x="1383" y="3566"/>
              <a:ext cx="91" cy="91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2781" name="Line 127"/>
            <p:cNvSpPr/>
            <p:nvPr/>
          </p:nvSpPr>
          <p:spPr>
            <a:xfrm>
              <a:off x="1383" y="3612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2777" name="Group 128"/>
          <p:cNvGrpSpPr/>
          <p:nvPr/>
        </p:nvGrpSpPr>
        <p:grpSpPr>
          <a:xfrm>
            <a:off x="871538" y="4354513"/>
            <a:ext cx="144462" cy="107950"/>
            <a:chOff x="1383" y="3566"/>
            <a:chExt cx="91" cy="91"/>
          </a:xfrm>
        </p:grpSpPr>
        <p:sp>
          <p:nvSpPr>
            <p:cNvPr id="72778" name="Oval 129"/>
            <p:cNvSpPr/>
            <p:nvPr/>
          </p:nvSpPr>
          <p:spPr>
            <a:xfrm>
              <a:off x="1383" y="3566"/>
              <a:ext cx="91" cy="91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2779" name="Line 130"/>
            <p:cNvSpPr/>
            <p:nvPr/>
          </p:nvSpPr>
          <p:spPr>
            <a:xfrm>
              <a:off x="1383" y="3612"/>
              <a:ext cx="9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 spd="med">
    <p:wipe dir="r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Line 87"/>
          <p:cNvSpPr/>
          <p:nvPr/>
        </p:nvSpPr>
        <p:spPr>
          <a:xfrm flipV="1">
            <a:off x="990600" y="1320800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73731" name="Text Box 88"/>
          <p:cNvSpPr txBox="1"/>
          <p:nvPr/>
        </p:nvSpPr>
        <p:spPr>
          <a:xfrm>
            <a:off x="179388" y="176213"/>
            <a:ext cx="2663825" cy="768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4400" dirty="0">
                <a:solidFill>
                  <a:srgbClr val="9900CC"/>
                </a:solidFill>
                <a:latin typeface="华文新魏" panose="02010800040101010101" pitchFamily="2" charset="-122"/>
              </a:rPr>
              <a:t>3.</a:t>
            </a:r>
            <a:r>
              <a:rPr lang="zh-CN" altLang="en-US" sz="4400" dirty="0">
                <a:solidFill>
                  <a:srgbClr val="9900CC"/>
                </a:solidFill>
                <a:latin typeface="华文新魏" panose="02010800040101010101" pitchFamily="2" charset="-122"/>
              </a:rPr>
              <a:t>键角 </a:t>
            </a:r>
          </a:p>
        </p:txBody>
      </p:sp>
      <p:grpSp>
        <p:nvGrpSpPr>
          <p:cNvPr id="73732" name="Group 94"/>
          <p:cNvGrpSpPr/>
          <p:nvPr/>
        </p:nvGrpSpPr>
        <p:grpSpPr>
          <a:xfrm>
            <a:off x="201613" y="758825"/>
            <a:ext cx="8770937" cy="522288"/>
            <a:chOff x="127" y="548"/>
            <a:chExt cx="5525" cy="440"/>
          </a:xfrm>
        </p:grpSpPr>
        <p:sp>
          <p:nvSpPr>
            <p:cNvPr id="73754" name="Text Box 95"/>
            <p:cNvSpPr txBox="1"/>
            <p:nvPr/>
          </p:nvSpPr>
          <p:spPr>
            <a:xfrm>
              <a:off x="232" y="548"/>
              <a:ext cx="5420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键角</a:t>
              </a:r>
              <a:r>
                <a:rPr lang="en-US" altLang="zh-CN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:</a:t>
              </a:r>
              <a:r>
                <a:rPr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在分子中两个相邻化学键之间的夹角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3755" name="Oval 96"/>
            <p:cNvSpPr/>
            <p:nvPr/>
          </p:nvSpPr>
          <p:spPr>
            <a:xfrm>
              <a:off x="127" y="721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733" name="Group 97"/>
          <p:cNvGrpSpPr/>
          <p:nvPr/>
        </p:nvGrpSpPr>
        <p:grpSpPr>
          <a:xfrm>
            <a:off x="5219700" y="1382713"/>
            <a:ext cx="3279775" cy="1193800"/>
            <a:chOff x="3288" y="935"/>
            <a:chExt cx="2066" cy="1001"/>
          </a:xfrm>
        </p:grpSpPr>
        <p:graphicFrame>
          <p:nvGraphicFramePr>
            <p:cNvPr id="73751" name="Object 98"/>
            <p:cNvGraphicFramePr>
              <a:graphicFrameLocks noChangeAspect="1"/>
            </p:cNvGraphicFramePr>
            <p:nvPr/>
          </p:nvGraphicFramePr>
          <p:xfrm>
            <a:off x="3288" y="935"/>
            <a:ext cx="2066" cy="9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3495675" imgH="1619250" progId="Paint.Picture">
                    <p:embed/>
                  </p:oleObj>
                </mc:Choice>
                <mc:Fallback>
                  <p:oleObj r:id="rId2" imgW="3495675" imgH="1619250" progId="Paint.Picture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288" y="935"/>
                          <a:ext cx="2066" cy="95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752" name="Text Box 99"/>
            <p:cNvSpPr txBox="1"/>
            <p:nvPr/>
          </p:nvSpPr>
          <p:spPr>
            <a:xfrm>
              <a:off x="3787" y="1549"/>
              <a:ext cx="1089" cy="3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直线形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3753" name="Oval 100"/>
            <p:cNvSpPr/>
            <p:nvPr/>
          </p:nvSpPr>
          <p:spPr>
            <a:xfrm>
              <a:off x="4424" y="1422"/>
              <a:ext cx="68" cy="6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73734" name="Object 102"/>
          <p:cNvGraphicFramePr>
            <a:graphicFrameLocks noChangeAspect="1"/>
          </p:cNvGraphicFramePr>
          <p:nvPr/>
        </p:nvGraphicFramePr>
        <p:xfrm>
          <a:off x="5003800" y="2679700"/>
          <a:ext cx="3606800" cy="233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895725" imgH="3362325" progId="Paint.Picture">
                  <p:embed/>
                </p:oleObj>
              </mc:Choice>
              <mc:Fallback>
                <p:oleObj r:id="rId4" imgW="3895725" imgH="3362325" progId="Paint.Picture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03800" y="2679700"/>
                        <a:ext cx="3606800" cy="2335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5" name="Text Box 103"/>
          <p:cNvSpPr txBox="1"/>
          <p:nvPr/>
        </p:nvSpPr>
        <p:spPr>
          <a:xfrm>
            <a:off x="5656263" y="4576763"/>
            <a:ext cx="26638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正四面体形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73736" name="Group 104"/>
          <p:cNvGrpSpPr/>
          <p:nvPr/>
        </p:nvGrpSpPr>
        <p:grpSpPr>
          <a:xfrm>
            <a:off x="7780338" y="2955925"/>
            <a:ext cx="827087" cy="522288"/>
            <a:chOff x="4899" y="2399"/>
            <a:chExt cx="521" cy="439"/>
          </a:xfrm>
        </p:grpSpPr>
        <p:sp>
          <p:nvSpPr>
            <p:cNvPr id="73749" name="Oval 105"/>
            <p:cNvSpPr/>
            <p:nvPr/>
          </p:nvSpPr>
          <p:spPr>
            <a:xfrm>
              <a:off x="4899" y="2477"/>
              <a:ext cx="68" cy="68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73750" name="Text Box 106"/>
            <p:cNvSpPr txBox="1"/>
            <p:nvPr/>
          </p:nvSpPr>
          <p:spPr>
            <a:xfrm>
              <a:off x="5102" y="2399"/>
              <a:ext cx="318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′</a:t>
              </a:r>
              <a:endParaRPr lang="en-US" altLang="zh-CN" sz="1800" dirty="0"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</p:grpSp>
      <p:grpSp>
        <p:nvGrpSpPr>
          <p:cNvPr id="73737" name="Group 107"/>
          <p:cNvGrpSpPr/>
          <p:nvPr/>
        </p:nvGrpSpPr>
        <p:grpSpPr>
          <a:xfrm>
            <a:off x="684213" y="2625725"/>
            <a:ext cx="3338512" cy="2498725"/>
            <a:chOff x="519" y="2121"/>
            <a:chExt cx="2103" cy="2099"/>
          </a:xfrm>
        </p:grpSpPr>
        <p:graphicFrame>
          <p:nvGraphicFramePr>
            <p:cNvPr id="73744" name="Object 108"/>
            <p:cNvGraphicFramePr>
              <a:graphicFrameLocks noChangeAspect="1"/>
            </p:cNvGraphicFramePr>
            <p:nvPr/>
          </p:nvGraphicFramePr>
          <p:xfrm>
            <a:off x="519" y="2121"/>
            <a:ext cx="2103" cy="19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3771900" imgH="3571875" progId="Paint.Picture">
                    <p:embed/>
                  </p:oleObj>
                </mc:Choice>
                <mc:Fallback>
                  <p:oleObj r:id="rId6" imgW="3771900" imgH="3571875" progId="Paint.Picture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519" y="2121"/>
                          <a:ext cx="2103" cy="19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745" name="Text Box 109"/>
            <p:cNvSpPr txBox="1"/>
            <p:nvPr/>
          </p:nvSpPr>
          <p:spPr>
            <a:xfrm>
              <a:off x="834" y="3832"/>
              <a:ext cx="1678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三角锥形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73746" name="Group 110"/>
            <p:cNvGrpSpPr/>
            <p:nvPr/>
          </p:nvGrpSpPr>
          <p:grpSpPr>
            <a:xfrm>
              <a:off x="1746" y="2623"/>
              <a:ext cx="375" cy="336"/>
              <a:chOff x="1746" y="2623"/>
              <a:chExt cx="375" cy="336"/>
            </a:xfrm>
          </p:grpSpPr>
          <p:sp>
            <p:nvSpPr>
              <p:cNvPr id="73747" name="Oval 111"/>
              <p:cNvSpPr/>
              <p:nvPr/>
            </p:nvSpPr>
            <p:spPr>
              <a:xfrm>
                <a:off x="1746" y="2692"/>
                <a:ext cx="45" cy="54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748" name="Text Box 112"/>
              <p:cNvSpPr txBox="1"/>
              <p:nvPr/>
            </p:nvSpPr>
            <p:spPr>
              <a:xfrm>
                <a:off x="1849" y="2623"/>
                <a:ext cx="272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′</a:t>
                </a:r>
                <a:endParaRPr lang="en-US" altLang="zh-CN" sz="1800" dirty="0"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</p:grpSp>
      </p:grpSp>
      <p:grpSp>
        <p:nvGrpSpPr>
          <p:cNvPr id="73738" name="Group 113"/>
          <p:cNvGrpSpPr/>
          <p:nvPr/>
        </p:nvGrpSpPr>
        <p:grpSpPr>
          <a:xfrm>
            <a:off x="684213" y="1219200"/>
            <a:ext cx="3311525" cy="1392238"/>
            <a:chOff x="431" y="923"/>
            <a:chExt cx="2086" cy="1169"/>
          </a:xfrm>
        </p:grpSpPr>
        <p:graphicFrame>
          <p:nvGraphicFramePr>
            <p:cNvPr id="73739" name="Object 114"/>
            <p:cNvGraphicFramePr>
              <a:graphicFrameLocks noChangeAspect="1"/>
            </p:cNvGraphicFramePr>
            <p:nvPr/>
          </p:nvGraphicFramePr>
          <p:xfrm>
            <a:off x="431" y="923"/>
            <a:ext cx="2086" cy="11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3867150" imgH="2143125" progId="Paint.Picture">
                    <p:embed/>
                  </p:oleObj>
                </mc:Choice>
                <mc:Fallback>
                  <p:oleObj r:id="rId8" imgW="3867150" imgH="2143125" progId="Paint.Picture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31" y="923"/>
                          <a:ext cx="2086" cy="115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3740" name="Text Box 115"/>
            <p:cNvSpPr txBox="1"/>
            <p:nvPr/>
          </p:nvSpPr>
          <p:spPr>
            <a:xfrm>
              <a:off x="1162" y="1704"/>
              <a:ext cx="907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V </a:t>
              </a: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形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73741" name="Group 116"/>
            <p:cNvGrpSpPr/>
            <p:nvPr/>
          </p:nvGrpSpPr>
          <p:grpSpPr>
            <a:xfrm>
              <a:off x="1486" y="959"/>
              <a:ext cx="497" cy="439"/>
              <a:chOff x="1474" y="981"/>
              <a:chExt cx="497" cy="439"/>
            </a:xfrm>
          </p:grpSpPr>
          <p:sp>
            <p:nvSpPr>
              <p:cNvPr id="73742" name="Oval 117"/>
              <p:cNvSpPr/>
              <p:nvPr/>
            </p:nvSpPr>
            <p:spPr>
              <a:xfrm>
                <a:off x="1474" y="1059"/>
                <a:ext cx="68" cy="6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3743" name="Text Box 118"/>
              <p:cNvSpPr txBox="1"/>
              <p:nvPr/>
            </p:nvSpPr>
            <p:spPr>
              <a:xfrm>
                <a:off x="1653" y="981"/>
                <a:ext cx="318" cy="4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</p:grpSp>
    </p:spTree>
  </p:cSld>
  <p:clrMapOvr>
    <a:masterClrMapping/>
  </p:clrMapOvr>
  <p:transition spd="med">
    <p:wipe dir="r"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55"/>
          <p:cNvSpPr/>
          <p:nvPr/>
        </p:nvSpPr>
        <p:spPr>
          <a:xfrm>
            <a:off x="323850" y="119063"/>
            <a:ext cx="3287713" cy="76993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4400" dirty="0">
                <a:solidFill>
                  <a:srgbClr val="9900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4400" dirty="0">
                <a:solidFill>
                  <a:srgbClr val="9900CC"/>
                </a:solidFill>
                <a:latin typeface="Times New Roman" panose="02020603050405020304" pitchFamily="18" charset="0"/>
              </a:rPr>
              <a:t>4. </a:t>
            </a:r>
            <a:r>
              <a:rPr lang="zh-CN" altLang="en-US" sz="4400" dirty="0">
                <a:solidFill>
                  <a:srgbClr val="9900CC"/>
                </a:solidFill>
                <a:latin typeface="Times New Roman" panose="02020603050405020304" pitchFamily="18" charset="0"/>
              </a:rPr>
              <a:t>键的极性 </a:t>
            </a:r>
          </a:p>
        </p:txBody>
      </p:sp>
      <p:sp>
        <p:nvSpPr>
          <p:cNvPr id="74755" name="Rectangle 56"/>
          <p:cNvSpPr/>
          <p:nvPr/>
        </p:nvSpPr>
        <p:spPr>
          <a:xfrm>
            <a:off x="539750" y="774700"/>
            <a:ext cx="7918450" cy="23082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3600" b="1" dirty="0">
                <a:latin typeface="幼圆" panose="02010509060101010101" pitchFamily="49" charset="-122"/>
                <a:ea typeface="幼圆" panose="02010509060101010101" pitchFamily="49" charset="-122"/>
              </a:rPr>
              <a:t>    共价键有极性和非极性之分，可从成键原子的电负性值大致判断共价键的极性。成键原子间的电负性相差越大，键的极性就越强。 </a:t>
            </a:r>
          </a:p>
        </p:txBody>
      </p:sp>
      <p:sp>
        <p:nvSpPr>
          <p:cNvPr id="74756" name="Rectangle 57"/>
          <p:cNvSpPr/>
          <p:nvPr/>
        </p:nvSpPr>
        <p:spPr>
          <a:xfrm>
            <a:off x="755650" y="2878138"/>
            <a:ext cx="7704138" cy="17541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3600" b="1" dirty="0">
                <a:latin typeface="幼圆" panose="02010509060101010101" pitchFamily="49" charset="-122"/>
                <a:ea typeface="幼圆" panose="02010509060101010101" pitchFamily="49" charset="-122"/>
              </a:rPr>
              <a:t>   离子键是极性最强的共价键，极性共价键是由离子键到非极性共价键之间的一种过渡类型。</a:t>
            </a:r>
          </a:p>
        </p:txBody>
      </p:sp>
    </p:spTree>
  </p:cSld>
  <p:clrMapOvr>
    <a:masterClrMapping/>
  </p:clrMapOvr>
  <p:transition spd="med">
    <p:wipe dir="r"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57"/>
          <p:cNvSpPr/>
          <p:nvPr/>
        </p:nvSpPr>
        <p:spPr>
          <a:xfrm>
            <a:off x="179388" y="98425"/>
            <a:ext cx="2078037" cy="763588"/>
          </a:xfrm>
          <a:prstGeom prst="rect">
            <a:avLst/>
          </a:prstGeom>
          <a:solidFill>
            <a:srgbClr val="00B050"/>
          </a:solidFill>
          <a:ln w="9525">
            <a:noFill/>
          </a:ln>
        </p:spPr>
        <p:txBody>
          <a:bodyPr wrap="none" tIns="165048" bIns="165048" anchor="ctr" anchorCtr="0">
            <a:spAutoFit/>
          </a:bodyPr>
          <a:lstStyle/>
          <a:p>
            <a:r>
              <a:rPr lang="en-US" altLang="zh-CN" dirty="0">
                <a:latin typeface="华文新魏" panose="02010800040101010101" pitchFamily="2" charset="-122"/>
              </a:rPr>
              <a:t>5.2.2</a:t>
            </a:r>
            <a:r>
              <a:rPr lang="zh-CN" altLang="en-US" dirty="0">
                <a:latin typeface="华文新魏" panose="02010800040101010101" pitchFamily="2" charset="-122"/>
              </a:rPr>
              <a:t>离子键</a:t>
            </a:r>
          </a:p>
        </p:txBody>
      </p:sp>
      <p:sp>
        <p:nvSpPr>
          <p:cNvPr id="75779" name="Rectangle 58"/>
          <p:cNvSpPr/>
          <p:nvPr/>
        </p:nvSpPr>
        <p:spPr>
          <a:xfrm>
            <a:off x="179388" y="838200"/>
            <a:ext cx="3495675" cy="646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3600" dirty="0">
                <a:solidFill>
                  <a:srgbClr val="9900CC"/>
                </a:solidFill>
                <a:latin typeface="华文新魏" panose="02010800040101010101" pitchFamily="2" charset="-122"/>
              </a:rPr>
              <a:t> </a:t>
            </a:r>
            <a:r>
              <a:rPr lang="en-US" altLang="zh-CN" sz="3600" dirty="0">
                <a:solidFill>
                  <a:srgbClr val="9900CC"/>
                </a:solidFill>
                <a:latin typeface="华文新魏" panose="02010800040101010101" pitchFamily="2" charset="-122"/>
              </a:rPr>
              <a:t>1. </a:t>
            </a:r>
            <a:r>
              <a:rPr lang="zh-CN" altLang="en-US" sz="3600" dirty="0">
                <a:solidFill>
                  <a:srgbClr val="9900CC"/>
                </a:solidFill>
                <a:latin typeface="华文新魏" panose="02010800040101010101" pitchFamily="2" charset="-122"/>
              </a:rPr>
              <a:t>离子键的形成</a:t>
            </a:r>
          </a:p>
        </p:txBody>
      </p:sp>
      <p:sp>
        <p:nvSpPr>
          <p:cNvPr id="75780" name="Line 59"/>
          <p:cNvSpPr/>
          <p:nvPr/>
        </p:nvSpPr>
        <p:spPr>
          <a:xfrm flipV="1">
            <a:off x="1019175" y="1200150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75781" name="Text Box 69"/>
          <p:cNvSpPr txBox="1"/>
          <p:nvPr/>
        </p:nvSpPr>
        <p:spPr>
          <a:xfrm>
            <a:off x="539750" y="1436688"/>
            <a:ext cx="597693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阳、阴离子之间的静电引力。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5782" name="Rectangle 78"/>
          <p:cNvSpPr/>
          <p:nvPr/>
        </p:nvSpPr>
        <p:spPr>
          <a:xfrm>
            <a:off x="0" y="2163763"/>
            <a:ext cx="184150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79"/>
          <p:cNvGrpSpPr/>
          <p:nvPr/>
        </p:nvGrpSpPr>
        <p:grpSpPr>
          <a:xfrm>
            <a:off x="34925" y="1862138"/>
            <a:ext cx="8408988" cy="3098800"/>
            <a:chOff x="113" y="1519"/>
            <a:chExt cx="5297" cy="2602"/>
          </a:xfrm>
        </p:grpSpPr>
        <p:grpSp>
          <p:nvGrpSpPr>
            <p:cNvPr id="75784" name="Group 70"/>
            <p:cNvGrpSpPr/>
            <p:nvPr/>
          </p:nvGrpSpPr>
          <p:grpSpPr>
            <a:xfrm>
              <a:off x="158" y="1933"/>
              <a:ext cx="5252" cy="1318"/>
              <a:chOff x="295" y="2160"/>
              <a:chExt cx="5252" cy="1318"/>
            </a:xfrm>
          </p:grpSpPr>
          <p:sp>
            <p:nvSpPr>
              <p:cNvPr id="75790" name="Oval 71"/>
              <p:cNvSpPr/>
              <p:nvPr/>
            </p:nvSpPr>
            <p:spPr>
              <a:xfrm>
                <a:off x="295" y="2365"/>
                <a:ext cx="136" cy="136"/>
              </a:xfrm>
              <a:prstGeom prst="ellipse">
                <a:avLst/>
              </a:prstGeom>
              <a:solidFill>
                <a:srgbClr val="3333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5791" name="Text Box 72"/>
              <p:cNvSpPr txBox="1"/>
              <p:nvPr/>
            </p:nvSpPr>
            <p:spPr>
              <a:xfrm>
                <a:off x="512" y="2160"/>
                <a:ext cx="5035" cy="13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zh-CN" altLang="en-US" sz="2400" b="1" dirty="0">
                    <a:latin typeface="幼圆" panose="02010509060101010101" pitchFamily="49" charset="-122"/>
                    <a:ea typeface="幼圆" panose="02010509060101010101" pitchFamily="49" charset="-122"/>
                  </a:rPr>
                  <a:t>离子键的本质是静电作用，又称库仑引力。离子之间的库仑引力为</a:t>
                </a:r>
              </a:p>
              <a:p>
                <a:pPr eaLnBrk="1" hangingPunct="1"/>
                <a:endParaRPr lang="zh-CN" altLang="en-US" sz="2400" b="1" dirty="0">
                  <a:latin typeface="幼圆" panose="02010509060101010101" pitchFamily="49" charset="-122"/>
                  <a:ea typeface="幼圆" panose="02010509060101010101" pitchFamily="49" charset="-122"/>
                </a:endParaRPr>
              </a:p>
              <a:p>
                <a:pPr eaLnBrk="1" hangingPunct="1"/>
                <a:r>
                  <a:rPr lang="zh-CN" altLang="en-US" sz="2400" b="1" dirty="0">
                    <a:latin typeface="幼圆" panose="02010509060101010101" pitchFamily="49" charset="-122"/>
                    <a:ea typeface="幼圆" panose="02010509060101010101" pitchFamily="49" charset="-122"/>
                  </a:rPr>
                  <a:t>   </a:t>
                </a:r>
                <a:r>
                  <a:rPr lang="en-US" altLang="zh-CN" sz="2400" b="1" i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q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-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、</a:t>
                </a:r>
                <a:r>
                  <a:rPr lang="en-US" altLang="zh-CN" sz="2400" b="1" i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q</a:t>
                </a:r>
                <a:r>
                  <a:rPr lang="en-US" altLang="zh-CN" sz="2400" b="1" baseline="-25000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r>
                  <a:rPr lang="zh-CN" altLang="en-US" sz="2400" b="1" dirty="0">
                    <a:latin typeface="幼圆" panose="02010509060101010101" pitchFamily="49" charset="-122"/>
                    <a:ea typeface="幼圆" panose="02010509060101010101" pitchFamily="49" charset="-122"/>
                  </a:rPr>
                  <a:t>分别为阴、阳离子所带电荷，</a:t>
                </a:r>
                <a:r>
                  <a:rPr lang="en-US" altLang="zh-CN" sz="2400" b="1" i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r</a:t>
                </a:r>
                <a:r>
                  <a:rPr lang="zh-CN" altLang="en-US" sz="2400" b="1" dirty="0">
                    <a:latin typeface="幼圆" panose="02010509060101010101" pitchFamily="49" charset="-122"/>
                    <a:ea typeface="幼圆" panose="02010509060101010101" pitchFamily="49" charset="-122"/>
                  </a:rPr>
                  <a:t>为两者间的距离。 </a:t>
                </a:r>
              </a:p>
            </p:txBody>
          </p:sp>
        </p:grpSp>
        <p:grpSp>
          <p:nvGrpSpPr>
            <p:cNvPr id="75785" name="Group 73"/>
            <p:cNvGrpSpPr/>
            <p:nvPr/>
          </p:nvGrpSpPr>
          <p:grpSpPr>
            <a:xfrm>
              <a:off x="204" y="3505"/>
              <a:ext cx="5093" cy="616"/>
              <a:chOff x="304" y="2815"/>
              <a:chExt cx="5093" cy="616"/>
            </a:xfrm>
          </p:grpSpPr>
          <p:sp>
            <p:nvSpPr>
              <p:cNvPr id="75788" name="Oval 74"/>
              <p:cNvSpPr/>
              <p:nvPr/>
            </p:nvSpPr>
            <p:spPr>
              <a:xfrm>
                <a:off x="304" y="3295"/>
                <a:ext cx="136" cy="136"/>
              </a:xfrm>
              <a:prstGeom prst="ellipse">
                <a:avLst/>
              </a:prstGeom>
              <a:solidFill>
                <a:srgbClr val="3333FF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5789" name="Text Box 75"/>
              <p:cNvSpPr txBox="1"/>
              <p:nvPr/>
            </p:nvSpPr>
            <p:spPr>
              <a:xfrm>
                <a:off x="589" y="2815"/>
                <a:ext cx="4808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特征：无方向性和饱和性</a:t>
                </a:r>
                <a:endParaRPr lang="zh-CN" altLang="en-US" sz="2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5786" name="Rectangle 76"/>
            <p:cNvSpPr/>
            <p:nvPr/>
          </p:nvSpPr>
          <p:spPr>
            <a:xfrm>
              <a:off x="113" y="1519"/>
              <a:ext cx="2322" cy="54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3600" dirty="0">
                  <a:latin typeface="华文新魏" panose="02010800040101010101" pitchFamily="2" charset="-122"/>
                </a:rPr>
                <a:t>  </a:t>
              </a:r>
              <a:r>
                <a:rPr lang="en-US" altLang="zh-CN" sz="3600" dirty="0">
                  <a:solidFill>
                    <a:srgbClr val="9900CC"/>
                  </a:solidFill>
                  <a:latin typeface="华文新魏" panose="02010800040101010101" pitchFamily="2" charset="-122"/>
                </a:rPr>
                <a:t>2. </a:t>
              </a:r>
              <a:r>
                <a:rPr lang="zh-CN" altLang="en-US" sz="3600" dirty="0">
                  <a:solidFill>
                    <a:srgbClr val="9900CC"/>
                  </a:solidFill>
                  <a:latin typeface="华文新魏" panose="02010800040101010101" pitchFamily="2" charset="-122"/>
                </a:rPr>
                <a:t>离子键的特征</a:t>
              </a:r>
            </a:p>
          </p:txBody>
        </p:sp>
        <p:graphicFrame>
          <p:nvGraphicFramePr>
            <p:cNvPr id="75787" name="Object 77"/>
            <p:cNvGraphicFramePr>
              <a:graphicFrameLocks noChangeAspect="1"/>
            </p:cNvGraphicFramePr>
            <p:nvPr/>
          </p:nvGraphicFramePr>
          <p:xfrm>
            <a:off x="3152" y="2341"/>
            <a:ext cx="1633" cy="7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805815" imgH="396240" progId="Equation.3">
                    <p:embed/>
                  </p:oleObj>
                </mc:Choice>
                <mc:Fallback>
                  <p:oleObj r:id="rId2" imgW="805815" imgH="396240" progId="Equation.3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152" y="2341"/>
                          <a:ext cx="1633" cy="7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82"/>
          <p:cNvSpPr/>
          <p:nvPr/>
        </p:nvSpPr>
        <p:spPr>
          <a:xfrm>
            <a:off x="357188" y="377825"/>
            <a:ext cx="2159000" cy="522288"/>
          </a:xfrm>
          <a:prstGeom prst="rect">
            <a:avLst/>
          </a:prstGeom>
          <a:solidFill>
            <a:srgbClr val="00B050"/>
          </a:solidFill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5.2.3 </a:t>
            </a:r>
            <a:r>
              <a:rPr lang="zh-CN" altLang="en-US" dirty="0">
                <a:latin typeface="Times New Roman" panose="02020603050405020304" pitchFamily="18" charset="0"/>
              </a:rPr>
              <a:t>共价键 </a:t>
            </a:r>
          </a:p>
        </p:txBody>
      </p:sp>
      <p:sp>
        <p:nvSpPr>
          <p:cNvPr id="76803" name="Line 84"/>
          <p:cNvSpPr/>
          <p:nvPr/>
        </p:nvSpPr>
        <p:spPr>
          <a:xfrm flipV="1">
            <a:off x="990600" y="1200150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76804" name="Text Box 86"/>
          <p:cNvSpPr txBox="1"/>
          <p:nvPr/>
        </p:nvSpPr>
        <p:spPr>
          <a:xfrm>
            <a:off x="539750" y="1160463"/>
            <a:ext cx="842486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 现代价键理论是建立在量子力学基础上的，主要有：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700" name="Text Box 92"/>
          <p:cNvSpPr txBox="1"/>
          <p:nvPr/>
        </p:nvSpPr>
        <p:spPr>
          <a:xfrm>
            <a:off x="327025" y="1924050"/>
            <a:ext cx="8424863" cy="101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价键理论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：认为成键电子只能在以化学键相连的两原子间的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   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           区域内运动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8701" name="Text Box 93"/>
          <p:cNvSpPr txBox="1"/>
          <p:nvPr/>
        </p:nvSpPr>
        <p:spPr>
          <a:xfrm>
            <a:off x="179388" y="3076575"/>
            <a:ext cx="8424862" cy="904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分子轨道理论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：认为成键电子可以在 </a:t>
            </a:r>
            <a:endParaRPr lang="zh-CN" altLang="en-US" sz="24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                          整个分子区域内运动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8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700" grpId="0"/>
      <p:bldP spid="6870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1"/>
          <p:cNvSpPr/>
          <p:nvPr/>
        </p:nvSpPr>
        <p:spPr>
          <a:xfrm>
            <a:off x="323850" y="92075"/>
            <a:ext cx="2835275" cy="7080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4000" dirty="0">
                <a:solidFill>
                  <a:srgbClr val="9900CC"/>
                </a:solidFill>
                <a:latin typeface="华文新魏" panose="02010800040101010101" pitchFamily="2" charset="-122"/>
              </a:rPr>
              <a:t>1. </a:t>
            </a:r>
            <a:r>
              <a:rPr lang="zh-CN" altLang="en-US" sz="4000" dirty="0">
                <a:solidFill>
                  <a:srgbClr val="9900CC"/>
                </a:solidFill>
                <a:latin typeface="华文新魏" panose="02010800040101010101" pitchFamily="2" charset="-122"/>
              </a:rPr>
              <a:t>价键理论 </a:t>
            </a:r>
          </a:p>
        </p:txBody>
      </p:sp>
      <p:sp>
        <p:nvSpPr>
          <p:cNvPr id="77827" name="Rectangle 42"/>
          <p:cNvSpPr/>
          <p:nvPr/>
        </p:nvSpPr>
        <p:spPr>
          <a:xfrm>
            <a:off x="107950" y="792163"/>
            <a:ext cx="4783138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</a:rPr>
              <a:t>）共价键的形成 </a:t>
            </a:r>
            <a:r>
              <a:rPr lang="en-US" altLang="zh-CN" dirty="0">
                <a:latin typeface="Times New Roman" panose="02020603050405020304" pitchFamily="18" charset="0"/>
              </a:rPr>
              <a:t>—</a:t>
            </a:r>
            <a:r>
              <a:rPr lang="zh-CN" altLang="en-US" dirty="0">
                <a:latin typeface="Times New Roman" panose="02020603050405020304" pitchFamily="18" charset="0"/>
              </a:rPr>
              <a:t>以</a:t>
            </a:r>
            <a:r>
              <a:rPr lang="en-US" altLang="zh-CN" dirty="0">
                <a:latin typeface="Times New Roman" panose="02020603050405020304" pitchFamily="18" charset="0"/>
              </a:rPr>
              <a:t>H</a:t>
            </a:r>
            <a:r>
              <a:rPr lang="en-US" altLang="zh-CN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为例</a:t>
            </a:r>
          </a:p>
        </p:txBody>
      </p:sp>
      <p:sp>
        <p:nvSpPr>
          <p:cNvPr id="77828" name="Text Box 43"/>
          <p:cNvSpPr txBox="1"/>
          <p:nvPr/>
        </p:nvSpPr>
        <p:spPr>
          <a:xfrm>
            <a:off x="149225" y="1325563"/>
            <a:ext cx="6372225" cy="831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实验测知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:  H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2  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核间距＝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74pm </a:t>
            </a:r>
            <a:endParaRPr lang="en-US" altLang="zh-CN" sz="12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            H 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玻尔半径＝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53pm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629" name="Text Box 45"/>
          <p:cNvSpPr txBox="1"/>
          <p:nvPr/>
        </p:nvSpPr>
        <p:spPr>
          <a:xfrm>
            <a:off x="149225" y="2397125"/>
            <a:ext cx="9144000" cy="2154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说明</a:t>
            </a:r>
            <a:r>
              <a:rPr lang="en-US" altLang="zh-CN" sz="2400" b="1" dirty="0">
                <a:solidFill>
                  <a:srgbClr val="6B50F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H</a:t>
            </a:r>
            <a:r>
              <a:rPr lang="en-US" altLang="zh-CN" sz="2400" b="1" baseline="-25000" dirty="0">
                <a:solidFill>
                  <a:srgbClr val="6B50F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zh-CN" altLang="en-US" sz="2400" b="1" dirty="0">
                <a:solidFill>
                  <a:srgbClr val="6B50F0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分子形成时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： </a:t>
            </a:r>
            <a:endParaRPr lang="zh-CN" altLang="en-US" sz="12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成键电子的轨道发生了重叠，使核间形成了 </a:t>
            </a:r>
            <a:endParaRPr lang="zh-CN" altLang="en-US" sz="12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电子概率密度较大的区域，削弱了两核间的 </a:t>
            </a:r>
            <a:endParaRPr lang="zh-CN" altLang="en-US" sz="12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正电排斥，增强了核间电子云对核的吸引， </a:t>
            </a:r>
            <a:endParaRPr lang="zh-CN" altLang="en-US" sz="12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使体系能量降低，形成共价键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7630" name="Text Box 46"/>
          <p:cNvSpPr txBox="1"/>
          <p:nvPr/>
        </p:nvSpPr>
        <p:spPr>
          <a:xfrm>
            <a:off x="292100" y="3214688"/>
            <a:ext cx="8672513" cy="1241425"/>
          </a:xfrm>
          <a:prstGeom prst="rect">
            <a:avLst/>
          </a:prstGeom>
          <a:gradFill rotWithShape="1">
            <a:gsLst>
              <a:gs pos="0">
                <a:srgbClr val="004747"/>
              </a:gs>
              <a:gs pos="50000">
                <a:srgbClr val="009999"/>
              </a:gs>
              <a:gs pos="100000">
                <a:srgbClr val="004747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共价键：原子间由于成键电子的原子轨道 </a:t>
            </a:r>
            <a:endParaRPr lang="zh-CN" altLang="en-US" sz="12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　　　　重叠而形成的化学键。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77831" name="Group 52"/>
          <p:cNvGrpSpPr/>
          <p:nvPr/>
        </p:nvGrpSpPr>
        <p:grpSpPr>
          <a:xfrm>
            <a:off x="6243638" y="1201738"/>
            <a:ext cx="2762250" cy="1646237"/>
            <a:chOff x="3933" y="1009"/>
            <a:chExt cx="1740" cy="1382"/>
          </a:xfrm>
        </p:grpSpPr>
        <p:graphicFrame>
          <p:nvGraphicFramePr>
            <p:cNvPr id="77832" name="Object 44"/>
            <p:cNvGraphicFramePr>
              <a:graphicFrameLocks noChangeAspect="1"/>
            </p:cNvGraphicFramePr>
            <p:nvPr/>
          </p:nvGraphicFramePr>
          <p:xfrm>
            <a:off x="3933" y="1009"/>
            <a:ext cx="1740" cy="1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762250" imgH="1971675" progId="Paint.Picture">
                    <p:embed/>
                  </p:oleObj>
                </mc:Choice>
                <mc:Fallback>
                  <p:oleObj r:id="rId2" imgW="2762250" imgH="1971675" progId="Paint.Picture">
                    <p:embed/>
                    <p:pic>
                      <p:nvPicPr>
                        <p:cNvPr id="0" name="图片 3120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933" y="1009"/>
                          <a:ext cx="1740" cy="124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7833" name="Group 47"/>
            <p:cNvGrpSpPr/>
            <p:nvPr/>
          </p:nvGrpSpPr>
          <p:grpSpPr>
            <a:xfrm>
              <a:off x="4391" y="1840"/>
              <a:ext cx="907" cy="551"/>
              <a:chOff x="4365" y="1840"/>
              <a:chExt cx="907" cy="551"/>
            </a:xfrm>
          </p:grpSpPr>
          <p:sp>
            <p:nvSpPr>
              <p:cNvPr id="67594" name="Text Box 48"/>
              <p:cNvSpPr txBox="1">
                <a:spLocks noChangeArrowheads="1"/>
              </p:cNvSpPr>
              <p:nvPr/>
            </p:nvSpPr>
            <p:spPr bwMode="auto">
              <a:xfrm>
                <a:off x="4365" y="2081"/>
                <a:ext cx="907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    74pm</a:t>
                </a:r>
                <a:endParaRPr kumimoji="0" lang="en-US" altLang="zh-CN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7835" name="Line 49"/>
              <p:cNvSpPr/>
              <p:nvPr/>
            </p:nvSpPr>
            <p:spPr>
              <a:xfrm flipH="1">
                <a:off x="4422" y="2069"/>
                <a:ext cx="227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7836" name="Line 50"/>
              <p:cNvSpPr/>
              <p:nvPr/>
            </p:nvSpPr>
            <p:spPr>
              <a:xfrm>
                <a:off x="4921" y="2069"/>
                <a:ext cx="19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67597" name="Text Box 51"/>
              <p:cNvSpPr txBox="1">
                <a:spLocks noChangeArrowheads="1"/>
              </p:cNvSpPr>
              <p:nvPr/>
            </p:nvSpPr>
            <p:spPr bwMode="auto">
              <a:xfrm>
                <a:off x="4628" y="1840"/>
                <a:ext cx="408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1pPr>
                <a:lvl2pPr marL="742950" indent="-28575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2pPr>
                <a:lvl3pPr marL="11430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3pPr>
                <a:lvl4pPr marL="16002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4pPr>
                <a:lvl5pPr marL="2057400" indent="-228600"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新魏" panose="0201080004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800" b="1" i="1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d</a:t>
                </a:r>
                <a:endParaRPr kumimoji="0" lang="en-US" altLang="zh-CN" sz="105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7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2" dur="500"/>
                                        <p:tgtEl>
                                          <p:spTgt spid="67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29" grpId="0"/>
      <p:bldP spid="67630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31"/>
          <p:cNvSpPr/>
          <p:nvPr/>
        </p:nvSpPr>
        <p:spPr>
          <a:xfrm>
            <a:off x="357188" y="284163"/>
            <a:ext cx="3817937" cy="70802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</a:rPr>
              <a:t>2)</a:t>
            </a:r>
            <a:r>
              <a:rPr lang="zh-CN" altLang="en-US" sz="4000" dirty="0">
                <a:latin typeface="Times New Roman" panose="02020603050405020304" pitchFamily="18" charset="0"/>
              </a:rPr>
              <a:t>价键理论要点 </a:t>
            </a:r>
          </a:p>
        </p:txBody>
      </p:sp>
      <p:grpSp>
        <p:nvGrpSpPr>
          <p:cNvPr id="78851" name="Group 32"/>
          <p:cNvGrpSpPr/>
          <p:nvPr/>
        </p:nvGrpSpPr>
        <p:grpSpPr>
          <a:xfrm>
            <a:off x="312738" y="1168400"/>
            <a:ext cx="8769350" cy="1169988"/>
            <a:chOff x="197" y="799"/>
            <a:chExt cx="5524" cy="982"/>
          </a:xfrm>
        </p:grpSpPr>
        <p:sp>
          <p:nvSpPr>
            <p:cNvPr id="78855" name="Text Box 33"/>
            <p:cNvSpPr txBox="1"/>
            <p:nvPr/>
          </p:nvSpPr>
          <p:spPr>
            <a:xfrm>
              <a:off x="399" y="799"/>
              <a:ext cx="5322" cy="9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两原子靠近时，自旋方向相反的未成 </a:t>
              </a:r>
              <a:endParaRPr lang="zh-CN" altLang="en-US" sz="12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对的价电子可以配对，形成共价键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-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电子配对原理。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8856" name="Oval 34"/>
            <p:cNvSpPr/>
            <p:nvPr/>
          </p:nvSpPr>
          <p:spPr>
            <a:xfrm>
              <a:off x="197" y="974"/>
              <a:ext cx="137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35"/>
          <p:cNvGrpSpPr/>
          <p:nvPr/>
        </p:nvGrpSpPr>
        <p:grpSpPr>
          <a:xfrm>
            <a:off x="354013" y="2979738"/>
            <a:ext cx="8728075" cy="1169987"/>
            <a:chOff x="223" y="2069"/>
            <a:chExt cx="5498" cy="983"/>
          </a:xfrm>
        </p:grpSpPr>
        <p:sp>
          <p:nvSpPr>
            <p:cNvPr id="78853" name="Text Box 36"/>
            <p:cNvSpPr txBox="1"/>
            <p:nvPr/>
          </p:nvSpPr>
          <p:spPr>
            <a:xfrm>
              <a:off x="404" y="2069"/>
              <a:ext cx="5317" cy="98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成键电子的原子轨道重叠越多，形成 </a:t>
              </a:r>
              <a:endParaRPr lang="zh-CN" altLang="en-US" sz="12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的共价键越牢固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——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最大重叠原理。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8854" name="Oval 37"/>
            <p:cNvSpPr/>
            <p:nvPr/>
          </p:nvSpPr>
          <p:spPr>
            <a:xfrm>
              <a:off x="223" y="2251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/>
          <p:nvPr/>
        </p:nvSpPr>
        <p:spPr>
          <a:xfrm>
            <a:off x="250825" y="166688"/>
            <a:ext cx="3090863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</a:rPr>
              <a:t>3)</a:t>
            </a:r>
            <a:r>
              <a:rPr lang="zh-CN" altLang="en-US" sz="3200" dirty="0">
                <a:latin typeface="Times New Roman" panose="02020603050405020304" pitchFamily="18" charset="0"/>
              </a:rPr>
              <a:t>共价键的特征 </a:t>
            </a:r>
          </a:p>
        </p:txBody>
      </p:sp>
      <p:sp>
        <p:nvSpPr>
          <p:cNvPr id="79875" name="Line 3"/>
          <p:cNvSpPr/>
          <p:nvPr/>
        </p:nvSpPr>
        <p:spPr>
          <a:xfrm flipV="1">
            <a:off x="990600" y="1290638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79876" name="Text Box 4"/>
          <p:cNvSpPr txBox="1"/>
          <p:nvPr/>
        </p:nvSpPr>
        <p:spPr>
          <a:xfrm>
            <a:off x="257175" y="696913"/>
            <a:ext cx="9067800" cy="831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饱和性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: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原子有几个未成对的价电子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一般 </a:t>
            </a:r>
            <a:endParaRPr lang="zh-CN" altLang="en-US" sz="24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只能和几个自旋方向相反的电子配对成键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9877" name="Oval 5"/>
          <p:cNvSpPr/>
          <p:nvPr/>
        </p:nvSpPr>
        <p:spPr>
          <a:xfrm>
            <a:off x="250825" y="950913"/>
            <a:ext cx="223838" cy="161925"/>
          </a:xfrm>
          <a:prstGeom prst="ellipse">
            <a:avLst/>
          </a:prstGeom>
          <a:solidFill>
            <a:srgbClr val="6B50F0"/>
          </a:solid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323850" y="1492250"/>
            <a:ext cx="7632700" cy="922338"/>
            <a:chOff x="204" y="1117"/>
            <a:chExt cx="4808" cy="938"/>
          </a:xfrm>
        </p:grpSpPr>
        <p:sp>
          <p:nvSpPr>
            <p:cNvPr id="79941" name="Text Box 7"/>
            <p:cNvSpPr txBox="1"/>
            <p:nvPr/>
          </p:nvSpPr>
          <p:spPr>
            <a:xfrm>
              <a:off x="204" y="1117"/>
              <a:ext cx="453" cy="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例</a:t>
              </a: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79942" name="Group 8"/>
            <p:cNvGrpSpPr/>
            <p:nvPr/>
          </p:nvGrpSpPr>
          <p:grpSpPr>
            <a:xfrm>
              <a:off x="1223" y="1162"/>
              <a:ext cx="1645" cy="893"/>
              <a:chOff x="1223" y="1433"/>
              <a:chExt cx="1645" cy="893"/>
            </a:xfrm>
          </p:grpSpPr>
          <p:grpSp>
            <p:nvGrpSpPr>
              <p:cNvPr id="79944" name="Group 9"/>
              <p:cNvGrpSpPr/>
              <p:nvPr/>
            </p:nvGrpSpPr>
            <p:grpSpPr>
              <a:xfrm>
                <a:off x="1779" y="1752"/>
                <a:ext cx="444" cy="181"/>
                <a:chOff x="1326" y="2478"/>
                <a:chExt cx="444" cy="181"/>
              </a:xfrm>
            </p:grpSpPr>
            <p:sp>
              <p:nvSpPr>
                <p:cNvPr id="79969" name="Line 10"/>
                <p:cNvSpPr/>
                <p:nvPr/>
              </p:nvSpPr>
              <p:spPr>
                <a:xfrm flipH="1">
                  <a:off x="1326" y="2478"/>
                  <a:ext cx="12" cy="181"/>
                </a:xfrm>
                <a:prstGeom prst="line">
                  <a:avLst/>
                </a:prstGeom>
                <a:ln w="9525" cap="flat" cmpd="sng">
                  <a:solidFill>
                    <a:srgbClr val="F72F63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79970" name="Line 11"/>
                <p:cNvSpPr/>
                <p:nvPr/>
              </p:nvSpPr>
              <p:spPr>
                <a:xfrm>
                  <a:off x="1541" y="2478"/>
                  <a:ext cx="0" cy="181"/>
                </a:xfrm>
                <a:prstGeom prst="line">
                  <a:avLst/>
                </a:prstGeom>
                <a:ln w="9525" cap="flat" cmpd="sng">
                  <a:solidFill>
                    <a:srgbClr val="F72F63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79971" name="Line 12"/>
                <p:cNvSpPr/>
                <p:nvPr/>
              </p:nvSpPr>
              <p:spPr>
                <a:xfrm>
                  <a:off x="1770" y="2478"/>
                  <a:ext cx="0" cy="181"/>
                </a:xfrm>
                <a:prstGeom prst="line">
                  <a:avLst/>
                </a:prstGeom>
                <a:ln w="9525" cap="flat" cmpd="sng">
                  <a:solidFill>
                    <a:srgbClr val="F72F63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79945" name="Text Box 13"/>
              <p:cNvSpPr txBox="1"/>
              <p:nvPr/>
            </p:nvSpPr>
            <p:spPr>
              <a:xfrm>
                <a:off x="2324" y="1441"/>
                <a:ext cx="544" cy="4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2p</a:t>
                </a:r>
                <a:endParaRPr lang="en-US" altLang="zh-CN" sz="12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79946" name="Group 14"/>
              <p:cNvGrpSpPr/>
              <p:nvPr/>
            </p:nvGrpSpPr>
            <p:grpSpPr>
              <a:xfrm>
                <a:off x="1223" y="1433"/>
                <a:ext cx="1113" cy="469"/>
                <a:chOff x="769" y="2148"/>
                <a:chExt cx="1113" cy="469"/>
              </a:xfrm>
            </p:grpSpPr>
            <p:grpSp>
              <p:nvGrpSpPr>
                <p:cNvPr id="79959" name="Group 15"/>
                <p:cNvGrpSpPr/>
                <p:nvPr/>
              </p:nvGrpSpPr>
              <p:grpSpPr>
                <a:xfrm>
                  <a:off x="1202" y="2251"/>
                  <a:ext cx="227" cy="227"/>
                  <a:chOff x="1202" y="2069"/>
                  <a:chExt cx="227" cy="227"/>
                </a:xfrm>
              </p:grpSpPr>
              <p:sp>
                <p:nvSpPr>
                  <p:cNvPr id="79967" name="Oval 16"/>
                  <p:cNvSpPr/>
                  <p:nvPr/>
                </p:nvSpPr>
                <p:spPr>
                  <a:xfrm>
                    <a:off x="1202" y="2069"/>
                    <a:ext cx="227" cy="22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18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968" name="Line 17"/>
                  <p:cNvSpPr/>
                  <p:nvPr/>
                </p:nvSpPr>
                <p:spPr>
                  <a:xfrm flipV="1">
                    <a:off x="1314" y="2093"/>
                    <a:ext cx="0" cy="18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</p:grpSp>
            <p:grpSp>
              <p:nvGrpSpPr>
                <p:cNvPr id="79960" name="Group 18"/>
                <p:cNvGrpSpPr/>
                <p:nvPr/>
              </p:nvGrpSpPr>
              <p:grpSpPr>
                <a:xfrm>
                  <a:off x="1428" y="2251"/>
                  <a:ext cx="227" cy="227"/>
                  <a:chOff x="1202" y="2069"/>
                  <a:chExt cx="227" cy="227"/>
                </a:xfrm>
              </p:grpSpPr>
              <p:sp>
                <p:nvSpPr>
                  <p:cNvPr id="79965" name="Oval 19"/>
                  <p:cNvSpPr/>
                  <p:nvPr/>
                </p:nvSpPr>
                <p:spPr>
                  <a:xfrm>
                    <a:off x="1202" y="2069"/>
                    <a:ext cx="227" cy="22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18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966" name="Line 20"/>
                  <p:cNvSpPr/>
                  <p:nvPr/>
                </p:nvSpPr>
                <p:spPr>
                  <a:xfrm flipV="1">
                    <a:off x="1314" y="2093"/>
                    <a:ext cx="0" cy="18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</p:grpSp>
            <p:grpSp>
              <p:nvGrpSpPr>
                <p:cNvPr id="79961" name="Group 21"/>
                <p:cNvGrpSpPr/>
                <p:nvPr/>
              </p:nvGrpSpPr>
              <p:grpSpPr>
                <a:xfrm>
                  <a:off x="1655" y="2237"/>
                  <a:ext cx="227" cy="227"/>
                  <a:chOff x="1202" y="2069"/>
                  <a:chExt cx="227" cy="227"/>
                </a:xfrm>
              </p:grpSpPr>
              <p:sp>
                <p:nvSpPr>
                  <p:cNvPr id="79963" name="Oval 22"/>
                  <p:cNvSpPr/>
                  <p:nvPr/>
                </p:nvSpPr>
                <p:spPr>
                  <a:xfrm>
                    <a:off x="1202" y="2069"/>
                    <a:ext cx="227" cy="22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18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964" name="Line 23"/>
                  <p:cNvSpPr/>
                  <p:nvPr/>
                </p:nvSpPr>
                <p:spPr>
                  <a:xfrm flipV="1">
                    <a:off x="1314" y="2093"/>
                    <a:ext cx="0" cy="18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</p:grpSp>
            <p:sp>
              <p:nvSpPr>
                <p:cNvPr id="79962" name="Text Box 24"/>
                <p:cNvSpPr txBox="1"/>
                <p:nvPr/>
              </p:nvSpPr>
              <p:spPr>
                <a:xfrm>
                  <a:off x="769" y="2148"/>
                  <a:ext cx="363" cy="46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N</a:t>
                  </a:r>
                  <a:endParaRPr lang="en-US" altLang="zh-CN" sz="12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79947" name="Group 25"/>
              <p:cNvGrpSpPr/>
              <p:nvPr/>
            </p:nvGrpSpPr>
            <p:grpSpPr>
              <a:xfrm>
                <a:off x="1672" y="1946"/>
                <a:ext cx="680" cy="229"/>
                <a:chOff x="1218" y="2661"/>
                <a:chExt cx="680" cy="229"/>
              </a:xfrm>
            </p:grpSpPr>
            <p:grpSp>
              <p:nvGrpSpPr>
                <p:cNvPr id="79950" name="Group 26"/>
                <p:cNvGrpSpPr/>
                <p:nvPr/>
              </p:nvGrpSpPr>
              <p:grpSpPr>
                <a:xfrm flipV="1">
                  <a:off x="1218" y="2661"/>
                  <a:ext cx="227" cy="227"/>
                  <a:chOff x="1202" y="2069"/>
                  <a:chExt cx="227" cy="227"/>
                </a:xfrm>
              </p:grpSpPr>
              <p:sp>
                <p:nvSpPr>
                  <p:cNvPr id="79957" name="Oval 27"/>
                  <p:cNvSpPr/>
                  <p:nvPr/>
                </p:nvSpPr>
                <p:spPr>
                  <a:xfrm>
                    <a:off x="1202" y="2069"/>
                    <a:ext cx="227" cy="22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18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958" name="Line 28"/>
                  <p:cNvSpPr/>
                  <p:nvPr/>
                </p:nvSpPr>
                <p:spPr>
                  <a:xfrm flipV="1">
                    <a:off x="1314" y="2093"/>
                    <a:ext cx="0" cy="18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</p:grpSp>
            <p:grpSp>
              <p:nvGrpSpPr>
                <p:cNvPr id="79951" name="Group 29"/>
                <p:cNvGrpSpPr/>
                <p:nvPr/>
              </p:nvGrpSpPr>
              <p:grpSpPr>
                <a:xfrm flipV="1">
                  <a:off x="1444" y="2661"/>
                  <a:ext cx="227" cy="227"/>
                  <a:chOff x="1202" y="2069"/>
                  <a:chExt cx="227" cy="227"/>
                </a:xfrm>
              </p:grpSpPr>
              <p:sp>
                <p:nvSpPr>
                  <p:cNvPr id="79955" name="Oval 30"/>
                  <p:cNvSpPr/>
                  <p:nvPr/>
                </p:nvSpPr>
                <p:spPr>
                  <a:xfrm>
                    <a:off x="1202" y="2069"/>
                    <a:ext cx="227" cy="22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18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956" name="Line 31"/>
                  <p:cNvSpPr/>
                  <p:nvPr/>
                </p:nvSpPr>
                <p:spPr>
                  <a:xfrm flipV="1">
                    <a:off x="1314" y="2093"/>
                    <a:ext cx="0" cy="18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</p:grpSp>
            <p:grpSp>
              <p:nvGrpSpPr>
                <p:cNvPr id="79952" name="Group 32"/>
                <p:cNvGrpSpPr/>
                <p:nvPr/>
              </p:nvGrpSpPr>
              <p:grpSpPr>
                <a:xfrm flipV="1">
                  <a:off x="1671" y="2663"/>
                  <a:ext cx="227" cy="227"/>
                  <a:chOff x="1202" y="2069"/>
                  <a:chExt cx="227" cy="227"/>
                </a:xfrm>
              </p:grpSpPr>
              <p:sp>
                <p:nvSpPr>
                  <p:cNvPr id="79953" name="Oval 33"/>
                  <p:cNvSpPr/>
                  <p:nvPr/>
                </p:nvSpPr>
                <p:spPr>
                  <a:xfrm>
                    <a:off x="1202" y="2069"/>
                    <a:ext cx="227" cy="22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18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79954" name="Line 34"/>
                  <p:cNvSpPr/>
                  <p:nvPr/>
                </p:nvSpPr>
                <p:spPr>
                  <a:xfrm flipV="1">
                    <a:off x="1314" y="2093"/>
                    <a:ext cx="0" cy="18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</p:grpSp>
          </p:grpSp>
          <p:sp>
            <p:nvSpPr>
              <p:cNvPr id="79948" name="Text Box 35"/>
              <p:cNvSpPr txBox="1"/>
              <p:nvPr/>
            </p:nvSpPr>
            <p:spPr>
              <a:xfrm>
                <a:off x="1227" y="1857"/>
                <a:ext cx="363" cy="46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N</a:t>
                </a:r>
                <a:endParaRPr lang="en-US" altLang="zh-CN" sz="12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949" name="Text Box 36"/>
              <p:cNvSpPr txBox="1"/>
              <p:nvPr/>
            </p:nvSpPr>
            <p:spPr>
              <a:xfrm>
                <a:off x="2315" y="1852"/>
                <a:ext cx="544" cy="40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2p</a:t>
                </a:r>
                <a:endParaRPr lang="en-US" altLang="zh-CN" sz="12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9943" name="Text Box 37"/>
            <p:cNvSpPr txBox="1"/>
            <p:nvPr/>
          </p:nvSpPr>
          <p:spPr>
            <a:xfrm>
              <a:off x="3243" y="1344"/>
              <a:ext cx="1769" cy="46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N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2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   :N≡N: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9238" name="Text Box 38"/>
          <p:cNvSpPr txBox="1"/>
          <p:nvPr/>
        </p:nvSpPr>
        <p:spPr>
          <a:xfrm>
            <a:off x="684213" y="2439988"/>
            <a:ext cx="8135937" cy="757237"/>
          </a:xfrm>
          <a:prstGeom prst="rect">
            <a:avLst/>
          </a:prstGeom>
          <a:noFill/>
          <a:ln w="9525" cap="flat" cmpd="sng">
            <a:solidFill>
              <a:srgbClr val="F72F63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在特定的条件下，有的成对的价电子能被拆开为单电子参与成键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9239" name="Text Box 39"/>
          <p:cNvSpPr txBox="1"/>
          <p:nvPr/>
        </p:nvSpPr>
        <p:spPr>
          <a:xfrm>
            <a:off x="107950" y="3208338"/>
            <a:ext cx="719138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例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3" name="Group 40"/>
          <p:cNvGrpSpPr/>
          <p:nvPr/>
        </p:nvGrpSpPr>
        <p:grpSpPr>
          <a:xfrm>
            <a:off x="755650" y="3327400"/>
            <a:ext cx="8388350" cy="804863"/>
            <a:chOff x="476" y="2840"/>
            <a:chExt cx="5284" cy="752"/>
          </a:xfrm>
        </p:grpSpPr>
        <p:sp>
          <p:nvSpPr>
            <p:cNvPr id="79891" name="Text Box 41"/>
            <p:cNvSpPr txBox="1"/>
            <p:nvPr/>
          </p:nvSpPr>
          <p:spPr>
            <a:xfrm>
              <a:off x="476" y="2840"/>
              <a:ext cx="408" cy="60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36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S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79892" name="Group 42"/>
            <p:cNvGrpSpPr/>
            <p:nvPr/>
          </p:nvGrpSpPr>
          <p:grpSpPr>
            <a:xfrm>
              <a:off x="793" y="2931"/>
              <a:ext cx="227" cy="227"/>
              <a:chOff x="1610" y="3294"/>
              <a:chExt cx="227" cy="227"/>
            </a:xfrm>
          </p:grpSpPr>
          <p:sp>
            <p:nvSpPr>
              <p:cNvPr id="79937" name="Oval 43"/>
              <p:cNvSpPr/>
              <p:nvPr/>
            </p:nvSpPr>
            <p:spPr>
              <a:xfrm>
                <a:off x="1610" y="3294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79938" name="Group 44"/>
              <p:cNvGrpSpPr/>
              <p:nvPr/>
            </p:nvGrpSpPr>
            <p:grpSpPr>
              <a:xfrm>
                <a:off x="1701" y="3303"/>
                <a:ext cx="45" cy="193"/>
                <a:chOff x="1837" y="3633"/>
                <a:chExt cx="45" cy="193"/>
              </a:xfrm>
            </p:grpSpPr>
            <p:sp>
              <p:nvSpPr>
                <p:cNvPr id="79939" name="Line 45"/>
                <p:cNvSpPr/>
                <p:nvPr/>
              </p:nvSpPr>
              <p:spPr>
                <a:xfrm flipV="1">
                  <a:off x="1837" y="3633"/>
                  <a:ext cx="0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79940" name="Line 46"/>
                <p:cNvSpPr/>
                <p:nvPr/>
              </p:nvSpPr>
              <p:spPr>
                <a:xfrm>
                  <a:off x="1882" y="3645"/>
                  <a:ext cx="0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</p:grpSp>
        <p:grpSp>
          <p:nvGrpSpPr>
            <p:cNvPr id="79893" name="Group 47"/>
            <p:cNvGrpSpPr/>
            <p:nvPr/>
          </p:nvGrpSpPr>
          <p:grpSpPr>
            <a:xfrm>
              <a:off x="1111" y="2931"/>
              <a:ext cx="680" cy="227"/>
              <a:chOff x="2064" y="3249"/>
              <a:chExt cx="680" cy="227"/>
            </a:xfrm>
          </p:grpSpPr>
          <p:grpSp>
            <p:nvGrpSpPr>
              <p:cNvPr id="79925" name="Group 48"/>
              <p:cNvGrpSpPr/>
              <p:nvPr/>
            </p:nvGrpSpPr>
            <p:grpSpPr>
              <a:xfrm>
                <a:off x="2290" y="3249"/>
                <a:ext cx="227" cy="227"/>
                <a:chOff x="1383" y="3793"/>
                <a:chExt cx="227" cy="227"/>
              </a:xfrm>
            </p:grpSpPr>
            <p:sp>
              <p:nvSpPr>
                <p:cNvPr id="79935" name="Line 49"/>
                <p:cNvSpPr/>
                <p:nvPr/>
              </p:nvSpPr>
              <p:spPr>
                <a:xfrm flipV="1">
                  <a:off x="1507" y="3808"/>
                  <a:ext cx="0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79936" name="Oval 50"/>
                <p:cNvSpPr/>
                <p:nvPr/>
              </p:nvSpPr>
              <p:spPr>
                <a:xfrm>
                  <a:off x="1383" y="3793"/>
                  <a:ext cx="227" cy="22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9926" name="Group 51"/>
              <p:cNvGrpSpPr/>
              <p:nvPr/>
            </p:nvGrpSpPr>
            <p:grpSpPr>
              <a:xfrm>
                <a:off x="2064" y="3249"/>
                <a:ext cx="680" cy="227"/>
                <a:chOff x="2064" y="3294"/>
                <a:chExt cx="680" cy="227"/>
              </a:xfrm>
            </p:grpSpPr>
            <p:grpSp>
              <p:nvGrpSpPr>
                <p:cNvPr id="79927" name="Group 52"/>
                <p:cNvGrpSpPr/>
                <p:nvPr/>
              </p:nvGrpSpPr>
              <p:grpSpPr>
                <a:xfrm>
                  <a:off x="2064" y="3294"/>
                  <a:ext cx="227" cy="227"/>
                  <a:chOff x="1610" y="3294"/>
                  <a:chExt cx="227" cy="227"/>
                </a:xfrm>
              </p:grpSpPr>
              <p:sp>
                <p:nvSpPr>
                  <p:cNvPr id="79931" name="Oval 53"/>
                  <p:cNvSpPr/>
                  <p:nvPr/>
                </p:nvSpPr>
                <p:spPr>
                  <a:xfrm>
                    <a:off x="1610" y="3294"/>
                    <a:ext cx="227" cy="22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79932" name="Group 54"/>
                  <p:cNvGrpSpPr/>
                  <p:nvPr/>
                </p:nvGrpSpPr>
                <p:grpSpPr>
                  <a:xfrm>
                    <a:off x="1701" y="3303"/>
                    <a:ext cx="45" cy="193"/>
                    <a:chOff x="1837" y="3633"/>
                    <a:chExt cx="45" cy="193"/>
                  </a:xfrm>
                </p:grpSpPr>
                <p:sp>
                  <p:nvSpPr>
                    <p:cNvPr id="79933" name="Line 55"/>
                    <p:cNvSpPr/>
                    <p:nvPr/>
                  </p:nvSpPr>
                  <p:spPr>
                    <a:xfrm flipV="1">
                      <a:off x="1837" y="3633"/>
                      <a:ext cx="0" cy="181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  <p:sp>
                  <p:nvSpPr>
                    <p:cNvPr id="79934" name="Line 56"/>
                    <p:cNvSpPr/>
                    <p:nvPr/>
                  </p:nvSpPr>
                  <p:spPr>
                    <a:xfrm>
                      <a:off x="1882" y="3645"/>
                      <a:ext cx="0" cy="181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</p:grpSp>
            </p:grpSp>
            <p:grpSp>
              <p:nvGrpSpPr>
                <p:cNvPr id="79928" name="Group 57"/>
                <p:cNvGrpSpPr/>
                <p:nvPr/>
              </p:nvGrpSpPr>
              <p:grpSpPr>
                <a:xfrm>
                  <a:off x="2517" y="3294"/>
                  <a:ext cx="227" cy="227"/>
                  <a:chOff x="1383" y="3793"/>
                  <a:chExt cx="227" cy="227"/>
                </a:xfrm>
              </p:grpSpPr>
              <p:sp>
                <p:nvSpPr>
                  <p:cNvPr id="79929" name="Line 58"/>
                  <p:cNvSpPr/>
                  <p:nvPr/>
                </p:nvSpPr>
                <p:spPr>
                  <a:xfrm flipV="1">
                    <a:off x="1507" y="3808"/>
                    <a:ext cx="0" cy="18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79930" name="Oval 59"/>
                  <p:cNvSpPr/>
                  <p:nvPr/>
                </p:nvSpPr>
                <p:spPr>
                  <a:xfrm>
                    <a:off x="1383" y="3793"/>
                    <a:ext cx="227" cy="22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</p:grpSp>
        <p:grpSp>
          <p:nvGrpSpPr>
            <p:cNvPr id="79894" name="Group 60"/>
            <p:cNvGrpSpPr/>
            <p:nvPr/>
          </p:nvGrpSpPr>
          <p:grpSpPr>
            <a:xfrm>
              <a:off x="1883" y="2931"/>
              <a:ext cx="1133" cy="227"/>
              <a:chOff x="3016" y="3294"/>
              <a:chExt cx="1133" cy="227"/>
            </a:xfrm>
          </p:grpSpPr>
          <p:sp>
            <p:nvSpPr>
              <p:cNvPr id="79920" name="Oval 61"/>
              <p:cNvSpPr/>
              <p:nvPr/>
            </p:nvSpPr>
            <p:spPr>
              <a:xfrm>
                <a:off x="3016" y="3294"/>
                <a:ext cx="226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921" name="Oval 62"/>
              <p:cNvSpPr/>
              <p:nvPr/>
            </p:nvSpPr>
            <p:spPr>
              <a:xfrm>
                <a:off x="3244" y="3294"/>
                <a:ext cx="226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922" name="Oval 63"/>
              <p:cNvSpPr/>
              <p:nvPr/>
            </p:nvSpPr>
            <p:spPr>
              <a:xfrm>
                <a:off x="3470" y="3294"/>
                <a:ext cx="226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923" name="Oval 64"/>
              <p:cNvSpPr/>
              <p:nvPr/>
            </p:nvSpPr>
            <p:spPr>
              <a:xfrm>
                <a:off x="3697" y="3294"/>
                <a:ext cx="226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924" name="Oval 65"/>
              <p:cNvSpPr/>
              <p:nvPr/>
            </p:nvSpPr>
            <p:spPr>
              <a:xfrm>
                <a:off x="3923" y="3294"/>
                <a:ext cx="226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9895" name="Line 66"/>
            <p:cNvSpPr/>
            <p:nvPr/>
          </p:nvSpPr>
          <p:spPr>
            <a:xfrm>
              <a:off x="3095" y="3034"/>
              <a:ext cx="2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79896" name="Group 67"/>
            <p:cNvGrpSpPr/>
            <p:nvPr/>
          </p:nvGrpSpPr>
          <p:grpSpPr>
            <a:xfrm>
              <a:off x="3424" y="2931"/>
              <a:ext cx="227" cy="227"/>
              <a:chOff x="1383" y="3793"/>
              <a:chExt cx="227" cy="227"/>
            </a:xfrm>
          </p:grpSpPr>
          <p:sp>
            <p:nvSpPr>
              <p:cNvPr id="79918" name="Line 68"/>
              <p:cNvSpPr/>
              <p:nvPr/>
            </p:nvSpPr>
            <p:spPr>
              <a:xfrm flipV="1">
                <a:off x="1507" y="3808"/>
                <a:ext cx="0" cy="18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79919" name="Oval 69"/>
              <p:cNvSpPr/>
              <p:nvPr/>
            </p:nvSpPr>
            <p:spPr>
              <a:xfrm>
                <a:off x="1383" y="3793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79897" name="Group 70"/>
            <p:cNvGrpSpPr/>
            <p:nvPr/>
          </p:nvGrpSpPr>
          <p:grpSpPr>
            <a:xfrm>
              <a:off x="3742" y="2931"/>
              <a:ext cx="681" cy="227"/>
              <a:chOff x="3923" y="2931"/>
              <a:chExt cx="681" cy="227"/>
            </a:xfrm>
          </p:grpSpPr>
          <p:grpSp>
            <p:nvGrpSpPr>
              <p:cNvPr id="79909" name="Group 71"/>
              <p:cNvGrpSpPr/>
              <p:nvPr/>
            </p:nvGrpSpPr>
            <p:grpSpPr>
              <a:xfrm>
                <a:off x="3923" y="2931"/>
                <a:ext cx="227" cy="227"/>
                <a:chOff x="1383" y="3793"/>
                <a:chExt cx="227" cy="227"/>
              </a:xfrm>
            </p:grpSpPr>
            <p:sp>
              <p:nvSpPr>
                <p:cNvPr id="79916" name="Line 72"/>
                <p:cNvSpPr/>
                <p:nvPr/>
              </p:nvSpPr>
              <p:spPr>
                <a:xfrm flipV="1">
                  <a:off x="1507" y="3808"/>
                  <a:ext cx="0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79917" name="Oval 73"/>
                <p:cNvSpPr/>
                <p:nvPr/>
              </p:nvSpPr>
              <p:spPr>
                <a:xfrm>
                  <a:off x="1383" y="3793"/>
                  <a:ext cx="227" cy="22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9910" name="Group 74"/>
              <p:cNvGrpSpPr/>
              <p:nvPr/>
            </p:nvGrpSpPr>
            <p:grpSpPr>
              <a:xfrm>
                <a:off x="4377" y="2931"/>
                <a:ext cx="227" cy="227"/>
                <a:chOff x="1383" y="3793"/>
                <a:chExt cx="227" cy="227"/>
              </a:xfrm>
            </p:grpSpPr>
            <p:sp>
              <p:nvSpPr>
                <p:cNvPr id="79914" name="Line 75"/>
                <p:cNvSpPr/>
                <p:nvPr/>
              </p:nvSpPr>
              <p:spPr>
                <a:xfrm flipV="1">
                  <a:off x="1507" y="3808"/>
                  <a:ext cx="0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79915" name="Oval 76"/>
                <p:cNvSpPr/>
                <p:nvPr/>
              </p:nvSpPr>
              <p:spPr>
                <a:xfrm>
                  <a:off x="1383" y="3793"/>
                  <a:ext cx="227" cy="22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9911" name="Group 77"/>
              <p:cNvGrpSpPr/>
              <p:nvPr/>
            </p:nvGrpSpPr>
            <p:grpSpPr>
              <a:xfrm>
                <a:off x="4150" y="2931"/>
                <a:ext cx="227" cy="227"/>
                <a:chOff x="1383" y="3793"/>
                <a:chExt cx="227" cy="227"/>
              </a:xfrm>
            </p:grpSpPr>
            <p:sp>
              <p:nvSpPr>
                <p:cNvPr id="79912" name="Line 78"/>
                <p:cNvSpPr/>
                <p:nvPr/>
              </p:nvSpPr>
              <p:spPr>
                <a:xfrm flipV="1">
                  <a:off x="1507" y="3808"/>
                  <a:ext cx="0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79913" name="Oval 79"/>
                <p:cNvSpPr/>
                <p:nvPr/>
              </p:nvSpPr>
              <p:spPr>
                <a:xfrm>
                  <a:off x="1383" y="3793"/>
                  <a:ext cx="227" cy="22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79898" name="Group 80"/>
            <p:cNvGrpSpPr/>
            <p:nvPr/>
          </p:nvGrpSpPr>
          <p:grpSpPr>
            <a:xfrm>
              <a:off x="4513" y="2931"/>
              <a:ext cx="1134" cy="227"/>
              <a:chOff x="4694" y="2931"/>
              <a:chExt cx="1134" cy="227"/>
            </a:xfrm>
          </p:grpSpPr>
          <p:grpSp>
            <p:nvGrpSpPr>
              <p:cNvPr id="79900" name="Group 81"/>
              <p:cNvGrpSpPr/>
              <p:nvPr/>
            </p:nvGrpSpPr>
            <p:grpSpPr>
              <a:xfrm>
                <a:off x="4921" y="2931"/>
                <a:ext cx="227" cy="227"/>
                <a:chOff x="1383" y="3793"/>
                <a:chExt cx="227" cy="227"/>
              </a:xfrm>
            </p:grpSpPr>
            <p:sp>
              <p:nvSpPr>
                <p:cNvPr id="79907" name="Line 82"/>
                <p:cNvSpPr/>
                <p:nvPr/>
              </p:nvSpPr>
              <p:spPr>
                <a:xfrm flipV="1">
                  <a:off x="1507" y="3808"/>
                  <a:ext cx="0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79908" name="Oval 83"/>
                <p:cNvSpPr/>
                <p:nvPr/>
              </p:nvSpPr>
              <p:spPr>
                <a:xfrm>
                  <a:off x="1383" y="3793"/>
                  <a:ext cx="227" cy="22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79901" name="Group 84"/>
              <p:cNvGrpSpPr/>
              <p:nvPr/>
            </p:nvGrpSpPr>
            <p:grpSpPr>
              <a:xfrm>
                <a:off x="4694" y="2931"/>
                <a:ext cx="227" cy="227"/>
                <a:chOff x="1383" y="3793"/>
                <a:chExt cx="227" cy="227"/>
              </a:xfrm>
            </p:grpSpPr>
            <p:sp>
              <p:nvSpPr>
                <p:cNvPr id="79905" name="Line 85"/>
                <p:cNvSpPr/>
                <p:nvPr/>
              </p:nvSpPr>
              <p:spPr>
                <a:xfrm flipV="1">
                  <a:off x="1507" y="3808"/>
                  <a:ext cx="0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79906" name="Oval 86"/>
                <p:cNvSpPr/>
                <p:nvPr/>
              </p:nvSpPr>
              <p:spPr>
                <a:xfrm>
                  <a:off x="1383" y="3793"/>
                  <a:ext cx="227" cy="22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9902" name="Oval 87"/>
              <p:cNvSpPr/>
              <p:nvPr/>
            </p:nvSpPr>
            <p:spPr>
              <a:xfrm>
                <a:off x="5148" y="2931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903" name="Oval 88"/>
              <p:cNvSpPr/>
              <p:nvPr/>
            </p:nvSpPr>
            <p:spPr>
              <a:xfrm>
                <a:off x="5601" y="2931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9904" name="Oval 89"/>
              <p:cNvSpPr/>
              <p:nvPr/>
            </p:nvSpPr>
            <p:spPr>
              <a:xfrm>
                <a:off x="5375" y="2931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9899" name="Text Box 90"/>
            <p:cNvSpPr txBox="1"/>
            <p:nvPr/>
          </p:nvSpPr>
          <p:spPr>
            <a:xfrm>
              <a:off x="748" y="3103"/>
              <a:ext cx="5012" cy="48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3s      3p             3d                3s      3p             3d 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1" name="Group 91"/>
          <p:cNvGrpSpPr/>
          <p:nvPr/>
        </p:nvGrpSpPr>
        <p:grpSpPr>
          <a:xfrm>
            <a:off x="539750" y="3706813"/>
            <a:ext cx="8064500" cy="1341437"/>
            <a:chOff x="340" y="3258"/>
            <a:chExt cx="5080" cy="1174"/>
          </a:xfrm>
        </p:grpSpPr>
        <p:grpSp>
          <p:nvGrpSpPr>
            <p:cNvPr id="79883" name="Group 92"/>
            <p:cNvGrpSpPr/>
            <p:nvPr/>
          </p:nvGrpSpPr>
          <p:grpSpPr>
            <a:xfrm>
              <a:off x="340" y="3616"/>
              <a:ext cx="5080" cy="667"/>
              <a:chOff x="431" y="3612"/>
              <a:chExt cx="5080" cy="667"/>
            </a:xfrm>
          </p:grpSpPr>
          <p:sp>
            <p:nvSpPr>
              <p:cNvPr id="79888" name="Text Box 93"/>
              <p:cNvSpPr txBox="1"/>
              <p:nvPr/>
            </p:nvSpPr>
            <p:spPr>
              <a:xfrm>
                <a:off x="431" y="3657"/>
                <a:ext cx="5080" cy="3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[·S·] + 6[·F:] → F – S – F</a:t>
                </a:r>
                <a:endParaRPr lang="en-US" altLang="zh-CN" sz="11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9889" name="Text Box 94"/>
              <p:cNvSpPr txBox="1"/>
              <p:nvPr/>
            </p:nvSpPr>
            <p:spPr>
              <a:xfrm>
                <a:off x="476" y="3612"/>
                <a:ext cx="2268" cy="3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¨         ¨</a:t>
                </a:r>
                <a:endParaRPr lang="en-US" altLang="zh-CN" sz="1100" dirty="0"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79890" name="Text Box 95"/>
              <p:cNvSpPr txBox="1"/>
              <p:nvPr/>
            </p:nvSpPr>
            <p:spPr>
              <a:xfrm>
                <a:off x="476" y="3929"/>
                <a:ext cx="2268" cy="3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¨         ¨</a:t>
                </a:r>
                <a:endParaRPr lang="en-US" altLang="zh-CN" sz="1100" dirty="0"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</p:grpSp>
        <p:sp>
          <p:nvSpPr>
            <p:cNvPr id="79884" name="Text Box 96"/>
            <p:cNvSpPr txBox="1"/>
            <p:nvPr/>
          </p:nvSpPr>
          <p:spPr>
            <a:xfrm>
              <a:off x="2517" y="3258"/>
              <a:ext cx="817" cy="3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F   F</a:t>
              </a:r>
              <a:endParaRPr lang="en-US" altLang="zh-CN" sz="11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85" name="Text Box 97"/>
            <p:cNvSpPr txBox="1"/>
            <p:nvPr/>
          </p:nvSpPr>
          <p:spPr>
            <a:xfrm>
              <a:off x="2641" y="3475"/>
              <a:ext cx="726" cy="3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\  /</a:t>
              </a:r>
              <a:endParaRPr lang="en-US" altLang="zh-CN" sz="11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86" name="Text Box 98"/>
            <p:cNvSpPr txBox="1"/>
            <p:nvPr/>
          </p:nvSpPr>
          <p:spPr>
            <a:xfrm>
              <a:off x="2620" y="3862"/>
              <a:ext cx="499" cy="3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/  \ </a:t>
              </a:r>
              <a:endParaRPr lang="en-US" altLang="zh-CN" sz="11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9887" name="Text Box 99"/>
            <p:cNvSpPr txBox="1"/>
            <p:nvPr/>
          </p:nvSpPr>
          <p:spPr>
            <a:xfrm>
              <a:off x="2517" y="4082"/>
              <a:ext cx="862" cy="3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F   F</a:t>
              </a:r>
              <a:endParaRPr lang="en-US" altLang="zh-CN" sz="11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7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38" grpId="0" animBg="1"/>
      <p:bldP spid="179239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ext Box 91"/>
          <p:cNvSpPr txBox="1"/>
          <p:nvPr/>
        </p:nvSpPr>
        <p:spPr>
          <a:xfrm>
            <a:off x="257175" y="847725"/>
            <a:ext cx="8636000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方向性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: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为满足最大重叠原理，成键时原 </a:t>
            </a:r>
            <a:endParaRPr lang="zh-CN" altLang="en-US" sz="12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子轨道只能沿着轨道伸展的方向重叠</a:t>
            </a:r>
            <a:r>
              <a:rPr lang="zh-CN" altLang="en-US" sz="1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0899" name="Group 92"/>
          <p:cNvGrpSpPr/>
          <p:nvPr/>
        </p:nvGrpSpPr>
        <p:grpSpPr>
          <a:xfrm>
            <a:off x="611188" y="1927225"/>
            <a:ext cx="5972175" cy="3114675"/>
            <a:chOff x="1011" y="1332"/>
            <a:chExt cx="3762" cy="2616"/>
          </a:xfrm>
        </p:grpSpPr>
        <p:grpSp>
          <p:nvGrpSpPr>
            <p:cNvPr id="80904" name="Group 93"/>
            <p:cNvGrpSpPr/>
            <p:nvPr/>
          </p:nvGrpSpPr>
          <p:grpSpPr>
            <a:xfrm>
              <a:off x="1011" y="1332"/>
              <a:ext cx="3762" cy="2616"/>
              <a:chOff x="1011" y="1332"/>
              <a:chExt cx="3762" cy="2616"/>
            </a:xfrm>
          </p:grpSpPr>
          <p:graphicFrame>
            <p:nvGraphicFramePr>
              <p:cNvPr id="80914" name="Object 94"/>
              <p:cNvGraphicFramePr>
                <a:graphicFrameLocks noChangeAspect="1"/>
              </p:cNvGraphicFramePr>
              <p:nvPr/>
            </p:nvGraphicFramePr>
            <p:xfrm>
              <a:off x="1111" y="1332"/>
              <a:ext cx="3583" cy="26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" imgW="5686425" imgH="4152900" progId="Paint.Picture">
                      <p:embed/>
                    </p:oleObj>
                  </mc:Choice>
                  <mc:Fallback>
                    <p:oleObj r:id="rId2" imgW="5686425" imgH="4152900" progId="Paint.Picture">
                      <p:embed/>
                      <p:pic>
                        <p:nvPicPr>
                          <p:cNvPr id="0" name="图片 3119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1111" y="1332"/>
                            <a:ext cx="3583" cy="26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0915" name="Line 95"/>
              <p:cNvSpPr/>
              <p:nvPr/>
            </p:nvSpPr>
            <p:spPr>
              <a:xfrm>
                <a:off x="1011" y="2284"/>
                <a:ext cx="163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0916" name="Line 96"/>
              <p:cNvSpPr/>
              <p:nvPr/>
            </p:nvSpPr>
            <p:spPr>
              <a:xfrm>
                <a:off x="3186" y="2284"/>
                <a:ext cx="1587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80917" name="Line 97"/>
              <p:cNvSpPr/>
              <p:nvPr/>
            </p:nvSpPr>
            <p:spPr>
              <a:xfrm>
                <a:off x="2076" y="3454"/>
                <a:ext cx="240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80905" name="Text Box 98"/>
            <p:cNvSpPr txBox="1"/>
            <p:nvPr/>
          </p:nvSpPr>
          <p:spPr>
            <a:xfrm>
              <a:off x="2290" y="1551"/>
              <a:ext cx="318" cy="59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4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06" name="Text Box 99"/>
            <p:cNvSpPr txBox="1"/>
            <p:nvPr/>
          </p:nvSpPr>
          <p:spPr>
            <a:xfrm>
              <a:off x="3852" y="1525"/>
              <a:ext cx="318" cy="59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4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07" name="Text Box 100"/>
            <p:cNvSpPr txBox="1"/>
            <p:nvPr/>
          </p:nvSpPr>
          <p:spPr>
            <a:xfrm>
              <a:off x="3709" y="3061"/>
              <a:ext cx="318" cy="59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4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08" name="Text Box 101"/>
            <p:cNvSpPr txBox="1"/>
            <p:nvPr/>
          </p:nvSpPr>
          <p:spPr>
            <a:xfrm>
              <a:off x="1837" y="1933"/>
              <a:ext cx="318" cy="59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4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09" name="Text Box 102"/>
            <p:cNvSpPr txBox="1"/>
            <p:nvPr/>
          </p:nvSpPr>
          <p:spPr>
            <a:xfrm>
              <a:off x="4286" y="1940"/>
              <a:ext cx="318" cy="59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4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10" name="Text Box 103"/>
            <p:cNvSpPr txBox="1"/>
            <p:nvPr/>
          </p:nvSpPr>
          <p:spPr>
            <a:xfrm>
              <a:off x="3074" y="3079"/>
              <a:ext cx="318" cy="59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4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11" name="Text Box 104"/>
            <p:cNvSpPr txBox="1"/>
            <p:nvPr/>
          </p:nvSpPr>
          <p:spPr>
            <a:xfrm>
              <a:off x="1351" y="1745"/>
              <a:ext cx="317" cy="59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4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12" name="Text Box 105"/>
            <p:cNvSpPr txBox="1"/>
            <p:nvPr/>
          </p:nvSpPr>
          <p:spPr>
            <a:xfrm>
              <a:off x="3379" y="1771"/>
              <a:ext cx="317" cy="59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4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13" name="Text Box 106"/>
            <p:cNvSpPr txBox="1"/>
            <p:nvPr/>
          </p:nvSpPr>
          <p:spPr>
            <a:xfrm>
              <a:off x="2518" y="2918"/>
              <a:ext cx="317" cy="59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4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0900" name="Text Box 107"/>
          <p:cNvSpPr txBox="1"/>
          <p:nvPr/>
        </p:nvSpPr>
        <p:spPr>
          <a:xfrm>
            <a:off x="6659563" y="2711450"/>
            <a:ext cx="21605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不能成键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01" name="Text Box 108"/>
          <p:cNvSpPr txBox="1"/>
          <p:nvPr/>
        </p:nvSpPr>
        <p:spPr>
          <a:xfrm>
            <a:off x="6731000" y="4067175"/>
            <a:ext cx="16573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能成键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0902" name="Rectangle 109"/>
          <p:cNvSpPr/>
          <p:nvPr/>
        </p:nvSpPr>
        <p:spPr>
          <a:xfrm>
            <a:off x="250825" y="196850"/>
            <a:ext cx="2728913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3)</a:t>
            </a:r>
            <a:r>
              <a:rPr lang="zh-CN" altLang="en-US" dirty="0">
                <a:latin typeface="Times New Roman" panose="02020603050405020304" pitchFamily="18" charset="0"/>
              </a:rPr>
              <a:t>共价键的特征 </a:t>
            </a:r>
          </a:p>
        </p:txBody>
      </p:sp>
      <p:sp>
        <p:nvSpPr>
          <p:cNvPr id="80903" name="Oval 110"/>
          <p:cNvSpPr/>
          <p:nvPr/>
        </p:nvSpPr>
        <p:spPr>
          <a:xfrm>
            <a:off x="250825" y="1060450"/>
            <a:ext cx="223838" cy="161925"/>
          </a:xfrm>
          <a:prstGeom prst="ellipse">
            <a:avLst/>
          </a:prstGeom>
          <a:solidFill>
            <a:srgbClr val="6B50F0"/>
          </a:solid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33"/>
          <p:cNvSpPr txBox="1"/>
          <p:nvPr/>
        </p:nvSpPr>
        <p:spPr>
          <a:xfrm>
            <a:off x="282575" y="690563"/>
            <a:ext cx="8820150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只有当原子轨道对称性相同的部分重叠，原子间的概率密度才会增大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形成化学键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1923" name="Text Box 34" descr="绿色大理石"/>
          <p:cNvSpPr txBox="1"/>
          <p:nvPr/>
        </p:nvSpPr>
        <p:spPr>
          <a:xfrm>
            <a:off x="1533525" y="174625"/>
            <a:ext cx="5759450" cy="423863"/>
          </a:xfrm>
          <a:prstGeom prst="rect">
            <a:avLst/>
          </a:prstGeom>
          <a:blipFill rotWithShape="1">
            <a:blip r:embed="rId2"/>
          </a:blip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原子轨道重叠的对称性原则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35"/>
          <p:cNvGrpSpPr/>
          <p:nvPr/>
        </p:nvGrpSpPr>
        <p:grpSpPr>
          <a:xfrm>
            <a:off x="-36512" y="1730375"/>
            <a:ext cx="8778875" cy="3100388"/>
            <a:chOff x="158" y="1589"/>
            <a:chExt cx="5530" cy="2604"/>
          </a:xfrm>
        </p:grpSpPr>
        <p:graphicFrame>
          <p:nvGraphicFramePr>
            <p:cNvPr id="81926" name="Object 36"/>
            <p:cNvGraphicFramePr>
              <a:graphicFrameLocks noChangeAspect="1"/>
            </p:cNvGraphicFramePr>
            <p:nvPr/>
          </p:nvGraphicFramePr>
          <p:xfrm>
            <a:off x="4014" y="2432"/>
            <a:ext cx="1116" cy="10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771650" imgH="1695450" progId="Paint.Picture">
                    <p:embed/>
                  </p:oleObj>
                </mc:Choice>
                <mc:Fallback>
                  <p:oleObj r:id="rId3" imgW="1771650" imgH="1695450" progId="Paint.Picture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014" y="2432"/>
                          <a:ext cx="1116" cy="10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81927" name="Group 37"/>
            <p:cNvGrpSpPr/>
            <p:nvPr/>
          </p:nvGrpSpPr>
          <p:grpSpPr>
            <a:xfrm>
              <a:off x="158" y="1589"/>
              <a:ext cx="5530" cy="2604"/>
              <a:chOff x="158" y="1589"/>
              <a:chExt cx="5530" cy="2604"/>
            </a:xfrm>
          </p:grpSpPr>
          <p:grpSp>
            <p:nvGrpSpPr>
              <p:cNvPr id="81928" name="Group 38"/>
              <p:cNvGrpSpPr/>
              <p:nvPr/>
            </p:nvGrpSpPr>
            <p:grpSpPr>
              <a:xfrm>
                <a:off x="158" y="1589"/>
                <a:ext cx="5530" cy="698"/>
                <a:chOff x="158" y="1589"/>
                <a:chExt cx="5530" cy="698"/>
              </a:xfrm>
            </p:grpSpPr>
            <p:sp>
              <p:nvSpPr>
                <p:cNvPr id="81958" name="Oval 39"/>
                <p:cNvSpPr/>
                <p:nvPr/>
              </p:nvSpPr>
              <p:spPr>
                <a:xfrm>
                  <a:off x="158" y="1706"/>
                  <a:ext cx="182" cy="182"/>
                </a:xfrm>
                <a:prstGeom prst="ellipse">
                  <a:avLst/>
                </a:prstGeom>
                <a:solidFill>
                  <a:srgbClr val="6B50F0"/>
                </a:soli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1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81959" name="Text Box 40"/>
                <p:cNvSpPr txBox="1"/>
                <p:nvPr/>
              </p:nvSpPr>
              <p:spPr>
                <a:xfrm>
                  <a:off x="359" y="1589"/>
                  <a:ext cx="5329" cy="69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zh-CN" altLang="en-US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当两原子轨道以对称性相同的部分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(</a:t>
                  </a:r>
                  <a:r>
                    <a:rPr lang="zh-CN" altLang="en-US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即“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+”</a:t>
                  </a:r>
                  <a:r>
                    <a:rPr lang="zh-CN" altLang="en-US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与“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+”</a:t>
                  </a:r>
                  <a:r>
                    <a:rPr lang="zh-CN" altLang="en-US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、“－”与“－”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)</a:t>
                  </a:r>
                  <a:r>
                    <a:rPr lang="zh-CN" altLang="en-US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重叠</a:t>
                  </a:r>
                  <a:endParaRPr lang="zh-CN" altLang="en-US" sz="12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1929" name="Group 41"/>
              <p:cNvGrpSpPr/>
              <p:nvPr/>
            </p:nvGrpSpPr>
            <p:grpSpPr>
              <a:xfrm>
                <a:off x="476" y="2341"/>
                <a:ext cx="4989" cy="1852"/>
                <a:chOff x="476" y="2341"/>
                <a:chExt cx="4989" cy="1852"/>
              </a:xfrm>
            </p:grpSpPr>
            <p:sp>
              <p:nvSpPr>
                <p:cNvPr id="81930" name="Text Box 42"/>
                <p:cNvSpPr txBox="1"/>
                <p:nvPr/>
              </p:nvSpPr>
              <p:spPr>
                <a:xfrm>
                  <a:off x="4059" y="3385"/>
                  <a:ext cx="1406" cy="4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32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d</a:t>
                  </a:r>
                  <a:r>
                    <a:rPr lang="en-US" altLang="zh-CN" sz="3200" b="1" i="1" baseline="-25000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xy</a:t>
                  </a:r>
                  <a:r>
                    <a:rPr lang="en-US" altLang="zh-CN" sz="32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-p</a:t>
                  </a:r>
                  <a:r>
                    <a:rPr lang="en-US" altLang="zh-CN" sz="3200" b="1" i="1" baseline="-25000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y</a:t>
                  </a:r>
                  <a:endParaRPr lang="en-US" altLang="zh-CN" sz="12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81931" name="Group 43"/>
                <p:cNvGrpSpPr/>
                <p:nvPr/>
              </p:nvGrpSpPr>
              <p:grpSpPr>
                <a:xfrm>
                  <a:off x="476" y="2341"/>
                  <a:ext cx="4717" cy="1852"/>
                  <a:chOff x="476" y="2341"/>
                  <a:chExt cx="4717" cy="1852"/>
                </a:xfrm>
              </p:grpSpPr>
              <p:graphicFrame>
                <p:nvGraphicFramePr>
                  <p:cNvPr id="81932" name="Object 44"/>
                  <p:cNvGraphicFramePr>
                    <a:graphicFrameLocks noChangeAspect="1"/>
                  </p:cNvGraphicFramePr>
                  <p:nvPr/>
                </p:nvGraphicFramePr>
                <p:xfrm>
                  <a:off x="2608" y="2478"/>
                  <a:ext cx="786" cy="972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r:id="rId5" imgW="1247775" imgH="1543050" progId="Paint.Picture">
                          <p:embed/>
                        </p:oleObj>
                      </mc:Choice>
                      <mc:Fallback>
                        <p:oleObj r:id="rId5" imgW="1247775" imgH="1543050" progId="Paint.Picture">
                          <p:embed/>
                          <p:pic>
                            <p:nvPicPr>
                              <p:cNvPr id="0" name="图片 3106"/>
                              <p:cNvPicPr/>
                              <p:nvPr/>
                            </p:nvPicPr>
                            <p:blipFill>
                              <a:blip r:embed="rId6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2608" y="2478"/>
                                <a:ext cx="786" cy="972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81933" name="Text Box 45"/>
                  <p:cNvSpPr txBox="1"/>
                  <p:nvPr/>
                </p:nvSpPr>
                <p:spPr>
                  <a:xfrm>
                    <a:off x="2608" y="3358"/>
                    <a:ext cx="1134" cy="49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p</a:t>
                    </a:r>
                    <a:r>
                      <a:rPr lang="en-US" altLang="zh-CN" sz="3200" b="1" i="1" baseline="-25000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y</a:t>
                    </a:r>
                    <a:r>
                      <a:rPr lang="en-US" altLang="zh-CN" sz="32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-p</a:t>
                    </a:r>
                    <a:r>
                      <a:rPr lang="en-US" altLang="zh-CN" sz="3200" b="1" i="1" baseline="-25000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y</a:t>
                    </a:r>
                    <a:endParaRPr lang="en-US" altLang="zh-CN" sz="12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1934" name="Line 46"/>
                  <p:cNvSpPr/>
                  <p:nvPr/>
                </p:nvSpPr>
                <p:spPr>
                  <a:xfrm>
                    <a:off x="2496" y="2955"/>
                    <a:ext cx="998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81935" name="Line 47"/>
                  <p:cNvSpPr/>
                  <p:nvPr/>
                </p:nvSpPr>
                <p:spPr>
                  <a:xfrm>
                    <a:off x="4059" y="2964"/>
                    <a:ext cx="1134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81936" name="Text Box 48"/>
                  <p:cNvSpPr txBox="1"/>
                  <p:nvPr/>
                </p:nvSpPr>
                <p:spPr>
                  <a:xfrm>
                    <a:off x="2689" y="2511"/>
                    <a:ext cx="272" cy="33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+</a:t>
                    </a:r>
                    <a:endParaRPr lang="en-US" altLang="zh-CN" sz="12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1937" name="Text Box 49"/>
                  <p:cNvSpPr txBox="1"/>
                  <p:nvPr/>
                </p:nvSpPr>
                <p:spPr>
                  <a:xfrm>
                    <a:off x="3062" y="2511"/>
                    <a:ext cx="272" cy="33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+</a:t>
                    </a:r>
                    <a:endParaRPr lang="en-US" altLang="zh-CN" sz="12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1938" name="Text Box 50"/>
                  <p:cNvSpPr txBox="1"/>
                  <p:nvPr/>
                </p:nvSpPr>
                <p:spPr>
                  <a:xfrm>
                    <a:off x="4114" y="2952"/>
                    <a:ext cx="272" cy="33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+</a:t>
                    </a:r>
                    <a:endParaRPr lang="en-US" altLang="zh-CN" sz="12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1939" name="Text Box 51"/>
                  <p:cNvSpPr txBox="1"/>
                  <p:nvPr/>
                </p:nvSpPr>
                <p:spPr>
                  <a:xfrm>
                    <a:off x="4434" y="2628"/>
                    <a:ext cx="272" cy="33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+</a:t>
                    </a:r>
                    <a:endParaRPr lang="en-US" altLang="zh-CN" sz="12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1940" name="Text Box 52"/>
                  <p:cNvSpPr txBox="1"/>
                  <p:nvPr/>
                </p:nvSpPr>
                <p:spPr>
                  <a:xfrm>
                    <a:off x="4764" y="2523"/>
                    <a:ext cx="272" cy="33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+</a:t>
                    </a:r>
                    <a:endParaRPr lang="en-US" altLang="zh-CN" sz="12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grpSp>
                <p:nvGrpSpPr>
                  <p:cNvPr id="81941" name="Group 53"/>
                  <p:cNvGrpSpPr/>
                  <p:nvPr/>
                </p:nvGrpSpPr>
                <p:grpSpPr>
                  <a:xfrm>
                    <a:off x="476" y="2341"/>
                    <a:ext cx="1542" cy="1852"/>
                    <a:chOff x="476" y="2341"/>
                    <a:chExt cx="1542" cy="1852"/>
                  </a:xfrm>
                </p:grpSpPr>
                <p:graphicFrame>
                  <p:nvGraphicFramePr>
                    <p:cNvPr id="81947" name="Object 54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748" y="2387"/>
                    <a:ext cx="972" cy="570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r:id="rId7" imgW="1543050" imgH="904875" progId="Paint.Picture">
                            <p:embed/>
                          </p:oleObj>
                        </mc:Choice>
                        <mc:Fallback>
                          <p:oleObj r:id="rId7" imgW="1543050" imgH="904875" progId="Paint.Picture">
                            <p:embed/>
                            <p:pic>
                              <p:nvPicPr>
                                <p:cNvPr id="0" name="图片 3107"/>
                                <p:cNvPicPr/>
                                <p:nvPr/>
                              </p:nvPicPr>
                              <p:blipFill>
                                <a:blip r:embed="rId8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748" y="2387"/>
                                  <a:ext cx="972" cy="570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noFill/>
                                  <a:miter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81948" name="Object 55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567" y="3294"/>
                    <a:ext cx="1326" cy="618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r:id="rId9" imgW="2105025" imgH="981075" progId="Paint.Picture">
                            <p:embed/>
                          </p:oleObj>
                        </mc:Choice>
                        <mc:Fallback>
                          <p:oleObj r:id="rId9" imgW="2105025" imgH="981075" progId="Paint.Picture">
                            <p:embed/>
                            <p:pic>
                              <p:nvPicPr>
                                <p:cNvPr id="0" name="图片 3108"/>
                                <p:cNvPicPr/>
                                <p:nvPr/>
                              </p:nvPicPr>
                              <p:blipFill>
                                <a:blip r:embed="rId10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567" y="3294"/>
                                  <a:ext cx="1326" cy="618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noFill/>
                                  <a:miter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sp>
                  <p:nvSpPr>
                    <p:cNvPr id="81949" name="Text Box 56"/>
                    <p:cNvSpPr txBox="1"/>
                    <p:nvPr/>
                  </p:nvSpPr>
                  <p:spPr>
                    <a:xfrm>
                      <a:off x="885" y="3702"/>
                      <a:ext cx="816" cy="49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32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p</a:t>
                      </a:r>
                      <a:r>
                        <a:rPr lang="en-US" altLang="zh-CN" sz="3200" b="1" i="1" baseline="-25000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x</a:t>
                      </a:r>
                      <a:r>
                        <a:rPr lang="en-US" altLang="zh-CN" sz="32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-s</a:t>
                      </a:r>
                      <a:endParaRPr lang="en-US" altLang="zh-CN" sz="12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1950" name="Text Box 57"/>
                    <p:cNvSpPr txBox="1"/>
                    <p:nvPr/>
                  </p:nvSpPr>
                  <p:spPr>
                    <a:xfrm>
                      <a:off x="975" y="2795"/>
                      <a:ext cx="590" cy="49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32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s-s</a:t>
                      </a:r>
                      <a:endParaRPr lang="en-US" altLang="zh-CN" sz="12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1951" name="Line 58"/>
                    <p:cNvSpPr/>
                    <p:nvPr/>
                  </p:nvSpPr>
                  <p:spPr>
                    <a:xfrm>
                      <a:off x="681" y="2662"/>
                      <a:ext cx="1134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  <p:sp>
                  <p:nvSpPr>
                    <p:cNvPr id="81952" name="Line 59"/>
                    <p:cNvSpPr/>
                    <p:nvPr/>
                  </p:nvSpPr>
                  <p:spPr>
                    <a:xfrm>
                      <a:off x="476" y="3590"/>
                      <a:ext cx="1542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  <p:sp>
                  <p:nvSpPr>
                    <p:cNvPr id="81953" name="Text Box 60"/>
                    <p:cNvSpPr txBox="1"/>
                    <p:nvPr/>
                  </p:nvSpPr>
                  <p:spPr>
                    <a:xfrm>
                      <a:off x="908" y="2341"/>
                      <a:ext cx="272" cy="33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+</a:t>
                      </a:r>
                      <a:endParaRPr lang="en-US" altLang="zh-CN" sz="12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1954" name="Text Box 61"/>
                    <p:cNvSpPr txBox="1"/>
                    <p:nvPr/>
                  </p:nvSpPr>
                  <p:spPr>
                    <a:xfrm>
                      <a:off x="1307" y="2351"/>
                      <a:ext cx="272" cy="33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+</a:t>
                      </a:r>
                      <a:endParaRPr lang="en-US" altLang="zh-CN" sz="12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1955" name="Text Box 62"/>
                    <p:cNvSpPr txBox="1"/>
                    <p:nvPr/>
                  </p:nvSpPr>
                  <p:spPr>
                    <a:xfrm>
                      <a:off x="1104" y="3295"/>
                      <a:ext cx="272" cy="33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+</a:t>
                      </a:r>
                      <a:endParaRPr lang="en-US" altLang="zh-CN" sz="12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1956" name="Text Box 63"/>
                    <p:cNvSpPr txBox="1"/>
                    <p:nvPr/>
                  </p:nvSpPr>
                  <p:spPr>
                    <a:xfrm>
                      <a:off x="1474" y="3271"/>
                      <a:ext cx="272" cy="33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+</a:t>
                      </a:r>
                      <a:endParaRPr lang="en-US" altLang="zh-CN" sz="12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1957" name="Text Box 64"/>
                    <p:cNvSpPr txBox="1"/>
                    <p:nvPr/>
                  </p:nvSpPr>
                  <p:spPr>
                    <a:xfrm>
                      <a:off x="628" y="3158"/>
                      <a:ext cx="226" cy="33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_</a:t>
                      </a:r>
                      <a:endParaRPr lang="en-US" altLang="zh-CN" sz="12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sp>
                <p:nvSpPr>
                  <p:cNvPr id="81942" name="Text Box 65"/>
                  <p:cNvSpPr txBox="1"/>
                  <p:nvPr/>
                </p:nvSpPr>
                <p:spPr>
                  <a:xfrm>
                    <a:off x="2675" y="2819"/>
                    <a:ext cx="226" cy="33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_</a:t>
                    </a:r>
                    <a:endParaRPr lang="en-US" altLang="zh-CN" sz="12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1943" name="Text Box 66"/>
                  <p:cNvSpPr txBox="1"/>
                  <p:nvPr/>
                </p:nvSpPr>
                <p:spPr>
                  <a:xfrm>
                    <a:off x="4138" y="2472"/>
                    <a:ext cx="226" cy="33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_</a:t>
                    </a:r>
                    <a:endParaRPr lang="en-US" altLang="zh-CN" sz="12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1944" name="Text Box 67"/>
                  <p:cNvSpPr txBox="1"/>
                  <p:nvPr/>
                </p:nvSpPr>
                <p:spPr>
                  <a:xfrm>
                    <a:off x="4764" y="2856"/>
                    <a:ext cx="226" cy="33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_</a:t>
                    </a:r>
                    <a:endParaRPr lang="en-US" altLang="zh-CN" sz="12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1945" name="Text Box 68"/>
                  <p:cNvSpPr txBox="1"/>
                  <p:nvPr/>
                </p:nvSpPr>
                <p:spPr>
                  <a:xfrm>
                    <a:off x="4422" y="2807"/>
                    <a:ext cx="226" cy="33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_</a:t>
                    </a:r>
                    <a:endParaRPr lang="en-US" altLang="zh-CN" sz="12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1946" name="Text Box 69"/>
                  <p:cNvSpPr txBox="1"/>
                  <p:nvPr/>
                </p:nvSpPr>
                <p:spPr>
                  <a:xfrm>
                    <a:off x="3052" y="2811"/>
                    <a:ext cx="226" cy="33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0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_</a:t>
                    </a:r>
                    <a:endParaRPr lang="en-US" altLang="zh-CN" sz="12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</p:grpSp>
      <p:sp>
        <p:nvSpPr>
          <p:cNvPr id="81925" name="Rectangle 70"/>
          <p:cNvSpPr/>
          <p:nvPr/>
        </p:nvSpPr>
        <p:spPr>
          <a:xfrm>
            <a:off x="177800" y="790575"/>
            <a:ext cx="8642350" cy="971550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49"/>
          <p:cNvSpPr/>
          <p:nvPr/>
        </p:nvSpPr>
        <p:spPr>
          <a:xfrm>
            <a:off x="971550" y="1600200"/>
            <a:ext cx="7772400" cy="571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endParaRPr lang="zh-CN" altLang="en-US" sz="4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2947" name="Line 50"/>
          <p:cNvSpPr/>
          <p:nvPr/>
        </p:nvSpPr>
        <p:spPr>
          <a:xfrm flipV="1">
            <a:off x="990600" y="1200150"/>
            <a:ext cx="7848600" cy="0"/>
          </a:xfrm>
          <a:prstGeom prst="line">
            <a:avLst/>
          </a:prstGeom>
          <a:ln w="9525">
            <a:noFill/>
          </a:ln>
        </p:spPr>
      </p:sp>
      <p:grpSp>
        <p:nvGrpSpPr>
          <p:cNvPr id="82948" name="Group 51"/>
          <p:cNvGrpSpPr/>
          <p:nvPr/>
        </p:nvGrpSpPr>
        <p:grpSpPr>
          <a:xfrm>
            <a:off x="301625" y="144463"/>
            <a:ext cx="8931275" cy="1377950"/>
            <a:chOff x="158" y="413"/>
            <a:chExt cx="5626" cy="1157"/>
          </a:xfrm>
        </p:grpSpPr>
        <p:sp>
          <p:nvSpPr>
            <p:cNvPr id="82994" name="Text Box 52"/>
            <p:cNvSpPr txBox="1"/>
            <p:nvPr/>
          </p:nvSpPr>
          <p:spPr>
            <a:xfrm>
              <a:off x="228" y="813"/>
              <a:ext cx="5556" cy="69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只有当原子轨道对称性相同的部分重叠，原子间的概率密度才会增大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,</a:t>
              </a: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形成化学键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995" name="Rectangle 53"/>
            <p:cNvSpPr/>
            <p:nvPr/>
          </p:nvSpPr>
          <p:spPr>
            <a:xfrm>
              <a:off x="158" y="754"/>
              <a:ext cx="5444" cy="816"/>
            </a:xfrm>
            <a:prstGeom prst="rect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82996" name="Text Box 54" descr="绿色大理石"/>
            <p:cNvSpPr txBox="1"/>
            <p:nvPr/>
          </p:nvSpPr>
          <p:spPr>
            <a:xfrm>
              <a:off x="1038" y="413"/>
              <a:ext cx="2621" cy="357"/>
            </a:xfrm>
            <a:prstGeom prst="rect">
              <a:avLst/>
            </a:prstGeom>
            <a:blipFill rotWithShape="1">
              <a:blip r:embed="rId2"/>
            </a:blip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原子轨道重叠的对称性原则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55"/>
          <p:cNvGrpSpPr/>
          <p:nvPr/>
        </p:nvGrpSpPr>
        <p:grpSpPr>
          <a:xfrm>
            <a:off x="252413" y="1584325"/>
            <a:ext cx="8748712" cy="3489325"/>
            <a:chOff x="159" y="1331"/>
            <a:chExt cx="5511" cy="2931"/>
          </a:xfrm>
        </p:grpSpPr>
        <p:grpSp>
          <p:nvGrpSpPr>
            <p:cNvPr id="82950" name="Group 56"/>
            <p:cNvGrpSpPr/>
            <p:nvPr/>
          </p:nvGrpSpPr>
          <p:grpSpPr>
            <a:xfrm>
              <a:off x="159" y="1331"/>
              <a:ext cx="5511" cy="2904"/>
              <a:chOff x="159" y="1331"/>
              <a:chExt cx="5511" cy="2904"/>
            </a:xfrm>
          </p:grpSpPr>
          <p:graphicFrame>
            <p:nvGraphicFramePr>
              <p:cNvPr id="82955" name="Object 57"/>
              <p:cNvGraphicFramePr>
                <a:graphicFrameLocks noChangeAspect="1"/>
              </p:cNvGraphicFramePr>
              <p:nvPr/>
            </p:nvGraphicFramePr>
            <p:xfrm>
              <a:off x="2789" y="3566"/>
              <a:ext cx="726" cy="3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3" imgW="581025" imgH="247650" progId="Paint.Picture">
                      <p:embed/>
                    </p:oleObj>
                  </mc:Choice>
                  <mc:Fallback>
                    <p:oleObj r:id="rId3" imgW="581025" imgH="247650" progId="Paint.Picture">
                      <p:embed/>
                      <p:pic>
                        <p:nvPicPr>
                          <p:cNvPr id="0" name="图片 3115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2789" y="3566"/>
                            <a:ext cx="726" cy="309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82956" name="Group 58"/>
              <p:cNvGrpSpPr/>
              <p:nvPr/>
            </p:nvGrpSpPr>
            <p:grpSpPr>
              <a:xfrm>
                <a:off x="159" y="1331"/>
                <a:ext cx="5511" cy="2904"/>
                <a:chOff x="159" y="1331"/>
                <a:chExt cx="5511" cy="2904"/>
              </a:xfrm>
            </p:grpSpPr>
            <p:grpSp>
              <p:nvGrpSpPr>
                <p:cNvPr id="82957" name="Group 59"/>
                <p:cNvGrpSpPr/>
                <p:nvPr/>
              </p:nvGrpSpPr>
              <p:grpSpPr>
                <a:xfrm>
                  <a:off x="159" y="1331"/>
                  <a:ext cx="5511" cy="698"/>
                  <a:chOff x="159" y="1758"/>
                  <a:chExt cx="5511" cy="698"/>
                </a:xfrm>
              </p:grpSpPr>
              <p:sp>
                <p:nvSpPr>
                  <p:cNvPr id="82992" name="Oval 60"/>
                  <p:cNvSpPr/>
                  <p:nvPr/>
                </p:nvSpPr>
                <p:spPr>
                  <a:xfrm>
                    <a:off x="159" y="1829"/>
                    <a:ext cx="182" cy="182"/>
                  </a:xfrm>
                  <a:prstGeom prst="ellipse">
                    <a:avLst/>
                  </a:prstGeom>
                  <a:solidFill>
                    <a:srgbClr val="6B50F0"/>
                  </a:solidFill>
                  <a:ln w="9525">
                    <a:noFill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18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2993" name="Text Box 61"/>
                  <p:cNvSpPr txBox="1"/>
                  <p:nvPr/>
                </p:nvSpPr>
                <p:spPr>
                  <a:xfrm>
                    <a:off x="341" y="1758"/>
                    <a:ext cx="5329" cy="69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zh-CN" altLang="en-US" sz="24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当两原子轨道以对称性不同的部分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(</a:t>
                    </a:r>
                    <a:r>
                      <a:rPr lang="zh-CN" altLang="en-US" sz="24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即”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+”</a:t>
                    </a:r>
                    <a:r>
                      <a:rPr lang="zh-CN" altLang="en-US" sz="24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与”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-”)</a:t>
                    </a:r>
                    <a:r>
                      <a:rPr lang="zh-CN" altLang="en-US" sz="24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重叠，原子间的概率密度几乎等于零，难以成键</a:t>
                    </a:r>
                    <a:endParaRPr lang="zh-CN" altLang="en-US" sz="12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82958" name="Group 62"/>
                <p:cNvGrpSpPr/>
                <p:nvPr/>
              </p:nvGrpSpPr>
              <p:grpSpPr>
                <a:xfrm>
                  <a:off x="249" y="2181"/>
                  <a:ext cx="5216" cy="2054"/>
                  <a:chOff x="249" y="2181"/>
                  <a:chExt cx="5216" cy="2054"/>
                </a:xfrm>
              </p:grpSpPr>
              <p:grpSp>
                <p:nvGrpSpPr>
                  <p:cNvPr id="82959" name="Group 63"/>
                  <p:cNvGrpSpPr/>
                  <p:nvPr/>
                </p:nvGrpSpPr>
                <p:grpSpPr>
                  <a:xfrm>
                    <a:off x="249" y="2181"/>
                    <a:ext cx="5216" cy="2054"/>
                    <a:chOff x="249" y="2181"/>
                    <a:chExt cx="5216" cy="2054"/>
                  </a:xfrm>
                </p:grpSpPr>
                <p:graphicFrame>
                  <p:nvGraphicFramePr>
                    <p:cNvPr id="82964" name="Object 64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2699" y="2387"/>
                    <a:ext cx="882" cy="1050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r:id="rId5" imgW="1400175" imgH="1666875" progId="Paint.Picture">
                            <p:embed/>
                          </p:oleObj>
                        </mc:Choice>
                        <mc:Fallback>
                          <p:oleObj r:id="rId5" imgW="1400175" imgH="1666875" progId="Paint.Picture">
                            <p:embed/>
                            <p:pic>
                              <p:nvPicPr>
                                <p:cNvPr id="0" name="图片 3110"/>
                                <p:cNvPicPr/>
                                <p:nvPr/>
                              </p:nvPicPr>
                              <p:blipFill>
                                <a:blip r:embed="rId6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2699" y="2387"/>
                                  <a:ext cx="882" cy="1050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noFill/>
                                  <a:miter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graphicFrame>
                  <p:nvGraphicFramePr>
                    <p:cNvPr id="82965" name="Object 65"/>
                    <p:cNvGraphicFramePr>
                      <a:graphicFrameLocks noChangeAspect="1"/>
                    </p:cNvGraphicFramePr>
                    <p:nvPr/>
                  </p:nvGraphicFramePr>
                  <p:xfrm>
                    <a:off x="4059" y="2341"/>
                    <a:ext cx="1314" cy="1092"/>
                  </p:xfrm>
                  <a:graphic>
                    <a:graphicData uri="http://schemas.openxmlformats.org/presentationml/2006/ole">
                      <mc:AlternateContent xmlns:mc="http://schemas.openxmlformats.org/markup-compatibility/2006">
                        <mc:Choice xmlns:v="urn:schemas-microsoft-com:vml" Requires="v">
                          <p:oleObj r:id="rId7" imgW="2085975" imgH="1733550" progId="Paint.Picture">
                            <p:embed/>
                          </p:oleObj>
                        </mc:Choice>
                        <mc:Fallback>
                          <p:oleObj r:id="rId7" imgW="2085975" imgH="1733550" progId="Paint.Picture">
                            <p:embed/>
                            <p:pic>
                              <p:nvPicPr>
                                <p:cNvPr id="0" name="图片 3114"/>
                                <p:cNvPicPr/>
                                <p:nvPr/>
                              </p:nvPicPr>
                              <p:blipFill>
                                <a:blip r:embed="rId8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4059" y="2341"/>
                                  <a:ext cx="1314" cy="1092"/>
                                </a:xfrm>
                                <a:prstGeom prst="rect">
                                  <a:avLst/>
                                </a:prstGeom>
                                <a:noFill/>
                                <a:ln w="38100">
                                  <a:noFill/>
                                  <a:miter/>
                                </a:ln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  <p:sp>
                  <p:nvSpPr>
                    <p:cNvPr id="82966" name="Line 66"/>
                    <p:cNvSpPr/>
                    <p:nvPr/>
                  </p:nvSpPr>
                  <p:spPr>
                    <a:xfrm>
                      <a:off x="2562" y="2907"/>
                      <a:ext cx="1089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  <p:sp>
                  <p:nvSpPr>
                    <p:cNvPr id="82967" name="Line 67"/>
                    <p:cNvSpPr/>
                    <p:nvPr/>
                  </p:nvSpPr>
                  <p:spPr>
                    <a:xfrm>
                      <a:off x="4105" y="2886"/>
                      <a:ext cx="1360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  <p:sp>
                  <p:nvSpPr>
                    <p:cNvPr id="82968" name="Text Box 68"/>
                    <p:cNvSpPr txBox="1"/>
                    <p:nvPr/>
                  </p:nvSpPr>
                  <p:spPr>
                    <a:xfrm>
                      <a:off x="2801" y="2442"/>
                      <a:ext cx="273" cy="33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+</a:t>
                      </a:r>
                      <a:endParaRPr lang="en-US" altLang="zh-CN" sz="12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2969" name="Text Box 69"/>
                    <p:cNvSpPr txBox="1"/>
                    <p:nvPr/>
                  </p:nvSpPr>
                  <p:spPr>
                    <a:xfrm>
                      <a:off x="3246" y="2955"/>
                      <a:ext cx="273" cy="33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+</a:t>
                      </a:r>
                      <a:endParaRPr lang="en-US" altLang="zh-CN" sz="12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2970" name="Text Box 70"/>
                    <p:cNvSpPr txBox="1"/>
                    <p:nvPr/>
                  </p:nvSpPr>
                  <p:spPr>
                    <a:xfrm>
                      <a:off x="4165" y="2420"/>
                      <a:ext cx="273" cy="33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+</a:t>
                      </a:r>
                      <a:endParaRPr lang="en-US" altLang="zh-CN" sz="12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2971" name="Text Box 71"/>
                    <p:cNvSpPr txBox="1"/>
                    <p:nvPr/>
                  </p:nvSpPr>
                  <p:spPr>
                    <a:xfrm>
                      <a:off x="4594" y="2852"/>
                      <a:ext cx="273" cy="33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+</a:t>
                      </a:r>
                      <a:endParaRPr lang="en-US" altLang="zh-CN" sz="12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2972" name="Text Box 72"/>
                    <p:cNvSpPr txBox="1"/>
                    <p:nvPr/>
                  </p:nvSpPr>
                  <p:spPr>
                    <a:xfrm>
                      <a:off x="5024" y="2396"/>
                      <a:ext cx="273" cy="33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+</a:t>
                      </a:r>
                      <a:endParaRPr lang="en-US" altLang="zh-CN" sz="12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2973" name="Text Box 73"/>
                    <p:cNvSpPr txBox="1"/>
                    <p:nvPr/>
                  </p:nvSpPr>
                  <p:spPr>
                    <a:xfrm>
                      <a:off x="2804" y="2819"/>
                      <a:ext cx="272" cy="33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_</a:t>
                      </a:r>
                      <a:endParaRPr lang="en-US" altLang="zh-CN" sz="12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2974" name="Text Box 74"/>
                    <p:cNvSpPr txBox="1"/>
                    <p:nvPr/>
                  </p:nvSpPr>
                  <p:spPr>
                    <a:xfrm>
                      <a:off x="3240" y="2308"/>
                      <a:ext cx="272" cy="33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_</a:t>
                      </a:r>
                      <a:endParaRPr lang="en-US" altLang="zh-CN" sz="12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2975" name="Text Box 75"/>
                    <p:cNvSpPr txBox="1"/>
                    <p:nvPr/>
                  </p:nvSpPr>
                  <p:spPr>
                    <a:xfrm>
                      <a:off x="4613" y="2296"/>
                      <a:ext cx="272" cy="33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_</a:t>
                      </a:r>
                      <a:endParaRPr lang="en-US" altLang="zh-CN" sz="12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2976" name="Text Box 76"/>
                    <p:cNvSpPr txBox="1"/>
                    <p:nvPr/>
                  </p:nvSpPr>
                  <p:spPr>
                    <a:xfrm>
                      <a:off x="4171" y="2792"/>
                      <a:ext cx="272" cy="33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_</a:t>
                      </a:r>
                      <a:endParaRPr lang="en-US" altLang="zh-CN" sz="12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grpSp>
                  <p:nvGrpSpPr>
                    <p:cNvPr id="82977" name="Group 77"/>
                    <p:cNvGrpSpPr/>
                    <p:nvPr/>
                  </p:nvGrpSpPr>
                  <p:grpSpPr>
                    <a:xfrm>
                      <a:off x="249" y="2181"/>
                      <a:ext cx="5056" cy="2054"/>
                      <a:chOff x="249" y="2181"/>
                      <a:chExt cx="5056" cy="2054"/>
                    </a:xfrm>
                  </p:grpSpPr>
                  <p:graphicFrame>
                    <p:nvGraphicFramePr>
                      <p:cNvPr id="82978" name="Object 78"/>
                      <p:cNvGraphicFramePr>
                        <a:graphicFrameLocks noChangeAspect="1"/>
                      </p:cNvGraphicFramePr>
                      <p:nvPr/>
                    </p:nvGraphicFramePr>
                    <p:xfrm>
                      <a:off x="930" y="3012"/>
                      <a:ext cx="544" cy="261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r:id="rId9" imgW="438150" imgH="209550" progId="Paint.Picture">
                              <p:embed/>
                            </p:oleObj>
                          </mc:Choice>
                          <mc:Fallback>
                            <p:oleObj r:id="rId9" imgW="438150" imgH="209550" progId="Paint.Picture">
                              <p:embed/>
                              <p:pic>
                                <p:nvPicPr>
                                  <p:cNvPr id="0" name="图片 3112"/>
                                  <p:cNvPicPr/>
                                  <p:nvPr/>
                                </p:nvPicPr>
                                <p:blipFill>
                                  <a:blip r:embed="rId10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930" y="3012"/>
                                    <a:ext cx="544" cy="261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aphicFrame>
                    <p:nvGraphicFramePr>
                      <p:cNvPr id="82979" name="Object 79"/>
                      <p:cNvGraphicFramePr>
                        <a:graphicFrameLocks noChangeAspect="1"/>
                      </p:cNvGraphicFramePr>
                      <p:nvPr/>
                    </p:nvGraphicFramePr>
                    <p:xfrm>
                      <a:off x="975" y="3949"/>
                      <a:ext cx="726" cy="286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r:id="rId11" imgW="581025" imgH="228600" progId="Paint.Picture">
                              <p:embed/>
                            </p:oleObj>
                          </mc:Choice>
                          <mc:Fallback>
                            <p:oleObj r:id="rId11" imgW="581025" imgH="228600" progId="Paint.Picture">
                              <p:embed/>
                              <p:pic>
                                <p:nvPicPr>
                                  <p:cNvPr id="0" name="图片 3111"/>
                                  <p:cNvPicPr/>
                                  <p:nvPr/>
                                </p:nvPicPr>
                                <p:blipFill>
                                  <a:blip r:embed="rId12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975" y="3949"/>
                                    <a:ext cx="726" cy="286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aphicFrame>
                    <p:nvGraphicFramePr>
                      <p:cNvPr id="82980" name="Object 80"/>
                      <p:cNvGraphicFramePr>
                        <a:graphicFrameLocks noChangeAspect="1"/>
                      </p:cNvGraphicFramePr>
                      <p:nvPr/>
                    </p:nvGraphicFramePr>
                    <p:xfrm>
                      <a:off x="476" y="2296"/>
                      <a:ext cx="1626" cy="690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r:id="rId13" imgW="2581275" imgH="1095375" progId="Paint.Picture">
                              <p:embed/>
                            </p:oleObj>
                          </mc:Choice>
                          <mc:Fallback>
                            <p:oleObj r:id="rId13" imgW="2581275" imgH="1095375" progId="Paint.Picture">
                              <p:embed/>
                              <p:pic>
                                <p:nvPicPr>
                                  <p:cNvPr id="0" name="图片 3113"/>
                                  <p:cNvPicPr/>
                                  <p:nvPr/>
                                </p:nvPicPr>
                                <p:blipFill>
                                  <a:blip r:embed="rId14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476" y="2296"/>
                                    <a:ext cx="1626" cy="690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graphicFrame>
                    <p:nvGraphicFramePr>
                      <p:cNvPr id="82981" name="Object 81"/>
                      <p:cNvGraphicFramePr>
                        <a:graphicFrameLocks noChangeAspect="1"/>
                      </p:cNvGraphicFramePr>
                      <p:nvPr/>
                    </p:nvGraphicFramePr>
                    <p:xfrm>
                      <a:off x="340" y="3294"/>
                      <a:ext cx="1944" cy="636"/>
                    </p:xfrm>
                    <a:graphic>
                      <a:graphicData uri="http://schemas.openxmlformats.org/presentationml/2006/ole">
                        <mc:AlternateContent xmlns:mc="http://schemas.openxmlformats.org/markup-compatibility/2006">
                          <mc:Choice xmlns:v="urn:schemas-microsoft-com:vml" Requires="v">
                            <p:oleObj r:id="rId15" imgW="3086100" imgH="1009650" progId="Paint.Picture">
                              <p:embed/>
                            </p:oleObj>
                          </mc:Choice>
                          <mc:Fallback>
                            <p:oleObj r:id="rId15" imgW="3086100" imgH="1009650" progId="Paint.Picture">
                              <p:embed/>
                              <p:pic>
                                <p:nvPicPr>
                                  <p:cNvPr id="0" name="图片 3116"/>
                                  <p:cNvPicPr/>
                                  <p:nvPr/>
                                </p:nvPicPr>
                                <p:blipFill>
                                  <a:blip r:embed="rId16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340" y="3294"/>
                                    <a:ext cx="1944" cy="636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 w="38100">
                                    <a:noFill/>
                                    <a:miter/>
                                  </a:ln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  <p:sp>
                    <p:nvSpPr>
                      <p:cNvPr id="82982" name="Line 82"/>
                      <p:cNvSpPr/>
                      <p:nvPr/>
                    </p:nvSpPr>
                    <p:spPr>
                      <a:xfrm>
                        <a:off x="395" y="2640"/>
                        <a:ext cx="1859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triangle" w="med" len="med"/>
                      </a:ln>
                    </p:spPr>
                  </p:sp>
                  <p:sp>
                    <p:nvSpPr>
                      <p:cNvPr id="82983" name="Line 83"/>
                      <p:cNvSpPr/>
                      <p:nvPr/>
                    </p:nvSpPr>
                    <p:spPr>
                      <a:xfrm>
                        <a:off x="249" y="3614"/>
                        <a:ext cx="2132" cy="0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triangle" w="med" len="med"/>
                      </a:ln>
                    </p:spPr>
                  </p:sp>
                  <p:sp>
                    <p:nvSpPr>
                      <p:cNvPr id="82984" name="Text Box 84"/>
                      <p:cNvSpPr txBox="1"/>
                      <p:nvPr/>
                    </p:nvSpPr>
                    <p:spPr>
                      <a:xfrm>
                        <a:off x="657" y="2303"/>
                        <a:ext cx="273" cy="33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>
                        <a:spAutoFit/>
                      </a:bodyPr>
                      <a:lstStyle/>
                      <a:p>
                        <a:pPr eaLnBrk="1" hangingPunct="1">
                          <a:spcBef>
                            <a:spcPct val="50000"/>
                          </a:spcBef>
                        </a:pPr>
                        <a:r>
                          <a:rPr lang="en-US" altLang="zh-CN" sz="2000" b="1" dirty="0">
                            <a:solidFill>
                              <a:srgbClr val="FFFF00"/>
                            </a:solidFill>
                            <a:latin typeface="Times New Roman" panose="02020603050405020304" pitchFamily="18" charset="0"/>
                            <a:ea typeface="幼圆" panose="02010509060101010101" pitchFamily="49" charset="-122"/>
                          </a:rPr>
                          <a:t>+</a:t>
                        </a:r>
                        <a:endParaRPr lang="en-US" altLang="zh-CN" sz="1200" dirty="0"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82985" name="Text Box 85"/>
                      <p:cNvSpPr txBox="1"/>
                      <p:nvPr/>
                    </p:nvSpPr>
                    <p:spPr>
                      <a:xfrm>
                        <a:off x="1613" y="2305"/>
                        <a:ext cx="273" cy="33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>
                        <a:spAutoFit/>
                      </a:bodyPr>
                      <a:lstStyle/>
                      <a:p>
                        <a:pPr eaLnBrk="1" hangingPunct="1">
                          <a:spcBef>
                            <a:spcPct val="50000"/>
                          </a:spcBef>
                        </a:pPr>
                        <a:r>
                          <a:rPr lang="en-US" altLang="zh-CN" sz="2000" b="1" dirty="0">
                            <a:solidFill>
                              <a:srgbClr val="FFFF00"/>
                            </a:solidFill>
                            <a:latin typeface="Times New Roman" panose="02020603050405020304" pitchFamily="18" charset="0"/>
                            <a:ea typeface="幼圆" panose="02010509060101010101" pitchFamily="49" charset="-122"/>
                          </a:rPr>
                          <a:t>+</a:t>
                        </a:r>
                        <a:endParaRPr lang="en-US" altLang="zh-CN" sz="1200" dirty="0"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82986" name="Text Box 86"/>
                      <p:cNvSpPr txBox="1"/>
                      <p:nvPr/>
                    </p:nvSpPr>
                    <p:spPr>
                      <a:xfrm>
                        <a:off x="512" y="3294"/>
                        <a:ext cx="273" cy="33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>
                        <a:spAutoFit/>
                      </a:bodyPr>
                      <a:lstStyle/>
                      <a:p>
                        <a:pPr eaLnBrk="1" hangingPunct="1">
                          <a:spcBef>
                            <a:spcPct val="50000"/>
                          </a:spcBef>
                        </a:pPr>
                        <a:r>
                          <a:rPr lang="en-US" altLang="zh-CN" sz="2000" b="1" dirty="0">
                            <a:solidFill>
                              <a:srgbClr val="FFFF00"/>
                            </a:solidFill>
                            <a:latin typeface="Times New Roman" panose="02020603050405020304" pitchFamily="18" charset="0"/>
                            <a:ea typeface="幼圆" panose="02010509060101010101" pitchFamily="49" charset="-122"/>
                          </a:rPr>
                          <a:t>+</a:t>
                        </a:r>
                        <a:endParaRPr lang="en-US" altLang="zh-CN" sz="1200" dirty="0"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82987" name="Text Box 87"/>
                      <p:cNvSpPr txBox="1"/>
                      <p:nvPr/>
                    </p:nvSpPr>
                    <p:spPr>
                      <a:xfrm>
                        <a:off x="1374" y="3291"/>
                        <a:ext cx="273" cy="33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>
                        <a:spAutoFit/>
                      </a:bodyPr>
                      <a:lstStyle/>
                      <a:p>
                        <a:pPr eaLnBrk="1" hangingPunct="1">
                          <a:spcBef>
                            <a:spcPct val="50000"/>
                          </a:spcBef>
                        </a:pPr>
                        <a:r>
                          <a:rPr lang="en-US" altLang="zh-CN" sz="2000" b="1" dirty="0">
                            <a:solidFill>
                              <a:srgbClr val="FFFF00"/>
                            </a:solidFill>
                            <a:latin typeface="Times New Roman" panose="02020603050405020304" pitchFamily="18" charset="0"/>
                            <a:ea typeface="幼圆" panose="02010509060101010101" pitchFamily="49" charset="-122"/>
                          </a:rPr>
                          <a:t>+</a:t>
                        </a:r>
                        <a:endParaRPr lang="en-US" altLang="zh-CN" sz="1200" dirty="0"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82988" name="Text Box 88"/>
                      <p:cNvSpPr txBox="1"/>
                      <p:nvPr/>
                    </p:nvSpPr>
                    <p:spPr>
                      <a:xfrm>
                        <a:off x="1142" y="2181"/>
                        <a:ext cx="272" cy="33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>
                        <a:spAutoFit/>
                      </a:bodyPr>
                      <a:lstStyle/>
                      <a:p>
                        <a:pPr eaLnBrk="1" hangingPunct="1">
                          <a:spcBef>
                            <a:spcPct val="50000"/>
                          </a:spcBef>
                        </a:pPr>
                        <a:r>
                          <a:rPr lang="en-US" altLang="zh-CN" sz="2000" b="1" dirty="0">
                            <a:solidFill>
                              <a:srgbClr val="FFFF00"/>
                            </a:solidFill>
                            <a:latin typeface="Times New Roman" panose="02020603050405020304" pitchFamily="18" charset="0"/>
                            <a:ea typeface="幼圆" panose="02010509060101010101" pitchFamily="49" charset="-122"/>
                          </a:rPr>
                          <a:t>_</a:t>
                        </a:r>
                        <a:endParaRPr lang="en-US" altLang="zh-CN" sz="1200" dirty="0"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82989" name="Text Box 89"/>
                      <p:cNvSpPr txBox="1"/>
                      <p:nvPr/>
                    </p:nvSpPr>
                    <p:spPr>
                      <a:xfrm>
                        <a:off x="966" y="3182"/>
                        <a:ext cx="272" cy="33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>
                        <a:spAutoFit/>
                      </a:bodyPr>
                      <a:lstStyle/>
                      <a:p>
                        <a:pPr eaLnBrk="1" hangingPunct="1">
                          <a:spcBef>
                            <a:spcPct val="50000"/>
                          </a:spcBef>
                        </a:pPr>
                        <a:r>
                          <a:rPr lang="en-US" altLang="zh-CN" sz="2000" b="1" dirty="0">
                            <a:solidFill>
                              <a:srgbClr val="FFFF00"/>
                            </a:solidFill>
                            <a:latin typeface="Times New Roman" panose="02020603050405020304" pitchFamily="18" charset="0"/>
                            <a:ea typeface="幼圆" panose="02010509060101010101" pitchFamily="49" charset="-122"/>
                          </a:rPr>
                          <a:t>_</a:t>
                        </a:r>
                        <a:endParaRPr lang="en-US" altLang="zh-CN" sz="1200" dirty="0"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82990" name="Text Box 90"/>
                      <p:cNvSpPr txBox="1"/>
                      <p:nvPr/>
                    </p:nvSpPr>
                    <p:spPr>
                      <a:xfrm>
                        <a:off x="1873" y="3167"/>
                        <a:ext cx="272" cy="33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>
                        <a:spAutoFit/>
                      </a:bodyPr>
                      <a:lstStyle/>
                      <a:p>
                        <a:pPr eaLnBrk="1" hangingPunct="1">
                          <a:spcBef>
                            <a:spcPct val="50000"/>
                          </a:spcBef>
                        </a:pPr>
                        <a:r>
                          <a:rPr lang="en-US" altLang="zh-CN" sz="2000" b="1" dirty="0">
                            <a:solidFill>
                              <a:srgbClr val="FFFF00"/>
                            </a:solidFill>
                            <a:latin typeface="Times New Roman" panose="02020603050405020304" pitchFamily="18" charset="0"/>
                            <a:ea typeface="幼圆" panose="02010509060101010101" pitchFamily="49" charset="-122"/>
                          </a:rPr>
                          <a:t>_</a:t>
                        </a:r>
                        <a:endParaRPr lang="en-US" altLang="zh-CN" sz="1200" dirty="0"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82991" name="Text Box 91"/>
                      <p:cNvSpPr txBox="1"/>
                      <p:nvPr/>
                    </p:nvSpPr>
                    <p:spPr>
                      <a:xfrm>
                        <a:off x="5033" y="2795"/>
                        <a:ext cx="272" cy="336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>
                        <a:spAutoFit/>
                      </a:bodyPr>
                      <a:lstStyle/>
                      <a:p>
                        <a:pPr eaLnBrk="1" hangingPunct="1">
                          <a:spcBef>
                            <a:spcPct val="50000"/>
                          </a:spcBef>
                        </a:pPr>
                        <a:r>
                          <a:rPr lang="en-US" altLang="zh-CN" sz="2000" b="1" dirty="0">
                            <a:solidFill>
                              <a:srgbClr val="FFFF00"/>
                            </a:solidFill>
                            <a:latin typeface="Times New Roman" panose="02020603050405020304" pitchFamily="18" charset="0"/>
                            <a:ea typeface="幼圆" panose="02010509060101010101" pitchFamily="49" charset="-122"/>
                          </a:rPr>
                          <a:t>_</a:t>
                        </a:r>
                        <a:endParaRPr lang="en-US" altLang="zh-CN" sz="1200" dirty="0"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p:txBody>
                  </p:sp>
                </p:grpSp>
              </p:grpSp>
              <p:grpSp>
                <p:nvGrpSpPr>
                  <p:cNvPr id="82960" name="Group 92"/>
                  <p:cNvGrpSpPr/>
                  <p:nvPr/>
                </p:nvGrpSpPr>
                <p:grpSpPr>
                  <a:xfrm>
                    <a:off x="4286" y="3385"/>
                    <a:ext cx="991" cy="536"/>
                    <a:chOff x="4286" y="3385"/>
                    <a:chExt cx="991" cy="536"/>
                  </a:xfrm>
                </p:grpSpPr>
                <p:sp>
                  <p:nvSpPr>
                    <p:cNvPr id="82961" name="Text Box 93"/>
                    <p:cNvSpPr txBox="1"/>
                    <p:nvPr/>
                  </p:nvSpPr>
                  <p:spPr>
                    <a:xfrm>
                      <a:off x="4286" y="3430"/>
                      <a:ext cx="544" cy="491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32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d</a:t>
                      </a: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xy</a:t>
                      </a:r>
                      <a:r>
                        <a:rPr lang="en-US" altLang="zh-CN" sz="1800" b="1" i="1" baseline="-25000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</a:t>
                      </a:r>
                      <a:endParaRPr lang="en-US" altLang="zh-CN" sz="12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2962" name="Text Box 94"/>
                    <p:cNvSpPr txBox="1"/>
                    <p:nvPr/>
                  </p:nvSpPr>
                  <p:spPr>
                    <a:xfrm>
                      <a:off x="4733" y="3385"/>
                      <a:ext cx="408" cy="439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-p</a:t>
                      </a:r>
                      <a:r>
                        <a:rPr lang="en-US" altLang="zh-CN" sz="16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</a:t>
                      </a:r>
                      <a:endParaRPr lang="en-US" altLang="zh-CN" sz="12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  <p:sp>
                  <p:nvSpPr>
                    <p:cNvPr id="82963" name="Text Box 95"/>
                    <p:cNvSpPr txBox="1"/>
                    <p:nvPr/>
                  </p:nvSpPr>
                  <p:spPr>
                    <a:xfrm>
                      <a:off x="5005" y="3560"/>
                      <a:ext cx="272" cy="310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y</a:t>
                      </a:r>
                      <a:endParaRPr lang="en-US" altLang="zh-CN" sz="12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</p:grpSp>
          </p:grpSp>
        </p:grpSp>
        <p:sp>
          <p:nvSpPr>
            <p:cNvPr id="82951" name="Text Box 96"/>
            <p:cNvSpPr txBox="1"/>
            <p:nvPr/>
          </p:nvSpPr>
          <p:spPr>
            <a:xfrm>
              <a:off x="857" y="2983"/>
              <a:ext cx="817" cy="326"/>
            </a:xfrm>
            <a:prstGeom prst="rect">
              <a:avLst/>
            </a:prstGeom>
            <a:solidFill>
              <a:srgbClr val="F0F4F8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80000"/>
                </a:lnSpc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p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x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-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s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952" name="Text Box 97"/>
            <p:cNvSpPr txBox="1"/>
            <p:nvPr/>
          </p:nvSpPr>
          <p:spPr>
            <a:xfrm>
              <a:off x="884" y="3918"/>
              <a:ext cx="907" cy="344"/>
            </a:xfrm>
            <a:prstGeom prst="rect">
              <a:avLst/>
            </a:prstGeom>
            <a:solidFill>
              <a:srgbClr val="EAF0F6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60000"/>
                </a:lnSpc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p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-</a:t>
              </a:r>
              <a:r>
                <a:rPr lang="en-US" altLang="zh-CN" sz="3200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p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x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953" name="Text Box 98"/>
            <p:cNvSpPr txBox="1"/>
            <p:nvPr/>
          </p:nvSpPr>
          <p:spPr>
            <a:xfrm>
              <a:off x="2671" y="3575"/>
              <a:ext cx="907" cy="344"/>
            </a:xfrm>
            <a:prstGeom prst="rect">
              <a:avLst/>
            </a:prstGeom>
            <a:solidFill>
              <a:srgbClr val="F2F1F7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60000"/>
                </a:lnSpc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p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y</a:t>
              </a:r>
              <a:r>
                <a:rPr lang="en-US" altLang="zh-CN" sz="32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-</a:t>
              </a:r>
              <a:r>
                <a:rPr lang="en-US" altLang="zh-CN" sz="3200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p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y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954" name="Text Box 99"/>
            <p:cNvSpPr txBox="1"/>
            <p:nvPr/>
          </p:nvSpPr>
          <p:spPr>
            <a:xfrm>
              <a:off x="4286" y="3557"/>
              <a:ext cx="907" cy="344"/>
            </a:xfrm>
            <a:prstGeom prst="rect">
              <a:avLst/>
            </a:prstGeom>
            <a:solidFill>
              <a:srgbClr val="EAF0F6"/>
            </a:solidFill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60000"/>
                </a:lnSpc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d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xy</a:t>
              </a:r>
              <a:r>
                <a:rPr lang="en-US" altLang="zh-CN" sz="32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-</a:t>
              </a:r>
              <a:r>
                <a:rPr lang="en-US" altLang="zh-CN" sz="3200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p</a:t>
              </a:r>
              <a:r>
                <a:rPr lang="en-US" altLang="zh-CN" sz="2400" b="1" i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y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70" name="Group 13"/>
          <p:cNvGrpSpPr/>
          <p:nvPr/>
        </p:nvGrpSpPr>
        <p:grpSpPr>
          <a:xfrm>
            <a:off x="466725" y="1600200"/>
            <a:ext cx="8626475" cy="1554163"/>
            <a:chOff x="158" y="527"/>
            <a:chExt cx="5434" cy="1306"/>
          </a:xfrm>
        </p:grpSpPr>
        <p:sp>
          <p:nvSpPr>
            <p:cNvPr id="83980" name="Text Box 14"/>
            <p:cNvSpPr txBox="1"/>
            <p:nvPr/>
          </p:nvSpPr>
          <p:spPr>
            <a:xfrm>
              <a:off x="158" y="1081"/>
              <a:ext cx="998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共价键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3981" name="Text Box 15"/>
            <p:cNvSpPr txBox="1"/>
            <p:nvPr/>
          </p:nvSpPr>
          <p:spPr>
            <a:xfrm>
              <a:off x="1247" y="747"/>
              <a:ext cx="1633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极性共价键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3982" name="Text Box 16"/>
            <p:cNvSpPr txBox="1"/>
            <p:nvPr/>
          </p:nvSpPr>
          <p:spPr>
            <a:xfrm>
              <a:off x="2916" y="527"/>
              <a:ext cx="2676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强极性键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: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如 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H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－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Cl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3983" name="Text Box 17"/>
            <p:cNvSpPr txBox="1"/>
            <p:nvPr/>
          </p:nvSpPr>
          <p:spPr>
            <a:xfrm>
              <a:off x="2853" y="955"/>
              <a:ext cx="2676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弱极性键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: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如 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H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－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I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3984" name="Text Box 18"/>
            <p:cNvSpPr txBox="1"/>
            <p:nvPr/>
          </p:nvSpPr>
          <p:spPr>
            <a:xfrm>
              <a:off x="1244" y="1393"/>
              <a:ext cx="4219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非极性共价键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: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如 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H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－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H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、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Cl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－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Cl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3985" name="AutoShape 19"/>
            <p:cNvSpPr/>
            <p:nvPr/>
          </p:nvSpPr>
          <p:spPr>
            <a:xfrm flipH="1">
              <a:off x="1144" y="969"/>
              <a:ext cx="136" cy="680"/>
            </a:xfrm>
            <a:prstGeom prst="rightBrace">
              <a:avLst>
                <a:gd name="adj1" fmla="val 41666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3986" name="AutoShape 20"/>
            <p:cNvSpPr/>
            <p:nvPr/>
          </p:nvSpPr>
          <p:spPr>
            <a:xfrm flipH="1">
              <a:off x="2801" y="709"/>
              <a:ext cx="136" cy="499"/>
            </a:xfrm>
            <a:prstGeom prst="rightBrace">
              <a:avLst>
                <a:gd name="adj1" fmla="val 30575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3971" name="Group 21"/>
          <p:cNvGrpSpPr/>
          <p:nvPr/>
        </p:nvGrpSpPr>
        <p:grpSpPr>
          <a:xfrm>
            <a:off x="596900" y="955675"/>
            <a:ext cx="4622800" cy="523875"/>
            <a:chOff x="240" y="515"/>
            <a:chExt cx="2912" cy="439"/>
          </a:xfrm>
        </p:grpSpPr>
        <p:sp>
          <p:nvSpPr>
            <p:cNvPr id="83978" name="Oval 22"/>
            <p:cNvSpPr/>
            <p:nvPr/>
          </p:nvSpPr>
          <p:spPr>
            <a:xfrm>
              <a:off x="240" y="687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3979" name="Text Box 23"/>
            <p:cNvSpPr txBox="1"/>
            <p:nvPr/>
          </p:nvSpPr>
          <p:spPr>
            <a:xfrm>
              <a:off x="425" y="515"/>
              <a:ext cx="2727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按键是否有极性分：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24"/>
          <p:cNvGrpSpPr/>
          <p:nvPr/>
        </p:nvGrpSpPr>
        <p:grpSpPr>
          <a:xfrm>
            <a:off x="608013" y="3333750"/>
            <a:ext cx="8501062" cy="522288"/>
            <a:chOff x="247" y="2296"/>
            <a:chExt cx="5355" cy="440"/>
          </a:xfrm>
        </p:grpSpPr>
        <p:sp>
          <p:nvSpPr>
            <p:cNvPr id="83976" name="Oval 25"/>
            <p:cNvSpPr/>
            <p:nvPr/>
          </p:nvSpPr>
          <p:spPr>
            <a:xfrm>
              <a:off x="247" y="2468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3977" name="Text Box 26"/>
            <p:cNvSpPr txBox="1"/>
            <p:nvPr/>
          </p:nvSpPr>
          <p:spPr>
            <a:xfrm>
              <a:off x="432" y="2296"/>
              <a:ext cx="5170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按原子轨道重叠部分的对称性分：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9243" name="Text Box 27"/>
          <p:cNvSpPr txBox="1"/>
          <p:nvPr/>
        </p:nvSpPr>
        <p:spPr>
          <a:xfrm>
            <a:off x="2411413" y="4083050"/>
            <a:ext cx="432117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lang="el-GR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σ</a:t>
            </a:r>
            <a:r>
              <a:rPr lang="zh-CN" altLang="el-GR" b="1" dirty="0">
                <a:latin typeface="Times New Roman" panose="02020603050405020304" pitchFamily="18" charset="0"/>
                <a:ea typeface="幼圆" panose="02010509060101010101" pitchFamily="49" charset="-122"/>
              </a:rPr>
              <a:t>键、</a:t>
            </a:r>
            <a:r>
              <a:rPr lang="el-GR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π</a:t>
            </a:r>
            <a:r>
              <a:rPr lang="zh-CN" altLang="el-GR" b="1" dirty="0">
                <a:latin typeface="Times New Roman" panose="02020603050405020304" pitchFamily="18" charset="0"/>
                <a:ea typeface="幼圆" panose="02010509060101010101" pitchFamily="49" charset="-122"/>
              </a:rPr>
              <a:t>键</a:t>
            </a:r>
            <a:endParaRPr lang="zh-CN" altLang="el-GR" sz="1400" dirty="0"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83974" name="Rectangle 28"/>
          <p:cNvSpPr/>
          <p:nvPr/>
        </p:nvSpPr>
        <p:spPr>
          <a:xfrm>
            <a:off x="395288" y="166688"/>
            <a:ext cx="3090862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</a:rPr>
              <a:t>4)</a:t>
            </a:r>
            <a:r>
              <a:rPr lang="zh-CN" altLang="en-US" sz="3200" dirty="0">
                <a:latin typeface="Times New Roman" panose="02020603050405020304" pitchFamily="18" charset="0"/>
              </a:rPr>
              <a:t>共价键的类型 </a:t>
            </a:r>
          </a:p>
        </p:txBody>
      </p:sp>
      <p:pic>
        <p:nvPicPr>
          <p:cNvPr id="83975" name="Picture 30" descr="next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350" y="4568825"/>
            <a:ext cx="515938" cy="403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9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3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Line 2"/>
          <p:cNvSpPr/>
          <p:nvPr/>
        </p:nvSpPr>
        <p:spPr>
          <a:xfrm flipV="1">
            <a:off x="1035050" y="1311275"/>
            <a:ext cx="7848600" cy="0"/>
          </a:xfrm>
          <a:prstGeom prst="line">
            <a:avLst/>
          </a:prstGeom>
          <a:ln w="9525">
            <a:noFill/>
          </a:ln>
        </p:spPr>
      </p:sp>
      <p:grpSp>
        <p:nvGrpSpPr>
          <p:cNvPr id="84995" name="Group 3"/>
          <p:cNvGrpSpPr/>
          <p:nvPr/>
        </p:nvGrpSpPr>
        <p:grpSpPr>
          <a:xfrm>
            <a:off x="320675" y="201613"/>
            <a:ext cx="8823325" cy="954087"/>
            <a:chOff x="158" y="75"/>
            <a:chExt cx="5407" cy="801"/>
          </a:xfrm>
        </p:grpSpPr>
        <p:sp>
          <p:nvSpPr>
            <p:cNvPr id="85016" name="Oval 4"/>
            <p:cNvSpPr/>
            <p:nvPr/>
          </p:nvSpPr>
          <p:spPr>
            <a:xfrm>
              <a:off x="158" y="242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85017" name="Text Box 5"/>
            <p:cNvSpPr txBox="1"/>
            <p:nvPr/>
          </p:nvSpPr>
          <p:spPr>
            <a:xfrm>
              <a:off x="340" y="75"/>
              <a:ext cx="5225" cy="80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l-GR" altLang="zh-CN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σ</a:t>
              </a:r>
              <a:r>
                <a:rPr lang="zh-CN" altLang="el-GR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键：原子轨道以</a:t>
              </a:r>
              <a:r>
                <a:rPr lang="zh-CN" altLang="el-GR" b="1" dirty="0">
                  <a:latin typeface="Arial" panose="020B0604020202020204" pitchFamily="34" charset="0"/>
                  <a:ea typeface="幼圆" panose="02010509060101010101" pitchFamily="49" charset="-122"/>
                </a:rPr>
                <a:t>“</a:t>
              </a:r>
              <a:r>
                <a:rPr lang="zh-CN" altLang="el-GR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头碰头</a:t>
              </a:r>
              <a:r>
                <a:rPr lang="zh-CN" altLang="el-GR" b="1" dirty="0">
                  <a:latin typeface="Arial" panose="020B0604020202020204" pitchFamily="34" charset="0"/>
                  <a:ea typeface="幼圆" panose="02010509060101010101" pitchFamily="49" charset="-122"/>
                </a:rPr>
                <a:t>”</a:t>
              </a:r>
              <a:r>
                <a:rPr lang="zh-CN" altLang="el-GR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的形式重叠所形成的键</a:t>
              </a:r>
              <a:r>
                <a:rPr lang="zh-CN" altLang="el-GR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。</a:t>
              </a:r>
              <a:endParaRPr lang="zh-CN" altLang="el-GR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8182" name="Text Box 6"/>
          <p:cNvSpPr txBox="1"/>
          <p:nvPr/>
        </p:nvSpPr>
        <p:spPr>
          <a:xfrm>
            <a:off x="1328738" y="3930650"/>
            <a:ext cx="6956425" cy="522288"/>
          </a:xfrm>
          <a:prstGeom prst="rect">
            <a:avLst/>
          </a:prstGeom>
          <a:gradFill rotWithShape="1">
            <a:gsLst>
              <a:gs pos="0">
                <a:srgbClr val="32256F"/>
              </a:gs>
              <a:gs pos="50000">
                <a:srgbClr val="6B50F0"/>
              </a:gs>
              <a:gs pos="100000">
                <a:srgbClr val="32256F"/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对键轴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(</a:t>
            </a:r>
            <a:r>
              <a:rPr lang="en-US" altLang="zh-CN" b="1" i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x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轴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)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具有圆柱形对称性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4997" name="Group 7"/>
          <p:cNvGrpSpPr/>
          <p:nvPr/>
        </p:nvGrpSpPr>
        <p:grpSpPr>
          <a:xfrm>
            <a:off x="1047750" y="1209675"/>
            <a:ext cx="7856538" cy="2786063"/>
            <a:chOff x="715" y="935"/>
            <a:chExt cx="4949" cy="2339"/>
          </a:xfrm>
        </p:grpSpPr>
        <p:grpSp>
          <p:nvGrpSpPr>
            <p:cNvPr id="84999" name="Group 8"/>
            <p:cNvGrpSpPr/>
            <p:nvPr/>
          </p:nvGrpSpPr>
          <p:grpSpPr>
            <a:xfrm>
              <a:off x="2631" y="2731"/>
              <a:ext cx="632" cy="543"/>
              <a:chOff x="1314" y="1609"/>
              <a:chExt cx="632" cy="543"/>
            </a:xfrm>
          </p:grpSpPr>
          <p:sp>
            <p:nvSpPr>
              <p:cNvPr id="85014" name="Text Box 9"/>
              <p:cNvSpPr txBox="1"/>
              <p:nvPr/>
            </p:nvSpPr>
            <p:spPr>
              <a:xfrm>
                <a:off x="1314" y="1609"/>
                <a:ext cx="363" cy="5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lang="el-GR" altLang="zh-CN" sz="36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σ</a:t>
                </a:r>
                <a:r>
                  <a:rPr lang="el-GR" altLang="zh-CN" sz="3600" b="1" baseline="-25000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 </a:t>
                </a:r>
                <a:endParaRPr lang="el-GR" altLang="zh-CN" sz="1800" dirty="0"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85015" name="Text Box 10"/>
              <p:cNvSpPr txBox="1"/>
              <p:nvPr/>
            </p:nvSpPr>
            <p:spPr>
              <a:xfrm>
                <a:off x="1492" y="1749"/>
                <a:ext cx="454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p-p</a:t>
                </a:r>
                <a:endPara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5000" name="Text Box 11"/>
            <p:cNvSpPr txBox="1"/>
            <p:nvPr/>
          </p:nvSpPr>
          <p:spPr>
            <a:xfrm>
              <a:off x="2330" y="1154"/>
              <a:ext cx="3334" cy="5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3600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x</a:t>
              </a:r>
              <a:r>
                <a:rPr lang="en-US" altLang="zh-CN" sz="36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                                   </a:t>
              </a:r>
              <a:r>
                <a:rPr lang="en-US" altLang="zh-CN" sz="3600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x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5001" name="Text Box 12"/>
            <p:cNvSpPr txBox="1"/>
            <p:nvPr/>
          </p:nvSpPr>
          <p:spPr>
            <a:xfrm>
              <a:off x="4240" y="2269"/>
              <a:ext cx="363" cy="5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3600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x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85002" name="Object 13"/>
            <p:cNvGraphicFramePr>
              <a:graphicFrameLocks noChangeAspect="1"/>
            </p:cNvGraphicFramePr>
            <p:nvPr/>
          </p:nvGraphicFramePr>
          <p:xfrm>
            <a:off x="839" y="935"/>
            <a:ext cx="1488" cy="9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362200" imgH="1485900" progId="Paint.Picture">
                    <p:embed/>
                  </p:oleObj>
                </mc:Choice>
                <mc:Fallback>
                  <p:oleObj r:id="rId2" imgW="2362200" imgH="1485900" progId="Paint.Picture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839" y="935"/>
                          <a:ext cx="1488" cy="9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5003" name="Line 14"/>
            <p:cNvSpPr/>
            <p:nvPr/>
          </p:nvSpPr>
          <p:spPr>
            <a:xfrm>
              <a:off x="715" y="1389"/>
              <a:ext cx="163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85004" name="Group 15"/>
            <p:cNvGrpSpPr/>
            <p:nvPr/>
          </p:nvGrpSpPr>
          <p:grpSpPr>
            <a:xfrm>
              <a:off x="1280" y="1703"/>
              <a:ext cx="681" cy="566"/>
              <a:chOff x="1292" y="1797"/>
              <a:chExt cx="681" cy="566"/>
            </a:xfrm>
          </p:grpSpPr>
          <p:sp>
            <p:nvSpPr>
              <p:cNvPr id="85012" name="Text Box 16"/>
              <p:cNvSpPr txBox="1"/>
              <p:nvPr/>
            </p:nvSpPr>
            <p:spPr>
              <a:xfrm>
                <a:off x="1292" y="1797"/>
                <a:ext cx="363" cy="5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lang="el-GR" altLang="zh-CN" sz="36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σ</a:t>
                </a:r>
                <a:r>
                  <a:rPr lang="el-GR" altLang="zh-CN" sz="3600" b="1" baseline="-25000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 </a:t>
                </a:r>
                <a:endParaRPr lang="el-GR" altLang="zh-CN" sz="1800" dirty="0"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85013" name="Text Box 17"/>
              <p:cNvSpPr txBox="1"/>
              <p:nvPr/>
            </p:nvSpPr>
            <p:spPr>
              <a:xfrm>
                <a:off x="1519" y="1924"/>
                <a:ext cx="454" cy="4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s-s</a:t>
                </a:r>
                <a:endPara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aphicFrame>
          <p:nvGraphicFramePr>
            <p:cNvPr id="85005" name="Object 18"/>
            <p:cNvGraphicFramePr>
              <a:graphicFrameLocks noChangeAspect="1"/>
            </p:cNvGraphicFramePr>
            <p:nvPr/>
          </p:nvGraphicFramePr>
          <p:xfrm>
            <a:off x="3016" y="935"/>
            <a:ext cx="1872" cy="9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971800" imgH="1524000" progId="Paint.Picture">
                    <p:embed/>
                  </p:oleObj>
                </mc:Choice>
                <mc:Fallback>
                  <p:oleObj r:id="rId4" imgW="2971800" imgH="1524000" progId="Paint.Picture">
                    <p:embed/>
                    <p:pic>
                      <p:nvPicPr>
                        <p:cNvPr id="0" name="图片 3117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016" y="935"/>
                          <a:ext cx="1872" cy="96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5006" name="Line 19"/>
            <p:cNvSpPr/>
            <p:nvPr/>
          </p:nvSpPr>
          <p:spPr>
            <a:xfrm>
              <a:off x="2925" y="1389"/>
              <a:ext cx="21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85007" name="Group 20"/>
            <p:cNvGrpSpPr/>
            <p:nvPr/>
          </p:nvGrpSpPr>
          <p:grpSpPr>
            <a:xfrm>
              <a:off x="3763" y="1663"/>
              <a:ext cx="681" cy="566"/>
              <a:chOff x="1292" y="1797"/>
              <a:chExt cx="681" cy="566"/>
            </a:xfrm>
          </p:grpSpPr>
          <p:sp>
            <p:nvSpPr>
              <p:cNvPr id="85010" name="Text Box 21"/>
              <p:cNvSpPr txBox="1"/>
              <p:nvPr/>
            </p:nvSpPr>
            <p:spPr>
              <a:xfrm>
                <a:off x="1292" y="1797"/>
                <a:ext cx="363" cy="5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lang="el-GR" altLang="zh-CN" sz="36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σ</a:t>
                </a:r>
                <a:r>
                  <a:rPr lang="el-GR" altLang="zh-CN" sz="3600" b="1" baseline="-25000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 </a:t>
                </a:r>
                <a:endParaRPr lang="el-GR" altLang="zh-CN" sz="1800" dirty="0"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85011" name="Text Box 22"/>
              <p:cNvSpPr txBox="1"/>
              <p:nvPr/>
            </p:nvSpPr>
            <p:spPr>
              <a:xfrm>
                <a:off x="1519" y="1924"/>
                <a:ext cx="454" cy="4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s-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p</a:t>
                </a:r>
                <a:endPara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aphicFrame>
          <p:nvGraphicFramePr>
            <p:cNvPr id="85008" name="Object 23"/>
            <p:cNvGraphicFramePr>
              <a:graphicFrameLocks noChangeAspect="1"/>
            </p:cNvGraphicFramePr>
            <p:nvPr/>
          </p:nvGraphicFramePr>
          <p:xfrm>
            <a:off x="1835" y="2121"/>
            <a:ext cx="2268" cy="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3600450" imgH="1190625" progId="Paint.Picture">
                    <p:embed/>
                  </p:oleObj>
                </mc:Choice>
                <mc:Fallback>
                  <p:oleObj r:id="rId6" imgW="3600450" imgH="1190625" progId="Paint.Picture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835" y="2121"/>
                          <a:ext cx="2268" cy="7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5009" name="Line 24"/>
            <p:cNvSpPr/>
            <p:nvPr/>
          </p:nvSpPr>
          <p:spPr>
            <a:xfrm>
              <a:off x="1722" y="2514"/>
              <a:ext cx="249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84998" name="Text Box 25"/>
          <p:cNvSpPr txBox="1"/>
          <p:nvPr/>
        </p:nvSpPr>
        <p:spPr>
          <a:xfrm>
            <a:off x="2193925" y="4411663"/>
            <a:ext cx="588327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lang="el-GR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σ</a:t>
            </a:r>
            <a:r>
              <a:rPr lang="zh-CN" altLang="el-GR" b="1" dirty="0">
                <a:latin typeface="Times New Roman" panose="02020603050405020304" pitchFamily="18" charset="0"/>
                <a:ea typeface="幼圆" panose="02010509060101010101" pitchFamily="49" charset="-122"/>
              </a:rPr>
              <a:t>电子：形成</a:t>
            </a:r>
            <a:r>
              <a:rPr lang="el-GR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σ</a:t>
            </a:r>
            <a:r>
              <a:rPr lang="zh-CN" altLang="el-GR" b="1" dirty="0">
                <a:latin typeface="Times New Roman" panose="02020603050405020304" pitchFamily="18" charset="0"/>
                <a:ea typeface="幼圆" panose="02010509060101010101" pitchFamily="49" charset="-122"/>
              </a:rPr>
              <a:t>键的电子 </a:t>
            </a:r>
            <a:endParaRPr lang="zh-CN" altLang="el-GR" sz="1400" dirty="0"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8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82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018" name="Group 64"/>
          <p:cNvGrpSpPr/>
          <p:nvPr/>
        </p:nvGrpSpPr>
        <p:grpSpPr>
          <a:xfrm>
            <a:off x="309563" y="688975"/>
            <a:ext cx="8583612" cy="461963"/>
            <a:chOff x="158" y="75"/>
            <a:chExt cx="5407" cy="388"/>
          </a:xfrm>
        </p:grpSpPr>
        <p:sp>
          <p:nvSpPr>
            <p:cNvPr id="86039" name="Oval 65"/>
            <p:cNvSpPr/>
            <p:nvPr/>
          </p:nvSpPr>
          <p:spPr>
            <a:xfrm>
              <a:off x="158" y="242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86040" name="Text Box 66"/>
            <p:cNvSpPr txBox="1"/>
            <p:nvPr/>
          </p:nvSpPr>
          <p:spPr>
            <a:xfrm>
              <a:off x="340" y="75"/>
              <a:ext cx="5225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l-GR" altLang="zh-CN" sz="24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π</a:t>
              </a:r>
              <a:r>
                <a:rPr lang="zh-CN" altLang="el-GR" sz="24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键：原子轨道以</a:t>
              </a:r>
              <a:r>
                <a:rPr lang="zh-CN" altLang="el-GR" sz="2400" b="1" dirty="0">
                  <a:latin typeface="Arial" panose="020B0604020202020204" pitchFamily="34" charset="0"/>
                  <a:ea typeface="幼圆" panose="02010509060101010101" pitchFamily="49" charset="-122"/>
                </a:rPr>
                <a:t>“</a:t>
              </a:r>
              <a:r>
                <a:rPr lang="zh-CN" altLang="el-GR" sz="24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肩并肩</a:t>
              </a:r>
              <a:r>
                <a:rPr lang="zh-CN" altLang="el-GR" sz="2400" b="1" dirty="0">
                  <a:latin typeface="Arial" panose="020B0604020202020204" pitchFamily="34" charset="0"/>
                  <a:ea typeface="幼圆" panose="02010509060101010101" pitchFamily="49" charset="-122"/>
                </a:rPr>
                <a:t>”</a:t>
              </a:r>
              <a:r>
                <a:rPr lang="zh-CN" altLang="el-GR" sz="24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的形式重叠所形成的键</a:t>
              </a:r>
              <a:r>
                <a:rPr lang="zh-CN" altLang="el-GR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endParaRPr lang="zh-CN" altLang="el-GR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6019" name="Text Box 67"/>
          <p:cNvSpPr txBox="1"/>
          <p:nvPr/>
        </p:nvSpPr>
        <p:spPr>
          <a:xfrm>
            <a:off x="4032250" y="1614488"/>
            <a:ext cx="4826000" cy="460375"/>
          </a:xfrm>
          <a:prstGeom prst="rect">
            <a:avLst/>
          </a:prstGeom>
          <a:gradFill rotWithShape="1">
            <a:gsLst>
              <a:gs pos="0">
                <a:srgbClr val="32256F"/>
              </a:gs>
              <a:gs pos="50000">
                <a:srgbClr val="6B50F0"/>
              </a:gs>
              <a:gs pos="100000">
                <a:srgbClr val="32256F"/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对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xy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平面具有反对称性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6020" name="Group 68"/>
          <p:cNvGrpSpPr/>
          <p:nvPr/>
        </p:nvGrpSpPr>
        <p:grpSpPr>
          <a:xfrm>
            <a:off x="614363" y="1330325"/>
            <a:ext cx="3416300" cy="3551238"/>
            <a:chOff x="341" y="981"/>
            <a:chExt cx="2152" cy="2984"/>
          </a:xfrm>
        </p:grpSpPr>
        <p:graphicFrame>
          <p:nvGraphicFramePr>
            <p:cNvPr id="86023" name="Object 69"/>
            <p:cNvGraphicFramePr>
              <a:graphicFrameLocks noChangeAspect="1"/>
            </p:cNvGraphicFramePr>
            <p:nvPr/>
          </p:nvGraphicFramePr>
          <p:xfrm>
            <a:off x="537" y="1546"/>
            <a:ext cx="1470" cy="17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2333625" imgH="2809875" progId="Paint.Picture">
                    <p:embed/>
                  </p:oleObj>
                </mc:Choice>
                <mc:Fallback>
                  <p:oleObj r:id="rId2" imgW="2333625" imgH="2809875" progId="Paint.Picture">
                    <p:embed/>
                    <p:pic>
                      <p:nvPicPr>
                        <p:cNvPr id="0" name="图片 3123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37" y="1546"/>
                          <a:ext cx="1470" cy="17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6024" name="Line 70"/>
            <p:cNvSpPr/>
            <p:nvPr/>
          </p:nvSpPr>
          <p:spPr>
            <a:xfrm>
              <a:off x="1024" y="1636"/>
              <a:ext cx="0" cy="1588"/>
            </a:xfrm>
            <a:prstGeom prst="line">
              <a:avLst/>
            </a:prstGeom>
            <a:ln w="9525" cap="flat" cmpd="sng">
              <a:solidFill>
                <a:srgbClr val="99FF33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86025" name="Line 71"/>
            <p:cNvSpPr/>
            <p:nvPr/>
          </p:nvSpPr>
          <p:spPr>
            <a:xfrm flipV="1">
              <a:off x="1024" y="1349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6026" name="Line 72"/>
            <p:cNvSpPr/>
            <p:nvPr/>
          </p:nvSpPr>
          <p:spPr>
            <a:xfrm>
              <a:off x="1024" y="3253"/>
              <a:ext cx="0" cy="26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6027" name="Line 73"/>
            <p:cNvSpPr/>
            <p:nvPr/>
          </p:nvSpPr>
          <p:spPr>
            <a:xfrm>
              <a:off x="1541" y="1616"/>
              <a:ext cx="0" cy="1588"/>
            </a:xfrm>
            <a:prstGeom prst="line">
              <a:avLst/>
            </a:prstGeom>
            <a:ln w="9525" cap="flat" cmpd="sng">
              <a:solidFill>
                <a:srgbClr val="99FF33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86028" name="Line 74"/>
            <p:cNvSpPr/>
            <p:nvPr/>
          </p:nvSpPr>
          <p:spPr>
            <a:xfrm flipV="1">
              <a:off x="1541" y="1343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6029" name="Line 75"/>
            <p:cNvSpPr/>
            <p:nvPr/>
          </p:nvSpPr>
          <p:spPr>
            <a:xfrm>
              <a:off x="1541" y="3249"/>
              <a:ext cx="0" cy="36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6030" name="Line 76"/>
            <p:cNvSpPr/>
            <p:nvPr/>
          </p:nvSpPr>
          <p:spPr>
            <a:xfrm>
              <a:off x="341" y="2419"/>
              <a:ext cx="185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6031" name="Line 77"/>
            <p:cNvSpPr/>
            <p:nvPr/>
          </p:nvSpPr>
          <p:spPr>
            <a:xfrm flipH="1">
              <a:off x="525" y="2395"/>
              <a:ext cx="499" cy="5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6032" name="Line 78"/>
            <p:cNvSpPr/>
            <p:nvPr/>
          </p:nvSpPr>
          <p:spPr>
            <a:xfrm flipH="1">
              <a:off x="1033" y="2429"/>
              <a:ext cx="499" cy="5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86033" name="Text Box 79"/>
            <p:cNvSpPr txBox="1"/>
            <p:nvPr/>
          </p:nvSpPr>
          <p:spPr>
            <a:xfrm>
              <a:off x="884" y="981"/>
              <a:ext cx="907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i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r>
                <a:rPr lang="en-US" altLang="zh-CN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z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  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 </a:t>
              </a:r>
              <a:r>
                <a:rPr lang="en-US" altLang="zh-CN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z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6034" name="Text Box 80"/>
            <p:cNvSpPr txBox="1"/>
            <p:nvPr/>
          </p:nvSpPr>
          <p:spPr>
            <a:xfrm>
              <a:off x="2176" y="2178"/>
              <a:ext cx="317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x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6035" name="Text Box 81"/>
            <p:cNvSpPr txBox="1"/>
            <p:nvPr/>
          </p:nvSpPr>
          <p:spPr>
            <a:xfrm>
              <a:off x="403" y="2835"/>
              <a:ext cx="1043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y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      </a:t>
              </a:r>
              <a:r>
                <a:rPr lang="en-US" altLang="zh-CN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y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86036" name="Group 82"/>
            <p:cNvGrpSpPr/>
            <p:nvPr/>
          </p:nvGrpSpPr>
          <p:grpSpPr>
            <a:xfrm>
              <a:off x="860" y="3461"/>
              <a:ext cx="1022" cy="504"/>
              <a:chOff x="793" y="3022"/>
              <a:chExt cx="1022" cy="504"/>
            </a:xfrm>
          </p:grpSpPr>
          <p:sp>
            <p:nvSpPr>
              <p:cNvPr id="86037" name="Text Box 83"/>
              <p:cNvSpPr txBox="1"/>
              <p:nvPr/>
            </p:nvSpPr>
            <p:spPr>
              <a:xfrm>
                <a:off x="793" y="3022"/>
                <a:ext cx="454" cy="4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lang="el-GR" altLang="zh-CN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π</a:t>
                </a:r>
                <a:endParaRPr lang="el-GR" altLang="zh-CN" sz="1400" dirty="0"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86038" name="Text Box 84"/>
              <p:cNvSpPr txBox="1"/>
              <p:nvPr/>
            </p:nvSpPr>
            <p:spPr>
              <a:xfrm>
                <a:off x="1044" y="3086"/>
                <a:ext cx="771" cy="4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p</a:t>
                </a:r>
                <a:r>
                  <a:rPr lang="en-US" altLang="zh-CN" b="1" i="1" baseline="-25000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z</a:t>
                </a:r>
                <a:r>
                  <a:rPr lang="en-US" altLang="zh-CN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-</a:t>
                </a:r>
                <a:r>
                  <a:rPr lang="en-US" altLang="zh-CN" sz="20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p</a:t>
                </a:r>
                <a:r>
                  <a:rPr lang="en-US" altLang="zh-CN" b="1" i="1" baseline="-25000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z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86021" name="Text Box 85"/>
          <p:cNvSpPr txBox="1"/>
          <p:nvPr/>
        </p:nvSpPr>
        <p:spPr>
          <a:xfrm>
            <a:off x="4284663" y="2139950"/>
            <a:ext cx="4321175" cy="1000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即重叠部分对</a:t>
            </a:r>
            <a:r>
              <a:rPr lang="en-US" altLang="zh-CN" sz="24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xy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平面的上、下两侧，形状相同、符号相反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6022" name="Text Box 86"/>
          <p:cNvSpPr txBox="1"/>
          <p:nvPr/>
        </p:nvSpPr>
        <p:spPr>
          <a:xfrm>
            <a:off x="3924300" y="3732213"/>
            <a:ext cx="572293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lang="el-GR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π</a:t>
            </a:r>
            <a:r>
              <a:rPr lang="zh-CN" altLang="el-GR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电子：形成</a:t>
            </a:r>
            <a:r>
              <a:rPr lang="el-GR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π</a:t>
            </a:r>
            <a:r>
              <a:rPr lang="zh-CN" altLang="el-GR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键的电子</a:t>
            </a:r>
            <a:endParaRPr lang="zh-CN" altLang="el-GR" sz="1200" dirty="0"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Line 29"/>
          <p:cNvSpPr/>
          <p:nvPr/>
        </p:nvSpPr>
        <p:spPr>
          <a:xfrm flipV="1">
            <a:off x="1135063" y="1387475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87043" name="Text Box 30"/>
          <p:cNvSpPr txBox="1"/>
          <p:nvPr/>
        </p:nvSpPr>
        <p:spPr>
          <a:xfrm>
            <a:off x="323850" y="274638"/>
            <a:ext cx="187166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例　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N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7044" name="Group 31"/>
          <p:cNvGrpSpPr/>
          <p:nvPr/>
        </p:nvGrpSpPr>
        <p:grpSpPr>
          <a:xfrm>
            <a:off x="3492500" y="706438"/>
            <a:ext cx="5616575" cy="3563937"/>
            <a:chOff x="158" y="164"/>
            <a:chExt cx="3538" cy="2994"/>
          </a:xfrm>
        </p:grpSpPr>
        <p:grpSp>
          <p:nvGrpSpPr>
            <p:cNvPr id="87058" name="Group 32"/>
            <p:cNvGrpSpPr/>
            <p:nvPr/>
          </p:nvGrpSpPr>
          <p:grpSpPr>
            <a:xfrm>
              <a:off x="158" y="573"/>
              <a:ext cx="3538" cy="2585"/>
              <a:chOff x="204" y="572"/>
              <a:chExt cx="3538" cy="2585"/>
            </a:xfrm>
          </p:grpSpPr>
          <p:graphicFrame>
            <p:nvGraphicFramePr>
              <p:cNvPr id="87068" name="Object 33"/>
              <p:cNvGraphicFramePr>
                <a:graphicFrameLocks noChangeAspect="1"/>
              </p:cNvGraphicFramePr>
              <p:nvPr/>
            </p:nvGraphicFramePr>
            <p:xfrm>
              <a:off x="204" y="935"/>
              <a:ext cx="3538" cy="19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" imgW="3990975" imgH="2200275" progId="Paint.Picture">
                      <p:embed/>
                    </p:oleObj>
                  </mc:Choice>
                  <mc:Fallback>
                    <p:oleObj r:id="rId2" imgW="3990975" imgH="2200275" progId="Paint.Picture">
                      <p:embed/>
                      <p:pic>
                        <p:nvPicPr>
                          <p:cNvPr id="0" name="图片 3124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204" y="935"/>
                            <a:ext cx="3538" cy="1950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7069" name="Rectangle 34"/>
              <p:cNvSpPr/>
              <p:nvPr/>
            </p:nvSpPr>
            <p:spPr>
              <a:xfrm>
                <a:off x="1226" y="572"/>
                <a:ext cx="1451" cy="2585"/>
              </a:xfrm>
              <a:prstGeom prst="rect">
                <a:avLst/>
              </a:prstGeom>
              <a:solidFill>
                <a:srgbClr val="FF3300">
                  <a:alpha val="10196"/>
                </a:srgbClr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87070" name="Group 35"/>
              <p:cNvGrpSpPr/>
              <p:nvPr/>
            </p:nvGrpSpPr>
            <p:grpSpPr>
              <a:xfrm>
                <a:off x="385" y="935"/>
                <a:ext cx="3357" cy="1679"/>
                <a:chOff x="385" y="935"/>
                <a:chExt cx="3357" cy="1679"/>
              </a:xfrm>
            </p:grpSpPr>
            <p:sp>
              <p:nvSpPr>
                <p:cNvPr id="87074" name="Line 36"/>
                <p:cNvSpPr/>
                <p:nvPr/>
              </p:nvSpPr>
              <p:spPr>
                <a:xfrm flipH="1">
                  <a:off x="1837" y="935"/>
                  <a:ext cx="1905" cy="167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grpSp>
              <p:nvGrpSpPr>
                <p:cNvPr id="87075" name="Group 37"/>
                <p:cNvGrpSpPr/>
                <p:nvPr/>
              </p:nvGrpSpPr>
              <p:grpSpPr>
                <a:xfrm>
                  <a:off x="385" y="935"/>
                  <a:ext cx="3357" cy="1679"/>
                  <a:chOff x="385" y="935"/>
                  <a:chExt cx="3357" cy="1679"/>
                </a:xfrm>
              </p:grpSpPr>
              <p:sp>
                <p:nvSpPr>
                  <p:cNvPr id="87076" name="Line 38"/>
                  <p:cNvSpPr/>
                  <p:nvPr/>
                </p:nvSpPr>
                <p:spPr>
                  <a:xfrm flipH="1">
                    <a:off x="385" y="935"/>
                    <a:ext cx="1905" cy="1679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7077" name="Line 39"/>
                  <p:cNvSpPr/>
                  <p:nvPr/>
                </p:nvSpPr>
                <p:spPr>
                  <a:xfrm>
                    <a:off x="2290" y="935"/>
                    <a:ext cx="1452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87078" name="Line 40"/>
                  <p:cNvSpPr/>
                  <p:nvPr/>
                </p:nvSpPr>
                <p:spPr>
                  <a:xfrm>
                    <a:off x="385" y="2614"/>
                    <a:ext cx="1452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  <p:sp>
            <p:nvSpPr>
              <p:cNvPr id="87071" name="Line 41"/>
              <p:cNvSpPr/>
              <p:nvPr/>
            </p:nvSpPr>
            <p:spPr>
              <a:xfrm>
                <a:off x="1247" y="1888"/>
                <a:ext cx="145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7072" name="Text Box 42"/>
              <p:cNvSpPr txBox="1"/>
              <p:nvPr/>
            </p:nvSpPr>
            <p:spPr>
              <a:xfrm>
                <a:off x="1066" y="1661"/>
                <a:ext cx="408" cy="5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600" b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N</a:t>
                </a:r>
                <a:endPara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7073" name="Text Box 43"/>
              <p:cNvSpPr txBox="1"/>
              <p:nvPr/>
            </p:nvSpPr>
            <p:spPr>
              <a:xfrm>
                <a:off x="2517" y="1661"/>
                <a:ext cx="408" cy="5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600" b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N</a:t>
                </a:r>
                <a:endPara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7059" name="Group 44"/>
            <p:cNvGrpSpPr/>
            <p:nvPr/>
          </p:nvGrpSpPr>
          <p:grpSpPr>
            <a:xfrm>
              <a:off x="1565" y="1480"/>
              <a:ext cx="523" cy="595"/>
              <a:chOff x="1927" y="3521"/>
              <a:chExt cx="523" cy="595"/>
            </a:xfrm>
          </p:grpSpPr>
          <p:sp>
            <p:nvSpPr>
              <p:cNvPr id="87066" name="Text Box 45"/>
              <p:cNvSpPr txBox="1"/>
              <p:nvPr/>
            </p:nvSpPr>
            <p:spPr>
              <a:xfrm>
                <a:off x="1927" y="3521"/>
                <a:ext cx="408" cy="59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lang="el-GR" altLang="zh-CN" sz="40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σ</a:t>
                </a:r>
                <a:endParaRPr lang="el-GR" altLang="zh-CN" sz="1800" dirty="0"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87067" name="Text Box 46"/>
              <p:cNvSpPr txBox="1"/>
              <p:nvPr/>
            </p:nvSpPr>
            <p:spPr>
              <a:xfrm>
                <a:off x="2178" y="3681"/>
                <a:ext cx="272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i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x</a:t>
                </a:r>
                <a:endPara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7060" name="Group 47"/>
            <p:cNvGrpSpPr/>
            <p:nvPr/>
          </p:nvGrpSpPr>
          <p:grpSpPr>
            <a:xfrm>
              <a:off x="2653" y="482"/>
              <a:ext cx="544" cy="576"/>
              <a:chOff x="340" y="3475"/>
              <a:chExt cx="544" cy="576"/>
            </a:xfrm>
          </p:grpSpPr>
          <p:sp>
            <p:nvSpPr>
              <p:cNvPr id="87064" name="Text Box 48"/>
              <p:cNvSpPr txBox="1"/>
              <p:nvPr/>
            </p:nvSpPr>
            <p:spPr>
              <a:xfrm>
                <a:off x="340" y="3475"/>
                <a:ext cx="499" cy="4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lang="el-GR" altLang="zh-CN" sz="32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π</a:t>
                </a:r>
                <a:endParaRPr lang="el-GR" altLang="zh-CN" sz="1400" dirty="0"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87065" name="Text Box 49"/>
              <p:cNvSpPr txBox="1"/>
              <p:nvPr/>
            </p:nvSpPr>
            <p:spPr>
              <a:xfrm>
                <a:off x="612" y="3612"/>
                <a:ext cx="272" cy="4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i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y</a:t>
                </a:r>
                <a:endPara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7061" name="Group 50"/>
            <p:cNvGrpSpPr/>
            <p:nvPr/>
          </p:nvGrpSpPr>
          <p:grpSpPr>
            <a:xfrm>
              <a:off x="1555" y="164"/>
              <a:ext cx="544" cy="491"/>
              <a:chOff x="340" y="3475"/>
              <a:chExt cx="544" cy="491"/>
            </a:xfrm>
          </p:grpSpPr>
          <p:sp>
            <p:nvSpPr>
              <p:cNvPr id="87062" name="Text Box 51"/>
              <p:cNvSpPr txBox="1"/>
              <p:nvPr/>
            </p:nvSpPr>
            <p:spPr>
              <a:xfrm>
                <a:off x="340" y="3475"/>
                <a:ext cx="499" cy="4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lang="el-GR" altLang="zh-CN" sz="32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π</a:t>
                </a:r>
                <a:endParaRPr lang="el-GR" altLang="zh-CN" sz="1400" dirty="0"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87063" name="Text Box 52"/>
              <p:cNvSpPr txBox="1"/>
              <p:nvPr/>
            </p:nvSpPr>
            <p:spPr>
              <a:xfrm>
                <a:off x="612" y="3612"/>
                <a:ext cx="272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i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z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87045" name="Group 53"/>
          <p:cNvGrpSpPr/>
          <p:nvPr/>
        </p:nvGrpSpPr>
        <p:grpSpPr>
          <a:xfrm>
            <a:off x="1044575" y="1570038"/>
            <a:ext cx="2447925" cy="1171575"/>
            <a:chOff x="4014" y="1616"/>
            <a:chExt cx="1542" cy="984"/>
          </a:xfrm>
        </p:grpSpPr>
        <p:sp>
          <p:nvSpPr>
            <p:cNvPr id="87051" name="Text Box 54"/>
            <p:cNvSpPr txBox="1"/>
            <p:nvPr/>
          </p:nvSpPr>
          <p:spPr>
            <a:xfrm>
              <a:off x="4014" y="1842"/>
              <a:ext cx="1542" cy="5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en-US" altLang="zh-CN" sz="36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:</a:t>
              </a:r>
              <a:r>
                <a:rPr lang="en-US" altLang="zh-CN" sz="36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N—N</a:t>
              </a:r>
              <a:r>
                <a:rPr lang="en-US" altLang="zh-CN" sz="3600" b="1" dirty="0">
                  <a:solidFill>
                    <a:srgbClr val="FF33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:</a:t>
              </a:r>
              <a:endParaRPr lang="en-US" altLang="zh-CN" sz="1800" dirty="0"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  <p:grpSp>
          <p:nvGrpSpPr>
            <p:cNvPr id="87052" name="Group 55"/>
            <p:cNvGrpSpPr/>
            <p:nvPr/>
          </p:nvGrpSpPr>
          <p:grpSpPr>
            <a:xfrm>
              <a:off x="4138" y="1616"/>
              <a:ext cx="1170" cy="543"/>
              <a:chOff x="4138" y="1616"/>
              <a:chExt cx="1170" cy="543"/>
            </a:xfrm>
          </p:grpSpPr>
          <p:sp>
            <p:nvSpPr>
              <p:cNvPr id="87056" name="Text Box 56"/>
              <p:cNvSpPr txBox="1"/>
              <p:nvPr/>
            </p:nvSpPr>
            <p:spPr>
              <a:xfrm>
                <a:off x="4174" y="1616"/>
                <a:ext cx="1134" cy="5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lang="en-US" altLang="zh-CN" sz="3600" b="1" dirty="0">
                    <a:solidFill>
                      <a:srgbClr val="3333FF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·      · </a:t>
                </a:r>
                <a:endParaRPr lang="en-US" altLang="zh-CN" sz="1800" dirty="0"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87057" name="Rectangle 57"/>
              <p:cNvSpPr/>
              <p:nvPr/>
            </p:nvSpPr>
            <p:spPr>
              <a:xfrm>
                <a:off x="4138" y="1706"/>
                <a:ext cx="726" cy="182"/>
              </a:xfrm>
              <a:prstGeom prst="rect">
                <a:avLst/>
              </a:prstGeom>
              <a:noFill/>
              <a:ln w="9525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7053" name="Group 58"/>
            <p:cNvGrpSpPr/>
            <p:nvPr/>
          </p:nvGrpSpPr>
          <p:grpSpPr>
            <a:xfrm>
              <a:off x="4147" y="2057"/>
              <a:ext cx="1170" cy="543"/>
              <a:chOff x="4147" y="2057"/>
              <a:chExt cx="1170" cy="543"/>
            </a:xfrm>
          </p:grpSpPr>
          <p:sp>
            <p:nvSpPr>
              <p:cNvPr id="87054" name="Text Box 59"/>
              <p:cNvSpPr txBox="1"/>
              <p:nvPr/>
            </p:nvSpPr>
            <p:spPr>
              <a:xfrm>
                <a:off x="4183" y="2057"/>
                <a:ext cx="1134" cy="5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lang="en-US" altLang="zh-CN" sz="3600" b="1" dirty="0">
                    <a:solidFill>
                      <a:srgbClr val="3333FF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·      · </a:t>
                </a:r>
                <a:endParaRPr lang="en-US" altLang="zh-CN" sz="1800" dirty="0"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87055" name="Rectangle 60"/>
              <p:cNvSpPr/>
              <p:nvPr/>
            </p:nvSpPr>
            <p:spPr>
              <a:xfrm>
                <a:off x="4147" y="2171"/>
                <a:ext cx="726" cy="182"/>
              </a:xfrm>
              <a:prstGeom prst="rect">
                <a:avLst/>
              </a:prstGeom>
              <a:noFill/>
              <a:ln w="9525" cap="flat" cmpd="sng">
                <a:solidFill>
                  <a:srgbClr val="3333F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87046" name="Text Box 61"/>
          <p:cNvSpPr txBox="1"/>
          <p:nvPr/>
        </p:nvSpPr>
        <p:spPr>
          <a:xfrm>
            <a:off x="539750" y="976313"/>
            <a:ext cx="25923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价键结构式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47" name="Text Box 62"/>
          <p:cNvSpPr txBox="1"/>
          <p:nvPr/>
        </p:nvSpPr>
        <p:spPr>
          <a:xfrm>
            <a:off x="1116013" y="3462338"/>
            <a:ext cx="1944687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lang="en-US" altLang="zh-CN" sz="36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N</a:t>
            </a:r>
            <a:r>
              <a:rPr lang="en-US" altLang="zh-CN" sz="3600" b="1" dirty="0">
                <a:solidFill>
                  <a:srgbClr val="3333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≡</a:t>
            </a:r>
            <a:r>
              <a:rPr lang="en-US" altLang="zh-CN" sz="36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N</a:t>
            </a:r>
            <a:endParaRPr lang="en-US" altLang="zh-CN" sz="1800" dirty="0"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87048" name="Text Box 63"/>
          <p:cNvSpPr txBox="1"/>
          <p:nvPr/>
        </p:nvSpPr>
        <p:spPr>
          <a:xfrm>
            <a:off x="539750" y="2759075"/>
            <a:ext cx="29527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分子结构式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49" name="Text Box 64"/>
          <p:cNvSpPr txBox="1"/>
          <p:nvPr/>
        </p:nvSpPr>
        <p:spPr>
          <a:xfrm>
            <a:off x="4932363" y="382588"/>
            <a:ext cx="295275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化学键示意图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50" name="Text Box 65"/>
          <p:cNvSpPr txBox="1"/>
          <p:nvPr/>
        </p:nvSpPr>
        <p:spPr>
          <a:xfrm>
            <a:off x="755650" y="3894138"/>
            <a:ext cx="2686050" cy="830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 或 </a:t>
            </a:r>
            <a:endParaRPr lang="zh-CN" altLang="en-US" sz="1200" dirty="0"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:N</a:t>
            </a:r>
            <a:r>
              <a:rPr lang="en-US" altLang="zh-CN" sz="2400" b="1" dirty="0">
                <a:solidFill>
                  <a:srgbClr val="3333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≡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N:</a:t>
            </a:r>
            <a:endParaRPr lang="en-US" altLang="zh-CN" sz="1200" dirty="0"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D1F94EF-1583-A9C7-9B8B-854B4EA3A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07540"/>
            <a:ext cx="2800741" cy="4639322"/>
          </a:xfrm>
          <a:prstGeom prst="rect">
            <a:avLst/>
          </a:prstGeom>
        </p:spPr>
      </p:pic>
      <p:pic>
        <p:nvPicPr>
          <p:cNvPr id="12290" name="Picture 2" descr="氧气之分子轨域及三重态的特性（上）？-盖德化工问答">
            <a:extLst>
              <a:ext uri="{FF2B5EF4-FFF2-40B4-BE49-F238E27FC236}">
                <a16:creationId xmlns:a16="http://schemas.microsoft.com/office/drawing/2014/main" id="{A558D7EA-A3D8-D49A-9C60-208CD8BF8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555526"/>
            <a:ext cx="3133725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3120836"/>
      </p:ext>
    </p:extLst>
  </p:cSld>
  <p:clrMapOvr>
    <a:masterClrMapping/>
  </p:clrMapOvr>
  <p:transition spd="med">
    <p:wipe dir="r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C68AE4D-A88C-293E-DDB8-7C13B3420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022" y="385457"/>
            <a:ext cx="5229955" cy="43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048861"/>
      </p:ext>
    </p:extLst>
  </p:cSld>
  <p:clrMapOvr>
    <a:masterClrMapping/>
  </p:clrMapOvr>
  <p:transition spd="med">
    <p:wipe dir="r"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Line 2"/>
          <p:cNvSpPr/>
          <p:nvPr/>
        </p:nvSpPr>
        <p:spPr>
          <a:xfrm flipV="1">
            <a:off x="987425" y="1200150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88067" name="Text Box 3"/>
          <p:cNvSpPr txBox="1"/>
          <p:nvPr/>
        </p:nvSpPr>
        <p:spPr>
          <a:xfrm>
            <a:off x="2195513" y="141288"/>
            <a:ext cx="4900612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价键理论的局限性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88068" name="Group 4"/>
          <p:cNvGrpSpPr/>
          <p:nvPr/>
        </p:nvGrpSpPr>
        <p:grpSpPr>
          <a:xfrm>
            <a:off x="301625" y="681038"/>
            <a:ext cx="8950325" cy="904875"/>
            <a:chOff x="192" y="572"/>
            <a:chExt cx="5638" cy="760"/>
          </a:xfrm>
        </p:grpSpPr>
        <p:sp>
          <p:nvSpPr>
            <p:cNvPr id="88119" name="Text Box 5"/>
            <p:cNvSpPr txBox="1"/>
            <p:nvPr/>
          </p:nvSpPr>
          <p:spPr>
            <a:xfrm>
              <a:off x="305" y="572"/>
              <a:ext cx="5525" cy="7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价键理论能较好地说明一些双原子分子价 </a:t>
              </a:r>
              <a:endParaRPr lang="zh-CN" altLang="en-US" sz="12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键的形成 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8120" name="Oval 6"/>
            <p:cNvSpPr/>
            <p:nvPr/>
          </p:nvSpPr>
          <p:spPr>
            <a:xfrm>
              <a:off x="192" y="721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7"/>
          <p:cNvGrpSpPr/>
          <p:nvPr/>
        </p:nvGrpSpPr>
        <p:grpSpPr>
          <a:xfrm>
            <a:off x="296863" y="1654175"/>
            <a:ext cx="8824912" cy="1041400"/>
            <a:chOff x="189" y="1389"/>
            <a:chExt cx="5559" cy="875"/>
          </a:xfrm>
        </p:grpSpPr>
        <p:sp>
          <p:nvSpPr>
            <p:cNvPr id="88117" name="Text Box 8"/>
            <p:cNvSpPr txBox="1"/>
            <p:nvPr/>
          </p:nvSpPr>
          <p:spPr>
            <a:xfrm>
              <a:off x="319" y="1389"/>
              <a:ext cx="5429" cy="87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不能很好地说明多原子分子的价键形成和 </a:t>
              </a:r>
              <a:endParaRPr lang="zh-CN" altLang="en-US" sz="14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70000"/>
                </a:lnSpc>
                <a:spcBef>
                  <a:spcPct val="50000"/>
                </a:spcBef>
              </a:pPr>
              <a:r>
                <a:rPr lang="zh-CN" altLang="en-US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几何构型        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8118" name="Oval 9"/>
            <p:cNvSpPr/>
            <p:nvPr/>
          </p:nvSpPr>
          <p:spPr>
            <a:xfrm>
              <a:off x="189" y="1537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61802" name="Text Box 10"/>
          <p:cNvSpPr txBox="1"/>
          <p:nvPr/>
        </p:nvSpPr>
        <p:spPr>
          <a:xfrm>
            <a:off x="247650" y="2571750"/>
            <a:ext cx="19446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如　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CH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4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8071" name="Text Box 11"/>
          <p:cNvSpPr txBox="1"/>
          <p:nvPr/>
        </p:nvSpPr>
        <p:spPr>
          <a:xfrm>
            <a:off x="3128963" y="2787650"/>
            <a:ext cx="201612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4" name="Group 12"/>
          <p:cNvGrpSpPr/>
          <p:nvPr/>
        </p:nvGrpSpPr>
        <p:grpSpPr>
          <a:xfrm>
            <a:off x="247650" y="3005138"/>
            <a:ext cx="4897438" cy="1236662"/>
            <a:chOff x="158" y="2523"/>
            <a:chExt cx="3085" cy="1039"/>
          </a:xfrm>
        </p:grpSpPr>
        <p:sp>
          <p:nvSpPr>
            <p:cNvPr id="88082" name="Text Box 13"/>
            <p:cNvSpPr txBox="1"/>
            <p:nvPr/>
          </p:nvSpPr>
          <p:spPr>
            <a:xfrm>
              <a:off x="340" y="2523"/>
              <a:ext cx="1769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按价键理论 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88083" name="Group 14"/>
            <p:cNvGrpSpPr/>
            <p:nvPr/>
          </p:nvGrpSpPr>
          <p:grpSpPr>
            <a:xfrm>
              <a:off x="158" y="2829"/>
              <a:ext cx="3085" cy="733"/>
              <a:chOff x="158" y="2568"/>
              <a:chExt cx="3085" cy="733"/>
            </a:xfrm>
          </p:grpSpPr>
          <p:sp>
            <p:nvSpPr>
              <p:cNvPr id="88084" name="Line 15"/>
              <p:cNvSpPr/>
              <p:nvPr/>
            </p:nvSpPr>
            <p:spPr>
              <a:xfrm>
                <a:off x="1610" y="2898"/>
                <a:ext cx="54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grpSp>
            <p:nvGrpSpPr>
              <p:cNvPr id="88085" name="Group 16"/>
              <p:cNvGrpSpPr/>
              <p:nvPr/>
            </p:nvGrpSpPr>
            <p:grpSpPr>
              <a:xfrm>
                <a:off x="158" y="2568"/>
                <a:ext cx="3085" cy="733"/>
                <a:chOff x="158" y="3055"/>
                <a:chExt cx="3085" cy="733"/>
              </a:xfrm>
            </p:grpSpPr>
            <p:grpSp>
              <p:nvGrpSpPr>
                <p:cNvPr id="88086" name="Group 17"/>
                <p:cNvGrpSpPr/>
                <p:nvPr/>
              </p:nvGrpSpPr>
              <p:grpSpPr>
                <a:xfrm>
                  <a:off x="521" y="3203"/>
                  <a:ext cx="999" cy="363"/>
                  <a:chOff x="657" y="3203"/>
                  <a:chExt cx="999" cy="363"/>
                </a:xfrm>
              </p:grpSpPr>
              <p:sp>
                <p:nvSpPr>
                  <p:cNvPr id="88105" name="Oval 18"/>
                  <p:cNvSpPr/>
                  <p:nvPr/>
                </p:nvSpPr>
                <p:spPr>
                  <a:xfrm>
                    <a:off x="657" y="3339"/>
                    <a:ext cx="227" cy="22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1800" dirty="0">
                      <a:latin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88106" name="Group 19"/>
                  <p:cNvGrpSpPr/>
                  <p:nvPr/>
                </p:nvGrpSpPr>
                <p:grpSpPr>
                  <a:xfrm>
                    <a:off x="736" y="3203"/>
                    <a:ext cx="920" cy="352"/>
                    <a:chOff x="736" y="3203"/>
                    <a:chExt cx="920" cy="352"/>
                  </a:xfrm>
                </p:grpSpPr>
                <p:grpSp>
                  <p:nvGrpSpPr>
                    <p:cNvPr id="88107" name="Group 20"/>
                    <p:cNvGrpSpPr/>
                    <p:nvPr/>
                  </p:nvGrpSpPr>
                  <p:grpSpPr>
                    <a:xfrm>
                      <a:off x="736" y="3361"/>
                      <a:ext cx="52" cy="194"/>
                      <a:chOff x="1202" y="3418"/>
                      <a:chExt cx="52" cy="194"/>
                    </a:xfrm>
                  </p:grpSpPr>
                  <p:sp>
                    <p:nvSpPr>
                      <p:cNvPr id="88115" name="Line 21"/>
                      <p:cNvSpPr/>
                      <p:nvPr/>
                    </p:nvSpPr>
                    <p:spPr>
                      <a:xfrm>
                        <a:off x="1202" y="3430"/>
                        <a:ext cx="0" cy="182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triangle" w="med" len="med"/>
                      </a:ln>
                    </p:spPr>
                  </p:sp>
                  <p:sp>
                    <p:nvSpPr>
                      <p:cNvPr id="88116" name="Line 22"/>
                      <p:cNvSpPr/>
                      <p:nvPr/>
                    </p:nvSpPr>
                    <p:spPr>
                      <a:xfrm flipV="1">
                        <a:off x="1254" y="3418"/>
                        <a:ext cx="0" cy="182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triangle" w="med" len="med"/>
                      </a:ln>
                    </p:spPr>
                  </p:sp>
                </p:grpSp>
                <p:grpSp>
                  <p:nvGrpSpPr>
                    <p:cNvPr id="88108" name="Group 23"/>
                    <p:cNvGrpSpPr/>
                    <p:nvPr/>
                  </p:nvGrpSpPr>
                  <p:grpSpPr>
                    <a:xfrm>
                      <a:off x="975" y="3203"/>
                      <a:ext cx="227" cy="227"/>
                      <a:chOff x="1156" y="3385"/>
                      <a:chExt cx="227" cy="227"/>
                    </a:xfrm>
                  </p:grpSpPr>
                  <p:sp>
                    <p:nvSpPr>
                      <p:cNvPr id="88113" name="Oval 24"/>
                      <p:cNvSpPr/>
                      <p:nvPr/>
                    </p:nvSpPr>
                    <p:spPr>
                      <a:xfrm>
                        <a:off x="1156" y="3385"/>
                        <a:ext cx="227" cy="227"/>
                      </a:xfrm>
                      <a:prstGeom prst="ellipse">
                        <a:avLst/>
                      </a:prstGeom>
                      <a:noFill/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/>
                      <a:p>
                        <a:pPr eaLnBrk="1" hangingPunct="1"/>
                        <a:endParaRPr lang="zh-CN" altLang="en-US" sz="1800" dirty="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88114" name="Line 25"/>
                      <p:cNvSpPr/>
                      <p:nvPr/>
                    </p:nvSpPr>
                    <p:spPr>
                      <a:xfrm flipV="1">
                        <a:off x="1259" y="3400"/>
                        <a:ext cx="0" cy="181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triangle" w="med" len="med"/>
                      </a:ln>
                    </p:spPr>
                  </p:sp>
                </p:grpSp>
                <p:grpSp>
                  <p:nvGrpSpPr>
                    <p:cNvPr id="88109" name="Group 26"/>
                    <p:cNvGrpSpPr/>
                    <p:nvPr/>
                  </p:nvGrpSpPr>
                  <p:grpSpPr>
                    <a:xfrm>
                      <a:off x="1202" y="3203"/>
                      <a:ext cx="227" cy="227"/>
                      <a:chOff x="1156" y="3385"/>
                      <a:chExt cx="227" cy="227"/>
                    </a:xfrm>
                  </p:grpSpPr>
                  <p:sp>
                    <p:nvSpPr>
                      <p:cNvPr id="88111" name="Oval 27"/>
                      <p:cNvSpPr/>
                      <p:nvPr/>
                    </p:nvSpPr>
                    <p:spPr>
                      <a:xfrm>
                        <a:off x="1156" y="3385"/>
                        <a:ext cx="227" cy="227"/>
                      </a:xfrm>
                      <a:prstGeom prst="ellipse">
                        <a:avLst/>
                      </a:prstGeom>
                      <a:noFill/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lstStyle/>
                      <a:p>
                        <a:pPr eaLnBrk="1" hangingPunct="1"/>
                        <a:endParaRPr lang="zh-CN" altLang="en-US" sz="1800" dirty="0">
                          <a:latin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88112" name="Line 28"/>
                      <p:cNvSpPr/>
                      <p:nvPr/>
                    </p:nvSpPr>
                    <p:spPr>
                      <a:xfrm flipV="1">
                        <a:off x="1259" y="3400"/>
                        <a:ext cx="0" cy="181"/>
                      </a:xfrm>
                      <a:prstGeom prst="line">
                        <a:avLst/>
                      </a:prstGeom>
                      <a:ln w="952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triangle" w="med" len="med"/>
                      </a:ln>
                    </p:spPr>
                  </p:sp>
                </p:grpSp>
                <p:sp>
                  <p:nvSpPr>
                    <p:cNvPr id="88110" name="Oval 29"/>
                    <p:cNvSpPr/>
                    <p:nvPr/>
                  </p:nvSpPr>
                  <p:spPr>
                    <a:xfrm>
                      <a:off x="1429" y="3203"/>
                      <a:ext cx="227" cy="226"/>
                    </a:xfrm>
                    <a:prstGeom prst="ellipse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pPr eaLnBrk="1" hangingPunct="1"/>
                      <a:endParaRPr lang="zh-CN" altLang="en-US" sz="1800" dirty="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</p:grpSp>
            <p:grpSp>
              <p:nvGrpSpPr>
                <p:cNvPr id="88087" name="Group 30"/>
                <p:cNvGrpSpPr/>
                <p:nvPr/>
              </p:nvGrpSpPr>
              <p:grpSpPr>
                <a:xfrm>
                  <a:off x="2244" y="3203"/>
                  <a:ext cx="999" cy="363"/>
                  <a:chOff x="1927" y="3203"/>
                  <a:chExt cx="999" cy="363"/>
                </a:xfrm>
              </p:grpSpPr>
              <p:grpSp>
                <p:nvGrpSpPr>
                  <p:cNvPr id="88093" name="Group 31"/>
                  <p:cNvGrpSpPr/>
                  <p:nvPr/>
                </p:nvGrpSpPr>
                <p:grpSpPr>
                  <a:xfrm>
                    <a:off x="1927" y="3339"/>
                    <a:ext cx="227" cy="227"/>
                    <a:chOff x="1156" y="3385"/>
                    <a:chExt cx="227" cy="227"/>
                  </a:xfrm>
                </p:grpSpPr>
                <p:sp>
                  <p:nvSpPr>
                    <p:cNvPr id="88103" name="Oval 32"/>
                    <p:cNvSpPr/>
                    <p:nvPr/>
                  </p:nvSpPr>
                  <p:spPr>
                    <a:xfrm>
                      <a:off x="1156" y="3385"/>
                      <a:ext cx="227" cy="227"/>
                    </a:xfrm>
                    <a:prstGeom prst="ellipse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pPr eaLnBrk="1" hangingPunct="1"/>
                      <a:endParaRPr lang="zh-CN" altLang="en-US" sz="18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88104" name="Line 33"/>
                    <p:cNvSpPr/>
                    <p:nvPr/>
                  </p:nvSpPr>
                  <p:spPr>
                    <a:xfrm flipV="1">
                      <a:off x="1259" y="3400"/>
                      <a:ext cx="0" cy="181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</p:grpSp>
              <p:grpSp>
                <p:nvGrpSpPr>
                  <p:cNvPr id="88094" name="Group 34"/>
                  <p:cNvGrpSpPr/>
                  <p:nvPr/>
                </p:nvGrpSpPr>
                <p:grpSpPr>
                  <a:xfrm>
                    <a:off x="2245" y="3203"/>
                    <a:ext cx="227" cy="227"/>
                    <a:chOff x="1156" y="3385"/>
                    <a:chExt cx="227" cy="227"/>
                  </a:xfrm>
                </p:grpSpPr>
                <p:sp>
                  <p:nvSpPr>
                    <p:cNvPr id="88101" name="Oval 35"/>
                    <p:cNvSpPr/>
                    <p:nvPr/>
                  </p:nvSpPr>
                  <p:spPr>
                    <a:xfrm>
                      <a:off x="1156" y="3385"/>
                      <a:ext cx="227" cy="227"/>
                    </a:xfrm>
                    <a:prstGeom prst="ellipse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pPr eaLnBrk="1" hangingPunct="1"/>
                      <a:endParaRPr lang="zh-CN" altLang="en-US" sz="18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88102" name="Line 36"/>
                    <p:cNvSpPr/>
                    <p:nvPr/>
                  </p:nvSpPr>
                  <p:spPr>
                    <a:xfrm flipV="1">
                      <a:off x="1259" y="3400"/>
                      <a:ext cx="0" cy="181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</p:grpSp>
              <p:grpSp>
                <p:nvGrpSpPr>
                  <p:cNvPr id="88095" name="Group 37"/>
                  <p:cNvGrpSpPr/>
                  <p:nvPr/>
                </p:nvGrpSpPr>
                <p:grpSpPr>
                  <a:xfrm>
                    <a:off x="2472" y="3203"/>
                    <a:ext cx="227" cy="227"/>
                    <a:chOff x="1156" y="3385"/>
                    <a:chExt cx="227" cy="227"/>
                  </a:xfrm>
                </p:grpSpPr>
                <p:sp>
                  <p:nvSpPr>
                    <p:cNvPr id="88099" name="Oval 38"/>
                    <p:cNvSpPr/>
                    <p:nvPr/>
                  </p:nvSpPr>
                  <p:spPr>
                    <a:xfrm>
                      <a:off x="1156" y="3385"/>
                      <a:ext cx="227" cy="227"/>
                    </a:xfrm>
                    <a:prstGeom prst="ellipse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pPr eaLnBrk="1" hangingPunct="1"/>
                      <a:endParaRPr lang="zh-CN" altLang="en-US" sz="18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88100" name="Line 39"/>
                    <p:cNvSpPr/>
                    <p:nvPr/>
                  </p:nvSpPr>
                  <p:spPr>
                    <a:xfrm flipV="1">
                      <a:off x="1259" y="3400"/>
                      <a:ext cx="0" cy="181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</p:grpSp>
              <p:grpSp>
                <p:nvGrpSpPr>
                  <p:cNvPr id="88096" name="Group 40"/>
                  <p:cNvGrpSpPr/>
                  <p:nvPr/>
                </p:nvGrpSpPr>
                <p:grpSpPr>
                  <a:xfrm>
                    <a:off x="2699" y="3203"/>
                    <a:ext cx="227" cy="227"/>
                    <a:chOff x="1156" y="3385"/>
                    <a:chExt cx="227" cy="227"/>
                  </a:xfrm>
                </p:grpSpPr>
                <p:sp>
                  <p:nvSpPr>
                    <p:cNvPr id="88097" name="Oval 41"/>
                    <p:cNvSpPr/>
                    <p:nvPr/>
                  </p:nvSpPr>
                  <p:spPr>
                    <a:xfrm>
                      <a:off x="1156" y="3385"/>
                      <a:ext cx="227" cy="227"/>
                    </a:xfrm>
                    <a:prstGeom prst="ellipse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pPr eaLnBrk="1" hangingPunct="1"/>
                      <a:endParaRPr lang="zh-CN" altLang="en-US" sz="18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88098" name="Line 42"/>
                    <p:cNvSpPr/>
                    <p:nvPr/>
                  </p:nvSpPr>
                  <p:spPr>
                    <a:xfrm flipV="1">
                      <a:off x="1259" y="3400"/>
                      <a:ext cx="0" cy="181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</p:grpSp>
            </p:grpSp>
            <p:grpSp>
              <p:nvGrpSpPr>
                <p:cNvPr id="88088" name="Group 43"/>
                <p:cNvGrpSpPr/>
                <p:nvPr/>
              </p:nvGrpSpPr>
              <p:grpSpPr>
                <a:xfrm>
                  <a:off x="158" y="3055"/>
                  <a:ext cx="2903" cy="733"/>
                  <a:chOff x="158" y="3055"/>
                  <a:chExt cx="2903" cy="733"/>
                </a:xfrm>
              </p:grpSpPr>
              <p:sp>
                <p:nvSpPr>
                  <p:cNvPr id="88089" name="Text Box 44"/>
                  <p:cNvSpPr txBox="1"/>
                  <p:nvPr/>
                </p:nvSpPr>
                <p:spPr>
                  <a:xfrm>
                    <a:off x="158" y="3158"/>
                    <a:ext cx="499" cy="3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C</a:t>
                    </a:r>
                    <a:endParaRPr lang="en-US" altLang="zh-CN" sz="12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8090" name="Text Box 45"/>
                  <p:cNvSpPr txBox="1"/>
                  <p:nvPr/>
                </p:nvSpPr>
                <p:spPr>
                  <a:xfrm>
                    <a:off x="1565" y="3055"/>
                    <a:ext cx="635" cy="31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zh-CN" altLang="en-US" sz="18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激发</a:t>
                    </a:r>
                    <a:endParaRPr lang="zh-CN" altLang="en-US" sz="12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8091" name="Text Box 46"/>
                  <p:cNvSpPr txBox="1"/>
                  <p:nvPr/>
                </p:nvSpPr>
                <p:spPr>
                  <a:xfrm>
                    <a:off x="497" y="3504"/>
                    <a:ext cx="2041" cy="284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16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2s                                2s</a:t>
                    </a:r>
                    <a:endParaRPr lang="en-US" altLang="zh-CN" sz="12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88092" name="Text Box 47"/>
                  <p:cNvSpPr txBox="1"/>
                  <p:nvPr/>
                </p:nvSpPr>
                <p:spPr>
                  <a:xfrm>
                    <a:off x="1020" y="3357"/>
                    <a:ext cx="2041" cy="284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16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2p                               2p</a:t>
                    </a:r>
                    <a:endParaRPr lang="en-US" altLang="zh-CN" sz="12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</p:grpSp>
      </p:grpSp>
      <p:sp>
        <p:nvSpPr>
          <p:cNvPr id="161840" name="Text Box 48"/>
          <p:cNvSpPr txBox="1"/>
          <p:nvPr/>
        </p:nvSpPr>
        <p:spPr>
          <a:xfrm>
            <a:off x="392113" y="4165600"/>
            <a:ext cx="4968875" cy="831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应形成四个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C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－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H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键不完全相同。与实际不符。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8" name="Group 49"/>
          <p:cNvGrpSpPr/>
          <p:nvPr/>
        </p:nvGrpSpPr>
        <p:grpSpPr>
          <a:xfrm>
            <a:off x="3338513" y="2290763"/>
            <a:ext cx="5622925" cy="2416175"/>
            <a:chOff x="1878" y="1923"/>
            <a:chExt cx="3542" cy="2031"/>
          </a:xfrm>
        </p:grpSpPr>
        <p:grpSp>
          <p:nvGrpSpPr>
            <p:cNvPr id="88075" name="Group 50"/>
            <p:cNvGrpSpPr/>
            <p:nvPr/>
          </p:nvGrpSpPr>
          <p:grpSpPr>
            <a:xfrm>
              <a:off x="1878" y="1923"/>
              <a:ext cx="3542" cy="1961"/>
              <a:chOff x="2064" y="1842"/>
              <a:chExt cx="3542" cy="1961"/>
            </a:xfrm>
          </p:grpSpPr>
          <p:graphicFrame>
            <p:nvGraphicFramePr>
              <p:cNvPr id="88080" name="Object 51"/>
              <p:cNvGraphicFramePr>
                <a:graphicFrameLocks noChangeAspect="1"/>
              </p:cNvGraphicFramePr>
              <p:nvPr/>
            </p:nvGraphicFramePr>
            <p:xfrm>
              <a:off x="3334" y="1842"/>
              <a:ext cx="2272" cy="196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" imgW="3895725" imgH="3362325" progId="Paint.Picture">
                      <p:embed/>
                    </p:oleObj>
                  </mc:Choice>
                  <mc:Fallback>
                    <p:oleObj r:id="rId2" imgW="3895725" imgH="3362325" progId="Paint.Picture">
                      <p:embed/>
                      <p:pic>
                        <p:nvPicPr>
                          <p:cNvPr id="0" name="图片 3121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3334" y="1842"/>
                            <a:ext cx="2272" cy="196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8081" name="Text Box 52"/>
              <p:cNvSpPr txBox="1"/>
              <p:nvPr/>
            </p:nvSpPr>
            <p:spPr>
              <a:xfrm>
                <a:off x="2064" y="2160"/>
                <a:ext cx="1678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实际测定→</a:t>
                </a:r>
                <a:endParaRPr lang="zh-CN" altLang="en-US" sz="12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88076" name="Group 53"/>
            <p:cNvGrpSpPr/>
            <p:nvPr/>
          </p:nvGrpSpPr>
          <p:grpSpPr>
            <a:xfrm>
              <a:off x="4899" y="2399"/>
              <a:ext cx="521" cy="310"/>
              <a:chOff x="4899" y="2399"/>
              <a:chExt cx="521" cy="310"/>
            </a:xfrm>
          </p:grpSpPr>
          <p:sp>
            <p:nvSpPr>
              <p:cNvPr id="88078" name="Oval 54"/>
              <p:cNvSpPr/>
              <p:nvPr/>
            </p:nvSpPr>
            <p:spPr>
              <a:xfrm>
                <a:off x="4899" y="2477"/>
                <a:ext cx="68" cy="68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079" name="Text Box 55"/>
              <p:cNvSpPr txBox="1"/>
              <p:nvPr/>
            </p:nvSpPr>
            <p:spPr>
              <a:xfrm>
                <a:off x="5102" y="2399"/>
                <a:ext cx="318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lang="en-US" altLang="zh-CN" sz="18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′</a:t>
                </a:r>
                <a:endParaRPr lang="en-US" altLang="zh-CN" sz="1200" dirty="0"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</p:grpSp>
        <p:sp>
          <p:nvSpPr>
            <p:cNvPr id="88077" name="Text Box 56"/>
            <p:cNvSpPr txBox="1"/>
            <p:nvPr/>
          </p:nvSpPr>
          <p:spPr>
            <a:xfrm>
              <a:off x="3561" y="3566"/>
              <a:ext cx="1678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正四面体形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61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161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802" grpId="0"/>
      <p:bldP spid="161840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44"/>
          <p:cNvSpPr/>
          <p:nvPr/>
        </p:nvSpPr>
        <p:spPr>
          <a:xfrm>
            <a:off x="107950" y="236538"/>
            <a:ext cx="2878138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dirty="0">
                <a:solidFill>
                  <a:srgbClr val="9900CC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9900CC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dirty="0">
                <a:solidFill>
                  <a:srgbClr val="9900CC"/>
                </a:solidFill>
                <a:latin typeface="Times New Roman" panose="02020603050405020304" pitchFamily="18" charset="0"/>
              </a:rPr>
              <a:t>杂化轨道理论 </a:t>
            </a:r>
          </a:p>
        </p:txBody>
      </p:sp>
      <p:sp>
        <p:nvSpPr>
          <p:cNvPr id="89091" name="Rectangle 45"/>
          <p:cNvSpPr/>
          <p:nvPr/>
        </p:nvSpPr>
        <p:spPr>
          <a:xfrm>
            <a:off x="107950" y="792163"/>
            <a:ext cx="3536950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1)</a:t>
            </a:r>
            <a:r>
              <a:rPr lang="zh-CN" altLang="en-US" dirty="0">
                <a:latin typeface="Times New Roman" panose="02020603050405020304" pitchFamily="18" charset="0"/>
              </a:rPr>
              <a:t>杂化轨道理论要点 </a:t>
            </a:r>
          </a:p>
        </p:txBody>
      </p:sp>
      <p:grpSp>
        <p:nvGrpSpPr>
          <p:cNvPr id="2" name="Group 46"/>
          <p:cNvGrpSpPr/>
          <p:nvPr/>
        </p:nvGrpSpPr>
        <p:grpSpPr>
          <a:xfrm>
            <a:off x="58738" y="1382713"/>
            <a:ext cx="9205912" cy="1570037"/>
            <a:chOff x="165" y="2296"/>
            <a:chExt cx="5799" cy="1318"/>
          </a:xfrm>
        </p:grpSpPr>
        <p:sp>
          <p:nvSpPr>
            <p:cNvPr id="89096" name="Oval 47"/>
            <p:cNvSpPr/>
            <p:nvPr/>
          </p:nvSpPr>
          <p:spPr>
            <a:xfrm>
              <a:off x="165" y="2432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89097" name="Text Box 48"/>
            <p:cNvSpPr txBox="1"/>
            <p:nvPr/>
          </p:nvSpPr>
          <p:spPr>
            <a:xfrm>
              <a:off x="294" y="2296"/>
              <a:ext cx="5670" cy="131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原子成键时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,  </a:t>
              </a: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参与成键的若干个能级相近 </a:t>
              </a:r>
              <a:endParaRPr lang="zh-CN" altLang="en-US" sz="12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的原子轨道相互“混杂”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,  </a:t>
              </a: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组成一组新轨道 </a:t>
              </a:r>
              <a:endParaRPr lang="zh-CN" altLang="en-US" sz="12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</a:t>
              </a: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杂化轨道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),</a:t>
              </a: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这一过程叫原子轨道的“杂化”。 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9093" name="Group 49"/>
          <p:cNvGrpSpPr/>
          <p:nvPr/>
        </p:nvGrpSpPr>
        <p:grpSpPr>
          <a:xfrm>
            <a:off x="112713" y="3275013"/>
            <a:ext cx="9205912" cy="830262"/>
            <a:chOff x="180" y="482"/>
            <a:chExt cx="5799" cy="698"/>
          </a:xfrm>
        </p:grpSpPr>
        <p:sp>
          <p:nvSpPr>
            <p:cNvPr id="89094" name="Oval 50"/>
            <p:cNvSpPr/>
            <p:nvPr/>
          </p:nvSpPr>
          <p:spPr>
            <a:xfrm>
              <a:off x="180" y="654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89095" name="Text Box 51"/>
            <p:cNvSpPr txBox="1"/>
            <p:nvPr/>
          </p:nvSpPr>
          <p:spPr>
            <a:xfrm>
              <a:off x="309" y="482"/>
              <a:ext cx="5670" cy="69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有几个原子轨道参与杂化，就形成几个杂 </a:t>
              </a:r>
              <a:endParaRPr lang="zh-CN" altLang="en-US" sz="12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化轨道。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0500" y="1978025"/>
            <a:ext cx="9205913" cy="866775"/>
            <a:chOff x="180" y="482"/>
            <a:chExt cx="5799" cy="729"/>
          </a:xfrm>
        </p:grpSpPr>
        <p:sp>
          <p:nvSpPr>
            <p:cNvPr id="90127" name="Oval 3"/>
            <p:cNvSpPr/>
            <p:nvPr/>
          </p:nvSpPr>
          <p:spPr>
            <a:xfrm>
              <a:off x="180" y="654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90128" name="Text Box 4"/>
            <p:cNvSpPr txBox="1"/>
            <p:nvPr/>
          </p:nvSpPr>
          <p:spPr>
            <a:xfrm>
              <a:off x="309" y="482"/>
              <a:ext cx="5670" cy="7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杂化轨道比原来未杂化的轨道成键能力强， </a:t>
              </a:r>
              <a:endParaRPr lang="zh-CN" altLang="en-US" sz="1200" dirty="0">
                <a:latin typeface="Arial" panose="020B0604020202020204" pitchFamily="34" charset="0"/>
                <a:ea typeface="ˎ̥"/>
              </a:endParaRPr>
            </a:p>
            <a:p>
              <a:pPr algn="just"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形成化学键的键能大，生成的分子稳定。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5"/>
          <p:cNvGrpSpPr/>
          <p:nvPr/>
        </p:nvGrpSpPr>
        <p:grpSpPr>
          <a:xfrm>
            <a:off x="190500" y="950913"/>
            <a:ext cx="8774113" cy="831850"/>
            <a:chOff x="180" y="482"/>
            <a:chExt cx="5799" cy="698"/>
          </a:xfrm>
        </p:grpSpPr>
        <p:sp>
          <p:nvSpPr>
            <p:cNvPr id="90125" name="Oval 6"/>
            <p:cNvSpPr/>
            <p:nvPr/>
          </p:nvSpPr>
          <p:spPr>
            <a:xfrm>
              <a:off x="180" y="654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90126" name="Text Box 7"/>
            <p:cNvSpPr txBox="1"/>
            <p:nvPr/>
          </p:nvSpPr>
          <p:spPr>
            <a:xfrm>
              <a:off x="309" y="482"/>
              <a:ext cx="5670" cy="69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杂化轨道成键时，要满足最小排斥原理，即杂化轨道间尽量取得最大夹角。 </a:t>
              </a:r>
            </a:p>
          </p:txBody>
        </p:sp>
      </p:grpSp>
      <p:sp>
        <p:nvSpPr>
          <p:cNvPr id="90116" name="Rectangle 8"/>
          <p:cNvSpPr/>
          <p:nvPr/>
        </p:nvSpPr>
        <p:spPr>
          <a:xfrm>
            <a:off x="0" y="196850"/>
            <a:ext cx="3536950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</a:rPr>
              <a:t>1)</a:t>
            </a:r>
            <a:r>
              <a:rPr lang="zh-CN" altLang="en-US" dirty="0">
                <a:latin typeface="Times New Roman" panose="02020603050405020304" pitchFamily="18" charset="0"/>
              </a:rPr>
              <a:t>杂化轨道理论要点 </a:t>
            </a:r>
          </a:p>
        </p:txBody>
      </p:sp>
      <p:grpSp>
        <p:nvGrpSpPr>
          <p:cNvPr id="4" name="Group 9"/>
          <p:cNvGrpSpPr/>
          <p:nvPr/>
        </p:nvGrpSpPr>
        <p:grpSpPr>
          <a:xfrm>
            <a:off x="107950" y="3111500"/>
            <a:ext cx="4321175" cy="1620838"/>
            <a:chOff x="1746" y="2750"/>
            <a:chExt cx="2722" cy="1361"/>
          </a:xfrm>
        </p:grpSpPr>
        <p:grpSp>
          <p:nvGrpSpPr>
            <p:cNvPr id="90119" name="Group 10"/>
            <p:cNvGrpSpPr/>
            <p:nvPr/>
          </p:nvGrpSpPr>
          <p:grpSpPr>
            <a:xfrm>
              <a:off x="1746" y="2750"/>
              <a:ext cx="2722" cy="1361"/>
              <a:chOff x="1722" y="2251"/>
              <a:chExt cx="2722" cy="1361"/>
            </a:xfrm>
          </p:grpSpPr>
          <p:pic>
            <p:nvPicPr>
              <p:cNvPr id="90121" name="Picture 1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16" y="2296"/>
                <a:ext cx="1951" cy="1235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90122" name="Line 12"/>
              <p:cNvSpPr/>
              <p:nvPr/>
            </p:nvSpPr>
            <p:spPr>
              <a:xfrm flipV="1">
                <a:off x="1722" y="2898"/>
                <a:ext cx="272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0123" name="Text Box 13"/>
              <p:cNvSpPr txBox="1"/>
              <p:nvPr/>
            </p:nvSpPr>
            <p:spPr>
              <a:xfrm>
                <a:off x="2663" y="2482"/>
                <a:ext cx="976" cy="4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0124" name="Line 14"/>
              <p:cNvSpPr/>
              <p:nvPr/>
            </p:nvSpPr>
            <p:spPr>
              <a:xfrm flipV="1">
                <a:off x="3083" y="2251"/>
                <a:ext cx="0" cy="136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90120" name="Text Box 15"/>
            <p:cNvSpPr txBox="1"/>
            <p:nvPr/>
          </p:nvSpPr>
          <p:spPr>
            <a:xfrm>
              <a:off x="2608" y="2840"/>
              <a:ext cx="1179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62832" name="Rectangle 16"/>
          <p:cNvSpPr/>
          <p:nvPr/>
        </p:nvSpPr>
        <p:spPr>
          <a:xfrm>
            <a:off x="4572000" y="3424238"/>
            <a:ext cx="4572000" cy="1200150"/>
          </a:xfrm>
          <a:prstGeom prst="rect">
            <a:avLst/>
          </a:prstGeom>
          <a:solidFill>
            <a:srgbClr val="339966"/>
          </a:solidFill>
          <a:ln w="9525">
            <a:noFill/>
          </a:ln>
        </p:spPr>
        <p:txBody>
          <a:bodyPr anchor="ctr" anchorCtr="0">
            <a:spAutoFit/>
          </a:bodyPr>
          <a:lstStyle/>
          <a:p>
            <a:pPr defTabSz="914400">
              <a:tabLst>
                <a:tab pos="90805" algn="l"/>
              </a:tabLst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原子轨道的杂化，只在形成分子的过程中才会发生，孤立的原子不可能发生杂化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62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32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/>
          <p:nvPr/>
        </p:nvSpPr>
        <p:spPr>
          <a:xfrm>
            <a:off x="179388" y="184150"/>
            <a:ext cx="4524375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2)</a:t>
            </a:r>
            <a:r>
              <a:rPr lang="zh-CN" altLang="en-US" dirty="0">
                <a:latin typeface="Times New Roman" panose="02020603050405020304" pitchFamily="18" charset="0"/>
              </a:rPr>
              <a:t>杂化类型与分子空间构型 </a:t>
            </a:r>
          </a:p>
        </p:txBody>
      </p:sp>
      <p:sp>
        <p:nvSpPr>
          <p:cNvPr id="91139" name="Line 3"/>
          <p:cNvSpPr/>
          <p:nvPr/>
        </p:nvSpPr>
        <p:spPr>
          <a:xfrm flipV="1">
            <a:off x="1027113" y="1470025"/>
            <a:ext cx="7848600" cy="0"/>
          </a:xfrm>
          <a:prstGeom prst="line">
            <a:avLst/>
          </a:prstGeom>
          <a:ln w="9525">
            <a:noFill/>
          </a:ln>
        </p:spPr>
      </p:sp>
      <p:grpSp>
        <p:nvGrpSpPr>
          <p:cNvPr id="91140" name="Group 4"/>
          <p:cNvGrpSpPr/>
          <p:nvPr/>
        </p:nvGrpSpPr>
        <p:grpSpPr>
          <a:xfrm>
            <a:off x="95250" y="781050"/>
            <a:ext cx="9205913" cy="461963"/>
            <a:chOff x="180" y="482"/>
            <a:chExt cx="5799" cy="388"/>
          </a:xfrm>
        </p:grpSpPr>
        <p:sp>
          <p:nvSpPr>
            <p:cNvPr id="91226" name="Oval 5"/>
            <p:cNvSpPr/>
            <p:nvPr/>
          </p:nvSpPr>
          <p:spPr>
            <a:xfrm>
              <a:off x="180" y="654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91227" name="Text Box 6"/>
            <p:cNvSpPr txBox="1"/>
            <p:nvPr/>
          </p:nvSpPr>
          <p:spPr>
            <a:xfrm>
              <a:off x="309" y="482"/>
              <a:ext cx="5670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  <a:hlinkClick r:id="rId2" action="ppaction://hlinkfile"/>
                </a:rPr>
                <a:t>sp</a:t>
              </a: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  <a:hlinkClick r:id="rId2" action="ppaction://hlinkfile"/>
                </a:rPr>
                <a:t>杂化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——</a:t>
              </a: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１个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s </a:t>
              </a: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轨道＋１个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p </a:t>
              </a: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轨道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63847" name="Text Box 7"/>
          <p:cNvSpPr txBox="1"/>
          <p:nvPr/>
        </p:nvSpPr>
        <p:spPr>
          <a:xfrm>
            <a:off x="144463" y="2522538"/>
            <a:ext cx="34559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例  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BeCl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" name="Group 8"/>
          <p:cNvGrpSpPr/>
          <p:nvPr/>
        </p:nvGrpSpPr>
        <p:grpSpPr>
          <a:xfrm>
            <a:off x="336550" y="2882900"/>
            <a:ext cx="8664575" cy="981075"/>
            <a:chOff x="113" y="1513"/>
            <a:chExt cx="5458" cy="825"/>
          </a:xfrm>
        </p:grpSpPr>
        <p:grpSp>
          <p:nvGrpSpPr>
            <p:cNvPr id="91187" name="Group 9"/>
            <p:cNvGrpSpPr/>
            <p:nvPr/>
          </p:nvGrpSpPr>
          <p:grpSpPr>
            <a:xfrm>
              <a:off x="793" y="1909"/>
              <a:ext cx="52" cy="194"/>
              <a:chOff x="1202" y="3418"/>
              <a:chExt cx="52" cy="194"/>
            </a:xfrm>
          </p:grpSpPr>
          <p:sp>
            <p:nvSpPr>
              <p:cNvPr id="91224" name="Line 10"/>
              <p:cNvSpPr/>
              <p:nvPr/>
            </p:nvSpPr>
            <p:spPr>
              <a:xfrm>
                <a:off x="1202" y="3430"/>
                <a:ext cx="0" cy="18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1225" name="Line 11"/>
              <p:cNvSpPr/>
              <p:nvPr/>
            </p:nvSpPr>
            <p:spPr>
              <a:xfrm flipV="1">
                <a:off x="1254" y="3418"/>
                <a:ext cx="0" cy="18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91188" name="Text Box 12"/>
            <p:cNvSpPr txBox="1"/>
            <p:nvPr/>
          </p:nvSpPr>
          <p:spPr>
            <a:xfrm>
              <a:off x="113" y="1570"/>
              <a:ext cx="499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Be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89" name="Text Box 13"/>
            <p:cNvSpPr txBox="1"/>
            <p:nvPr/>
          </p:nvSpPr>
          <p:spPr>
            <a:xfrm>
              <a:off x="681" y="2053"/>
              <a:ext cx="2041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2s                                2s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90" name="Text Box 14"/>
            <p:cNvSpPr txBox="1"/>
            <p:nvPr/>
          </p:nvSpPr>
          <p:spPr>
            <a:xfrm>
              <a:off x="1247" y="1917"/>
              <a:ext cx="2041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2p                               2p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91191" name="Group 15"/>
            <p:cNvGrpSpPr/>
            <p:nvPr/>
          </p:nvGrpSpPr>
          <p:grpSpPr>
            <a:xfrm>
              <a:off x="703" y="1525"/>
              <a:ext cx="2731" cy="597"/>
              <a:chOff x="930" y="1344"/>
              <a:chExt cx="2731" cy="597"/>
            </a:xfrm>
          </p:grpSpPr>
          <p:grpSp>
            <p:nvGrpSpPr>
              <p:cNvPr id="91207" name="Group 16"/>
              <p:cNvGrpSpPr/>
              <p:nvPr/>
            </p:nvGrpSpPr>
            <p:grpSpPr>
              <a:xfrm>
                <a:off x="930" y="1344"/>
                <a:ext cx="1724" cy="589"/>
                <a:chOff x="930" y="1344"/>
                <a:chExt cx="1724" cy="589"/>
              </a:xfrm>
            </p:grpSpPr>
            <p:sp>
              <p:nvSpPr>
                <p:cNvPr id="91217" name="Oval 17"/>
                <p:cNvSpPr/>
                <p:nvPr/>
              </p:nvSpPr>
              <p:spPr>
                <a:xfrm>
                  <a:off x="930" y="1706"/>
                  <a:ext cx="227" cy="22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1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1218" name="Oval 18"/>
                <p:cNvSpPr/>
                <p:nvPr/>
              </p:nvSpPr>
              <p:spPr>
                <a:xfrm>
                  <a:off x="1702" y="1570"/>
                  <a:ext cx="227" cy="226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1800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91219" name="Group 19"/>
                <p:cNvGrpSpPr/>
                <p:nvPr/>
              </p:nvGrpSpPr>
              <p:grpSpPr>
                <a:xfrm>
                  <a:off x="2019" y="1344"/>
                  <a:ext cx="635" cy="317"/>
                  <a:chOff x="2019" y="1344"/>
                  <a:chExt cx="635" cy="317"/>
                </a:xfrm>
              </p:grpSpPr>
              <p:sp>
                <p:nvSpPr>
                  <p:cNvPr id="91222" name="Line 20"/>
                  <p:cNvSpPr/>
                  <p:nvPr/>
                </p:nvSpPr>
                <p:spPr>
                  <a:xfrm>
                    <a:off x="2064" y="1661"/>
                    <a:ext cx="545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91223" name="Text Box 21"/>
                  <p:cNvSpPr txBox="1"/>
                  <p:nvPr/>
                </p:nvSpPr>
                <p:spPr>
                  <a:xfrm>
                    <a:off x="2019" y="1344"/>
                    <a:ext cx="635" cy="31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zh-CN" altLang="en-US" sz="18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激发</a:t>
                    </a:r>
                    <a:endParaRPr lang="zh-CN" altLang="en-US" sz="12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91220" name="Oval 22"/>
                <p:cNvSpPr/>
                <p:nvPr/>
              </p:nvSpPr>
              <p:spPr>
                <a:xfrm>
                  <a:off x="1474" y="1570"/>
                  <a:ext cx="227" cy="226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1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1221" name="Oval 23"/>
                <p:cNvSpPr/>
                <p:nvPr/>
              </p:nvSpPr>
              <p:spPr>
                <a:xfrm>
                  <a:off x="1247" y="1570"/>
                  <a:ext cx="227" cy="226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18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91208" name="Group 24"/>
              <p:cNvGrpSpPr/>
              <p:nvPr/>
            </p:nvGrpSpPr>
            <p:grpSpPr>
              <a:xfrm>
                <a:off x="2662" y="1578"/>
                <a:ext cx="999" cy="363"/>
                <a:chOff x="2698" y="1434"/>
                <a:chExt cx="999" cy="363"/>
              </a:xfrm>
            </p:grpSpPr>
            <p:grpSp>
              <p:nvGrpSpPr>
                <p:cNvPr id="91209" name="Group 25"/>
                <p:cNvGrpSpPr/>
                <p:nvPr/>
              </p:nvGrpSpPr>
              <p:grpSpPr>
                <a:xfrm>
                  <a:off x="2698" y="1570"/>
                  <a:ext cx="227" cy="227"/>
                  <a:chOff x="1156" y="3385"/>
                  <a:chExt cx="227" cy="227"/>
                </a:xfrm>
              </p:grpSpPr>
              <p:sp>
                <p:nvSpPr>
                  <p:cNvPr id="91215" name="Oval 26"/>
                  <p:cNvSpPr/>
                  <p:nvPr/>
                </p:nvSpPr>
                <p:spPr>
                  <a:xfrm>
                    <a:off x="1156" y="3385"/>
                    <a:ext cx="227" cy="22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18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1216" name="Line 27"/>
                  <p:cNvSpPr/>
                  <p:nvPr/>
                </p:nvSpPr>
                <p:spPr>
                  <a:xfrm flipV="1">
                    <a:off x="1259" y="3400"/>
                    <a:ext cx="0" cy="18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</p:grpSp>
            <p:grpSp>
              <p:nvGrpSpPr>
                <p:cNvPr id="91210" name="Group 28"/>
                <p:cNvGrpSpPr/>
                <p:nvPr/>
              </p:nvGrpSpPr>
              <p:grpSpPr>
                <a:xfrm>
                  <a:off x="3016" y="1434"/>
                  <a:ext cx="227" cy="227"/>
                  <a:chOff x="1156" y="3385"/>
                  <a:chExt cx="227" cy="227"/>
                </a:xfrm>
              </p:grpSpPr>
              <p:sp>
                <p:nvSpPr>
                  <p:cNvPr id="91213" name="Oval 29"/>
                  <p:cNvSpPr/>
                  <p:nvPr/>
                </p:nvSpPr>
                <p:spPr>
                  <a:xfrm>
                    <a:off x="1156" y="3385"/>
                    <a:ext cx="227" cy="22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18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1214" name="Line 30"/>
                  <p:cNvSpPr/>
                  <p:nvPr/>
                </p:nvSpPr>
                <p:spPr>
                  <a:xfrm flipV="1">
                    <a:off x="1259" y="3400"/>
                    <a:ext cx="0" cy="18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</p:grpSp>
            <p:sp>
              <p:nvSpPr>
                <p:cNvPr id="91211" name="Oval 31"/>
                <p:cNvSpPr/>
                <p:nvPr/>
              </p:nvSpPr>
              <p:spPr>
                <a:xfrm>
                  <a:off x="3470" y="1434"/>
                  <a:ext cx="227" cy="226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1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1212" name="Oval 32"/>
                <p:cNvSpPr/>
                <p:nvPr/>
              </p:nvSpPr>
              <p:spPr>
                <a:xfrm>
                  <a:off x="3243" y="1435"/>
                  <a:ext cx="227" cy="226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1800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91192" name="Group 33"/>
            <p:cNvGrpSpPr/>
            <p:nvPr/>
          </p:nvGrpSpPr>
          <p:grpSpPr>
            <a:xfrm>
              <a:off x="3503" y="1513"/>
              <a:ext cx="953" cy="317"/>
              <a:chOff x="2019" y="1344"/>
              <a:chExt cx="635" cy="317"/>
            </a:xfrm>
          </p:grpSpPr>
          <p:sp>
            <p:nvSpPr>
              <p:cNvPr id="91205" name="Line 34"/>
              <p:cNvSpPr/>
              <p:nvPr/>
            </p:nvSpPr>
            <p:spPr>
              <a:xfrm>
                <a:off x="2064" y="1661"/>
                <a:ext cx="54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1206" name="Text Box 35"/>
              <p:cNvSpPr txBox="1"/>
              <p:nvPr/>
            </p:nvSpPr>
            <p:spPr>
              <a:xfrm>
                <a:off x="2019" y="1344"/>
                <a:ext cx="635" cy="31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sp</a:t>
                </a:r>
                <a:r>
                  <a:rPr lang="zh-CN" altLang="en-US" sz="18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杂化</a:t>
                </a:r>
                <a:endParaRPr lang="zh-CN" altLang="en-US" sz="12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91193" name="Group 36"/>
            <p:cNvGrpSpPr/>
            <p:nvPr/>
          </p:nvGrpSpPr>
          <p:grpSpPr>
            <a:xfrm>
              <a:off x="4469" y="1887"/>
              <a:ext cx="452" cy="227"/>
              <a:chOff x="4649" y="1570"/>
              <a:chExt cx="452" cy="227"/>
            </a:xfrm>
          </p:grpSpPr>
          <p:grpSp>
            <p:nvGrpSpPr>
              <p:cNvPr id="91199" name="Group 37"/>
              <p:cNvGrpSpPr/>
              <p:nvPr/>
            </p:nvGrpSpPr>
            <p:grpSpPr>
              <a:xfrm>
                <a:off x="4649" y="1570"/>
                <a:ext cx="227" cy="227"/>
                <a:chOff x="1156" y="3385"/>
                <a:chExt cx="227" cy="227"/>
              </a:xfrm>
            </p:grpSpPr>
            <p:sp>
              <p:nvSpPr>
                <p:cNvPr id="91203" name="Oval 38"/>
                <p:cNvSpPr/>
                <p:nvPr/>
              </p:nvSpPr>
              <p:spPr>
                <a:xfrm>
                  <a:off x="1156" y="3385"/>
                  <a:ext cx="227" cy="22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1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1204" name="Line 39"/>
                <p:cNvSpPr/>
                <p:nvPr/>
              </p:nvSpPr>
              <p:spPr>
                <a:xfrm flipV="1">
                  <a:off x="1259" y="3400"/>
                  <a:ext cx="0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91200" name="Group 40"/>
              <p:cNvGrpSpPr/>
              <p:nvPr/>
            </p:nvGrpSpPr>
            <p:grpSpPr>
              <a:xfrm>
                <a:off x="4874" y="1570"/>
                <a:ext cx="227" cy="227"/>
                <a:chOff x="1156" y="3385"/>
                <a:chExt cx="227" cy="227"/>
              </a:xfrm>
            </p:grpSpPr>
            <p:sp>
              <p:nvSpPr>
                <p:cNvPr id="91201" name="Oval 41"/>
                <p:cNvSpPr/>
                <p:nvPr/>
              </p:nvSpPr>
              <p:spPr>
                <a:xfrm>
                  <a:off x="1156" y="3385"/>
                  <a:ext cx="227" cy="22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1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1202" name="Line 42"/>
                <p:cNvSpPr/>
                <p:nvPr/>
              </p:nvSpPr>
              <p:spPr>
                <a:xfrm flipV="1">
                  <a:off x="1259" y="3400"/>
                  <a:ext cx="0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</p:grpSp>
        <p:grpSp>
          <p:nvGrpSpPr>
            <p:cNvPr id="91194" name="Group 43"/>
            <p:cNvGrpSpPr/>
            <p:nvPr/>
          </p:nvGrpSpPr>
          <p:grpSpPr>
            <a:xfrm>
              <a:off x="5012" y="1739"/>
              <a:ext cx="454" cy="227"/>
              <a:chOff x="5149" y="1434"/>
              <a:chExt cx="454" cy="227"/>
            </a:xfrm>
          </p:grpSpPr>
          <p:sp>
            <p:nvSpPr>
              <p:cNvPr id="91197" name="Oval 44"/>
              <p:cNvSpPr/>
              <p:nvPr/>
            </p:nvSpPr>
            <p:spPr>
              <a:xfrm>
                <a:off x="5376" y="1434"/>
                <a:ext cx="227" cy="22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1198" name="Oval 45"/>
              <p:cNvSpPr/>
              <p:nvPr/>
            </p:nvSpPr>
            <p:spPr>
              <a:xfrm>
                <a:off x="5149" y="1435"/>
                <a:ext cx="227" cy="226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18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91195" name="Text Box 46"/>
            <p:cNvSpPr txBox="1"/>
            <p:nvPr/>
          </p:nvSpPr>
          <p:spPr>
            <a:xfrm>
              <a:off x="4558" y="2011"/>
              <a:ext cx="363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sp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96" name="Text Box 47"/>
            <p:cNvSpPr txBox="1"/>
            <p:nvPr/>
          </p:nvSpPr>
          <p:spPr>
            <a:xfrm>
              <a:off x="5117" y="1894"/>
              <a:ext cx="454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2p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6" name="Group 48"/>
          <p:cNvGrpSpPr/>
          <p:nvPr/>
        </p:nvGrpSpPr>
        <p:grpSpPr>
          <a:xfrm>
            <a:off x="215900" y="3854450"/>
            <a:ext cx="5975350" cy="1201738"/>
            <a:chOff x="113" y="2986"/>
            <a:chExt cx="3764" cy="1010"/>
          </a:xfrm>
        </p:grpSpPr>
        <p:graphicFrame>
          <p:nvGraphicFramePr>
            <p:cNvPr id="91181" name="Object 49"/>
            <p:cNvGraphicFramePr>
              <a:graphicFrameLocks noChangeAspect="1"/>
            </p:cNvGraphicFramePr>
            <p:nvPr/>
          </p:nvGraphicFramePr>
          <p:xfrm>
            <a:off x="261" y="3009"/>
            <a:ext cx="3510" cy="9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3943350" imgH="1104900" progId="Paint.Picture">
                    <p:embed/>
                  </p:oleObj>
                </mc:Choice>
                <mc:Fallback>
                  <p:oleObj r:id="rId3" imgW="3943350" imgH="1104900" progId="Paint.Picture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61" y="3009"/>
                          <a:ext cx="3510" cy="9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1182" name="Line 50"/>
            <p:cNvSpPr/>
            <p:nvPr/>
          </p:nvSpPr>
          <p:spPr>
            <a:xfrm>
              <a:off x="113" y="3508"/>
              <a:ext cx="37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1183" name="Line 51"/>
            <p:cNvSpPr/>
            <p:nvPr/>
          </p:nvSpPr>
          <p:spPr>
            <a:xfrm flipH="1" flipV="1">
              <a:off x="2015" y="2986"/>
              <a:ext cx="3" cy="101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1184" name="Text Box 52"/>
            <p:cNvSpPr txBox="1"/>
            <p:nvPr/>
          </p:nvSpPr>
          <p:spPr>
            <a:xfrm>
              <a:off x="1791" y="3281"/>
              <a:ext cx="499" cy="5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36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Be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85" name="Text Box 53"/>
            <p:cNvSpPr txBox="1"/>
            <p:nvPr/>
          </p:nvSpPr>
          <p:spPr>
            <a:xfrm>
              <a:off x="735" y="3281"/>
              <a:ext cx="590" cy="5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36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Cl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86" name="Text Box 54"/>
            <p:cNvSpPr txBox="1"/>
            <p:nvPr/>
          </p:nvSpPr>
          <p:spPr>
            <a:xfrm>
              <a:off x="2879" y="3281"/>
              <a:ext cx="590" cy="5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36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Cl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Group 55"/>
          <p:cNvGrpSpPr/>
          <p:nvPr/>
        </p:nvGrpSpPr>
        <p:grpSpPr>
          <a:xfrm>
            <a:off x="6337300" y="3930650"/>
            <a:ext cx="2843213" cy="1003300"/>
            <a:chOff x="3969" y="2931"/>
            <a:chExt cx="1791" cy="842"/>
          </a:xfrm>
        </p:grpSpPr>
        <p:sp>
          <p:nvSpPr>
            <p:cNvPr id="91179" name="Text Box 56"/>
            <p:cNvSpPr txBox="1"/>
            <p:nvPr/>
          </p:nvSpPr>
          <p:spPr>
            <a:xfrm>
              <a:off x="3969" y="2931"/>
              <a:ext cx="1791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Cl—Be—Cl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80" name="Text Box 57"/>
            <p:cNvSpPr txBox="1"/>
            <p:nvPr/>
          </p:nvSpPr>
          <p:spPr>
            <a:xfrm>
              <a:off x="4332" y="3385"/>
              <a:ext cx="1270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直线形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63898" name="Group 58"/>
          <p:cNvGraphicFramePr>
            <a:graphicFrameLocks noGrp="1"/>
          </p:cNvGraphicFramePr>
          <p:nvPr/>
        </p:nvGraphicFramePr>
        <p:xfrm>
          <a:off x="215900" y="1290638"/>
          <a:ext cx="8785225" cy="1237297"/>
        </p:xfrm>
        <a:graphic>
          <a:graphicData uri="http://schemas.openxmlformats.org/drawingml/2006/table">
            <a:tbl>
              <a:tblPr/>
              <a:tblGrid>
                <a:gridCol w="1223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716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4101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杂化轨道数目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杂化轨道含量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轨道夹角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杂化轨道构型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成键类型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分子 </a:t>
                      </a:r>
                      <a:endParaRPr kumimoji="0" lang="zh-CN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构型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实例　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28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２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　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s</a:t>
                      </a: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、</a:t>
                      </a: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p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180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°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  <a:hlinkClick r:id="rId5" action="ppaction://hlinkfile"/>
                        </a:rPr>
                        <a:t>直线形</a:t>
                      </a:r>
                      <a:endParaRPr kumimoji="0" lang="zh-CN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l-G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σ</a:t>
                      </a:r>
                      <a:r>
                        <a:rPr kumimoji="0" lang="zh-CN" altLang="el-GR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键 </a:t>
                      </a:r>
                      <a:endParaRPr kumimoji="0" lang="zh-CN" altLang="el-GR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幼圆" panose="020105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直线形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BeCl</a:t>
                      </a:r>
                      <a:r>
                        <a:rPr kumimoji="0" lang="en-US" altLang="zh-CN" sz="21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</a:t>
                      </a: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、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CO</a:t>
                      </a:r>
                      <a:r>
                        <a:rPr kumimoji="0" lang="en-US" altLang="zh-CN" sz="21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</a:t>
                      </a:r>
                      <a:endParaRPr kumimoji="0" lang="en-US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91171" name="Group 84"/>
          <p:cNvGrpSpPr/>
          <p:nvPr/>
        </p:nvGrpSpPr>
        <p:grpSpPr>
          <a:xfrm>
            <a:off x="2087563" y="1941513"/>
            <a:ext cx="504825" cy="796925"/>
            <a:chOff x="5045" y="288"/>
            <a:chExt cx="318" cy="669"/>
          </a:xfrm>
        </p:grpSpPr>
        <p:sp>
          <p:nvSpPr>
            <p:cNvPr id="91176" name="Text Box 85"/>
            <p:cNvSpPr txBox="1"/>
            <p:nvPr/>
          </p:nvSpPr>
          <p:spPr>
            <a:xfrm>
              <a:off x="5045" y="288"/>
              <a:ext cx="318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1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77" name="Text Box 86"/>
            <p:cNvSpPr txBox="1"/>
            <p:nvPr/>
          </p:nvSpPr>
          <p:spPr>
            <a:xfrm>
              <a:off x="5057" y="482"/>
              <a:ext cx="227" cy="47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110000"/>
                </a:lnSpc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2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78" name="Line 87"/>
            <p:cNvSpPr/>
            <p:nvPr/>
          </p:nvSpPr>
          <p:spPr>
            <a:xfrm>
              <a:off x="5069" y="572"/>
              <a:ext cx="18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1172" name="Group 88"/>
          <p:cNvGrpSpPr/>
          <p:nvPr/>
        </p:nvGrpSpPr>
        <p:grpSpPr>
          <a:xfrm>
            <a:off x="1477963" y="1949450"/>
            <a:ext cx="504825" cy="796925"/>
            <a:chOff x="5045" y="288"/>
            <a:chExt cx="318" cy="669"/>
          </a:xfrm>
        </p:grpSpPr>
        <p:sp>
          <p:nvSpPr>
            <p:cNvPr id="91173" name="Text Box 89"/>
            <p:cNvSpPr txBox="1"/>
            <p:nvPr/>
          </p:nvSpPr>
          <p:spPr>
            <a:xfrm>
              <a:off x="5045" y="288"/>
              <a:ext cx="318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72000" rIns="5400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1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74" name="Text Box 90"/>
            <p:cNvSpPr txBox="1"/>
            <p:nvPr/>
          </p:nvSpPr>
          <p:spPr>
            <a:xfrm>
              <a:off x="5057" y="482"/>
              <a:ext cx="227" cy="47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>
              <a:spAutoFit/>
            </a:bodyPr>
            <a:lstStyle/>
            <a:p>
              <a:pPr eaLnBrk="1" hangingPunct="1">
                <a:lnSpc>
                  <a:spcPct val="110000"/>
                </a:lnSpc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2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1175" name="Line 91"/>
            <p:cNvSpPr/>
            <p:nvPr/>
          </p:nvSpPr>
          <p:spPr>
            <a:xfrm>
              <a:off x="5069" y="572"/>
              <a:ext cx="18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6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47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AutoShape 2"/>
          <p:cNvSpPr>
            <a:spLocks noChangeAspect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2163" name="Line 3"/>
          <p:cNvSpPr/>
          <p:nvPr/>
        </p:nvSpPr>
        <p:spPr>
          <a:xfrm flipV="1">
            <a:off x="990600" y="1200150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92164" name="Oval 4"/>
          <p:cNvSpPr/>
          <p:nvPr/>
        </p:nvSpPr>
        <p:spPr>
          <a:xfrm>
            <a:off x="250825" y="465138"/>
            <a:ext cx="215900" cy="161925"/>
          </a:xfrm>
          <a:prstGeom prst="ellipse">
            <a:avLst/>
          </a:prstGeom>
          <a:solidFill>
            <a:srgbClr val="6B50F0"/>
          </a:solid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2165" name="Text Box 5"/>
          <p:cNvSpPr txBox="1"/>
          <p:nvPr/>
        </p:nvSpPr>
        <p:spPr>
          <a:xfrm>
            <a:off x="455613" y="250825"/>
            <a:ext cx="8437562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  <a:hlinkClick r:id="rId2" action="ppaction://hlinkfile"/>
              </a:rPr>
              <a:t>sp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  <a:hlinkClick r:id="rId2" action="ppaction://hlinkfile"/>
              </a:rPr>
              <a:t>2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  <a:hlinkClick r:id="rId2" action="ppaction://hlinkfile"/>
              </a:rPr>
              <a:t>杂化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——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１个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s 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轨道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+2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个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p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轨道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64870" name="Group 6"/>
          <p:cNvGraphicFramePr>
            <a:graphicFrameLocks noGrp="1"/>
          </p:cNvGraphicFramePr>
          <p:nvPr/>
        </p:nvGraphicFramePr>
        <p:xfrm>
          <a:off x="198438" y="844550"/>
          <a:ext cx="8713787" cy="1236050"/>
        </p:xfrm>
        <a:graphic>
          <a:graphicData uri="http://schemas.openxmlformats.org/drawingml/2006/table">
            <a:tbl>
              <a:tblPr/>
              <a:tblGrid>
                <a:gridCol w="1296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1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9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4066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杂化轨道数目</a:t>
                      </a:r>
                      <a:endParaRPr kumimoji="0" lang="zh-CN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杂化轨道含量</a:t>
                      </a:r>
                      <a:endParaRPr kumimoji="0" lang="zh-CN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轨道夹角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杂化轨道构型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成键类型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分子 </a:t>
                      </a:r>
                      <a:endParaRPr kumimoji="0" lang="zh-CN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构型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　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s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、 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p</a:t>
                      </a:r>
                      <a:endParaRPr kumimoji="0" lang="en-US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120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°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正三角形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l-G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σ</a:t>
                      </a:r>
                      <a:r>
                        <a:rPr kumimoji="0" lang="zh-CN" altLang="el-GR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键 </a:t>
                      </a:r>
                      <a:endParaRPr kumimoji="0" lang="zh-CN" altLang="el-GR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幼圆" panose="020105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正三角形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92189" name="Group 29"/>
          <p:cNvGrpSpPr/>
          <p:nvPr/>
        </p:nvGrpSpPr>
        <p:grpSpPr>
          <a:xfrm>
            <a:off x="2160588" y="1473200"/>
            <a:ext cx="504825" cy="801688"/>
            <a:chOff x="5044" y="227"/>
            <a:chExt cx="318" cy="673"/>
          </a:xfrm>
        </p:grpSpPr>
        <p:sp>
          <p:nvSpPr>
            <p:cNvPr id="92195" name="Text Box 30"/>
            <p:cNvSpPr txBox="1"/>
            <p:nvPr/>
          </p:nvSpPr>
          <p:spPr>
            <a:xfrm>
              <a:off x="5044" y="227"/>
              <a:ext cx="318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2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196" name="Text Box 31"/>
            <p:cNvSpPr txBox="1"/>
            <p:nvPr/>
          </p:nvSpPr>
          <p:spPr>
            <a:xfrm>
              <a:off x="5055" y="425"/>
              <a:ext cx="227" cy="47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110000"/>
                </a:lnSpc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3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197" name="Line 32"/>
            <p:cNvSpPr/>
            <p:nvPr/>
          </p:nvSpPr>
          <p:spPr>
            <a:xfrm>
              <a:off x="5062" y="527"/>
              <a:ext cx="18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pic>
        <p:nvPicPr>
          <p:cNvPr id="92190" name="Picture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975" y="2355850"/>
            <a:ext cx="3952875" cy="24225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2191" name="Group 38"/>
          <p:cNvGrpSpPr/>
          <p:nvPr/>
        </p:nvGrpSpPr>
        <p:grpSpPr>
          <a:xfrm>
            <a:off x="1533525" y="1492250"/>
            <a:ext cx="504825" cy="796925"/>
            <a:chOff x="5045" y="288"/>
            <a:chExt cx="318" cy="669"/>
          </a:xfrm>
        </p:grpSpPr>
        <p:sp>
          <p:nvSpPr>
            <p:cNvPr id="92192" name="Text Box 39"/>
            <p:cNvSpPr txBox="1"/>
            <p:nvPr/>
          </p:nvSpPr>
          <p:spPr>
            <a:xfrm>
              <a:off x="5045" y="288"/>
              <a:ext cx="318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1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193" name="Text Box 40"/>
            <p:cNvSpPr txBox="1"/>
            <p:nvPr/>
          </p:nvSpPr>
          <p:spPr>
            <a:xfrm>
              <a:off x="5057" y="482"/>
              <a:ext cx="227" cy="47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110000"/>
                </a:lnSpc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3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2194" name="Line 41"/>
            <p:cNvSpPr/>
            <p:nvPr/>
          </p:nvSpPr>
          <p:spPr>
            <a:xfrm>
              <a:off x="5069" y="572"/>
              <a:ext cx="18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 spd="med">
    <p:wipe dir="r"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ext Box 2"/>
          <p:cNvSpPr txBox="1"/>
          <p:nvPr/>
        </p:nvSpPr>
        <p:spPr>
          <a:xfrm>
            <a:off x="468313" y="304800"/>
            <a:ext cx="8437562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sp</a:t>
            </a:r>
            <a:r>
              <a:rPr lang="en-US" altLang="zh-CN" sz="2000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杂化</a:t>
            </a:r>
            <a:r>
              <a:rPr lang="en-US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——</a:t>
            </a:r>
            <a:r>
              <a:rPr lang="zh-CN" altLang="en-US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１个</a:t>
            </a:r>
            <a:r>
              <a:rPr lang="en-US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s </a:t>
            </a:r>
            <a:r>
              <a:rPr lang="zh-CN" altLang="en-US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轨道</a:t>
            </a:r>
            <a:r>
              <a:rPr lang="en-US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+2</a:t>
            </a:r>
            <a:r>
              <a:rPr lang="zh-CN" altLang="en-US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个</a:t>
            </a:r>
            <a:r>
              <a:rPr lang="en-US" altLang="zh-CN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p </a:t>
            </a:r>
            <a:r>
              <a:rPr lang="zh-CN" altLang="en-US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轨道</a:t>
            </a:r>
            <a:endParaRPr lang="zh-CN" altLang="en-US" sz="11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5283200" y="2301875"/>
            <a:ext cx="3609975" cy="2478088"/>
            <a:chOff x="3328" y="1888"/>
            <a:chExt cx="2274" cy="2082"/>
          </a:xfrm>
        </p:grpSpPr>
        <p:grpSp>
          <p:nvGrpSpPr>
            <p:cNvPr id="93265" name="Group 4"/>
            <p:cNvGrpSpPr/>
            <p:nvPr/>
          </p:nvGrpSpPr>
          <p:grpSpPr>
            <a:xfrm>
              <a:off x="3328" y="1888"/>
              <a:ext cx="2274" cy="2082"/>
              <a:chOff x="3328" y="1888"/>
              <a:chExt cx="2274" cy="2082"/>
            </a:xfrm>
          </p:grpSpPr>
          <p:grpSp>
            <p:nvGrpSpPr>
              <p:cNvPr id="93270" name="Group 5"/>
              <p:cNvGrpSpPr/>
              <p:nvPr/>
            </p:nvGrpSpPr>
            <p:grpSpPr>
              <a:xfrm>
                <a:off x="3328" y="1888"/>
                <a:ext cx="2274" cy="2082"/>
                <a:chOff x="3328" y="1888"/>
                <a:chExt cx="2274" cy="2082"/>
              </a:xfrm>
            </p:grpSpPr>
            <p:pic>
              <p:nvPicPr>
                <p:cNvPr id="93274" name="Picture 6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3328" y="1888"/>
                  <a:ext cx="2274" cy="208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grpSp>
              <p:nvGrpSpPr>
                <p:cNvPr id="93275" name="Group 7"/>
                <p:cNvGrpSpPr/>
                <p:nvPr/>
              </p:nvGrpSpPr>
              <p:grpSpPr>
                <a:xfrm>
                  <a:off x="3379" y="1888"/>
                  <a:ext cx="2177" cy="1984"/>
                  <a:chOff x="3379" y="1888"/>
                  <a:chExt cx="2177" cy="1984"/>
                </a:xfrm>
              </p:grpSpPr>
              <p:sp>
                <p:nvSpPr>
                  <p:cNvPr id="93276" name="Line 8"/>
                  <p:cNvSpPr/>
                  <p:nvPr/>
                </p:nvSpPr>
                <p:spPr>
                  <a:xfrm>
                    <a:off x="4456" y="1900"/>
                    <a:ext cx="0" cy="127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3277" name="Line 9"/>
                  <p:cNvSpPr/>
                  <p:nvPr/>
                </p:nvSpPr>
                <p:spPr>
                  <a:xfrm flipV="1">
                    <a:off x="3412" y="3134"/>
                    <a:ext cx="1044" cy="72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3278" name="Line 10"/>
                  <p:cNvSpPr/>
                  <p:nvPr/>
                </p:nvSpPr>
                <p:spPr>
                  <a:xfrm>
                    <a:off x="4444" y="3125"/>
                    <a:ext cx="1088" cy="725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3279" name="Line 11"/>
                  <p:cNvSpPr/>
                  <p:nvPr/>
                </p:nvSpPr>
                <p:spPr>
                  <a:xfrm flipH="1">
                    <a:off x="3379" y="1888"/>
                    <a:ext cx="1089" cy="195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dash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3280" name="Line 12"/>
                  <p:cNvSpPr/>
                  <p:nvPr/>
                </p:nvSpPr>
                <p:spPr>
                  <a:xfrm>
                    <a:off x="4468" y="1888"/>
                    <a:ext cx="1088" cy="195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dash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3281" name="Line 13"/>
                  <p:cNvSpPr/>
                  <p:nvPr/>
                </p:nvSpPr>
                <p:spPr>
                  <a:xfrm>
                    <a:off x="3379" y="3872"/>
                    <a:ext cx="2177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dash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93282" name="Text Box 14"/>
                  <p:cNvSpPr txBox="1"/>
                  <p:nvPr/>
                </p:nvSpPr>
                <p:spPr>
                  <a:xfrm>
                    <a:off x="4603" y="2828"/>
                    <a:ext cx="817" cy="543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36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120</a:t>
                    </a:r>
                    <a:r>
                      <a:rPr lang="en-US" altLang="zh-CN" sz="32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°</a:t>
                    </a:r>
                    <a:endParaRPr lang="en-US" altLang="zh-CN" sz="18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93271" name="Group 15"/>
              <p:cNvGrpSpPr/>
              <p:nvPr/>
            </p:nvGrpSpPr>
            <p:grpSpPr>
              <a:xfrm>
                <a:off x="4468" y="2750"/>
                <a:ext cx="317" cy="589"/>
                <a:chOff x="4468" y="2750"/>
                <a:chExt cx="317" cy="589"/>
              </a:xfrm>
            </p:grpSpPr>
            <p:sp>
              <p:nvSpPr>
                <p:cNvPr id="93272" name="Line 16"/>
                <p:cNvSpPr/>
                <p:nvPr/>
              </p:nvSpPr>
              <p:spPr>
                <a:xfrm>
                  <a:off x="4740" y="3113"/>
                  <a:ext cx="45" cy="226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93273" name="Line 17"/>
                <p:cNvSpPr/>
                <p:nvPr/>
              </p:nvSpPr>
              <p:spPr>
                <a:xfrm flipH="1" flipV="1">
                  <a:off x="4468" y="2750"/>
                  <a:ext cx="181" cy="181"/>
                </a:xfrm>
                <a:prstGeom prst="line">
                  <a:avLst/>
                </a:prstGeom>
                <a:ln w="9525" cap="flat" cmpd="sng">
                  <a:solidFill>
                    <a:srgbClr val="FFFF00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</p:grpSp>
        <p:sp>
          <p:nvSpPr>
            <p:cNvPr id="93266" name="Text Box 18"/>
            <p:cNvSpPr txBox="1"/>
            <p:nvPr/>
          </p:nvSpPr>
          <p:spPr>
            <a:xfrm>
              <a:off x="4310" y="2976"/>
              <a:ext cx="363" cy="4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32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B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267" name="Text Box 19"/>
            <p:cNvSpPr txBox="1"/>
            <p:nvPr/>
          </p:nvSpPr>
          <p:spPr>
            <a:xfrm rot="2131876">
              <a:off x="5003" y="3359"/>
              <a:ext cx="454" cy="4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00FFFF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r>
                <a:rPr lang="en-US" altLang="zh-CN" sz="3200" b="1" dirty="0">
                  <a:solidFill>
                    <a:srgbClr val="00FFFF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F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268" name="Text Box 20"/>
            <p:cNvSpPr txBox="1"/>
            <p:nvPr/>
          </p:nvSpPr>
          <p:spPr>
            <a:xfrm>
              <a:off x="4265" y="2127"/>
              <a:ext cx="454" cy="4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00FFFF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r>
                <a:rPr lang="en-US" altLang="zh-CN" sz="3200" b="1" dirty="0">
                  <a:solidFill>
                    <a:srgbClr val="00FFFF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F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269" name="Text Box 21"/>
            <p:cNvSpPr txBox="1"/>
            <p:nvPr/>
          </p:nvSpPr>
          <p:spPr>
            <a:xfrm rot="-2059662">
              <a:off x="3536" y="3338"/>
              <a:ext cx="454" cy="4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00FFFF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r>
                <a:rPr lang="en-US" altLang="zh-CN" sz="3200" b="1" dirty="0">
                  <a:solidFill>
                    <a:srgbClr val="00FFFF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F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Group 22"/>
          <p:cNvGrpSpPr/>
          <p:nvPr/>
        </p:nvGrpSpPr>
        <p:grpSpPr>
          <a:xfrm>
            <a:off x="250825" y="2301875"/>
            <a:ext cx="5445125" cy="2670175"/>
            <a:chOff x="158" y="1888"/>
            <a:chExt cx="3430" cy="2244"/>
          </a:xfrm>
        </p:grpSpPr>
        <p:sp>
          <p:nvSpPr>
            <p:cNvPr id="93221" name="Text Box 23"/>
            <p:cNvSpPr txBox="1"/>
            <p:nvPr/>
          </p:nvSpPr>
          <p:spPr>
            <a:xfrm>
              <a:off x="158" y="1888"/>
              <a:ext cx="2177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例  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BF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3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222" name="Text Box 24"/>
            <p:cNvSpPr txBox="1"/>
            <p:nvPr/>
          </p:nvSpPr>
          <p:spPr>
            <a:xfrm>
              <a:off x="158" y="2296"/>
              <a:ext cx="499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B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93223" name="Group 25"/>
            <p:cNvGrpSpPr/>
            <p:nvPr/>
          </p:nvGrpSpPr>
          <p:grpSpPr>
            <a:xfrm>
              <a:off x="2141" y="3653"/>
              <a:ext cx="452" cy="227"/>
              <a:chOff x="4649" y="1570"/>
              <a:chExt cx="452" cy="227"/>
            </a:xfrm>
          </p:grpSpPr>
          <p:grpSp>
            <p:nvGrpSpPr>
              <p:cNvPr id="93259" name="Group 26"/>
              <p:cNvGrpSpPr/>
              <p:nvPr/>
            </p:nvGrpSpPr>
            <p:grpSpPr>
              <a:xfrm>
                <a:off x="4649" y="1570"/>
                <a:ext cx="227" cy="227"/>
                <a:chOff x="1156" y="3385"/>
                <a:chExt cx="227" cy="227"/>
              </a:xfrm>
            </p:grpSpPr>
            <p:sp>
              <p:nvSpPr>
                <p:cNvPr id="93263" name="Oval 27"/>
                <p:cNvSpPr/>
                <p:nvPr/>
              </p:nvSpPr>
              <p:spPr>
                <a:xfrm>
                  <a:off x="1156" y="3385"/>
                  <a:ext cx="227" cy="22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3264" name="Line 28"/>
                <p:cNvSpPr/>
                <p:nvPr/>
              </p:nvSpPr>
              <p:spPr>
                <a:xfrm flipV="1">
                  <a:off x="1259" y="3400"/>
                  <a:ext cx="0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93260" name="Group 29"/>
              <p:cNvGrpSpPr/>
              <p:nvPr/>
            </p:nvGrpSpPr>
            <p:grpSpPr>
              <a:xfrm>
                <a:off x="4874" y="1570"/>
                <a:ext cx="227" cy="227"/>
                <a:chOff x="1156" y="3385"/>
                <a:chExt cx="227" cy="227"/>
              </a:xfrm>
            </p:grpSpPr>
            <p:sp>
              <p:nvSpPr>
                <p:cNvPr id="93261" name="Oval 30"/>
                <p:cNvSpPr/>
                <p:nvPr/>
              </p:nvSpPr>
              <p:spPr>
                <a:xfrm>
                  <a:off x="1156" y="3385"/>
                  <a:ext cx="227" cy="22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3262" name="Line 31"/>
                <p:cNvSpPr/>
                <p:nvPr/>
              </p:nvSpPr>
              <p:spPr>
                <a:xfrm flipV="1">
                  <a:off x="1259" y="3400"/>
                  <a:ext cx="0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</p:grpSp>
        <p:sp>
          <p:nvSpPr>
            <p:cNvPr id="93224" name="Oval 32"/>
            <p:cNvSpPr/>
            <p:nvPr/>
          </p:nvSpPr>
          <p:spPr>
            <a:xfrm>
              <a:off x="2971" y="3505"/>
              <a:ext cx="227" cy="226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93225" name="Text Box 33"/>
            <p:cNvSpPr txBox="1"/>
            <p:nvPr/>
          </p:nvSpPr>
          <p:spPr>
            <a:xfrm>
              <a:off x="2336" y="3822"/>
              <a:ext cx="453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sp</a:t>
              </a:r>
              <a:r>
                <a:rPr lang="en-US" altLang="zh-CN" sz="1800" b="1" baseline="30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2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226" name="Text Box 34"/>
            <p:cNvSpPr txBox="1"/>
            <p:nvPr/>
          </p:nvSpPr>
          <p:spPr>
            <a:xfrm>
              <a:off x="2925" y="3660"/>
              <a:ext cx="454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2p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93227" name="Group 35"/>
            <p:cNvGrpSpPr/>
            <p:nvPr/>
          </p:nvGrpSpPr>
          <p:grpSpPr>
            <a:xfrm>
              <a:off x="476" y="2251"/>
              <a:ext cx="2753" cy="838"/>
              <a:chOff x="726" y="2251"/>
              <a:chExt cx="2753" cy="838"/>
            </a:xfrm>
          </p:grpSpPr>
          <p:grpSp>
            <p:nvGrpSpPr>
              <p:cNvPr id="93234" name="Group 36"/>
              <p:cNvGrpSpPr/>
              <p:nvPr/>
            </p:nvGrpSpPr>
            <p:grpSpPr>
              <a:xfrm>
                <a:off x="838" y="2635"/>
                <a:ext cx="52" cy="194"/>
                <a:chOff x="1202" y="3418"/>
                <a:chExt cx="52" cy="194"/>
              </a:xfrm>
            </p:grpSpPr>
            <p:sp>
              <p:nvSpPr>
                <p:cNvPr id="93257" name="Line 37"/>
                <p:cNvSpPr/>
                <p:nvPr/>
              </p:nvSpPr>
              <p:spPr>
                <a:xfrm>
                  <a:off x="1202" y="3430"/>
                  <a:ext cx="0" cy="18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93258" name="Line 38"/>
                <p:cNvSpPr/>
                <p:nvPr/>
              </p:nvSpPr>
              <p:spPr>
                <a:xfrm flipV="1">
                  <a:off x="1254" y="3418"/>
                  <a:ext cx="0" cy="18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93235" name="Group 39"/>
              <p:cNvGrpSpPr/>
              <p:nvPr/>
            </p:nvGrpSpPr>
            <p:grpSpPr>
              <a:xfrm>
                <a:off x="726" y="2251"/>
                <a:ext cx="2753" cy="838"/>
                <a:chOff x="726" y="2251"/>
                <a:chExt cx="2753" cy="838"/>
              </a:xfrm>
            </p:grpSpPr>
            <p:sp>
              <p:nvSpPr>
                <p:cNvPr id="93236" name="Text Box 40"/>
                <p:cNvSpPr txBox="1"/>
                <p:nvPr/>
              </p:nvSpPr>
              <p:spPr>
                <a:xfrm>
                  <a:off x="726" y="2779"/>
                  <a:ext cx="2041" cy="3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2s                                2s</a:t>
                  </a:r>
                  <a:endParaRPr lang="en-US" altLang="zh-CN" sz="1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237" name="Text Box 41"/>
                <p:cNvSpPr txBox="1"/>
                <p:nvPr/>
              </p:nvSpPr>
              <p:spPr>
                <a:xfrm>
                  <a:off x="1292" y="2643"/>
                  <a:ext cx="2041" cy="3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18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2p                               2p</a:t>
                  </a:r>
                  <a:endParaRPr lang="en-US" altLang="zh-CN" sz="1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3238" name="Oval 42"/>
                <p:cNvSpPr/>
                <p:nvPr/>
              </p:nvSpPr>
              <p:spPr>
                <a:xfrm>
                  <a:off x="748" y="2613"/>
                  <a:ext cx="227" cy="22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3239" name="Oval 43"/>
                <p:cNvSpPr/>
                <p:nvPr/>
              </p:nvSpPr>
              <p:spPr>
                <a:xfrm>
                  <a:off x="1520" y="2477"/>
                  <a:ext cx="227" cy="226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93240" name="Group 44"/>
                <p:cNvGrpSpPr/>
                <p:nvPr/>
              </p:nvGrpSpPr>
              <p:grpSpPr>
                <a:xfrm>
                  <a:off x="1837" y="2251"/>
                  <a:ext cx="635" cy="336"/>
                  <a:chOff x="2019" y="1344"/>
                  <a:chExt cx="635" cy="336"/>
                </a:xfrm>
              </p:grpSpPr>
              <p:sp>
                <p:nvSpPr>
                  <p:cNvPr id="93255" name="Line 45"/>
                  <p:cNvSpPr/>
                  <p:nvPr/>
                </p:nvSpPr>
                <p:spPr>
                  <a:xfrm>
                    <a:off x="2064" y="1661"/>
                    <a:ext cx="545" cy="0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93256" name="Text Box 46"/>
                  <p:cNvSpPr txBox="1"/>
                  <p:nvPr/>
                </p:nvSpPr>
                <p:spPr>
                  <a:xfrm>
                    <a:off x="2019" y="1344"/>
                    <a:ext cx="635" cy="33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zh-CN" altLang="en-US" sz="20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激发</a:t>
                    </a:r>
                    <a:endParaRPr lang="zh-CN" altLang="en-US" sz="1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93241" name="Oval 47"/>
                <p:cNvSpPr/>
                <p:nvPr/>
              </p:nvSpPr>
              <p:spPr>
                <a:xfrm>
                  <a:off x="1292" y="2477"/>
                  <a:ext cx="227" cy="226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93242" name="Group 48"/>
                <p:cNvGrpSpPr/>
                <p:nvPr/>
              </p:nvGrpSpPr>
              <p:grpSpPr>
                <a:xfrm>
                  <a:off x="2480" y="2621"/>
                  <a:ext cx="227" cy="227"/>
                  <a:chOff x="1156" y="3385"/>
                  <a:chExt cx="227" cy="227"/>
                </a:xfrm>
              </p:grpSpPr>
              <p:sp>
                <p:nvSpPr>
                  <p:cNvPr id="93253" name="Oval 49"/>
                  <p:cNvSpPr/>
                  <p:nvPr/>
                </p:nvSpPr>
                <p:spPr>
                  <a:xfrm>
                    <a:off x="1156" y="3385"/>
                    <a:ext cx="227" cy="22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2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3254" name="Line 50"/>
                  <p:cNvSpPr/>
                  <p:nvPr/>
                </p:nvSpPr>
                <p:spPr>
                  <a:xfrm flipV="1">
                    <a:off x="1259" y="3400"/>
                    <a:ext cx="0" cy="18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</p:grpSp>
            <p:grpSp>
              <p:nvGrpSpPr>
                <p:cNvPr id="93243" name="Group 51"/>
                <p:cNvGrpSpPr/>
                <p:nvPr/>
              </p:nvGrpSpPr>
              <p:grpSpPr>
                <a:xfrm>
                  <a:off x="2798" y="2485"/>
                  <a:ext cx="227" cy="227"/>
                  <a:chOff x="1156" y="3385"/>
                  <a:chExt cx="227" cy="227"/>
                </a:xfrm>
              </p:grpSpPr>
              <p:sp>
                <p:nvSpPr>
                  <p:cNvPr id="93251" name="Oval 52"/>
                  <p:cNvSpPr/>
                  <p:nvPr/>
                </p:nvSpPr>
                <p:spPr>
                  <a:xfrm>
                    <a:off x="1156" y="3385"/>
                    <a:ext cx="227" cy="22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2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3252" name="Line 53"/>
                  <p:cNvSpPr/>
                  <p:nvPr/>
                </p:nvSpPr>
                <p:spPr>
                  <a:xfrm flipV="1">
                    <a:off x="1259" y="3400"/>
                    <a:ext cx="0" cy="18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</p:grpSp>
            <p:sp>
              <p:nvSpPr>
                <p:cNvPr id="93244" name="Oval 54"/>
                <p:cNvSpPr/>
                <p:nvPr/>
              </p:nvSpPr>
              <p:spPr>
                <a:xfrm>
                  <a:off x="3252" y="2485"/>
                  <a:ext cx="227" cy="226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93245" name="Group 55"/>
                <p:cNvGrpSpPr/>
                <p:nvPr/>
              </p:nvGrpSpPr>
              <p:grpSpPr>
                <a:xfrm>
                  <a:off x="1066" y="2477"/>
                  <a:ext cx="227" cy="227"/>
                  <a:chOff x="1156" y="3385"/>
                  <a:chExt cx="227" cy="227"/>
                </a:xfrm>
              </p:grpSpPr>
              <p:sp>
                <p:nvSpPr>
                  <p:cNvPr id="93249" name="Oval 56"/>
                  <p:cNvSpPr/>
                  <p:nvPr/>
                </p:nvSpPr>
                <p:spPr>
                  <a:xfrm>
                    <a:off x="1156" y="3385"/>
                    <a:ext cx="227" cy="22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2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3250" name="Line 57"/>
                  <p:cNvSpPr/>
                  <p:nvPr/>
                </p:nvSpPr>
                <p:spPr>
                  <a:xfrm flipV="1">
                    <a:off x="1259" y="3400"/>
                    <a:ext cx="0" cy="18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</p:grpSp>
            <p:grpSp>
              <p:nvGrpSpPr>
                <p:cNvPr id="93246" name="Group 58"/>
                <p:cNvGrpSpPr/>
                <p:nvPr/>
              </p:nvGrpSpPr>
              <p:grpSpPr>
                <a:xfrm>
                  <a:off x="3016" y="2478"/>
                  <a:ext cx="227" cy="227"/>
                  <a:chOff x="1156" y="3385"/>
                  <a:chExt cx="227" cy="227"/>
                </a:xfrm>
              </p:grpSpPr>
              <p:sp>
                <p:nvSpPr>
                  <p:cNvPr id="93247" name="Oval 59"/>
                  <p:cNvSpPr/>
                  <p:nvPr/>
                </p:nvSpPr>
                <p:spPr>
                  <a:xfrm>
                    <a:off x="1156" y="3385"/>
                    <a:ext cx="227" cy="22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2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3248" name="Line 60"/>
                  <p:cNvSpPr/>
                  <p:nvPr/>
                </p:nvSpPr>
                <p:spPr>
                  <a:xfrm flipV="1">
                    <a:off x="1259" y="3400"/>
                    <a:ext cx="0" cy="18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</p:grpSp>
          </p:grpSp>
        </p:grpSp>
        <p:grpSp>
          <p:nvGrpSpPr>
            <p:cNvPr id="93228" name="Group 61"/>
            <p:cNvGrpSpPr/>
            <p:nvPr/>
          </p:nvGrpSpPr>
          <p:grpSpPr>
            <a:xfrm>
              <a:off x="2596" y="3657"/>
              <a:ext cx="227" cy="227"/>
              <a:chOff x="1156" y="3385"/>
              <a:chExt cx="227" cy="227"/>
            </a:xfrm>
          </p:grpSpPr>
          <p:sp>
            <p:nvSpPr>
              <p:cNvPr id="93232" name="Oval 62"/>
              <p:cNvSpPr/>
              <p:nvPr/>
            </p:nvSpPr>
            <p:spPr>
              <a:xfrm>
                <a:off x="1156" y="3385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3233" name="Line 63"/>
              <p:cNvSpPr/>
              <p:nvPr/>
            </p:nvSpPr>
            <p:spPr>
              <a:xfrm flipV="1">
                <a:off x="1259" y="3400"/>
                <a:ext cx="0" cy="18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93229" name="Group 64"/>
            <p:cNvGrpSpPr/>
            <p:nvPr/>
          </p:nvGrpSpPr>
          <p:grpSpPr>
            <a:xfrm>
              <a:off x="2591" y="3007"/>
              <a:ext cx="997" cy="423"/>
              <a:chOff x="2591" y="3007"/>
              <a:chExt cx="997" cy="423"/>
            </a:xfrm>
          </p:grpSpPr>
          <p:sp>
            <p:nvSpPr>
              <p:cNvPr id="93230" name="Line 65"/>
              <p:cNvSpPr/>
              <p:nvPr/>
            </p:nvSpPr>
            <p:spPr>
              <a:xfrm>
                <a:off x="2608" y="3022"/>
                <a:ext cx="0" cy="40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3231" name="Text Box 66"/>
              <p:cNvSpPr txBox="1"/>
              <p:nvPr/>
            </p:nvSpPr>
            <p:spPr>
              <a:xfrm>
                <a:off x="2591" y="3007"/>
                <a:ext cx="997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sp</a:t>
                </a:r>
                <a:r>
                  <a:rPr lang="en-US" altLang="zh-CN" sz="2000" b="1" baseline="30000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2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杂化</a:t>
                </a:r>
                <a:endParaRPr lang="zh-CN" altLang="en-US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aphicFrame>
        <p:nvGraphicFramePr>
          <p:cNvPr id="165955" name="Group 67"/>
          <p:cNvGraphicFramePr>
            <a:graphicFrameLocks noGrp="1"/>
          </p:cNvGraphicFramePr>
          <p:nvPr/>
        </p:nvGraphicFramePr>
        <p:xfrm>
          <a:off x="198438" y="896938"/>
          <a:ext cx="8713787" cy="1237297"/>
        </p:xfrm>
        <a:graphic>
          <a:graphicData uri="http://schemas.openxmlformats.org/drawingml/2006/table">
            <a:tbl>
              <a:tblPr/>
              <a:tblGrid>
                <a:gridCol w="1296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1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89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4101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杂化轨道数目</a:t>
                      </a:r>
                      <a:endParaRPr kumimoji="0" lang="zh-CN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杂化轨道含量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轨道夹角</a:t>
                      </a:r>
                      <a:endParaRPr kumimoji="0" lang="zh-CN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杂化轨道构型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成键类型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分子 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构型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28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　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s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、 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p</a:t>
                      </a:r>
                      <a:endParaRPr kumimoji="0" lang="en-US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120</a:t>
                      </a:r>
                      <a:r>
                        <a:rPr kumimoji="0" lang="en-US" altLang="zh-CN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°</a:t>
                      </a:r>
                      <a:endParaRPr kumimoji="0" lang="en-US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正三角形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l-G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σ</a:t>
                      </a:r>
                      <a:r>
                        <a:rPr kumimoji="0" lang="zh-CN" altLang="el-GR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键 </a:t>
                      </a:r>
                      <a:endParaRPr kumimoji="0" lang="zh-CN" altLang="el-GR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幼圆" panose="020105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正三角形</a:t>
                      </a:r>
                      <a:endParaRPr kumimoji="0" lang="zh-CN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3212" name="Oval 90"/>
          <p:cNvSpPr/>
          <p:nvPr/>
        </p:nvSpPr>
        <p:spPr>
          <a:xfrm>
            <a:off x="250825" y="519113"/>
            <a:ext cx="215900" cy="161925"/>
          </a:xfrm>
          <a:prstGeom prst="ellipse">
            <a:avLst/>
          </a:prstGeom>
          <a:solidFill>
            <a:srgbClr val="6B50F0"/>
          </a:solid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93213" name="Group 91"/>
          <p:cNvGrpSpPr/>
          <p:nvPr/>
        </p:nvGrpSpPr>
        <p:grpSpPr>
          <a:xfrm>
            <a:off x="1533525" y="1600200"/>
            <a:ext cx="504825" cy="566738"/>
            <a:chOff x="5045" y="288"/>
            <a:chExt cx="318" cy="476"/>
          </a:xfrm>
        </p:grpSpPr>
        <p:sp>
          <p:nvSpPr>
            <p:cNvPr id="93218" name="Text Box 92"/>
            <p:cNvSpPr txBox="1"/>
            <p:nvPr/>
          </p:nvSpPr>
          <p:spPr>
            <a:xfrm>
              <a:off x="5045" y="288"/>
              <a:ext cx="318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1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219" name="Text Box 93"/>
            <p:cNvSpPr txBox="1"/>
            <p:nvPr/>
          </p:nvSpPr>
          <p:spPr>
            <a:xfrm>
              <a:off x="5057" y="449"/>
              <a:ext cx="227" cy="31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110000"/>
                </a:lnSpc>
                <a:spcBef>
                  <a:spcPct val="50000"/>
                </a:spcBef>
              </a:pPr>
              <a:r>
                <a:rPr lang="en-US" altLang="zh-CN" sz="18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3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220" name="Line 94"/>
            <p:cNvSpPr/>
            <p:nvPr/>
          </p:nvSpPr>
          <p:spPr>
            <a:xfrm>
              <a:off x="5069" y="572"/>
              <a:ext cx="18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3214" name="Group 95"/>
          <p:cNvGrpSpPr/>
          <p:nvPr/>
        </p:nvGrpSpPr>
        <p:grpSpPr>
          <a:xfrm>
            <a:off x="2160588" y="1482725"/>
            <a:ext cx="511175" cy="633413"/>
            <a:chOff x="4966" y="184"/>
            <a:chExt cx="322" cy="531"/>
          </a:xfrm>
        </p:grpSpPr>
        <p:sp>
          <p:nvSpPr>
            <p:cNvPr id="93215" name="Text Box 96"/>
            <p:cNvSpPr txBox="1"/>
            <p:nvPr/>
          </p:nvSpPr>
          <p:spPr>
            <a:xfrm>
              <a:off x="4970" y="184"/>
              <a:ext cx="318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8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2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216" name="Text Box 97"/>
            <p:cNvSpPr txBox="1"/>
            <p:nvPr/>
          </p:nvSpPr>
          <p:spPr>
            <a:xfrm>
              <a:off x="4966" y="401"/>
              <a:ext cx="227" cy="31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110000"/>
                </a:lnSpc>
                <a:spcBef>
                  <a:spcPct val="50000"/>
                </a:spcBef>
              </a:pPr>
              <a:r>
                <a:rPr lang="en-US" altLang="zh-CN" sz="18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3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3217" name="Line 98"/>
            <p:cNvSpPr/>
            <p:nvPr/>
          </p:nvSpPr>
          <p:spPr>
            <a:xfrm>
              <a:off x="5011" y="522"/>
              <a:ext cx="18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Line 2"/>
          <p:cNvSpPr/>
          <p:nvPr/>
        </p:nvSpPr>
        <p:spPr>
          <a:xfrm flipV="1">
            <a:off x="990600" y="1200150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94211" name="Oval 3"/>
          <p:cNvSpPr/>
          <p:nvPr/>
        </p:nvSpPr>
        <p:spPr>
          <a:xfrm>
            <a:off x="250825" y="519113"/>
            <a:ext cx="215900" cy="161925"/>
          </a:xfrm>
          <a:prstGeom prst="ellipse">
            <a:avLst/>
          </a:prstGeom>
          <a:solidFill>
            <a:srgbClr val="6B50F0"/>
          </a:solid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4212" name="Text Box 4"/>
          <p:cNvSpPr txBox="1"/>
          <p:nvPr/>
        </p:nvSpPr>
        <p:spPr>
          <a:xfrm>
            <a:off x="455613" y="304800"/>
            <a:ext cx="8437562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  <a:hlinkClick r:id="rId2" action="ppaction://hlinkfile"/>
              </a:rPr>
              <a:t>sp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  <a:hlinkClick r:id="rId2" action="ppaction://hlinkfile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  <a:hlinkClick r:id="rId2" action="ppaction://hlinkfile"/>
              </a:rPr>
              <a:t>杂化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——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１个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s 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轨道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+3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个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p 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轨道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66917" name="Group 5"/>
          <p:cNvGraphicFramePr>
            <a:graphicFrameLocks noGrp="1"/>
          </p:cNvGraphicFramePr>
          <p:nvPr/>
        </p:nvGraphicFramePr>
        <p:xfrm>
          <a:off x="198438" y="1006475"/>
          <a:ext cx="8713787" cy="1237297"/>
        </p:xfrm>
        <a:graphic>
          <a:graphicData uri="http://schemas.openxmlformats.org/drawingml/2006/table">
            <a:tbl>
              <a:tblPr/>
              <a:tblGrid>
                <a:gridCol w="1296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410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杂化轨道数目</a:t>
                      </a:r>
                      <a:endParaRPr kumimoji="0" lang="zh-CN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杂化轨道含量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轨道夹角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杂化轨道构型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成键类型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分子 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构型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28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　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s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、 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 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p</a:t>
                      </a:r>
                      <a:endParaRPr kumimoji="0" lang="en-US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109 28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幼圆" panose="02010509060101010101" pitchFamily="49" charset="-122"/>
                        <a:sym typeface="Symbol" panose="05050102010706020507" pitchFamily="18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正四面体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l-G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σ</a:t>
                      </a:r>
                      <a:r>
                        <a:rPr kumimoji="0" lang="zh-CN" altLang="el-GR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键 </a:t>
                      </a:r>
                      <a:endParaRPr kumimoji="0" lang="zh-CN" altLang="el-GR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幼圆" panose="020105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正四面体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94236" name="Group 28"/>
          <p:cNvGrpSpPr/>
          <p:nvPr/>
        </p:nvGrpSpPr>
        <p:grpSpPr>
          <a:xfrm>
            <a:off x="2092325" y="1682750"/>
            <a:ext cx="504825" cy="574675"/>
            <a:chOff x="5045" y="288"/>
            <a:chExt cx="318" cy="483"/>
          </a:xfrm>
        </p:grpSpPr>
        <p:sp>
          <p:nvSpPr>
            <p:cNvPr id="94243" name="Text Box 29"/>
            <p:cNvSpPr txBox="1"/>
            <p:nvPr/>
          </p:nvSpPr>
          <p:spPr>
            <a:xfrm>
              <a:off x="5045" y="288"/>
              <a:ext cx="318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3</a:t>
              </a:r>
              <a:endParaRPr lang="en-US" altLang="zh-CN" sz="11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4244" name="Text Box 30"/>
            <p:cNvSpPr txBox="1"/>
            <p:nvPr/>
          </p:nvSpPr>
          <p:spPr>
            <a:xfrm>
              <a:off x="5057" y="482"/>
              <a:ext cx="227" cy="28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>
              <a:spAutoFit/>
            </a:bodyPr>
            <a:lstStyle/>
            <a:p>
              <a:pPr eaLnBrk="1" hangingPunct="1">
                <a:lnSpc>
                  <a:spcPct val="110000"/>
                </a:lnSpc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4</a:t>
              </a:r>
              <a:endParaRPr lang="en-US" altLang="zh-CN" sz="11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4245" name="Line 31"/>
            <p:cNvSpPr/>
            <p:nvPr/>
          </p:nvSpPr>
          <p:spPr>
            <a:xfrm>
              <a:off x="5069" y="572"/>
              <a:ext cx="18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4237" name="Group 32"/>
          <p:cNvGrpSpPr/>
          <p:nvPr/>
        </p:nvGrpSpPr>
        <p:grpSpPr>
          <a:xfrm>
            <a:off x="1533525" y="1679575"/>
            <a:ext cx="504825" cy="574675"/>
            <a:chOff x="5045" y="288"/>
            <a:chExt cx="318" cy="483"/>
          </a:xfrm>
        </p:grpSpPr>
        <p:sp>
          <p:nvSpPr>
            <p:cNvPr id="94240" name="Text Box 33"/>
            <p:cNvSpPr txBox="1"/>
            <p:nvPr/>
          </p:nvSpPr>
          <p:spPr>
            <a:xfrm>
              <a:off x="5045" y="288"/>
              <a:ext cx="318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1</a:t>
              </a:r>
              <a:endParaRPr lang="en-US" altLang="zh-CN" sz="11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4241" name="Text Box 34"/>
            <p:cNvSpPr txBox="1"/>
            <p:nvPr/>
          </p:nvSpPr>
          <p:spPr>
            <a:xfrm>
              <a:off x="5057" y="482"/>
              <a:ext cx="227" cy="28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>
              <a:spAutoFit/>
            </a:bodyPr>
            <a:lstStyle/>
            <a:p>
              <a:pPr eaLnBrk="1" hangingPunct="1">
                <a:lnSpc>
                  <a:spcPct val="110000"/>
                </a:lnSpc>
                <a:spcBef>
                  <a:spcPct val="5000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4</a:t>
              </a:r>
              <a:endParaRPr lang="en-US" altLang="zh-CN" sz="11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4242" name="Line 35"/>
            <p:cNvSpPr/>
            <p:nvPr/>
          </p:nvSpPr>
          <p:spPr>
            <a:xfrm>
              <a:off x="5069" y="572"/>
              <a:ext cx="18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94238" name="Oval 36"/>
          <p:cNvSpPr/>
          <p:nvPr/>
        </p:nvSpPr>
        <p:spPr>
          <a:xfrm>
            <a:off x="3549650" y="1868488"/>
            <a:ext cx="107950" cy="8255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pic>
        <p:nvPicPr>
          <p:cNvPr id="94239" name="Picture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" y="2463800"/>
            <a:ext cx="3600450" cy="2355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wipe dir="r"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/>
          <p:nvPr/>
        </p:nvSpPr>
        <p:spPr>
          <a:xfrm>
            <a:off x="971550" y="1600200"/>
            <a:ext cx="7772400" cy="571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endParaRPr lang="zh-CN" altLang="en-US" sz="4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5235" name="Line 3"/>
          <p:cNvSpPr/>
          <p:nvPr/>
        </p:nvSpPr>
        <p:spPr>
          <a:xfrm flipV="1">
            <a:off x="990600" y="1200150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95236" name="Oval 4"/>
          <p:cNvSpPr/>
          <p:nvPr/>
        </p:nvSpPr>
        <p:spPr>
          <a:xfrm>
            <a:off x="250825" y="465138"/>
            <a:ext cx="215900" cy="161925"/>
          </a:xfrm>
          <a:prstGeom prst="ellipse">
            <a:avLst/>
          </a:prstGeom>
          <a:solidFill>
            <a:srgbClr val="6B50F0"/>
          </a:solid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5237" name="Text Box 5"/>
          <p:cNvSpPr txBox="1"/>
          <p:nvPr/>
        </p:nvSpPr>
        <p:spPr>
          <a:xfrm>
            <a:off x="455613" y="250825"/>
            <a:ext cx="8437562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sp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杂化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——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１个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s 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轨道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+3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个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p 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轨道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67942" name="Group 6"/>
          <p:cNvGraphicFramePr>
            <a:graphicFrameLocks noGrp="1"/>
          </p:cNvGraphicFramePr>
          <p:nvPr/>
        </p:nvGraphicFramePr>
        <p:xfrm>
          <a:off x="198438" y="790575"/>
          <a:ext cx="8713787" cy="1236050"/>
        </p:xfrm>
        <a:graphic>
          <a:graphicData uri="http://schemas.openxmlformats.org/drawingml/2006/table">
            <a:tbl>
              <a:tblPr/>
              <a:tblGrid>
                <a:gridCol w="1296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7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4066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杂化轨道数目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杂化轨道含量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轨道夹角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杂化轨道构型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成键类型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分子 </a:t>
                      </a: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构型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　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s</a:t>
                      </a: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、 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 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p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109 28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幼圆" panose="02010509060101010101" pitchFamily="49" charset="-122"/>
                        <a:sym typeface="Symbol" panose="05050102010706020507" pitchFamily="18" charset="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正四面体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l-G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σ</a:t>
                      </a:r>
                      <a:r>
                        <a:rPr kumimoji="0" lang="zh-CN" altLang="el-G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  <a:cs typeface="Arial" panose="020B0604020202020204" pitchFamily="34" charset="0"/>
                        </a:rPr>
                        <a:t>键 </a:t>
                      </a:r>
                      <a:endParaRPr kumimoji="0" lang="zh-CN" altLang="el-G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幼圆" panose="02010509060101010101" pitchFamily="49" charset="-122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正四面体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95261" name="Group 29"/>
          <p:cNvGrpSpPr/>
          <p:nvPr/>
        </p:nvGrpSpPr>
        <p:grpSpPr>
          <a:xfrm>
            <a:off x="2141538" y="1492250"/>
            <a:ext cx="504825" cy="636588"/>
            <a:chOff x="5045" y="288"/>
            <a:chExt cx="318" cy="535"/>
          </a:xfrm>
        </p:grpSpPr>
        <p:sp>
          <p:nvSpPr>
            <p:cNvPr id="95345" name="Text Box 30"/>
            <p:cNvSpPr txBox="1"/>
            <p:nvPr/>
          </p:nvSpPr>
          <p:spPr>
            <a:xfrm>
              <a:off x="5045" y="288"/>
              <a:ext cx="31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3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5346" name="Text Box 31"/>
            <p:cNvSpPr txBox="1"/>
            <p:nvPr/>
          </p:nvSpPr>
          <p:spPr>
            <a:xfrm>
              <a:off x="5057" y="482"/>
              <a:ext cx="227" cy="34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>
              <a:spAutoFit/>
            </a:bodyPr>
            <a:lstStyle/>
            <a:p>
              <a:pPr eaLnBrk="1" hangingPunct="1">
                <a:lnSpc>
                  <a:spcPct val="11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4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5347" name="Line 32"/>
            <p:cNvSpPr/>
            <p:nvPr/>
          </p:nvSpPr>
          <p:spPr>
            <a:xfrm>
              <a:off x="5069" y="572"/>
              <a:ext cx="18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95262" name="Group 33"/>
          <p:cNvGrpSpPr/>
          <p:nvPr/>
        </p:nvGrpSpPr>
        <p:grpSpPr>
          <a:xfrm>
            <a:off x="1533525" y="1492250"/>
            <a:ext cx="504825" cy="636588"/>
            <a:chOff x="5045" y="288"/>
            <a:chExt cx="318" cy="535"/>
          </a:xfrm>
        </p:grpSpPr>
        <p:sp>
          <p:nvSpPr>
            <p:cNvPr id="95342" name="Text Box 34"/>
            <p:cNvSpPr txBox="1"/>
            <p:nvPr/>
          </p:nvSpPr>
          <p:spPr>
            <a:xfrm>
              <a:off x="5045" y="288"/>
              <a:ext cx="31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1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5343" name="Text Box 35"/>
            <p:cNvSpPr txBox="1"/>
            <p:nvPr/>
          </p:nvSpPr>
          <p:spPr>
            <a:xfrm>
              <a:off x="5057" y="482"/>
              <a:ext cx="227" cy="34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54000">
              <a:spAutoFit/>
            </a:bodyPr>
            <a:lstStyle/>
            <a:p>
              <a:pPr eaLnBrk="1" hangingPunct="1">
                <a:lnSpc>
                  <a:spcPct val="110000"/>
                </a:lnSpc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4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5344" name="Line 36"/>
            <p:cNvSpPr/>
            <p:nvPr/>
          </p:nvSpPr>
          <p:spPr>
            <a:xfrm>
              <a:off x="5069" y="572"/>
              <a:ext cx="18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95263" name="Oval 37"/>
          <p:cNvSpPr/>
          <p:nvPr/>
        </p:nvSpPr>
        <p:spPr>
          <a:xfrm>
            <a:off x="3549650" y="1868488"/>
            <a:ext cx="107950" cy="8255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67974" name="Text Box 38"/>
          <p:cNvSpPr txBox="1"/>
          <p:nvPr/>
        </p:nvSpPr>
        <p:spPr>
          <a:xfrm>
            <a:off x="250825" y="2247900"/>
            <a:ext cx="3455988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例  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CH</a:t>
            </a:r>
            <a:r>
              <a:rPr lang="en-US" altLang="zh-CN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4</a:t>
            </a:r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4" name="Group 39"/>
          <p:cNvGrpSpPr/>
          <p:nvPr/>
        </p:nvGrpSpPr>
        <p:grpSpPr>
          <a:xfrm>
            <a:off x="250825" y="2679700"/>
            <a:ext cx="5445125" cy="2192338"/>
            <a:chOff x="158" y="2251"/>
            <a:chExt cx="3430" cy="1840"/>
          </a:xfrm>
        </p:grpSpPr>
        <p:grpSp>
          <p:nvGrpSpPr>
            <p:cNvPr id="95292" name="Group 40"/>
            <p:cNvGrpSpPr/>
            <p:nvPr/>
          </p:nvGrpSpPr>
          <p:grpSpPr>
            <a:xfrm>
              <a:off x="158" y="2251"/>
              <a:ext cx="3430" cy="1179"/>
              <a:chOff x="158" y="2251"/>
              <a:chExt cx="3430" cy="1179"/>
            </a:xfrm>
          </p:grpSpPr>
          <p:grpSp>
            <p:nvGrpSpPr>
              <p:cNvPr id="95308" name="Group 41"/>
              <p:cNvGrpSpPr/>
              <p:nvPr/>
            </p:nvGrpSpPr>
            <p:grpSpPr>
              <a:xfrm>
                <a:off x="588" y="2635"/>
                <a:ext cx="52" cy="194"/>
                <a:chOff x="1202" y="3418"/>
                <a:chExt cx="52" cy="194"/>
              </a:xfrm>
            </p:grpSpPr>
            <p:sp>
              <p:nvSpPr>
                <p:cNvPr id="95340" name="Line 42"/>
                <p:cNvSpPr/>
                <p:nvPr/>
              </p:nvSpPr>
              <p:spPr>
                <a:xfrm>
                  <a:off x="1202" y="3430"/>
                  <a:ext cx="0" cy="18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95341" name="Line 43"/>
                <p:cNvSpPr/>
                <p:nvPr/>
              </p:nvSpPr>
              <p:spPr>
                <a:xfrm flipV="1">
                  <a:off x="1254" y="3418"/>
                  <a:ext cx="0" cy="18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95309" name="Group 44"/>
              <p:cNvGrpSpPr/>
              <p:nvPr/>
            </p:nvGrpSpPr>
            <p:grpSpPr>
              <a:xfrm>
                <a:off x="158" y="2251"/>
                <a:ext cx="3430" cy="1179"/>
                <a:chOff x="158" y="2251"/>
                <a:chExt cx="3430" cy="1179"/>
              </a:xfrm>
            </p:grpSpPr>
            <p:sp>
              <p:nvSpPr>
                <p:cNvPr id="95310" name="Text Box 45"/>
                <p:cNvSpPr txBox="1"/>
                <p:nvPr/>
              </p:nvSpPr>
              <p:spPr>
                <a:xfrm>
                  <a:off x="158" y="2296"/>
                  <a:ext cx="499" cy="43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C</a:t>
                  </a:r>
                  <a:endParaRPr lang="en-US" altLang="zh-CN" sz="1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grpSp>
              <p:nvGrpSpPr>
                <p:cNvPr id="95311" name="Group 46"/>
                <p:cNvGrpSpPr/>
                <p:nvPr/>
              </p:nvGrpSpPr>
              <p:grpSpPr>
                <a:xfrm>
                  <a:off x="476" y="2251"/>
                  <a:ext cx="3112" cy="1179"/>
                  <a:chOff x="476" y="2251"/>
                  <a:chExt cx="3112" cy="1179"/>
                </a:xfrm>
              </p:grpSpPr>
              <p:sp>
                <p:nvSpPr>
                  <p:cNvPr id="95312" name="Text Box 47"/>
                  <p:cNvSpPr txBox="1"/>
                  <p:nvPr/>
                </p:nvSpPr>
                <p:spPr>
                  <a:xfrm>
                    <a:off x="476" y="2779"/>
                    <a:ext cx="2041" cy="31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18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2s                                2s</a:t>
                    </a:r>
                    <a:endParaRPr lang="en-US" altLang="zh-CN" sz="1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5313" name="Text Box 48"/>
                  <p:cNvSpPr txBox="1"/>
                  <p:nvPr/>
                </p:nvSpPr>
                <p:spPr>
                  <a:xfrm>
                    <a:off x="1042" y="2655"/>
                    <a:ext cx="2041" cy="310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18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2p                               2p</a:t>
                    </a:r>
                    <a:endParaRPr lang="en-US" altLang="zh-CN" sz="1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95314" name="Oval 49"/>
                  <p:cNvSpPr/>
                  <p:nvPr/>
                </p:nvSpPr>
                <p:spPr>
                  <a:xfrm>
                    <a:off x="498" y="2613"/>
                    <a:ext cx="227" cy="22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2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5315" name="Oval 50"/>
                  <p:cNvSpPr/>
                  <p:nvPr/>
                </p:nvSpPr>
                <p:spPr>
                  <a:xfrm>
                    <a:off x="1270" y="2477"/>
                    <a:ext cx="227" cy="226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2000" dirty="0">
                      <a:latin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95316" name="Group 51"/>
                  <p:cNvGrpSpPr/>
                  <p:nvPr/>
                </p:nvGrpSpPr>
                <p:grpSpPr>
                  <a:xfrm>
                    <a:off x="1587" y="2251"/>
                    <a:ext cx="635" cy="336"/>
                    <a:chOff x="2019" y="1344"/>
                    <a:chExt cx="635" cy="336"/>
                  </a:xfrm>
                </p:grpSpPr>
                <p:sp>
                  <p:nvSpPr>
                    <p:cNvPr id="95338" name="Line 52"/>
                    <p:cNvSpPr/>
                    <p:nvPr/>
                  </p:nvSpPr>
                  <p:spPr>
                    <a:xfrm>
                      <a:off x="2064" y="1661"/>
                      <a:ext cx="545" cy="0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  <p:sp>
                  <p:nvSpPr>
                    <p:cNvPr id="95339" name="Text Box 53"/>
                    <p:cNvSpPr txBox="1"/>
                    <p:nvPr/>
                  </p:nvSpPr>
                  <p:spPr>
                    <a:xfrm>
                      <a:off x="2019" y="1344"/>
                      <a:ext cx="635" cy="33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激发</a:t>
                      </a:r>
                      <a:endParaRPr lang="zh-CN" altLang="en-US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95317" name="Group 54"/>
                  <p:cNvGrpSpPr/>
                  <p:nvPr/>
                </p:nvGrpSpPr>
                <p:grpSpPr>
                  <a:xfrm>
                    <a:off x="2230" y="2621"/>
                    <a:ext cx="227" cy="227"/>
                    <a:chOff x="1156" y="3385"/>
                    <a:chExt cx="227" cy="227"/>
                  </a:xfrm>
                </p:grpSpPr>
                <p:sp>
                  <p:nvSpPr>
                    <p:cNvPr id="95336" name="Oval 55"/>
                    <p:cNvSpPr/>
                    <p:nvPr/>
                  </p:nvSpPr>
                  <p:spPr>
                    <a:xfrm>
                      <a:off x="1156" y="3385"/>
                      <a:ext cx="227" cy="227"/>
                    </a:xfrm>
                    <a:prstGeom prst="ellipse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pPr eaLnBrk="1" hangingPunct="1"/>
                      <a:endParaRPr lang="zh-CN" altLang="en-US" sz="2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95337" name="Line 56"/>
                    <p:cNvSpPr/>
                    <p:nvPr/>
                  </p:nvSpPr>
                  <p:spPr>
                    <a:xfrm flipV="1">
                      <a:off x="1259" y="3400"/>
                      <a:ext cx="0" cy="181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</p:grpSp>
              <p:grpSp>
                <p:nvGrpSpPr>
                  <p:cNvPr id="95318" name="Group 57"/>
                  <p:cNvGrpSpPr/>
                  <p:nvPr/>
                </p:nvGrpSpPr>
                <p:grpSpPr>
                  <a:xfrm>
                    <a:off x="2548" y="2485"/>
                    <a:ext cx="227" cy="227"/>
                    <a:chOff x="1156" y="3385"/>
                    <a:chExt cx="227" cy="227"/>
                  </a:xfrm>
                </p:grpSpPr>
                <p:sp>
                  <p:nvSpPr>
                    <p:cNvPr id="95334" name="Oval 58"/>
                    <p:cNvSpPr/>
                    <p:nvPr/>
                  </p:nvSpPr>
                  <p:spPr>
                    <a:xfrm>
                      <a:off x="1156" y="3385"/>
                      <a:ext cx="227" cy="227"/>
                    </a:xfrm>
                    <a:prstGeom prst="ellipse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pPr eaLnBrk="1" hangingPunct="1"/>
                      <a:endParaRPr lang="zh-CN" altLang="en-US" sz="2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95335" name="Line 59"/>
                    <p:cNvSpPr/>
                    <p:nvPr/>
                  </p:nvSpPr>
                  <p:spPr>
                    <a:xfrm flipV="1">
                      <a:off x="1259" y="3400"/>
                      <a:ext cx="0" cy="181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</p:grpSp>
              <p:grpSp>
                <p:nvGrpSpPr>
                  <p:cNvPr id="95319" name="Group 60"/>
                  <p:cNvGrpSpPr/>
                  <p:nvPr/>
                </p:nvGrpSpPr>
                <p:grpSpPr>
                  <a:xfrm>
                    <a:off x="816" y="2477"/>
                    <a:ext cx="227" cy="227"/>
                    <a:chOff x="1156" y="3385"/>
                    <a:chExt cx="227" cy="227"/>
                  </a:xfrm>
                </p:grpSpPr>
                <p:sp>
                  <p:nvSpPr>
                    <p:cNvPr id="95332" name="Oval 61"/>
                    <p:cNvSpPr/>
                    <p:nvPr/>
                  </p:nvSpPr>
                  <p:spPr>
                    <a:xfrm>
                      <a:off x="1156" y="3385"/>
                      <a:ext cx="227" cy="227"/>
                    </a:xfrm>
                    <a:prstGeom prst="ellipse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pPr eaLnBrk="1" hangingPunct="1"/>
                      <a:endParaRPr lang="zh-CN" altLang="en-US" sz="2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95333" name="Line 62"/>
                    <p:cNvSpPr/>
                    <p:nvPr/>
                  </p:nvSpPr>
                  <p:spPr>
                    <a:xfrm flipV="1">
                      <a:off x="1259" y="3400"/>
                      <a:ext cx="0" cy="181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</p:grpSp>
              <p:grpSp>
                <p:nvGrpSpPr>
                  <p:cNvPr id="95320" name="Group 63"/>
                  <p:cNvGrpSpPr/>
                  <p:nvPr/>
                </p:nvGrpSpPr>
                <p:grpSpPr>
                  <a:xfrm>
                    <a:off x="2766" y="2478"/>
                    <a:ext cx="227" cy="227"/>
                    <a:chOff x="1156" y="3385"/>
                    <a:chExt cx="227" cy="227"/>
                  </a:xfrm>
                </p:grpSpPr>
                <p:sp>
                  <p:nvSpPr>
                    <p:cNvPr id="95330" name="Oval 64"/>
                    <p:cNvSpPr/>
                    <p:nvPr/>
                  </p:nvSpPr>
                  <p:spPr>
                    <a:xfrm>
                      <a:off x="1156" y="3385"/>
                      <a:ext cx="227" cy="227"/>
                    </a:xfrm>
                    <a:prstGeom prst="ellipse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pPr eaLnBrk="1" hangingPunct="1"/>
                      <a:endParaRPr lang="zh-CN" altLang="en-US" sz="2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95331" name="Line 65"/>
                    <p:cNvSpPr/>
                    <p:nvPr/>
                  </p:nvSpPr>
                  <p:spPr>
                    <a:xfrm flipV="1">
                      <a:off x="1259" y="3400"/>
                      <a:ext cx="0" cy="181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</p:grpSp>
              <p:grpSp>
                <p:nvGrpSpPr>
                  <p:cNvPr id="95321" name="Group 66"/>
                  <p:cNvGrpSpPr/>
                  <p:nvPr/>
                </p:nvGrpSpPr>
                <p:grpSpPr>
                  <a:xfrm>
                    <a:off x="2591" y="3007"/>
                    <a:ext cx="997" cy="423"/>
                    <a:chOff x="2591" y="3007"/>
                    <a:chExt cx="997" cy="423"/>
                  </a:xfrm>
                </p:grpSpPr>
                <p:sp>
                  <p:nvSpPr>
                    <p:cNvPr id="95328" name="Line 67"/>
                    <p:cNvSpPr/>
                    <p:nvPr/>
                  </p:nvSpPr>
                  <p:spPr>
                    <a:xfrm>
                      <a:off x="2608" y="3022"/>
                      <a:ext cx="0" cy="408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  <p:sp>
                  <p:nvSpPr>
                    <p:cNvPr id="95329" name="Text Box 68"/>
                    <p:cNvSpPr txBox="1"/>
                    <p:nvPr/>
                  </p:nvSpPr>
                  <p:spPr>
                    <a:xfrm>
                      <a:off x="2591" y="3007"/>
                      <a:ext cx="997" cy="336"/>
                    </a:xfrm>
                    <a:prstGeom prst="rect">
                      <a:avLst/>
                    </a:prstGeom>
                    <a:noFill/>
                    <a:ln w="9525">
                      <a:noFill/>
                    </a:ln>
                  </p:spPr>
                  <p:txBody>
                    <a:bodyPr>
                      <a:spAutoFit/>
                    </a:bodyPr>
                    <a:lstStyle/>
                    <a:p>
                      <a:pPr eaLnBrk="1" hangingPunct="1">
                        <a:spcBef>
                          <a:spcPct val="50000"/>
                        </a:spcBef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sp</a:t>
                      </a:r>
                      <a:r>
                        <a:rPr lang="en-US" altLang="zh-CN" sz="2000" b="1" baseline="30000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</a:t>
                      </a: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杂化</a:t>
                      </a:r>
                      <a:endParaRPr lang="zh-CN" altLang="en-US" sz="14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95322" name="Group 69"/>
                  <p:cNvGrpSpPr/>
                  <p:nvPr/>
                </p:nvGrpSpPr>
                <p:grpSpPr>
                  <a:xfrm>
                    <a:off x="1042" y="2478"/>
                    <a:ext cx="227" cy="227"/>
                    <a:chOff x="1156" y="3385"/>
                    <a:chExt cx="227" cy="227"/>
                  </a:xfrm>
                </p:grpSpPr>
                <p:sp>
                  <p:nvSpPr>
                    <p:cNvPr id="95326" name="Oval 70"/>
                    <p:cNvSpPr/>
                    <p:nvPr/>
                  </p:nvSpPr>
                  <p:spPr>
                    <a:xfrm>
                      <a:off x="1156" y="3385"/>
                      <a:ext cx="227" cy="227"/>
                    </a:xfrm>
                    <a:prstGeom prst="ellipse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pPr eaLnBrk="1" hangingPunct="1"/>
                      <a:endParaRPr lang="zh-CN" altLang="en-US" sz="2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95327" name="Line 71"/>
                    <p:cNvSpPr/>
                    <p:nvPr/>
                  </p:nvSpPr>
                  <p:spPr>
                    <a:xfrm flipV="1">
                      <a:off x="1259" y="3400"/>
                      <a:ext cx="0" cy="181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</p:grpSp>
              <p:grpSp>
                <p:nvGrpSpPr>
                  <p:cNvPr id="95323" name="Group 72"/>
                  <p:cNvGrpSpPr/>
                  <p:nvPr/>
                </p:nvGrpSpPr>
                <p:grpSpPr>
                  <a:xfrm>
                    <a:off x="2992" y="2466"/>
                    <a:ext cx="227" cy="227"/>
                    <a:chOff x="1156" y="3385"/>
                    <a:chExt cx="227" cy="227"/>
                  </a:xfrm>
                </p:grpSpPr>
                <p:sp>
                  <p:nvSpPr>
                    <p:cNvPr id="95324" name="Oval 73"/>
                    <p:cNvSpPr/>
                    <p:nvPr/>
                  </p:nvSpPr>
                  <p:spPr>
                    <a:xfrm>
                      <a:off x="1156" y="3385"/>
                      <a:ext cx="227" cy="227"/>
                    </a:xfrm>
                    <a:prstGeom prst="ellipse">
                      <a:avLst/>
                    </a:prstGeom>
                    <a:noFill/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lstStyle/>
                    <a:p>
                      <a:pPr eaLnBrk="1" hangingPunct="1"/>
                      <a:endParaRPr lang="zh-CN" altLang="en-US" sz="2000" dirty="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95325" name="Line 74"/>
                    <p:cNvSpPr/>
                    <p:nvPr/>
                  </p:nvSpPr>
                  <p:spPr>
                    <a:xfrm flipV="1">
                      <a:off x="1259" y="3400"/>
                      <a:ext cx="0" cy="181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triangle" w="med" len="med"/>
                    </a:ln>
                  </p:spPr>
                </p:sp>
              </p:grpSp>
            </p:grpSp>
          </p:grpSp>
        </p:grpSp>
        <p:grpSp>
          <p:nvGrpSpPr>
            <p:cNvPr id="95293" name="Group 75"/>
            <p:cNvGrpSpPr/>
            <p:nvPr/>
          </p:nvGrpSpPr>
          <p:grpSpPr>
            <a:xfrm>
              <a:off x="2141" y="3566"/>
              <a:ext cx="908" cy="525"/>
              <a:chOff x="2141" y="3653"/>
              <a:chExt cx="908" cy="525"/>
            </a:xfrm>
          </p:grpSpPr>
          <p:grpSp>
            <p:nvGrpSpPr>
              <p:cNvPr id="95294" name="Group 76"/>
              <p:cNvGrpSpPr/>
              <p:nvPr/>
            </p:nvGrpSpPr>
            <p:grpSpPr>
              <a:xfrm>
                <a:off x="2141" y="3653"/>
                <a:ext cx="452" cy="227"/>
                <a:chOff x="4649" y="1570"/>
                <a:chExt cx="452" cy="227"/>
              </a:xfrm>
            </p:grpSpPr>
            <p:grpSp>
              <p:nvGrpSpPr>
                <p:cNvPr id="95302" name="Group 77"/>
                <p:cNvGrpSpPr/>
                <p:nvPr/>
              </p:nvGrpSpPr>
              <p:grpSpPr>
                <a:xfrm>
                  <a:off x="4649" y="1570"/>
                  <a:ext cx="227" cy="227"/>
                  <a:chOff x="1156" y="3385"/>
                  <a:chExt cx="227" cy="227"/>
                </a:xfrm>
              </p:grpSpPr>
              <p:sp>
                <p:nvSpPr>
                  <p:cNvPr id="95306" name="Oval 78"/>
                  <p:cNvSpPr/>
                  <p:nvPr/>
                </p:nvSpPr>
                <p:spPr>
                  <a:xfrm>
                    <a:off x="1156" y="3385"/>
                    <a:ext cx="227" cy="22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2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5307" name="Line 79"/>
                  <p:cNvSpPr/>
                  <p:nvPr/>
                </p:nvSpPr>
                <p:spPr>
                  <a:xfrm flipV="1">
                    <a:off x="1259" y="3400"/>
                    <a:ext cx="0" cy="18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</p:grpSp>
            <p:grpSp>
              <p:nvGrpSpPr>
                <p:cNvPr id="95303" name="Group 80"/>
                <p:cNvGrpSpPr/>
                <p:nvPr/>
              </p:nvGrpSpPr>
              <p:grpSpPr>
                <a:xfrm>
                  <a:off x="4874" y="1570"/>
                  <a:ext cx="227" cy="227"/>
                  <a:chOff x="1156" y="3385"/>
                  <a:chExt cx="227" cy="227"/>
                </a:xfrm>
              </p:grpSpPr>
              <p:sp>
                <p:nvSpPr>
                  <p:cNvPr id="95304" name="Oval 81"/>
                  <p:cNvSpPr/>
                  <p:nvPr/>
                </p:nvSpPr>
                <p:spPr>
                  <a:xfrm>
                    <a:off x="1156" y="3385"/>
                    <a:ext cx="227" cy="22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2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5305" name="Line 82"/>
                  <p:cNvSpPr/>
                  <p:nvPr/>
                </p:nvSpPr>
                <p:spPr>
                  <a:xfrm flipV="1">
                    <a:off x="1259" y="3400"/>
                    <a:ext cx="0" cy="18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triangle" w="med" len="med"/>
                  </a:ln>
                </p:spPr>
              </p:sp>
            </p:grpSp>
          </p:grpSp>
          <p:sp>
            <p:nvSpPr>
              <p:cNvPr id="95295" name="Text Box 83"/>
              <p:cNvSpPr txBox="1"/>
              <p:nvPr/>
            </p:nvSpPr>
            <p:spPr>
              <a:xfrm>
                <a:off x="2427" y="3868"/>
                <a:ext cx="453" cy="3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8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sp</a:t>
                </a:r>
                <a:r>
                  <a:rPr lang="en-US" altLang="zh-CN" sz="1800" b="1" baseline="30000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3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95296" name="Group 84"/>
              <p:cNvGrpSpPr/>
              <p:nvPr/>
            </p:nvGrpSpPr>
            <p:grpSpPr>
              <a:xfrm>
                <a:off x="2596" y="3657"/>
                <a:ext cx="227" cy="227"/>
                <a:chOff x="1156" y="3385"/>
                <a:chExt cx="227" cy="227"/>
              </a:xfrm>
            </p:grpSpPr>
            <p:sp>
              <p:nvSpPr>
                <p:cNvPr id="95300" name="Oval 85"/>
                <p:cNvSpPr/>
                <p:nvPr/>
              </p:nvSpPr>
              <p:spPr>
                <a:xfrm>
                  <a:off x="1156" y="3385"/>
                  <a:ext cx="227" cy="22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5301" name="Line 86"/>
                <p:cNvSpPr/>
                <p:nvPr/>
              </p:nvSpPr>
              <p:spPr>
                <a:xfrm flipV="1">
                  <a:off x="1259" y="3400"/>
                  <a:ext cx="0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95297" name="Group 87"/>
              <p:cNvGrpSpPr/>
              <p:nvPr/>
            </p:nvGrpSpPr>
            <p:grpSpPr>
              <a:xfrm>
                <a:off x="2822" y="3657"/>
                <a:ext cx="227" cy="227"/>
                <a:chOff x="1156" y="3385"/>
                <a:chExt cx="227" cy="227"/>
              </a:xfrm>
            </p:grpSpPr>
            <p:sp>
              <p:nvSpPr>
                <p:cNvPr id="95298" name="Oval 88"/>
                <p:cNvSpPr/>
                <p:nvPr/>
              </p:nvSpPr>
              <p:spPr>
                <a:xfrm>
                  <a:off x="1156" y="3385"/>
                  <a:ext cx="227" cy="22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5299" name="Line 89"/>
                <p:cNvSpPr/>
                <p:nvPr/>
              </p:nvSpPr>
              <p:spPr>
                <a:xfrm flipV="1">
                  <a:off x="1259" y="3400"/>
                  <a:ext cx="0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</p:grpSp>
      </p:grpSp>
      <p:grpSp>
        <p:nvGrpSpPr>
          <p:cNvPr id="23" name="Group 90"/>
          <p:cNvGrpSpPr/>
          <p:nvPr/>
        </p:nvGrpSpPr>
        <p:grpSpPr>
          <a:xfrm>
            <a:off x="5580063" y="2246313"/>
            <a:ext cx="3397250" cy="2605087"/>
            <a:chOff x="3519" y="1866"/>
            <a:chExt cx="2140" cy="2189"/>
          </a:xfrm>
        </p:grpSpPr>
        <p:grpSp>
          <p:nvGrpSpPr>
            <p:cNvPr id="95267" name="Group 91"/>
            <p:cNvGrpSpPr/>
            <p:nvPr/>
          </p:nvGrpSpPr>
          <p:grpSpPr>
            <a:xfrm>
              <a:off x="3519" y="1866"/>
              <a:ext cx="2140" cy="2098"/>
              <a:chOff x="2925" y="1888"/>
              <a:chExt cx="2140" cy="2098"/>
            </a:xfrm>
          </p:grpSpPr>
          <p:grpSp>
            <p:nvGrpSpPr>
              <p:cNvPr id="95277" name="Group 92"/>
              <p:cNvGrpSpPr/>
              <p:nvPr/>
            </p:nvGrpSpPr>
            <p:grpSpPr>
              <a:xfrm>
                <a:off x="2925" y="1888"/>
                <a:ext cx="2140" cy="2098"/>
                <a:chOff x="3379" y="1888"/>
                <a:chExt cx="2140" cy="2098"/>
              </a:xfrm>
            </p:grpSpPr>
            <p:graphicFrame>
              <p:nvGraphicFramePr>
                <p:cNvPr id="95279" name="Object 93"/>
                <p:cNvGraphicFramePr>
                  <a:graphicFrameLocks noChangeAspect="1"/>
                </p:cNvGraphicFramePr>
                <p:nvPr/>
              </p:nvGraphicFramePr>
              <p:xfrm>
                <a:off x="3387" y="1917"/>
                <a:ext cx="2132" cy="206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" imgW="2933700" imgH="2847975" progId="Paint.Picture">
                        <p:embed/>
                      </p:oleObj>
                    </mc:Choice>
                    <mc:Fallback>
                      <p:oleObj r:id="rId2" imgW="2933700" imgH="2847975" progId="Paint.Picture">
                        <p:embed/>
                        <p:pic>
                          <p:nvPicPr>
                            <p:cNvPr id="0" name="图片 3126"/>
                            <p:cNvPicPr/>
                            <p:nvPr/>
                          </p:nvPicPr>
                          <p:blipFill>
                            <a:blip r:embed="rId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387" y="1917"/>
                              <a:ext cx="2132" cy="2069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95280" name="Line 94"/>
                <p:cNvSpPr/>
                <p:nvPr/>
              </p:nvSpPr>
              <p:spPr>
                <a:xfrm>
                  <a:off x="4456" y="1888"/>
                  <a:ext cx="0" cy="113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5281" name="Line 95"/>
                <p:cNvSpPr/>
                <p:nvPr/>
              </p:nvSpPr>
              <p:spPr>
                <a:xfrm flipH="1">
                  <a:off x="3379" y="3022"/>
                  <a:ext cx="1089" cy="40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5282" name="Line 96"/>
                <p:cNvSpPr/>
                <p:nvPr/>
              </p:nvSpPr>
              <p:spPr>
                <a:xfrm>
                  <a:off x="4468" y="3022"/>
                  <a:ext cx="589" cy="907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5283" name="Line 97"/>
                <p:cNvSpPr/>
                <p:nvPr/>
              </p:nvSpPr>
              <p:spPr>
                <a:xfrm>
                  <a:off x="4468" y="3022"/>
                  <a:ext cx="1043" cy="363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5284" name="Line 98"/>
                <p:cNvSpPr/>
                <p:nvPr/>
              </p:nvSpPr>
              <p:spPr>
                <a:xfrm flipH="1">
                  <a:off x="3424" y="1933"/>
                  <a:ext cx="1044" cy="1497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95285" name="Line 99"/>
                <p:cNvSpPr/>
                <p:nvPr/>
              </p:nvSpPr>
              <p:spPr>
                <a:xfrm>
                  <a:off x="3424" y="3385"/>
                  <a:ext cx="1633" cy="54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95286" name="Line 100"/>
                <p:cNvSpPr/>
                <p:nvPr/>
              </p:nvSpPr>
              <p:spPr>
                <a:xfrm>
                  <a:off x="4468" y="1933"/>
                  <a:ext cx="997" cy="145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95287" name="Line 101"/>
                <p:cNvSpPr/>
                <p:nvPr/>
              </p:nvSpPr>
              <p:spPr>
                <a:xfrm>
                  <a:off x="3424" y="3385"/>
                  <a:ext cx="2041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95288" name="Line 102"/>
                <p:cNvSpPr/>
                <p:nvPr/>
              </p:nvSpPr>
              <p:spPr>
                <a:xfrm>
                  <a:off x="4468" y="1979"/>
                  <a:ext cx="589" cy="195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grpSp>
              <p:nvGrpSpPr>
                <p:cNvPr id="95289" name="Group 103"/>
                <p:cNvGrpSpPr/>
                <p:nvPr/>
              </p:nvGrpSpPr>
              <p:grpSpPr>
                <a:xfrm>
                  <a:off x="3434" y="2669"/>
                  <a:ext cx="943" cy="491"/>
                  <a:chOff x="3288" y="2568"/>
                  <a:chExt cx="943" cy="491"/>
                </a:xfrm>
              </p:grpSpPr>
              <p:sp>
                <p:nvSpPr>
                  <p:cNvPr id="95290" name="Text Box 104"/>
                  <p:cNvSpPr txBox="1"/>
                  <p:nvPr/>
                </p:nvSpPr>
                <p:spPr>
                  <a:xfrm>
                    <a:off x="3288" y="2568"/>
                    <a:ext cx="943" cy="491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buNone/>
                    </a:pPr>
                    <a:r>
                      <a:rPr lang="en-US" altLang="zh-CN" sz="32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109 28</a:t>
                    </a:r>
                    <a:r>
                      <a:rPr lang="en-US" altLang="zh-CN" sz="3200" b="1" dirty="0">
                        <a:latin typeface="Times New Roman" panose="02020603050405020304" pitchFamily="18" charset="0"/>
                        <a:ea typeface="幼圆" panose="02010509060101010101" pitchFamily="49" charset="-122"/>
                        <a:sym typeface="Symbol" panose="05050102010706020507" pitchFamily="18" charset="2"/>
                      </a:rPr>
                      <a:t></a:t>
                    </a:r>
                    <a:r>
                      <a:rPr lang="en-US" altLang="zh-CN" sz="32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 </a:t>
                    </a:r>
                    <a:endParaRPr lang="en-US" altLang="zh-CN" sz="3200" b="1" dirty="0">
                      <a:latin typeface="Times New Roman" panose="02020603050405020304" pitchFamily="18" charset="0"/>
                      <a:ea typeface="幼圆" panose="02010509060101010101" pitchFamily="49" charset="-122"/>
                      <a:sym typeface="Symbol" panose="05050102010706020507" pitchFamily="18" charset="2"/>
                    </a:endParaRPr>
                  </a:p>
                </p:txBody>
              </p:sp>
              <p:sp>
                <p:nvSpPr>
                  <p:cNvPr id="95291" name="Oval 105"/>
                  <p:cNvSpPr/>
                  <p:nvPr/>
                </p:nvSpPr>
                <p:spPr>
                  <a:xfrm>
                    <a:off x="3718" y="2647"/>
                    <a:ext cx="68" cy="68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95278" name="Line 106"/>
              <p:cNvSpPr/>
              <p:nvPr/>
            </p:nvSpPr>
            <p:spPr>
              <a:xfrm flipV="1">
                <a:off x="4592" y="3363"/>
                <a:ext cx="408" cy="54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  <p:grpSp>
          <p:nvGrpSpPr>
            <p:cNvPr id="95268" name="Group 107"/>
            <p:cNvGrpSpPr/>
            <p:nvPr/>
          </p:nvGrpSpPr>
          <p:grpSpPr>
            <a:xfrm>
              <a:off x="3618" y="1952"/>
              <a:ext cx="1917" cy="2103"/>
              <a:chOff x="3618" y="1940"/>
              <a:chExt cx="1917" cy="2103"/>
            </a:xfrm>
          </p:grpSpPr>
          <p:grpSp>
            <p:nvGrpSpPr>
              <p:cNvPr id="95269" name="Group 108"/>
              <p:cNvGrpSpPr/>
              <p:nvPr/>
            </p:nvGrpSpPr>
            <p:grpSpPr>
              <a:xfrm>
                <a:off x="3618" y="1940"/>
                <a:ext cx="1917" cy="2103"/>
                <a:chOff x="3618" y="1940"/>
                <a:chExt cx="1917" cy="2103"/>
              </a:xfrm>
            </p:grpSpPr>
            <p:sp>
              <p:nvSpPr>
                <p:cNvPr id="95271" name="Line 109"/>
                <p:cNvSpPr/>
                <p:nvPr/>
              </p:nvSpPr>
              <p:spPr>
                <a:xfrm>
                  <a:off x="4150" y="2976"/>
                  <a:ext cx="0" cy="18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95272" name="Text Box 110"/>
                <p:cNvSpPr txBox="1"/>
                <p:nvPr/>
              </p:nvSpPr>
              <p:spPr>
                <a:xfrm>
                  <a:off x="4425" y="2840"/>
                  <a:ext cx="408" cy="4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3200" b="1" dirty="0">
                      <a:solidFill>
                        <a:srgbClr val="FFFF00"/>
                      </a:solidFill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C</a:t>
                  </a:r>
                  <a:endParaRPr lang="en-US" altLang="zh-CN" sz="18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5273" name="Text Box 111"/>
                <p:cNvSpPr txBox="1"/>
                <p:nvPr/>
              </p:nvSpPr>
              <p:spPr>
                <a:xfrm>
                  <a:off x="4432" y="1940"/>
                  <a:ext cx="272" cy="4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3200" b="1" dirty="0">
                      <a:solidFill>
                        <a:srgbClr val="00FFFF"/>
                      </a:solidFill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H</a:t>
                  </a:r>
                  <a:endParaRPr lang="en-US" altLang="zh-CN" sz="18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5274" name="Text Box 112"/>
                <p:cNvSpPr txBox="1"/>
                <p:nvPr/>
              </p:nvSpPr>
              <p:spPr>
                <a:xfrm>
                  <a:off x="5263" y="3113"/>
                  <a:ext cx="272" cy="4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3200" b="1" dirty="0">
                      <a:solidFill>
                        <a:srgbClr val="00FFFF"/>
                      </a:solidFill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H</a:t>
                  </a:r>
                  <a:endParaRPr lang="en-US" altLang="zh-CN" sz="18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5275" name="Text Box 113"/>
                <p:cNvSpPr txBox="1"/>
                <p:nvPr/>
              </p:nvSpPr>
              <p:spPr>
                <a:xfrm>
                  <a:off x="4876" y="3552"/>
                  <a:ext cx="272" cy="4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3200" b="1" dirty="0">
                      <a:solidFill>
                        <a:srgbClr val="00FFFF"/>
                      </a:solidFill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H</a:t>
                  </a:r>
                  <a:endParaRPr lang="en-US" altLang="zh-CN" sz="18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5276" name="Text Box 114"/>
                <p:cNvSpPr txBox="1"/>
                <p:nvPr/>
              </p:nvSpPr>
              <p:spPr>
                <a:xfrm>
                  <a:off x="3618" y="3122"/>
                  <a:ext cx="272" cy="4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3200" b="1" dirty="0">
                      <a:solidFill>
                        <a:srgbClr val="00FFFF"/>
                      </a:solidFill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H</a:t>
                  </a:r>
                  <a:endParaRPr lang="en-US" altLang="zh-CN" sz="18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sp>
            <p:nvSpPr>
              <p:cNvPr id="95270" name="Line 115"/>
              <p:cNvSpPr/>
              <p:nvPr/>
            </p:nvSpPr>
            <p:spPr>
              <a:xfrm flipV="1">
                <a:off x="4286" y="2478"/>
                <a:ext cx="318" cy="1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67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74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Line 2"/>
          <p:cNvSpPr/>
          <p:nvPr/>
        </p:nvSpPr>
        <p:spPr>
          <a:xfrm flipV="1">
            <a:off x="990600" y="1200150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96259" name="Oval 3"/>
          <p:cNvSpPr/>
          <p:nvPr/>
        </p:nvSpPr>
        <p:spPr>
          <a:xfrm>
            <a:off x="250825" y="465138"/>
            <a:ext cx="215900" cy="161925"/>
          </a:xfrm>
          <a:prstGeom prst="ellipse">
            <a:avLst/>
          </a:prstGeom>
          <a:solidFill>
            <a:srgbClr val="6B50F0"/>
          </a:solid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6260" name="Text Box 4"/>
          <p:cNvSpPr txBox="1"/>
          <p:nvPr/>
        </p:nvSpPr>
        <p:spPr>
          <a:xfrm>
            <a:off x="455613" y="304800"/>
            <a:ext cx="8437562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不等性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sp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杂化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6261" name="Text Box 5"/>
          <p:cNvSpPr txBox="1"/>
          <p:nvPr/>
        </p:nvSpPr>
        <p:spPr>
          <a:xfrm>
            <a:off x="250825" y="950913"/>
            <a:ext cx="3455988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例  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NH</a:t>
            </a:r>
            <a:r>
              <a:rPr lang="en-US" altLang="zh-CN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3</a:t>
            </a:r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6262" name="Text Box 6"/>
          <p:cNvSpPr txBox="1"/>
          <p:nvPr/>
        </p:nvSpPr>
        <p:spPr>
          <a:xfrm>
            <a:off x="1331913" y="1546225"/>
            <a:ext cx="792162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N</a:t>
            </a:r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96263" name="Group 7"/>
          <p:cNvGrpSpPr/>
          <p:nvPr/>
        </p:nvGrpSpPr>
        <p:grpSpPr>
          <a:xfrm>
            <a:off x="2555875" y="1492250"/>
            <a:ext cx="1620838" cy="825500"/>
            <a:chOff x="861" y="1298"/>
            <a:chExt cx="1021" cy="694"/>
          </a:xfrm>
        </p:grpSpPr>
        <p:sp>
          <p:nvSpPr>
            <p:cNvPr id="96282" name="Text Box 8"/>
            <p:cNvSpPr txBox="1"/>
            <p:nvPr/>
          </p:nvSpPr>
          <p:spPr>
            <a:xfrm>
              <a:off x="861" y="1604"/>
              <a:ext cx="317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2s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283" name="Text Box 9"/>
            <p:cNvSpPr txBox="1"/>
            <p:nvPr/>
          </p:nvSpPr>
          <p:spPr>
            <a:xfrm>
              <a:off x="1383" y="1464"/>
              <a:ext cx="341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2p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96284" name="Group 10"/>
            <p:cNvGrpSpPr/>
            <p:nvPr/>
          </p:nvGrpSpPr>
          <p:grpSpPr>
            <a:xfrm>
              <a:off x="885" y="1298"/>
              <a:ext cx="997" cy="363"/>
              <a:chOff x="498" y="1388"/>
              <a:chExt cx="997" cy="363"/>
            </a:xfrm>
          </p:grpSpPr>
          <p:sp>
            <p:nvSpPr>
              <p:cNvPr id="96285" name="Line 11"/>
              <p:cNvSpPr/>
              <p:nvPr/>
            </p:nvSpPr>
            <p:spPr>
              <a:xfrm>
                <a:off x="588" y="1558"/>
                <a:ext cx="0" cy="18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6286" name="Line 12"/>
              <p:cNvSpPr/>
              <p:nvPr/>
            </p:nvSpPr>
            <p:spPr>
              <a:xfrm flipV="1">
                <a:off x="640" y="1546"/>
                <a:ext cx="0" cy="18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6287" name="Oval 13"/>
              <p:cNvSpPr/>
              <p:nvPr/>
            </p:nvSpPr>
            <p:spPr>
              <a:xfrm>
                <a:off x="498" y="1524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96288" name="Group 14"/>
              <p:cNvGrpSpPr/>
              <p:nvPr/>
            </p:nvGrpSpPr>
            <p:grpSpPr>
              <a:xfrm>
                <a:off x="816" y="1388"/>
                <a:ext cx="227" cy="227"/>
                <a:chOff x="1156" y="3385"/>
                <a:chExt cx="227" cy="227"/>
              </a:xfrm>
            </p:grpSpPr>
            <p:sp>
              <p:nvSpPr>
                <p:cNvPr id="96295" name="Oval 15"/>
                <p:cNvSpPr/>
                <p:nvPr/>
              </p:nvSpPr>
              <p:spPr>
                <a:xfrm>
                  <a:off x="1156" y="3385"/>
                  <a:ext cx="227" cy="22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6296" name="Line 16"/>
                <p:cNvSpPr/>
                <p:nvPr/>
              </p:nvSpPr>
              <p:spPr>
                <a:xfrm flipV="1">
                  <a:off x="1259" y="3400"/>
                  <a:ext cx="0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96289" name="Group 17"/>
              <p:cNvGrpSpPr/>
              <p:nvPr/>
            </p:nvGrpSpPr>
            <p:grpSpPr>
              <a:xfrm>
                <a:off x="1042" y="1389"/>
                <a:ext cx="227" cy="227"/>
                <a:chOff x="1156" y="3385"/>
                <a:chExt cx="227" cy="227"/>
              </a:xfrm>
            </p:grpSpPr>
            <p:sp>
              <p:nvSpPr>
                <p:cNvPr id="96293" name="Oval 18"/>
                <p:cNvSpPr/>
                <p:nvPr/>
              </p:nvSpPr>
              <p:spPr>
                <a:xfrm>
                  <a:off x="1156" y="3385"/>
                  <a:ext cx="227" cy="22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6294" name="Line 19"/>
                <p:cNvSpPr/>
                <p:nvPr/>
              </p:nvSpPr>
              <p:spPr>
                <a:xfrm flipV="1">
                  <a:off x="1259" y="3400"/>
                  <a:ext cx="0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96290" name="Group 20"/>
              <p:cNvGrpSpPr/>
              <p:nvPr/>
            </p:nvGrpSpPr>
            <p:grpSpPr>
              <a:xfrm>
                <a:off x="1268" y="1389"/>
                <a:ext cx="227" cy="227"/>
                <a:chOff x="1156" y="3385"/>
                <a:chExt cx="227" cy="227"/>
              </a:xfrm>
            </p:grpSpPr>
            <p:sp>
              <p:nvSpPr>
                <p:cNvPr id="96291" name="Oval 21"/>
                <p:cNvSpPr/>
                <p:nvPr/>
              </p:nvSpPr>
              <p:spPr>
                <a:xfrm>
                  <a:off x="1156" y="3385"/>
                  <a:ext cx="227" cy="227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96292" name="Line 22"/>
                <p:cNvSpPr/>
                <p:nvPr/>
              </p:nvSpPr>
              <p:spPr>
                <a:xfrm flipV="1">
                  <a:off x="1259" y="3400"/>
                  <a:ext cx="0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</p:grpSp>
      </p:grpSp>
      <p:grpSp>
        <p:nvGrpSpPr>
          <p:cNvPr id="96264" name="Group 23"/>
          <p:cNvGrpSpPr/>
          <p:nvPr/>
        </p:nvGrpSpPr>
        <p:grpSpPr>
          <a:xfrm>
            <a:off x="4356100" y="1265238"/>
            <a:ext cx="2592388" cy="400050"/>
            <a:chOff x="2426" y="981"/>
            <a:chExt cx="1633" cy="336"/>
          </a:xfrm>
        </p:grpSpPr>
        <p:sp>
          <p:nvSpPr>
            <p:cNvPr id="96280" name="Text Box 24"/>
            <p:cNvSpPr txBox="1"/>
            <p:nvPr/>
          </p:nvSpPr>
          <p:spPr>
            <a:xfrm>
              <a:off x="2426" y="981"/>
              <a:ext cx="1633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不等性</a:t>
              </a: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sp</a:t>
              </a:r>
              <a:r>
                <a:rPr lang="en-US" altLang="zh-CN" sz="2000" b="1" baseline="30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3</a:t>
              </a:r>
              <a:r>
                <a:rPr lang="zh-CN" altLang="en-US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杂化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6281" name="Line 25"/>
            <p:cNvSpPr/>
            <p:nvPr/>
          </p:nvSpPr>
          <p:spPr>
            <a:xfrm>
              <a:off x="2472" y="1298"/>
              <a:ext cx="154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96265" name="Group 26"/>
          <p:cNvGrpSpPr/>
          <p:nvPr/>
        </p:nvGrpSpPr>
        <p:grpSpPr>
          <a:xfrm>
            <a:off x="7092950" y="1487488"/>
            <a:ext cx="1604963" cy="717550"/>
            <a:chOff x="4468" y="1249"/>
            <a:chExt cx="1011" cy="603"/>
          </a:xfrm>
        </p:grpSpPr>
        <p:sp>
          <p:nvSpPr>
            <p:cNvPr id="96267" name="Oval 27"/>
            <p:cNvSpPr/>
            <p:nvPr/>
          </p:nvSpPr>
          <p:spPr>
            <a:xfrm>
              <a:off x="4527" y="1249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96268" name="Line 28"/>
            <p:cNvSpPr/>
            <p:nvPr/>
          </p:nvSpPr>
          <p:spPr>
            <a:xfrm flipV="1">
              <a:off x="4617" y="1264"/>
              <a:ext cx="0" cy="1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96269" name="Group 29"/>
            <p:cNvGrpSpPr/>
            <p:nvPr/>
          </p:nvGrpSpPr>
          <p:grpSpPr>
            <a:xfrm>
              <a:off x="4752" y="1249"/>
              <a:ext cx="227" cy="227"/>
              <a:chOff x="1156" y="3385"/>
              <a:chExt cx="227" cy="227"/>
            </a:xfrm>
          </p:grpSpPr>
          <p:sp>
            <p:nvSpPr>
              <p:cNvPr id="96278" name="Oval 30"/>
              <p:cNvSpPr/>
              <p:nvPr/>
            </p:nvSpPr>
            <p:spPr>
              <a:xfrm>
                <a:off x="1156" y="3385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279" name="Line 31"/>
              <p:cNvSpPr/>
              <p:nvPr/>
            </p:nvSpPr>
            <p:spPr>
              <a:xfrm flipV="1">
                <a:off x="1259" y="3400"/>
                <a:ext cx="0" cy="18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96270" name="Text Box 32"/>
            <p:cNvSpPr txBox="1"/>
            <p:nvPr/>
          </p:nvSpPr>
          <p:spPr>
            <a:xfrm>
              <a:off x="4468" y="1464"/>
              <a:ext cx="1011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不等性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sp</a:t>
              </a:r>
              <a:r>
                <a:rPr lang="en-US" altLang="zh-CN" sz="2400" b="1" baseline="30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3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96271" name="Group 33"/>
            <p:cNvGrpSpPr/>
            <p:nvPr/>
          </p:nvGrpSpPr>
          <p:grpSpPr>
            <a:xfrm>
              <a:off x="4982" y="1253"/>
              <a:ext cx="227" cy="227"/>
              <a:chOff x="1156" y="3385"/>
              <a:chExt cx="227" cy="227"/>
            </a:xfrm>
          </p:grpSpPr>
          <p:sp>
            <p:nvSpPr>
              <p:cNvPr id="96276" name="Oval 34"/>
              <p:cNvSpPr/>
              <p:nvPr/>
            </p:nvSpPr>
            <p:spPr>
              <a:xfrm>
                <a:off x="1156" y="3385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277" name="Line 35"/>
              <p:cNvSpPr/>
              <p:nvPr/>
            </p:nvSpPr>
            <p:spPr>
              <a:xfrm flipV="1">
                <a:off x="1259" y="3400"/>
                <a:ext cx="0" cy="18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96272" name="Group 36"/>
            <p:cNvGrpSpPr/>
            <p:nvPr/>
          </p:nvGrpSpPr>
          <p:grpSpPr>
            <a:xfrm>
              <a:off x="5208" y="1253"/>
              <a:ext cx="227" cy="227"/>
              <a:chOff x="1156" y="3385"/>
              <a:chExt cx="227" cy="227"/>
            </a:xfrm>
          </p:grpSpPr>
          <p:sp>
            <p:nvSpPr>
              <p:cNvPr id="96274" name="Oval 37"/>
              <p:cNvSpPr/>
              <p:nvPr/>
            </p:nvSpPr>
            <p:spPr>
              <a:xfrm>
                <a:off x="1156" y="3385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6275" name="Line 38"/>
              <p:cNvSpPr/>
              <p:nvPr/>
            </p:nvSpPr>
            <p:spPr>
              <a:xfrm flipV="1">
                <a:off x="1259" y="3400"/>
                <a:ext cx="0" cy="18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96273" name="Line 39"/>
            <p:cNvSpPr/>
            <p:nvPr/>
          </p:nvSpPr>
          <p:spPr>
            <a:xfrm>
              <a:off x="4668" y="1272"/>
              <a:ext cx="0" cy="1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pic>
        <p:nvPicPr>
          <p:cNvPr id="96266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2416175"/>
            <a:ext cx="6408738" cy="21002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wipe dir="r"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Line 29"/>
          <p:cNvSpPr/>
          <p:nvPr/>
        </p:nvSpPr>
        <p:spPr>
          <a:xfrm flipV="1">
            <a:off x="847725" y="993775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97283" name="Oval 30"/>
          <p:cNvSpPr/>
          <p:nvPr/>
        </p:nvSpPr>
        <p:spPr>
          <a:xfrm>
            <a:off x="107950" y="508000"/>
            <a:ext cx="215900" cy="161925"/>
          </a:xfrm>
          <a:prstGeom prst="ellipse">
            <a:avLst/>
          </a:prstGeom>
          <a:solidFill>
            <a:srgbClr val="6B50F0"/>
          </a:solid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7284" name="Text Box 31"/>
          <p:cNvSpPr txBox="1"/>
          <p:nvPr/>
        </p:nvSpPr>
        <p:spPr>
          <a:xfrm>
            <a:off x="312738" y="304800"/>
            <a:ext cx="8437562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不等性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sp</a:t>
            </a:r>
            <a:r>
              <a:rPr lang="en-US" altLang="zh-CN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杂化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7285" name="Text Box 32"/>
          <p:cNvSpPr txBox="1"/>
          <p:nvPr/>
        </p:nvSpPr>
        <p:spPr>
          <a:xfrm>
            <a:off x="107950" y="787400"/>
            <a:ext cx="3455988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例  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H</a:t>
            </a:r>
            <a:r>
              <a:rPr lang="en-US" altLang="zh-CN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O</a:t>
            </a:r>
            <a:r>
              <a:rPr lang="en-US" altLang="zh-CN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7286" name="Text Box 33"/>
          <p:cNvSpPr txBox="1"/>
          <p:nvPr/>
        </p:nvSpPr>
        <p:spPr>
          <a:xfrm>
            <a:off x="1189038" y="1338263"/>
            <a:ext cx="792162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O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7287" name="Text Box 34"/>
          <p:cNvSpPr txBox="1"/>
          <p:nvPr/>
        </p:nvSpPr>
        <p:spPr>
          <a:xfrm>
            <a:off x="6950075" y="1536700"/>
            <a:ext cx="1604963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不等性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sp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3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97288" name="Group 35"/>
          <p:cNvGrpSpPr/>
          <p:nvPr/>
        </p:nvGrpSpPr>
        <p:grpSpPr>
          <a:xfrm>
            <a:off x="7766050" y="1284288"/>
            <a:ext cx="360363" cy="269875"/>
            <a:chOff x="1156" y="3385"/>
            <a:chExt cx="227" cy="227"/>
          </a:xfrm>
        </p:grpSpPr>
        <p:sp>
          <p:nvSpPr>
            <p:cNvPr id="97323" name="Oval 36"/>
            <p:cNvSpPr/>
            <p:nvPr/>
          </p:nvSpPr>
          <p:spPr>
            <a:xfrm>
              <a:off x="1156" y="3385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97324" name="Line 37"/>
            <p:cNvSpPr/>
            <p:nvPr/>
          </p:nvSpPr>
          <p:spPr>
            <a:xfrm flipV="1">
              <a:off x="1259" y="3400"/>
              <a:ext cx="0" cy="1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97289" name="Group 38"/>
          <p:cNvGrpSpPr/>
          <p:nvPr/>
        </p:nvGrpSpPr>
        <p:grpSpPr>
          <a:xfrm>
            <a:off x="8124825" y="1284288"/>
            <a:ext cx="360363" cy="269875"/>
            <a:chOff x="1156" y="3385"/>
            <a:chExt cx="227" cy="227"/>
          </a:xfrm>
        </p:grpSpPr>
        <p:sp>
          <p:nvSpPr>
            <p:cNvPr id="97321" name="Oval 39"/>
            <p:cNvSpPr/>
            <p:nvPr/>
          </p:nvSpPr>
          <p:spPr>
            <a:xfrm>
              <a:off x="1156" y="3385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97322" name="Line 40"/>
            <p:cNvSpPr/>
            <p:nvPr/>
          </p:nvSpPr>
          <p:spPr>
            <a:xfrm flipV="1">
              <a:off x="1259" y="3400"/>
              <a:ext cx="0" cy="1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97290" name="Group 41"/>
          <p:cNvGrpSpPr/>
          <p:nvPr/>
        </p:nvGrpSpPr>
        <p:grpSpPr>
          <a:xfrm>
            <a:off x="4213225" y="1057275"/>
            <a:ext cx="2592388" cy="400050"/>
            <a:chOff x="2426" y="981"/>
            <a:chExt cx="1633" cy="336"/>
          </a:xfrm>
        </p:grpSpPr>
        <p:sp>
          <p:nvSpPr>
            <p:cNvPr id="97319" name="Text Box 42"/>
            <p:cNvSpPr txBox="1"/>
            <p:nvPr/>
          </p:nvSpPr>
          <p:spPr>
            <a:xfrm>
              <a:off x="2426" y="981"/>
              <a:ext cx="1633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不等性</a:t>
              </a: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sp</a:t>
              </a:r>
              <a:r>
                <a:rPr lang="en-US" altLang="zh-CN" sz="2000" b="1" baseline="30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3</a:t>
              </a:r>
              <a:r>
                <a:rPr lang="zh-CN" altLang="en-US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杂化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7320" name="Line 43"/>
            <p:cNvSpPr/>
            <p:nvPr/>
          </p:nvSpPr>
          <p:spPr>
            <a:xfrm>
              <a:off x="2472" y="1298"/>
              <a:ext cx="154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97291" name="Group 44"/>
          <p:cNvGrpSpPr/>
          <p:nvPr/>
        </p:nvGrpSpPr>
        <p:grpSpPr>
          <a:xfrm>
            <a:off x="2413000" y="1284288"/>
            <a:ext cx="1620838" cy="827087"/>
            <a:chOff x="1610" y="1253"/>
            <a:chExt cx="1021" cy="694"/>
          </a:xfrm>
        </p:grpSpPr>
        <p:sp>
          <p:nvSpPr>
            <p:cNvPr id="97303" name="Text Box 45"/>
            <p:cNvSpPr txBox="1"/>
            <p:nvPr/>
          </p:nvSpPr>
          <p:spPr>
            <a:xfrm>
              <a:off x="1610" y="1559"/>
              <a:ext cx="317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2s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7304" name="Text Box 46"/>
            <p:cNvSpPr txBox="1"/>
            <p:nvPr/>
          </p:nvSpPr>
          <p:spPr>
            <a:xfrm>
              <a:off x="2132" y="1419"/>
              <a:ext cx="341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2p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97305" name="Group 47"/>
            <p:cNvGrpSpPr/>
            <p:nvPr/>
          </p:nvGrpSpPr>
          <p:grpSpPr>
            <a:xfrm>
              <a:off x="1634" y="1389"/>
              <a:ext cx="227" cy="227"/>
              <a:chOff x="1634" y="1389"/>
              <a:chExt cx="227" cy="227"/>
            </a:xfrm>
          </p:grpSpPr>
          <p:sp>
            <p:nvSpPr>
              <p:cNvPr id="97316" name="Line 48"/>
              <p:cNvSpPr/>
              <p:nvPr/>
            </p:nvSpPr>
            <p:spPr>
              <a:xfrm>
                <a:off x="1724" y="1423"/>
                <a:ext cx="0" cy="18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7317" name="Line 49"/>
              <p:cNvSpPr/>
              <p:nvPr/>
            </p:nvSpPr>
            <p:spPr>
              <a:xfrm flipV="1">
                <a:off x="1776" y="1411"/>
                <a:ext cx="0" cy="18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7318" name="Oval 50"/>
              <p:cNvSpPr/>
              <p:nvPr/>
            </p:nvSpPr>
            <p:spPr>
              <a:xfrm>
                <a:off x="1634" y="1389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97306" name="Group 51"/>
            <p:cNvGrpSpPr/>
            <p:nvPr/>
          </p:nvGrpSpPr>
          <p:grpSpPr>
            <a:xfrm>
              <a:off x="2178" y="1254"/>
              <a:ext cx="227" cy="227"/>
              <a:chOff x="1156" y="3385"/>
              <a:chExt cx="227" cy="227"/>
            </a:xfrm>
          </p:grpSpPr>
          <p:sp>
            <p:nvSpPr>
              <p:cNvPr id="97314" name="Oval 52"/>
              <p:cNvSpPr/>
              <p:nvPr/>
            </p:nvSpPr>
            <p:spPr>
              <a:xfrm>
                <a:off x="1156" y="3385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7315" name="Line 53"/>
              <p:cNvSpPr/>
              <p:nvPr/>
            </p:nvSpPr>
            <p:spPr>
              <a:xfrm flipV="1">
                <a:off x="1259" y="3400"/>
                <a:ext cx="0" cy="18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97307" name="Group 54"/>
            <p:cNvGrpSpPr/>
            <p:nvPr/>
          </p:nvGrpSpPr>
          <p:grpSpPr>
            <a:xfrm>
              <a:off x="2404" y="1254"/>
              <a:ext cx="227" cy="227"/>
              <a:chOff x="1156" y="3385"/>
              <a:chExt cx="227" cy="227"/>
            </a:xfrm>
          </p:grpSpPr>
          <p:sp>
            <p:nvSpPr>
              <p:cNvPr id="97312" name="Oval 55"/>
              <p:cNvSpPr/>
              <p:nvPr/>
            </p:nvSpPr>
            <p:spPr>
              <a:xfrm>
                <a:off x="1156" y="3385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7313" name="Line 56"/>
              <p:cNvSpPr/>
              <p:nvPr/>
            </p:nvSpPr>
            <p:spPr>
              <a:xfrm flipV="1">
                <a:off x="1259" y="3400"/>
                <a:ext cx="0" cy="18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97308" name="Group 57"/>
            <p:cNvGrpSpPr/>
            <p:nvPr/>
          </p:nvGrpSpPr>
          <p:grpSpPr>
            <a:xfrm>
              <a:off x="1939" y="1253"/>
              <a:ext cx="227" cy="227"/>
              <a:chOff x="1634" y="1389"/>
              <a:chExt cx="227" cy="227"/>
            </a:xfrm>
          </p:grpSpPr>
          <p:sp>
            <p:nvSpPr>
              <p:cNvPr id="97309" name="Line 58"/>
              <p:cNvSpPr/>
              <p:nvPr/>
            </p:nvSpPr>
            <p:spPr>
              <a:xfrm>
                <a:off x="1724" y="1423"/>
                <a:ext cx="0" cy="18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7310" name="Line 59"/>
              <p:cNvSpPr/>
              <p:nvPr/>
            </p:nvSpPr>
            <p:spPr>
              <a:xfrm flipV="1">
                <a:off x="1776" y="1411"/>
                <a:ext cx="0" cy="18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97311" name="Oval 60"/>
              <p:cNvSpPr/>
              <p:nvPr/>
            </p:nvSpPr>
            <p:spPr>
              <a:xfrm>
                <a:off x="1634" y="1389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97292" name="Group 61"/>
          <p:cNvGrpSpPr/>
          <p:nvPr/>
        </p:nvGrpSpPr>
        <p:grpSpPr>
          <a:xfrm>
            <a:off x="7400925" y="1284288"/>
            <a:ext cx="360363" cy="269875"/>
            <a:chOff x="1634" y="1389"/>
            <a:chExt cx="227" cy="227"/>
          </a:xfrm>
        </p:grpSpPr>
        <p:sp>
          <p:nvSpPr>
            <p:cNvPr id="97300" name="Line 62"/>
            <p:cNvSpPr/>
            <p:nvPr/>
          </p:nvSpPr>
          <p:spPr>
            <a:xfrm>
              <a:off x="1724" y="1423"/>
              <a:ext cx="0" cy="18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7301" name="Line 63"/>
            <p:cNvSpPr/>
            <p:nvPr/>
          </p:nvSpPr>
          <p:spPr>
            <a:xfrm flipV="1">
              <a:off x="1776" y="1411"/>
              <a:ext cx="0" cy="18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7302" name="Oval 64"/>
            <p:cNvSpPr/>
            <p:nvPr/>
          </p:nvSpPr>
          <p:spPr>
            <a:xfrm>
              <a:off x="1634" y="1389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97293" name="Group 65"/>
          <p:cNvGrpSpPr/>
          <p:nvPr/>
        </p:nvGrpSpPr>
        <p:grpSpPr>
          <a:xfrm>
            <a:off x="7040563" y="1298575"/>
            <a:ext cx="360362" cy="269875"/>
            <a:chOff x="1634" y="1389"/>
            <a:chExt cx="227" cy="227"/>
          </a:xfrm>
        </p:grpSpPr>
        <p:sp>
          <p:nvSpPr>
            <p:cNvPr id="97297" name="Line 66"/>
            <p:cNvSpPr/>
            <p:nvPr/>
          </p:nvSpPr>
          <p:spPr>
            <a:xfrm>
              <a:off x="1724" y="1423"/>
              <a:ext cx="0" cy="18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7298" name="Line 67"/>
            <p:cNvSpPr/>
            <p:nvPr/>
          </p:nvSpPr>
          <p:spPr>
            <a:xfrm flipV="1">
              <a:off x="1776" y="1411"/>
              <a:ext cx="0" cy="18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97299" name="Oval 68"/>
            <p:cNvSpPr/>
            <p:nvPr/>
          </p:nvSpPr>
          <p:spPr>
            <a:xfrm>
              <a:off x="1634" y="1389"/>
              <a:ext cx="227" cy="227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97294" name="Text Box 69"/>
          <p:cNvSpPr txBox="1"/>
          <p:nvPr/>
        </p:nvSpPr>
        <p:spPr>
          <a:xfrm>
            <a:off x="5365750" y="2311400"/>
            <a:ext cx="2303463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折线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(V)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形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97295" name="Picture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675" y="2039938"/>
            <a:ext cx="3438525" cy="27368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7296" name="Picture 7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025" y="3011488"/>
            <a:ext cx="3695700" cy="12715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wipe dir="r"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7370" name="Group 218"/>
          <p:cNvGraphicFramePr>
            <a:graphicFrameLocks noGrp="1"/>
          </p:cNvGraphicFramePr>
          <p:nvPr/>
        </p:nvGraphicFramePr>
        <p:xfrm>
          <a:off x="34925" y="87313"/>
          <a:ext cx="8894763" cy="4992058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360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杂化类型</a:t>
                      </a:r>
                      <a:endParaRPr kumimoji="0" lang="zh-CN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sp</a:t>
                      </a:r>
                      <a:endParaRPr kumimoji="0" lang="en-US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sp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</a:t>
                      </a:r>
                      <a:endParaRPr kumimoji="0" lang="en-US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sp</a:t>
                      </a:r>
                      <a:r>
                        <a:rPr kumimoji="0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</a:t>
                      </a:r>
                      <a:endParaRPr kumimoji="0" lang="en-US" altLang="zh-CN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14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杂化轨道构型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直线形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三角形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四面体形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1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杂化轨道中孤电子对数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０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０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０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１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２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14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分子几何构型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直线形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三角形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正四面体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三角锥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V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形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43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实例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BeCl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 </a:t>
                      </a:r>
                      <a:endParaRPr kumimoji="0" lang="en-US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CO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BF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 </a:t>
                      </a:r>
                      <a:endParaRPr kumimoji="0" lang="en-US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SO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CH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</a:t>
                      </a:r>
                      <a:r>
                        <a:rPr kumimoji="0" lang="zh-CN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、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CCl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 </a:t>
                      </a:r>
                      <a:endParaRPr kumimoji="0" lang="en-US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SiH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NH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H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O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034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键角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180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120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109 28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幼圆" panose="02010509060101010101" pitchFamily="49" charset="-122"/>
                        <a:sym typeface="Symbol" panose="05050102010706020507" pitchFamily="18" charset="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107 18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幼圆" panose="02010509060101010101" pitchFamily="49" charset="-122"/>
                        <a:sym typeface="Symbol" panose="05050102010706020507" pitchFamily="18" charset="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104 45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sym typeface="Symbol" panose="05050102010706020507" pitchFamily="18" charset="2"/>
                        </a:rPr>
                        <a:t>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 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幼圆" panose="02010509060101010101" pitchFamily="49" charset="-122"/>
                        <a:sym typeface="Symbol" panose="05050102010706020507" pitchFamily="18" charset="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22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分子极性</a:t>
                      </a:r>
                      <a:endParaRPr kumimoji="0" lang="zh-CN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无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无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无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有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有</a:t>
                      </a:r>
                      <a:endParaRPr kumimoji="0" lang="zh-CN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88" marB="3428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0A230FF-7459-D257-EA1D-F91B95BDC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627534"/>
            <a:ext cx="2800741" cy="370574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EBF06CB-D903-36C2-B89D-83371AC6E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599800"/>
            <a:ext cx="2819794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237346"/>
      </p:ext>
    </p:extLst>
  </p:cSld>
  <p:clrMapOvr>
    <a:masterClrMapping/>
  </p:clrMapOvr>
  <p:transition spd="med">
    <p:wipe dir="r"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/>
          <p:nvPr/>
        </p:nvSpPr>
        <p:spPr>
          <a:xfrm>
            <a:off x="179388" y="84138"/>
            <a:ext cx="6407150" cy="825500"/>
          </a:xfrm>
          <a:prstGeom prst="rect">
            <a:avLst/>
          </a:prstGeom>
          <a:solidFill>
            <a:srgbClr val="00B050"/>
          </a:solidFill>
          <a:ln w="9525">
            <a:noFill/>
          </a:ln>
        </p:spPr>
        <p:txBody>
          <a:bodyPr tIns="165048" bIns="165048" anchor="ctr" anchorCtr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</a:rPr>
              <a:t>5.2.4 </a:t>
            </a:r>
            <a:r>
              <a:rPr lang="zh-CN" altLang="en-US" sz="3200" dirty="0">
                <a:latin typeface="Times New Roman" panose="02020603050405020304" pitchFamily="18" charset="0"/>
              </a:rPr>
              <a:t>分子的极性、分子间力</a:t>
            </a: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9331" name="Rectangle 3"/>
          <p:cNvSpPr/>
          <p:nvPr/>
        </p:nvSpPr>
        <p:spPr>
          <a:xfrm>
            <a:off x="827088" y="2260600"/>
            <a:ext cx="7772400" cy="571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endParaRPr lang="zh-CN" altLang="en-US" sz="4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9332" name="Line 4"/>
          <p:cNvSpPr/>
          <p:nvPr/>
        </p:nvSpPr>
        <p:spPr>
          <a:xfrm flipV="1">
            <a:off x="846138" y="1860550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99333" name="Text Box 5"/>
          <p:cNvSpPr txBox="1"/>
          <p:nvPr/>
        </p:nvSpPr>
        <p:spPr>
          <a:xfrm>
            <a:off x="2627313" y="1016000"/>
            <a:ext cx="2879725" cy="534988"/>
          </a:xfrm>
          <a:prstGeom prst="rect">
            <a:avLst/>
          </a:prstGeom>
          <a:solidFill>
            <a:srgbClr val="92D050"/>
          </a:solidFill>
          <a:ln w="9525">
            <a:noFill/>
          </a:ln>
          <a:effectLst>
            <a:outerShdw sy="50000" kx="-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  <a:hlinkClick r:id="rId2" action="ppaction://hlinkfile"/>
              </a:rPr>
              <a:t>分子间力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9990" name="Text Box 6"/>
          <p:cNvSpPr txBox="1"/>
          <p:nvPr/>
        </p:nvSpPr>
        <p:spPr>
          <a:xfrm>
            <a:off x="179388" y="1647825"/>
            <a:ext cx="8675687" cy="892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  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气体液化成液体，液体凝固成固体。表明在物质分子间还存在着相互作用力， 这种分子间力称为范德华力。 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9991" name="Text Box 7"/>
          <p:cNvSpPr txBox="1"/>
          <p:nvPr/>
        </p:nvSpPr>
        <p:spPr>
          <a:xfrm>
            <a:off x="217488" y="3090863"/>
            <a:ext cx="8748712" cy="892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 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分子间力是决定物质的沸点、熔点、气化热，熔化热、溶解度、表面张力、 粘度等性质的主要因素。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9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69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90" grpId="0"/>
      <p:bldP spid="169991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Line 2"/>
          <p:cNvSpPr/>
          <p:nvPr/>
        </p:nvSpPr>
        <p:spPr>
          <a:xfrm flipV="1">
            <a:off x="990600" y="1354138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100355" name="Text Box 3"/>
          <p:cNvSpPr txBox="1"/>
          <p:nvPr/>
        </p:nvSpPr>
        <p:spPr>
          <a:xfrm>
            <a:off x="179388" y="209550"/>
            <a:ext cx="6840537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4000" dirty="0">
                <a:solidFill>
                  <a:srgbClr val="9900CC"/>
                </a:solidFill>
                <a:latin typeface="华文新魏" panose="02010800040101010101" pitchFamily="2" charset="-122"/>
              </a:rPr>
              <a:t>1.</a:t>
            </a:r>
            <a:r>
              <a:rPr lang="zh-CN" altLang="en-US" sz="4000" dirty="0">
                <a:solidFill>
                  <a:srgbClr val="9900CC"/>
                </a:solidFill>
                <a:latin typeface="华文新魏" panose="02010800040101010101" pitchFamily="2" charset="-122"/>
              </a:rPr>
              <a:t>分子的极性和变形性 </a:t>
            </a:r>
          </a:p>
        </p:txBody>
      </p:sp>
      <p:grpSp>
        <p:nvGrpSpPr>
          <p:cNvPr id="2" name="Group 5"/>
          <p:cNvGrpSpPr/>
          <p:nvPr/>
        </p:nvGrpSpPr>
        <p:grpSpPr>
          <a:xfrm>
            <a:off x="323850" y="1322388"/>
            <a:ext cx="8497888" cy="1323975"/>
            <a:chOff x="158" y="979"/>
            <a:chExt cx="5353" cy="1112"/>
          </a:xfrm>
        </p:grpSpPr>
        <p:sp>
          <p:nvSpPr>
            <p:cNvPr id="100360" name="Oval 6"/>
            <p:cNvSpPr/>
            <p:nvPr/>
          </p:nvSpPr>
          <p:spPr>
            <a:xfrm>
              <a:off x="158" y="1117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0361" name="Text Box 7"/>
            <p:cNvSpPr txBox="1"/>
            <p:nvPr/>
          </p:nvSpPr>
          <p:spPr>
            <a:xfrm>
              <a:off x="340" y="979"/>
              <a:ext cx="5171" cy="111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产生： </a:t>
              </a:r>
              <a:endParaRPr lang="zh-CN" altLang="en-US" dirty="0">
                <a:latin typeface="Arial" panose="020B0604020202020204" pitchFamily="34" charset="0"/>
                <a:ea typeface="ˎ̥"/>
              </a:endParaRPr>
            </a:p>
            <a:p>
              <a:pPr eaLnBrk="1" hangingPunct="1"/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       </a:t>
              </a: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每个分子都由带正电的原子核和带负电的电子组成，由于正负电荷数量相等，所以整个分子是电中性的。</a:t>
              </a: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1016" name="Text Box 8"/>
          <p:cNvSpPr txBox="1"/>
          <p:nvPr/>
        </p:nvSpPr>
        <p:spPr>
          <a:xfrm>
            <a:off x="539750" y="3157538"/>
            <a:ext cx="828198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电荷中心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正电荷或负电荷的集中点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1017" name="Text Box 9"/>
          <p:cNvSpPr txBox="1"/>
          <p:nvPr/>
        </p:nvSpPr>
        <p:spPr>
          <a:xfrm>
            <a:off x="431800" y="3803650"/>
            <a:ext cx="8605838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　如果分子的正电荷中心和负电荷中心不重合在同一点上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  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那么分子就具有 极性。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0359" name="Text Box 10"/>
          <p:cNvSpPr txBox="1"/>
          <p:nvPr/>
        </p:nvSpPr>
        <p:spPr>
          <a:xfrm>
            <a:off x="323850" y="896938"/>
            <a:ext cx="3455988" cy="5857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华文新魏" panose="02010800040101010101" pitchFamily="2" charset="-122"/>
              </a:rPr>
              <a:t>1)</a:t>
            </a:r>
            <a:r>
              <a:rPr lang="zh-CN" altLang="en-US" sz="3200" dirty="0">
                <a:latin typeface="华文新魏" panose="02010800040101010101" pitchFamily="2" charset="-122"/>
              </a:rPr>
              <a:t>分子的极性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7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6" grpId="0"/>
      <p:bldP spid="171017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/>
          <p:nvPr/>
        </p:nvSpPr>
        <p:spPr>
          <a:xfrm>
            <a:off x="755650" y="1762125"/>
            <a:ext cx="7772400" cy="571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endParaRPr lang="zh-CN" altLang="en-US" sz="4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1379" name="Line 3"/>
          <p:cNvSpPr/>
          <p:nvPr/>
        </p:nvSpPr>
        <p:spPr>
          <a:xfrm flipV="1">
            <a:off x="774700" y="1362075"/>
            <a:ext cx="7848600" cy="0"/>
          </a:xfrm>
          <a:prstGeom prst="line">
            <a:avLst/>
          </a:prstGeom>
          <a:ln w="9525">
            <a:noFill/>
          </a:ln>
        </p:spPr>
      </p:sp>
      <p:grpSp>
        <p:nvGrpSpPr>
          <p:cNvPr id="101380" name="Group 4"/>
          <p:cNvGrpSpPr/>
          <p:nvPr/>
        </p:nvGrpSpPr>
        <p:grpSpPr>
          <a:xfrm>
            <a:off x="277813" y="200025"/>
            <a:ext cx="6094412" cy="646113"/>
            <a:chOff x="158" y="443"/>
            <a:chExt cx="3839" cy="544"/>
          </a:xfrm>
        </p:grpSpPr>
        <p:sp>
          <p:nvSpPr>
            <p:cNvPr id="101413" name="Oval 5"/>
            <p:cNvSpPr/>
            <p:nvPr/>
          </p:nvSpPr>
          <p:spPr>
            <a:xfrm>
              <a:off x="158" y="618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1414" name="Text Box 6"/>
            <p:cNvSpPr txBox="1"/>
            <p:nvPr/>
          </p:nvSpPr>
          <p:spPr>
            <a:xfrm>
              <a:off x="323" y="443"/>
              <a:ext cx="3674" cy="54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36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双原子分子</a:t>
              </a:r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1381" name="Text Box 7"/>
          <p:cNvSpPr txBox="1"/>
          <p:nvPr/>
        </p:nvSpPr>
        <p:spPr>
          <a:xfrm>
            <a:off x="228600" y="896938"/>
            <a:ext cx="8604250" cy="831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　两个相同原子组成的分子，正、负电荷中心重合，不具有极性，为非极性分子。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2040" name="Text Box 8"/>
          <p:cNvSpPr txBox="1"/>
          <p:nvPr/>
        </p:nvSpPr>
        <p:spPr>
          <a:xfrm>
            <a:off x="34925" y="1816100"/>
            <a:ext cx="1512888" cy="522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例 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H</a:t>
            </a:r>
            <a:r>
              <a:rPr lang="en-US" altLang="zh-CN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endParaRPr lang="en-US" altLang="zh-CN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" name="Group 9"/>
          <p:cNvGrpSpPr/>
          <p:nvPr/>
        </p:nvGrpSpPr>
        <p:grpSpPr>
          <a:xfrm>
            <a:off x="1403350" y="1924050"/>
            <a:ext cx="2646363" cy="1652588"/>
            <a:chOff x="1020" y="1480"/>
            <a:chExt cx="1667" cy="1388"/>
          </a:xfrm>
        </p:grpSpPr>
        <p:graphicFrame>
          <p:nvGraphicFramePr>
            <p:cNvPr id="101402" name="Object 10"/>
            <p:cNvGraphicFramePr>
              <a:graphicFrameLocks noChangeAspect="1"/>
            </p:cNvGraphicFramePr>
            <p:nvPr/>
          </p:nvGraphicFramePr>
          <p:xfrm>
            <a:off x="1020" y="1480"/>
            <a:ext cx="1667" cy="10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981200" imgH="1190625" progId="Paint.Picture">
                    <p:embed/>
                  </p:oleObj>
                </mc:Choice>
                <mc:Fallback>
                  <p:oleObj r:id="rId2" imgW="1981200" imgH="1190625" progId="Paint.Picture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020" y="1480"/>
                          <a:ext cx="1667" cy="100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403" name="Line 11"/>
            <p:cNvSpPr/>
            <p:nvPr/>
          </p:nvSpPr>
          <p:spPr>
            <a:xfrm flipV="1">
              <a:off x="1858" y="1979"/>
              <a:ext cx="0" cy="45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</p:sp>
        <p:grpSp>
          <p:nvGrpSpPr>
            <p:cNvPr id="101404" name="Group 12"/>
            <p:cNvGrpSpPr/>
            <p:nvPr/>
          </p:nvGrpSpPr>
          <p:grpSpPr>
            <a:xfrm>
              <a:off x="1725" y="2341"/>
              <a:ext cx="375" cy="527"/>
              <a:chOff x="793" y="2893"/>
              <a:chExt cx="375" cy="527"/>
            </a:xfrm>
          </p:grpSpPr>
          <p:sp>
            <p:nvSpPr>
              <p:cNvPr id="101409" name="Oval 13"/>
              <p:cNvSpPr/>
              <p:nvPr/>
            </p:nvSpPr>
            <p:spPr>
              <a:xfrm>
                <a:off x="793" y="3010"/>
                <a:ext cx="273" cy="27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01410" name="Group 14"/>
              <p:cNvGrpSpPr/>
              <p:nvPr/>
            </p:nvGrpSpPr>
            <p:grpSpPr>
              <a:xfrm>
                <a:off x="805" y="2893"/>
                <a:ext cx="363" cy="527"/>
                <a:chOff x="805" y="2671"/>
                <a:chExt cx="363" cy="527"/>
              </a:xfrm>
            </p:grpSpPr>
            <p:sp>
              <p:nvSpPr>
                <p:cNvPr id="101411" name="Text Box 15"/>
                <p:cNvSpPr txBox="1"/>
                <p:nvPr/>
              </p:nvSpPr>
              <p:spPr>
                <a:xfrm>
                  <a:off x="805" y="2707"/>
                  <a:ext cx="272" cy="491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zh-CN" altLang="en-US" sz="3200" b="1" dirty="0">
                      <a:latin typeface="Times New Roman" panose="02020603050405020304" pitchFamily="18" charset="0"/>
                      <a:ea typeface="幼圆" panose="02010509060101010101" pitchFamily="49" charset="-122"/>
                      <a:sym typeface="Symbol" panose="05050102010706020507" pitchFamily="18" charset="2"/>
                    </a:rPr>
                    <a:t></a:t>
                  </a:r>
                  <a:r>
                    <a:rPr lang="zh-CN" altLang="en-US" sz="32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 </a:t>
                  </a:r>
                  <a:endParaRPr lang="zh-CN" altLang="en-US" sz="3200" b="1" dirty="0">
                    <a:latin typeface="Times New Roman" panose="02020603050405020304" pitchFamily="18" charset="0"/>
                    <a:ea typeface="幼圆" panose="02010509060101010101" pitchFamily="49" charset="-122"/>
                    <a:sym typeface="Symbol" panose="05050102010706020507" pitchFamily="18" charset="2"/>
                  </a:endParaRPr>
                </a:p>
              </p:txBody>
            </p:sp>
            <p:sp>
              <p:nvSpPr>
                <p:cNvPr id="101412" name="Text Box 16"/>
                <p:cNvSpPr txBox="1"/>
                <p:nvPr/>
              </p:nvSpPr>
              <p:spPr>
                <a:xfrm>
                  <a:off x="805" y="2671"/>
                  <a:ext cx="363" cy="3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/>
                  <a:endParaRPr lang="zh-CN" altLang="en-US" sz="18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101405" name="Oval 17"/>
            <p:cNvSpPr/>
            <p:nvPr/>
          </p:nvSpPr>
          <p:spPr>
            <a:xfrm>
              <a:off x="1477" y="1945"/>
              <a:ext cx="68" cy="6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1406" name="Oval 18"/>
            <p:cNvSpPr/>
            <p:nvPr/>
          </p:nvSpPr>
          <p:spPr>
            <a:xfrm>
              <a:off x="2165" y="1945"/>
              <a:ext cx="68" cy="6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1407" name="Text Box 19"/>
            <p:cNvSpPr txBox="1"/>
            <p:nvPr/>
          </p:nvSpPr>
          <p:spPr>
            <a:xfrm>
              <a:off x="1144" y="1766"/>
              <a:ext cx="363" cy="5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36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H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1408" name="Text Box 20"/>
            <p:cNvSpPr txBox="1"/>
            <p:nvPr/>
          </p:nvSpPr>
          <p:spPr>
            <a:xfrm>
              <a:off x="2233" y="1773"/>
              <a:ext cx="363" cy="5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36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H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21"/>
          <p:cNvGrpSpPr/>
          <p:nvPr/>
        </p:nvGrpSpPr>
        <p:grpSpPr>
          <a:xfrm>
            <a:off x="4211638" y="1762125"/>
            <a:ext cx="4032250" cy="2043113"/>
            <a:chOff x="2789" y="1344"/>
            <a:chExt cx="2540" cy="1715"/>
          </a:xfrm>
        </p:grpSpPr>
        <p:sp>
          <p:nvSpPr>
            <p:cNvPr id="101388" name="Text Box 22"/>
            <p:cNvSpPr txBox="1"/>
            <p:nvPr/>
          </p:nvSpPr>
          <p:spPr>
            <a:xfrm>
              <a:off x="2789" y="1389"/>
              <a:ext cx="771" cy="5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36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HCl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01389" name="Object 23"/>
            <p:cNvGraphicFramePr>
              <a:graphicFrameLocks noChangeAspect="1"/>
            </p:cNvGraphicFramePr>
            <p:nvPr/>
          </p:nvGraphicFramePr>
          <p:xfrm>
            <a:off x="3470" y="1344"/>
            <a:ext cx="1859" cy="1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047875" imgH="1457325" progId="Paint.Picture">
                    <p:embed/>
                  </p:oleObj>
                </mc:Choice>
                <mc:Fallback>
                  <p:oleObj r:id="rId4" imgW="2047875" imgH="1457325" progId="Paint.Picture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470" y="1344"/>
                          <a:ext cx="1859" cy="13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1390" name="Oval 24"/>
            <p:cNvSpPr/>
            <p:nvPr/>
          </p:nvSpPr>
          <p:spPr>
            <a:xfrm>
              <a:off x="3889" y="1979"/>
              <a:ext cx="68" cy="6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1391" name="Oval 25"/>
            <p:cNvSpPr/>
            <p:nvPr/>
          </p:nvSpPr>
          <p:spPr>
            <a:xfrm>
              <a:off x="4626" y="1979"/>
              <a:ext cx="68" cy="6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01392" name="Text Box 26"/>
            <p:cNvSpPr txBox="1"/>
            <p:nvPr/>
          </p:nvSpPr>
          <p:spPr>
            <a:xfrm>
              <a:off x="3560" y="1797"/>
              <a:ext cx="363" cy="5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36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H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1393" name="Text Box 27"/>
            <p:cNvSpPr txBox="1"/>
            <p:nvPr/>
          </p:nvSpPr>
          <p:spPr>
            <a:xfrm>
              <a:off x="4740" y="1773"/>
              <a:ext cx="453" cy="54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36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Cl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1394" name="Line 28"/>
            <p:cNvSpPr/>
            <p:nvPr/>
          </p:nvSpPr>
          <p:spPr>
            <a:xfrm flipV="1">
              <a:off x="4558" y="2024"/>
              <a:ext cx="0" cy="63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</p:sp>
        <p:sp>
          <p:nvSpPr>
            <p:cNvPr id="101395" name="Line 29"/>
            <p:cNvSpPr/>
            <p:nvPr/>
          </p:nvSpPr>
          <p:spPr>
            <a:xfrm flipV="1">
              <a:off x="4377" y="2024"/>
              <a:ext cx="0" cy="63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</p:sp>
        <p:grpSp>
          <p:nvGrpSpPr>
            <p:cNvPr id="101396" name="Group 30"/>
            <p:cNvGrpSpPr/>
            <p:nvPr/>
          </p:nvGrpSpPr>
          <p:grpSpPr>
            <a:xfrm>
              <a:off x="4229" y="2568"/>
              <a:ext cx="239" cy="491"/>
              <a:chOff x="1598" y="3203"/>
              <a:chExt cx="239" cy="491"/>
            </a:xfrm>
          </p:grpSpPr>
          <p:sp>
            <p:nvSpPr>
              <p:cNvPr id="101400" name="Oval 31"/>
              <p:cNvSpPr/>
              <p:nvPr/>
            </p:nvSpPr>
            <p:spPr>
              <a:xfrm>
                <a:off x="1610" y="3294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401" name="Text Box 32"/>
              <p:cNvSpPr txBox="1"/>
              <p:nvPr/>
            </p:nvSpPr>
            <p:spPr>
              <a:xfrm>
                <a:off x="1598" y="3203"/>
                <a:ext cx="227" cy="4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endPara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1397" name="Group 33"/>
            <p:cNvGrpSpPr/>
            <p:nvPr/>
          </p:nvGrpSpPr>
          <p:grpSpPr>
            <a:xfrm>
              <a:off x="4483" y="2432"/>
              <a:ext cx="239" cy="491"/>
              <a:chOff x="3470" y="2986"/>
              <a:chExt cx="239" cy="491"/>
            </a:xfrm>
          </p:grpSpPr>
          <p:sp>
            <p:nvSpPr>
              <p:cNvPr id="101398" name="Oval 34"/>
              <p:cNvSpPr/>
              <p:nvPr/>
            </p:nvSpPr>
            <p:spPr>
              <a:xfrm>
                <a:off x="3482" y="3204"/>
                <a:ext cx="227" cy="227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1399" name="Text Box 35"/>
              <p:cNvSpPr txBox="1"/>
              <p:nvPr/>
            </p:nvSpPr>
            <p:spPr>
              <a:xfrm>
                <a:off x="3470" y="2986"/>
                <a:ext cx="226" cy="4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_</a:t>
                </a:r>
                <a:endPara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72068" name="Text Box 36"/>
          <p:cNvSpPr txBox="1"/>
          <p:nvPr/>
        </p:nvSpPr>
        <p:spPr>
          <a:xfrm>
            <a:off x="538163" y="3582988"/>
            <a:ext cx="8353425" cy="831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不同原子组成的分子，负电荷中心比正电荷中心更偏向电负性大的原子，使正、负电荷中心不重合，为极性分子。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2069" name="Text Box 37"/>
          <p:cNvSpPr txBox="1"/>
          <p:nvPr/>
        </p:nvSpPr>
        <p:spPr>
          <a:xfrm>
            <a:off x="539750" y="1816100"/>
            <a:ext cx="7704138" cy="2181225"/>
          </a:xfrm>
          <a:prstGeom prst="rect">
            <a:avLst/>
          </a:prstGeom>
          <a:gradFill rotWithShape="1">
            <a:gsLst>
              <a:gs pos="0">
                <a:srgbClr val="72162E"/>
              </a:gs>
              <a:gs pos="50000">
                <a:srgbClr val="F72F63"/>
              </a:gs>
              <a:gs pos="100000">
                <a:srgbClr val="72162E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即  双原子分子 </a:t>
            </a:r>
            <a:endParaRPr lang="zh-CN" altLang="en-US" sz="1200" dirty="0">
              <a:latin typeface="Arial" panose="020B0604020202020204" pitchFamily="34" charset="0"/>
              <a:ea typeface="ˎ̥"/>
            </a:endParaRP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分子的极性取决于键的极性 </a:t>
            </a:r>
            <a:endParaRPr lang="zh-CN" altLang="en-US" sz="1200" dirty="0">
              <a:latin typeface="Arial" panose="020B0604020202020204" pitchFamily="34" charset="0"/>
              <a:ea typeface="ˎ̥"/>
            </a:endParaRP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有极性键的分子一定是极性分子 </a:t>
            </a:r>
            <a:endParaRPr lang="zh-CN" altLang="en-US" sz="1200" dirty="0">
              <a:latin typeface="Arial" panose="020B0604020202020204" pitchFamily="34" charset="0"/>
              <a:ea typeface="ˎ̥"/>
            </a:endParaRP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极性分子一定含有极性键。</a:t>
            </a:r>
            <a:r>
              <a:rPr lang="zh-CN" altLang="en-US" sz="24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1387" name="Text Box 38"/>
          <p:cNvSpPr txBox="1"/>
          <p:nvPr/>
        </p:nvSpPr>
        <p:spPr>
          <a:xfrm>
            <a:off x="5219700" y="250825"/>
            <a:ext cx="2879725" cy="534988"/>
          </a:xfrm>
          <a:prstGeom prst="rect">
            <a:avLst/>
          </a:prstGeom>
          <a:gradFill rotWithShape="1">
            <a:gsLst>
              <a:gs pos="0">
                <a:srgbClr val="32256F"/>
              </a:gs>
              <a:gs pos="50000">
                <a:srgbClr val="6B50F0"/>
              </a:gs>
              <a:gs pos="100000">
                <a:srgbClr val="32256F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分子的极性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72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7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500"/>
                                        <p:tgtEl>
                                          <p:spTgt spid="172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40" grpId="0"/>
      <p:bldP spid="172068" grpId="0"/>
      <p:bldP spid="172069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/>
          <p:nvPr/>
        </p:nvSpPr>
        <p:spPr>
          <a:xfrm>
            <a:off x="971550" y="1908175"/>
            <a:ext cx="7772400" cy="571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endParaRPr lang="zh-CN" altLang="en-US" sz="4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03" name="Line 3"/>
          <p:cNvSpPr/>
          <p:nvPr/>
        </p:nvSpPr>
        <p:spPr>
          <a:xfrm flipV="1">
            <a:off x="990600" y="1508125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102404" name="Text Box 4"/>
          <p:cNvSpPr txBox="1"/>
          <p:nvPr/>
        </p:nvSpPr>
        <p:spPr>
          <a:xfrm>
            <a:off x="5580063" y="176213"/>
            <a:ext cx="2879725" cy="387350"/>
          </a:xfrm>
          <a:prstGeom prst="rect">
            <a:avLst/>
          </a:prstGeom>
          <a:gradFill rotWithShape="1">
            <a:gsLst>
              <a:gs pos="0">
                <a:srgbClr val="32256F"/>
              </a:gs>
              <a:gs pos="50000">
                <a:srgbClr val="6B50F0"/>
              </a:gs>
              <a:gs pos="100000">
                <a:srgbClr val="32256F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分子的极性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2405" name="Oval 5"/>
          <p:cNvSpPr/>
          <p:nvPr/>
        </p:nvSpPr>
        <p:spPr>
          <a:xfrm>
            <a:off x="250825" y="411163"/>
            <a:ext cx="215900" cy="163512"/>
          </a:xfrm>
          <a:prstGeom prst="ellipse">
            <a:avLst/>
          </a:prstGeom>
          <a:solidFill>
            <a:srgbClr val="6B50F0"/>
          </a:solid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2406" name="Text Box 6"/>
          <p:cNvSpPr txBox="1"/>
          <p:nvPr/>
        </p:nvSpPr>
        <p:spPr>
          <a:xfrm>
            <a:off x="611188" y="250825"/>
            <a:ext cx="58324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多原子分子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02407" name="Group 7"/>
          <p:cNvGrpSpPr/>
          <p:nvPr/>
        </p:nvGrpSpPr>
        <p:grpSpPr>
          <a:xfrm>
            <a:off x="395288" y="719138"/>
            <a:ext cx="6192837" cy="868362"/>
            <a:chOff x="385" y="663"/>
            <a:chExt cx="3901" cy="729"/>
          </a:xfrm>
        </p:grpSpPr>
        <p:sp>
          <p:nvSpPr>
            <p:cNvPr id="102477" name="Text Box 8"/>
            <p:cNvSpPr txBox="1"/>
            <p:nvPr/>
          </p:nvSpPr>
          <p:spPr>
            <a:xfrm>
              <a:off x="385" y="845"/>
              <a:ext cx="1588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分子的极性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478" name="Text Box 9"/>
            <p:cNvSpPr txBox="1"/>
            <p:nvPr/>
          </p:nvSpPr>
          <p:spPr>
            <a:xfrm>
              <a:off x="2018" y="663"/>
              <a:ext cx="2268" cy="7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键的极性 </a:t>
              </a:r>
              <a:endParaRPr lang="zh-CN" altLang="en-US" sz="12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分子的几何构型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2479" name="AutoShape 10"/>
            <p:cNvSpPr/>
            <p:nvPr/>
          </p:nvSpPr>
          <p:spPr>
            <a:xfrm>
              <a:off x="1927" y="845"/>
              <a:ext cx="137" cy="453"/>
            </a:xfrm>
            <a:prstGeom prst="leftBrace">
              <a:avLst>
                <a:gd name="adj1" fmla="val 27554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73067" name="Text Box 11"/>
          <p:cNvSpPr txBox="1"/>
          <p:nvPr/>
        </p:nvSpPr>
        <p:spPr>
          <a:xfrm>
            <a:off x="250825" y="1604963"/>
            <a:ext cx="22336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例 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H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O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" name="Group 12"/>
          <p:cNvGrpSpPr/>
          <p:nvPr/>
        </p:nvGrpSpPr>
        <p:grpSpPr>
          <a:xfrm>
            <a:off x="2654300" y="1766888"/>
            <a:ext cx="4438650" cy="2160587"/>
            <a:chOff x="1672" y="1026"/>
            <a:chExt cx="2796" cy="1815"/>
          </a:xfrm>
        </p:grpSpPr>
        <p:graphicFrame>
          <p:nvGraphicFramePr>
            <p:cNvPr id="102447" name="Object 13"/>
            <p:cNvGraphicFramePr>
              <a:graphicFrameLocks noChangeAspect="1"/>
            </p:cNvGraphicFramePr>
            <p:nvPr/>
          </p:nvGraphicFramePr>
          <p:xfrm>
            <a:off x="1672" y="1047"/>
            <a:ext cx="2796" cy="14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4438650" imgH="2371725" progId="Paint.Picture">
                    <p:embed/>
                  </p:oleObj>
                </mc:Choice>
                <mc:Fallback>
                  <p:oleObj r:id="rId2" imgW="4438650" imgH="2371725" progId="Paint.Picture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672" y="1047"/>
                          <a:ext cx="2796" cy="149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2448" name="Group 14"/>
            <p:cNvGrpSpPr/>
            <p:nvPr/>
          </p:nvGrpSpPr>
          <p:grpSpPr>
            <a:xfrm>
              <a:off x="1698" y="1026"/>
              <a:ext cx="2736" cy="1815"/>
              <a:chOff x="1698" y="1026"/>
              <a:chExt cx="2736" cy="1815"/>
            </a:xfrm>
          </p:grpSpPr>
          <p:grpSp>
            <p:nvGrpSpPr>
              <p:cNvPr id="102449" name="Group 15"/>
              <p:cNvGrpSpPr/>
              <p:nvPr/>
            </p:nvGrpSpPr>
            <p:grpSpPr>
              <a:xfrm>
                <a:off x="2489" y="1727"/>
                <a:ext cx="1088" cy="182"/>
                <a:chOff x="2489" y="1727"/>
                <a:chExt cx="1088" cy="182"/>
              </a:xfrm>
            </p:grpSpPr>
            <p:sp>
              <p:nvSpPr>
                <p:cNvPr id="102475" name="Line 16"/>
                <p:cNvSpPr/>
                <p:nvPr/>
              </p:nvSpPr>
              <p:spPr>
                <a:xfrm>
                  <a:off x="2716" y="1909"/>
                  <a:ext cx="68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102476" name="Line 17"/>
                <p:cNvSpPr/>
                <p:nvPr/>
              </p:nvSpPr>
              <p:spPr>
                <a:xfrm>
                  <a:off x="2489" y="1727"/>
                  <a:ext cx="1088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02450" name="Oval 18"/>
              <p:cNvSpPr/>
              <p:nvPr/>
            </p:nvSpPr>
            <p:spPr>
              <a:xfrm>
                <a:off x="2955" y="1600"/>
                <a:ext cx="181" cy="182"/>
              </a:xfrm>
              <a:prstGeom prst="ellipse">
                <a:avLst/>
              </a:prstGeom>
              <a:solidFill>
                <a:srgbClr val="6B50F0"/>
              </a:solidFill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2451" name="Text Box 19"/>
              <p:cNvSpPr txBox="1"/>
              <p:nvPr/>
            </p:nvSpPr>
            <p:spPr>
              <a:xfrm>
                <a:off x="2921" y="1500"/>
                <a:ext cx="272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02452" name="Group 20"/>
              <p:cNvGrpSpPr/>
              <p:nvPr/>
            </p:nvGrpSpPr>
            <p:grpSpPr>
              <a:xfrm>
                <a:off x="1698" y="1026"/>
                <a:ext cx="2736" cy="1815"/>
                <a:chOff x="1698" y="1026"/>
                <a:chExt cx="2736" cy="1815"/>
              </a:xfrm>
            </p:grpSpPr>
            <p:grpSp>
              <p:nvGrpSpPr>
                <p:cNvPr id="102453" name="Group 21"/>
                <p:cNvGrpSpPr/>
                <p:nvPr/>
              </p:nvGrpSpPr>
              <p:grpSpPr>
                <a:xfrm>
                  <a:off x="2353" y="2453"/>
                  <a:ext cx="272" cy="388"/>
                  <a:chOff x="533" y="3056"/>
                  <a:chExt cx="272" cy="388"/>
                </a:xfrm>
              </p:grpSpPr>
              <p:sp>
                <p:nvSpPr>
                  <p:cNvPr id="102473" name="Oval 22"/>
                  <p:cNvSpPr/>
                  <p:nvPr/>
                </p:nvSpPr>
                <p:spPr>
                  <a:xfrm>
                    <a:off x="567" y="3158"/>
                    <a:ext cx="181" cy="181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2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2474" name="Text Box 23"/>
                  <p:cNvSpPr txBox="1"/>
                  <p:nvPr/>
                </p:nvSpPr>
                <p:spPr>
                  <a:xfrm>
                    <a:off x="533" y="3056"/>
                    <a:ext cx="272" cy="3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+</a:t>
                    </a:r>
                    <a:endParaRPr lang="en-US" altLang="zh-CN" sz="1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02454" name="Group 24"/>
                <p:cNvGrpSpPr/>
                <p:nvPr/>
              </p:nvGrpSpPr>
              <p:grpSpPr>
                <a:xfrm>
                  <a:off x="2589" y="2317"/>
                  <a:ext cx="272" cy="419"/>
                  <a:chOff x="1111" y="3022"/>
                  <a:chExt cx="272" cy="419"/>
                </a:xfrm>
              </p:grpSpPr>
              <p:sp>
                <p:nvSpPr>
                  <p:cNvPr id="102471" name="Oval 25"/>
                  <p:cNvSpPr/>
                  <p:nvPr/>
                </p:nvSpPr>
                <p:spPr>
                  <a:xfrm>
                    <a:off x="1145" y="3260"/>
                    <a:ext cx="181" cy="181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2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2472" name="Text Box 26"/>
                  <p:cNvSpPr txBox="1"/>
                  <p:nvPr/>
                </p:nvSpPr>
                <p:spPr>
                  <a:xfrm>
                    <a:off x="1111" y="3022"/>
                    <a:ext cx="272" cy="3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_</a:t>
                    </a:r>
                    <a:endParaRPr lang="en-US" altLang="zh-CN" sz="1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02455" name="Line 27"/>
                <p:cNvSpPr/>
                <p:nvPr/>
              </p:nvSpPr>
              <p:spPr>
                <a:xfrm flipV="1">
                  <a:off x="2704" y="1909"/>
                  <a:ext cx="0" cy="635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dash"/>
                  <a:headEnd type="none" w="med" len="med"/>
                  <a:tailEnd type="triangle" w="med" len="med"/>
                </a:ln>
              </p:spPr>
            </p:sp>
            <p:sp>
              <p:nvSpPr>
                <p:cNvPr id="102456" name="Line 28"/>
                <p:cNvSpPr/>
                <p:nvPr/>
              </p:nvSpPr>
              <p:spPr>
                <a:xfrm flipV="1">
                  <a:off x="3372" y="1909"/>
                  <a:ext cx="0" cy="635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dash"/>
                  <a:headEnd type="none" w="med" len="med"/>
                  <a:tailEnd type="triangle" w="med" len="med"/>
                </a:ln>
              </p:spPr>
            </p:sp>
            <p:sp>
              <p:nvSpPr>
                <p:cNvPr id="102457" name="Line 29"/>
                <p:cNvSpPr/>
                <p:nvPr/>
              </p:nvSpPr>
              <p:spPr>
                <a:xfrm flipV="1">
                  <a:off x="2489" y="1739"/>
                  <a:ext cx="0" cy="817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dash"/>
                  <a:headEnd type="none" w="med" len="med"/>
                  <a:tailEnd type="triangle" w="med" len="med"/>
                </a:ln>
              </p:spPr>
            </p:sp>
            <p:sp>
              <p:nvSpPr>
                <p:cNvPr id="102458" name="Line 30"/>
                <p:cNvSpPr/>
                <p:nvPr/>
              </p:nvSpPr>
              <p:spPr>
                <a:xfrm flipV="1">
                  <a:off x="3577" y="1739"/>
                  <a:ext cx="0" cy="817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dash"/>
                  <a:headEnd type="none" w="med" len="med"/>
                  <a:tailEnd type="triangle" w="med" len="med"/>
                </a:ln>
              </p:spPr>
            </p:sp>
            <p:grpSp>
              <p:nvGrpSpPr>
                <p:cNvPr id="102459" name="Group 31"/>
                <p:cNvGrpSpPr/>
                <p:nvPr/>
              </p:nvGrpSpPr>
              <p:grpSpPr>
                <a:xfrm>
                  <a:off x="2919" y="1578"/>
                  <a:ext cx="272" cy="421"/>
                  <a:chOff x="2919" y="1578"/>
                  <a:chExt cx="272" cy="421"/>
                </a:xfrm>
              </p:grpSpPr>
              <p:sp>
                <p:nvSpPr>
                  <p:cNvPr id="102469" name="Oval 32"/>
                  <p:cNvSpPr/>
                  <p:nvPr/>
                </p:nvSpPr>
                <p:spPr>
                  <a:xfrm>
                    <a:off x="2953" y="1817"/>
                    <a:ext cx="181" cy="182"/>
                  </a:xfrm>
                  <a:prstGeom prst="ellipse">
                    <a:avLst/>
                  </a:prstGeom>
                  <a:solidFill>
                    <a:srgbClr val="6B50F0"/>
                  </a:solidFill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2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2470" name="Text Box 33"/>
                  <p:cNvSpPr txBox="1"/>
                  <p:nvPr/>
                </p:nvSpPr>
                <p:spPr>
                  <a:xfrm>
                    <a:off x="2919" y="1578"/>
                    <a:ext cx="272" cy="3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_</a:t>
                    </a:r>
                    <a:endParaRPr lang="en-US" altLang="zh-CN" sz="1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02460" name="Group 34"/>
                <p:cNvGrpSpPr/>
                <p:nvPr/>
              </p:nvGrpSpPr>
              <p:grpSpPr>
                <a:xfrm>
                  <a:off x="3462" y="2439"/>
                  <a:ext cx="272" cy="388"/>
                  <a:chOff x="533" y="3056"/>
                  <a:chExt cx="272" cy="388"/>
                </a:xfrm>
              </p:grpSpPr>
              <p:sp>
                <p:nvSpPr>
                  <p:cNvPr id="102467" name="Oval 35"/>
                  <p:cNvSpPr/>
                  <p:nvPr/>
                </p:nvSpPr>
                <p:spPr>
                  <a:xfrm>
                    <a:off x="567" y="3158"/>
                    <a:ext cx="181" cy="181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2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2468" name="Text Box 36"/>
                  <p:cNvSpPr txBox="1"/>
                  <p:nvPr/>
                </p:nvSpPr>
                <p:spPr>
                  <a:xfrm>
                    <a:off x="533" y="3056"/>
                    <a:ext cx="272" cy="3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+</a:t>
                    </a:r>
                    <a:endParaRPr lang="en-US" altLang="zh-CN" sz="1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02461" name="Group 37"/>
                <p:cNvGrpSpPr/>
                <p:nvPr/>
              </p:nvGrpSpPr>
              <p:grpSpPr>
                <a:xfrm>
                  <a:off x="3249" y="2317"/>
                  <a:ext cx="272" cy="419"/>
                  <a:chOff x="1111" y="3022"/>
                  <a:chExt cx="272" cy="419"/>
                </a:xfrm>
              </p:grpSpPr>
              <p:sp>
                <p:nvSpPr>
                  <p:cNvPr id="102465" name="Oval 38"/>
                  <p:cNvSpPr/>
                  <p:nvPr/>
                </p:nvSpPr>
                <p:spPr>
                  <a:xfrm>
                    <a:off x="1145" y="3260"/>
                    <a:ext cx="181" cy="181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2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2466" name="Text Box 39"/>
                  <p:cNvSpPr txBox="1"/>
                  <p:nvPr/>
                </p:nvSpPr>
                <p:spPr>
                  <a:xfrm>
                    <a:off x="1111" y="3022"/>
                    <a:ext cx="272" cy="3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_</a:t>
                    </a:r>
                    <a:endParaRPr lang="en-US" altLang="zh-CN" sz="1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sp>
              <p:nvSpPr>
                <p:cNvPr id="102462" name="Text Box 40"/>
                <p:cNvSpPr txBox="1"/>
                <p:nvPr/>
              </p:nvSpPr>
              <p:spPr>
                <a:xfrm>
                  <a:off x="1698" y="1026"/>
                  <a:ext cx="362" cy="44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H</a:t>
                  </a:r>
                  <a:endParaRPr lang="en-US" altLang="zh-CN" sz="1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463" name="Text Box 41"/>
                <p:cNvSpPr txBox="1"/>
                <p:nvPr/>
              </p:nvSpPr>
              <p:spPr>
                <a:xfrm>
                  <a:off x="4072" y="1026"/>
                  <a:ext cx="362" cy="44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H</a:t>
                  </a:r>
                  <a:endParaRPr lang="en-US" altLang="zh-CN" sz="1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464" name="Text Box 42"/>
                <p:cNvSpPr txBox="1"/>
                <p:nvPr/>
              </p:nvSpPr>
              <p:spPr>
                <a:xfrm>
                  <a:off x="2880" y="2000"/>
                  <a:ext cx="362" cy="44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O</a:t>
                  </a:r>
                  <a:endParaRPr lang="en-US" altLang="zh-CN" sz="1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</p:grpSp>
      <p:sp>
        <p:nvSpPr>
          <p:cNvPr id="173099" name="Text Box 43"/>
          <p:cNvSpPr txBox="1"/>
          <p:nvPr/>
        </p:nvSpPr>
        <p:spPr>
          <a:xfrm>
            <a:off x="6516688" y="2554288"/>
            <a:ext cx="223202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极性分子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3100" name="Text Box 44"/>
          <p:cNvSpPr txBox="1"/>
          <p:nvPr/>
        </p:nvSpPr>
        <p:spPr>
          <a:xfrm>
            <a:off x="611188" y="3873500"/>
            <a:ext cx="15128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CO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3101" name="Text Box 45"/>
          <p:cNvSpPr txBox="1"/>
          <p:nvPr/>
        </p:nvSpPr>
        <p:spPr>
          <a:xfrm>
            <a:off x="6588125" y="4498975"/>
            <a:ext cx="25923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非极性分子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" name="Group 46"/>
          <p:cNvGrpSpPr/>
          <p:nvPr/>
        </p:nvGrpSpPr>
        <p:grpSpPr>
          <a:xfrm>
            <a:off x="2195513" y="3419475"/>
            <a:ext cx="5116512" cy="1663700"/>
            <a:chOff x="1383" y="2614"/>
            <a:chExt cx="3223" cy="1398"/>
          </a:xfrm>
        </p:grpSpPr>
        <p:graphicFrame>
          <p:nvGraphicFramePr>
            <p:cNvPr id="102414" name="Object 47"/>
            <p:cNvGraphicFramePr>
              <a:graphicFrameLocks noChangeAspect="1"/>
            </p:cNvGraphicFramePr>
            <p:nvPr/>
          </p:nvGraphicFramePr>
          <p:xfrm>
            <a:off x="1383" y="2943"/>
            <a:ext cx="3220" cy="6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3886200" imgH="885825" progId="Paint.Picture">
                    <p:embed/>
                  </p:oleObj>
                </mc:Choice>
                <mc:Fallback>
                  <p:oleObj r:id="rId4" imgW="3886200" imgH="885825" progId="Paint.Picture">
                    <p:embed/>
                    <p:pic>
                      <p:nvPicPr>
                        <p:cNvPr id="0" name="图片 3132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383" y="2943"/>
                          <a:ext cx="3220" cy="68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2415" name="Group 48"/>
            <p:cNvGrpSpPr/>
            <p:nvPr/>
          </p:nvGrpSpPr>
          <p:grpSpPr>
            <a:xfrm>
              <a:off x="3015" y="2989"/>
              <a:ext cx="0" cy="499"/>
              <a:chOff x="3015" y="2989"/>
              <a:chExt cx="0" cy="499"/>
            </a:xfrm>
          </p:grpSpPr>
          <p:sp>
            <p:nvSpPr>
              <p:cNvPr id="102445" name="Line 49"/>
              <p:cNvSpPr/>
              <p:nvPr/>
            </p:nvSpPr>
            <p:spPr>
              <a:xfrm flipV="1">
                <a:off x="3015" y="3261"/>
                <a:ext cx="0" cy="22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triangle" w="med" len="med"/>
              </a:ln>
            </p:spPr>
          </p:sp>
          <p:sp>
            <p:nvSpPr>
              <p:cNvPr id="102446" name="Line 50"/>
              <p:cNvSpPr/>
              <p:nvPr/>
            </p:nvSpPr>
            <p:spPr>
              <a:xfrm>
                <a:off x="3015" y="2989"/>
                <a:ext cx="0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triangle" w="med" len="med"/>
              </a:ln>
            </p:spPr>
          </p:sp>
        </p:grpSp>
        <p:grpSp>
          <p:nvGrpSpPr>
            <p:cNvPr id="102416" name="Group 51"/>
            <p:cNvGrpSpPr/>
            <p:nvPr/>
          </p:nvGrpSpPr>
          <p:grpSpPr>
            <a:xfrm>
              <a:off x="1510" y="2614"/>
              <a:ext cx="3096" cy="1398"/>
              <a:chOff x="1510" y="2614"/>
              <a:chExt cx="3096" cy="1398"/>
            </a:xfrm>
          </p:grpSpPr>
          <p:grpSp>
            <p:nvGrpSpPr>
              <p:cNvPr id="102417" name="Group 52"/>
              <p:cNvGrpSpPr/>
              <p:nvPr/>
            </p:nvGrpSpPr>
            <p:grpSpPr>
              <a:xfrm>
                <a:off x="1837" y="3294"/>
                <a:ext cx="420" cy="718"/>
                <a:chOff x="2336" y="3191"/>
                <a:chExt cx="420" cy="718"/>
              </a:xfrm>
            </p:grpSpPr>
            <p:sp>
              <p:nvSpPr>
                <p:cNvPr id="102437" name="Line 53"/>
                <p:cNvSpPr/>
                <p:nvPr/>
              </p:nvSpPr>
              <p:spPr>
                <a:xfrm flipV="1">
                  <a:off x="2653" y="3191"/>
                  <a:ext cx="0" cy="40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dash"/>
                  <a:headEnd type="none" w="med" len="med"/>
                  <a:tailEnd type="triangle" w="med" len="med"/>
                </a:ln>
              </p:spPr>
            </p:sp>
            <p:sp>
              <p:nvSpPr>
                <p:cNvPr id="102438" name="Line 54"/>
                <p:cNvSpPr/>
                <p:nvPr/>
              </p:nvSpPr>
              <p:spPr>
                <a:xfrm flipV="1">
                  <a:off x="2445" y="3191"/>
                  <a:ext cx="0" cy="409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dash"/>
                  <a:headEnd type="none" w="med" len="med"/>
                  <a:tailEnd type="triangle" w="med" len="med"/>
                </a:ln>
              </p:spPr>
            </p:sp>
            <p:grpSp>
              <p:nvGrpSpPr>
                <p:cNvPr id="102439" name="Group 55"/>
                <p:cNvGrpSpPr/>
                <p:nvPr/>
              </p:nvGrpSpPr>
              <p:grpSpPr>
                <a:xfrm>
                  <a:off x="2530" y="3521"/>
                  <a:ext cx="226" cy="388"/>
                  <a:chOff x="851" y="3645"/>
                  <a:chExt cx="226" cy="388"/>
                </a:xfrm>
              </p:grpSpPr>
              <p:sp>
                <p:nvSpPr>
                  <p:cNvPr id="102443" name="Oval 56"/>
                  <p:cNvSpPr/>
                  <p:nvPr/>
                </p:nvSpPr>
                <p:spPr>
                  <a:xfrm>
                    <a:off x="884" y="3748"/>
                    <a:ext cx="182" cy="181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2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2444" name="Text Box 57"/>
                  <p:cNvSpPr txBox="1"/>
                  <p:nvPr/>
                </p:nvSpPr>
                <p:spPr>
                  <a:xfrm>
                    <a:off x="851" y="3645"/>
                    <a:ext cx="226" cy="3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+</a:t>
                    </a:r>
                    <a:endParaRPr lang="en-US" altLang="zh-CN" sz="1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02440" name="Group 58"/>
                <p:cNvGrpSpPr/>
                <p:nvPr/>
              </p:nvGrpSpPr>
              <p:grpSpPr>
                <a:xfrm>
                  <a:off x="2336" y="3397"/>
                  <a:ext cx="226" cy="411"/>
                  <a:chOff x="2666" y="3530"/>
                  <a:chExt cx="226" cy="411"/>
                </a:xfrm>
              </p:grpSpPr>
              <p:sp>
                <p:nvSpPr>
                  <p:cNvPr id="102441" name="Oval 59"/>
                  <p:cNvSpPr/>
                  <p:nvPr/>
                </p:nvSpPr>
                <p:spPr>
                  <a:xfrm>
                    <a:off x="2699" y="3760"/>
                    <a:ext cx="182" cy="181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2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2442" name="Text Box 60"/>
                  <p:cNvSpPr txBox="1"/>
                  <p:nvPr/>
                </p:nvSpPr>
                <p:spPr>
                  <a:xfrm>
                    <a:off x="2666" y="3530"/>
                    <a:ext cx="226" cy="3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_</a:t>
                    </a:r>
                    <a:endParaRPr lang="en-US" altLang="zh-CN" sz="1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grpSp>
            <p:nvGrpSpPr>
              <p:cNvPr id="102418" name="Group 61"/>
              <p:cNvGrpSpPr/>
              <p:nvPr/>
            </p:nvGrpSpPr>
            <p:grpSpPr>
              <a:xfrm>
                <a:off x="3730" y="3292"/>
                <a:ext cx="420" cy="718"/>
                <a:chOff x="3328" y="3189"/>
                <a:chExt cx="420" cy="718"/>
              </a:xfrm>
            </p:grpSpPr>
            <p:sp>
              <p:nvSpPr>
                <p:cNvPr id="102430" name="Oval 62"/>
                <p:cNvSpPr/>
                <p:nvPr/>
              </p:nvSpPr>
              <p:spPr>
                <a:xfrm flipH="1">
                  <a:off x="3557" y="3625"/>
                  <a:ext cx="182" cy="181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102431" name="Group 63"/>
                <p:cNvGrpSpPr/>
                <p:nvPr/>
              </p:nvGrpSpPr>
              <p:grpSpPr>
                <a:xfrm>
                  <a:off x="3328" y="3189"/>
                  <a:ext cx="420" cy="718"/>
                  <a:chOff x="3328" y="3189"/>
                  <a:chExt cx="420" cy="718"/>
                </a:xfrm>
              </p:grpSpPr>
              <p:sp>
                <p:nvSpPr>
                  <p:cNvPr id="102432" name="Line 64"/>
                  <p:cNvSpPr/>
                  <p:nvPr/>
                </p:nvSpPr>
                <p:spPr>
                  <a:xfrm flipH="1" flipV="1">
                    <a:off x="3455" y="3189"/>
                    <a:ext cx="0" cy="409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dash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102433" name="Line 65"/>
                  <p:cNvSpPr/>
                  <p:nvPr/>
                </p:nvSpPr>
                <p:spPr>
                  <a:xfrm flipH="1" flipV="1">
                    <a:off x="3663" y="3189"/>
                    <a:ext cx="0" cy="409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dash"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102434" name="Oval 66"/>
                  <p:cNvSpPr/>
                  <p:nvPr/>
                </p:nvSpPr>
                <p:spPr>
                  <a:xfrm flipH="1">
                    <a:off x="3363" y="3622"/>
                    <a:ext cx="182" cy="181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sz="20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2435" name="Text Box 67"/>
                  <p:cNvSpPr txBox="1"/>
                  <p:nvPr/>
                </p:nvSpPr>
                <p:spPr>
                  <a:xfrm flipH="1">
                    <a:off x="3328" y="3519"/>
                    <a:ext cx="226" cy="3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+</a:t>
                    </a:r>
                    <a:endParaRPr lang="en-US" altLang="zh-CN" sz="1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02436" name="Text Box 68"/>
                  <p:cNvSpPr txBox="1"/>
                  <p:nvPr/>
                </p:nvSpPr>
                <p:spPr>
                  <a:xfrm flipH="1">
                    <a:off x="3522" y="3395"/>
                    <a:ext cx="226" cy="388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_</a:t>
                    </a:r>
                    <a:endParaRPr lang="en-US" altLang="zh-CN" sz="1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sp>
            <p:nvSpPr>
              <p:cNvPr id="102419" name="Line 69"/>
              <p:cNvSpPr/>
              <p:nvPr/>
            </p:nvSpPr>
            <p:spPr>
              <a:xfrm>
                <a:off x="2653" y="3294"/>
                <a:ext cx="77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grpSp>
            <p:nvGrpSpPr>
              <p:cNvPr id="102420" name="Group 70"/>
              <p:cNvGrpSpPr/>
              <p:nvPr/>
            </p:nvGrpSpPr>
            <p:grpSpPr>
              <a:xfrm>
                <a:off x="2889" y="3430"/>
                <a:ext cx="317" cy="388"/>
                <a:chOff x="669" y="3679"/>
                <a:chExt cx="317" cy="388"/>
              </a:xfrm>
            </p:grpSpPr>
            <p:sp>
              <p:nvSpPr>
                <p:cNvPr id="102428" name="Oval 71"/>
                <p:cNvSpPr/>
                <p:nvPr/>
              </p:nvSpPr>
              <p:spPr>
                <a:xfrm>
                  <a:off x="703" y="3793"/>
                  <a:ext cx="181" cy="181"/>
                </a:xfrm>
                <a:prstGeom prst="ellipse">
                  <a:avLst/>
                </a:prstGeom>
                <a:solidFill>
                  <a:srgbClr val="3333FF"/>
                </a:soli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2429" name="Text Box 72"/>
                <p:cNvSpPr txBox="1"/>
                <p:nvPr/>
              </p:nvSpPr>
              <p:spPr>
                <a:xfrm>
                  <a:off x="669" y="3679"/>
                  <a:ext cx="317" cy="3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+</a:t>
                  </a:r>
                  <a:endParaRPr lang="en-US" altLang="zh-CN" sz="1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2421" name="Group 73"/>
              <p:cNvGrpSpPr/>
              <p:nvPr/>
            </p:nvGrpSpPr>
            <p:grpSpPr>
              <a:xfrm>
                <a:off x="2901" y="2614"/>
                <a:ext cx="317" cy="419"/>
                <a:chOff x="1474" y="3339"/>
                <a:chExt cx="317" cy="419"/>
              </a:xfrm>
            </p:grpSpPr>
            <p:sp>
              <p:nvSpPr>
                <p:cNvPr id="102426" name="Oval 74"/>
                <p:cNvSpPr/>
                <p:nvPr/>
              </p:nvSpPr>
              <p:spPr>
                <a:xfrm>
                  <a:off x="1508" y="3577"/>
                  <a:ext cx="181" cy="181"/>
                </a:xfrm>
                <a:prstGeom prst="ellipse">
                  <a:avLst/>
                </a:prstGeom>
                <a:solidFill>
                  <a:srgbClr val="3333FF"/>
                </a:soli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02427" name="Text Box 75"/>
                <p:cNvSpPr txBox="1"/>
                <p:nvPr/>
              </p:nvSpPr>
              <p:spPr>
                <a:xfrm>
                  <a:off x="1474" y="3339"/>
                  <a:ext cx="317" cy="3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_</a:t>
                  </a:r>
                  <a:endParaRPr lang="en-US" altLang="zh-CN" sz="1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2422" name="Group 76"/>
              <p:cNvGrpSpPr/>
              <p:nvPr/>
            </p:nvGrpSpPr>
            <p:grpSpPr>
              <a:xfrm>
                <a:off x="1510" y="3055"/>
                <a:ext cx="3096" cy="592"/>
                <a:chOff x="1510" y="3055"/>
                <a:chExt cx="3096" cy="592"/>
              </a:xfrm>
            </p:grpSpPr>
            <p:sp>
              <p:nvSpPr>
                <p:cNvPr id="102423" name="Text Box 77"/>
                <p:cNvSpPr txBox="1"/>
                <p:nvPr/>
              </p:nvSpPr>
              <p:spPr>
                <a:xfrm>
                  <a:off x="1510" y="3055"/>
                  <a:ext cx="408" cy="43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O</a:t>
                  </a:r>
                  <a:endParaRPr lang="en-US" altLang="zh-CN" sz="1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424" name="Text Box 78"/>
                <p:cNvSpPr txBox="1"/>
                <p:nvPr/>
              </p:nvSpPr>
              <p:spPr>
                <a:xfrm>
                  <a:off x="4198" y="3055"/>
                  <a:ext cx="408" cy="43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O</a:t>
                  </a:r>
                  <a:endParaRPr lang="en-US" altLang="zh-CN" sz="1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02425" name="Text Box 79"/>
                <p:cNvSpPr txBox="1"/>
                <p:nvPr/>
              </p:nvSpPr>
              <p:spPr>
                <a:xfrm>
                  <a:off x="2992" y="3208"/>
                  <a:ext cx="408" cy="439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C</a:t>
                  </a:r>
                  <a:endParaRPr lang="en-US" altLang="zh-CN" sz="1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</p:grp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7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" dur="500"/>
                                        <p:tgtEl>
                                          <p:spTgt spid="173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173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17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67" grpId="0"/>
      <p:bldP spid="173099" grpId="0"/>
      <p:bldP spid="173100" grpId="0"/>
      <p:bldP spid="173101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/>
          <p:nvPr/>
        </p:nvSpPr>
        <p:spPr>
          <a:xfrm>
            <a:off x="1008063" y="1908175"/>
            <a:ext cx="7772400" cy="571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endParaRPr lang="zh-CN" altLang="en-US" sz="4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27" name="Line 3"/>
          <p:cNvSpPr/>
          <p:nvPr/>
        </p:nvSpPr>
        <p:spPr>
          <a:xfrm flipV="1">
            <a:off x="1027113" y="1508125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103428" name="Text Box 4"/>
          <p:cNvSpPr txBox="1"/>
          <p:nvPr/>
        </p:nvSpPr>
        <p:spPr>
          <a:xfrm>
            <a:off x="6121400" y="250825"/>
            <a:ext cx="2879725" cy="534988"/>
          </a:xfrm>
          <a:prstGeom prst="rect">
            <a:avLst/>
          </a:prstGeom>
          <a:gradFill rotWithShape="1">
            <a:gsLst>
              <a:gs pos="0">
                <a:srgbClr val="32256F"/>
              </a:gs>
              <a:gs pos="50000">
                <a:srgbClr val="6B50F0"/>
              </a:gs>
              <a:gs pos="100000">
                <a:srgbClr val="32256F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分子的极性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29" name="Text Box 5"/>
          <p:cNvSpPr txBox="1"/>
          <p:nvPr/>
        </p:nvSpPr>
        <p:spPr>
          <a:xfrm>
            <a:off x="144463" y="339725"/>
            <a:ext cx="8820150" cy="10398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键的极性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zh-CN" altLang="en-US" sz="14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取决于成键两原子共用电子对的偏离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086" name="Text Box 6"/>
          <p:cNvSpPr txBox="1"/>
          <p:nvPr/>
        </p:nvSpPr>
        <p:spPr>
          <a:xfrm>
            <a:off x="144463" y="1323975"/>
            <a:ext cx="8748712" cy="1041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分子的极性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zh-CN" altLang="en-US" sz="14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取决于分子中正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、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负电荷中心是否重合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74087" name="Group 7"/>
          <p:cNvGraphicFramePr>
            <a:graphicFrameLocks noGrp="1"/>
          </p:cNvGraphicFramePr>
          <p:nvPr/>
        </p:nvGraphicFramePr>
        <p:xfrm>
          <a:off x="215900" y="3398838"/>
          <a:ext cx="8785225" cy="1510189"/>
        </p:xfrm>
        <a:graphic>
          <a:graphicData uri="http://schemas.openxmlformats.org/drawingml/2006/table">
            <a:tbl>
              <a:tblPr/>
              <a:tblGrid>
                <a:gridCol w="1655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5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57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69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009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分子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Br</a:t>
                      </a:r>
                      <a:r>
                        <a:rPr kumimoji="0" lang="en-US" altLang="zh-CN" sz="21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NO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H</a:t>
                      </a:r>
                      <a:r>
                        <a:rPr kumimoji="0" lang="en-US" altLang="zh-CN" sz="21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S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CS</a:t>
                      </a:r>
                      <a:r>
                        <a:rPr kumimoji="0" lang="en-US" altLang="zh-CN" sz="21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BF</a:t>
                      </a:r>
                      <a:r>
                        <a:rPr kumimoji="0" lang="en-US" altLang="zh-CN" sz="21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CHCl</a:t>
                      </a:r>
                      <a:r>
                        <a:rPr kumimoji="0" lang="en-US" altLang="zh-CN" sz="21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</a:t>
                      </a: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51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键的极性 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非极性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极性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极性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极性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极性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极性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9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几何构型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直线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直线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V</a:t>
                      </a: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形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直线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正三角形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四面体</a:t>
                      </a:r>
                      <a:endParaRPr kumimoji="0" lang="zh-CN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4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分子极性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非极性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极性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极性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非极性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非极性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极性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4129" name="Text Box 49"/>
          <p:cNvSpPr txBox="1"/>
          <p:nvPr/>
        </p:nvSpPr>
        <p:spPr>
          <a:xfrm>
            <a:off x="144463" y="2338388"/>
            <a:ext cx="2160587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分子类型</a:t>
            </a:r>
            <a:endParaRPr lang="zh-CN" altLang="en-US" sz="1400" dirty="0">
              <a:solidFill>
                <a:srgbClr val="0066F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3474" name="Text Box 50"/>
          <p:cNvSpPr txBox="1"/>
          <p:nvPr/>
        </p:nvSpPr>
        <p:spPr>
          <a:xfrm>
            <a:off x="720725" y="2825750"/>
            <a:ext cx="57467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51"/>
          <p:cNvGrpSpPr/>
          <p:nvPr/>
        </p:nvGrpSpPr>
        <p:grpSpPr>
          <a:xfrm>
            <a:off x="3095625" y="2241550"/>
            <a:ext cx="5976938" cy="1209675"/>
            <a:chOff x="1927" y="1625"/>
            <a:chExt cx="3765" cy="1016"/>
          </a:xfrm>
        </p:grpSpPr>
        <p:graphicFrame>
          <p:nvGraphicFramePr>
            <p:cNvPr id="103476" name="Object 52"/>
            <p:cNvGraphicFramePr>
              <a:graphicFrameLocks noChangeAspect="1"/>
            </p:cNvGraphicFramePr>
            <p:nvPr/>
          </p:nvGraphicFramePr>
          <p:xfrm>
            <a:off x="1927" y="1661"/>
            <a:ext cx="3363" cy="6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4257675" imgH="838200" progId="Paint.Picture">
                    <p:embed/>
                  </p:oleObj>
                </mc:Choice>
                <mc:Fallback>
                  <p:oleObj r:id="rId2" imgW="4257675" imgH="838200" progId="Paint.Picture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927" y="1661"/>
                          <a:ext cx="3363" cy="66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477" name="Text Box 53"/>
            <p:cNvSpPr txBox="1"/>
            <p:nvPr/>
          </p:nvSpPr>
          <p:spPr>
            <a:xfrm>
              <a:off x="1927" y="2253"/>
              <a:ext cx="3765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离子型　      极性　    非极性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478" name="Text Box 54"/>
            <p:cNvSpPr txBox="1"/>
            <p:nvPr/>
          </p:nvSpPr>
          <p:spPr>
            <a:xfrm>
              <a:off x="1973" y="1776"/>
              <a:ext cx="272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479" name="Text Box 55"/>
            <p:cNvSpPr txBox="1"/>
            <p:nvPr/>
          </p:nvSpPr>
          <p:spPr>
            <a:xfrm>
              <a:off x="3279" y="1773"/>
              <a:ext cx="272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480" name="Text Box 56"/>
            <p:cNvSpPr txBox="1"/>
            <p:nvPr/>
          </p:nvSpPr>
          <p:spPr>
            <a:xfrm>
              <a:off x="2460" y="1628"/>
              <a:ext cx="272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3481" name="Text Box 57"/>
            <p:cNvSpPr txBox="1"/>
            <p:nvPr/>
          </p:nvSpPr>
          <p:spPr>
            <a:xfrm>
              <a:off x="3766" y="1625"/>
              <a:ext cx="272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03482" name="Group 58"/>
            <p:cNvGrpSpPr/>
            <p:nvPr/>
          </p:nvGrpSpPr>
          <p:grpSpPr>
            <a:xfrm>
              <a:off x="4694" y="1704"/>
              <a:ext cx="284" cy="473"/>
              <a:chOff x="1099" y="2069"/>
              <a:chExt cx="284" cy="473"/>
            </a:xfrm>
          </p:grpSpPr>
          <p:sp>
            <p:nvSpPr>
              <p:cNvPr id="103483" name="Text Box 59"/>
              <p:cNvSpPr txBox="1"/>
              <p:nvPr/>
            </p:nvSpPr>
            <p:spPr>
              <a:xfrm>
                <a:off x="1111" y="2069"/>
                <a:ext cx="272" cy="4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_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484" name="Text Box 60"/>
              <p:cNvSpPr txBox="1"/>
              <p:nvPr/>
            </p:nvSpPr>
            <p:spPr>
              <a:xfrm>
                <a:off x="1099" y="2103"/>
                <a:ext cx="226" cy="4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174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74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086" grpId="0"/>
      <p:bldP spid="174129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Line 2"/>
          <p:cNvSpPr/>
          <p:nvPr/>
        </p:nvSpPr>
        <p:spPr>
          <a:xfrm flipV="1">
            <a:off x="990600" y="1470025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104451" name="Text Box 3"/>
          <p:cNvSpPr txBox="1"/>
          <p:nvPr/>
        </p:nvSpPr>
        <p:spPr>
          <a:xfrm>
            <a:off x="5749925" y="250825"/>
            <a:ext cx="2879725" cy="436563"/>
          </a:xfrm>
          <a:prstGeom prst="rect">
            <a:avLst/>
          </a:prstGeom>
          <a:gradFill rotWithShape="1">
            <a:gsLst>
              <a:gs pos="0">
                <a:srgbClr val="32256F"/>
              </a:gs>
              <a:gs pos="50000">
                <a:srgbClr val="6B50F0"/>
              </a:gs>
              <a:gs pos="100000">
                <a:srgbClr val="32256F"/>
              </a:gs>
            </a:gsLst>
            <a:lin ang="5400000" scaled="1"/>
            <a:tileRect/>
          </a:gradFill>
          <a:ln w="9525">
            <a:noFill/>
          </a:ln>
          <a:effectLst>
            <a:outerShdw sy="50000" kx="-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分子的极性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04452" name="Group 4"/>
          <p:cNvGrpSpPr/>
          <p:nvPr/>
        </p:nvGrpSpPr>
        <p:grpSpPr>
          <a:xfrm>
            <a:off x="250825" y="250825"/>
            <a:ext cx="6049963" cy="522288"/>
            <a:chOff x="158" y="460"/>
            <a:chExt cx="3811" cy="439"/>
          </a:xfrm>
        </p:grpSpPr>
        <p:sp>
          <p:nvSpPr>
            <p:cNvPr id="104502" name="Oval 5"/>
            <p:cNvSpPr/>
            <p:nvPr/>
          </p:nvSpPr>
          <p:spPr>
            <a:xfrm>
              <a:off x="158" y="618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04503" name="Text Box 6"/>
            <p:cNvSpPr txBox="1"/>
            <p:nvPr/>
          </p:nvSpPr>
          <p:spPr>
            <a:xfrm>
              <a:off x="295" y="460"/>
              <a:ext cx="3674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偶极距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</a:t>
              </a:r>
              <a:r>
                <a:rPr lang="el-GR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μ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) 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4453" name="Text Box 7"/>
          <p:cNvSpPr txBox="1"/>
          <p:nvPr/>
        </p:nvSpPr>
        <p:spPr>
          <a:xfrm>
            <a:off x="250825" y="844550"/>
            <a:ext cx="8532813" cy="954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分子中电荷中心的电荷量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q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与正、负电荷中心距离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d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的乘积</a:t>
            </a:r>
            <a:r>
              <a:rPr lang="zh-CN" altLang="en-US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4454" name="Text Box 8"/>
          <p:cNvSpPr txBox="1"/>
          <p:nvPr/>
        </p:nvSpPr>
        <p:spPr>
          <a:xfrm>
            <a:off x="1331913" y="1762125"/>
            <a:ext cx="21605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lang="el-GR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μ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q 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· </a:t>
            </a:r>
            <a:r>
              <a:rPr lang="en-US" altLang="zh-CN" sz="24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d</a:t>
            </a:r>
            <a:endParaRPr lang="en-US" altLang="zh-CN" sz="1200" dirty="0"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04455" name="Text Box 9"/>
          <p:cNvSpPr txBox="1"/>
          <p:nvPr/>
        </p:nvSpPr>
        <p:spPr>
          <a:xfrm>
            <a:off x="179388" y="2247900"/>
            <a:ext cx="619283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lang="en-US" altLang="zh-CN" sz="24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d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—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偶极长度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; </a:t>
            </a:r>
            <a:r>
              <a:rPr lang="el-GR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μ</a:t>
            </a:r>
            <a:r>
              <a:rPr lang="en-US" altLang="zh-CN" sz="2400" b="1" dirty="0">
                <a:latin typeface="Times New Roman" panose="02020603050405020304" pitchFamily="18" charset="0"/>
                <a:ea typeface="ˎ̥"/>
              </a:rPr>
              <a:t>—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库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·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米</a:t>
            </a:r>
            <a:r>
              <a:rPr lang="en-US" altLang="zh-CN" sz="2400" b="1" dirty="0">
                <a:latin typeface="Times New Roman" panose="02020603050405020304" pitchFamily="18" charset="0"/>
                <a:ea typeface="ˎ̥"/>
              </a:rPr>
              <a:t>(C·m)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04456" name="Group 10"/>
          <p:cNvGrpSpPr/>
          <p:nvPr/>
        </p:nvGrpSpPr>
        <p:grpSpPr>
          <a:xfrm>
            <a:off x="6169025" y="1438275"/>
            <a:ext cx="2724150" cy="1512888"/>
            <a:chOff x="3061" y="1706"/>
            <a:chExt cx="1716" cy="1270"/>
          </a:xfrm>
        </p:grpSpPr>
        <p:graphicFrame>
          <p:nvGraphicFramePr>
            <p:cNvPr id="104484" name="Object 11"/>
            <p:cNvGraphicFramePr>
              <a:graphicFrameLocks noChangeAspect="1"/>
            </p:cNvGraphicFramePr>
            <p:nvPr/>
          </p:nvGraphicFramePr>
          <p:xfrm>
            <a:off x="3061" y="1706"/>
            <a:ext cx="1716" cy="9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1704975" imgH="781050" progId="Paint.Picture">
                    <p:embed/>
                  </p:oleObj>
                </mc:Choice>
                <mc:Fallback>
                  <p:oleObj r:id="rId2" imgW="1704975" imgH="781050" progId="Paint.Picture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3061" y="1706"/>
                          <a:ext cx="1716" cy="9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485" name="Oval 12"/>
            <p:cNvSpPr/>
            <p:nvPr/>
          </p:nvSpPr>
          <p:spPr>
            <a:xfrm>
              <a:off x="3379" y="2171"/>
              <a:ext cx="68" cy="6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104486" name="Oval 13"/>
            <p:cNvSpPr/>
            <p:nvPr/>
          </p:nvSpPr>
          <p:spPr>
            <a:xfrm>
              <a:off x="4410" y="2171"/>
              <a:ext cx="68" cy="68"/>
            </a:xfrm>
            <a:prstGeom prst="ellipse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04487" name="Group 14"/>
            <p:cNvGrpSpPr/>
            <p:nvPr/>
          </p:nvGrpSpPr>
          <p:grpSpPr>
            <a:xfrm>
              <a:off x="3412" y="2205"/>
              <a:ext cx="0" cy="680"/>
              <a:chOff x="3412" y="2115"/>
              <a:chExt cx="0" cy="680"/>
            </a:xfrm>
          </p:grpSpPr>
          <p:sp>
            <p:nvSpPr>
              <p:cNvPr id="104500" name="Line 15"/>
              <p:cNvSpPr/>
              <p:nvPr/>
            </p:nvSpPr>
            <p:spPr>
              <a:xfrm>
                <a:off x="3412" y="2115"/>
                <a:ext cx="0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04501" name="Line 16"/>
              <p:cNvSpPr/>
              <p:nvPr/>
            </p:nvSpPr>
            <p:spPr>
              <a:xfrm>
                <a:off x="3412" y="2432"/>
                <a:ext cx="0" cy="3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04488" name="Group 17"/>
            <p:cNvGrpSpPr/>
            <p:nvPr/>
          </p:nvGrpSpPr>
          <p:grpSpPr>
            <a:xfrm>
              <a:off x="4446" y="2226"/>
              <a:ext cx="0" cy="680"/>
              <a:chOff x="3412" y="2115"/>
              <a:chExt cx="0" cy="680"/>
            </a:xfrm>
          </p:grpSpPr>
          <p:sp>
            <p:nvSpPr>
              <p:cNvPr id="104498" name="Line 18"/>
              <p:cNvSpPr/>
              <p:nvPr/>
            </p:nvSpPr>
            <p:spPr>
              <a:xfrm>
                <a:off x="3412" y="2115"/>
                <a:ext cx="0" cy="31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04499" name="Line 19"/>
              <p:cNvSpPr/>
              <p:nvPr/>
            </p:nvSpPr>
            <p:spPr>
              <a:xfrm>
                <a:off x="3412" y="2432"/>
                <a:ext cx="0" cy="363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4489" name="Line 20"/>
            <p:cNvSpPr/>
            <p:nvPr/>
          </p:nvSpPr>
          <p:spPr>
            <a:xfrm>
              <a:off x="3424" y="2794"/>
              <a:ext cx="99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graphicFrame>
          <p:nvGraphicFramePr>
            <p:cNvPr id="104490" name="Object 21"/>
            <p:cNvGraphicFramePr>
              <a:graphicFrameLocks noChangeAspect="1"/>
            </p:cNvGraphicFramePr>
            <p:nvPr/>
          </p:nvGraphicFramePr>
          <p:xfrm>
            <a:off x="3787" y="2658"/>
            <a:ext cx="300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476250" imgH="314325" progId="Paint.Picture">
                    <p:embed/>
                  </p:oleObj>
                </mc:Choice>
                <mc:Fallback>
                  <p:oleObj r:id="rId4" imgW="476250" imgH="314325" progId="Paint.Picture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787" y="2658"/>
                          <a:ext cx="300" cy="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491" name="Text Box 22"/>
            <p:cNvSpPr txBox="1"/>
            <p:nvPr/>
          </p:nvSpPr>
          <p:spPr>
            <a:xfrm>
              <a:off x="3787" y="2568"/>
              <a:ext cx="294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d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04492" name="Group 23"/>
            <p:cNvGrpSpPr/>
            <p:nvPr/>
          </p:nvGrpSpPr>
          <p:grpSpPr>
            <a:xfrm>
              <a:off x="3188" y="1794"/>
              <a:ext cx="545" cy="446"/>
              <a:chOff x="521" y="2828"/>
              <a:chExt cx="545" cy="446"/>
            </a:xfrm>
          </p:grpSpPr>
          <p:sp>
            <p:nvSpPr>
              <p:cNvPr id="104496" name="Text Box 24"/>
              <p:cNvSpPr txBox="1"/>
              <p:nvPr/>
            </p:nvSpPr>
            <p:spPr>
              <a:xfrm>
                <a:off x="521" y="2886"/>
                <a:ext cx="363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endParaRPr lang="en-US" altLang="zh-CN" sz="12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497" name="Text Box 25"/>
              <p:cNvSpPr txBox="1"/>
              <p:nvPr/>
            </p:nvSpPr>
            <p:spPr>
              <a:xfrm>
                <a:off x="703" y="2828"/>
                <a:ext cx="363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i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q</a:t>
                </a:r>
                <a:endParaRPr lang="en-US" altLang="zh-CN" sz="12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04493" name="Group 26"/>
            <p:cNvGrpSpPr/>
            <p:nvPr/>
          </p:nvGrpSpPr>
          <p:grpSpPr>
            <a:xfrm>
              <a:off x="4231" y="1748"/>
              <a:ext cx="533" cy="474"/>
              <a:chOff x="1441" y="2392"/>
              <a:chExt cx="533" cy="474"/>
            </a:xfrm>
          </p:grpSpPr>
          <p:sp>
            <p:nvSpPr>
              <p:cNvPr id="104494" name="Text Box 27"/>
              <p:cNvSpPr txBox="1"/>
              <p:nvPr/>
            </p:nvSpPr>
            <p:spPr>
              <a:xfrm>
                <a:off x="1441" y="2392"/>
                <a:ext cx="363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_</a:t>
                </a:r>
                <a:endParaRPr lang="en-US" altLang="zh-CN" sz="12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495" name="Text Box 28"/>
              <p:cNvSpPr txBox="1"/>
              <p:nvPr/>
            </p:nvSpPr>
            <p:spPr>
              <a:xfrm>
                <a:off x="1611" y="2478"/>
                <a:ext cx="363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i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q</a:t>
                </a:r>
                <a:endParaRPr lang="en-US" altLang="zh-CN" sz="12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75133" name="Text Box 29"/>
          <p:cNvSpPr txBox="1"/>
          <p:nvPr/>
        </p:nvSpPr>
        <p:spPr>
          <a:xfrm>
            <a:off x="250825" y="2733675"/>
            <a:ext cx="8893175" cy="866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lang="el-GR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μ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=0 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非极性分子 </a:t>
            </a:r>
            <a:endParaRPr lang="zh-CN" altLang="en-US" sz="1200" dirty="0">
              <a:latin typeface="Arial" panose="020B0604020202020204" pitchFamily="34" charset="0"/>
              <a:ea typeface="幼圆" panose="02010509060101010101" pitchFamily="49" charset="-12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el-GR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μ</a:t>
            </a:r>
            <a:r>
              <a:rPr lang="el-GR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≠</a:t>
            </a:r>
            <a:r>
              <a:rPr lang="zh-CN" altLang="el-GR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０ 极性分子</a:t>
            </a:r>
            <a:r>
              <a:rPr lang="el-GR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,μ</a:t>
            </a:r>
            <a:r>
              <a:rPr lang="zh-CN" altLang="el-GR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越大</a:t>
            </a:r>
            <a:r>
              <a:rPr lang="el-GR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, </a:t>
            </a:r>
            <a:r>
              <a:rPr lang="zh-CN" altLang="el-GR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分子极性越强</a:t>
            </a:r>
            <a:r>
              <a:rPr lang="zh-CN" altLang="el-GR" sz="1400" b="1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endParaRPr lang="zh-CN" altLang="el-GR" sz="1200" dirty="0"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grpSp>
        <p:nvGrpSpPr>
          <p:cNvPr id="8" name="Group 30"/>
          <p:cNvGrpSpPr/>
          <p:nvPr/>
        </p:nvGrpSpPr>
        <p:grpSpPr>
          <a:xfrm>
            <a:off x="250825" y="3760788"/>
            <a:ext cx="8642350" cy="1241425"/>
            <a:chOff x="158" y="2931"/>
            <a:chExt cx="5444" cy="1043"/>
          </a:xfrm>
        </p:grpSpPr>
        <p:grpSp>
          <p:nvGrpSpPr>
            <p:cNvPr id="104460" name="Group 31"/>
            <p:cNvGrpSpPr/>
            <p:nvPr/>
          </p:nvGrpSpPr>
          <p:grpSpPr>
            <a:xfrm>
              <a:off x="158" y="2931"/>
              <a:ext cx="5444" cy="1043"/>
              <a:chOff x="158" y="2931"/>
              <a:chExt cx="5444" cy="1043"/>
            </a:xfrm>
          </p:grpSpPr>
          <p:sp>
            <p:nvSpPr>
              <p:cNvPr id="104462" name="Rectangle 32"/>
              <p:cNvSpPr/>
              <p:nvPr/>
            </p:nvSpPr>
            <p:spPr>
              <a:xfrm>
                <a:off x="1610" y="3612"/>
                <a:ext cx="3992" cy="36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ctr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依次减弱</a:t>
                </a:r>
                <a:endParaRPr lang="zh-CN" altLang="en-US" sz="20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463" name="Rectangle 33"/>
              <p:cNvSpPr/>
              <p:nvPr/>
            </p:nvSpPr>
            <p:spPr>
              <a:xfrm>
                <a:off x="158" y="3612"/>
                <a:ext cx="1452" cy="36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ctr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分子极性</a:t>
                </a:r>
                <a:endParaRPr lang="zh-CN" altLang="en-US" sz="20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464" name="Rectangle 34"/>
              <p:cNvSpPr/>
              <p:nvPr/>
            </p:nvSpPr>
            <p:spPr>
              <a:xfrm>
                <a:off x="4604" y="3295"/>
                <a:ext cx="998" cy="31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ctr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1.27</a:t>
                </a:r>
                <a:endPara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465" name="Rectangle 35"/>
              <p:cNvSpPr/>
              <p:nvPr/>
            </p:nvSpPr>
            <p:spPr>
              <a:xfrm>
                <a:off x="3560" y="3295"/>
                <a:ext cx="1044" cy="31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ctr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2.63</a:t>
                </a:r>
                <a:endPara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466" name="Rectangle 36"/>
              <p:cNvSpPr/>
              <p:nvPr/>
            </p:nvSpPr>
            <p:spPr>
              <a:xfrm>
                <a:off x="2562" y="3295"/>
                <a:ext cx="998" cy="31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ctr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3.61</a:t>
                </a:r>
                <a:endPara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467" name="Rectangle 37"/>
              <p:cNvSpPr/>
              <p:nvPr/>
            </p:nvSpPr>
            <p:spPr>
              <a:xfrm>
                <a:off x="1610" y="3295"/>
                <a:ext cx="952" cy="31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ctr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6.40</a:t>
                </a:r>
                <a:endPara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468" name="Rectangle 38"/>
              <p:cNvSpPr/>
              <p:nvPr/>
            </p:nvSpPr>
            <p:spPr>
              <a:xfrm>
                <a:off x="158" y="3295"/>
                <a:ext cx="1452" cy="31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/>
              <a:lstStyle/>
              <a:p>
                <a:pPr algn="ctr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l-GR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μ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/(10</a:t>
                </a:r>
                <a:r>
                  <a:rPr lang="en-US" altLang="zh-CN" sz="2400" b="1" baseline="30000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-30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C·m)</a:t>
                </a:r>
                <a:r>
                  <a:rPr lang="el-GR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 </a:t>
                </a:r>
                <a:endParaRPr lang="el-GR" altLang="zh-CN" sz="2000" dirty="0">
                  <a:latin typeface="Arial" panose="020B0604020202020204" pitchFamily="34" charset="0"/>
                  <a:ea typeface="幼圆" panose="02010509060101010101" pitchFamily="49" charset="-122"/>
                </a:endParaRPr>
              </a:p>
            </p:txBody>
          </p:sp>
          <p:sp>
            <p:nvSpPr>
              <p:cNvPr id="104469" name="Rectangle 39"/>
              <p:cNvSpPr/>
              <p:nvPr/>
            </p:nvSpPr>
            <p:spPr>
              <a:xfrm>
                <a:off x="4604" y="2931"/>
                <a:ext cx="998" cy="3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HI</a:t>
                </a:r>
                <a:endPara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470" name="Rectangle 40"/>
              <p:cNvSpPr/>
              <p:nvPr/>
            </p:nvSpPr>
            <p:spPr>
              <a:xfrm>
                <a:off x="3560" y="2931"/>
                <a:ext cx="1044" cy="3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HBr</a:t>
                </a:r>
                <a:endPara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471" name="Rectangle 41"/>
              <p:cNvSpPr/>
              <p:nvPr/>
            </p:nvSpPr>
            <p:spPr>
              <a:xfrm>
                <a:off x="2562" y="2931"/>
                <a:ext cx="998" cy="3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HCl</a:t>
                </a:r>
                <a:endPara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472" name="Rectangle 42"/>
              <p:cNvSpPr/>
              <p:nvPr/>
            </p:nvSpPr>
            <p:spPr>
              <a:xfrm>
                <a:off x="1610" y="2931"/>
                <a:ext cx="952" cy="3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HF</a:t>
                </a:r>
                <a:endPara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473" name="Rectangle 43"/>
              <p:cNvSpPr/>
              <p:nvPr/>
            </p:nvSpPr>
            <p:spPr>
              <a:xfrm>
                <a:off x="158" y="2931"/>
                <a:ext cx="1452" cy="36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HX</a:t>
                </a:r>
                <a:endParaRPr lang="en-US" altLang="zh-CN" sz="20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474" name="Line 44"/>
              <p:cNvSpPr/>
              <p:nvPr/>
            </p:nvSpPr>
            <p:spPr>
              <a:xfrm>
                <a:off x="158" y="2931"/>
                <a:ext cx="5444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475" name="Line 45"/>
              <p:cNvSpPr/>
              <p:nvPr/>
            </p:nvSpPr>
            <p:spPr>
              <a:xfrm>
                <a:off x="158" y="3295"/>
                <a:ext cx="544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476" name="Line 46"/>
              <p:cNvSpPr/>
              <p:nvPr/>
            </p:nvSpPr>
            <p:spPr>
              <a:xfrm>
                <a:off x="158" y="3612"/>
                <a:ext cx="5444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477" name="Line 47"/>
              <p:cNvSpPr/>
              <p:nvPr/>
            </p:nvSpPr>
            <p:spPr>
              <a:xfrm>
                <a:off x="158" y="3974"/>
                <a:ext cx="5444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478" name="Line 48"/>
              <p:cNvSpPr/>
              <p:nvPr/>
            </p:nvSpPr>
            <p:spPr>
              <a:xfrm>
                <a:off x="158" y="2931"/>
                <a:ext cx="0" cy="1043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479" name="Line 49"/>
              <p:cNvSpPr/>
              <p:nvPr/>
            </p:nvSpPr>
            <p:spPr>
              <a:xfrm>
                <a:off x="1610" y="2931"/>
                <a:ext cx="0" cy="104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480" name="Line 50"/>
              <p:cNvSpPr/>
              <p:nvPr/>
            </p:nvSpPr>
            <p:spPr>
              <a:xfrm>
                <a:off x="2562" y="2931"/>
                <a:ext cx="0" cy="68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481" name="Line 51"/>
              <p:cNvSpPr/>
              <p:nvPr/>
            </p:nvSpPr>
            <p:spPr>
              <a:xfrm>
                <a:off x="3560" y="2931"/>
                <a:ext cx="0" cy="68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482" name="Line 52"/>
              <p:cNvSpPr/>
              <p:nvPr/>
            </p:nvSpPr>
            <p:spPr>
              <a:xfrm>
                <a:off x="4604" y="2931"/>
                <a:ext cx="0" cy="68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4483" name="Line 53"/>
              <p:cNvSpPr/>
              <p:nvPr/>
            </p:nvSpPr>
            <p:spPr>
              <a:xfrm>
                <a:off x="5602" y="2931"/>
                <a:ext cx="0" cy="1043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4461" name="Line 54"/>
            <p:cNvSpPr/>
            <p:nvPr/>
          </p:nvSpPr>
          <p:spPr>
            <a:xfrm>
              <a:off x="1928" y="3657"/>
              <a:ext cx="3311" cy="0"/>
            </a:xfrm>
            <a:prstGeom prst="line">
              <a:avLst/>
            </a:prstGeom>
            <a:ln w="19050" cap="flat" cmpd="sng">
              <a:solidFill>
                <a:srgbClr val="F72F63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75159" name="Text Box 55"/>
          <p:cNvSpPr txBox="1"/>
          <p:nvPr/>
        </p:nvSpPr>
        <p:spPr>
          <a:xfrm>
            <a:off x="273050" y="2224088"/>
            <a:ext cx="8389938" cy="1570037"/>
          </a:xfrm>
          <a:prstGeom prst="rect">
            <a:avLst/>
          </a:prstGeom>
          <a:gradFill rotWithShape="1">
            <a:gsLst>
              <a:gs pos="0">
                <a:srgbClr val="72162E"/>
              </a:gs>
              <a:gs pos="50000">
                <a:srgbClr val="F72F63"/>
              </a:gs>
              <a:gs pos="100000">
                <a:srgbClr val="72162E"/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根据</a:t>
            </a:r>
            <a:r>
              <a:rPr lang="el-GR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μ</a:t>
            </a:r>
            <a:r>
              <a:rPr lang="zh-CN" altLang="el-GR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可以推断某些分子的几何构型 </a:t>
            </a:r>
            <a:endParaRPr lang="zh-CN" altLang="el-GR" sz="1200" dirty="0">
              <a:latin typeface="Arial" panose="020B0604020202020204" pitchFamily="34" charset="0"/>
              <a:ea typeface="ˎ̥"/>
            </a:endParaRPr>
          </a:p>
          <a:p>
            <a:pPr algn="ctr" eaLnBrk="1" hangingPunct="1">
              <a:spcBef>
                <a:spcPct val="50000"/>
              </a:spcBef>
              <a:buNone/>
            </a:pPr>
            <a:r>
              <a:rPr lang="zh-CN" altLang="el-GR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如　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CS</a:t>
            </a:r>
            <a:r>
              <a:rPr lang="en-US" altLang="zh-CN" sz="24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r>
              <a:rPr lang="el-GR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μ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=0  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则为直线形分子 </a:t>
            </a:r>
            <a:endParaRPr lang="zh-CN" altLang="en-US" sz="12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              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SO</a:t>
            </a:r>
            <a:r>
              <a:rPr lang="en-US" altLang="zh-CN" sz="24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r>
              <a:rPr lang="el-GR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μ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=5.33  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则为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V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形分子</a:t>
            </a:r>
            <a:r>
              <a:rPr lang="zh-CN" altLang="el-GR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zh-CN" altLang="el-GR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7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33" grpId="0"/>
      <p:bldP spid="175159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/>
          <p:nvPr/>
        </p:nvSpPr>
        <p:spPr>
          <a:xfrm>
            <a:off x="250825" y="206375"/>
            <a:ext cx="3090863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</a:rPr>
              <a:t>2)</a:t>
            </a:r>
            <a:r>
              <a:rPr lang="zh-CN" altLang="en-US" sz="3200" dirty="0">
                <a:latin typeface="Times New Roman" panose="02020603050405020304" pitchFamily="18" charset="0"/>
              </a:rPr>
              <a:t>分子的变形性 </a:t>
            </a:r>
          </a:p>
        </p:txBody>
      </p:sp>
      <p:sp>
        <p:nvSpPr>
          <p:cNvPr id="105475" name="Rectangle 3"/>
          <p:cNvSpPr/>
          <p:nvPr/>
        </p:nvSpPr>
        <p:spPr>
          <a:xfrm>
            <a:off x="900113" y="1954213"/>
            <a:ext cx="7772400" cy="571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endParaRPr lang="zh-CN" altLang="en-US" sz="4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5476" name="Line 4"/>
          <p:cNvSpPr/>
          <p:nvPr/>
        </p:nvSpPr>
        <p:spPr>
          <a:xfrm flipV="1">
            <a:off x="919163" y="1554163"/>
            <a:ext cx="7848600" cy="0"/>
          </a:xfrm>
          <a:prstGeom prst="line">
            <a:avLst/>
          </a:prstGeom>
          <a:ln w="9525">
            <a:noFill/>
          </a:ln>
        </p:spPr>
      </p:sp>
      <p:grpSp>
        <p:nvGrpSpPr>
          <p:cNvPr id="2" name="Group 5"/>
          <p:cNvGrpSpPr/>
          <p:nvPr/>
        </p:nvGrpSpPr>
        <p:grpSpPr>
          <a:xfrm>
            <a:off x="179388" y="808038"/>
            <a:ext cx="9072562" cy="1865312"/>
            <a:chOff x="158" y="381"/>
            <a:chExt cx="5715" cy="1567"/>
          </a:xfrm>
        </p:grpSpPr>
        <p:sp>
          <p:nvSpPr>
            <p:cNvPr id="105493" name="Oval 6"/>
            <p:cNvSpPr/>
            <p:nvPr/>
          </p:nvSpPr>
          <p:spPr>
            <a:xfrm>
              <a:off x="158" y="539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05494" name="Text Box 7"/>
            <p:cNvSpPr txBox="1"/>
            <p:nvPr/>
          </p:nvSpPr>
          <p:spPr>
            <a:xfrm>
              <a:off x="226" y="381"/>
              <a:ext cx="5647" cy="156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120000"/>
                </a:lnSpc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    非极性分子在电场作用下，电子云与核发生相对位移，分子变形，并出现偶极，这种偶极称为诱导偶极。 </a:t>
              </a:r>
              <a:endParaRPr lang="zh-CN" altLang="en-US" sz="24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120000"/>
                </a:lnSpc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   分子的形状发生变化，这种性质叫分子的变形性。这一变化过程叫分子极化。</a:t>
              </a: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8"/>
          <p:cNvGrpSpPr/>
          <p:nvPr/>
        </p:nvGrpSpPr>
        <p:grpSpPr>
          <a:xfrm>
            <a:off x="3573463" y="2406650"/>
            <a:ext cx="4967287" cy="971550"/>
            <a:chOff x="2473" y="2387"/>
            <a:chExt cx="3129" cy="816"/>
          </a:xfrm>
        </p:grpSpPr>
        <p:graphicFrame>
          <p:nvGraphicFramePr>
            <p:cNvPr id="105485" name="Object 9"/>
            <p:cNvGraphicFramePr>
              <a:graphicFrameLocks noChangeAspect="1"/>
            </p:cNvGraphicFramePr>
            <p:nvPr/>
          </p:nvGraphicFramePr>
          <p:xfrm>
            <a:off x="2473" y="2659"/>
            <a:ext cx="2730" cy="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4333875" imgH="771525" progId="Paint.Picture">
                    <p:embed/>
                  </p:oleObj>
                </mc:Choice>
                <mc:Fallback>
                  <p:oleObj r:id="rId2" imgW="4333875" imgH="771525" progId="Paint.Picture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473" y="2659"/>
                          <a:ext cx="2730" cy="4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5486" name="Text Box 10"/>
            <p:cNvSpPr txBox="1"/>
            <p:nvPr/>
          </p:nvSpPr>
          <p:spPr>
            <a:xfrm>
              <a:off x="2950" y="2695"/>
              <a:ext cx="273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幼圆" panose="02010509060101010101" pitchFamily="49" charset="-122"/>
                  <a:sym typeface="Symbol" panose="05050102010706020507" pitchFamily="18" charset="2"/>
                </a:rPr>
                <a:t></a:t>
              </a:r>
              <a:r>
                <a:rPr lang="zh-CN" altLang="en-US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endParaRPr lang="zh-CN" altLang="en-US" sz="2000" b="1" dirty="0">
                <a:latin typeface="Times New Roman" panose="02020603050405020304" pitchFamily="18" charset="0"/>
                <a:ea typeface="幼圆" panose="020105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05487" name="Line 11"/>
            <p:cNvSpPr/>
            <p:nvPr/>
          </p:nvSpPr>
          <p:spPr>
            <a:xfrm>
              <a:off x="4060" y="2614"/>
              <a:ext cx="0" cy="5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488" name="Line 12"/>
            <p:cNvSpPr/>
            <p:nvPr/>
          </p:nvSpPr>
          <p:spPr>
            <a:xfrm>
              <a:off x="5249" y="2611"/>
              <a:ext cx="0" cy="58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5489" name="Text Box 13"/>
            <p:cNvSpPr txBox="1"/>
            <p:nvPr/>
          </p:nvSpPr>
          <p:spPr>
            <a:xfrm>
              <a:off x="3779" y="2568"/>
              <a:ext cx="318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    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490" name="Text Box 14"/>
            <p:cNvSpPr txBox="1"/>
            <p:nvPr/>
          </p:nvSpPr>
          <p:spPr>
            <a:xfrm>
              <a:off x="5240" y="2387"/>
              <a:ext cx="362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491" name="Text Box 15"/>
            <p:cNvSpPr txBox="1"/>
            <p:nvPr/>
          </p:nvSpPr>
          <p:spPr>
            <a:xfrm>
              <a:off x="4877" y="2714"/>
              <a:ext cx="272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492" name="Text Box 16"/>
            <p:cNvSpPr txBox="1"/>
            <p:nvPr/>
          </p:nvSpPr>
          <p:spPr>
            <a:xfrm>
              <a:off x="4163" y="2568"/>
              <a:ext cx="272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17"/>
          <p:cNvGrpSpPr/>
          <p:nvPr/>
        </p:nvGrpSpPr>
        <p:grpSpPr>
          <a:xfrm>
            <a:off x="271463" y="2873375"/>
            <a:ext cx="8893175" cy="1397000"/>
            <a:chOff x="158" y="2484"/>
            <a:chExt cx="5602" cy="1174"/>
          </a:xfrm>
        </p:grpSpPr>
        <p:sp>
          <p:nvSpPr>
            <p:cNvPr id="105483" name="Text Box 18"/>
            <p:cNvSpPr txBox="1"/>
            <p:nvPr/>
          </p:nvSpPr>
          <p:spPr>
            <a:xfrm>
              <a:off x="295" y="2484"/>
              <a:ext cx="2358" cy="69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el-GR" altLang="zh-CN" sz="2400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μ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</a:t>
              </a: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诱导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)</a:t>
              </a: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＝</a:t>
              </a:r>
              <a:r>
                <a:rPr lang="el-GR" altLang="zh-CN" sz="2400" b="1" i="1" dirty="0">
                  <a:latin typeface="幼圆" panose="02010509060101010101" pitchFamily="49" charset="-122"/>
                  <a:ea typeface="幼圆" panose="02010509060101010101" pitchFamily="49" charset="-122"/>
                </a:rPr>
                <a:t>α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·</a:t>
              </a:r>
              <a:r>
                <a:rPr lang="en-US" altLang="zh-CN" sz="2400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E  </a:t>
              </a:r>
              <a:endParaRPr lang="en-US" altLang="zh-CN" sz="2400" dirty="0">
                <a:latin typeface="Arial" panose="020B0604020202020204" pitchFamily="34" charset="0"/>
                <a:ea typeface="幼圆" panose="02010509060101010101" pitchFamily="49" charset="-122"/>
              </a:endParaRP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  <a:buNone/>
              </a:pPr>
              <a:r>
                <a:rPr lang="en-US" altLang="zh-CN" sz="2400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E—</a:t>
              </a:r>
              <a:r>
                <a:rPr lang="en-US" altLang="zh-CN" sz="2400" b="1" i="1" dirty="0">
                  <a:latin typeface="幼圆" panose="02010509060101010101" pitchFamily="49" charset="-122"/>
                  <a:ea typeface="幼圆" panose="02010509060101010101" pitchFamily="49" charset="-122"/>
                </a:rPr>
                <a:t> </a:t>
              </a:r>
              <a:r>
                <a:rPr lang="zh-CN" altLang="en-US" sz="24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电场强度</a:t>
              </a: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endParaRPr lang="zh-CN" altLang="en-US" sz="2400" dirty="0"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  <p:sp>
          <p:nvSpPr>
            <p:cNvPr id="105484" name="Text Box 19"/>
            <p:cNvSpPr txBox="1"/>
            <p:nvPr/>
          </p:nvSpPr>
          <p:spPr>
            <a:xfrm>
              <a:off x="158" y="3219"/>
              <a:ext cx="5602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 </a:t>
              </a:r>
              <a:r>
                <a:rPr lang="el-GR" altLang="zh-CN" sz="2400" b="1" i="1" dirty="0">
                  <a:latin typeface="幼圆" panose="02010509060101010101" pitchFamily="49" charset="-122"/>
                  <a:ea typeface="幼圆" panose="02010509060101010101" pitchFamily="49" charset="-122"/>
                </a:rPr>
                <a:t>α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—</a:t>
              </a:r>
              <a:r>
                <a:rPr lang="en-US" altLang="zh-CN" sz="24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 </a:t>
              </a:r>
              <a:r>
                <a:rPr lang="zh-CN" altLang="en-US" sz="24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极化率</a:t>
              </a:r>
              <a:r>
                <a:rPr lang="zh-CN" altLang="en-US" sz="2400" b="1" i="1" dirty="0">
                  <a:latin typeface="幼圆" panose="02010509060101010101" pitchFamily="49" charset="-122"/>
                  <a:ea typeface="幼圆" panose="02010509060101010101" pitchFamily="49" charset="-122"/>
                </a:rPr>
                <a:t>　　</a:t>
              </a:r>
              <a:r>
                <a:rPr lang="zh-CN" altLang="el-GR" sz="24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 </a:t>
              </a:r>
              <a:endParaRPr lang="zh-CN" altLang="el-GR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20"/>
          <p:cNvGrpSpPr/>
          <p:nvPr/>
        </p:nvGrpSpPr>
        <p:grpSpPr>
          <a:xfrm>
            <a:off x="1406525" y="4432300"/>
            <a:ext cx="7848600" cy="404813"/>
            <a:chOff x="521" y="3625"/>
            <a:chExt cx="4944" cy="339"/>
          </a:xfrm>
        </p:grpSpPr>
        <p:sp>
          <p:nvSpPr>
            <p:cNvPr id="105481" name="Text Box 21"/>
            <p:cNvSpPr txBox="1"/>
            <p:nvPr/>
          </p:nvSpPr>
          <p:spPr>
            <a:xfrm>
              <a:off x="567" y="3702"/>
              <a:ext cx="4898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55000"/>
                </a:lnSpc>
              </a:pPr>
              <a:r>
                <a:rPr lang="en-US" altLang="zh-CN" sz="2400" b="1" i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E</a:t>
              </a:r>
              <a:r>
                <a:rPr lang="zh-CN" altLang="en-US" sz="24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一定时</a:t>
              </a:r>
              <a:r>
                <a:rPr lang="en-US" altLang="zh-CN" sz="24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,</a:t>
              </a:r>
              <a:r>
                <a:rPr lang="el-GR" altLang="zh-CN" sz="2400" b="1" i="1" dirty="0">
                  <a:latin typeface="幼圆" panose="02010509060101010101" pitchFamily="49" charset="-122"/>
                  <a:ea typeface="幼圆" panose="02010509060101010101" pitchFamily="49" charset="-122"/>
                </a:rPr>
                <a:t>α</a:t>
              </a:r>
              <a:r>
                <a:rPr lang="zh-CN" altLang="el-GR" sz="24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越大</a:t>
              </a:r>
              <a:r>
                <a:rPr lang="el-GR" altLang="zh-CN" sz="24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,</a:t>
              </a:r>
              <a:r>
                <a:rPr lang="zh-CN" altLang="el-GR" sz="24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分子变形性越大。</a:t>
              </a:r>
              <a:r>
                <a:rPr lang="zh-CN" altLang="el-GR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endParaRPr lang="zh-CN" altLang="el-GR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5482" name="Rectangle 22"/>
            <p:cNvSpPr/>
            <p:nvPr/>
          </p:nvSpPr>
          <p:spPr>
            <a:xfrm>
              <a:off x="521" y="3625"/>
              <a:ext cx="4627" cy="317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/>
          <p:nvPr/>
        </p:nvSpPr>
        <p:spPr>
          <a:xfrm>
            <a:off x="971550" y="2033588"/>
            <a:ext cx="7772400" cy="571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endParaRPr lang="zh-CN" altLang="en-US" sz="4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6499" name="Line 3"/>
          <p:cNvSpPr/>
          <p:nvPr/>
        </p:nvSpPr>
        <p:spPr>
          <a:xfrm flipV="1">
            <a:off x="990600" y="1633538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106500" name="Oval 5"/>
          <p:cNvSpPr/>
          <p:nvPr/>
        </p:nvSpPr>
        <p:spPr>
          <a:xfrm>
            <a:off x="250825" y="1074738"/>
            <a:ext cx="215900" cy="161925"/>
          </a:xfrm>
          <a:prstGeom prst="ellipse">
            <a:avLst/>
          </a:prstGeom>
          <a:solidFill>
            <a:srgbClr val="6B50F0"/>
          </a:solid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6501" name="Text Box 6"/>
          <p:cNvSpPr txBox="1"/>
          <p:nvPr/>
        </p:nvSpPr>
        <p:spPr>
          <a:xfrm>
            <a:off x="468313" y="885825"/>
            <a:ext cx="86756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极性分子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7"/>
          <p:cNvGrpSpPr/>
          <p:nvPr/>
        </p:nvGrpSpPr>
        <p:grpSpPr>
          <a:xfrm>
            <a:off x="2987675" y="2463800"/>
            <a:ext cx="5976938" cy="893763"/>
            <a:chOff x="1882" y="1706"/>
            <a:chExt cx="3765" cy="751"/>
          </a:xfrm>
        </p:grpSpPr>
        <p:sp>
          <p:nvSpPr>
            <p:cNvPr id="106544" name="Text Box 8"/>
            <p:cNvSpPr txBox="1"/>
            <p:nvPr/>
          </p:nvSpPr>
          <p:spPr>
            <a:xfrm>
              <a:off x="2154" y="1706"/>
              <a:ext cx="3493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取向                       变形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45" name="Text Box 9"/>
            <p:cNvSpPr txBox="1"/>
            <p:nvPr/>
          </p:nvSpPr>
          <p:spPr>
            <a:xfrm>
              <a:off x="1882" y="2069"/>
              <a:ext cx="3674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定向极化               变形极化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0234" name="Text Box 10"/>
          <p:cNvSpPr txBox="1"/>
          <p:nvPr/>
        </p:nvSpPr>
        <p:spPr>
          <a:xfrm>
            <a:off x="323850" y="3382963"/>
            <a:ext cx="882015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固有偶极                                      诱导偶极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0235" name="Text Box 11"/>
          <p:cNvSpPr txBox="1"/>
          <p:nvPr/>
        </p:nvSpPr>
        <p:spPr>
          <a:xfrm>
            <a:off x="1187450" y="4083050"/>
            <a:ext cx="6913563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6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分子的偶极</a:t>
            </a:r>
            <a:r>
              <a:rPr lang="en-US" altLang="zh-CN" sz="36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=</a:t>
            </a:r>
            <a:r>
              <a:rPr lang="zh-CN" altLang="en-US" sz="36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固有偶极</a:t>
            </a:r>
            <a:r>
              <a:rPr lang="en-US" altLang="zh-CN" sz="36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+</a:t>
            </a:r>
            <a:r>
              <a:rPr lang="zh-CN" altLang="en-US" sz="36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诱导偶极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0236" name="Text Box 12"/>
          <p:cNvSpPr txBox="1"/>
          <p:nvPr/>
        </p:nvSpPr>
        <p:spPr>
          <a:xfrm>
            <a:off x="501650" y="2789238"/>
            <a:ext cx="8391525" cy="1889125"/>
          </a:xfrm>
          <a:prstGeom prst="rect">
            <a:avLst/>
          </a:prstGeom>
          <a:gradFill rotWithShape="1">
            <a:gsLst>
              <a:gs pos="0">
                <a:srgbClr val="72162E"/>
              </a:gs>
              <a:gs pos="50000">
                <a:srgbClr val="F72F63"/>
              </a:gs>
              <a:gs pos="100000">
                <a:srgbClr val="72162E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极性分子本身是个微电场，因而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: </a:t>
            </a:r>
            <a:endParaRPr lang="en-US" altLang="zh-CN" sz="12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     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极性分子与极性分子之间， </a:t>
            </a:r>
            <a:endParaRPr lang="zh-CN" altLang="en-US" sz="12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     极性分子与非极性分子之间 </a:t>
            </a:r>
            <a:endParaRPr lang="zh-CN" altLang="en-US" sz="12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                                  也会发生极化作用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" name="Group 13"/>
          <p:cNvGrpSpPr/>
          <p:nvPr/>
        </p:nvGrpSpPr>
        <p:grpSpPr>
          <a:xfrm>
            <a:off x="301625" y="1139825"/>
            <a:ext cx="8780463" cy="1098550"/>
            <a:chOff x="190" y="595"/>
            <a:chExt cx="5531" cy="922"/>
          </a:xfrm>
        </p:grpSpPr>
        <p:pic>
          <p:nvPicPr>
            <p:cNvPr id="106509" name="Pictur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8" y="845"/>
              <a:ext cx="5307" cy="67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6510" name="Line 15"/>
            <p:cNvSpPr/>
            <p:nvPr/>
          </p:nvSpPr>
          <p:spPr>
            <a:xfrm>
              <a:off x="1952" y="890"/>
              <a:ext cx="0" cy="5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11" name="Line 16"/>
            <p:cNvSpPr/>
            <p:nvPr/>
          </p:nvSpPr>
          <p:spPr>
            <a:xfrm>
              <a:off x="3869" y="855"/>
              <a:ext cx="0" cy="5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12" name="Line 17"/>
            <p:cNvSpPr/>
            <p:nvPr/>
          </p:nvSpPr>
          <p:spPr>
            <a:xfrm>
              <a:off x="5468" y="859"/>
              <a:ext cx="0" cy="5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13" name="Text Box 18"/>
            <p:cNvSpPr txBox="1"/>
            <p:nvPr/>
          </p:nvSpPr>
          <p:spPr>
            <a:xfrm>
              <a:off x="1716" y="749"/>
              <a:ext cx="272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14" name="Text Box 19"/>
            <p:cNvSpPr txBox="1"/>
            <p:nvPr/>
          </p:nvSpPr>
          <p:spPr>
            <a:xfrm>
              <a:off x="3642" y="730"/>
              <a:ext cx="272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15" name="Text Box 20"/>
            <p:cNvSpPr txBox="1"/>
            <p:nvPr/>
          </p:nvSpPr>
          <p:spPr>
            <a:xfrm>
              <a:off x="5449" y="595"/>
              <a:ext cx="272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16" name="Line 21"/>
            <p:cNvSpPr/>
            <p:nvPr/>
          </p:nvSpPr>
          <p:spPr>
            <a:xfrm>
              <a:off x="1362" y="1162"/>
              <a:ext cx="4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6517" name="Line 22"/>
            <p:cNvSpPr/>
            <p:nvPr/>
          </p:nvSpPr>
          <p:spPr>
            <a:xfrm>
              <a:off x="3267" y="1162"/>
              <a:ext cx="4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06518" name="Text Box 23"/>
            <p:cNvSpPr txBox="1"/>
            <p:nvPr/>
          </p:nvSpPr>
          <p:spPr>
            <a:xfrm rot="-1617181">
              <a:off x="446" y="783"/>
              <a:ext cx="273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19" name="Text Box 24"/>
            <p:cNvSpPr txBox="1"/>
            <p:nvPr/>
          </p:nvSpPr>
          <p:spPr>
            <a:xfrm rot="1353317">
              <a:off x="250" y="1146"/>
              <a:ext cx="273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20" name="Text Box 25"/>
            <p:cNvSpPr txBox="1"/>
            <p:nvPr/>
          </p:nvSpPr>
          <p:spPr>
            <a:xfrm rot="-227340">
              <a:off x="1046" y="853"/>
              <a:ext cx="273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21" name="Text Box 26"/>
            <p:cNvSpPr txBox="1"/>
            <p:nvPr/>
          </p:nvSpPr>
          <p:spPr>
            <a:xfrm>
              <a:off x="794" y="1150"/>
              <a:ext cx="273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22" name="Text Box 27"/>
            <p:cNvSpPr txBox="1"/>
            <p:nvPr/>
          </p:nvSpPr>
          <p:spPr>
            <a:xfrm>
              <a:off x="2224" y="835"/>
              <a:ext cx="273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23" name="Text Box 28"/>
            <p:cNvSpPr txBox="1"/>
            <p:nvPr/>
          </p:nvSpPr>
          <p:spPr>
            <a:xfrm>
              <a:off x="2867" y="833"/>
              <a:ext cx="273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24" name="Text Box 29"/>
            <p:cNvSpPr txBox="1"/>
            <p:nvPr/>
          </p:nvSpPr>
          <p:spPr>
            <a:xfrm>
              <a:off x="2236" y="1153"/>
              <a:ext cx="273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25" name="Text Box 30"/>
            <p:cNvSpPr txBox="1"/>
            <p:nvPr/>
          </p:nvSpPr>
          <p:spPr>
            <a:xfrm>
              <a:off x="2862" y="1150"/>
              <a:ext cx="273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26" name="Text Box 31"/>
            <p:cNvSpPr txBox="1"/>
            <p:nvPr/>
          </p:nvSpPr>
          <p:spPr>
            <a:xfrm>
              <a:off x="4344" y="854"/>
              <a:ext cx="273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27" name="Text Box 32"/>
            <p:cNvSpPr txBox="1"/>
            <p:nvPr/>
          </p:nvSpPr>
          <p:spPr>
            <a:xfrm>
              <a:off x="4343" y="1107"/>
              <a:ext cx="273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28" name="Text Box 33"/>
            <p:cNvSpPr txBox="1"/>
            <p:nvPr/>
          </p:nvSpPr>
          <p:spPr>
            <a:xfrm>
              <a:off x="5172" y="857"/>
              <a:ext cx="273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29" name="Text Box 34"/>
            <p:cNvSpPr txBox="1"/>
            <p:nvPr/>
          </p:nvSpPr>
          <p:spPr>
            <a:xfrm>
              <a:off x="5170" y="1107"/>
              <a:ext cx="273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30" name="Text Box 35"/>
            <p:cNvSpPr txBox="1"/>
            <p:nvPr/>
          </p:nvSpPr>
          <p:spPr>
            <a:xfrm rot="-1647021">
              <a:off x="190" y="759"/>
              <a:ext cx="181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31" name="Text Box 36"/>
            <p:cNvSpPr txBox="1"/>
            <p:nvPr/>
          </p:nvSpPr>
          <p:spPr>
            <a:xfrm rot="1670595">
              <a:off x="534" y="1062"/>
              <a:ext cx="181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32" name="Text Box 37"/>
            <p:cNvSpPr txBox="1"/>
            <p:nvPr/>
          </p:nvSpPr>
          <p:spPr>
            <a:xfrm>
              <a:off x="791" y="706"/>
              <a:ext cx="181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33" name="Text Box 38"/>
            <p:cNvSpPr txBox="1"/>
            <p:nvPr/>
          </p:nvSpPr>
          <p:spPr>
            <a:xfrm>
              <a:off x="1035" y="1015"/>
              <a:ext cx="181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34" name="Text Box 39"/>
            <p:cNvSpPr txBox="1"/>
            <p:nvPr/>
          </p:nvSpPr>
          <p:spPr>
            <a:xfrm>
              <a:off x="1985" y="687"/>
              <a:ext cx="181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35" name="Text Box 40"/>
            <p:cNvSpPr txBox="1"/>
            <p:nvPr/>
          </p:nvSpPr>
          <p:spPr>
            <a:xfrm>
              <a:off x="1997" y="1003"/>
              <a:ext cx="181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36" name="Text Box 41"/>
            <p:cNvSpPr txBox="1"/>
            <p:nvPr/>
          </p:nvSpPr>
          <p:spPr>
            <a:xfrm>
              <a:off x="2587" y="685"/>
              <a:ext cx="181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37" name="Text Box 42"/>
            <p:cNvSpPr txBox="1"/>
            <p:nvPr/>
          </p:nvSpPr>
          <p:spPr>
            <a:xfrm>
              <a:off x="2587" y="1003"/>
              <a:ext cx="181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38" name="Text Box 43"/>
            <p:cNvSpPr txBox="1"/>
            <p:nvPr/>
          </p:nvSpPr>
          <p:spPr>
            <a:xfrm>
              <a:off x="3957" y="709"/>
              <a:ext cx="181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39" name="Text Box 44"/>
            <p:cNvSpPr txBox="1"/>
            <p:nvPr/>
          </p:nvSpPr>
          <p:spPr>
            <a:xfrm>
              <a:off x="3936" y="979"/>
              <a:ext cx="181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40" name="Text Box 45"/>
            <p:cNvSpPr txBox="1"/>
            <p:nvPr/>
          </p:nvSpPr>
          <p:spPr>
            <a:xfrm>
              <a:off x="4764" y="709"/>
              <a:ext cx="181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41" name="Text Box 46"/>
            <p:cNvSpPr txBox="1"/>
            <p:nvPr/>
          </p:nvSpPr>
          <p:spPr>
            <a:xfrm>
              <a:off x="4773" y="981"/>
              <a:ext cx="181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6542" name="Line 47"/>
            <p:cNvSpPr/>
            <p:nvPr/>
          </p:nvSpPr>
          <p:spPr>
            <a:xfrm>
              <a:off x="3194" y="854"/>
              <a:ext cx="0" cy="5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6543" name="Text Box 48"/>
            <p:cNvSpPr txBox="1"/>
            <p:nvPr/>
          </p:nvSpPr>
          <p:spPr>
            <a:xfrm>
              <a:off x="3166" y="608"/>
              <a:ext cx="272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06507" name="Rectangle 50"/>
          <p:cNvSpPr/>
          <p:nvPr/>
        </p:nvSpPr>
        <p:spPr>
          <a:xfrm>
            <a:off x="250825" y="236538"/>
            <a:ext cx="2728913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2)</a:t>
            </a:r>
            <a:r>
              <a:rPr lang="zh-CN" altLang="en-US" dirty="0">
                <a:latin typeface="Times New Roman" panose="02020603050405020304" pitchFamily="18" charset="0"/>
              </a:rPr>
              <a:t>分子的变形性 </a:t>
            </a:r>
          </a:p>
        </p:txBody>
      </p:sp>
      <p:pic>
        <p:nvPicPr>
          <p:cNvPr id="106508" name="Picture 51" descr="next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9788" y="4624388"/>
            <a:ext cx="515937" cy="4016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80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80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5" dur="500"/>
                                        <p:tgtEl>
                                          <p:spTgt spid="180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34" grpId="0"/>
      <p:bldP spid="180235" grpId="0"/>
      <p:bldP spid="180236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Line 2"/>
          <p:cNvSpPr/>
          <p:nvPr/>
        </p:nvSpPr>
        <p:spPr>
          <a:xfrm flipV="1">
            <a:off x="990600" y="1200150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107523" name="Text Box 3"/>
          <p:cNvSpPr txBox="1"/>
          <p:nvPr/>
        </p:nvSpPr>
        <p:spPr>
          <a:xfrm>
            <a:off x="323850" y="195263"/>
            <a:ext cx="3168650" cy="5857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solidFill>
                  <a:srgbClr val="9900CC"/>
                </a:solidFill>
                <a:latin typeface="华文新魏" panose="02010800040101010101" pitchFamily="2" charset="-122"/>
              </a:rPr>
              <a:t>2.</a:t>
            </a:r>
            <a:r>
              <a:rPr lang="zh-CN" altLang="en-US" sz="3200" dirty="0">
                <a:solidFill>
                  <a:srgbClr val="9900CC"/>
                </a:solidFill>
                <a:latin typeface="华文新魏" panose="02010800040101010101" pitchFamily="2" charset="-122"/>
              </a:rPr>
              <a:t>分子间力 </a:t>
            </a:r>
          </a:p>
        </p:txBody>
      </p:sp>
      <p:sp>
        <p:nvSpPr>
          <p:cNvPr id="107524" name="Text Box 4"/>
          <p:cNvSpPr txBox="1"/>
          <p:nvPr/>
        </p:nvSpPr>
        <p:spPr>
          <a:xfrm>
            <a:off x="539750" y="1038225"/>
            <a:ext cx="3598863" cy="388938"/>
          </a:xfrm>
          <a:prstGeom prst="rect">
            <a:avLst/>
          </a:prstGeom>
          <a:gradFill rotWithShape="1">
            <a:gsLst>
              <a:gs pos="0">
                <a:srgbClr val="32256F"/>
              </a:gs>
              <a:gs pos="50000">
                <a:srgbClr val="6B50F0"/>
              </a:gs>
              <a:gs pos="100000">
                <a:srgbClr val="32256F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分子间力的种类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7525" name="Text Box 5"/>
          <p:cNvSpPr txBox="1"/>
          <p:nvPr/>
        </p:nvSpPr>
        <p:spPr>
          <a:xfrm>
            <a:off x="3132138" y="1654175"/>
            <a:ext cx="2160587" cy="1816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色散力 </a:t>
            </a:r>
            <a:endParaRPr lang="zh-CN" altLang="en-US" sz="12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诱导力 </a:t>
            </a:r>
            <a:endParaRPr lang="zh-CN" altLang="en-US" sz="12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取向力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/>
          <p:nvPr/>
        </p:nvSpPr>
        <p:spPr>
          <a:xfrm>
            <a:off x="179388" y="184150"/>
            <a:ext cx="1562100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1)</a:t>
            </a:r>
            <a:r>
              <a:rPr lang="zh-CN" altLang="en-US" dirty="0">
                <a:latin typeface="Times New Roman" panose="02020603050405020304" pitchFamily="18" charset="0"/>
              </a:rPr>
              <a:t>色散力</a:t>
            </a:r>
          </a:p>
        </p:txBody>
      </p:sp>
      <p:sp>
        <p:nvSpPr>
          <p:cNvPr id="108547" name="Rectangle 3"/>
          <p:cNvSpPr/>
          <p:nvPr/>
        </p:nvSpPr>
        <p:spPr>
          <a:xfrm>
            <a:off x="971550" y="1800225"/>
            <a:ext cx="7772400" cy="571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endParaRPr lang="zh-CN" altLang="en-US" sz="4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8548" name="Line 4"/>
          <p:cNvSpPr/>
          <p:nvPr/>
        </p:nvSpPr>
        <p:spPr>
          <a:xfrm flipV="1">
            <a:off x="990600" y="1400175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182280" name="Text Box 8"/>
          <p:cNvSpPr txBox="1"/>
          <p:nvPr/>
        </p:nvSpPr>
        <p:spPr>
          <a:xfrm>
            <a:off x="323850" y="896938"/>
            <a:ext cx="8820150" cy="19399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非极性分子正负电荷中心重合，分子没有极性。但电子在运动，原子核也在不停地振动。使原子核与电子云之间发生瞬时的相对位移。正、负电荷中心暂时不重合，产生瞬时偶极。这种瞬时偶极尽管存在时间极短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但电子和原子核总在不停地运动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瞬时偶极不断地出现。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2281" name="Text Box 9"/>
          <p:cNvSpPr txBox="1"/>
          <p:nvPr/>
        </p:nvSpPr>
        <p:spPr>
          <a:xfrm>
            <a:off x="581025" y="2355850"/>
            <a:ext cx="7921625" cy="1565275"/>
          </a:xfrm>
          <a:prstGeom prst="rect">
            <a:avLst/>
          </a:prstGeom>
          <a:gradFill rotWithShape="1">
            <a:gsLst>
              <a:gs pos="0">
                <a:srgbClr val="660558"/>
              </a:gs>
              <a:gs pos="50000">
                <a:srgbClr val="DD0BBF"/>
              </a:gs>
              <a:gs pos="100000">
                <a:srgbClr val="660558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色散力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——</a:t>
            </a:r>
            <a:r>
              <a:rPr lang="zh-CN" altLang="en-US" b="1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分子间由于瞬时偶极所产生的作用力。所有分子中都能产生瞬时偶极，所以色散力存在于一切分子间。</a:t>
            </a:r>
          </a:p>
        </p:txBody>
      </p:sp>
      <p:grpSp>
        <p:nvGrpSpPr>
          <p:cNvPr id="2" name="Group 10"/>
          <p:cNvGrpSpPr/>
          <p:nvPr/>
        </p:nvGrpSpPr>
        <p:grpSpPr>
          <a:xfrm>
            <a:off x="468313" y="3906838"/>
            <a:ext cx="8280400" cy="987425"/>
            <a:chOff x="295" y="3113"/>
            <a:chExt cx="5216" cy="829"/>
          </a:xfrm>
        </p:grpSpPr>
        <p:graphicFrame>
          <p:nvGraphicFramePr>
            <p:cNvPr id="108552" name="Object 11"/>
            <p:cNvGraphicFramePr>
              <a:graphicFrameLocks noChangeAspect="1"/>
            </p:cNvGraphicFramePr>
            <p:nvPr/>
          </p:nvGraphicFramePr>
          <p:xfrm>
            <a:off x="295" y="3294"/>
            <a:ext cx="5216" cy="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6124575" imgH="1028700" progId="Paint.Picture">
                    <p:embed/>
                  </p:oleObj>
                </mc:Choice>
                <mc:Fallback>
                  <p:oleObj r:id="rId2" imgW="6124575" imgH="1028700" progId="Paint.Picture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95" y="3294"/>
                          <a:ext cx="5216" cy="6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553" name="Text Box 12"/>
            <p:cNvSpPr txBox="1"/>
            <p:nvPr/>
          </p:nvSpPr>
          <p:spPr>
            <a:xfrm>
              <a:off x="2562" y="3249"/>
              <a:ext cx="22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8554" name="Text Box 13"/>
            <p:cNvSpPr txBox="1"/>
            <p:nvPr/>
          </p:nvSpPr>
          <p:spPr>
            <a:xfrm>
              <a:off x="2569" y="3573"/>
              <a:ext cx="22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8555" name="Text Box 14"/>
            <p:cNvSpPr txBox="1"/>
            <p:nvPr/>
          </p:nvSpPr>
          <p:spPr>
            <a:xfrm>
              <a:off x="3269" y="3242"/>
              <a:ext cx="22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8556" name="Text Box 15"/>
            <p:cNvSpPr txBox="1"/>
            <p:nvPr/>
          </p:nvSpPr>
          <p:spPr>
            <a:xfrm>
              <a:off x="3275" y="3573"/>
              <a:ext cx="22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8557" name="Text Box 16"/>
            <p:cNvSpPr txBox="1"/>
            <p:nvPr/>
          </p:nvSpPr>
          <p:spPr>
            <a:xfrm>
              <a:off x="4163" y="3229"/>
              <a:ext cx="22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8558" name="Text Box 17"/>
            <p:cNvSpPr txBox="1"/>
            <p:nvPr/>
          </p:nvSpPr>
          <p:spPr>
            <a:xfrm>
              <a:off x="4169" y="3553"/>
              <a:ext cx="22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8559" name="Text Box 18"/>
            <p:cNvSpPr txBox="1"/>
            <p:nvPr/>
          </p:nvSpPr>
          <p:spPr>
            <a:xfrm>
              <a:off x="4876" y="3223"/>
              <a:ext cx="22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8560" name="Text Box 19"/>
            <p:cNvSpPr txBox="1"/>
            <p:nvPr/>
          </p:nvSpPr>
          <p:spPr>
            <a:xfrm>
              <a:off x="4876" y="3564"/>
              <a:ext cx="227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8561" name="Text Box 20"/>
            <p:cNvSpPr txBox="1"/>
            <p:nvPr/>
          </p:nvSpPr>
          <p:spPr>
            <a:xfrm>
              <a:off x="2258" y="3125"/>
              <a:ext cx="273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8562" name="Text Box 21"/>
            <p:cNvSpPr txBox="1"/>
            <p:nvPr/>
          </p:nvSpPr>
          <p:spPr>
            <a:xfrm>
              <a:off x="2290" y="3448"/>
              <a:ext cx="273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8563" name="Text Box 22"/>
            <p:cNvSpPr txBox="1"/>
            <p:nvPr/>
          </p:nvSpPr>
          <p:spPr>
            <a:xfrm>
              <a:off x="2951" y="3119"/>
              <a:ext cx="273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8564" name="Text Box 23"/>
            <p:cNvSpPr txBox="1"/>
            <p:nvPr/>
          </p:nvSpPr>
          <p:spPr>
            <a:xfrm>
              <a:off x="2957" y="3441"/>
              <a:ext cx="273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8565" name="Text Box 24"/>
            <p:cNvSpPr txBox="1"/>
            <p:nvPr/>
          </p:nvSpPr>
          <p:spPr>
            <a:xfrm>
              <a:off x="4481" y="3113"/>
              <a:ext cx="273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8566" name="Text Box 25"/>
            <p:cNvSpPr txBox="1"/>
            <p:nvPr/>
          </p:nvSpPr>
          <p:spPr>
            <a:xfrm>
              <a:off x="4481" y="3428"/>
              <a:ext cx="273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8567" name="Text Box 26"/>
            <p:cNvSpPr txBox="1"/>
            <p:nvPr/>
          </p:nvSpPr>
          <p:spPr>
            <a:xfrm>
              <a:off x="5181" y="3113"/>
              <a:ext cx="273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8568" name="Text Box 27"/>
            <p:cNvSpPr txBox="1"/>
            <p:nvPr/>
          </p:nvSpPr>
          <p:spPr>
            <a:xfrm>
              <a:off x="5161" y="3430"/>
              <a:ext cx="273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0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182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182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6" dur="500"/>
                                        <p:tgtEl>
                                          <p:spTgt spid="182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80" grpId="0"/>
      <p:bldP spid="182281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/>
          <p:nvPr/>
        </p:nvSpPr>
        <p:spPr>
          <a:xfrm>
            <a:off x="250825" y="738188"/>
            <a:ext cx="1757363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en-US" altLang="zh-CN" sz="3200" dirty="0">
                <a:latin typeface="Times New Roman" panose="02020603050405020304" pitchFamily="18" charset="0"/>
              </a:rPr>
              <a:t>2)</a:t>
            </a:r>
            <a:r>
              <a:rPr lang="zh-CN" altLang="en-US" sz="3200" dirty="0">
                <a:latin typeface="Times New Roman" panose="02020603050405020304" pitchFamily="18" charset="0"/>
              </a:rPr>
              <a:t>诱导力</a:t>
            </a:r>
          </a:p>
        </p:txBody>
      </p:sp>
      <p:sp>
        <p:nvSpPr>
          <p:cNvPr id="109571" name="Text Box 3"/>
          <p:cNvSpPr txBox="1"/>
          <p:nvPr/>
        </p:nvSpPr>
        <p:spPr>
          <a:xfrm>
            <a:off x="431800" y="1492250"/>
            <a:ext cx="8820150" cy="138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非极性分子在极性分子固有偶极作用下，发生变形，产生诱导偶极，</a:t>
            </a:r>
            <a:r>
              <a:rPr lang="zh-CN" altLang="en-US" b="1" dirty="0">
                <a:solidFill>
                  <a:srgbClr val="F72F63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诱导偶极与固有偶极之间的作用力称为诱导力。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09572" name="Group 4"/>
          <p:cNvGrpSpPr/>
          <p:nvPr/>
        </p:nvGrpSpPr>
        <p:grpSpPr>
          <a:xfrm>
            <a:off x="754063" y="3282950"/>
            <a:ext cx="7256462" cy="579438"/>
            <a:chOff x="657" y="3339"/>
            <a:chExt cx="4571" cy="486"/>
          </a:xfrm>
        </p:grpSpPr>
        <p:graphicFrame>
          <p:nvGraphicFramePr>
            <p:cNvPr id="109573" name="Object 5"/>
            <p:cNvGraphicFramePr>
              <a:graphicFrameLocks noChangeAspect="1"/>
            </p:cNvGraphicFramePr>
            <p:nvPr/>
          </p:nvGraphicFramePr>
          <p:xfrm>
            <a:off x="657" y="3339"/>
            <a:ext cx="4571" cy="4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7258050" imgH="771525" progId="Paint.Picture">
                    <p:embed/>
                  </p:oleObj>
                </mc:Choice>
                <mc:Fallback>
                  <p:oleObj r:id="rId2" imgW="7258050" imgH="771525" progId="Paint.Picture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657" y="3339"/>
                          <a:ext cx="4571" cy="4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574" name="Line 6"/>
            <p:cNvSpPr/>
            <p:nvPr/>
          </p:nvSpPr>
          <p:spPr>
            <a:xfrm>
              <a:off x="2653" y="3566"/>
              <a:ext cx="54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 spd="med">
    <p:wipe dir="r"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 Box 2"/>
          <p:cNvSpPr txBox="1"/>
          <p:nvPr/>
        </p:nvSpPr>
        <p:spPr>
          <a:xfrm>
            <a:off x="619125" y="1203325"/>
            <a:ext cx="7254875" cy="868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　    极性分子相互靠近时，发生定向极化， </a:t>
            </a:r>
            <a:endParaRPr lang="zh-CN" altLang="en-US" sz="12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　　</a:t>
            </a:r>
            <a:r>
              <a:rPr lang="zh-CN" altLang="en-US" sz="2400" b="1" dirty="0">
                <a:solidFill>
                  <a:srgbClr val="F72F63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由固有偶极的取向而产生的作用力称为取向力。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0595" name="Group 3"/>
          <p:cNvGrpSpPr/>
          <p:nvPr/>
        </p:nvGrpSpPr>
        <p:grpSpPr>
          <a:xfrm>
            <a:off x="323850" y="2178050"/>
            <a:ext cx="8751888" cy="1108075"/>
            <a:chOff x="158" y="1909"/>
            <a:chExt cx="5513" cy="931"/>
          </a:xfrm>
        </p:grpSpPr>
        <p:grpSp>
          <p:nvGrpSpPr>
            <p:cNvPr id="110598" name="Group 4"/>
            <p:cNvGrpSpPr/>
            <p:nvPr/>
          </p:nvGrpSpPr>
          <p:grpSpPr>
            <a:xfrm>
              <a:off x="158" y="1909"/>
              <a:ext cx="5513" cy="931"/>
              <a:chOff x="211" y="586"/>
              <a:chExt cx="5513" cy="931"/>
            </a:xfrm>
          </p:grpSpPr>
          <p:graphicFrame>
            <p:nvGraphicFramePr>
              <p:cNvPr id="110601" name="Object 5"/>
              <p:cNvGraphicFramePr>
                <a:graphicFrameLocks noChangeAspect="1"/>
              </p:cNvGraphicFramePr>
              <p:nvPr/>
            </p:nvGraphicFramePr>
            <p:xfrm>
              <a:off x="249" y="845"/>
              <a:ext cx="5307" cy="6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" imgW="7038975" imgH="1066800" progId="Paint.Picture">
                      <p:embed/>
                    </p:oleObj>
                  </mc:Choice>
                  <mc:Fallback>
                    <p:oleObj r:id="rId2" imgW="7038975" imgH="1066800" progId="Paint.Picture">
                      <p:embed/>
                      <p:pic>
                        <p:nvPicPr>
                          <p:cNvPr id="0" name="图片 3131"/>
                          <p:cNvPicPr/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249" y="845"/>
                            <a:ext cx="5307" cy="672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0602" name="Line 6"/>
              <p:cNvSpPr/>
              <p:nvPr/>
            </p:nvSpPr>
            <p:spPr>
              <a:xfrm>
                <a:off x="1973" y="890"/>
                <a:ext cx="0" cy="59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603" name="Line 7"/>
              <p:cNvSpPr/>
              <p:nvPr/>
            </p:nvSpPr>
            <p:spPr>
              <a:xfrm>
                <a:off x="3890" y="855"/>
                <a:ext cx="0" cy="59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604" name="Line 8"/>
              <p:cNvSpPr/>
              <p:nvPr/>
            </p:nvSpPr>
            <p:spPr>
              <a:xfrm>
                <a:off x="5489" y="859"/>
                <a:ext cx="0" cy="59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605" name="Text Box 9"/>
              <p:cNvSpPr txBox="1"/>
              <p:nvPr/>
            </p:nvSpPr>
            <p:spPr>
              <a:xfrm>
                <a:off x="1737" y="749"/>
                <a:ext cx="272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06" name="Text Box 10"/>
              <p:cNvSpPr txBox="1"/>
              <p:nvPr/>
            </p:nvSpPr>
            <p:spPr>
              <a:xfrm>
                <a:off x="3663" y="730"/>
                <a:ext cx="272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07" name="Text Box 11"/>
              <p:cNvSpPr txBox="1"/>
              <p:nvPr/>
            </p:nvSpPr>
            <p:spPr>
              <a:xfrm>
                <a:off x="5452" y="586"/>
                <a:ext cx="272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_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08" name="Line 12"/>
              <p:cNvSpPr/>
              <p:nvPr/>
            </p:nvSpPr>
            <p:spPr>
              <a:xfrm>
                <a:off x="1383" y="1162"/>
                <a:ext cx="40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10609" name="Line 13"/>
              <p:cNvSpPr/>
              <p:nvPr/>
            </p:nvSpPr>
            <p:spPr>
              <a:xfrm>
                <a:off x="3288" y="1162"/>
                <a:ext cx="40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10610" name="Text Box 14"/>
              <p:cNvSpPr txBox="1"/>
              <p:nvPr/>
            </p:nvSpPr>
            <p:spPr>
              <a:xfrm rot="-1617181">
                <a:off x="467" y="783"/>
                <a:ext cx="273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11" name="Text Box 15"/>
              <p:cNvSpPr txBox="1"/>
              <p:nvPr/>
            </p:nvSpPr>
            <p:spPr>
              <a:xfrm rot="1353317">
                <a:off x="271" y="1146"/>
                <a:ext cx="273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12" name="Text Box 16"/>
              <p:cNvSpPr txBox="1"/>
              <p:nvPr/>
            </p:nvSpPr>
            <p:spPr>
              <a:xfrm rot="-227340">
                <a:off x="1067" y="853"/>
                <a:ext cx="273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13" name="Text Box 17"/>
              <p:cNvSpPr txBox="1"/>
              <p:nvPr/>
            </p:nvSpPr>
            <p:spPr>
              <a:xfrm>
                <a:off x="815" y="1150"/>
                <a:ext cx="273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14" name="Text Box 18"/>
              <p:cNvSpPr txBox="1"/>
              <p:nvPr/>
            </p:nvSpPr>
            <p:spPr>
              <a:xfrm>
                <a:off x="2245" y="835"/>
                <a:ext cx="273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15" name="Text Box 19"/>
              <p:cNvSpPr txBox="1"/>
              <p:nvPr/>
            </p:nvSpPr>
            <p:spPr>
              <a:xfrm>
                <a:off x="2888" y="833"/>
                <a:ext cx="273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16" name="Text Box 20"/>
              <p:cNvSpPr txBox="1"/>
              <p:nvPr/>
            </p:nvSpPr>
            <p:spPr>
              <a:xfrm>
                <a:off x="2257" y="1153"/>
                <a:ext cx="273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17" name="Text Box 21"/>
              <p:cNvSpPr txBox="1"/>
              <p:nvPr/>
            </p:nvSpPr>
            <p:spPr>
              <a:xfrm>
                <a:off x="2883" y="1150"/>
                <a:ext cx="273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18" name="Text Box 22"/>
              <p:cNvSpPr txBox="1"/>
              <p:nvPr/>
            </p:nvSpPr>
            <p:spPr>
              <a:xfrm>
                <a:off x="4365" y="854"/>
                <a:ext cx="273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19" name="Text Box 23"/>
              <p:cNvSpPr txBox="1"/>
              <p:nvPr/>
            </p:nvSpPr>
            <p:spPr>
              <a:xfrm>
                <a:off x="4364" y="1107"/>
                <a:ext cx="273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20" name="Text Box 24"/>
              <p:cNvSpPr txBox="1"/>
              <p:nvPr/>
            </p:nvSpPr>
            <p:spPr>
              <a:xfrm>
                <a:off x="5193" y="857"/>
                <a:ext cx="273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21" name="Text Box 25"/>
              <p:cNvSpPr txBox="1"/>
              <p:nvPr/>
            </p:nvSpPr>
            <p:spPr>
              <a:xfrm>
                <a:off x="5191" y="1107"/>
                <a:ext cx="273" cy="33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0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22" name="Text Box 26"/>
              <p:cNvSpPr txBox="1"/>
              <p:nvPr/>
            </p:nvSpPr>
            <p:spPr>
              <a:xfrm rot="-1647021">
                <a:off x="211" y="759"/>
                <a:ext cx="181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_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23" name="Text Box 27"/>
              <p:cNvSpPr txBox="1"/>
              <p:nvPr/>
            </p:nvSpPr>
            <p:spPr>
              <a:xfrm rot="1670595">
                <a:off x="555" y="1062"/>
                <a:ext cx="181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_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24" name="Text Box 28"/>
              <p:cNvSpPr txBox="1"/>
              <p:nvPr/>
            </p:nvSpPr>
            <p:spPr>
              <a:xfrm>
                <a:off x="812" y="706"/>
                <a:ext cx="181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_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25" name="Text Box 29"/>
              <p:cNvSpPr txBox="1"/>
              <p:nvPr/>
            </p:nvSpPr>
            <p:spPr>
              <a:xfrm>
                <a:off x="1056" y="1015"/>
                <a:ext cx="181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_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26" name="Text Box 30"/>
              <p:cNvSpPr txBox="1"/>
              <p:nvPr/>
            </p:nvSpPr>
            <p:spPr>
              <a:xfrm>
                <a:off x="2006" y="687"/>
                <a:ext cx="181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_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27" name="Text Box 31"/>
              <p:cNvSpPr txBox="1"/>
              <p:nvPr/>
            </p:nvSpPr>
            <p:spPr>
              <a:xfrm>
                <a:off x="2018" y="1003"/>
                <a:ext cx="181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_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28" name="Text Box 32"/>
              <p:cNvSpPr txBox="1"/>
              <p:nvPr/>
            </p:nvSpPr>
            <p:spPr>
              <a:xfrm>
                <a:off x="2608" y="685"/>
                <a:ext cx="181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_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29" name="Text Box 33"/>
              <p:cNvSpPr txBox="1"/>
              <p:nvPr/>
            </p:nvSpPr>
            <p:spPr>
              <a:xfrm>
                <a:off x="2608" y="1003"/>
                <a:ext cx="181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_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30" name="Text Box 34"/>
              <p:cNvSpPr txBox="1"/>
              <p:nvPr/>
            </p:nvSpPr>
            <p:spPr>
              <a:xfrm>
                <a:off x="3978" y="709"/>
                <a:ext cx="181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_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31" name="Text Box 35"/>
              <p:cNvSpPr txBox="1"/>
              <p:nvPr/>
            </p:nvSpPr>
            <p:spPr>
              <a:xfrm>
                <a:off x="3957" y="979"/>
                <a:ext cx="181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_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32" name="Text Box 36"/>
              <p:cNvSpPr txBox="1"/>
              <p:nvPr/>
            </p:nvSpPr>
            <p:spPr>
              <a:xfrm>
                <a:off x="4785" y="709"/>
                <a:ext cx="181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_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633" name="Text Box 37"/>
              <p:cNvSpPr txBox="1"/>
              <p:nvPr/>
            </p:nvSpPr>
            <p:spPr>
              <a:xfrm>
                <a:off x="4794" y="981"/>
                <a:ext cx="181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_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0599" name="Line 38"/>
            <p:cNvSpPr/>
            <p:nvPr/>
          </p:nvSpPr>
          <p:spPr>
            <a:xfrm>
              <a:off x="3094" y="2205"/>
              <a:ext cx="0" cy="5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0600" name="Line 39"/>
            <p:cNvSpPr/>
            <p:nvPr/>
          </p:nvSpPr>
          <p:spPr>
            <a:xfrm>
              <a:off x="3139" y="2251"/>
              <a:ext cx="9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0596" name="Rectangle 40"/>
          <p:cNvSpPr/>
          <p:nvPr/>
        </p:nvSpPr>
        <p:spPr>
          <a:xfrm>
            <a:off x="363538" y="382588"/>
            <a:ext cx="2184400" cy="646112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3600" dirty="0">
                <a:latin typeface="Times New Roman" panose="02020603050405020304" pitchFamily="18" charset="0"/>
              </a:rPr>
              <a:t> </a:t>
            </a:r>
            <a:r>
              <a:rPr lang="en-US" altLang="zh-CN" sz="3600" dirty="0">
                <a:latin typeface="Times New Roman" panose="02020603050405020304" pitchFamily="18" charset="0"/>
              </a:rPr>
              <a:t>3)</a:t>
            </a:r>
            <a:r>
              <a:rPr lang="zh-CN" altLang="en-US" sz="3600" dirty="0">
                <a:latin typeface="Times New Roman" panose="02020603050405020304" pitchFamily="18" charset="0"/>
              </a:rPr>
              <a:t>取向力 </a:t>
            </a:r>
          </a:p>
        </p:txBody>
      </p:sp>
      <p:sp>
        <p:nvSpPr>
          <p:cNvPr id="184361" name="Text Box 41"/>
          <p:cNvSpPr txBox="1"/>
          <p:nvPr/>
        </p:nvSpPr>
        <p:spPr>
          <a:xfrm>
            <a:off x="271463" y="3579813"/>
            <a:ext cx="8820150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  极性分子定向极化后，会进一步产生诱 导偶极，产生</a:t>
            </a:r>
            <a:r>
              <a:rPr lang="zh-CN" altLang="en-US" sz="2400" b="1" dirty="0">
                <a:solidFill>
                  <a:srgbClr val="F72F63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诱导力。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1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/>
          <p:nvPr/>
        </p:nvSpPr>
        <p:spPr>
          <a:xfrm>
            <a:off x="971550" y="1600200"/>
            <a:ext cx="7772400" cy="571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endParaRPr lang="zh-CN" altLang="en-US" sz="4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1619" name="Line 3"/>
          <p:cNvSpPr/>
          <p:nvPr/>
        </p:nvSpPr>
        <p:spPr>
          <a:xfrm flipV="1">
            <a:off x="990600" y="1200150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111620" name="Text Box 4"/>
          <p:cNvSpPr txBox="1"/>
          <p:nvPr/>
        </p:nvSpPr>
        <p:spPr>
          <a:xfrm>
            <a:off x="179388" y="896938"/>
            <a:ext cx="3598862" cy="438150"/>
          </a:xfrm>
          <a:prstGeom prst="rect">
            <a:avLst/>
          </a:prstGeom>
          <a:gradFill rotWithShape="1">
            <a:gsLst>
              <a:gs pos="0">
                <a:srgbClr val="32256F"/>
              </a:gs>
              <a:gs pos="50000">
                <a:srgbClr val="6B50F0"/>
              </a:gs>
              <a:gs pos="100000">
                <a:srgbClr val="32256F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分子间力的产生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85366" name="Group 22"/>
          <p:cNvGraphicFramePr>
            <a:graphicFrameLocks noGrp="1"/>
          </p:cNvGraphicFramePr>
          <p:nvPr/>
        </p:nvGraphicFramePr>
        <p:xfrm>
          <a:off x="250825" y="1436688"/>
          <a:ext cx="8497888" cy="3403283"/>
        </p:xfrm>
        <a:graphic>
          <a:graphicData uri="http://schemas.openxmlformats.org/drawingml/2006/table">
            <a:tbl>
              <a:tblPr/>
              <a:tblGrid>
                <a:gridCol w="475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4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019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分      子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分子间力种类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1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非极性分子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-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非极性分子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色散力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1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非极性分子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-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极性分子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色散力、诱导力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887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极性分子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-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极性分子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色散力、诱导力、取向力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1638" name="Text Box 23"/>
          <p:cNvSpPr txBox="1"/>
          <p:nvPr/>
        </p:nvSpPr>
        <p:spPr>
          <a:xfrm>
            <a:off x="179388" y="141288"/>
            <a:ext cx="3168650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dirty="0">
                <a:solidFill>
                  <a:srgbClr val="000000"/>
                </a:solidFill>
                <a:latin typeface="华文新魏" panose="02010800040101010101" pitchFamily="2" charset="-122"/>
              </a:rPr>
              <a:t>2.</a:t>
            </a:r>
            <a:r>
              <a:rPr lang="zh-CN" altLang="en-US" sz="3600" dirty="0">
                <a:solidFill>
                  <a:srgbClr val="000000"/>
                </a:solidFill>
                <a:latin typeface="华文新魏" panose="02010800040101010101" pitchFamily="2" charset="-122"/>
              </a:rPr>
              <a:t>分子间力 </a:t>
            </a:r>
            <a:endParaRPr lang="zh-CN" altLang="en-US" sz="3600" dirty="0">
              <a:latin typeface="华文新魏" panose="02010800040101010101" pitchFamily="2" charset="-122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/>
          <p:nvPr/>
        </p:nvSpPr>
        <p:spPr>
          <a:xfrm>
            <a:off x="969963" y="1833563"/>
            <a:ext cx="7772400" cy="571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endParaRPr lang="zh-CN" altLang="en-US" sz="4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2643" name="Line 3"/>
          <p:cNvSpPr/>
          <p:nvPr/>
        </p:nvSpPr>
        <p:spPr>
          <a:xfrm flipV="1">
            <a:off x="989013" y="1433513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112644" name="Text Box 4"/>
          <p:cNvSpPr txBox="1"/>
          <p:nvPr/>
        </p:nvSpPr>
        <p:spPr>
          <a:xfrm>
            <a:off x="349250" y="303213"/>
            <a:ext cx="3598863" cy="574675"/>
          </a:xfrm>
          <a:prstGeom prst="rect">
            <a:avLst/>
          </a:prstGeom>
          <a:gradFill rotWithShape="1">
            <a:gsLst>
              <a:gs pos="0">
                <a:srgbClr val="32256F"/>
              </a:gs>
              <a:gs pos="50000">
                <a:srgbClr val="6B50F0"/>
              </a:gs>
              <a:gs pos="100000">
                <a:srgbClr val="32256F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分子间力的特点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2645" name="Group 5"/>
          <p:cNvGrpSpPr/>
          <p:nvPr/>
        </p:nvGrpSpPr>
        <p:grpSpPr>
          <a:xfrm>
            <a:off x="320675" y="912813"/>
            <a:ext cx="6770688" cy="461962"/>
            <a:chOff x="203" y="494"/>
            <a:chExt cx="4265" cy="387"/>
          </a:xfrm>
        </p:grpSpPr>
        <p:sp>
          <p:nvSpPr>
            <p:cNvPr id="112658" name="Text Box 6"/>
            <p:cNvSpPr txBox="1"/>
            <p:nvPr/>
          </p:nvSpPr>
          <p:spPr>
            <a:xfrm>
              <a:off x="385" y="494"/>
              <a:ext cx="4083" cy="3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是一种电性作用力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659" name="Oval 7"/>
            <p:cNvSpPr/>
            <p:nvPr/>
          </p:nvSpPr>
          <p:spPr>
            <a:xfrm>
              <a:off x="203" y="663"/>
              <a:ext cx="137" cy="136"/>
            </a:xfrm>
            <a:prstGeom prst="ellipse">
              <a:avLst/>
            </a:prstGeom>
            <a:solidFill>
              <a:srgbClr val="3333FF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8"/>
          <p:cNvGrpSpPr/>
          <p:nvPr/>
        </p:nvGrpSpPr>
        <p:grpSpPr>
          <a:xfrm>
            <a:off x="317500" y="1562100"/>
            <a:ext cx="8824913" cy="460375"/>
            <a:chOff x="201" y="885"/>
            <a:chExt cx="5559" cy="387"/>
          </a:xfrm>
        </p:grpSpPr>
        <p:sp>
          <p:nvSpPr>
            <p:cNvPr id="112656" name="Text Box 9"/>
            <p:cNvSpPr txBox="1"/>
            <p:nvPr/>
          </p:nvSpPr>
          <p:spPr>
            <a:xfrm>
              <a:off x="383" y="885"/>
              <a:ext cx="5377" cy="3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作用距离短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,</a:t>
              </a: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作用范围仅为几百皮米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(pm)</a:t>
              </a:r>
              <a:r>
                <a:rPr lang="en-US" altLang="zh-CN" sz="16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657" name="Oval 10"/>
            <p:cNvSpPr/>
            <p:nvPr/>
          </p:nvSpPr>
          <p:spPr>
            <a:xfrm>
              <a:off x="201" y="1018"/>
              <a:ext cx="137" cy="136"/>
            </a:xfrm>
            <a:prstGeom prst="ellipse">
              <a:avLst/>
            </a:prstGeom>
            <a:solidFill>
              <a:srgbClr val="3333FF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1"/>
          <p:cNvGrpSpPr/>
          <p:nvPr/>
        </p:nvGrpSpPr>
        <p:grpSpPr>
          <a:xfrm>
            <a:off x="322263" y="2209800"/>
            <a:ext cx="8824912" cy="887413"/>
            <a:chOff x="201" y="885"/>
            <a:chExt cx="5559" cy="745"/>
          </a:xfrm>
        </p:grpSpPr>
        <p:sp>
          <p:nvSpPr>
            <p:cNvPr id="112654" name="Text Box 12"/>
            <p:cNvSpPr txBox="1"/>
            <p:nvPr/>
          </p:nvSpPr>
          <p:spPr>
            <a:xfrm>
              <a:off x="383" y="885"/>
              <a:ext cx="5377" cy="74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作用能小，一般为几到几十千焦每摩尔， </a:t>
              </a:r>
              <a:endParaRPr lang="zh-CN" altLang="en-US" sz="12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65000"/>
                </a:lnSpc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比键能小 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1~2</a:t>
              </a: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个数量级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655" name="Oval 13"/>
            <p:cNvSpPr/>
            <p:nvPr/>
          </p:nvSpPr>
          <p:spPr>
            <a:xfrm>
              <a:off x="201" y="1018"/>
              <a:ext cx="137" cy="136"/>
            </a:xfrm>
            <a:prstGeom prst="ellipse">
              <a:avLst/>
            </a:prstGeom>
            <a:solidFill>
              <a:srgbClr val="3333FF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" name="Group 14"/>
          <p:cNvGrpSpPr/>
          <p:nvPr/>
        </p:nvGrpSpPr>
        <p:grpSpPr>
          <a:xfrm>
            <a:off x="322263" y="3290888"/>
            <a:ext cx="8824912" cy="460375"/>
            <a:chOff x="201" y="885"/>
            <a:chExt cx="5559" cy="388"/>
          </a:xfrm>
        </p:grpSpPr>
        <p:sp>
          <p:nvSpPr>
            <p:cNvPr id="112652" name="Text Box 15"/>
            <p:cNvSpPr txBox="1"/>
            <p:nvPr/>
          </p:nvSpPr>
          <p:spPr>
            <a:xfrm>
              <a:off x="383" y="885"/>
              <a:ext cx="5377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无饱和性和方向性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653" name="Oval 16"/>
            <p:cNvSpPr/>
            <p:nvPr/>
          </p:nvSpPr>
          <p:spPr>
            <a:xfrm>
              <a:off x="201" y="1018"/>
              <a:ext cx="137" cy="136"/>
            </a:xfrm>
            <a:prstGeom prst="ellipse">
              <a:avLst/>
            </a:prstGeom>
            <a:solidFill>
              <a:srgbClr val="3333FF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17"/>
          <p:cNvGrpSpPr/>
          <p:nvPr/>
        </p:nvGrpSpPr>
        <p:grpSpPr>
          <a:xfrm>
            <a:off x="322263" y="3938588"/>
            <a:ext cx="8824912" cy="887412"/>
            <a:chOff x="201" y="885"/>
            <a:chExt cx="5559" cy="745"/>
          </a:xfrm>
        </p:grpSpPr>
        <p:sp>
          <p:nvSpPr>
            <p:cNvPr id="112650" name="Text Box 18"/>
            <p:cNvSpPr txBox="1"/>
            <p:nvPr/>
          </p:nvSpPr>
          <p:spPr>
            <a:xfrm>
              <a:off x="383" y="885"/>
              <a:ext cx="5377" cy="74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对大多数分子来说，以色散力为主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(</a:t>
              </a: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除极 </a:t>
              </a:r>
              <a:endParaRPr lang="zh-CN" altLang="en-US" sz="12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65000"/>
                </a:lnSpc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性很大且存在氢键的分子，如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H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2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O</a:t>
              </a: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外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)</a:t>
              </a:r>
              <a:endParaRPr lang="en-US" altLang="zh-CN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2651" name="Oval 19"/>
            <p:cNvSpPr/>
            <p:nvPr/>
          </p:nvSpPr>
          <p:spPr>
            <a:xfrm>
              <a:off x="201" y="1018"/>
              <a:ext cx="137" cy="136"/>
            </a:xfrm>
            <a:prstGeom prst="ellipse">
              <a:avLst/>
            </a:prstGeom>
            <a:solidFill>
              <a:srgbClr val="3333FF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18"/>
          <p:cNvSpPr/>
          <p:nvPr/>
        </p:nvSpPr>
        <p:spPr>
          <a:xfrm>
            <a:off x="971550" y="1816100"/>
            <a:ext cx="7772400" cy="571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endParaRPr lang="zh-CN" altLang="en-US" sz="4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3667" name="Line 19"/>
          <p:cNvSpPr/>
          <p:nvPr/>
        </p:nvSpPr>
        <p:spPr>
          <a:xfrm flipV="1">
            <a:off x="990600" y="1416050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113668" name="Text Box 20"/>
          <p:cNvSpPr txBox="1"/>
          <p:nvPr/>
        </p:nvSpPr>
        <p:spPr>
          <a:xfrm>
            <a:off x="430213" y="195263"/>
            <a:ext cx="5761037" cy="655637"/>
          </a:xfrm>
          <a:prstGeom prst="rect">
            <a:avLst/>
          </a:prstGeom>
          <a:gradFill rotWithShape="1">
            <a:gsLst>
              <a:gs pos="0">
                <a:srgbClr val="32256F"/>
              </a:gs>
              <a:gs pos="50000">
                <a:srgbClr val="6B50F0"/>
              </a:gs>
              <a:gs pos="100000">
                <a:srgbClr val="32256F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分子间力对物质性质的影响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87413" name="Group 21"/>
          <p:cNvGraphicFramePr>
            <a:graphicFrameLocks noGrp="1"/>
          </p:cNvGraphicFramePr>
          <p:nvPr/>
        </p:nvGraphicFramePr>
        <p:xfrm>
          <a:off x="250825" y="896938"/>
          <a:ext cx="8642350" cy="3953351"/>
        </p:xfrm>
        <a:graphic>
          <a:graphicData uri="http://schemas.openxmlformats.org/drawingml/2006/table">
            <a:tbl>
              <a:tblPr/>
              <a:tblGrid>
                <a:gridCol w="576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4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5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744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l-GR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α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 </a:t>
                      </a:r>
                      <a:endParaRPr kumimoji="0" lang="en-US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10</a:t>
                      </a:r>
                      <a:r>
                        <a:rPr kumimoji="0" lang="en-US" altLang="zh-CN" sz="21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-40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C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·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m</a:t>
                      </a:r>
                      <a:r>
                        <a:rPr kumimoji="0" lang="en-US" altLang="zh-CN" sz="21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2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·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V</a:t>
                      </a:r>
                      <a:r>
                        <a:rPr kumimoji="0" lang="en-US" altLang="zh-CN" sz="21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-1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熔点 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℃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沸点 </a:t>
                      </a:r>
                      <a:endParaRPr kumimoji="0" lang="zh-CN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℃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溶解度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28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H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O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乙醇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丙酮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He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0.225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-272.2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-268.9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0.137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0.599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0.684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5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Ne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0.436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-248.67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-245.9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0.174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0.857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1.15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02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Ar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1.813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-189.2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-185.7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0.414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6.54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8.09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21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Kr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2.737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-156.0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-152.7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0.888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－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－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78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Xe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4.451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-111.9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-107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1.94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－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－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12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Rn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6.029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-71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-61.8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4.14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211.2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254.9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741">
                <a:tc grid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l-GR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α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/(10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-40 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C·m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·V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)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1.65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5.89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7.33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2" name="Group 110"/>
          <p:cNvGrpSpPr/>
          <p:nvPr/>
        </p:nvGrpSpPr>
        <p:grpSpPr>
          <a:xfrm>
            <a:off x="971550" y="950913"/>
            <a:ext cx="7848600" cy="3889375"/>
            <a:chOff x="612" y="618"/>
            <a:chExt cx="4944" cy="3266"/>
          </a:xfrm>
        </p:grpSpPr>
        <p:sp>
          <p:nvSpPr>
            <p:cNvPr id="113748" name="Text Box 111"/>
            <p:cNvSpPr txBox="1"/>
            <p:nvPr/>
          </p:nvSpPr>
          <p:spPr>
            <a:xfrm>
              <a:off x="3334" y="618"/>
              <a:ext cx="2222" cy="3266"/>
            </a:xfrm>
            <a:prstGeom prst="rect">
              <a:avLst/>
            </a:prstGeom>
            <a:gradFill rotWithShape="1">
              <a:gsLst>
                <a:gs pos="0">
                  <a:srgbClr val="72162E"/>
                </a:gs>
                <a:gs pos="50000">
                  <a:srgbClr val="F72F63"/>
                </a:gs>
                <a:gs pos="100000">
                  <a:srgbClr val="72162E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一般来说</a:t>
              </a:r>
              <a:r>
                <a:rPr lang="en-US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, </a:t>
              </a:r>
              <a:endParaRPr lang="en-US" altLang="zh-CN" sz="20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85000"/>
                </a:lnSpc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结构相似的同系 </a:t>
              </a:r>
              <a:endParaRPr lang="zh-CN" altLang="en-US" sz="20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85000"/>
                </a:lnSpc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列物质相对分子 </a:t>
              </a:r>
              <a:endParaRPr lang="zh-CN" altLang="en-US" sz="20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85000"/>
                </a:lnSpc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质量越大</a:t>
              </a:r>
              <a:r>
                <a:rPr lang="en-US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, </a:t>
              </a:r>
              <a:endParaRPr lang="en-US" altLang="zh-CN" sz="20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85000"/>
                </a:lnSpc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分子变形性越大</a:t>
              </a:r>
              <a:r>
                <a:rPr lang="en-US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, </a:t>
              </a:r>
              <a:endParaRPr lang="en-US" altLang="zh-CN" sz="20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85000"/>
                </a:lnSpc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分子间力越强， </a:t>
              </a:r>
              <a:endParaRPr lang="zh-CN" altLang="en-US" sz="20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85000"/>
                </a:lnSpc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熔、沸点越高。</a:t>
              </a:r>
              <a:endParaRPr lang="zh-CN" altLang="en-US" sz="20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3749" name="Line 112"/>
            <p:cNvSpPr/>
            <p:nvPr/>
          </p:nvSpPr>
          <p:spPr>
            <a:xfrm>
              <a:off x="612" y="1344"/>
              <a:ext cx="0" cy="2086"/>
            </a:xfrm>
            <a:prstGeom prst="line">
              <a:avLst/>
            </a:prstGeom>
            <a:ln w="28575" cap="flat" cmpd="sng">
              <a:solidFill>
                <a:srgbClr val="F72F63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13745" name="Line 113"/>
          <p:cNvSpPr/>
          <p:nvPr/>
        </p:nvSpPr>
        <p:spPr>
          <a:xfrm>
            <a:off x="971550" y="1328738"/>
            <a:ext cx="14398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3746" name="Line 114"/>
          <p:cNvSpPr/>
          <p:nvPr/>
        </p:nvSpPr>
        <p:spPr>
          <a:xfrm>
            <a:off x="2771775" y="1328738"/>
            <a:ext cx="10795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3747" name="Line 115"/>
          <p:cNvSpPr/>
          <p:nvPr/>
        </p:nvSpPr>
        <p:spPr>
          <a:xfrm>
            <a:off x="4140200" y="1328738"/>
            <a:ext cx="863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/>
          <p:nvPr/>
        </p:nvSpPr>
        <p:spPr>
          <a:xfrm>
            <a:off x="971550" y="1600200"/>
            <a:ext cx="7772400" cy="571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endParaRPr lang="zh-CN" altLang="en-US" sz="4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4691" name="Line 3"/>
          <p:cNvSpPr/>
          <p:nvPr/>
        </p:nvSpPr>
        <p:spPr>
          <a:xfrm flipV="1">
            <a:off x="990600" y="1200150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114692" name="Text Box 4"/>
          <p:cNvSpPr txBox="1"/>
          <p:nvPr/>
        </p:nvSpPr>
        <p:spPr>
          <a:xfrm>
            <a:off x="430213" y="476250"/>
            <a:ext cx="5761037" cy="438150"/>
          </a:xfrm>
          <a:prstGeom prst="rect">
            <a:avLst/>
          </a:prstGeom>
          <a:gradFill rotWithShape="1">
            <a:gsLst>
              <a:gs pos="0">
                <a:srgbClr val="32256F"/>
              </a:gs>
              <a:gs pos="50000">
                <a:srgbClr val="6B50F0"/>
              </a:gs>
              <a:gs pos="100000">
                <a:srgbClr val="32256F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分子间力对物质性质的影响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88421" name="Group 5"/>
          <p:cNvGraphicFramePr>
            <a:graphicFrameLocks noGrp="1"/>
          </p:cNvGraphicFramePr>
          <p:nvPr/>
        </p:nvGraphicFramePr>
        <p:xfrm>
          <a:off x="250825" y="1042988"/>
          <a:ext cx="8642350" cy="3953351"/>
        </p:xfrm>
        <a:graphic>
          <a:graphicData uri="http://schemas.openxmlformats.org/drawingml/2006/table">
            <a:tbl>
              <a:tblPr/>
              <a:tblGrid>
                <a:gridCol w="576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44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5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7445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l-GR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α</a:t>
                      </a: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 </a:t>
                      </a:r>
                      <a:endParaRPr kumimoji="0" lang="en-US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10</a:t>
                      </a:r>
                      <a:r>
                        <a:rPr kumimoji="0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-40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C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·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m</a:t>
                      </a:r>
                      <a:r>
                        <a:rPr kumimoji="0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·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V</a:t>
                      </a:r>
                      <a:r>
                        <a:rPr kumimoji="0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-1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熔点 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℃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沸点 </a:t>
                      </a: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℃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溶解度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28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H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O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乙醇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丙酮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22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He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0.225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-272.2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-268.9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0.137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0.599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0.684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50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Ne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0.436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-248.67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-245.9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0.174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0.857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1.15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02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Ar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1.813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-189.2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-185.7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0.414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6.54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8.09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21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Kr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2.737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-156.0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-152.7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0.888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－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－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78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Xe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4.451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-111.9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-107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1.94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－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－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12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Rn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6.029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-71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-61.8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4.14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211.2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254.9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741">
                <a:tc gridSpan="4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l-GR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α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/(10</a:t>
                      </a:r>
                      <a:r>
                        <a:rPr kumimoji="0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-40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C·m</a:t>
                      </a:r>
                      <a:r>
                        <a:rPr kumimoji="0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·V</a:t>
                      </a:r>
                      <a:r>
                        <a:rPr kumimoji="0" lang="en-US" altLang="zh-CN" sz="20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-1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)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1.65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5.89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7.33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4768" name="Line 94"/>
          <p:cNvSpPr/>
          <p:nvPr/>
        </p:nvSpPr>
        <p:spPr>
          <a:xfrm>
            <a:off x="971550" y="1112838"/>
            <a:ext cx="14398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769" name="Line 95"/>
          <p:cNvSpPr/>
          <p:nvPr/>
        </p:nvSpPr>
        <p:spPr>
          <a:xfrm>
            <a:off x="2771775" y="1112838"/>
            <a:ext cx="10795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770" name="Line 96"/>
          <p:cNvSpPr/>
          <p:nvPr/>
        </p:nvSpPr>
        <p:spPr>
          <a:xfrm>
            <a:off x="4140200" y="1112838"/>
            <a:ext cx="863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88513" name="Text Box 97"/>
          <p:cNvSpPr txBox="1"/>
          <p:nvPr/>
        </p:nvSpPr>
        <p:spPr>
          <a:xfrm>
            <a:off x="936625" y="1885950"/>
            <a:ext cx="7019925" cy="1262063"/>
          </a:xfrm>
          <a:prstGeom prst="rect">
            <a:avLst/>
          </a:prstGeom>
          <a:gradFill rotWithShape="1">
            <a:gsLst>
              <a:gs pos="0">
                <a:srgbClr val="005E00"/>
              </a:gs>
              <a:gs pos="50000">
                <a:srgbClr val="00CC00"/>
              </a:gs>
              <a:gs pos="100000">
                <a:srgbClr val="005E00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pPr algn="ctr"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溶质或溶剂分子的变形性越大， </a:t>
            </a:r>
            <a:endParaRPr lang="zh-CN" altLang="en-US" sz="16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55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分子间力越大，溶解度越大。</a:t>
            </a:r>
            <a:endParaRPr lang="zh-CN" altLang="en-US" sz="1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500"/>
                                        <p:tgtEl>
                                          <p:spTgt spid="188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513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4" name="Picture 1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888" y="1006475"/>
            <a:ext cx="6769100" cy="3494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5715" name="Line 51"/>
          <p:cNvSpPr/>
          <p:nvPr/>
        </p:nvSpPr>
        <p:spPr>
          <a:xfrm flipV="1">
            <a:off x="990600" y="1200150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115716" name="Text Box 52"/>
          <p:cNvSpPr txBox="1"/>
          <p:nvPr/>
        </p:nvSpPr>
        <p:spPr>
          <a:xfrm>
            <a:off x="179388" y="55563"/>
            <a:ext cx="6840537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6-5-3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氢键</a:t>
            </a:r>
            <a:r>
              <a:rPr lang="zh-CN" altLang="en-US" sz="32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5717" name="Rectangle 53"/>
          <p:cNvSpPr/>
          <p:nvPr/>
        </p:nvSpPr>
        <p:spPr>
          <a:xfrm>
            <a:off x="107950" y="574675"/>
            <a:ext cx="8928100" cy="106363"/>
          </a:xfrm>
          <a:prstGeom prst="rect">
            <a:avLst/>
          </a:prstGeom>
          <a:gradFill rotWithShape="1">
            <a:gsLst>
              <a:gs pos="0">
                <a:srgbClr val="767276"/>
              </a:gs>
              <a:gs pos="50000">
                <a:srgbClr val="FFF7FF"/>
              </a:gs>
              <a:gs pos="100000">
                <a:srgbClr val="767276"/>
              </a:gs>
            </a:gsLst>
            <a:lin ang="5400000" scaled="1"/>
            <a:tileRect/>
          </a:gra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5718" name="Group 54"/>
          <p:cNvGrpSpPr/>
          <p:nvPr/>
        </p:nvGrpSpPr>
        <p:grpSpPr>
          <a:xfrm>
            <a:off x="5254625" y="4730750"/>
            <a:ext cx="3708400" cy="269875"/>
            <a:chOff x="3310" y="3973"/>
            <a:chExt cx="2336" cy="227"/>
          </a:xfrm>
        </p:grpSpPr>
        <p:sp>
          <p:nvSpPr>
            <p:cNvPr id="115761" name="AutoShape 55">
              <a:hlinkClick r:id="" action="ppaction://hlinkshowjump?jump=previousslide"/>
            </p:cNvPr>
            <p:cNvSpPr/>
            <p:nvPr/>
          </p:nvSpPr>
          <p:spPr>
            <a:xfrm>
              <a:off x="3310" y="3973"/>
              <a:ext cx="590" cy="227"/>
            </a:xfrm>
            <a:prstGeom prst="actionButtonBackPrevious">
              <a:avLst/>
            </a:prstGeom>
            <a:gradFill rotWithShape="1">
              <a:gsLst>
                <a:gs pos="0">
                  <a:srgbClr val="9292A1"/>
                </a:gs>
                <a:gs pos="50000">
                  <a:srgbClr val="E7E7FF"/>
                </a:gs>
                <a:gs pos="100000">
                  <a:srgbClr val="9292A1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5762" name="AutoShape 56">
              <a:hlinkClick r:id="" action="ppaction://hlinkshowjump?jump=nextslide"/>
            </p:cNvPr>
            <p:cNvSpPr/>
            <p:nvPr/>
          </p:nvSpPr>
          <p:spPr>
            <a:xfrm>
              <a:off x="3900" y="3973"/>
              <a:ext cx="544" cy="227"/>
            </a:xfrm>
            <a:prstGeom prst="actionButtonForwardNext">
              <a:avLst/>
            </a:prstGeom>
            <a:gradFill rotWithShape="1">
              <a:gsLst>
                <a:gs pos="0">
                  <a:srgbClr val="9292A1"/>
                </a:gs>
                <a:gs pos="50000">
                  <a:srgbClr val="E7E7FF"/>
                </a:gs>
                <a:gs pos="100000">
                  <a:srgbClr val="9292A1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5763" name="AutoShape 57">
              <a:hlinkClick r:id="" action="ppaction://hlinkshowjump?jump=firstslide"/>
            </p:cNvPr>
            <p:cNvSpPr/>
            <p:nvPr/>
          </p:nvSpPr>
          <p:spPr>
            <a:xfrm>
              <a:off x="4444" y="3973"/>
              <a:ext cx="635" cy="227"/>
            </a:xfrm>
            <a:prstGeom prst="actionButtonBeginning">
              <a:avLst/>
            </a:prstGeom>
            <a:gradFill rotWithShape="1">
              <a:gsLst>
                <a:gs pos="0">
                  <a:srgbClr val="9292A1"/>
                </a:gs>
                <a:gs pos="50000">
                  <a:srgbClr val="E7E7FF"/>
                </a:gs>
                <a:gs pos="100000">
                  <a:srgbClr val="9292A1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15764" name="AutoShape 58">
              <a:hlinkClick r:id="" action="ppaction://hlinkshowjump?jump=lastslide"/>
            </p:cNvPr>
            <p:cNvSpPr/>
            <p:nvPr/>
          </p:nvSpPr>
          <p:spPr>
            <a:xfrm>
              <a:off x="5079" y="3973"/>
              <a:ext cx="567" cy="227"/>
            </a:xfrm>
            <a:prstGeom prst="actionButtonEnd">
              <a:avLst/>
            </a:prstGeom>
            <a:gradFill rotWithShape="1">
              <a:gsLst>
                <a:gs pos="0">
                  <a:srgbClr val="9292A1"/>
                </a:gs>
                <a:gs pos="50000">
                  <a:srgbClr val="E7E7FF"/>
                </a:gs>
                <a:gs pos="100000">
                  <a:srgbClr val="9292A1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15719" name="Text Box 59"/>
          <p:cNvSpPr txBox="1"/>
          <p:nvPr/>
        </p:nvSpPr>
        <p:spPr>
          <a:xfrm rot="-5400000">
            <a:off x="100013" y="1930400"/>
            <a:ext cx="1027112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200" b="1" i="1" dirty="0">
                <a:latin typeface="Times New Roman" panose="02020603050405020304" pitchFamily="18" charset="0"/>
                <a:ea typeface="幼圆" panose="02010509060101010101" pitchFamily="49" charset="-122"/>
              </a:rPr>
              <a:t>t</a:t>
            </a:r>
            <a:r>
              <a:rPr lang="en-US" altLang="zh-CN" sz="32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/</a:t>
            </a:r>
            <a:r>
              <a:rPr lang="en-US" altLang="zh-CN" sz="3200" b="1" dirty="0">
                <a:latin typeface="幼圆" panose="02010509060101010101" pitchFamily="49" charset="-122"/>
                <a:ea typeface="幼圆" panose="02010509060101010101" pitchFamily="49" charset="-122"/>
              </a:rPr>
              <a:t>℃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5720" name="Text Box 60"/>
          <p:cNvSpPr txBox="1"/>
          <p:nvPr/>
        </p:nvSpPr>
        <p:spPr>
          <a:xfrm>
            <a:off x="3563938" y="4567238"/>
            <a:ext cx="1511300" cy="4000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周期数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5721" name="Text Box 61"/>
          <p:cNvSpPr txBox="1"/>
          <p:nvPr/>
        </p:nvSpPr>
        <p:spPr>
          <a:xfrm>
            <a:off x="1927225" y="4389438"/>
            <a:ext cx="6264275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16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2        3        4        5               2        3        4        5  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5722" name="Text Box 62"/>
          <p:cNvSpPr txBox="1"/>
          <p:nvPr/>
        </p:nvSpPr>
        <p:spPr>
          <a:xfrm>
            <a:off x="250825" y="195263"/>
            <a:ext cx="8569325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9503" name="Text Box 63"/>
          <p:cNvSpPr txBox="1"/>
          <p:nvPr/>
        </p:nvSpPr>
        <p:spPr>
          <a:xfrm>
            <a:off x="323850" y="115888"/>
            <a:ext cx="8569325" cy="830262"/>
          </a:xfrm>
          <a:prstGeom prst="rect">
            <a:avLst/>
          </a:prstGeom>
          <a:gradFill rotWithShape="1">
            <a:gsLst>
              <a:gs pos="0">
                <a:srgbClr val="72162E"/>
              </a:gs>
              <a:gs pos="50000">
                <a:srgbClr val="F72F63"/>
              </a:gs>
              <a:gs pos="100000">
                <a:srgbClr val="72162E"/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同周期氢化物熔、沸点随相对分子质量的增大而升高，但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NH</a:t>
            </a:r>
            <a:r>
              <a:rPr lang="en-US" altLang="zh-CN" sz="24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3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H</a:t>
            </a:r>
            <a:r>
              <a:rPr lang="en-US" altLang="zh-CN" sz="2400" b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O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、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HF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特殊。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5724" name="Group 65"/>
          <p:cNvGrpSpPr/>
          <p:nvPr/>
        </p:nvGrpSpPr>
        <p:grpSpPr>
          <a:xfrm>
            <a:off x="1433513" y="1816100"/>
            <a:ext cx="3873500" cy="2819400"/>
            <a:chOff x="903" y="1389"/>
            <a:chExt cx="2440" cy="2368"/>
          </a:xfrm>
        </p:grpSpPr>
        <p:sp>
          <p:nvSpPr>
            <p:cNvPr id="115745" name="Text Box 66"/>
            <p:cNvSpPr txBox="1"/>
            <p:nvPr/>
          </p:nvSpPr>
          <p:spPr>
            <a:xfrm>
              <a:off x="1111" y="1389"/>
              <a:ext cx="499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H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2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O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5746" name="Text Box 67"/>
            <p:cNvSpPr txBox="1"/>
            <p:nvPr/>
          </p:nvSpPr>
          <p:spPr>
            <a:xfrm>
              <a:off x="1701" y="2202"/>
              <a:ext cx="589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H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2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S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5747" name="Text Box 68"/>
            <p:cNvSpPr txBox="1"/>
            <p:nvPr/>
          </p:nvSpPr>
          <p:spPr>
            <a:xfrm>
              <a:off x="2143" y="2048"/>
              <a:ext cx="589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H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2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Se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5748" name="Text Box 69"/>
            <p:cNvSpPr txBox="1"/>
            <p:nvPr/>
          </p:nvSpPr>
          <p:spPr>
            <a:xfrm>
              <a:off x="2563" y="1900"/>
              <a:ext cx="589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H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2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Te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5749" name="Text Box 70"/>
            <p:cNvSpPr txBox="1"/>
            <p:nvPr/>
          </p:nvSpPr>
          <p:spPr>
            <a:xfrm>
              <a:off x="999" y="2432"/>
              <a:ext cx="430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HF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5750" name="Text Box 71"/>
            <p:cNvSpPr txBox="1"/>
            <p:nvPr/>
          </p:nvSpPr>
          <p:spPr>
            <a:xfrm>
              <a:off x="1634" y="2478"/>
              <a:ext cx="566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HCl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5751" name="Text Box 72"/>
            <p:cNvSpPr txBox="1"/>
            <p:nvPr/>
          </p:nvSpPr>
          <p:spPr>
            <a:xfrm>
              <a:off x="2269" y="2450"/>
              <a:ext cx="566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HBr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5752" name="Text Box 73"/>
            <p:cNvSpPr txBox="1"/>
            <p:nvPr/>
          </p:nvSpPr>
          <p:spPr>
            <a:xfrm>
              <a:off x="2768" y="2069"/>
              <a:ext cx="566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HI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5753" name="Text Box 74"/>
            <p:cNvSpPr txBox="1"/>
            <p:nvPr/>
          </p:nvSpPr>
          <p:spPr>
            <a:xfrm>
              <a:off x="903" y="2115"/>
              <a:ext cx="566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NH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3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5754" name="Text Box 75"/>
            <p:cNvSpPr txBox="1"/>
            <p:nvPr/>
          </p:nvSpPr>
          <p:spPr>
            <a:xfrm>
              <a:off x="1613" y="2928"/>
              <a:ext cx="566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PH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3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5755" name="Text Box 76"/>
            <p:cNvSpPr txBox="1"/>
            <p:nvPr/>
          </p:nvSpPr>
          <p:spPr>
            <a:xfrm>
              <a:off x="2278" y="2750"/>
              <a:ext cx="566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AsH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3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5756" name="Text Box 77"/>
            <p:cNvSpPr txBox="1"/>
            <p:nvPr/>
          </p:nvSpPr>
          <p:spPr>
            <a:xfrm>
              <a:off x="2756" y="2454"/>
              <a:ext cx="566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SbH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3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5757" name="Text Box 78"/>
            <p:cNvSpPr txBox="1"/>
            <p:nvPr/>
          </p:nvSpPr>
          <p:spPr>
            <a:xfrm>
              <a:off x="906" y="3203"/>
              <a:ext cx="566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CH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4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5758" name="Text Box 79"/>
            <p:cNvSpPr txBox="1"/>
            <p:nvPr/>
          </p:nvSpPr>
          <p:spPr>
            <a:xfrm>
              <a:off x="1791" y="3369"/>
              <a:ext cx="566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SiH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4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5759" name="Text Box 80"/>
            <p:cNvSpPr txBox="1"/>
            <p:nvPr/>
          </p:nvSpPr>
          <p:spPr>
            <a:xfrm>
              <a:off x="2269" y="3199"/>
              <a:ext cx="566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GeH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4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5760" name="Text Box 81"/>
            <p:cNvSpPr txBox="1"/>
            <p:nvPr/>
          </p:nvSpPr>
          <p:spPr>
            <a:xfrm>
              <a:off x="2777" y="3043"/>
              <a:ext cx="566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SnH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4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5725" name="Group 82"/>
          <p:cNvGrpSpPr/>
          <p:nvPr/>
        </p:nvGrpSpPr>
        <p:grpSpPr>
          <a:xfrm>
            <a:off x="5561013" y="2273300"/>
            <a:ext cx="3308350" cy="2146300"/>
            <a:chOff x="3527" y="1909"/>
            <a:chExt cx="2084" cy="1803"/>
          </a:xfrm>
        </p:grpSpPr>
        <p:sp>
          <p:nvSpPr>
            <p:cNvPr id="115740" name="Text Box 83"/>
            <p:cNvSpPr txBox="1"/>
            <p:nvPr/>
          </p:nvSpPr>
          <p:spPr>
            <a:xfrm>
              <a:off x="3527" y="3324"/>
              <a:ext cx="566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CH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4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5741" name="Text Box 84"/>
            <p:cNvSpPr txBox="1"/>
            <p:nvPr/>
          </p:nvSpPr>
          <p:spPr>
            <a:xfrm>
              <a:off x="4026" y="2874"/>
              <a:ext cx="566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SiH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4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5742" name="Text Box 85"/>
            <p:cNvSpPr txBox="1"/>
            <p:nvPr/>
          </p:nvSpPr>
          <p:spPr>
            <a:xfrm>
              <a:off x="4525" y="2647"/>
              <a:ext cx="566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GeH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4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5743" name="Text Box 86"/>
            <p:cNvSpPr txBox="1"/>
            <p:nvPr/>
          </p:nvSpPr>
          <p:spPr>
            <a:xfrm>
              <a:off x="5012" y="2329"/>
              <a:ext cx="566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SnH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4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5744" name="Text Box 87"/>
            <p:cNvSpPr txBox="1"/>
            <p:nvPr/>
          </p:nvSpPr>
          <p:spPr>
            <a:xfrm>
              <a:off x="5045" y="1909"/>
              <a:ext cx="566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SbH</a:t>
              </a:r>
              <a:r>
                <a:rPr lang="en-US" altLang="zh-CN" sz="2400" b="1" baseline="-25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3</a:t>
              </a:r>
              <a:endParaRPr lang="en-US" altLang="zh-CN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5726" name="Text Box 88"/>
          <p:cNvSpPr txBox="1"/>
          <p:nvPr/>
        </p:nvSpPr>
        <p:spPr>
          <a:xfrm>
            <a:off x="665163" y="939800"/>
            <a:ext cx="863600" cy="2789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100 </a:t>
            </a:r>
            <a:endParaRPr lang="en-US" altLang="zh-CN" sz="18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160000"/>
              </a:lnSpc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 0 </a:t>
            </a:r>
            <a:endParaRPr lang="en-US" altLang="zh-CN" sz="18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160000"/>
              </a:lnSpc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-100 </a:t>
            </a:r>
            <a:endParaRPr lang="en-US" altLang="zh-CN" sz="18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160000"/>
              </a:lnSpc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-200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5727" name="Text Box 89"/>
          <p:cNvSpPr txBox="1"/>
          <p:nvPr/>
        </p:nvSpPr>
        <p:spPr>
          <a:xfrm>
            <a:off x="5300663" y="2419350"/>
            <a:ext cx="97155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NH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3</a:t>
            </a:r>
            <a:r>
              <a:rPr lang="en-US" altLang="zh-CN" sz="36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5728" name="Text Box 90"/>
          <p:cNvSpPr txBox="1"/>
          <p:nvPr/>
        </p:nvSpPr>
        <p:spPr>
          <a:xfrm>
            <a:off x="5795963" y="3165475"/>
            <a:ext cx="971550" cy="647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PH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3</a:t>
            </a:r>
            <a:r>
              <a:rPr lang="en-US" altLang="zh-CN" sz="36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5729" name="Text Box 91"/>
          <p:cNvSpPr txBox="1"/>
          <p:nvPr/>
        </p:nvSpPr>
        <p:spPr>
          <a:xfrm>
            <a:off x="7162800" y="2571750"/>
            <a:ext cx="971550" cy="646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AsH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3</a:t>
            </a:r>
            <a:r>
              <a:rPr lang="en-US" altLang="zh-CN" sz="36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5730" name="Text Box 92"/>
          <p:cNvSpPr txBox="1"/>
          <p:nvPr/>
        </p:nvSpPr>
        <p:spPr>
          <a:xfrm>
            <a:off x="5076825" y="1978025"/>
            <a:ext cx="79057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HF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5731" name="Text Box 93"/>
          <p:cNvSpPr txBox="1"/>
          <p:nvPr/>
        </p:nvSpPr>
        <p:spPr>
          <a:xfrm>
            <a:off x="5791200" y="2895600"/>
            <a:ext cx="79057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HCl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5732" name="Text Box 94"/>
          <p:cNvSpPr txBox="1"/>
          <p:nvPr/>
        </p:nvSpPr>
        <p:spPr>
          <a:xfrm>
            <a:off x="6877050" y="2938463"/>
            <a:ext cx="7905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HBr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5733" name="Text Box 95"/>
          <p:cNvSpPr txBox="1"/>
          <p:nvPr/>
        </p:nvSpPr>
        <p:spPr>
          <a:xfrm>
            <a:off x="7937500" y="2519363"/>
            <a:ext cx="7905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HI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5734" name="Text Box 96"/>
          <p:cNvSpPr txBox="1"/>
          <p:nvPr/>
        </p:nvSpPr>
        <p:spPr>
          <a:xfrm>
            <a:off x="4970463" y="1046163"/>
            <a:ext cx="7905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H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O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5735" name="Text Box 97"/>
          <p:cNvSpPr txBox="1"/>
          <p:nvPr/>
        </p:nvSpPr>
        <p:spPr>
          <a:xfrm>
            <a:off x="6227763" y="2619375"/>
            <a:ext cx="79057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H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S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5736" name="Text Box 98"/>
          <p:cNvSpPr txBox="1"/>
          <p:nvPr/>
        </p:nvSpPr>
        <p:spPr>
          <a:xfrm>
            <a:off x="6804025" y="2355850"/>
            <a:ext cx="100806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H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Se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5737" name="Text Box 99"/>
          <p:cNvSpPr txBox="1"/>
          <p:nvPr/>
        </p:nvSpPr>
        <p:spPr>
          <a:xfrm>
            <a:off x="7885113" y="1924050"/>
            <a:ext cx="100806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H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Te</a:t>
            </a:r>
            <a:endParaRPr lang="en-US" altLang="zh-CN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5738" name="Text Box 100"/>
          <p:cNvSpPr txBox="1"/>
          <p:nvPr/>
        </p:nvSpPr>
        <p:spPr>
          <a:xfrm>
            <a:off x="2698750" y="965200"/>
            <a:ext cx="12969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熔点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5739" name="Text Box 101"/>
          <p:cNvSpPr txBox="1"/>
          <p:nvPr/>
        </p:nvSpPr>
        <p:spPr>
          <a:xfrm>
            <a:off x="6300788" y="950913"/>
            <a:ext cx="129698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沸点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" dur="500"/>
                                        <p:tgtEl>
                                          <p:spTgt spid="189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503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/>
          <p:nvPr/>
        </p:nvSpPr>
        <p:spPr>
          <a:xfrm>
            <a:off x="395288" y="153988"/>
            <a:ext cx="1620837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</a:rPr>
              <a:t>3. </a:t>
            </a:r>
            <a:r>
              <a:rPr lang="zh-CN" altLang="en-US" sz="3200" dirty="0">
                <a:latin typeface="Times New Roman" panose="02020603050405020304" pitchFamily="18" charset="0"/>
              </a:rPr>
              <a:t>氢键 </a:t>
            </a:r>
          </a:p>
        </p:txBody>
      </p:sp>
      <p:sp>
        <p:nvSpPr>
          <p:cNvPr id="116739" name="Line 3"/>
          <p:cNvSpPr/>
          <p:nvPr/>
        </p:nvSpPr>
        <p:spPr>
          <a:xfrm flipV="1">
            <a:off x="963613" y="1722438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116740" name="Text Box 4"/>
          <p:cNvSpPr txBox="1"/>
          <p:nvPr/>
        </p:nvSpPr>
        <p:spPr>
          <a:xfrm>
            <a:off x="584200" y="663575"/>
            <a:ext cx="2665413" cy="436563"/>
          </a:xfrm>
          <a:prstGeom prst="rect">
            <a:avLst/>
          </a:prstGeom>
          <a:gradFill rotWithShape="1">
            <a:gsLst>
              <a:gs pos="0">
                <a:srgbClr val="32256F"/>
              </a:gs>
              <a:gs pos="50000">
                <a:srgbClr val="6B50F0"/>
              </a:gs>
              <a:gs pos="100000">
                <a:srgbClr val="32256F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氢键的形成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6741" name="Group 5"/>
          <p:cNvGrpSpPr/>
          <p:nvPr/>
        </p:nvGrpSpPr>
        <p:grpSpPr>
          <a:xfrm>
            <a:off x="296863" y="1068388"/>
            <a:ext cx="4278312" cy="523875"/>
            <a:chOff x="276" y="482"/>
            <a:chExt cx="2695" cy="439"/>
          </a:xfrm>
        </p:grpSpPr>
        <p:sp>
          <p:nvSpPr>
            <p:cNvPr id="116766" name="Oval 6"/>
            <p:cNvSpPr/>
            <p:nvPr/>
          </p:nvSpPr>
          <p:spPr>
            <a:xfrm>
              <a:off x="276" y="642"/>
              <a:ext cx="136" cy="136"/>
            </a:xfrm>
            <a:prstGeom prst="ellipse">
              <a:avLst/>
            </a:prstGeom>
            <a:solidFill>
              <a:srgbClr val="3333FF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16767" name="Text Box 7"/>
            <p:cNvSpPr txBox="1"/>
            <p:nvPr/>
          </p:nvSpPr>
          <p:spPr>
            <a:xfrm>
              <a:off x="431" y="482"/>
              <a:ext cx="2540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同种分子间的氢键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6742" name="Text Box 8"/>
          <p:cNvSpPr txBox="1"/>
          <p:nvPr/>
        </p:nvSpPr>
        <p:spPr>
          <a:xfrm>
            <a:off x="225425" y="1477963"/>
            <a:ext cx="1079500" cy="646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36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如</a:t>
            </a:r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6743" name="Group 9"/>
          <p:cNvGrpSpPr/>
          <p:nvPr/>
        </p:nvGrpSpPr>
        <p:grpSpPr>
          <a:xfrm>
            <a:off x="512763" y="1522413"/>
            <a:ext cx="8659812" cy="1327150"/>
            <a:chOff x="340" y="752"/>
            <a:chExt cx="5455" cy="1116"/>
          </a:xfrm>
        </p:grpSpPr>
        <p:grpSp>
          <p:nvGrpSpPr>
            <p:cNvPr id="116745" name="Group 10"/>
            <p:cNvGrpSpPr/>
            <p:nvPr/>
          </p:nvGrpSpPr>
          <p:grpSpPr>
            <a:xfrm>
              <a:off x="340" y="845"/>
              <a:ext cx="5261" cy="1023"/>
              <a:chOff x="431" y="935"/>
              <a:chExt cx="5261" cy="1023"/>
            </a:xfrm>
          </p:grpSpPr>
          <p:grpSp>
            <p:nvGrpSpPr>
              <p:cNvPr id="116748" name="Group 11"/>
              <p:cNvGrpSpPr/>
              <p:nvPr/>
            </p:nvGrpSpPr>
            <p:grpSpPr>
              <a:xfrm>
                <a:off x="431" y="935"/>
                <a:ext cx="5261" cy="1023"/>
                <a:chOff x="431" y="935"/>
                <a:chExt cx="5261" cy="1023"/>
              </a:xfrm>
            </p:grpSpPr>
            <p:grpSp>
              <p:nvGrpSpPr>
                <p:cNvPr id="116750" name="Group 12"/>
                <p:cNvGrpSpPr/>
                <p:nvPr/>
              </p:nvGrpSpPr>
              <p:grpSpPr>
                <a:xfrm>
                  <a:off x="431" y="935"/>
                  <a:ext cx="5261" cy="884"/>
                  <a:chOff x="386" y="1207"/>
                  <a:chExt cx="5261" cy="884"/>
                </a:xfrm>
              </p:grpSpPr>
              <p:sp>
                <p:nvSpPr>
                  <p:cNvPr id="116755" name="Text Box 13"/>
                  <p:cNvSpPr txBox="1"/>
                  <p:nvPr/>
                </p:nvSpPr>
                <p:spPr>
                  <a:xfrm>
                    <a:off x="386" y="1207"/>
                    <a:ext cx="5261" cy="884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zh-CN" altLang="en-US" sz="24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                    </a:t>
                    </a:r>
                    <a:r>
                      <a:rPr lang="en-US" altLang="zh-CN" sz="24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F                                    F </a:t>
                    </a:r>
                    <a:endParaRPr lang="en-US" altLang="zh-CN" sz="1400" dirty="0">
                      <a:latin typeface="Arial" panose="020B0604020202020204" pitchFamily="34" charset="0"/>
                      <a:ea typeface="ˎ̥"/>
                    </a:endParaRPr>
                  </a:p>
                  <a:p>
                    <a:pPr eaLnBrk="1" hangingPunct="1">
                      <a:lnSpc>
                        <a:spcPct val="30000"/>
                      </a:lnSpc>
                      <a:spcBef>
                        <a:spcPct val="50000"/>
                      </a:spcBef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          H                H                H                H </a:t>
                    </a:r>
                    <a:endParaRPr lang="en-US" altLang="zh-CN" sz="1400" dirty="0">
                      <a:latin typeface="Arial" panose="020B0604020202020204" pitchFamily="34" charset="0"/>
                      <a:ea typeface="ˎ̥"/>
                    </a:endParaRPr>
                  </a:p>
                  <a:p>
                    <a:pPr eaLnBrk="1" hangingPunct="1">
                      <a:lnSpc>
                        <a:spcPct val="30000"/>
                      </a:lnSpc>
                      <a:spcBef>
                        <a:spcPct val="50000"/>
                      </a:spcBef>
                    </a:pPr>
                    <a:r>
                      <a:rPr lang="en-US" altLang="zh-CN" sz="2400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 F                                    F                                    F       </a:t>
                    </a:r>
                    <a:endParaRPr lang="en-US" altLang="zh-CN" sz="1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16756" name="Line 14"/>
                  <p:cNvSpPr/>
                  <p:nvPr/>
                </p:nvSpPr>
                <p:spPr>
                  <a:xfrm flipV="1">
                    <a:off x="703" y="1752"/>
                    <a:ext cx="317" cy="18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dash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16757" name="Line 15"/>
                  <p:cNvSpPr/>
                  <p:nvPr/>
                </p:nvSpPr>
                <p:spPr>
                  <a:xfrm flipV="1">
                    <a:off x="1338" y="1389"/>
                    <a:ext cx="317" cy="18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16758" name="Line 16"/>
                  <p:cNvSpPr/>
                  <p:nvPr/>
                </p:nvSpPr>
                <p:spPr>
                  <a:xfrm flipV="1">
                    <a:off x="3787" y="1389"/>
                    <a:ext cx="317" cy="18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16759" name="Line 17"/>
                  <p:cNvSpPr/>
                  <p:nvPr/>
                </p:nvSpPr>
                <p:spPr>
                  <a:xfrm flipV="1">
                    <a:off x="3152" y="1752"/>
                    <a:ext cx="317" cy="181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dash"/>
                    <a:headEnd type="none" w="med" len="med"/>
                    <a:tailEnd type="none" w="med" len="med"/>
                  </a:ln>
                </p:spPr>
              </p:sp>
              <p:grpSp>
                <p:nvGrpSpPr>
                  <p:cNvPr id="116760" name="Group 18"/>
                  <p:cNvGrpSpPr/>
                  <p:nvPr/>
                </p:nvGrpSpPr>
                <p:grpSpPr>
                  <a:xfrm>
                    <a:off x="1927" y="1389"/>
                    <a:ext cx="998" cy="544"/>
                    <a:chOff x="1927" y="1389"/>
                    <a:chExt cx="998" cy="590"/>
                  </a:xfrm>
                </p:grpSpPr>
                <p:sp>
                  <p:nvSpPr>
                    <p:cNvPr id="116764" name="Line 19"/>
                    <p:cNvSpPr/>
                    <p:nvPr/>
                  </p:nvSpPr>
                  <p:spPr>
                    <a:xfrm>
                      <a:off x="1927" y="1389"/>
                      <a:ext cx="318" cy="181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dash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16765" name="Line 20"/>
                    <p:cNvSpPr/>
                    <p:nvPr/>
                  </p:nvSpPr>
                  <p:spPr>
                    <a:xfrm>
                      <a:off x="2562" y="1752"/>
                      <a:ext cx="363" cy="227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116761" name="Group 21"/>
                  <p:cNvGrpSpPr/>
                  <p:nvPr/>
                </p:nvGrpSpPr>
                <p:grpSpPr>
                  <a:xfrm>
                    <a:off x="4365" y="1398"/>
                    <a:ext cx="1055" cy="535"/>
                    <a:chOff x="1927" y="1389"/>
                    <a:chExt cx="998" cy="590"/>
                  </a:xfrm>
                </p:grpSpPr>
                <p:sp>
                  <p:nvSpPr>
                    <p:cNvPr id="116762" name="Line 22"/>
                    <p:cNvSpPr/>
                    <p:nvPr/>
                  </p:nvSpPr>
                  <p:spPr>
                    <a:xfrm>
                      <a:off x="1927" y="1389"/>
                      <a:ext cx="318" cy="181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dash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116763" name="Line 23"/>
                    <p:cNvSpPr/>
                    <p:nvPr/>
                  </p:nvSpPr>
                  <p:spPr>
                    <a:xfrm>
                      <a:off x="2562" y="1752"/>
                      <a:ext cx="363" cy="227"/>
                    </a:xfrm>
                    <a:prstGeom prst="line">
                      <a:avLst/>
                    </a:prstGeom>
                    <a:ln w="952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  <p:sp>
              <p:nvSpPr>
                <p:cNvPr id="116751" name="AutoShape 24"/>
                <p:cNvSpPr/>
                <p:nvPr/>
              </p:nvSpPr>
              <p:spPr>
                <a:xfrm rot="3674449">
                  <a:off x="3378" y="1454"/>
                  <a:ext cx="91" cy="499"/>
                </a:xfrm>
                <a:prstGeom prst="rightBrace">
                  <a:avLst>
                    <a:gd name="adj1" fmla="val 45695"/>
                    <a:gd name="adj2" fmla="val 45088"/>
                  </a:avLst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 eaLnBrk="1" hangingPunct="1"/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16752" name="Text Box 25"/>
                <p:cNvSpPr txBox="1"/>
                <p:nvPr/>
              </p:nvSpPr>
              <p:spPr>
                <a:xfrm>
                  <a:off x="3434" y="1570"/>
                  <a:ext cx="952" cy="3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163pm</a:t>
                  </a:r>
                  <a:endParaRPr lang="en-US" altLang="zh-CN" sz="14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6753" name="Line 26"/>
                <p:cNvSpPr/>
                <p:nvPr/>
              </p:nvSpPr>
              <p:spPr>
                <a:xfrm flipH="1" flipV="1">
                  <a:off x="1474" y="1253"/>
                  <a:ext cx="136" cy="136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116754" name="Line 27"/>
                <p:cNvSpPr/>
                <p:nvPr/>
              </p:nvSpPr>
              <p:spPr>
                <a:xfrm flipV="1">
                  <a:off x="2109" y="1207"/>
                  <a:ext cx="91" cy="18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sp>
            <p:nvSpPr>
              <p:cNvPr id="116749" name="Text Box 28"/>
              <p:cNvSpPr txBox="1"/>
              <p:nvPr/>
            </p:nvSpPr>
            <p:spPr>
              <a:xfrm>
                <a:off x="1519" y="1431"/>
                <a:ext cx="816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buNone/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140°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6746" name="AutoShape 29"/>
            <p:cNvSpPr/>
            <p:nvPr/>
          </p:nvSpPr>
          <p:spPr>
            <a:xfrm rot="-3811113">
              <a:off x="4853" y="519"/>
              <a:ext cx="170" cy="1222"/>
            </a:xfrm>
            <a:prstGeom prst="rightBrace">
              <a:avLst>
                <a:gd name="adj1" fmla="val 59901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16747" name="Text Box 30"/>
            <p:cNvSpPr txBox="1"/>
            <p:nvPr/>
          </p:nvSpPr>
          <p:spPr>
            <a:xfrm>
              <a:off x="4751" y="752"/>
              <a:ext cx="1044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255pm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0495" name="Text Box 31"/>
          <p:cNvSpPr txBox="1"/>
          <p:nvPr/>
        </p:nvSpPr>
        <p:spPr>
          <a:xfrm>
            <a:off x="223838" y="2984500"/>
            <a:ext cx="8820150" cy="12620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F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的电负性大，其共用电子对强烈偏向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F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H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只有一个电子，其电子云偏向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F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后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 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几乎呈质子，对附近另一个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HF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分子中的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F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产生静电吸引作用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 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该静电吸引作用力为氢键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。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95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5288" y="1168400"/>
            <a:ext cx="4824412" cy="585788"/>
            <a:chOff x="204" y="1892"/>
            <a:chExt cx="3039" cy="492"/>
          </a:xfrm>
        </p:grpSpPr>
        <p:sp>
          <p:nvSpPr>
            <p:cNvPr id="117781" name="Oval 3"/>
            <p:cNvSpPr/>
            <p:nvPr/>
          </p:nvSpPr>
          <p:spPr>
            <a:xfrm>
              <a:off x="204" y="2052"/>
              <a:ext cx="136" cy="136"/>
            </a:xfrm>
            <a:prstGeom prst="ellipse">
              <a:avLst/>
            </a:prstGeom>
            <a:solidFill>
              <a:srgbClr val="3333FF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7782" name="Text Box 4"/>
            <p:cNvSpPr txBox="1"/>
            <p:nvPr/>
          </p:nvSpPr>
          <p:spPr>
            <a:xfrm>
              <a:off x="359" y="1892"/>
              <a:ext cx="2884" cy="49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32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不同种分子间的氢键</a:t>
              </a:r>
              <a:endParaRPr lang="zh-CN" altLang="en-US" sz="16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Group 5"/>
          <p:cNvGrpSpPr/>
          <p:nvPr/>
        </p:nvGrpSpPr>
        <p:grpSpPr>
          <a:xfrm>
            <a:off x="900113" y="1816100"/>
            <a:ext cx="7705725" cy="1816100"/>
            <a:chOff x="657" y="2387"/>
            <a:chExt cx="4854" cy="1525"/>
          </a:xfrm>
        </p:grpSpPr>
        <p:grpSp>
          <p:nvGrpSpPr>
            <p:cNvPr id="117768" name="Group 6"/>
            <p:cNvGrpSpPr/>
            <p:nvPr/>
          </p:nvGrpSpPr>
          <p:grpSpPr>
            <a:xfrm>
              <a:off x="657" y="2387"/>
              <a:ext cx="2404" cy="1525"/>
              <a:chOff x="657" y="2387"/>
              <a:chExt cx="2404" cy="1525"/>
            </a:xfrm>
          </p:grpSpPr>
          <p:sp>
            <p:nvSpPr>
              <p:cNvPr id="117776" name="Text Box 7"/>
              <p:cNvSpPr txBox="1"/>
              <p:nvPr/>
            </p:nvSpPr>
            <p:spPr>
              <a:xfrm>
                <a:off x="657" y="2387"/>
                <a:ext cx="2404" cy="152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       </a:t>
                </a:r>
                <a:r>
                  <a:rPr lang="en-US" altLang="zh-CN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H              H </a:t>
                </a:r>
                <a:endParaRPr lang="en-US" altLang="zh-CN" sz="1600" dirty="0">
                  <a:latin typeface="Arial" panose="020B0604020202020204" pitchFamily="34" charset="0"/>
                  <a:ea typeface="ˎ̥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H—N       H—O </a:t>
                </a:r>
                <a:endParaRPr lang="en-US" altLang="zh-CN" sz="1600" dirty="0">
                  <a:latin typeface="Arial" panose="020B0604020202020204" pitchFamily="34" charset="0"/>
                  <a:ea typeface="ˎ̥"/>
                </a:endParaRPr>
              </a:p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       H</a:t>
                </a:r>
                <a:endParaRPr lang="en-US" altLang="zh-CN" sz="16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777" name="Line 8"/>
              <p:cNvSpPr/>
              <p:nvPr/>
            </p:nvSpPr>
            <p:spPr>
              <a:xfrm>
                <a:off x="1417" y="3058"/>
                <a:ext cx="317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17778" name="Line 9"/>
              <p:cNvSpPr/>
              <p:nvPr/>
            </p:nvSpPr>
            <p:spPr>
              <a:xfrm>
                <a:off x="1247" y="2716"/>
                <a:ext cx="0" cy="18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7779" name="Line 10"/>
              <p:cNvSpPr/>
              <p:nvPr/>
            </p:nvSpPr>
            <p:spPr>
              <a:xfrm>
                <a:off x="1247" y="3169"/>
                <a:ext cx="0" cy="18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7780" name="Line 11"/>
              <p:cNvSpPr/>
              <p:nvPr/>
            </p:nvSpPr>
            <p:spPr>
              <a:xfrm>
                <a:off x="2333" y="2716"/>
                <a:ext cx="0" cy="18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17769" name="Group 12"/>
            <p:cNvGrpSpPr/>
            <p:nvPr/>
          </p:nvGrpSpPr>
          <p:grpSpPr>
            <a:xfrm>
              <a:off x="2653" y="2432"/>
              <a:ext cx="2858" cy="982"/>
              <a:chOff x="2653" y="2432"/>
              <a:chExt cx="2858" cy="982"/>
            </a:xfrm>
          </p:grpSpPr>
          <p:sp>
            <p:nvSpPr>
              <p:cNvPr id="117770" name="Text Box 13"/>
              <p:cNvSpPr txBox="1"/>
              <p:nvPr/>
            </p:nvSpPr>
            <p:spPr>
              <a:xfrm>
                <a:off x="2653" y="2840"/>
                <a:ext cx="499" cy="4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32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或</a:t>
                </a:r>
                <a:endParaRPr lang="zh-CN" altLang="en-US" sz="16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117771" name="Group 14"/>
              <p:cNvGrpSpPr/>
              <p:nvPr/>
            </p:nvGrpSpPr>
            <p:grpSpPr>
              <a:xfrm>
                <a:off x="3152" y="2432"/>
                <a:ext cx="2359" cy="982"/>
                <a:chOff x="3152" y="2432"/>
                <a:chExt cx="2359" cy="982"/>
              </a:xfrm>
            </p:grpSpPr>
            <p:sp>
              <p:nvSpPr>
                <p:cNvPr id="117772" name="Text Box 15"/>
                <p:cNvSpPr txBox="1"/>
                <p:nvPr/>
              </p:nvSpPr>
              <p:spPr>
                <a:xfrm>
                  <a:off x="3152" y="2432"/>
                  <a:ext cx="2359" cy="98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zh-CN" altLang="en-US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       </a:t>
                  </a:r>
                  <a:r>
                    <a:rPr lang="en-US" altLang="zh-CN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H             H </a:t>
                  </a:r>
                  <a:endParaRPr lang="en-US" altLang="zh-CN" sz="1600" dirty="0">
                    <a:latin typeface="Arial" panose="020B0604020202020204" pitchFamily="34" charset="0"/>
                    <a:ea typeface="ˎ̥"/>
                  </a:endParaRPr>
                </a:p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H—N—H      O—H</a:t>
                  </a:r>
                  <a:endParaRPr lang="en-US" altLang="zh-CN" sz="16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7773" name="Line 16"/>
                <p:cNvSpPr/>
                <p:nvPr/>
              </p:nvSpPr>
              <p:spPr>
                <a:xfrm>
                  <a:off x="3742" y="2749"/>
                  <a:ext cx="0" cy="18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7774" name="Line 17"/>
                <p:cNvSpPr/>
                <p:nvPr/>
              </p:nvSpPr>
              <p:spPr>
                <a:xfrm>
                  <a:off x="4785" y="2762"/>
                  <a:ext cx="0" cy="182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7775" name="Line 18"/>
                <p:cNvSpPr/>
                <p:nvPr/>
              </p:nvSpPr>
              <p:spPr>
                <a:xfrm>
                  <a:off x="4332" y="3089"/>
                  <a:ext cx="317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</p:grpSp>
        </p:grpSp>
      </p:grpSp>
      <p:grpSp>
        <p:nvGrpSpPr>
          <p:cNvPr id="7" name="Group 19"/>
          <p:cNvGrpSpPr/>
          <p:nvPr/>
        </p:nvGrpSpPr>
        <p:grpSpPr>
          <a:xfrm>
            <a:off x="2339975" y="3436938"/>
            <a:ext cx="3887788" cy="522287"/>
            <a:chOff x="1464" y="3475"/>
            <a:chExt cx="2449" cy="440"/>
          </a:xfrm>
        </p:grpSpPr>
        <p:sp>
          <p:nvSpPr>
            <p:cNvPr id="117766" name="Text Box 20"/>
            <p:cNvSpPr txBox="1"/>
            <p:nvPr/>
          </p:nvSpPr>
          <p:spPr>
            <a:xfrm>
              <a:off x="1464" y="3475"/>
              <a:ext cx="2449" cy="440"/>
            </a:xfrm>
            <a:prstGeom prst="rect">
              <a:avLst/>
            </a:prstGeom>
            <a:gradFill rotWithShape="1">
              <a:gsLst>
                <a:gs pos="0">
                  <a:srgbClr val="72162E"/>
                </a:gs>
                <a:gs pos="50000">
                  <a:srgbClr val="F72F63"/>
                </a:gs>
                <a:gs pos="100000">
                  <a:srgbClr val="72162E"/>
                </a:gs>
              </a:gsLst>
              <a:lin ang="5400000" scaled="1"/>
              <a:tileRect/>
            </a:gra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通式：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X—H</a:t>
              </a:r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　</a:t>
              </a: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Y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7767" name="Line 21"/>
            <p:cNvSpPr/>
            <p:nvPr/>
          </p:nvSpPr>
          <p:spPr>
            <a:xfrm>
              <a:off x="3152" y="3702"/>
              <a:ext cx="239" cy="0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ysDot"/>
              <a:headEnd type="none" w="med" len="med"/>
              <a:tailEnd type="none" w="med" len="med"/>
            </a:ln>
          </p:spPr>
        </p:sp>
      </p:grpSp>
      <p:sp>
        <p:nvSpPr>
          <p:cNvPr id="117765" name="Text Box 22"/>
          <p:cNvSpPr txBox="1"/>
          <p:nvPr/>
        </p:nvSpPr>
        <p:spPr>
          <a:xfrm>
            <a:off x="611188" y="304800"/>
            <a:ext cx="2665412" cy="485775"/>
          </a:xfrm>
          <a:prstGeom prst="rect">
            <a:avLst/>
          </a:prstGeom>
          <a:gradFill rotWithShape="1">
            <a:gsLst>
              <a:gs pos="0">
                <a:srgbClr val="32256F"/>
              </a:gs>
              <a:gs pos="50000">
                <a:srgbClr val="6B50F0"/>
              </a:gs>
              <a:gs pos="100000">
                <a:srgbClr val="32256F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氢键的形成</a:t>
            </a:r>
            <a:endParaRPr lang="zh-CN" altLang="en-US" sz="1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ext Box 2"/>
          <p:cNvSpPr txBox="1"/>
          <p:nvPr/>
        </p:nvSpPr>
        <p:spPr>
          <a:xfrm>
            <a:off x="754063" y="282575"/>
            <a:ext cx="2665412" cy="487363"/>
          </a:xfrm>
          <a:prstGeom prst="rect">
            <a:avLst/>
          </a:prstGeom>
          <a:gradFill rotWithShape="1">
            <a:gsLst>
              <a:gs pos="0">
                <a:srgbClr val="32256F"/>
              </a:gs>
              <a:gs pos="50000">
                <a:srgbClr val="6B50F0"/>
              </a:gs>
              <a:gs pos="100000">
                <a:srgbClr val="32256F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氢键的特点</a:t>
            </a:r>
            <a:endParaRPr lang="zh-CN" altLang="en-US" sz="1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8787" name="Line 4"/>
          <p:cNvSpPr/>
          <p:nvPr/>
        </p:nvSpPr>
        <p:spPr>
          <a:xfrm flipV="1">
            <a:off x="774700" y="1579563"/>
            <a:ext cx="7848600" cy="0"/>
          </a:xfrm>
          <a:prstGeom prst="line">
            <a:avLst/>
          </a:prstGeom>
          <a:ln w="9525">
            <a:noFill/>
          </a:ln>
        </p:spPr>
      </p:sp>
      <p:grpSp>
        <p:nvGrpSpPr>
          <p:cNvPr id="118788" name="Group 8"/>
          <p:cNvGrpSpPr/>
          <p:nvPr/>
        </p:nvGrpSpPr>
        <p:grpSpPr>
          <a:xfrm>
            <a:off x="4067175" y="250825"/>
            <a:ext cx="3887788" cy="584200"/>
            <a:chOff x="1464" y="3475"/>
            <a:chExt cx="2449" cy="492"/>
          </a:xfrm>
        </p:grpSpPr>
        <p:sp>
          <p:nvSpPr>
            <p:cNvPr id="118802" name="Text Box 9"/>
            <p:cNvSpPr txBox="1"/>
            <p:nvPr/>
          </p:nvSpPr>
          <p:spPr>
            <a:xfrm>
              <a:off x="1464" y="3475"/>
              <a:ext cx="2449" cy="492"/>
            </a:xfrm>
            <a:prstGeom prst="rect">
              <a:avLst/>
            </a:prstGeom>
            <a:gradFill rotWithShape="1">
              <a:gsLst>
                <a:gs pos="0">
                  <a:srgbClr val="72162E"/>
                </a:gs>
                <a:gs pos="50000">
                  <a:srgbClr val="F72F63"/>
                </a:gs>
                <a:gs pos="100000">
                  <a:srgbClr val="72162E"/>
                </a:gs>
              </a:gsLst>
              <a:lin ang="5400000" scaled="1"/>
              <a:tileRect/>
            </a:gra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32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通式：</a:t>
              </a:r>
              <a:r>
                <a:rPr lang="en-US" altLang="zh-CN" sz="32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X—H</a:t>
              </a:r>
              <a:r>
                <a:rPr lang="zh-CN" altLang="en-US" sz="32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　</a:t>
              </a:r>
              <a:r>
                <a:rPr lang="en-US" altLang="zh-CN" sz="32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Y</a:t>
              </a:r>
              <a:endParaRPr lang="en-US" altLang="zh-CN" sz="16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8803" name="Line 10"/>
            <p:cNvSpPr/>
            <p:nvPr/>
          </p:nvSpPr>
          <p:spPr>
            <a:xfrm>
              <a:off x="3152" y="3702"/>
              <a:ext cx="239" cy="0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ysDot"/>
              <a:headEnd type="none" w="med" len="med"/>
              <a:tailEnd type="none" w="med" len="med"/>
            </a:ln>
          </p:spPr>
        </p:sp>
      </p:grpSp>
      <p:grpSp>
        <p:nvGrpSpPr>
          <p:cNvPr id="3" name="Group 25"/>
          <p:cNvGrpSpPr/>
          <p:nvPr/>
        </p:nvGrpSpPr>
        <p:grpSpPr>
          <a:xfrm>
            <a:off x="107950" y="1006475"/>
            <a:ext cx="9072563" cy="2271713"/>
            <a:chOff x="68" y="845"/>
            <a:chExt cx="5715" cy="1908"/>
          </a:xfrm>
        </p:grpSpPr>
        <p:grpSp>
          <p:nvGrpSpPr>
            <p:cNvPr id="118796" name="Group 18"/>
            <p:cNvGrpSpPr/>
            <p:nvPr/>
          </p:nvGrpSpPr>
          <p:grpSpPr>
            <a:xfrm>
              <a:off x="182" y="845"/>
              <a:ext cx="5578" cy="388"/>
              <a:chOff x="160" y="1344"/>
              <a:chExt cx="5578" cy="388"/>
            </a:xfrm>
          </p:grpSpPr>
          <p:sp>
            <p:nvSpPr>
              <p:cNvPr id="118800" name="Text Box 12"/>
              <p:cNvSpPr txBox="1"/>
              <p:nvPr/>
            </p:nvSpPr>
            <p:spPr>
              <a:xfrm>
                <a:off x="160" y="1344"/>
                <a:ext cx="5578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氢键键能</a:t>
                </a:r>
                <a:r>
                  <a:rPr lang="en-US" altLang="zh-CN" sz="2400" b="1" dirty="0">
                    <a:solidFill>
                      <a:schemeClr val="bg2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—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每拆开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1mol H    Y</a:t>
                </a:r>
                <a:r>
                  <a:rPr lang="zh-CN" altLang="en-US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键所需的能量。</a:t>
                </a:r>
                <a:endParaRPr lang="zh-CN" altLang="en-US" sz="2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8801" name="Line 13"/>
              <p:cNvSpPr/>
              <p:nvPr/>
            </p:nvSpPr>
            <p:spPr>
              <a:xfrm>
                <a:off x="3470" y="1570"/>
                <a:ext cx="24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ysDot"/>
                <a:headEnd type="none" w="med" len="med"/>
                <a:tailEnd type="none" w="med" len="med"/>
              </a:ln>
            </p:spPr>
          </p:sp>
        </p:grpSp>
        <p:sp>
          <p:nvSpPr>
            <p:cNvPr id="118797" name="Oval 15"/>
            <p:cNvSpPr/>
            <p:nvPr/>
          </p:nvSpPr>
          <p:spPr>
            <a:xfrm>
              <a:off x="68" y="981"/>
              <a:ext cx="136" cy="136"/>
            </a:xfrm>
            <a:prstGeom prst="ellipse">
              <a:avLst/>
            </a:prstGeom>
            <a:solidFill>
              <a:srgbClr val="3333FF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8798" name="Text Box 16"/>
            <p:cNvSpPr txBox="1"/>
            <p:nvPr/>
          </p:nvSpPr>
          <p:spPr>
            <a:xfrm>
              <a:off x="1244" y="1253"/>
              <a:ext cx="4539" cy="69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一般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ˎ̥"/>
                  <a:sym typeface="Symbol" panose="05050102010706020507" pitchFamily="18" charset="2"/>
                </a:rPr>
                <a:t>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ˎ̥"/>
                </a:rPr>
                <a:t>42kJ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ˎ̥"/>
                  <a:sym typeface="Symbol" panose="05050102010706020507" pitchFamily="18" charset="2"/>
                </a:rPr>
                <a:t>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ˎ̥"/>
                </a:rPr>
                <a:t>mol</a:t>
              </a:r>
              <a:r>
                <a:rPr lang="en-US" altLang="zh-CN" sz="2400" b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ea typeface="ˎ̥"/>
                  <a:sym typeface="Symbol" panose="05050102010706020507" pitchFamily="18" charset="2"/>
                </a:rPr>
                <a:t></a:t>
              </a:r>
              <a:r>
                <a:rPr lang="en-US" altLang="zh-CN" sz="2400" b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ea typeface="ˎ̥"/>
                </a:rPr>
                <a:t>1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，</a:t>
              </a:r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远小于正常共价键键能，与分子间力差不多。</a:t>
              </a:r>
              <a:endParaRPr lang="zh-CN" altLang="en-US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ˎ̥"/>
                <a:sym typeface="Symbol" panose="05050102010706020507" pitchFamily="18" charset="2"/>
              </a:endParaRPr>
            </a:p>
          </p:txBody>
        </p:sp>
        <p:sp>
          <p:nvSpPr>
            <p:cNvPr id="118799" name="Text Box 17"/>
            <p:cNvSpPr txBox="1"/>
            <p:nvPr/>
          </p:nvSpPr>
          <p:spPr>
            <a:xfrm>
              <a:off x="998" y="2024"/>
              <a:ext cx="4649" cy="7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如　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H</a:t>
              </a:r>
              <a:r>
                <a:rPr lang="en-US" altLang="zh-CN" sz="2400" b="1" baseline="-30000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2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O</a:t>
              </a:r>
              <a:r>
                <a:rPr lang="en-US" altLang="zh-CN" sz="2400" b="1" dirty="0">
                  <a:solidFill>
                    <a:srgbClr val="00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 </a:t>
              </a:r>
              <a:r>
                <a:rPr lang="zh-CN" altLang="en-US" sz="2400" b="1" dirty="0">
                  <a:solidFill>
                    <a:srgbClr val="00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氢键键能为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18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sym typeface="Symbol" panose="05050102010706020507" pitchFamily="18" charset="2"/>
                </a:rPr>
                <a:t>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83 kJ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sym typeface="Symbol" panose="05050102010706020507" pitchFamily="18" charset="2"/>
                </a:rPr>
                <a:t>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mol</a:t>
              </a:r>
              <a:r>
                <a:rPr lang="en-US" altLang="zh-CN" sz="2400" b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sym typeface="Symbol" panose="05050102010706020507" pitchFamily="18" charset="2"/>
                </a:rPr>
                <a:t></a:t>
              </a:r>
              <a:r>
                <a:rPr lang="en-US" altLang="zh-CN" sz="2400" b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1</a:t>
              </a:r>
              <a:r>
                <a:rPr lang="en-US" altLang="zh-CN" sz="2400" b="1" dirty="0">
                  <a:solidFill>
                    <a:srgbClr val="00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 </a:t>
              </a:r>
              <a:endParaRPr lang="en-US" altLang="zh-CN" sz="2400" dirty="0">
                <a:latin typeface="Arial" panose="020B0604020202020204" pitchFamily="34" charset="0"/>
                <a:ea typeface="幼圆" panose="02010509060101010101" pitchFamily="49" charset="-122"/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rgbClr val="00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　　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O—H</a:t>
              </a:r>
              <a:r>
                <a:rPr lang="zh-CN" altLang="en-US" sz="2400" b="1" dirty="0">
                  <a:solidFill>
                    <a:srgbClr val="000000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键能为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463 kJ 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sym typeface="Symbol" panose="05050102010706020507" pitchFamily="18" charset="2"/>
                </a:rPr>
                <a:t></a:t>
              </a:r>
              <a:r>
                <a:rPr lang="en-US" altLang="zh-CN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mol</a:t>
              </a:r>
              <a:r>
                <a:rPr lang="en-US" altLang="zh-CN" sz="2400" b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sym typeface="Symbol" panose="05050102010706020507" pitchFamily="18" charset="2"/>
                </a:rPr>
                <a:t></a:t>
              </a:r>
              <a:r>
                <a:rPr lang="en-US" altLang="zh-CN" sz="2400" b="1" baseline="30000" dirty="0">
                  <a:solidFill>
                    <a:srgbClr val="0000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1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endParaRPr lang="en-US" altLang="zh-CN" sz="24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幼圆" panose="02010509060101010101" pitchFamily="49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5" name="Group 23"/>
          <p:cNvGrpSpPr/>
          <p:nvPr/>
        </p:nvGrpSpPr>
        <p:grpSpPr>
          <a:xfrm>
            <a:off x="468313" y="4064000"/>
            <a:ext cx="3411537" cy="461963"/>
            <a:chOff x="295" y="3413"/>
            <a:chExt cx="2149" cy="388"/>
          </a:xfrm>
        </p:grpSpPr>
        <p:sp>
          <p:nvSpPr>
            <p:cNvPr id="118794" name="Rectangle 20"/>
            <p:cNvSpPr/>
            <p:nvPr/>
          </p:nvSpPr>
          <p:spPr>
            <a:xfrm>
              <a:off x="476" y="3413"/>
              <a:ext cx="1968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4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具有饱和性和方向性 </a:t>
              </a:r>
            </a:p>
          </p:txBody>
        </p:sp>
        <p:sp>
          <p:nvSpPr>
            <p:cNvPr id="118795" name="Oval 21"/>
            <p:cNvSpPr/>
            <p:nvPr/>
          </p:nvSpPr>
          <p:spPr>
            <a:xfrm>
              <a:off x="295" y="3566"/>
              <a:ext cx="136" cy="136"/>
            </a:xfrm>
            <a:prstGeom prst="ellipse">
              <a:avLst/>
            </a:prstGeom>
            <a:solidFill>
              <a:srgbClr val="3333FF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oup 24"/>
          <p:cNvGrpSpPr/>
          <p:nvPr/>
        </p:nvGrpSpPr>
        <p:grpSpPr>
          <a:xfrm>
            <a:off x="468313" y="3414713"/>
            <a:ext cx="3482975" cy="461962"/>
            <a:chOff x="295" y="2868"/>
            <a:chExt cx="2194" cy="388"/>
          </a:xfrm>
        </p:grpSpPr>
        <p:sp>
          <p:nvSpPr>
            <p:cNvPr id="118792" name="Rectangle 19"/>
            <p:cNvSpPr/>
            <p:nvPr/>
          </p:nvSpPr>
          <p:spPr>
            <a:xfrm>
              <a:off x="521" y="2868"/>
              <a:ext cx="1968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4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氢键的键长通常较长 </a:t>
              </a:r>
            </a:p>
          </p:txBody>
        </p:sp>
        <p:sp>
          <p:nvSpPr>
            <p:cNvPr id="118793" name="Oval 22"/>
            <p:cNvSpPr/>
            <p:nvPr/>
          </p:nvSpPr>
          <p:spPr>
            <a:xfrm>
              <a:off x="295" y="2976"/>
              <a:ext cx="136" cy="136"/>
            </a:xfrm>
            <a:prstGeom prst="ellipse">
              <a:avLst/>
            </a:prstGeom>
            <a:solidFill>
              <a:srgbClr val="3333FF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/>
          <p:nvPr/>
        </p:nvSpPr>
        <p:spPr>
          <a:xfrm>
            <a:off x="971550" y="1708150"/>
            <a:ext cx="7772400" cy="571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endParaRPr lang="zh-CN" altLang="en-US" sz="4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9811" name="Line 3"/>
          <p:cNvSpPr/>
          <p:nvPr/>
        </p:nvSpPr>
        <p:spPr>
          <a:xfrm flipV="1">
            <a:off x="990600" y="1308100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119812" name="Text Box 4"/>
          <p:cNvSpPr txBox="1"/>
          <p:nvPr/>
        </p:nvSpPr>
        <p:spPr>
          <a:xfrm>
            <a:off x="611188" y="250825"/>
            <a:ext cx="3097212" cy="573088"/>
          </a:xfrm>
          <a:prstGeom prst="rect">
            <a:avLst/>
          </a:prstGeom>
          <a:gradFill rotWithShape="1">
            <a:gsLst>
              <a:gs pos="0">
                <a:srgbClr val="32256F"/>
              </a:gs>
              <a:gs pos="50000">
                <a:srgbClr val="6B50F0"/>
              </a:gs>
              <a:gs pos="100000">
                <a:srgbClr val="32256F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分子内的氢键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9813" name="Text Box 5"/>
          <p:cNvSpPr txBox="1"/>
          <p:nvPr/>
        </p:nvSpPr>
        <p:spPr>
          <a:xfrm>
            <a:off x="395288" y="844550"/>
            <a:ext cx="115252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如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9814" name="Group 6"/>
          <p:cNvGrpSpPr/>
          <p:nvPr/>
        </p:nvGrpSpPr>
        <p:grpSpPr>
          <a:xfrm>
            <a:off x="1763713" y="1595438"/>
            <a:ext cx="3024187" cy="1865312"/>
            <a:chOff x="884" y="754"/>
            <a:chExt cx="1905" cy="1567"/>
          </a:xfrm>
        </p:grpSpPr>
        <p:grpSp>
          <p:nvGrpSpPr>
            <p:cNvPr id="119839" name="Group 7"/>
            <p:cNvGrpSpPr/>
            <p:nvPr/>
          </p:nvGrpSpPr>
          <p:grpSpPr>
            <a:xfrm>
              <a:off x="884" y="754"/>
              <a:ext cx="1905" cy="1070"/>
              <a:chOff x="930" y="754"/>
              <a:chExt cx="1905" cy="1070"/>
            </a:xfrm>
          </p:grpSpPr>
          <p:sp>
            <p:nvSpPr>
              <p:cNvPr id="119841" name="Text Box 8"/>
              <p:cNvSpPr txBox="1"/>
              <p:nvPr/>
            </p:nvSpPr>
            <p:spPr>
              <a:xfrm>
                <a:off x="930" y="754"/>
                <a:ext cx="1905" cy="10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H              O </a:t>
                </a:r>
                <a:endParaRPr lang="en-US" altLang="zh-CN" sz="1200" dirty="0">
                  <a:latin typeface="Arial" panose="020B0604020202020204" pitchFamily="34" charset="0"/>
                  <a:ea typeface="ˎ̥"/>
                </a:endParaRP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     O —N </a:t>
                </a:r>
                <a:endParaRPr lang="en-US" altLang="zh-CN" sz="1200" dirty="0">
                  <a:latin typeface="Arial" panose="020B0604020202020204" pitchFamily="34" charset="0"/>
                  <a:ea typeface="ˎ̥"/>
                </a:endParaRPr>
              </a:p>
              <a:p>
                <a:pPr eaLnBrk="1" hangingPunct="1">
                  <a:lnSpc>
                    <a:spcPct val="60000"/>
                  </a:lnSpc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                 O</a:t>
                </a:r>
                <a:endParaRPr lang="en-US" altLang="zh-CN" sz="12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9842" name="Line 9"/>
              <p:cNvSpPr/>
              <p:nvPr/>
            </p:nvSpPr>
            <p:spPr>
              <a:xfrm>
                <a:off x="1292" y="971"/>
                <a:ext cx="86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119843" name="Line 10"/>
              <p:cNvSpPr/>
              <p:nvPr/>
            </p:nvSpPr>
            <p:spPr>
              <a:xfrm>
                <a:off x="1223" y="1083"/>
                <a:ext cx="182" cy="18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9844" name="Line 11"/>
              <p:cNvSpPr/>
              <p:nvPr/>
            </p:nvSpPr>
            <p:spPr>
              <a:xfrm flipH="1">
                <a:off x="2109" y="1071"/>
                <a:ext cx="136" cy="18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9845" name="Line 12"/>
              <p:cNvSpPr/>
              <p:nvPr/>
            </p:nvSpPr>
            <p:spPr>
              <a:xfrm>
                <a:off x="2118" y="1492"/>
                <a:ext cx="136" cy="136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19840" name="Text Box 13"/>
            <p:cNvSpPr txBox="1"/>
            <p:nvPr/>
          </p:nvSpPr>
          <p:spPr>
            <a:xfrm>
              <a:off x="1429" y="1933"/>
              <a:ext cx="816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硝酸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19815" name="Group 14"/>
          <p:cNvGrpSpPr/>
          <p:nvPr/>
        </p:nvGrpSpPr>
        <p:grpSpPr>
          <a:xfrm>
            <a:off x="5219700" y="952500"/>
            <a:ext cx="2952750" cy="2405063"/>
            <a:chOff x="3288" y="709"/>
            <a:chExt cx="1860" cy="2020"/>
          </a:xfrm>
        </p:grpSpPr>
        <p:grpSp>
          <p:nvGrpSpPr>
            <p:cNvPr id="119819" name="Group 15"/>
            <p:cNvGrpSpPr/>
            <p:nvPr/>
          </p:nvGrpSpPr>
          <p:grpSpPr>
            <a:xfrm>
              <a:off x="3288" y="709"/>
              <a:ext cx="1814" cy="1587"/>
              <a:chOff x="3288" y="709"/>
              <a:chExt cx="1814" cy="1587"/>
            </a:xfrm>
          </p:grpSpPr>
          <p:grpSp>
            <p:nvGrpSpPr>
              <p:cNvPr id="119821" name="Group 16"/>
              <p:cNvGrpSpPr/>
              <p:nvPr/>
            </p:nvGrpSpPr>
            <p:grpSpPr>
              <a:xfrm>
                <a:off x="3618" y="1685"/>
                <a:ext cx="544" cy="611"/>
                <a:chOff x="3742" y="1525"/>
                <a:chExt cx="544" cy="611"/>
              </a:xfrm>
            </p:grpSpPr>
            <p:sp>
              <p:nvSpPr>
                <p:cNvPr id="119830" name="Line 17"/>
                <p:cNvSpPr/>
                <p:nvPr/>
              </p:nvSpPr>
              <p:spPr>
                <a:xfrm flipH="1">
                  <a:off x="3833" y="1525"/>
                  <a:ext cx="181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9831" name="Line 18"/>
                <p:cNvSpPr/>
                <p:nvPr/>
              </p:nvSpPr>
              <p:spPr>
                <a:xfrm flipH="1">
                  <a:off x="4014" y="1955"/>
                  <a:ext cx="181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9832" name="Line 19"/>
                <p:cNvSpPr/>
                <p:nvPr/>
              </p:nvSpPr>
              <p:spPr>
                <a:xfrm>
                  <a:off x="4014" y="1525"/>
                  <a:ext cx="181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9833" name="Line 20"/>
                <p:cNvSpPr/>
                <p:nvPr/>
              </p:nvSpPr>
              <p:spPr>
                <a:xfrm rot="-2658108" flipH="1">
                  <a:off x="3742" y="1737"/>
                  <a:ext cx="181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9834" name="Line 21"/>
                <p:cNvSpPr/>
                <p:nvPr/>
              </p:nvSpPr>
              <p:spPr>
                <a:xfrm>
                  <a:off x="3833" y="1946"/>
                  <a:ext cx="181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9835" name="Line 22"/>
                <p:cNvSpPr/>
                <p:nvPr/>
              </p:nvSpPr>
              <p:spPr>
                <a:xfrm rot="-2658108" flipH="1">
                  <a:off x="4105" y="1740"/>
                  <a:ext cx="181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9836" name="Line 23"/>
                <p:cNvSpPr/>
                <p:nvPr/>
              </p:nvSpPr>
              <p:spPr>
                <a:xfrm rot="-2658108" flipH="1">
                  <a:off x="3787" y="1740"/>
                  <a:ext cx="181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9837" name="Line 24"/>
                <p:cNvSpPr/>
                <p:nvPr/>
              </p:nvSpPr>
              <p:spPr>
                <a:xfrm flipH="1">
                  <a:off x="4014" y="1921"/>
                  <a:ext cx="148" cy="14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9838" name="Line 25"/>
                <p:cNvSpPr/>
                <p:nvPr/>
              </p:nvSpPr>
              <p:spPr>
                <a:xfrm flipH="1" flipV="1">
                  <a:off x="4002" y="1580"/>
                  <a:ext cx="148" cy="14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19822" name="Group 26"/>
              <p:cNvGrpSpPr/>
              <p:nvPr/>
            </p:nvGrpSpPr>
            <p:grpSpPr>
              <a:xfrm>
                <a:off x="3288" y="709"/>
                <a:ext cx="1814" cy="1195"/>
                <a:chOff x="839" y="1979"/>
                <a:chExt cx="1814" cy="1195"/>
              </a:xfrm>
            </p:grpSpPr>
            <p:sp>
              <p:nvSpPr>
                <p:cNvPr id="119823" name="Text Box 27"/>
                <p:cNvSpPr txBox="1"/>
                <p:nvPr/>
              </p:nvSpPr>
              <p:spPr>
                <a:xfrm>
                  <a:off x="839" y="1979"/>
                  <a:ext cx="1814" cy="119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O        O </a:t>
                  </a:r>
                  <a:endParaRPr lang="en-US" altLang="zh-CN" sz="1200" dirty="0">
                    <a:latin typeface="Arial" panose="020B0604020202020204" pitchFamily="34" charset="0"/>
                    <a:ea typeface="ˎ̥"/>
                  </a:endParaRPr>
                </a:p>
                <a:p>
                  <a:pPr eaLnBrk="1" hangingPunct="1">
                    <a:lnSpc>
                      <a:spcPct val="80000"/>
                    </a:lnSpc>
                    <a:spcBef>
                      <a:spcPct val="50000"/>
                    </a:spcBef>
                  </a:pPr>
                  <a:r>
                    <a:rPr lang="en-US" altLang="zh-CN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      N        H </a:t>
                  </a:r>
                  <a:endParaRPr lang="en-US" altLang="zh-CN" sz="1200" dirty="0">
                    <a:latin typeface="Arial" panose="020B0604020202020204" pitchFamily="34" charset="0"/>
                    <a:ea typeface="ˎ̥"/>
                  </a:endParaRPr>
                </a:p>
                <a:p>
                  <a:pPr eaLnBrk="1" hangingPunct="1">
                    <a:lnSpc>
                      <a:spcPct val="80000"/>
                    </a:lnSpc>
                    <a:spcBef>
                      <a:spcPct val="50000"/>
                    </a:spcBef>
                  </a:pPr>
                  <a:r>
                    <a:rPr lang="en-US" altLang="zh-CN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                 O</a:t>
                  </a:r>
                  <a:endParaRPr lang="en-US" altLang="zh-CN" sz="12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19824" name="Line 28"/>
                <p:cNvSpPr/>
                <p:nvPr/>
              </p:nvSpPr>
              <p:spPr>
                <a:xfrm>
                  <a:off x="1111" y="2293"/>
                  <a:ext cx="227" cy="227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9825" name="Line 29"/>
                <p:cNvSpPr/>
                <p:nvPr/>
              </p:nvSpPr>
              <p:spPr>
                <a:xfrm>
                  <a:off x="1925" y="2284"/>
                  <a:ext cx="227" cy="227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dash"/>
                  <a:headEnd type="none" w="med" len="med"/>
                  <a:tailEnd type="none" w="med" len="med"/>
                </a:ln>
              </p:spPr>
            </p:sp>
            <p:sp>
              <p:nvSpPr>
                <p:cNvPr id="119826" name="Line 30"/>
                <p:cNvSpPr/>
                <p:nvPr/>
              </p:nvSpPr>
              <p:spPr>
                <a:xfrm flipH="1">
                  <a:off x="1495" y="2284"/>
                  <a:ext cx="227" cy="227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9827" name="Line 31"/>
                <p:cNvSpPr/>
                <p:nvPr/>
              </p:nvSpPr>
              <p:spPr>
                <a:xfrm>
                  <a:off x="2245" y="2795"/>
                  <a:ext cx="0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9828" name="Line 32"/>
                <p:cNvSpPr/>
                <p:nvPr/>
              </p:nvSpPr>
              <p:spPr>
                <a:xfrm>
                  <a:off x="1622" y="3137"/>
                  <a:ext cx="454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9829" name="Line 33"/>
                <p:cNvSpPr/>
                <p:nvPr/>
              </p:nvSpPr>
              <p:spPr>
                <a:xfrm flipV="1">
                  <a:off x="1441" y="2783"/>
                  <a:ext cx="0" cy="18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19820" name="Text Box 34"/>
            <p:cNvSpPr txBox="1"/>
            <p:nvPr/>
          </p:nvSpPr>
          <p:spPr>
            <a:xfrm>
              <a:off x="3424" y="2341"/>
              <a:ext cx="1724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邻硝基苯酚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" name="Group 35"/>
          <p:cNvGrpSpPr/>
          <p:nvPr/>
        </p:nvGrpSpPr>
        <p:grpSpPr>
          <a:xfrm>
            <a:off x="827088" y="3597275"/>
            <a:ext cx="7704137" cy="942975"/>
            <a:chOff x="521" y="2614"/>
            <a:chExt cx="4853" cy="791"/>
          </a:xfrm>
        </p:grpSpPr>
        <p:sp>
          <p:nvSpPr>
            <p:cNvPr id="119817" name="Text Box 36"/>
            <p:cNvSpPr txBox="1"/>
            <p:nvPr/>
          </p:nvSpPr>
          <p:spPr>
            <a:xfrm>
              <a:off x="521" y="2614"/>
              <a:ext cx="4853" cy="7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分子内氢键由于受环状结构的限制， </a:t>
              </a:r>
              <a:endParaRPr lang="zh-CN" altLang="en-US" sz="12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X—H</a:t>
              </a: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　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Y</a:t>
              </a: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往往不在同一直线上。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9818" name="Line 37"/>
            <p:cNvSpPr/>
            <p:nvPr/>
          </p:nvSpPr>
          <p:spPr>
            <a:xfrm>
              <a:off x="1305" y="3294"/>
              <a:ext cx="273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ysDot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3"/>
          <p:cNvSpPr/>
          <p:nvPr/>
        </p:nvSpPr>
        <p:spPr>
          <a:xfrm>
            <a:off x="844550" y="1870075"/>
            <a:ext cx="7772400" cy="571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endParaRPr lang="zh-CN" altLang="en-US" sz="4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0835" name="Line 4"/>
          <p:cNvSpPr/>
          <p:nvPr/>
        </p:nvSpPr>
        <p:spPr>
          <a:xfrm flipV="1">
            <a:off x="863600" y="1470025"/>
            <a:ext cx="7848600" cy="0"/>
          </a:xfrm>
          <a:prstGeom prst="line">
            <a:avLst/>
          </a:prstGeom>
          <a:ln w="9525">
            <a:noFill/>
          </a:ln>
        </p:spPr>
      </p:sp>
      <p:grpSp>
        <p:nvGrpSpPr>
          <p:cNvPr id="120836" name="Group 5"/>
          <p:cNvGrpSpPr/>
          <p:nvPr/>
        </p:nvGrpSpPr>
        <p:grpSpPr>
          <a:xfrm>
            <a:off x="196850" y="844550"/>
            <a:ext cx="2382838" cy="461963"/>
            <a:chOff x="249" y="594"/>
            <a:chExt cx="1501" cy="388"/>
          </a:xfrm>
        </p:grpSpPr>
        <p:sp>
          <p:nvSpPr>
            <p:cNvPr id="120864" name="Oval 6"/>
            <p:cNvSpPr/>
            <p:nvPr/>
          </p:nvSpPr>
          <p:spPr>
            <a:xfrm>
              <a:off x="249" y="754"/>
              <a:ext cx="136" cy="136"/>
            </a:xfrm>
            <a:prstGeom prst="ellipse">
              <a:avLst/>
            </a:prstGeom>
            <a:solidFill>
              <a:srgbClr val="3333FF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120865" name="Text Box 7"/>
            <p:cNvSpPr txBox="1"/>
            <p:nvPr/>
          </p:nvSpPr>
          <p:spPr>
            <a:xfrm>
              <a:off x="435" y="594"/>
              <a:ext cx="1315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熔、沸点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0837" name="Text Box 8"/>
          <p:cNvSpPr txBox="1"/>
          <p:nvPr/>
        </p:nvSpPr>
        <p:spPr>
          <a:xfrm>
            <a:off x="412750" y="1330325"/>
            <a:ext cx="86042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分子间的氢键存在使熔、沸点升高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569" name="Text Box 9"/>
          <p:cNvSpPr txBox="1"/>
          <p:nvPr/>
        </p:nvSpPr>
        <p:spPr>
          <a:xfrm>
            <a:off x="2139950" y="1870075"/>
            <a:ext cx="432117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如  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HF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H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O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NH</a:t>
            </a:r>
            <a:r>
              <a:rPr lang="en-US" altLang="zh-CN" sz="2400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570" name="Text Box 10"/>
          <p:cNvSpPr txBox="1"/>
          <p:nvPr/>
        </p:nvSpPr>
        <p:spPr>
          <a:xfrm>
            <a:off x="431800" y="2409825"/>
            <a:ext cx="86042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分子内的氢键存在使熔、沸点降低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571" name="Text Box 11"/>
          <p:cNvSpPr txBox="1"/>
          <p:nvPr/>
        </p:nvSpPr>
        <p:spPr>
          <a:xfrm>
            <a:off x="123825" y="2847975"/>
            <a:ext cx="71913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如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94572" name="Group 12"/>
          <p:cNvGraphicFramePr>
            <a:graphicFrameLocks noGrp="1"/>
          </p:cNvGraphicFramePr>
          <p:nvPr/>
        </p:nvGraphicFramePr>
        <p:xfrm>
          <a:off x="846138" y="3005138"/>
          <a:ext cx="7920037" cy="1943099"/>
        </p:xfrm>
        <a:graphic>
          <a:graphicData uri="http://schemas.openxmlformats.org/drawingml/2006/table">
            <a:tbl>
              <a:tblPr/>
              <a:tblGrid>
                <a:gridCol w="3024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47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69" marB="342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氢键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熔点／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℃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66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邻硝基苯酚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69" marB="342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分子内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45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47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间位硝基苯酚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69" marB="342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分子间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96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477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对位硝基苯酚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69" marB="342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幼圆" panose="02010509060101010101" pitchFamily="49" charset="-122"/>
                        </a:rPr>
                        <a:t>分子间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114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34269" marB="342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0863" name="Text Box 34"/>
          <p:cNvSpPr txBox="1"/>
          <p:nvPr/>
        </p:nvSpPr>
        <p:spPr>
          <a:xfrm>
            <a:off x="601663" y="282575"/>
            <a:ext cx="5689600" cy="387350"/>
          </a:xfrm>
          <a:prstGeom prst="rect">
            <a:avLst/>
          </a:prstGeom>
          <a:gradFill rotWithShape="1">
            <a:gsLst>
              <a:gs pos="0">
                <a:srgbClr val="32256F"/>
              </a:gs>
              <a:gs pos="50000">
                <a:srgbClr val="6B50F0"/>
              </a:gs>
              <a:gs pos="100000">
                <a:srgbClr val="32256F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氢键对物理性质的影响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4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500"/>
                                        <p:tgtEl>
                                          <p:spTgt spid="19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9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94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9" grpId="0"/>
      <p:bldP spid="194570" grpId="0"/>
      <p:bldP spid="194571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/>
          <p:nvPr/>
        </p:nvSpPr>
        <p:spPr>
          <a:xfrm>
            <a:off x="898525" y="1708150"/>
            <a:ext cx="7772400" cy="5715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endParaRPr lang="zh-CN" altLang="en-US" sz="4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1859" name="Line 3"/>
          <p:cNvSpPr/>
          <p:nvPr/>
        </p:nvSpPr>
        <p:spPr>
          <a:xfrm flipV="1">
            <a:off x="917575" y="1308100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121860" name="Text Box 4"/>
          <p:cNvSpPr txBox="1"/>
          <p:nvPr/>
        </p:nvSpPr>
        <p:spPr>
          <a:xfrm>
            <a:off x="2987675" y="141288"/>
            <a:ext cx="5689600" cy="485775"/>
          </a:xfrm>
          <a:prstGeom prst="rect">
            <a:avLst/>
          </a:prstGeom>
          <a:gradFill rotWithShape="1">
            <a:gsLst>
              <a:gs pos="0">
                <a:srgbClr val="32256F"/>
              </a:gs>
              <a:gs pos="50000">
                <a:srgbClr val="6B50F0"/>
              </a:gs>
              <a:gs pos="100000">
                <a:srgbClr val="32256F"/>
              </a:gs>
            </a:gsLst>
            <a:lin ang="5400000" scaled="1"/>
            <a:tileRect/>
          </a:gradFill>
          <a:ln w="9525">
            <a:noFill/>
          </a:ln>
          <a:effectLst>
            <a:outerShdw sy="50000" kx="-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氢键对物理性质的影响</a:t>
            </a:r>
            <a:endParaRPr lang="zh-CN" altLang="en-US" sz="1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1861" name="Group 5"/>
          <p:cNvGrpSpPr/>
          <p:nvPr/>
        </p:nvGrpSpPr>
        <p:grpSpPr>
          <a:xfrm>
            <a:off x="250825" y="304800"/>
            <a:ext cx="8820150" cy="522288"/>
            <a:chOff x="204" y="482"/>
            <a:chExt cx="5556" cy="440"/>
          </a:xfrm>
        </p:grpSpPr>
        <p:sp>
          <p:nvSpPr>
            <p:cNvPr id="121876" name="Oval 6"/>
            <p:cNvSpPr/>
            <p:nvPr/>
          </p:nvSpPr>
          <p:spPr>
            <a:xfrm>
              <a:off x="204" y="642"/>
              <a:ext cx="136" cy="136"/>
            </a:xfrm>
            <a:prstGeom prst="ellipse">
              <a:avLst/>
            </a:prstGeom>
            <a:solidFill>
              <a:srgbClr val="3333FF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1877" name="Text Box 7"/>
            <p:cNvSpPr txBox="1"/>
            <p:nvPr/>
          </p:nvSpPr>
          <p:spPr>
            <a:xfrm>
              <a:off x="390" y="482"/>
              <a:ext cx="5370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溶解度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5592" name="Text Box 8"/>
          <p:cNvSpPr txBox="1"/>
          <p:nvPr/>
        </p:nvSpPr>
        <p:spPr>
          <a:xfrm>
            <a:off x="395288" y="762000"/>
            <a:ext cx="8604250" cy="9540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在极性溶剂中，若溶质和溶剂间存在氢键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, </a:t>
            </a:r>
            <a:endParaRPr lang="en-US" altLang="zh-CN" sz="14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则会使溶质的溶解度增大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5593" name="Text Box 9"/>
          <p:cNvSpPr txBox="1"/>
          <p:nvPr/>
        </p:nvSpPr>
        <p:spPr>
          <a:xfrm>
            <a:off x="538163" y="1655763"/>
            <a:ext cx="8137525" cy="523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如  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HF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、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NH</a:t>
            </a:r>
            <a:r>
              <a:rPr lang="en-US" altLang="zh-CN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在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H</a:t>
            </a:r>
            <a:r>
              <a:rPr lang="en-US" altLang="zh-CN" b="1" baseline="-25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O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的溶解度较大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" name="Group 10"/>
          <p:cNvGrpSpPr/>
          <p:nvPr/>
        </p:nvGrpSpPr>
        <p:grpSpPr>
          <a:xfrm>
            <a:off x="269875" y="2062163"/>
            <a:ext cx="8820150" cy="1311275"/>
            <a:chOff x="204" y="482"/>
            <a:chExt cx="5556" cy="1102"/>
          </a:xfrm>
        </p:grpSpPr>
        <p:sp>
          <p:nvSpPr>
            <p:cNvPr id="121874" name="Oval 11"/>
            <p:cNvSpPr/>
            <p:nvPr/>
          </p:nvSpPr>
          <p:spPr>
            <a:xfrm>
              <a:off x="204" y="642"/>
              <a:ext cx="136" cy="136"/>
            </a:xfrm>
            <a:prstGeom prst="ellipse">
              <a:avLst/>
            </a:prstGeom>
            <a:solidFill>
              <a:srgbClr val="3333FF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1875" name="Text Box 12"/>
            <p:cNvSpPr txBox="1"/>
            <p:nvPr/>
          </p:nvSpPr>
          <p:spPr>
            <a:xfrm>
              <a:off x="390" y="482"/>
              <a:ext cx="5370" cy="11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lnSpc>
                  <a:spcPct val="110000"/>
                </a:lnSpc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粘度增大 </a:t>
              </a:r>
              <a:endParaRPr lang="zh-CN" altLang="en-US" sz="24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110000"/>
                </a:lnSpc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如　甘油、磷酸、浓硫酸均因分子间氢键的存在，为粘稠状液体</a:t>
              </a: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13"/>
          <p:cNvGrpSpPr/>
          <p:nvPr/>
        </p:nvGrpSpPr>
        <p:grpSpPr>
          <a:xfrm>
            <a:off x="250825" y="3436938"/>
            <a:ext cx="8820150" cy="830262"/>
            <a:chOff x="204" y="482"/>
            <a:chExt cx="5556" cy="698"/>
          </a:xfrm>
        </p:grpSpPr>
        <p:sp>
          <p:nvSpPr>
            <p:cNvPr id="121872" name="Oval 14"/>
            <p:cNvSpPr/>
            <p:nvPr/>
          </p:nvSpPr>
          <p:spPr>
            <a:xfrm>
              <a:off x="204" y="642"/>
              <a:ext cx="136" cy="136"/>
            </a:xfrm>
            <a:prstGeom prst="ellipse">
              <a:avLst/>
            </a:prstGeom>
            <a:solidFill>
              <a:srgbClr val="3333FF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1873" name="Text Box 15"/>
            <p:cNvSpPr txBox="1"/>
            <p:nvPr/>
          </p:nvSpPr>
          <p:spPr>
            <a:xfrm>
              <a:off x="390" y="482"/>
              <a:ext cx="5370" cy="69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密度：液体分子间的氢键存在，使分子 </a:t>
              </a:r>
              <a:endParaRPr lang="zh-CN" altLang="en-US" sz="12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　　　发生缔合现象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16"/>
          <p:cNvGrpSpPr/>
          <p:nvPr/>
        </p:nvGrpSpPr>
        <p:grpSpPr>
          <a:xfrm>
            <a:off x="611188" y="4321175"/>
            <a:ext cx="4679950" cy="600075"/>
            <a:chOff x="431" y="3541"/>
            <a:chExt cx="2948" cy="504"/>
          </a:xfrm>
        </p:grpSpPr>
        <p:grpSp>
          <p:nvGrpSpPr>
            <p:cNvPr id="121867" name="Group 17"/>
            <p:cNvGrpSpPr/>
            <p:nvPr/>
          </p:nvGrpSpPr>
          <p:grpSpPr>
            <a:xfrm>
              <a:off x="431" y="3657"/>
              <a:ext cx="2948" cy="388"/>
              <a:chOff x="431" y="3657"/>
              <a:chExt cx="2948" cy="388"/>
            </a:xfrm>
          </p:grpSpPr>
          <p:sp>
            <p:nvSpPr>
              <p:cNvPr id="121869" name="Text Box 18"/>
              <p:cNvSpPr txBox="1"/>
              <p:nvPr/>
            </p:nvSpPr>
            <p:spPr>
              <a:xfrm>
                <a:off x="431" y="3657"/>
                <a:ext cx="2948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如　</a:t>
                </a:r>
                <a:r>
                  <a:rPr lang="en-US" altLang="zh-CN" sz="2400" b="1" i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n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HF               (HF)</a:t>
                </a:r>
                <a:r>
                  <a:rPr lang="en-US" altLang="zh-CN" sz="2400" b="1" i="1" baseline="-25000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n</a:t>
                </a: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 </a:t>
                </a:r>
                <a:endParaRPr lang="en-US" altLang="zh-CN" sz="12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1870" name="Line 19"/>
              <p:cNvSpPr/>
              <p:nvPr/>
            </p:nvSpPr>
            <p:spPr>
              <a:xfrm>
                <a:off x="1293" y="3818"/>
                <a:ext cx="63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21871" name="Line 20"/>
              <p:cNvSpPr/>
              <p:nvPr/>
            </p:nvSpPr>
            <p:spPr>
              <a:xfrm flipH="1">
                <a:off x="1270" y="3878"/>
                <a:ext cx="63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sp>
          <p:nvSpPr>
            <p:cNvPr id="121868" name="Text Box 21"/>
            <p:cNvSpPr txBox="1"/>
            <p:nvPr/>
          </p:nvSpPr>
          <p:spPr>
            <a:xfrm>
              <a:off x="1357" y="3541"/>
              <a:ext cx="590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18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缔合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9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92" grpId="0"/>
      <p:bldP spid="195593" grpId="0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1883988"/>
      </p:ext>
    </p:extLst>
  </p:cSld>
  <p:clrMapOvr>
    <a:masterClrMapping/>
  </p:clrMapOvr>
  <p:transition spd="med">
    <p:wipe dir="r"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/>
          <p:nvPr/>
        </p:nvSpPr>
        <p:spPr>
          <a:xfrm>
            <a:off x="2771775" y="-92075"/>
            <a:ext cx="3006725" cy="949325"/>
          </a:xfrm>
          <a:prstGeom prst="rect">
            <a:avLst/>
          </a:prstGeom>
          <a:noFill/>
          <a:ln w="9525">
            <a:noFill/>
          </a:ln>
        </p:spPr>
        <p:txBody>
          <a:bodyPr wrap="none" tIns="165048" bIns="165048" anchor="ctr" anchorCtr="0">
            <a:spAutoFit/>
          </a:bodyPr>
          <a:lstStyle/>
          <a:p>
            <a:r>
              <a:rPr lang="en-US" altLang="zh-CN" sz="4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5.3 </a:t>
            </a:r>
            <a:r>
              <a:rPr lang="zh-CN" altLang="en-US" sz="40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晶体结构</a:t>
            </a:r>
            <a:endParaRPr lang="zh-CN" altLang="en-US" sz="4000" dirty="0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5"/>
          <p:cNvGrpSpPr/>
          <p:nvPr/>
        </p:nvGrpSpPr>
        <p:grpSpPr>
          <a:xfrm>
            <a:off x="247650" y="1230313"/>
            <a:ext cx="8497888" cy="461962"/>
            <a:chOff x="158" y="537"/>
            <a:chExt cx="5353" cy="388"/>
          </a:xfrm>
        </p:grpSpPr>
        <p:sp>
          <p:nvSpPr>
            <p:cNvPr id="122892" name="Oval 6"/>
            <p:cNvSpPr/>
            <p:nvPr/>
          </p:nvSpPr>
          <p:spPr>
            <a:xfrm>
              <a:off x="158" y="711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2893" name="Text Box 7"/>
            <p:cNvSpPr txBox="1"/>
            <p:nvPr/>
          </p:nvSpPr>
          <p:spPr>
            <a:xfrm>
              <a:off x="340" y="537"/>
              <a:ext cx="5171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有一定的几何外形</a:t>
              </a: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2644" name="Text Box 8"/>
          <p:cNvSpPr txBox="1"/>
          <p:nvPr/>
        </p:nvSpPr>
        <p:spPr>
          <a:xfrm>
            <a:off x="1476375" y="3095625"/>
            <a:ext cx="6551613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食盐                  石英              方解石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6617" name="Text Box 9"/>
          <p:cNvSpPr txBox="1"/>
          <p:nvPr/>
        </p:nvSpPr>
        <p:spPr>
          <a:xfrm>
            <a:off x="142875" y="3581400"/>
            <a:ext cx="8893175" cy="831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非晶体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无定形体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)——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没有一定的几何外形 </a:t>
            </a:r>
            <a:endParaRPr lang="zh-CN" altLang="en-US" sz="24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　　　　　　　　　   如玻璃、松香、石蜡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6618" name="Text Box 10"/>
          <p:cNvSpPr txBox="1"/>
          <p:nvPr/>
        </p:nvSpPr>
        <p:spPr>
          <a:xfrm>
            <a:off x="247650" y="4397375"/>
            <a:ext cx="417988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微晶体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——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如碳黑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12647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1708150"/>
            <a:ext cx="6478588" cy="14398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2648" name="Text Box 12"/>
          <p:cNvSpPr txBox="1"/>
          <p:nvPr/>
        </p:nvSpPr>
        <p:spPr>
          <a:xfrm>
            <a:off x="250825" y="790575"/>
            <a:ext cx="2592388" cy="446088"/>
          </a:xfrm>
          <a:prstGeom prst="rect">
            <a:avLst/>
          </a:prstGeom>
          <a:gradFill rotWithShape="1">
            <a:gsLst>
              <a:gs pos="0">
                <a:srgbClr val="32256F"/>
              </a:gs>
              <a:gs pos="50000">
                <a:srgbClr val="6B50F0"/>
              </a:gs>
              <a:gs pos="100000">
                <a:srgbClr val="32256F"/>
              </a:gs>
            </a:gsLst>
            <a:lin ang="5400000" scaled="1"/>
            <a:tileRect/>
          </a:gradFill>
          <a:ln w="9525">
            <a:noFill/>
          </a:ln>
          <a:effectLst>
            <a:outerShdw sy="50000" kx="-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</a:rPr>
              <a:t>晶体的特征</a:t>
            </a: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127481"/>
            <a:ext cx="9144000" cy="540544"/>
          </a:xfrm>
          <a:prstGeom prst="rect">
            <a:avLst/>
          </a:prstGeom>
          <a:gradFill rotWithShape="1">
            <a:gsLst>
              <a:gs pos="0">
                <a:srgbClr val="0000FF">
                  <a:gamma/>
                  <a:shade val="46275"/>
                  <a:invGamma/>
                </a:srgbClr>
              </a:gs>
              <a:gs pos="50000">
                <a:srgbClr val="0000FF">
                  <a:alpha val="98999"/>
                </a:srgbClr>
              </a:gs>
              <a:gs pos="100000">
                <a:srgbClr val="0000FF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noFill/>
            <a:miter lim="800000"/>
          </a:ln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楷体_GB2312" panose="02010609030101010101" pitchFamily="49" charset="-122"/>
                <a:ea typeface="楷体_GB2312" panose="02010609030101010101" pitchFamily="49" charset="-122"/>
                <a:cs typeface="+mn-cs"/>
              </a:rPr>
              <a:t>§</a:t>
            </a:r>
            <a:r>
              <a:rPr kumimoji="0" lang="en-US" altLang="zh-CN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5.3 </a:t>
            </a: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华文新魏" panose="02010800040101010101" pitchFamily="2" charset="-122"/>
                <a:cs typeface="+mn-cs"/>
              </a:rPr>
              <a:t>晶体结构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96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96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4" grpId="0"/>
      <p:bldP spid="196617" grpId="0"/>
      <p:bldP spid="196618" grpId="0"/>
      <p:bldP spid="112648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Line 2"/>
          <p:cNvSpPr/>
          <p:nvPr/>
        </p:nvSpPr>
        <p:spPr>
          <a:xfrm flipV="1">
            <a:off x="847725" y="1254125"/>
            <a:ext cx="7848600" cy="0"/>
          </a:xfrm>
          <a:prstGeom prst="line">
            <a:avLst/>
          </a:prstGeom>
          <a:ln w="9525">
            <a:noFill/>
          </a:ln>
        </p:spPr>
      </p:sp>
      <p:grpSp>
        <p:nvGrpSpPr>
          <p:cNvPr id="123907" name="Group 3"/>
          <p:cNvGrpSpPr/>
          <p:nvPr/>
        </p:nvGrpSpPr>
        <p:grpSpPr>
          <a:xfrm>
            <a:off x="107950" y="727075"/>
            <a:ext cx="8497888" cy="461963"/>
            <a:chOff x="158" y="537"/>
            <a:chExt cx="5353" cy="387"/>
          </a:xfrm>
        </p:grpSpPr>
        <p:sp>
          <p:nvSpPr>
            <p:cNvPr id="123912" name="Oval 4"/>
            <p:cNvSpPr/>
            <p:nvPr/>
          </p:nvSpPr>
          <p:spPr>
            <a:xfrm>
              <a:off x="158" y="711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123913" name="Text Box 5"/>
            <p:cNvSpPr txBox="1"/>
            <p:nvPr/>
          </p:nvSpPr>
          <p:spPr>
            <a:xfrm>
              <a:off x="340" y="537"/>
              <a:ext cx="5171" cy="3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有固定的熔点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7638" name="Text Box 6"/>
          <p:cNvSpPr txBox="1"/>
          <p:nvPr/>
        </p:nvSpPr>
        <p:spPr>
          <a:xfrm>
            <a:off x="901700" y="1212850"/>
            <a:ext cx="7848600" cy="868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即晶体在熔化时温度保持不变，直至 </a:t>
            </a:r>
            <a:endParaRPr lang="zh-CN" altLang="en-US" sz="12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全部熔化后，温度才开始上升。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7639" name="Text Box 7"/>
          <p:cNvSpPr txBox="1"/>
          <p:nvPr/>
        </p:nvSpPr>
        <p:spPr>
          <a:xfrm>
            <a:off x="325438" y="2185988"/>
            <a:ext cx="4681537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如 冰的熔点 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0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℃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7640" name="Text Box 8"/>
          <p:cNvSpPr txBox="1"/>
          <p:nvPr/>
        </p:nvSpPr>
        <p:spPr>
          <a:xfrm>
            <a:off x="361950" y="2725738"/>
            <a:ext cx="8675688" cy="1828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非晶体无固定的熔点 </a:t>
            </a:r>
            <a:endParaRPr lang="zh-CN" altLang="en-US" sz="12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在加热时，由开始软化到完全熔化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整 </a:t>
            </a:r>
            <a:endParaRPr lang="zh-CN" altLang="en-US" sz="12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个过程中温度不断变化。 </a:t>
            </a:r>
            <a:endParaRPr lang="zh-CN" altLang="en-US" sz="12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如 松香  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50~70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℃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软化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,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70</a:t>
            </a:r>
            <a:r>
              <a:rPr lang="en-US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℃</a:t>
            </a: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以上全部熔化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3911" name="Text Box 9"/>
          <p:cNvSpPr txBox="1"/>
          <p:nvPr/>
        </p:nvSpPr>
        <p:spPr>
          <a:xfrm>
            <a:off x="250825" y="304800"/>
            <a:ext cx="2592388" cy="396875"/>
          </a:xfrm>
          <a:prstGeom prst="rect">
            <a:avLst/>
          </a:prstGeom>
          <a:gradFill rotWithShape="1">
            <a:gsLst>
              <a:gs pos="0">
                <a:srgbClr val="32256F"/>
              </a:gs>
              <a:gs pos="50000">
                <a:srgbClr val="6B50F0"/>
              </a:gs>
              <a:gs pos="100000">
                <a:srgbClr val="32256F"/>
              </a:gs>
            </a:gsLst>
            <a:lin ang="5400000" scaled="1"/>
            <a:tileRect/>
          </a:gradFill>
          <a:ln w="9525">
            <a:noFill/>
          </a:ln>
          <a:effectLst>
            <a:outerShdw sy="50000" kx="-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晶体的特征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7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7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9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8" grpId="0"/>
      <p:bldP spid="197639" grpId="0"/>
      <p:bldP spid="197640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Line 2"/>
          <p:cNvSpPr/>
          <p:nvPr/>
        </p:nvSpPr>
        <p:spPr>
          <a:xfrm flipV="1">
            <a:off x="990600" y="1308100"/>
            <a:ext cx="7848600" cy="0"/>
          </a:xfrm>
          <a:prstGeom prst="line">
            <a:avLst/>
          </a:prstGeom>
          <a:ln w="9525">
            <a:noFill/>
          </a:ln>
        </p:spPr>
      </p:sp>
      <p:grpSp>
        <p:nvGrpSpPr>
          <p:cNvPr id="124931" name="Group 3"/>
          <p:cNvGrpSpPr/>
          <p:nvPr/>
        </p:nvGrpSpPr>
        <p:grpSpPr>
          <a:xfrm>
            <a:off x="250825" y="849313"/>
            <a:ext cx="8497888" cy="460375"/>
            <a:chOff x="158" y="537"/>
            <a:chExt cx="5353" cy="387"/>
          </a:xfrm>
        </p:grpSpPr>
        <p:sp>
          <p:nvSpPr>
            <p:cNvPr id="124936" name="Oval 4"/>
            <p:cNvSpPr/>
            <p:nvPr/>
          </p:nvSpPr>
          <p:spPr>
            <a:xfrm>
              <a:off x="158" y="711"/>
              <a:ext cx="136" cy="136"/>
            </a:xfrm>
            <a:prstGeom prst="ellipse">
              <a:avLst/>
            </a:prstGeom>
            <a:solidFill>
              <a:srgbClr val="6B50F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  <p:sp>
          <p:nvSpPr>
            <p:cNvPr id="124937" name="Text Box 5"/>
            <p:cNvSpPr txBox="1"/>
            <p:nvPr/>
          </p:nvSpPr>
          <p:spPr>
            <a:xfrm>
              <a:off x="340" y="537"/>
              <a:ext cx="5171" cy="38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各向异性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8662" name="Text Box 6"/>
          <p:cNvSpPr txBox="1"/>
          <p:nvPr/>
        </p:nvSpPr>
        <p:spPr>
          <a:xfrm>
            <a:off x="1044575" y="1497013"/>
            <a:ext cx="7848600" cy="1495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晶体的某些性质，如光学性质、力学 </a:t>
            </a:r>
            <a:endParaRPr lang="zh-CN" altLang="en-US" sz="12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性质、导热、导电性、机械强度、溶 </a:t>
            </a:r>
            <a:endParaRPr lang="zh-CN" altLang="en-US" sz="12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解性等在不同方向不同。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8663" name="Text Box 7"/>
          <p:cNvSpPr txBox="1"/>
          <p:nvPr/>
        </p:nvSpPr>
        <p:spPr>
          <a:xfrm>
            <a:off x="584200" y="3376613"/>
            <a:ext cx="77755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如：云母 可按纹理面方向裂成薄片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8664" name="Text Box 8"/>
          <p:cNvSpPr txBox="1"/>
          <p:nvPr/>
        </p:nvSpPr>
        <p:spPr>
          <a:xfrm>
            <a:off x="611188" y="4089400"/>
            <a:ext cx="7343775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非晶体各向同性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4935" name="Text Box 9"/>
          <p:cNvSpPr txBox="1"/>
          <p:nvPr/>
        </p:nvSpPr>
        <p:spPr>
          <a:xfrm>
            <a:off x="250825" y="304800"/>
            <a:ext cx="2592388" cy="534988"/>
          </a:xfrm>
          <a:prstGeom prst="rect">
            <a:avLst/>
          </a:prstGeom>
          <a:gradFill rotWithShape="1">
            <a:gsLst>
              <a:gs pos="0">
                <a:srgbClr val="32256F"/>
              </a:gs>
              <a:gs pos="50000">
                <a:srgbClr val="6B50F0"/>
              </a:gs>
              <a:gs pos="100000">
                <a:srgbClr val="32256F"/>
              </a:gs>
            </a:gsLst>
            <a:lin ang="5400000" scaled="1"/>
            <a:tileRect/>
          </a:gradFill>
          <a:ln w="9525">
            <a:noFill/>
          </a:ln>
          <a:effectLst>
            <a:outerShdw sy="50000" kx="-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晶体的特征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8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8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98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2" grpId="0"/>
      <p:bldP spid="198663" grpId="0"/>
      <p:bldP spid="198664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Line 2"/>
          <p:cNvSpPr/>
          <p:nvPr/>
        </p:nvSpPr>
        <p:spPr>
          <a:xfrm flipV="1">
            <a:off x="900113" y="1200150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125955" name="Text Box 3"/>
          <p:cNvSpPr txBox="1"/>
          <p:nvPr/>
        </p:nvSpPr>
        <p:spPr>
          <a:xfrm>
            <a:off x="1096963" y="141288"/>
            <a:ext cx="6408737" cy="1028700"/>
          </a:xfrm>
          <a:prstGeom prst="rect">
            <a:avLst/>
          </a:prstGeom>
          <a:gradFill rotWithShape="1">
            <a:gsLst>
              <a:gs pos="0">
                <a:srgbClr val="181876"/>
              </a:gs>
              <a:gs pos="50000">
                <a:srgbClr val="3333FF"/>
              </a:gs>
              <a:gs pos="100000">
                <a:srgbClr val="181876"/>
              </a:gs>
            </a:gsLst>
            <a:lin ang="5400000" scaled="1"/>
            <a:tileRect/>
          </a:gra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晶体和非晶体在性质上的差异 </a:t>
            </a:r>
            <a:endParaRPr lang="zh-CN" altLang="en-US" sz="1600" dirty="0">
              <a:latin typeface="Arial" panose="020B0604020202020204" pitchFamily="34" charset="0"/>
              <a:ea typeface="ˎ̥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是两者内部结构不同而造成的</a:t>
            </a:r>
            <a:endParaRPr lang="zh-CN" altLang="en-US" sz="1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9684" name="Text Box 4"/>
          <p:cNvSpPr txBox="1"/>
          <p:nvPr/>
        </p:nvSpPr>
        <p:spPr>
          <a:xfrm>
            <a:off x="122238" y="1165225"/>
            <a:ext cx="8839200" cy="706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晶体内部的微粒的排布是有序的，在不同方向按确定的规律重复性地排列，造成晶体的各向异性。</a:t>
            </a:r>
            <a:endParaRPr lang="zh-CN" altLang="en-US" sz="11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9685" name="Text Box 5"/>
          <p:cNvSpPr txBox="1"/>
          <p:nvPr/>
        </p:nvSpPr>
        <p:spPr>
          <a:xfrm>
            <a:off x="90488" y="2139950"/>
            <a:ext cx="9144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非晶体内部微粒的排列是无序的</a:t>
            </a:r>
            <a:r>
              <a:rPr lang="zh-CN" altLang="en-US" sz="12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不规律的</a:t>
            </a:r>
            <a:r>
              <a:rPr lang="zh-CN" altLang="en-US" sz="18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9968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88" y="2682875"/>
            <a:ext cx="2886075" cy="1827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9688" name="Text Box 8"/>
          <p:cNvSpPr txBox="1"/>
          <p:nvPr/>
        </p:nvSpPr>
        <p:spPr>
          <a:xfrm>
            <a:off x="539750" y="4516438"/>
            <a:ext cx="3503613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石英晶体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晶体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)</a:t>
            </a:r>
            <a:endParaRPr lang="en-US" altLang="zh-CN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99691" name="Object 11"/>
          <p:cNvGraphicFramePr>
            <a:graphicFrameLocks noChangeAspect="1"/>
          </p:cNvGraphicFramePr>
          <p:nvPr/>
        </p:nvGraphicFramePr>
        <p:xfrm>
          <a:off x="4843463" y="2678113"/>
          <a:ext cx="2897187" cy="178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5505450" imgH="5143500" progId="Paint.Picture">
                  <p:embed/>
                </p:oleObj>
              </mc:Choice>
              <mc:Fallback>
                <p:oleObj r:id="rId3" imgW="5505450" imgH="5143500" progId="Paint.Picture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43463" y="2678113"/>
                        <a:ext cx="2897187" cy="1784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61" name="Text Box 15"/>
          <p:cNvSpPr txBox="1"/>
          <p:nvPr/>
        </p:nvSpPr>
        <p:spPr>
          <a:xfrm>
            <a:off x="4427538" y="4678363"/>
            <a:ext cx="2881312" cy="522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99696" name="Text Box 16"/>
          <p:cNvSpPr txBox="1"/>
          <p:nvPr/>
        </p:nvSpPr>
        <p:spPr>
          <a:xfrm>
            <a:off x="4356100" y="4516438"/>
            <a:ext cx="43211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石英玻璃（非晶体）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1" dur="500"/>
                                        <p:tgtEl>
                                          <p:spTgt spid="199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9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9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9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9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9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96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9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4" grpId="0"/>
      <p:bldP spid="199685" grpId="0"/>
      <p:bldP spid="199688" grpId="0"/>
      <p:bldP spid="199696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15"/>
          <p:cNvSpPr/>
          <p:nvPr/>
        </p:nvSpPr>
        <p:spPr>
          <a:xfrm>
            <a:off x="4356100" y="200025"/>
            <a:ext cx="4422775" cy="138588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b="1" dirty="0">
                <a:solidFill>
                  <a:srgbClr val="0066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结点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—</a:t>
            </a:r>
            <a:r>
              <a:rPr lang="zh-CN" altLang="en-US" b="1" dirty="0">
                <a:latin typeface="幼圆" panose="02010509060101010101" pitchFamily="49" charset="-122"/>
                <a:ea typeface="幼圆" panose="02010509060101010101" pitchFamily="49" charset="-122"/>
              </a:rPr>
              <a:t>晶体中规则排列的微观粒子抽象为几何学上的点。</a:t>
            </a:r>
          </a:p>
        </p:txBody>
      </p:sp>
      <p:sp>
        <p:nvSpPr>
          <p:cNvPr id="200720" name="Text Box 16"/>
          <p:cNvSpPr txBox="1"/>
          <p:nvPr/>
        </p:nvSpPr>
        <p:spPr>
          <a:xfrm>
            <a:off x="3924300" y="1654175"/>
            <a:ext cx="5184775" cy="1385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66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晶格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—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沿一定方向按某种规律把结点联接起来的几何图形。晶格可描述晶体内部的结构。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980" name="Text Box 17"/>
          <p:cNvSpPr txBox="1"/>
          <p:nvPr/>
        </p:nvSpPr>
        <p:spPr>
          <a:xfrm>
            <a:off x="3527425" y="3490913"/>
            <a:ext cx="5616575" cy="138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66CC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晶胞</a:t>
            </a:r>
            <a:r>
              <a:rPr lang="en-US" altLang="zh-CN" b="1" dirty="0">
                <a:latin typeface="Times New Roman" panose="02020603050405020304" pitchFamily="18" charset="0"/>
                <a:ea typeface="幼圆" panose="02010509060101010101" pitchFamily="49" charset="-122"/>
              </a:rPr>
              <a:t>——</a:t>
            </a:r>
            <a:r>
              <a:rPr lang="zh-CN" altLang="en-US" b="1" dirty="0">
                <a:latin typeface="Times New Roman" panose="02020603050405020304" pitchFamily="18" charset="0"/>
                <a:ea typeface="幼圆" panose="02010509060101010101" pitchFamily="49" charset="-122"/>
              </a:rPr>
              <a:t>晶格中，能表现其结构一切特征的最小部分（见左图黑色球部分）。</a:t>
            </a:r>
            <a:endParaRPr lang="zh-CN" altLang="en-US" sz="14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6981" name="Text Box 18"/>
          <p:cNvSpPr txBox="1"/>
          <p:nvPr/>
        </p:nvSpPr>
        <p:spPr>
          <a:xfrm>
            <a:off x="179388" y="141288"/>
            <a:ext cx="3529012" cy="485775"/>
          </a:xfrm>
          <a:prstGeom prst="rect">
            <a:avLst/>
          </a:prstGeom>
          <a:gradFill rotWithShape="1">
            <a:gsLst>
              <a:gs pos="0">
                <a:srgbClr val="181876"/>
              </a:gs>
              <a:gs pos="50000">
                <a:srgbClr val="3333FF"/>
              </a:gs>
              <a:gs pos="100000">
                <a:srgbClr val="181876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晶体的内部结构</a:t>
            </a:r>
            <a:endParaRPr lang="zh-CN" altLang="en-US" sz="1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6982" name="Group 20"/>
          <p:cNvGrpSpPr/>
          <p:nvPr/>
        </p:nvGrpSpPr>
        <p:grpSpPr>
          <a:xfrm>
            <a:off x="250825" y="736600"/>
            <a:ext cx="4033838" cy="2165350"/>
            <a:chOff x="158" y="799"/>
            <a:chExt cx="2541" cy="1819"/>
          </a:xfrm>
        </p:grpSpPr>
        <p:sp>
          <p:nvSpPr>
            <p:cNvPr id="126984" name="Text Box 14"/>
            <p:cNvSpPr txBox="1"/>
            <p:nvPr/>
          </p:nvSpPr>
          <p:spPr>
            <a:xfrm>
              <a:off x="1837" y="829"/>
              <a:ext cx="862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幼圆" panose="02010509060101010101" pitchFamily="49" charset="-122"/>
                  <a:ea typeface="幼圆" panose="02010509060101010101" pitchFamily="49" charset="-122"/>
                </a:rPr>
                <a:t>↙结点</a:t>
              </a:r>
              <a:endParaRPr lang="zh-CN" altLang="en-US" sz="2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26985" name="Object 19"/>
            <p:cNvGraphicFramePr>
              <a:graphicFrameLocks noChangeAspect="1"/>
            </p:cNvGraphicFramePr>
            <p:nvPr/>
          </p:nvGraphicFramePr>
          <p:xfrm>
            <a:off x="158" y="799"/>
            <a:ext cx="1767" cy="18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4210050" imgH="4333875" progId="Paint.Picture">
                    <p:embed/>
                  </p:oleObj>
                </mc:Choice>
                <mc:Fallback>
                  <p:oleObj r:id="rId2" imgW="4210050" imgH="4333875" progId="Paint.Picture">
                    <p:embed/>
                    <p:pic>
                      <p:nvPicPr>
                        <p:cNvPr id="0" name="图片 3138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58" y="799"/>
                          <a:ext cx="1767" cy="181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2698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825" y="3165475"/>
            <a:ext cx="2519363" cy="1787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00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20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/>
          <p:nvPr/>
        </p:nvSpPr>
        <p:spPr>
          <a:xfrm>
            <a:off x="179388" y="47625"/>
            <a:ext cx="3535362" cy="765175"/>
          </a:xfrm>
          <a:prstGeom prst="rect">
            <a:avLst/>
          </a:prstGeom>
          <a:solidFill>
            <a:srgbClr val="00B050"/>
          </a:solidFill>
          <a:ln w="9525">
            <a:noFill/>
          </a:ln>
        </p:spPr>
        <p:txBody>
          <a:bodyPr tIns="165048" bIns="165048" anchor="ctr" anchorCtr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</a:rPr>
              <a:t>5.3.1 </a:t>
            </a:r>
            <a:r>
              <a:rPr lang="zh-CN" altLang="en-US" b="1" dirty="0">
                <a:latin typeface="Times New Roman" panose="02020603050405020304" pitchFamily="18" charset="0"/>
              </a:rPr>
              <a:t>离子晶体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8003" name="Line 3"/>
          <p:cNvSpPr/>
          <p:nvPr/>
        </p:nvSpPr>
        <p:spPr>
          <a:xfrm flipV="1">
            <a:off x="990600" y="1254125"/>
            <a:ext cx="7848600" cy="0"/>
          </a:xfrm>
          <a:prstGeom prst="line">
            <a:avLst/>
          </a:prstGeom>
          <a:ln w="9525">
            <a:noFill/>
          </a:ln>
        </p:spPr>
      </p:sp>
      <p:graphicFrame>
        <p:nvGraphicFramePr>
          <p:cNvPr id="128004" name="表格 128003"/>
          <p:cNvGraphicFramePr/>
          <p:nvPr/>
        </p:nvGraphicFramePr>
        <p:xfrm>
          <a:off x="250825" y="790575"/>
          <a:ext cx="8642350" cy="2593975"/>
        </p:xfrm>
        <a:graphic>
          <a:graphicData uri="http://schemas.openxmlformats.org/drawingml/2006/table">
            <a:tbl>
              <a:tblPr/>
              <a:tblGrid>
                <a:gridCol w="1008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8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68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87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97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晶体类型</a:t>
                      </a:r>
                      <a:endParaRPr lang="zh-CN" altLang="en-US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结点粒子种类</a:t>
                      </a:r>
                      <a:endParaRPr lang="zh-CN" altLang="en-US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粒子间作用力</a:t>
                      </a:r>
                      <a:endParaRPr lang="zh-CN" altLang="en-US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一般性质</a:t>
                      </a:r>
                      <a:endParaRPr lang="zh-CN" altLang="en-US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物质示例</a:t>
                      </a:r>
                      <a:endParaRPr lang="zh-CN" altLang="en-US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696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离子晶体</a:t>
                      </a:r>
                      <a:endParaRPr lang="zh-CN" altLang="en-US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阳</a:t>
                      </a:r>
                      <a:r>
                        <a:rPr lang="zh-CN" altLang="en-US" sz="11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、</a:t>
                      </a: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阴 </a:t>
                      </a:r>
                      <a:endParaRPr lang="zh-CN" altLang="en-US" sz="5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离子</a:t>
                      </a:r>
                      <a:endParaRPr lang="zh-CN" altLang="en-US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静电 </a:t>
                      </a:r>
                      <a:endParaRPr lang="zh-CN" altLang="en-US" sz="5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引力</a:t>
                      </a:r>
                      <a:endParaRPr lang="zh-CN" altLang="en-US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熔点较高、 </a:t>
                      </a:r>
                      <a:endParaRPr lang="zh-CN" altLang="en-US" sz="5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lvl="0" algn="ctr">
                        <a:lnSpc>
                          <a:spcPct val="8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略硬</a:t>
                      </a:r>
                      <a:r>
                        <a:rPr lang="zh-CN" altLang="en-US" sz="14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、</a:t>
                      </a: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脆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,  </a:t>
                      </a:r>
                      <a:endParaRPr lang="en-US" altLang="zh-CN" sz="5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lvl="0" algn="ctr">
                        <a:lnSpc>
                          <a:spcPct val="7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熔体</a:t>
                      </a:r>
                      <a:r>
                        <a:rPr lang="zh-CN" altLang="en-US" sz="11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、</a:t>
                      </a: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溶液易导电</a:t>
                      </a:r>
                      <a:endParaRPr lang="zh-CN" altLang="en-US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活泼金属氧化物、盐类</a:t>
                      </a:r>
                      <a:endParaRPr lang="zh-CN" altLang="en-US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3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NaF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Na</a:t>
                      </a:r>
                      <a:r>
                        <a:rPr lang="en-US" altLang="zh-CN" sz="2000" b="1" baseline="30000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+</a:t>
                      </a:r>
                      <a:r>
                        <a:rPr lang="zh-CN" altLang="en-US" sz="11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、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F</a:t>
                      </a:r>
                      <a:r>
                        <a:rPr lang="en-US" altLang="zh-CN" sz="2000" b="1" baseline="30000" dirty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-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en-US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硬度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2~2.5,  </a:t>
                      </a: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熔点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993</a:t>
                      </a:r>
                      <a:r>
                        <a:rPr lang="en-US" altLang="zh-CN" sz="2000" b="1" dirty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℃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MgF</a:t>
                      </a:r>
                      <a:r>
                        <a:rPr lang="en-US" altLang="zh-CN" sz="2000" b="1" baseline="-25000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Mg</a:t>
                      </a:r>
                      <a:r>
                        <a:rPr lang="en-US" altLang="zh-CN" sz="2000" b="1" baseline="30000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2+</a:t>
                      </a:r>
                      <a:r>
                        <a:rPr lang="zh-CN" altLang="en-US" sz="11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、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F</a:t>
                      </a:r>
                      <a:r>
                        <a:rPr lang="en-US" altLang="zh-CN" sz="2000" b="1" baseline="30000" dirty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-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lang="zh-CN" altLang="en-US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硬度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5,  </a:t>
                      </a: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熔点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1261</a:t>
                      </a:r>
                      <a:r>
                        <a:rPr lang="en-US" altLang="zh-CN" sz="2000" b="1" dirty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℃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8034" name="Text Box 34"/>
          <p:cNvSpPr txBox="1"/>
          <p:nvPr/>
        </p:nvSpPr>
        <p:spPr>
          <a:xfrm>
            <a:off x="3419475" y="3381375"/>
            <a:ext cx="720725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28035" name="Group 35"/>
          <p:cNvGrpSpPr/>
          <p:nvPr/>
        </p:nvGrpSpPr>
        <p:grpSpPr>
          <a:xfrm>
            <a:off x="250825" y="3321050"/>
            <a:ext cx="3638550" cy="1681163"/>
            <a:chOff x="361" y="2744"/>
            <a:chExt cx="2292" cy="1412"/>
          </a:xfrm>
        </p:grpSpPr>
        <p:sp>
          <p:nvSpPr>
            <p:cNvPr id="128097" name="AutoShape 36"/>
            <p:cNvSpPr>
              <a:spLocks noChangeAspect="1"/>
            </p:cNvSpPr>
            <p:nvPr/>
          </p:nvSpPr>
          <p:spPr>
            <a:xfrm>
              <a:off x="385" y="2886"/>
              <a:ext cx="1723" cy="1260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8098" name="Oval 37"/>
            <p:cNvSpPr/>
            <p:nvPr/>
          </p:nvSpPr>
          <p:spPr>
            <a:xfrm>
              <a:off x="2018" y="3340"/>
              <a:ext cx="91" cy="90"/>
            </a:xfrm>
            <a:prstGeom prst="ellipse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28099" name="Group 38"/>
            <p:cNvGrpSpPr/>
            <p:nvPr/>
          </p:nvGrpSpPr>
          <p:grpSpPr>
            <a:xfrm>
              <a:off x="361" y="2744"/>
              <a:ext cx="2292" cy="1412"/>
              <a:chOff x="361" y="2744"/>
              <a:chExt cx="2292" cy="1412"/>
            </a:xfrm>
          </p:grpSpPr>
          <p:sp>
            <p:nvSpPr>
              <p:cNvPr id="128100" name="Oval 39"/>
              <p:cNvSpPr/>
              <p:nvPr/>
            </p:nvSpPr>
            <p:spPr>
              <a:xfrm>
                <a:off x="829" y="2852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01" name="Oval 40"/>
              <p:cNvSpPr/>
              <p:nvPr/>
            </p:nvSpPr>
            <p:spPr>
              <a:xfrm>
                <a:off x="373" y="3079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02" name="Oval 41"/>
              <p:cNvSpPr/>
              <p:nvPr/>
            </p:nvSpPr>
            <p:spPr>
              <a:xfrm>
                <a:off x="1168" y="296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03" name="Oval 42"/>
              <p:cNvSpPr/>
              <p:nvPr/>
            </p:nvSpPr>
            <p:spPr>
              <a:xfrm>
                <a:off x="1531" y="3089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04" name="Oval 43"/>
              <p:cNvSpPr/>
              <p:nvPr/>
            </p:nvSpPr>
            <p:spPr>
              <a:xfrm>
                <a:off x="1994" y="286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05" name="Oval 44"/>
              <p:cNvSpPr/>
              <p:nvPr/>
            </p:nvSpPr>
            <p:spPr>
              <a:xfrm>
                <a:off x="1767" y="3442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06" name="Oval 45"/>
              <p:cNvSpPr/>
              <p:nvPr/>
            </p:nvSpPr>
            <p:spPr>
              <a:xfrm>
                <a:off x="2006" y="378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07" name="Oval 46"/>
              <p:cNvSpPr/>
              <p:nvPr/>
            </p:nvSpPr>
            <p:spPr>
              <a:xfrm>
                <a:off x="1531" y="4020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08" name="Oval 47"/>
              <p:cNvSpPr/>
              <p:nvPr/>
            </p:nvSpPr>
            <p:spPr>
              <a:xfrm>
                <a:off x="1178" y="389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09" name="Oval 48"/>
              <p:cNvSpPr/>
              <p:nvPr/>
            </p:nvSpPr>
            <p:spPr>
              <a:xfrm>
                <a:off x="839" y="3793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10" name="Oval 49"/>
              <p:cNvSpPr/>
              <p:nvPr/>
            </p:nvSpPr>
            <p:spPr>
              <a:xfrm>
                <a:off x="361" y="4020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11" name="Oval 50"/>
              <p:cNvSpPr/>
              <p:nvPr/>
            </p:nvSpPr>
            <p:spPr>
              <a:xfrm>
                <a:off x="588" y="3442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12" name="Oval 51"/>
              <p:cNvSpPr/>
              <p:nvPr/>
            </p:nvSpPr>
            <p:spPr>
              <a:xfrm>
                <a:off x="1405" y="3327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13" name="Oval 52"/>
              <p:cNvSpPr/>
              <p:nvPr/>
            </p:nvSpPr>
            <p:spPr>
              <a:xfrm>
                <a:off x="951" y="355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14" name="Oval 53"/>
              <p:cNvSpPr/>
              <p:nvPr/>
            </p:nvSpPr>
            <p:spPr>
              <a:xfrm>
                <a:off x="1441" y="2874"/>
                <a:ext cx="91" cy="90"/>
              </a:xfrm>
              <a:prstGeom prst="ellipse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15" name="Oval 54"/>
              <p:cNvSpPr/>
              <p:nvPr/>
            </p:nvSpPr>
            <p:spPr>
              <a:xfrm>
                <a:off x="1794" y="2998"/>
                <a:ext cx="91" cy="90"/>
              </a:xfrm>
              <a:prstGeom prst="ellipse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16" name="Oval 55"/>
              <p:cNvSpPr/>
              <p:nvPr/>
            </p:nvSpPr>
            <p:spPr>
              <a:xfrm>
                <a:off x="621" y="2986"/>
                <a:ext cx="91" cy="90"/>
              </a:xfrm>
              <a:prstGeom prst="ellipse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17" name="Oval 56"/>
              <p:cNvSpPr/>
              <p:nvPr/>
            </p:nvSpPr>
            <p:spPr>
              <a:xfrm>
                <a:off x="975" y="3113"/>
                <a:ext cx="91" cy="90"/>
              </a:xfrm>
              <a:prstGeom prst="ellipse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18" name="Oval 57"/>
              <p:cNvSpPr/>
              <p:nvPr/>
            </p:nvSpPr>
            <p:spPr>
              <a:xfrm>
                <a:off x="1565" y="3579"/>
                <a:ext cx="91" cy="90"/>
              </a:xfrm>
              <a:prstGeom prst="ellipse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19" name="Line 58"/>
              <p:cNvSpPr/>
              <p:nvPr/>
            </p:nvSpPr>
            <p:spPr>
              <a:xfrm flipV="1">
                <a:off x="1066" y="3430"/>
                <a:ext cx="363" cy="18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8120" name="Oval 59"/>
              <p:cNvSpPr/>
              <p:nvPr/>
            </p:nvSpPr>
            <p:spPr>
              <a:xfrm>
                <a:off x="1791" y="3930"/>
                <a:ext cx="91" cy="90"/>
              </a:xfrm>
              <a:prstGeom prst="ellipse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21" name="Oval 60"/>
              <p:cNvSpPr/>
              <p:nvPr/>
            </p:nvSpPr>
            <p:spPr>
              <a:xfrm>
                <a:off x="1441" y="3815"/>
                <a:ext cx="91" cy="90"/>
              </a:xfrm>
              <a:prstGeom prst="ellipse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22" name="Oval 61"/>
              <p:cNvSpPr/>
              <p:nvPr/>
            </p:nvSpPr>
            <p:spPr>
              <a:xfrm>
                <a:off x="975" y="4056"/>
                <a:ext cx="91" cy="90"/>
              </a:xfrm>
              <a:prstGeom prst="ellipse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23" name="Oval 62"/>
              <p:cNvSpPr/>
              <p:nvPr/>
            </p:nvSpPr>
            <p:spPr>
              <a:xfrm>
                <a:off x="851" y="3351"/>
                <a:ext cx="91" cy="90"/>
              </a:xfrm>
              <a:prstGeom prst="ellipse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24" name="Oval 63"/>
              <p:cNvSpPr/>
              <p:nvPr/>
            </p:nvSpPr>
            <p:spPr>
              <a:xfrm>
                <a:off x="385" y="3579"/>
                <a:ext cx="91" cy="90"/>
              </a:xfrm>
              <a:prstGeom prst="ellipse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25" name="Oval 64"/>
              <p:cNvSpPr/>
              <p:nvPr/>
            </p:nvSpPr>
            <p:spPr>
              <a:xfrm>
                <a:off x="633" y="3930"/>
                <a:ext cx="91" cy="90"/>
              </a:xfrm>
              <a:prstGeom prst="ellipse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8126" name="Text Box 65"/>
              <p:cNvSpPr txBox="1"/>
              <p:nvPr/>
            </p:nvSpPr>
            <p:spPr>
              <a:xfrm>
                <a:off x="1973" y="2744"/>
                <a:ext cx="589" cy="4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F</a:t>
                </a:r>
                <a:r>
                  <a:rPr lang="en-US" altLang="zh-CN" b="1" baseline="30000" dirty="0">
                    <a:latin typeface="幼圆" panose="02010509060101010101" pitchFamily="49" charset="-122"/>
                    <a:ea typeface="幼圆" panose="02010509060101010101" pitchFamily="49" charset="-122"/>
                  </a:rPr>
                  <a:t>-</a:t>
                </a:r>
                <a:r>
                  <a:rPr lang="en-US" altLang="zh-CN" sz="32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 </a:t>
                </a:r>
                <a:endParaRPr lang="en-US" altLang="zh-CN" sz="16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8127" name="Text Box 66"/>
              <p:cNvSpPr txBox="1"/>
              <p:nvPr/>
            </p:nvSpPr>
            <p:spPr>
              <a:xfrm>
                <a:off x="2064" y="3201"/>
                <a:ext cx="589" cy="4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Na</a:t>
                </a:r>
                <a:r>
                  <a:rPr lang="en-US" altLang="zh-CN" b="1" baseline="30000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endParaRPr lang="en-US" altLang="zh-CN" sz="16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8128" name="Oval 67"/>
              <p:cNvSpPr/>
              <p:nvPr/>
            </p:nvSpPr>
            <p:spPr>
              <a:xfrm>
                <a:off x="1201" y="3475"/>
                <a:ext cx="91" cy="90"/>
              </a:xfrm>
              <a:prstGeom prst="ellipse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28036" name="Oval 68"/>
          <p:cNvSpPr/>
          <p:nvPr/>
        </p:nvSpPr>
        <p:spPr>
          <a:xfrm>
            <a:off x="4121150" y="3487738"/>
            <a:ext cx="576263" cy="431800"/>
          </a:xfrm>
          <a:prstGeom prst="ellipse">
            <a:avLst/>
          </a:prstGeom>
          <a:gradFill rotWithShape="1">
            <a:gsLst>
              <a:gs pos="0">
                <a:srgbClr val="F72F63"/>
              </a:gs>
              <a:gs pos="100000">
                <a:srgbClr val="72162E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zh-CN" altLang="en-US" sz="1600" dirty="0">
              <a:latin typeface="Times New Roman" panose="02020603050405020304" pitchFamily="18" charset="0"/>
            </a:endParaRPr>
          </a:p>
        </p:txBody>
      </p:sp>
      <p:sp>
        <p:nvSpPr>
          <p:cNvPr id="128037" name="Oval 69"/>
          <p:cNvSpPr/>
          <p:nvPr/>
        </p:nvSpPr>
        <p:spPr>
          <a:xfrm>
            <a:off x="5219700" y="3487738"/>
            <a:ext cx="576263" cy="431800"/>
          </a:xfrm>
          <a:prstGeom prst="ellipse">
            <a:avLst/>
          </a:prstGeom>
          <a:gradFill rotWithShape="1">
            <a:gsLst>
              <a:gs pos="0">
                <a:srgbClr val="F72F63"/>
              </a:gs>
              <a:gs pos="100000">
                <a:srgbClr val="72162E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zh-CN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128038" name="Group 70"/>
          <p:cNvGrpSpPr/>
          <p:nvPr/>
        </p:nvGrpSpPr>
        <p:grpSpPr>
          <a:xfrm>
            <a:off x="4121150" y="3895725"/>
            <a:ext cx="2251075" cy="431800"/>
            <a:chOff x="2744" y="3227"/>
            <a:chExt cx="1418" cy="363"/>
          </a:xfrm>
        </p:grpSpPr>
        <p:sp>
          <p:nvSpPr>
            <p:cNvPr id="128093" name="Oval 71"/>
            <p:cNvSpPr/>
            <p:nvPr/>
          </p:nvSpPr>
          <p:spPr>
            <a:xfrm>
              <a:off x="2744" y="322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3333FF"/>
                </a:gs>
                <a:gs pos="100000">
                  <a:srgbClr val="181876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8094" name="Oval 72"/>
            <p:cNvSpPr/>
            <p:nvPr/>
          </p:nvSpPr>
          <p:spPr>
            <a:xfrm>
              <a:off x="3451" y="322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3333FF"/>
                </a:gs>
                <a:gs pos="100000">
                  <a:srgbClr val="181876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8095" name="Oval 73"/>
            <p:cNvSpPr/>
            <p:nvPr/>
          </p:nvSpPr>
          <p:spPr>
            <a:xfrm>
              <a:off x="3095" y="322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F72F63"/>
                </a:gs>
                <a:gs pos="100000">
                  <a:srgbClr val="72162E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8096" name="Oval 74"/>
            <p:cNvSpPr/>
            <p:nvPr/>
          </p:nvSpPr>
          <p:spPr>
            <a:xfrm>
              <a:off x="3799" y="3227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F72F63"/>
                </a:gs>
                <a:gs pos="100000">
                  <a:srgbClr val="72162E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28039" name="Group 75"/>
          <p:cNvGrpSpPr/>
          <p:nvPr/>
        </p:nvGrpSpPr>
        <p:grpSpPr>
          <a:xfrm>
            <a:off x="4230688" y="3705225"/>
            <a:ext cx="1027112" cy="688975"/>
            <a:chOff x="3174" y="2816"/>
            <a:chExt cx="647" cy="578"/>
          </a:xfrm>
        </p:grpSpPr>
        <p:sp>
          <p:nvSpPr>
            <p:cNvPr id="128091" name="Text Box 76"/>
            <p:cNvSpPr txBox="1"/>
            <p:nvPr/>
          </p:nvSpPr>
          <p:spPr>
            <a:xfrm>
              <a:off x="3174" y="2816"/>
              <a:ext cx="272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8092" name="Text Box 77"/>
            <p:cNvSpPr txBox="1"/>
            <p:nvPr/>
          </p:nvSpPr>
          <p:spPr>
            <a:xfrm>
              <a:off x="3503" y="2955"/>
              <a:ext cx="318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8040" name="Oval 78"/>
          <p:cNvSpPr/>
          <p:nvPr/>
        </p:nvSpPr>
        <p:spPr>
          <a:xfrm>
            <a:off x="3563938" y="3487738"/>
            <a:ext cx="576262" cy="431800"/>
          </a:xfrm>
          <a:prstGeom prst="ellipse">
            <a:avLst/>
          </a:prstGeom>
          <a:gradFill rotWithShape="1">
            <a:gsLst>
              <a:gs pos="0">
                <a:srgbClr val="3333FF"/>
              </a:gs>
              <a:gs pos="100000">
                <a:srgbClr val="181876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28041" name="Oval 79"/>
          <p:cNvSpPr/>
          <p:nvPr/>
        </p:nvSpPr>
        <p:spPr>
          <a:xfrm>
            <a:off x="4686300" y="3487738"/>
            <a:ext cx="576263" cy="431800"/>
          </a:xfrm>
          <a:prstGeom prst="ellipse">
            <a:avLst/>
          </a:prstGeom>
          <a:gradFill rotWithShape="1">
            <a:gsLst>
              <a:gs pos="0">
                <a:srgbClr val="3333FF"/>
              </a:gs>
              <a:gs pos="100000">
                <a:srgbClr val="181876"/>
              </a:gs>
            </a:gsLst>
            <a:path path="shape">
              <a:fillToRect l="50000" t="50000" r="50000" b="50000"/>
            </a:path>
            <a:tileRect/>
          </a:gradFill>
          <a:ln w="9525">
            <a:noFill/>
          </a:ln>
        </p:spPr>
        <p:txBody>
          <a:bodyPr wrap="none" anchor="ctr" anchorCtr="0"/>
          <a:lstStyle/>
          <a:p>
            <a:pPr eaLnBrk="1" hangingPunct="1"/>
            <a:endParaRPr lang="zh-CN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128042" name="Group 80"/>
          <p:cNvGrpSpPr/>
          <p:nvPr/>
        </p:nvGrpSpPr>
        <p:grpSpPr>
          <a:xfrm>
            <a:off x="3670300" y="3297238"/>
            <a:ext cx="1027113" cy="688975"/>
            <a:chOff x="3174" y="2816"/>
            <a:chExt cx="647" cy="579"/>
          </a:xfrm>
        </p:grpSpPr>
        <p:sp>
          <p:nvSpPr>
            <p:cNvPr id="128089" name="Text Box 81"/>
            <p:cNvSpPr txBox="1"/>
            <p:nvPr/>
          </p:nvSpPr>
          <p:spPr>
            <a:xfrm>
              <a:off x="3174" y="2816"/>
              <a:ext cx="272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8090" name="Text Box 82"/>
            <p:cNvSpPr txBox="1"/>
            <p:nvPr/>
          </p:nvSpPr>
          <p:spPr>
            <a:xfrm>
              <a:off x="3503" y="2955"/>
              <a:ext cx="318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28043" name="Group 83"/>
          <p:cNvGrpSpPr/>
          <p:nvPr/>
        </p:nvGrpSpPr>
        <p:grpSpPr>
          <a:xfrm>
            <a:off x="4787900" y="3297238"/>
            <a:ext cx="1027113" cy="688975"/>
            <a:chOff x="3174" y="2816"/>
            <a:chExt cx="647" cy="579"/>
          </a:xfrm>
        </p:grpSpPr>
        <p:sp>
          <p:nvSpPr>
            <p:cNvPr id="128087" name="Text Box 84"/>
            <p:cNvSpPr txBox="1"/>
            <p:nvPr/>
          </p:nvSpPr>
          <p:spPr>
            <a:xfrm>
              <a:off x="3174" y="2816"/>
              <a:ext cx="272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8088" name="Text Box 85"/>
            <p:cNvSpPr txBox="1"/>
            <p:nvPr/>
          </p:nvSpPr>
          <p:spPr>
            <a:xfrm>
              <a:off x="3503" y="2955"/>
              <a:ext cx="318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28044" name="Group 86"/>
          <p:cNvGrpSpPr/>
          <p:nvPr/>
        </p:nvGrpSpPr>
        <p:grpSpPr>
          <a:xfrm>
            <a:off x="5364163" y="3705225"/>
            <a:ext cx="1027112" cy="688975"/>
            <a:chOff x="3174" y="2816"/>
            <a:chExt cx="647" cy="578"/>
          </a:xfrm>
        </p:grpSpPr>
        <p:sp>
          <p:nvSpPr>
            <p:cNvPr id="128085" name="Text Box 87"/>
            <p:cNvSpPr txBox="1"/>
            <p:nvPr/>
          </p:nvSpPr>
          <p:spPr>
            <a:xfrm>
              <a:off x="3174" y="2816"/>
              <a:ext cx="272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8086" name="Text Box 88"/>
            <p:cNvSpPr txBox="1"/>
            <p:nvPr/>
          </p:nvSpPr>
          <p:spPr>
            <a:xfrm>
              <a:off x="3503" y="2955"/>
              <a:ext cx="318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28045" name="Group 89"/>
          <p:cNvGrpSpPr/>
          <p:nvPr/>
        </p:nvGrpSpPr>
        <p:grpSpPr>
          <a:xfrm>
            <a:off x="3586163" y="4122738"/>
            <a:ext cx="2251075" cy="688975"/>
            <a:chOff x="2259" y="3418"/>
            <a:chExt cx="1418" cy="579"/>
          </a:xfrm>
        </p:grpSpPr>
        <p:sp>
          <p:nvSpPr>
            <p:cNvPr id="128076" name="Oval 90"/>
            <p:cNvSpPr/>
            <p:nvPr/>
          </p:nvSpPr>
          <p:spPr>
            <a:xfrm>
              <a:off x="2259" y="357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3333FF"/>
                </a:gs>
                <a:gs pos="100000">
                  <a:srgbClr val="181876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8077" name="Oval 91"/>
            <p:cNvSpPr/>
            <p:nvPr/>
          </p:nvSpPr>
          <p:spPr>
            <a:xfrm>
              <a:off x="2966" y="357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3333FF"/>
                </a:gs>
                <a:gs pos="100000">
                  <a:srgbClr val="181876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8078" name="Oval 92"/>
            <p:cNvSpPr/>
            <p:nvPr/>
          </p:nvSpPr>
          <p:spPr>
            <a:xfrm>
              <a:off x="2610" y="357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F72F63"/>
                </a:gs>
                <a:gs pos="100000">
                  <a:srgbClr val="72162E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8079" name="Oval 93"/>
            <p:cNvSpPr/>
            <p:nvPr/>
          </p:nvSpPr>
          <p:spPr>
            <a:xfrm>
              <a:off x="3314" y="357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F72F63"/>
                </a:gs>
                <a:gs pos="100000">
                  <a:srgbClr val="72162E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8080" name="Text Box 94"/>
            <p:cNvSpPr txBox="1"/>
            <p:nvPr/>
          </p:nvSpPr>
          <p:spPr>
            <a:xfrm>
              <a:off x="2326" y="3418"/>
              <a:ext cx="272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8081" name="Text Box 95"/>
            <p:cNvSpPr txBox="1"/>
            <p:nvPr/>
          </p:nvSpPr>
          <p:spPr>
            <a:xfrm>
              <a:off x="2655" y="3557"/>
              <a:ext cx="318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28082" name="Group 96"/>
            <p:cNvGrpSpPr/>
            <p:nvPr/>
          </p:nvGrpSpPr>
          <p:grpSpPr>
            <a:xfrm>
              <a:off x="3028" y="3418"/>
              <a:ext cx="647" cy="579"/>
              <a:chOff x="3166" y="3418"/>
              <a:chExt cx="647" cy="579"/>
            </a:xfrm>
          </p:grpSpPr>
          <p:sp>
            <p:nvSpPr>
              <p:cNvPr id="128083" name="Text Box 97"/>
              <p:cNvSpPr txBox="1"/>
              <p:nvPr/>
            </p:nvSpPr>
            <p:spPr>
              <a:xfrm>
                <a:off x="3166" y="3418"/>
                <a:ext cx="272" cy="4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_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8084" name="Text Box 98"/>
              <p:cNvSpPr txBox="1"/>
              <p:nvPr/>
            </p:nvSpPr>
            <p:spPr>
              <a:xfrm>
                <a:off x="3495" y="3557"/>
                <a:ext cx="318" cy="4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28046" name="Group 99"/>
          <p:cNvGrpSpPr/>
          <p:nvPr/>
        </p:nvGrpSpPr>
        <p:grpSpPr>
          <a:xfrm>
            <a:off x="6569075" y="4083050"/>
            <a:ext cx="2251075" cy="688975"/>
            <a:chOff x="2259" y="3418"/>
            <a:chExt cx="1418" cy="578"/>
          </a:xfrm>
        </p:grpSpPr>
        <p:sp>
          <p:nvSpPr>
            <p:cNvPr id="128067" name="Oval 100"/>
            <p:cNvSpPr/>
            <p:nvPr/>
          </p:nvSpPr>
          <p:spPr>
            <a:xfrm>
              <a:off x="2259" y="357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3333FF"/>
                </a:gs>
                <a:gs pos="100000">
                  <a:srgbClr val="181876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8068" name="Oval 101"/>
            <p:cNvSpPr/>
            <p:nvPr/>
          </p:nvSpPr>
          <p:spPr>
            <a:xfrm>
              <a:off x="2966" y="357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3333FF"/>
                </a:gs>
                <a:gs pos="100000">
                  <a:srgbClr val="181876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8069" name="Oval 102"/>
            <p:cNvSpPr/>
            <p:nvPr/>
          </p:nvSpPr>
          <p:spPr>
            <a:xfrm>
              <a:off x="2610" y="357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F72F63"/>
                </a:gs>
                <a:gs pos="100000">
                  <a:srgbClr val="72162E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8070" name="Oval 103"/>
            <p:cNvSpPr/>
            <p:nvPr/>
          </p:nvSpPr>
          <p:spPr>
            <a:xfrm>
              <a:off x="3314" y="357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F72F63"/>
                </a:gs>
                <a:gs pos="100000">
                  <a:srgbClr val="72162E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8071" name="Text Box 104"/>
            <p:cNvSpPr txBox="1"/>
            <p:nvPr/>
          </p:nvSpPr>
          <p:spPr>
            <a:xfrm>
              <a:off x="2326" y="3418"/>
              <a:ext cx="272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8072" name="Text Box 105"/>
            <p:cNvSpPr txBox="1"/>
            <p:nvPr/>
          </p:nvSpPr>
          <p:spPr>
            <a:xfrm>
              <a:off x="2655" y="3557"/>
              <a:ext cx="318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28073" name="Group 106"/>
            <p:cNvGrpSpPr/>
            <p:nvPr/>
          </p:nvGrpSpPr>
          <p:grpSpPr>
            <a:xfrm>
              <a:off x="3028" y="3418"/>
              <a:ext cx="647" cy="578"/>
              <a:chOff x="3166" y="3418"/>
              <a:chExt cx="647" cy="578"/>
            </a:xfrm>
          </p:grpSpPr>
          <p:sp>
            <p:nvSpPr>
              <p:cNvPr id="128074" name="Text Box 107"/>
              <p:cNvSpPr txBox="1"/>
              <p:nvPr/>
            </p:nvSpPr>
            <p:spPr>
              <a:xfrm>
                <a:off x="3166" y="3418"/>
                <a:ext cx="272" cy="4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_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8075" name="Text Box 108"/>
              <p:cNvSpPr txBox="1"/>
              <p:nvPr/>
            </p:nvSpPr>
            <p:spPr>
              <a:xfrm>
                <a:off x="3495" y="3557"/>
                <a:ext cx="318" cy="4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28047" name="Group 109"/>
          <p:cNvGrpSpPr/>
          <p:nvPr/>
        </p:nvGrpSpPr>
        <p:grpSpPr>
          <a:xfrm>
            <a:off x="6554788" y="3660775"/>
            <a:ext cx="2251075" cy="688975"/>
            <a:chOff x="2259" y="3418"/>
            <a:chExt cx="1418" cy="579"/>
          </a:xfrm>
        </p:grpSpPr>
        <p:sp>
          <p:nvSpPr>
            <p:cNvPr id="128058" name="Oval 110"/>
            <p:cNvSpPr/>
            <p:nvPr/>
          </p:nvSpPr>
          <p:spPr>
            <a:xfrm>
              <a:off x="2259" y="357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3333FF"/>
                </a:gs>
                <a:gs pos="100000">
                  <a:srgbClr val="181876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8059" name="Oval 111"/>
            <p:cNvSpPr/>
            <p:nvPr/>
          </p:nvSpPr>
          <p:spPr>
            <a:xfrm>
              <a:off x="2966" y="357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3333FF"/>
                </a:gs>
                <a:gs pos="100000">
                  <a:srgbClr val="181876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8060" name="Oval 112"/>
            <p:cNvSpPr/>
            <p:nvPr/>
          </p:nvSpPr>
          <p:spPr>
            <a:xfrm>
              <a:off x="2610" y="357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F72F63"/>
                </a:gs>
                <a:gs pos="100000">
                  <a:srgbClr val="72162E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8061" name="Oval 113"/>
            <p:cNvSpPr/>
            <p:nvPr/>
          </p:nvSpPr>
          <p:spPr>
            <a:xfrm>
              <a:off x="3314" y="357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F72F63"/>
                </a:gs>
                <a:gs pos="100000">
                  <a:srgbClr val="72162E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8062" name="Text Box 114"/>
            <p:cNvSpPr txBox="1"/>
            <p:nvPr/>
          </p:nvSpPr>
          <p:spPr>
            <a:xfrm>
              <a:off x="2326" y="3418"/>
              <a:ext cx="272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8063" name="Text Box 115"/>
            <p:cNvSpPr txBox="1"/>
            <p:nvPr/>
          </p:nvSpPr>
          <p:spPr>
            <a:xfrm>
              <a:off x="2655" y="3557"/>
              <a:ext cx="318" cy="4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28064" name="Group 116"/>
            <p:cNvGrpSpPr/>
            <p:nvPr/>
          </p:nvGrpSpPr>
          <p:grpSpPr>
            <a:xfrm>
              <a:off x="3028" y="3418"/>
              <a:ext cx="647" cy="579"/>
              <a:chOff x="3166" y="3418"/>
              <a:chExt cx="647" cy="579"/>
            </a:xfrm>
          </p:grpSpPr>
          <p:sp>
            <p:nvSpPr>
              <p:cNvPr id="128065" name="Text Box 117"/>
              <p:cNvSpPr txBox="1"/>
              <p:nvPr/>
            </p:nvSpPr>
            <p:spPr>
              <a:xfrm>
                <a:off x="3166" y="3418"/>
                <a:ext cx="272" cy="4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_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8066" name="Text Box 118"/>
              <p:cNvSpPr txBox="1"/>
              <p:nvPr/>
            </p:nvSpPr>
            <p:spPr>
              <a:xfrm>
                <a:off x="3495" y="3557"/>
                <a:ext cx="318" cy="44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28048" name="Group 119"/>
          <p:cNvGrpSpPr/>
          <p:nvPr/>
        </p:nvGrpSpPr>
        <p:grpSpPr>
          <a:xfrm>
            <a:off x="6535738" y="3248025"/>
            <a:ext cx="2251075" cy="688975"/>
            <a:chOff x="2259" y="3418"/>
            <a:chExt cx="1418" cy="578"/>
          </a:xfrm>
        </p:grpSpPr>
        <p:sp>
          <p:nvSpPr>
            <p:cNvPr id="128049" name="Oval 120"/>
            <p:cNvSpPr/>
            <p:nvPr/>
          </p:nvSpPr>
          <p:spPr>
            <a:xfrm>
              <a:off x="2259" y="357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3333FF"/>
                </a:gs>
                <a:gs pos="100000">
                  <a:srgbClr val="181876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8050" name="Oval 121"/>
            <p:cNvSpPr/>
            <p:nvPr/>
          </p:nvSpPr>
          <p:spPr>
            <a:xfrm>
              <a:off x="2966" y="357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3333FF"/>
                </a:gs>
                <a:gs pos="100000">
                  <a:srgbClr val="181876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8051" name="Oval 122"/>
            <p:cNvSpPr/>
            <p:nvPr/>
          </p:nvSpPr>
          <p:spPr>
            <a:xfrm>
              <a:off x="2610" y="357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F72F63"/>
                </a:gs>
                <a:gs pos="100000">
                  <a:srgbClr val="72162E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8052" name="Oval 123"/>
            <p:cNvSpPr/>
            <p:nvPr/>
          </p:nvSpPr>
          <p:spPr>
            <a:xfrm>
              <a:off x="3314" y="3578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F72F63"/>
                </a:gs>
                <a:gs pos="100000">
                  <a:srgbClr val="72162E"/>
                </a:gs>
              </a:gsLst>
              <a:path path="shape">
                <a:fillToRect l="50000" t="50000" r="50000" b="50000"/>
              </a:path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28053" name="Text Box 124"/>
            <p:cNvSpPr txBox="1"/>
            <p:nvPr/>
          </p:nvSpPr>
          <p:spPr>
            <a:xfrm>
              <a:off x="2326" y="3418"/>
              <a:ext cx="272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_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8054" name="Text Box 125"/>
            <p:cNvSpPr txBox="1"/>
            <p:nvPr/>
          </p:nvSpPr>
          <p:spPr>
            <a:xfrm>
              <a:off x="2655" y="3557"/>
              <a:ext cx="318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bg1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+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28055" name="Group 126"/>
            <p:cNvGrpSpPr/>
            <p:nvPr/>
          </p:nvGrpSpPr>
          <p:grpSpPr>
            <a:xfrm>
              <a:off x="3028" y="3418"/>
              <a:ext cx="647" cy="578"/>
              <a:chOff x="3166" y="3418"/>
              <a:chExt cx="647" cy="578"/>
            </a:xfrm>
          </p:grpSpPr>
          <p:sp>
            <p:nvSpPr>
              <p:cNvPr id="128056" name="Text Box 127"/>
              <p:cNvSpPr txBox="1"/>
              <p:nvPr/>
            </p:nvSpPr>
            <p:spPr>
              <a:xfrm>
                <a:off x="3166" y="3418"/>
                <a:ext cx="272" cy="4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_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8057" name="Text Box 128"/>
              <p:cNvSpPr txBox="1"/>
              <p:nvPr/>
            </p:nvSpPr>
            <p:spPr>
              <a:xfrm>
                <a:off x="3495" y="3557"/>
                <a:ext cx="318" cy="4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</p:grpSp>
    </p:spTree>
  </p:cSld>
  <p:clrMapOvr>
    <a:masterClrMapping/>
  </p:clrMapOvr>
  <p:transition spd="med">
    <p:wipe dir="r"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026" name="Group 3"/>
          <p:cNvGrpSpPr/>
          <p:nvPr/>
        </p:nvGrpSpPr>
        <p:grpSpPr>
          <a:xfrm>
            <a:off x="428625" y="1997075"/>
            <a:ext cx="3638550" cy="1676400"/>
            <a:chOff x="158" y="1479"/>
            <a:chExt cx="2292" cy="1407"/>
          </a:xfrm>
        </p:grpSpPr>
        <p:graphicFrame>
          <p:nvGraphicFramePr>
            <p:cNvPr id="129033" name="Object 4">
              <a:hlinkClick r:id="rId2" action="ppaction://hlinkfile"/>
            </p:cNvPr>
            <p:cNvGraphicFramePr>
              <a:graphicFrameLocks noChangeAspect="1"/>
            </p:cNvGraphicFramePr>
            <p:nvPr/>
          </p:nvGraphicFramePr>
          <p:xfrm>
            <a:off x="158" y="1608"/>
            <a:ext cx="1747" cy="1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162175" imgH="1581150" progId="Paint.Picture">
                    <p:embed/>
                  </p:oleObj>
                </mc:Choice>
                <mc:Fallback>
                  <p:oleObj r:id="rId3" imgW="2162175" imgH="1581150" progId="Paint.Picture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58" y="1608"/>
                          <a:ext cx="1747" cy="127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9034" name="Oval 5"/>
            <p:cNvSpPr/>
            <p:nvPr/>
          </p:nvSpPr>
          <p:spPr>
            <a:xfrm>
              <a:off x="1823" y="2079"/>
              <a:ext cx="92" cy="91"/>
            </a:xfrm>
            <a:prstGeom prst="ellipse">
              <a:avLst/>
            </a:prstGeom>
            <a:solidFill>
              <a:srgbClr val="FF3300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29035" name="Text Box 6"/>
            <p:cNvSpPr txBox="1"/>
            <p:nvPr/>
          </p:nvSpPr>
          <p:spPr>
            <a:xfrm>
              <a:off x="1810" y="1479"/>
              <a:ext cx="597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20000"/>
                </a:spcBef>
              </a:pP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Cl</a:t>
              </a:r>
              <a:r>
                <a:rPr lang="en-US" altLang="zh-CN" sz="2400" b="1" baseline="30000" dirty="0">
                  <a:latin typeface="幼圆" panose="02010509060101010101" pitchFamily="49" charset="-122"/>
                  <a:ea typeface="幼圆" panose="02010509060101010101" pitchFamily="49" charset="-122"/>
                </a:rPr>
                <a:t>-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29036" name="Group 7"/>
            <p:cNvGrpSpPr/>
            <p:nvPr/>
          </p:nvGrpSpPr>
          <p:grpSpPr>
            <a:xfrm>
              <a:off x="158" y="1582"/>
              <a:ext cx="2292" cy="1304"/>
              <a:chOff x="158" y="1582"/>
              <a:chExt cx="2292" cy="1304"/>
            </a:xfrm>
          </p:grpSpPr>
          <p:sp>
            <p:nvSpPr>
              <p:cNvPr id="129037" name="Oval 8"/>
              <p:cNvSpPr/>
              <p:nvPr/>
            </p:nvSpPr>
            <p:spPr>
              <a:xfrm>
                <a:off x="626" y="1582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38" name="Oval 9"/>
              <p:cNvSpPr/>
              <p:nvPr/>
            </p:nvSpPr>
            <p:spPr>
              <a:xfrm>
                <a:off x="170" y="1809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39" name="Oval 10"/>
              <p:cNvSpPr/>
              <p:nvPr/>
            </p:nvSpPr>
            <p:spPr>
              <a:xfrm>
                <a:off x="965" y="169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40" name="Oval 11"/>
              <p:cNvSpPr/>
              <p:nvPr/>
            </p:nvSpPr>
            <p:spPr>
              <a:xfrm>
                <a:off x="1328" y="1819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41" name="Oval 12"/>
              <p:cNvSpPr/>
              <p:nvPr/>
            </p:nvSpPr>
            <p:spPr>
              <a:xfrm>
                <a:off x="1791" y="159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42" name="Oval 13"/>
              <p:cNvSpPr/>
              <p:nvPr/>
            </p:nvSpPr>
            <p:spPr>
              <a:xfrm>
                <a:off x="1564" y="2172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43" name="Oval 14"/>
              <p:cNvSpPr/>
              <p:nvPr/>
            </p:nvSpPr>
            <p:spPr>
              <a:xfrm>
                <a:off x="1803" y="251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44" name="Oval 15"/>
              <p:cNvSpPr/>
              <p:nvPr/>
            </p:nvSpPr>
            <p:spPr>
              <a:xfrm>
                <a:off x="1328" y="2750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45" name="Oval 16"/>
              <p:cNvSpPr/>
              <p:nvPr/>
            </p:nvSpPr>
            <p:spPr>
              <a:xfrm>
                <a:off x="975" y="2626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46" name="Oval 17"/>
              <p:cNvSpPr/>
              <p:nvPr/>
            </p:nvSpPr>
            <p:spPr>
              <a:xfrm>
                <a:off x="636" y="2523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47" name="Oval 18"/>
              <p:cNvSpPr/>
              <p:nvPr/>
            </p:nvSpPr>
            <p:spPr>
              <a:xfrm>
                <a:off x="158" y="2750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48" name="Oval 19"/>
              <p:cNvSpPr/>
              <p:nvPr/>
            </p:nvSpPr>
            <p:spPr>
              <a:xfrm>
                <a:off x="385" y="2172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49" name="Oval 20"/>
              <p:cNvSpPr/>
              <p:nvPr/>
            </p:nvSpPr>
            <p:spPr>
              <a:xfrm>
                <a:off x="1202" y="2057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50" name="Oval 21"/>
              <p:cNvSpPr/>
              <p:nvPr/>
            </p:nvSpPr>
            <p:spPr>
              <a:xfrm>
                <a:off x="748" y="2284"/>
                <a:ext cx="136" cy="136"/>
              </a:xfrm>
              <a:prstGeom prst="ellipse">
                <a:avLst/>
              </a:prstGeom>
              <a:gradFill rotWithShape="1">
                <a:gsLst>
                  <a:gs pos="0">
                    <a:srgbClr val="3333FF"/>
                  </a:gs>
                  <a:gs pos="100000">
                    <a:srgbClr val="181876"/>
                  </a:gs>
                </a:gsLst>
                <a:path path="shape">
                  <a:fillToRect l="50000" t="50000" r="50000" b="50000"/>
                </a:path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51" name="Oval 22"/>
              <p:cNvSpPr/>
              <p:nvPr/>
            </p:nvSpPr>
            <p:spPr>
              <a:xfrm>
                <a:off x="1238" y="1604"/>
                <a:ext cx="91" cy="90"/>
              </a:xfrm>
              <a:prstGeom prst="ellipse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52" name="Oval 23"/>
              <p:cNvSpPr/>
              <p:nvPr/>
            </p:nvSpPr>
            <p:spPr>
              <a:xfrm>
                <a:off x="1591" y="1728"/>
                <a:ext cx="91" cy="90"/>
              </a:xfrm>
              <a:prstGeom prst="ellipse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53" name="Oval 24"/>
              <p:cNvSpPr/>
              <p:nvPr/>
            </p:nvSpPr>
            <p:spPr>
              <a:xfrm>
                <a:off x="418" y="1716"/>
                <a:ext cx="91" cy="90"/>
              </a:xfrm>
              <a:prstGeom prst="ellipse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54" name="Oval 25"/>
              <p:cNvSpPr/>
              <p:nvPr/>
            </p:nvSpPr>
            <p:spPr>
              <a:xfrm>
                <a:off x="772" y="1843"/>
                <a:ext cx="91" cy="90"/>
              </a:xfrm>
              <a:prstGeom prst="ellipse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55" name="Oval 26"/>
              <p:cNvSpPr/>
              <p:nvPr/>
            </p:nvSpPr>
            <p:spPr>
              <a:xfrm>
                <a:off x="1362" y="2309"/>
                <a:ext cx="91" cy="90"/>
              </a:xfrm>
              <a:prstGeom prst="ellipse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56" name="Line 27"/>
              <p:cNvSpPr/>
              <p:nvPr/>
            </p:nvSpPr>
            <p:spPr>
              <a:xfrm flipV="1">
                <a:off x="863" y="2160"/>
                <a:ext cx="363" cy="182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9057" name="Oval 28"/>
              <p:cNvSpPr/>
              <p:nvPr/>
            </p:nvSpPr>
            <p:spPr>
              <a:xfrm>
                <a:off x="1588" y="2660"/>
                <a:ext cx="91" cy="90"/>
              </a:xfrm>
              <a:prstGeom prst="ellipse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58" name="Oval 29"/>
              <p:cNvSpPr/>
              <p:nvPr/>
            </p:nvSpPr>
            <p:spPr>
              <a:xfrm>
                <a:off x="1238" y="2545"/>
                <a:ext cx="91" cy="90"/>
              </a:xfrm>
              <a:prstGeom prst="ellipse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59" name="Oval 30"/>
              <p:cNvSpPr/>
              <p:nvPr/>
            </p:nvSpPr>
            <p:spPr>
              <a:xfrm>
                <a:off x="772" y="2786"/>
                <a:ext cx="91" cy="90"/>
              </a:xfrm>
              <a:prstGeom prst="ellipse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60" name="Oval 31"/>
              <p:cNvSpPr/>
              <p:nvPr/>
            </p:nvSpPr>
            <p:spPr>
              <a:xfrm>
                <a:off x="648" y="2081"/>
                <a:ext cx="91" cy="90"/>
              </a:xfrm>
              <a:prstGeom prst="ellipse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61" name="Oval 32"/>
              <p:cNvSpPr/>
              <p:nvPr/>
            </p:nvSpPr>
            <p:spPr>
              <a:xfrm>
                <a:off x="182" y="2309"/>
                <a:ext cx="91" cy="90"/>
              </a:xfrm>
              <a:prstGeom prst="ellipse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62" name="Oval 33"/>
              <p:cNvSpPr/>
              <p:nvPr/>
            </p:nvSpPr>
            <p:spPr>
              <a:xfrm>
                <a:off x="430" y="2660"/>
                <a:ext cx="91" cy="90"/>
              </a:xfrm>
              <a:prstGeom prst="ellipse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9063" name="Text Box 34"/>
              <p:cNvSpPr txBox="1"/>
              <p:nvPr/>
            </p:nvSpPr>
            <p:spPr>
              <a:xfrm>
                <a:off x="1861" y="1931"/>
                <a:ext cx="589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Na</a:t>
                </a:r>
                <a:r>
                  <a:rPr lang="en-US" altLang="zh-CN" sz="2400" b="1" baseline="30000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+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9064" name="Oval 35"/>
              <p:cNvSpPr/>
              <p:nvPr/>
            </p:nvSpPr>
            <p:spPr>
              <a:xfrm>
                <a:off x="998" y="2205"/>
                <a:ext cx="91" cy="90"/>
              </a:xfrm>
              <a:prstGeom prst="ellipse">
                <a:avLst/>
              </a:prstGeom>
              <a:solidFill>
                <a:srgbClr val="FF3300"/>
              </a:solidFill>
              <a:ln w="9525">
                <a:noFill/>
              </a:ln>
            </p:spPr>
            <p:txBody>
              <a:bodyPr wrap="none" anchor="ctr" anchorCtr="0"/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29027" name="Group 36"/>
          <p:cNvGrpSpPr/>
          <p:nvPr/>
        </p:nvGrpSpPr>
        <p:grpSpPr>
          <a:xfrm>
            <a:off x="3924300" y="1404938"/>
            <a:ext cx="4895850" cy="2995612"/>
            <a:chOff x="2472" y="1298"/>
            <a:chExt cx="3039" cy="2515"/>
          </a:xfrm>
        </p:grpSpPr>
        <p:sp>
          <p:nvSpPr>
            <p:cNvPr id="129030" name="Text Box 37"/>
            <p:cNvSpPr txBox="1"/>
            <p:nvPr/>
          </p:nvSpPr>
          <p:spPr>
            <a:xfrm>
              <a:off x="2699" y="1298"/>
              <a:ext cx="2494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晶格类型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: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面心立方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9031" name="Text Box 38"/>
            <p:cNvSpPr txBox="1"/>
            <p:nvPr/>
          </p:nvSpPr>
          <p:spPr>
            <a:xfrm>
              <a:off x="2699" y="1888"/>
              <a:ext cx="2812" cy="98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阳离子配位数：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6 </a:t>
              </a:r>
              <a:endParaRPr lang="en-US" altLang="zh-CN" sz="14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阴离子配位数：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6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9032" name="Text Box 39"/>
            <p:cNvSpPr txBox="1"/>
            <p:nvPr/>
          </p:nvSpPr>
          <p:spPr>
            <a:xfrm>
              <a:off x="2472" y="2976"/>
              <a:ext cx="3039" cy="83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例　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KI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、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LiF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、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NaBr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、 </a:t>
              </a:r>
              <a:endParaRPr lang="zh-CN" altLang="en-US" sz="14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       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MgO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、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CaS</a:t>
              </a:r>
              <a:endParaRPr lang="en-US" altLang="zh-CN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9028" name="Rectangle 41"/>
          <p:cNvSpPr/>
          <p:nvPr/>
        </p:nvSpPr>
        <p:spPr>
          <a:xfrm>
            <a:off x="395288" y="1404938"/>
            <a:ext cx="8496300" cy="3132137"/>
          </a:xfrm>
          <a:prstGeom prst="rect">
            <a:avLst/>
          </a:prstGeom>
          <a:noFill/>
          <a:ln w="381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hangingPunct="1"/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129029" name="Text Box 43">
            <a:hlinkClick r:id="rId5" action="ppaction://hlinkfile"/>
          </p:cNvPr>
          <p:cNvSpPr txBox="1"/>
          <p:nvPr/>
        </p:nvSpPr>
        <p:spPr>
          <a:xfrm>
            <a:off x="500063" y="536575"/>
            <a:ext cx="2952750" cy="436563"/>
          </a:xfrm>
          <a:prstGeom prst="rect">
            <a:avLst/>
          </a:prstGeom>
          <a:gradFill rotWithShape="1">
            <a:gsLst>
              <a:gs pos="0">
                <a:srgbClr val="181876"/>
              </a:gs>
              <a:gs pos="50000">
                <a:srgbClr val="3333FF"/>
              </a:gs>
              <a:gs pos="100000">
                <a:srgbClr val="181876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algn="ctr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 b="1" dirty="0">
                <a:solidFill>
                  <a:srgbClr val="FFFF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NaCl</a:t>
            </a:r>
            <a:r>
              <a:rPr lang="zh-CN" altLang="en-US" b="1" dirty="0">
                <a:solidFill>
                  <a:srgbClr val="FFFF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晶体</a:t>
            </a:r>
          </a:p>
        </p:txBody>
      </p:sp>
    </p:spTree>
  </p:cSld>
  <p:clrMapOvr>
    <a:masterClrMapping/>
  </p:clrMapOvr>
  <p:transition spd="med">
    <p:wipe dir="r"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Line 2"/>
          <p:cNvSpPr/>
          <p:nvPr/>
        </p:nvSpPr>
        <p:spPr>
          <a:xfrm flipV="1">
            <a:off x="981075" y="1322388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130051" name="Text Box 3"/>
          <p:cNvSpPr txBox="1"/>
          <p:nvPr/>
        </p:nvSpPr>
        <p:spPr>
          <a:xfrm>
            <a:off x="3409950" y="3451225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0052" name="Text Box 4"/>
          <p:cNvSpPr txBox="1"/>
          <p:nvPr/>
        </p:nvSpPr>
        <p:spPr>
          <a:xfrm>
            <a:off x="568325" y="195263"/>
            <a:ext cx="3889375" cy="487362"/>
          </a:xfrm>
          <a:prstGeom prst="rect">
            <a:avLst/>
          </a:prstGeom>
          <a:gradFill rotWithShape="1">
            <a:gsLst>
              <a:gs pos="0">
                <a:srgbClr val="181876"/>
              </a:gs>
              <a:gs pos="50000">
                <a:srgbClr val="3333FF"/>
              </a:gs>
              <a:gs pos="100000">
                <a:srgbClr val="181876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离子晶体的稳定性</a:t>
            </a:r>
            <a:endParaRPr lang="zh-CN" altLang="en-US" sz="1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0053" name="表格 130052"/>
          <p:cNvGraphicFramePr/>
          <p:nvPr/>
        </p:nvGraphicFramePr>
        <p:xfrm>
          <a:off x="190500" y="920750"/>
          <a:ext cx="8713788" cy="2136775"/>
        </p:xfrm>
        <a:graphic>
          <a:graphicData uri="http://schemas.openxmlformats.org/drawingml/2006/table">
            <a:tbl>
              <a:tblPr/>
              <a:tblGrid>
                <a:gridCol w="1871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98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NaCl</a:t>
                      </a: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型</a:t>
                      </a:r>
                      <a:endParaRPr lang="zh-CN" altLang="en-US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NaI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NaCl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NaBr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NaF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33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BaO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FF33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SrO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CaO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MgO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离子电荷</a:t>
                      </a:r>
                      <a:endParaRPr lang="zh-CN" altLang="en-US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33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rgbClr val="FF33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核间距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/pm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318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294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279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231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33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277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rgbClr val="FF33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257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240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210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熔点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/</a:t>
                      </a:r>
                      <a:r>
                        <a:rPr lang="en-US" altLang="zh-CN" sz="2000" b="1" dirty="0"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℃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661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747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801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993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33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1918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rgbClr val="FF33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2430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2614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2852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63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lnSpc>
                          <a:spcPct val="85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硬度 </a:t>
                      </a:r>
                      <a:endParaRPr lang="zh-CN" altLang="en-US" sz="5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lvl="0" algn="ctr">
                        <a:lnSpc>
                          <a:spcPct val="6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(</a:t>
                      </a: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金刚石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=10)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－</a:t>
                      </a:r>
                      <a:endParaRPr lang="zh-CN" altLang="en-US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－</a:t>
                      </a:r>
                      <a:endParaRPr lang="zh-CN" altLang="en-US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2.5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2~ </a:t>
                      </a:r>
                      <a:endParaRPr lang="en-US" altLang="zh-CN" sz="5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lvl="0" algn="ctr">
                        <a:lnSpc>
                          <a:spcPct val="50000"/>
                        </a:lnSpc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2.5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33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3.3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rgbClr val="FF33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3.5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4.5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8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华文新魏" panose="0201080004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5.5</a:t>
                      </a:r>
                      <a:endParaRPr lang="en-US" altLang="zh-CN" sz="2000" dirty="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" name="Group 77"/>
          <p:cNvGrpSpPr/>
          <p:nvPr/>
        </p:nvGrpSpPr>
        <p:grpSpPr>
          <a:xfrm>
            <a:off x="328613" y="3427413"/>
            <a:ext cx="8267700" cy="522287"/>
            <a:chOff x="213" y="3105"/>
            <a:chExt cx="5208" cy="439"/>
          </a:xfrm>
        </p:grpSpPr>
        <p:sp>
          <p:nvSpPr>
            <p:cNvPr id="130119" name="Text Box 78"/>
            <p:cNvSpPr txBox="1"/>
            <p:nvPr/>
          </p:nvSpPr>
          <p:spPr>
            <a:xfrm>
              <a:off x="386" y="3105"/>
              <a:ext cx="5035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电荷相同，核间距越小，熔点越高，硬度越大。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0120" name="Oval 79"/>
            <p:cNvSpPr/>
            <p:nvPr/>
          </p:nvSpPr>
          <p:spPr>
            <a:xfrm>
              <a:off x="213" y="3256"/>
              <a:ext cx="136" cy="136"/>
            </a:xfrm>
            <a:prstGeom prst="ellipse">
              <a:avLst/>
            </a:prstGeom>
            <a:solidFill>
              <a:srgbClr val="3333FF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80"/>
          <p:cNvGrpSpPr/>
          <p:nvPr/>
        </p:nvGrpSpPr>
        <p:grpSpPr>
          <a:xfrm>
            <a:off x="471488" y="4192588"/>
            <a:ext cx="8277225" cy="522287"/>
            <a:chOff x="249" y="2886"/>
            <a:chExt cx="5214" cy="439"/>
          </a:xfrm>
        </p:grpSpPr>
        <p:sp>
          <p:nvSpPr>
            <p:cNvPr id="130117" name="Text Box 81"/>
            <p:cNvSpPr txBox="1"/>
            <p:nvPr/>
          </p:nvSpPr>
          <p:spPr>
            <a:xfrm>
              <a:off x="428" y="2886"/>
              <a:ext cx="5035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离子电荷数越多，熔点越高，硬度越大。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0118" name="Oval 82"/>
            <p:cNvSpPr/>
            <p:nvPr/>
          </p:nvSpPr>
          <p:spPr>
            <a:xfrm>
              <a:off x="249" y="3067"/>
              <a:ext cx="136" cy="136"/>
            </a:xfrm>
            <a:prstGeom prst="ellipse">
              <a:avLst/>
            </a:prstGeom>
            <a:solidFill>
              <a:srgbClr val="3333FF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Line 2"/>
          <p:cNvSpPr/>
          <p:nvPr/>
        </p:nvSpPr>
        <p:spPr>
          <a:xfrm flipV="1">
            <a:off x="990600" y="1362075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131075" name="Text Box 3"/>
          <p:cNvSpPr txBox="1"/>
          <p:nvPr/>
        </p:nvSpPr>
        <p:spPr>
          <a:xfrm>
            <a:off x="179388" y="195263"/>
            <a:ext cx="3678237" cy="585787"/>
          </a:xfrm>
          <a:prstGeom prst="rect">
            <a:avLst/>
          </a:prstGeom>
          <a:solidFill>
            <a:srgbClr val="00B050"/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000000"/>
                </a:solidFill>
                <a:latin typeface="华文新魏" panose="02010800040101010101" pitchFamily="2" charset="-122"/>
              </a:rPr>
              <a:t>5.3.2 </a:t>
            </a:r>
            <a:r>
              <a:rPr lang="zh-CN" altLang="en-US" sz="3200" b="1" dirty="0">
                <a:solidFill>
                  <a:srgbClr val="000000"/>
                </a:solidFill>
                <a:latin typeface="华文新魏" panose="02010800040101010101" pitchFamily="2" charset="-122"/>
              </a:rPr>
              <a:t>原子晶体 </a:t>
            </a:r>
            <a:endParaRPr lang="zh-CN" altLang="en-US" sz="3200" dirty="0">
              <a:latin typeface="华文新魏" panose="02010800040101010101" pitchFamily="2" charset="-122"/>
            </a:endParaRPr>
          </a:p>
        </p:txBody>
      </p:sp>
      <p:sp>
        <p:nvSpPr>
          <p:cNvPr id="131076" name="Rectangle 4"/>
          <p:cNvSpPr/>
          <p:nvPr/>
        </p:nvSpPr>
        <p:spPr>
          <a:xfrm>
            <a:off x="3995738" y="2992438"/>
            <a:ext cx="4897437" cy="6223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algn="ctr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3200" b="1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endParaRPr lang="zh-CN" altLang="en-US" dirty="0"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131077" name="Rectangle 5"/>
          <p:cNvSpPr/>
          <p:nvPr/>
        </p:nvSpPr>
        <p:spPr>
          <a:xfrm>
            <a:off x="2700338" y="2992438"/>
            <a:ext cx="1295400" cy="6223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algn="ctr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32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1078" name="Rectangle 6"/>
          <p:cNvSpPr/>
          <p:nvPr/>
        </p:nvSpPr>
        <p:spPr>
          <a:xfrm>
            <a:off x="1476375" y="2992438"/>
            <a:ext cx="1223963" cy="62230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algn="ctr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3200" b="1" baseline="300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1079" name="Rectangle 7"/>
          <p:cNvSpPr/>
          <p:nvPr/>
        </p:nvSpPr>
        <p:spPr>
          <a:xfrm>
            <a:off x="5651500" y="1690688"/>
            <a:ext cx="3241675" cy="1301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algn="ctr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金刚石、单质硅</a:t>
            </a:r>
            <a:r>
              <a:rPr lang="zh-CN" altLang="en-US" sz="1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单质硼、碳化硅</a:t>
            </a:r>
            <a:r>
              <a:rPr lang="zh-CN" altLang="en-US" sz="1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石英、氮化硼</a:t>
            </a:r>
            <a:r>
              <a:rPr lang="zh-CN" altLang="en-US" sz="1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1080" name="Rectangle 8"/>
          <p:cNvSpPr/>
          <p:nvPr/>
        </p:nvSpPr>
        <p:spPr>
          <a:xfrm>
            <a:off x="3995738" y="1690688"/>
            <a:ext cx="1655762" cy="1301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algn="ctr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熔点高 </a:t>
            </a:r>
            <a:endParaRPr lang="zh-CN" altLang="en-US" sz="6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硬度大 </a:t>
            </a:r>
            <a:endParaRPr lang="zh-CN" altLang="en-US" sz="6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不导电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1081" name="Rectangle 9"/>
          <p:cNvSpPr/>
          <p:nvPr/>
        </p:nvSpPr>
        <p:spPr>
          <a:xfrm>
            <a:off x="2700338" y="1690688"/>
            <a:ext cx="1295400" cy="1301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algn="ctr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zh-CN" altLang="en-US" sz="6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共价键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1082" name="Rectangle 10"/>
          <p:cNvSpPr/>
          <p:nvPr/>
        </p:nvSpPr>
        <p:spPr>
          <a:xfrm>
            <a:off x="1476375" y="1690688"/>
            <a:ext cx="1223963" cy="1301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algn="ctr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endParaRPr lang="zh-CN" altLang="en-US" sz="6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原子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1083" name="Rectangle 11"/>
          <p:cNvSpPr/>
          <p:nvPr/>
        </p:nvSpPr>
        <p:spPr>
          <a:xfrm>
            <a:off x="250825" y="1690688"/>
            <a:ext cx="1225550" cy="1301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algn="ctr">
              <a:lnSpc>
                <a:spcPct val="15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原子 </a:t>
            </a:r>
            <a:endParaRPr lang="zh-CN" altLang="en-US" sz="6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晶体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1084" name="Rectangle 12"/>
          <p:cNvSpPr/>
          <p:nvPr/>
        </p:nvSpPr>
        <p:spPr>
          <a:xfrm>
            <a:off x="5651500" y="896938"/>
            <a:ext cx="3241675" cy="793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 anchor="ctr" anchorCtr="1"/>
          <a:lstStyle/>
          <a:p>
            <a:pPr algn="ctr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物质示例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1085" name="Rectangle 14"/>
          <p:cNvSpPr/>
          <p:nvPr/>
        </p:nvSpPr>
        <p:spPr>
          <a:xfrm>
            <a:off x="2700338" y="896938"/>
            <a:ext cx="1295400" cy="793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algn="ctr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粒子间</a:t>
            </a:r>
            <a:endParaRPr lang="en-US" altLang="zh-CN" sz="2400" b="1" dirty="0">
              <a:latin typeface="Times New Roman" panose="02020603050405020304" pitchFamily="18" charset="0"/>
              <a:ea typeface="幼圆" panose="02010509060101010101" pitchFamily="49" charset="-122"/>
            </a:endParaRPr>
          </a:p>
          <a:p>
            <a:pPr algn="ctr"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作用力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1086" name="Rectangle 15"/>
          <p:cNvSpPr/>
          <p:nvPr/>
        </p:nvSpPr>
        <p:spPr>
          <a:xfrm>
            <a:off x="1476375" y="896938"/>
            <a:ext cx="1223963" cy="793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algn="ctr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结点粒子种类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1087" name="Rectangle 16"/>
          <p:cNvSpPr/>
          <p:nvPr/>
        </p:nvSpPr>
        <p:spPr>
          <a:xfrm>
            <a:off x="250825" y="896938"/>
            <a:ext cx="1225550" cy="793750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lstStyle/>
          <a:p>
            <a:pPr algn="ctr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晶体 </a:t>
            </a:r>
            <a:endParaRPr lang="zh-CN" altLang="en-US" sz="6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7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类型</a:t>
            </a:r>
            <a:endParaRPr lang="zh-CN" altLang="en-US" sz="20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1088" name="Line 17"/>
          <p:cNvSpPr/>
          <p:nvPr/>
        </p:nvSpPr>
        <p:spPr>
          <a:xfrm>
            <a:off x="250825" y="896938"/>
            <a:ext cx="864235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1089" name="Line 18"/>
          <p:cNvSpPr/>
          <p:nvPr/>
        </p:nvSpPr>
        <p:spPr>
          <a:xfrm>
            <a:off x="250825" y="1690688"/>
            <a:ext cx="86423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1090" name="Line 19"/>
          <p:cNvSpPr/>
          <p:nvPr/>
        </p:nvSpPr>
        <p:spPr>
          <a:xfrm>
            <a:off x="250825" y="896938"/>
            <a:ext cx="0" cy="20955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1091" name="Line 20"/>
          <p:cNvSpPr/>
          <p:nvPr/>
        </p:nvSpPr>
        <p:spPr>
          <a:xfrm>
            <a:off x="1476375" y="896938"/>
            <a:ext cx="0" cy="20955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1092" name="Line 21"/>
          <p:cNvSpPr/>
          <p:nvPr/>
        </p:nvSpPr>
        <p:spPr>
          <a:xfrm>
            <a:off x="2700338" y="896938"/>
            <a:ext cx="0" cy="20955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1093" name="Line 22"/>
          <p:cNvSpPr/>
          <p:nvPr/>
        </p:nvSpPr>
        <p:spPr>
          <a:xfrm>
            <a:off x="3995738" y="896938"/>
            <a:ext cx="0" cy="20955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1094" name="Line 23"/>
          <p:cNvSpPr/>
          <p:nvPr/>
        </p:nvSpPr>
        <p:spPr>
          <a:xfrm>
            <a:off x="5651500" y="896938"/>
            <a:ext cx="0" cy="20955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1095" name="Line 24"/>
          <p:cNvSpPr/>
          <p:nvPr/>
        </p:nvSpPr>
        <p:spPr>
          <a:xfrm>
            <a:off x="8893175" y="896938"/>
            <a:ext cx="0" cy="20955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31096" name="Line 25"/>
          <p:cNvSpPr/>
          <p:nvPr/>
        </p:nvSpPr>
        <p:spPr>
          <a:xfrm>
            <a:off x="250825" y="2992438"/>
            <a:ext cx="0" cy="622300"/>
          </a:xfrm>
          <a:prstGeom prst="line">
            <a:avLst/>
          </a:prstGeom>
          <a:ln w="28575">
            <a:noFill/>
          </a:ln>
        </p:spPr>
      </p:sp>
      <p:sp>
        <p:nvSpPr>
          <p:cNvPr id="131097" name="Line 26"/>
          <p:cNvSpPr/>
          <p:nvPr/>
        </p:nvSpPr>
        <p:spPr>
          <a:xfrm>
            <a:off x="8893175" y="2992438"/>
            <a:ext cx="0" cy="622300"/>
          </a:xfrm>
          <a:prstGeom prst="line">
            <a:avLst/>
          </a:prstGeom>
          <a:ln w="28575">
            <a:noFill/>
          </a:ln>
        </p:spPr>
      </p:sp>
      <p:sp>
        <p:nvSpPr>
          <p:cNvPr id="131098" name="Line 27"/>
          <p:cNvSpPr/>
          <p:nvPr/>
        </p:nvSpPr>
        <p:spPr>
          <a:xfrm>
            <a:off x="250825" y="2992438"/>
            <a:ext cx="864235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" name="Group 28"/>
          <p:cNvGrpSpPr/>
          <p:nvPr/>
        </p:nvGrpSpPr>
        <p:grpSpPr>
          <a:xfrm>
            <a:off x="250825" y="2992438"/>
            <a:ext cx="8642350" cy="1793875"/>
            <a:chOff x="158" y="2377"/>
            <a:chExt cx="5444" cy="1507"/>
          </a:xfrm>
        </p:grpSpPr>
        <p:sp>
          <p:nvSpPr>
            <p:cNvPr id="131105" name="Line 29"/>
            <p:cNvSpPr/>
            <p:nvPr/>
          </p:nvSpPr>
          <p:spPr>
            <a:xfrm>
              <a:off x="158" y="2900"/>
              <a:ext cx="0" cy="984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1106" name="Line 30"/>
            <p:cNvSpPr/>
            <p:nvPr/>
          </p:nvSpPr>
          <p:spPr>
            <a:xfrm>
              <a:off x="5602" y="2900"/>
              <a:ext cx="0" cy="984"/>
            </a:xfrm>
            <a:prstGeom prst="line">
              <a:avLst/>
            </a:prstGeom>
            <a:ln w="28575" cap="sq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31107" name="Group 31"/>
            <p:cNvGrpSpPr/>
            <p:nvPr/>
          </p:nvGrpSpPr>
          <p:grpSpPr>
            <a:xfrm>
              <a:off x="158" y="2377"/>
              <a:ext cx="5444" cy="1507"/>
              <a:chOff x="158" y="2377"/>
              <a:chExt cx="5444" cy="1507"/>
            </a:xfrm>
          </p:grpSpPr>
          <p:grpSp>
            <p:nvGrpSpPr>
              <p:cNvPr id="131108" name="Group 32"/>
              <p:cNvGrpSpPr/>
              <p:nvPr/>
            </p:nvGrpSpPr>
            <p:grpSpPr>
              <a:xfrm>
                <a:off x="158" y="2377"/>
                <a:ext cx="5444" cy="1507"/>
                <a:chOff x="158" y="2377"/>
                <a:chExt cx="5444" cy="1507"/>
              </a:xfrm>
            </p:grpSpPr>
            <p:sp>
              <p:nvSpPr>
                <p:cNvPr id="131116" name="Rectangle 33"/>
                <p:cNvSpPr/>
                <p:nvPr/>
              </p:nvSpPr>
              <p:spPr>
                <a:xfrm>
                  <a:off x="158" y="2377"/>
                  <a:ext cx="772" cy="52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/>
                <a:lstStyle/>
                <a:p>
                  <a:pPr algn="ctr">
                    <a:lnSpc>
                      <a:spcPct val="140000"/>
                    </a:lnSpc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</a:pPr>
                  <a:r>
                    <a:rPr lang="zh-CN" altLang="en-US" sz="2400" b="1" dirty="0">
                      <a:solidFill>
                        <a:srgbClr val="3333FF"/>
                      </a:solidFill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实例</a:t>
                  </a:r>
                  <a:endParaRPr lang="zh-CN" altLang="en-US" sz="20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1117" name="Rectangle 34"/>
                <p:cNvSpPr/>
                <p:nvPr/>
              </p:nvSpPr>
              <p:spPr>
                <a:xfrm>
                  <a:off x="2517" y="3240"/>
                  <a:ext cx="3085" cy="64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ctr" anchorCtr="1"/>
                <a:lstStyle/>
                <a:p>
                  <a:pPr algn="ctr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None/>
                  </a:pPr>
                  <a:r>
                    <a:rPr lang="zh-CN" altLang="en-US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硬度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9.5,  </a:t>
                  </a:r>
                  <a:r>
                    <a:rPr lang="zh-CN" altLang="en-US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熔点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2700</a:t>
                  </a:r>
                  <a:r>
                    <a:rPr lang="en-US" altLang="zh-CN" sz="2400" b="1" dirty="0">
                      <a:latin typeface="幼圆" panose="02010509060101010101" pitchFamily="49" charset="-122"/>
                      <a:ea typeface="幼圆" panose="02010509060101010101" pitchFamily="49" charset="-122"/>
                    </a:rPr>
                    <a:t>℃</a:t>
                  </a:r>
                  <a:endPara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1118" name="Rectangle 35"/>
                <p:cNvSpPr/>
                <p:nvPr/>
              </p:nvSpPr>
              <p:spPr>
                <a:xfrm>
                  <a:off x="1701" y="3240"/>
                  <a:ext cx="816" cy="64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ctr" anchorCtr="1"/>
                <a:lstStyle/>
                <a:p>
                  <a:pPr algn="ctr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</a:pPr>
                  <a:r>
                    <a:rPr lang="zh-CN" altLang="en-US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共价键</a:t>
                  </a:r>
                  <a:endParaRPr lang="zh-CN" altLang="en-US" sz="20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1119" name="Rectangle 36"/>
                <p:cNvSpPr/>
                <p:nvPr/>
              </p:nvSpPr>
              <p:spPr>
                <a:xfrm>
                  <a:off x="930" y="3240"/>
                  <a:ext cx="771" cy="64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/>
                <a:lstStyle/>
                <a:p>
                  <a:pPr algn="ctr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</a:pPr>
                  <a:r>
                    <a:rPr lang="en-US" altLang="zh-CN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C</a:t>
                  </a:r>
                  <a:r>
                    <a:rPr lang="zh-CN" altLang="en-US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原子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Si</a:t>
                  </a:r>
                  <a:r>
                    <a:rPr lang="zh-CN" altLang="en-US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原子</a:t>
                  </a:r>
                  <a:endParaRPr lang="zh-CN" altLang="en-US" sz="20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1120" name="Rectangle 37"/>
                <p:cNvSpPr/>
                <p:nvPr/>
              </p:nvSpPr>
              <p:spPr>
                <a:xfrm>
                  <a:off x="158" y="3240"/>
                  <a:ext cx="772" cy="64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/>
                <a:lstStyle/>
                <a:p>
                  <a:pPr algn="ctr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</a:pPr>
                  <a:r>
                    <a:rPr lang="zh-CN" altLang="en-US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金刚砂</a:t>
                  </a:r>
                  <a:r>
                    <a:rPr lang="zh-CN" altLang="en-US" sz="2400" b="1" baseline="-25000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 </a:t>
                  </a:r>
                  <a:endParaRPr lang="zh-CN" altLang="en-US" sz="20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1121" name="Rectangle 38"/>
                <p:cNvSpPr/>
                <p:nvPr/>
              </p:nvSpPr>
              <p:spPr>
                <a:xfrm>
                  <a:off x="2517" y="2900"/>
                  <a:ext cx="3085" cy="34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/>
                <a:lstStyle/>
                <a:p>
                  <a:pPr algn="ctr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None/>
                  </a:pPr>
                  <a:r>
                    <a:rPr lang="zh-CN" altLang="en-US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硬度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10,  </a:t>
                  </a:r>
                  <a:r>
                    <a:rPr lang="zh-CN" altLang="en-US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熔点</a:t>
                  </a:r>
                  <a:r>
                    <a:rPr lang="en-US" altLang="zh-CN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&gt;3550</a:t>
                  </a:r>
                  <a:r>
                    <a:rPr lang="en-US" altLang="zh-CN" sz="2400" b="1" dirty="0">
                      <a:latin typeface="幼圆" panose="02010509060101010101" pitchFamily="49" charset="-122"/>
                      <a:ea typeface="幼圆" panose="02010509060101010101" pitchFamily="49" charset="-122"/>
                    </a:rPr>
                    <a:t>℃</a:t>
                  </a:r>
                  <a:endParaRPr lang="en-US" altLang="zh-CN" sz="20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1122" name="Rectangle 39"/>
                <p:cNvSpPr/>
                <p:nvPr/>
              </p:nvSpPr>
              <p:spPr>
                <a:xfrm>
                  <a:off x="1701" y="2900"/>
                  <a:ext cx="816" cy="34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/>
                <a:lstStyle/>
                <a:p>
                  <a:pPr algn="ctr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</a:pPr>
                  <a:r>
                    <a:rPr lang="zh-CN" altLang="en-US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共价键</a:t>
                  </a:r>
                  <a:endParaRPr lang="zh-CN" altLang="en-US" sz="20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1123" name="Rectangle 40"/>
                <p:cNvSpPr/>
                <p:nvPr/>
              </p:nvSpPr>
              <p:spPr>
                <a:xfrm>
                  <a:off x="930" y="2900"/>
                  <a:ext cx="771" cy="34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/>
                <a:lstStyle/>
                <a:p>
                  <a:pPr algn="ctr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</a:pPr>
                  <a:r>
                    <a:rPr lang="en-US" altLang="zh-CN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C</a:t>
                  </a:r>
                  <a:r>
                    <a:rPr lang="zh-CN" altLang="en-US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原子</a:t>
                  </a:r>
                  <a:r>
                    <a:rPr lang="zh-CN" altLang="en-US" sz="2400" b="1" baseline="30000" dirty="0">
                      <a:latin typeface="幼圆" panose="02010509060101010101" pitchFamily="49" charset="-122"/>
                      <a:ea typeface="幼圆" panose="02010509060101010101" pitchFamily="49" charset="-122"/>
                    </a:rPr>
                    <a:t> </a:t>
                  </a:r>
                  <a:endParaRPr lang="zh-CN" altLang="en-US" sz="20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1124" name="Rectangle 41"/>
                <p:cNvSpPr/>
                <p:nvPr/>
              </p:nvSpPr>
              <p:spPr>
                <a:xfrm>
                  <a:off x="158" y="2900"/>
                  <a:ext cx="772" cy="34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/>
                <a:lstStyle/>
                <a:p>
                  <a:pPr algn="ctr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</a:pPr>
                  <a:r>
                    <a:rPr lang="zh-CN" altLang="en-US" sz="2400" b="1" dirty="0">
                      <a:latin typeface="Times New Roman" panose="02020603050405020304" pitchFamily="18" charset="0"/>
                      <a:ea typeface="幼圆" panose="02010509060101010101" pitchFamily="49" charset="-122"/>
                    </a:rPr>
                    <a:t>金刚石</a:t>
                  </a:r>
                  <a:endParaRPr lang="zh-CN" altLang="en-US" sz="20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31109" name="Group 42"/>
              <p:cNvGrpSpPr/>
              <p:nvPr/>
            </p:nvGrpSpPr>
            <p:grpSpPr>
              <a:xfrm>
                <a:off x="158" y="2900"/>
                <a:ext cx="5444" cy="984"/>
                <a:chOff x="158" y="2900"/>
                <a:chExt cx="5444" cy="984"/>
              </a:xfrm>
            </p:grpSpPr>
            <p:sp>
              <p:nvSpPr>
                <p:cNvPr id="131110" name="Line 43"/>
                <p:cNvSpPr/>
                <p:nvPr/>
              </p:nvSpPr>
              <p:spPr>
                <a:xfrm>
                  <a:off x="158" y="3884"/>
                  <a:ext cx="5444" cy="0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1111" name="Line 44"/>
                <p:cNvSpPr/>
                <p:nvPr/>
              </p:nvSpPr>
              <p:spPr>
                <a:xfrm>
                  <a:off x="158" y="3240"/>
                  <a:ext cx="5444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1112" name="Line 45"/>
                <p:cNvSpPr/>
                <p:nvPr/>
              </p:nvSpPr>
              <p:spPr>
                <a:xfrm>
                  <a:off x="930" y="2900"/>
                  <a:ext cx="0" cy="984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1113" name="Line 46"/>
                <p:cNvSpPr/>
                <p:nvPr/>
              </p:nvSpPr>
              <p:spPr>
                <a:xfrm>
                  <a:off x="1701" y="2900"/>
                  <a:ext cx="0" cy="984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1114" name="Line 47"/>
                <p:cNvSpPr/>
                <p:nvPr/>
              </p:nvSpPr>
              <p:spPr>
                <a:xfrm>
                  <a:off x="2517" y="2900"/>
                  <a:ext cx="0" cy="984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31115" name="Line 48"/>
                <p:cNvSpPr/>
                <p:nvPr/>
              </p:nvSpPr>
              <p:spPr>
                <a:xfrm>
                  <a:off x="158" y="2900"/>
                  <a:ext cx="54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</p:grpSp>
      <p:grpSp>
        <p:nvGrpSpPr>
          <p:cNvPr id="6" name="Group 49"/>
          <p:cNvGrpSpPr/>
          <p:nvPr/>
        </p:nvGrpSpPr>
        <p:grpSpPr>
          <a:xfrm>
            <a:off x="346075" y="1033463"/>
            <a:ext cx="8785225" cy="2671762"/>
            <a:chOff x="158" y="892"/>
            <a:chExt cx="5534" cy="2243"/>
          </a:xfrm>
        </p:grpSpPr>
        <p:sp>
          <p:nvSpPr>
            <p:cNvPr id="131101" name="Text Box 50"/>
            <p:cNvSpPr txBox="1"/>
            <p:nvPr/>
          </p:nvSpPr>
          <p:spPr>
            <a:xfrm>
              <a:off x="158" y="1548"/>
              <a:ext cx="5534" cy="1587"/>
            </a:xfrm>
            <a:prstGeom prst="rect">
              <a:avLst/>
            </a:prstGeom>
            <a:solidFill>
              <a:srgbClr val="FFFFCC"/>
            </a:solidFill>
            <a:ln w="19050" cap="flat" cmpd="sng">
              <a:solidFill>
                <a:srgbClr val="FF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/>
            <a:p>
              <a:pPr eaLnBrk="1" hangingPunct="1"/>
              <a:r>
                <a:rPr lang="zh-CN" altLang="en-US" b="1" dirty="0">
                  <a:solidFill>
                    <a:srgbClr val="3333FF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                                           </a:t>
              </a:r>
              <a:r>
                <a:rPr lang="zh-CN" altLang="en-US" b="1" dirty="0">
                  <a:solidFill>
                    <a:srgbClr val="FF3300"/>
                  </a:solidFill>
                  <a:latin typeface="Times New Roman" panose="02020603050405020304" pitchFamily="18" charset="0"/>
                  <a:ea typeface="幼圆" panose="02010509060101010101" pitchFamily="49" charset="-122"/>
                  <a:hlinkClick r:id="rId2" action="ppaction://hlinkfile"/>
                </a:rPr>
                <a:t>金刚石</a:t>
              </a:r>
              <a:r>
                <a:rPr lang="zh-CN" altLang="en-US" b="1" dirty="0">
                  <a:solidFill>
                    <a:srgbClr val="FF3300"/>
                  </a:solidFill>
                  <a:latin typeface="Times New Roman" panose="02020603050405020304" pitchFamily="18" charset="0"/>
                  <a:ea typeface="幼圆" panose="02010509060101010101" pitchFamily="49" charset="-122"/>
                </a:rPr>
                <a:t> </a:t>
              </a:r>
              <a:endParaRPr lang="zh-CN" altLang="en-US" sz="1400" dirty="0">
                <a:latin typeface="Arial" panose="020B0604020202020204" pitchFamily="34" charset="0"/>
                <a:ea typeface="ˎ̥"/>
              </a:endParaRPr>
            </a:p>
            <a:p>
              <a:pPr eaLnBrk="1" hangingPunct="1"/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                                 每个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C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原子的四个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sp</a:t>
              </a:r>
              <a:r>
                <a:rPr lang="en-US" altLang="zh-CN" b="1" baseline="30000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3 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杂化 </a:t>
              </a:r>
              <a:endParaRPr lang="zh-CN" altLang="en-US" sz="1400" dirty="0">
                <a:latin typeface="Arial" panose="020B0604020202020204" pitchFamily="34" charset="0"/>
                <a:ea typeface="ˎ̥"/>
              </a:endParaRPr>
            </a:p>
            <a:p>
              <a:pPr eaLnBrk="1" hangingPunct="1"/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                                 与相邻四个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C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原子以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C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－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C </a:t>
              </a:r>
              <a:endParaRPr lang="en-US" altLang="zh-CN" sz="1400" dirty="0">
                <a:latin typeface="Arial" panose="020B0604020202020204" pitchFamily="34" charset="0"/>
                <a:ea typeface="ˎ̥"/>
              </a:endParaRPr>
            </a:p>
            <a:p>
              <a:pPr eaLnBrk="1" hangingPunct="1"/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                                  (</a:t>
              </a:r>
              <a:r>
                <a:rPr lang="el-GR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σ</a:t>
              </a:r>
              <a:r>
                <a:rPr lang="zh-CN" altLang="el-GR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键</a:t>
              </a:r>
              <a:r>
                <a:rPr lang="en-US" altLang="zh-CN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)</a:t>
              </a:r>
              <a:r>
                <a:rPr lang="zh-CN" altLang="en-US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结合形成正四面体。</a:t>
              </a:r>
              <a:endParaRPr lang="zh-CN" altLang="en-US" sz="14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131102" name="Group 51"/>
            <p:cNvGrpSpPr/>
            <p:nvPr/>
          </p:nvGrpSpPr>
          <p:grpSpPr>
            <a:xfrm>
              <a:off x="371" y="892"/>
              <a:ext cx="2721" cy="2140"/>
              <a:chOff x="184" y="3186"/>
              <a:chExt cx="2324" cy="1680"/>
            </a:xfrm>
          </p:grpSpPr>
          <p:sp>
            <p:nvSpPr>
              <p:cNvPr id="131103" name="Text Box 52"/>
              <p:cNvSpPr txBox="1"/>
              <p:nvPr/>
            </p:nvSpPr>
            <p:spPr>
              <a:xfrm>
                <a:off x="2146" y="3186"/>
                <a:ext cx="362" cy="264"/>
              </a:xfrm>
              <a:prstGeom prst="rect">
                <a:avLst/>
              </a:prstGeom>
              <a:solidFill>
                <a:srgbClr val="FFFFCC"/>
              </a:solidFill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/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pic>
            <p:nvPicPr>
              <p:cNvPr id="131104" name="Picture 53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4" y="3762"/>
                <a:ext cx="1293" cy="1104"/>
              </a:xfrm>
              <a:prstGeom prst="rect">
                <a:avLst/>
              </a:prstGeom>
              <a:solidFill>
                <a:srgbClr val="FFFFCC"/>
              </a:solidFill>
              <a:ln w="9525">
                <a:noFill/>
              </a:ln>
            </p:spPr>
          </p:pic>
        </p:grp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Text Box 2"/>
          <p:cNvSpPr txBox="1"/>
          <p:nvPr/>
        </p:nvSpPr>
        <p:spPr>
          <a:xfrm>
            <a:off x="179388" y="196850"/>
            <a:ext cx="3606800" cy="585788"/>
          </a:xfrm>
          <a:prstGeom prst="rect">
            <a:avLst/>
          </a:prstGeom>
          <a:solidFill>
            <a:srgbClr val="00B050"/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000000"/>
                </a:solidFill>
                <a:latin typeface="华文新魏" panose="02010800040101010101" pitchFamily="2" charset="-122"/>
              </a:rPr>
              <a:t>5.3.3 </a:t>
            </a:r>
            <a:r>
              <a:rPr lang="zh-CN" altLang="en-US" sz="3200" b="1" dirty="0">
                <a:solidFill>
                  <a:srgbClr val="000000"/>
                </a:solidFill>
                <a:latin typeface="华文新魏" panose="02010800040101010101" pitchFamily="2" charset="-122"/>
              </a:rPr>
              <a:t>分子晶体 </a:t>
            </a:r>
            <a:endParaRPr lang="zh-CN" altLang="en-US" sz="3200" dirty="0">
              <a:latin typeface="华文新魏" panose="02010800040101010101" pitchFamily="2" charset="-122"/>
            </a:endParaRPr>
          </a:p>
        </p:txBody>
      </p:sp>
      <p:sp>
        <p:nvSpPr>
          <p:cNvPr id="132099" name="Rectangle 3"/>
          <p:cNvSpPr/>
          <p:nvPr/>
        </p:nvSpPr>
        <p:spPr>
          <a:xfrm>
            <a:off x="0" y="-120650"/>
            <a:ext cx="184150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05828" name="Group 4"/>
          <p:cNvGraphicFramePr>
            <a:graphicFrameLocks noGrp="1"/>
          </p:cNvGraphicFramePr>
          <p:nvPr/>
        </p:nvGraphicFramePr>
        <p:xfrm>
          <a:off x="250825" y="877888"/>
          <a:ext cx="8642350" cy="2336755"/>
        </p:xfrm>
        <a:graphic>
          <a:graphicData uri="http://schemas.openxmlformats.org/drawingml/2006/table">
            <a:tbl>
              <a:tblPr/>
              <a:tblGrid>
                <a:gridCol w="865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6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3173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晶体 </a:t>
                      </a:r>
                      <a:endParaRPr kumimoji="0" lang="zh-CN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类型</a:t>
                      </a:r>
                      <a:endParaRPr kumimoji="0" lang="zh-CN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结点粒 </a:t>
                      </a:r>
                      <a:endParaRPr kumimoji="0" lang="zh-CN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子种类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粒子间 </a:t>
                      </a:r>
                      <a:endParaRPr kumimoji="0" lang="zh-CN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作用力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一般 </a:t>
                      </a:r>
                      <a:endParaRPr kumimoji="0" lang="zh-CN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性质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物质示例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34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分子 </a:t>
                      </a:r>
                      <a:endParaRPr kumimoji="0" lang="zh-CN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晶体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分子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分子间力 </a:t>
                      </a:r>
                      <a:endParaRPr kumimoji="0" lang="zh-CN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(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氢键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)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熔点低 </a:t>
                      </a:r>
                      <a:endParaRPr kumimoji="0" lang="zh-CN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硬度小 </a:t>
                      </a:r>
                      <a:endParaRPr kumimoji="0" lang="zh-CN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不导电 </a:t>
                      </a:r>
                      <a:endParaRPr kumimoji="0" lang="zh-CN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易挥发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稀有气体 </a:t>
                      </a:r>
                      <a:endParaRPr kumimoji="0" lang="zh-CN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多数非金属单质 </a:t>
                      </a:r>
                      <a:endParaRPr kumimoji="0" lang="zh-CN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非金属之间化合 </a:t>
                      </a:r>
                      <a:endParaRPr kumimoji="0" lang="zh-CN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物、有机化合物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29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干冰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CO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分子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 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分子间力</a:t>
                      </a:r>
                      <a:endParaRPr kumimoji="0" lang="zh-CN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3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冰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H</a:t>
                      </a:r>
                      <a:r>
                        <a:rPr kumimoji="0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O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分子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分子间力 </a:t>
                      </a:r>
                      <a:endParaRPr kumimoji="0" lang="zh-CN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6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氢键</a:t>
                      </a:r>
                      <a:endParaRPr kumimoji="0" lang="zh-CN" altLang="en-US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Group 32"/>
          <p:cNvGrpSpPr/>
          <p:nvPr/>
        </p:nvGrpSpPr>
        <p:grpSpPr>
          <a:xfrm>
            <a:off x="684213" y="3198813"/>
            <a:ext cx="7920037" cy="1627187"/>
            <a:chOff x="204" y="2568"/>
            <a:chExt cx="4989" cy="1367"/>
          </a:xfrm>
        </p:grpSpPr>
        <p:grpSp>
          <p:nvGrpSpPr>
            <p:cNvPr id="132129" name="Group 33"/>
            <p:cNvGrpSpPr/>
            <p:nvPr/>
          </p:nvGrpSpPr>
          <p:grpSpPr>
            <a:xfrm>
              <a:off x="204" y="2568"/>
              <a:ext cx="4989" cy="1367"/>
              <a:chOff x="204" y="2568"/>
              <a:chExt cx="4989" cy="1367"/>
            </a:xfrm>
          </p:grpSpPr>
          <p:grpSp>
            <p:nvGrpSpPr>
              <p:cNvPr id="132136" name="Group 34"/>
              <p:cNvGrpSpPr/>
              <p:nvPr/>
            </p:nvGrpSpPr>
            <p:grpSpPr>
              <a:xfrm>
                <a:off x="1293" y="2598"/>
                <a:ext cx="3900" cy="1337"/>
                <a:chOff x="658" y="2598"/>
                <a:chExt cx="3900" cy="1337"/>
              </a:xfrm>
            </p:grpSpPr>
            <p:graphicFrame>
              <p:nvGraphicFramePr>
                <p:cNvPr id="132138" name="Object 35"/>
                <p:cNvGraphicFramePr>
                  <a:graphicFrameLocks noChangeAspect="1"/>
                </p:cNvGraphicFramePr>
                <p:nvPr/>
              </p:nvGraphicFramePr>
              <p:xfrm>
                <a:off x="658" y="2598"/>
                <a:ext cx="1678" cy="133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" imgW="4133850" imgH="3295650" progId="Paint.Picture">
                        <p:embed/>
                      </p:oleObj>
                    </mc:Choice>
                    <mc:Fallback>
                      <p:oleObj r:id="rId2" imgW="4133850" imgH="3295650" progId="Paint.Picture">
                        <p:embed/>
                        <p:pic>
                          <p:nvPicPr>
                            <p:cNvPr id="0" name="图片 3141"/>
                            <p:cNvPicPr/>
                            <p:nvPr/>
                          </p:nvPicPr>
                          <p:blipFill>
                            <a:blip r:embed="rId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58" y="2598"/>
                              <a:ext cx="1678" cy="1337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132139" name="Group 36"/>
                <p:cNvGrpSpPr/>
                <p:nvPr/>
              </p:nvGrpSpPr>
              <p:grpSpPr>
                <a:xfrm>
                  <a:off x="1202" y="3282"/>
                  <a:ext cx="998" cy="272"/>
                  <a:chOff x="703" y="3249"/>
                  <a:chExt cx="998" cy="272"/>
                </a:xfrm>
              </p:grpSpPr>
              <p:sp>
                <p:nvSpPr>
                  <p:cNvPr id="132145" name="Line 37"/>
                  <p:cNvSpPr/>
                  <p:nvPr/>
                </p:nvSpPr>
                <p:spPr>
                  <a:xfrm flipV="1">
                    <a:off x="703" y="3249"/>
                    <a:ext cx="816" cy="136"/>
                  </a:xfrm>
                  <a:prstGeom prst="line">
                    <a:avLst/>
                  </a:prstGeom>
                  <a:ln w="9525" cap="flat" cmpd="sng">
                    <a:solidFill>
                      <a:srgbClr val="00CC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32146" name="Line 38"/>
                  <p:cNvSpPr/>
                  <p:nvPr/>
                </p:nvSpPr>
                <p:spPr>
                  <a:xfrm>
                    <a:off x="703" y="3385"/>
                    <a:ext cx="136" cy="136"/>
                  </a:xfrm>
                  <a:prstGeom prst="line">
                    <a:avLst/>
                  </a:prstGeom>
                  <a:ln w="9525" cap="flat" cmpd="sng">
                    <a:solidFill>
                      <a:srgbClr val="00CC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32147" name="Line 39"/>
                  <p:cNvSpPr/>
                  <p:nvPr/>
                </p:nvSpPr>
                <p:spPr>
                  <a:xfrm flipV="1">
                    <a:off x="839" y="3385"/>
                    <a:ext cx="862" cy="136"/>
                  </a:xfrm>
                  <a:prstGeom prst="line">
                    <a:avLst/>
                  </a:prstGeom>
                  <a:ln w="9525" cap="flat" cmpd="sng">
                    <a:solidFill>
                      <a:srgbClr val="00CC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132148" name="Line 40"/>
                  <p:cNvSpPr/>
                  <p:nvPr/>
                </p:nvSpPr>
                <p:spPr>
                  <a:xfrm>
                    <a:off x="1519" y="3249"/>
                    <a:ext cx="182" cy="136"/>
                  </a:xfrm>
                  <a:prstGeom prst="line">
                    <a:avLst/>
                  </a:prstGeom>
                  <a:ln w="9525" cap="flat" cmpd="sng">
                    <a:solidFill>
                      <a:srgbClr val="00CC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grpSp>
              <p:nvGrpSpPr>
                <p:cNvPr id="132140" name="Group 41"/>
                <p:cNvGrpSpPr/>
                <p:nvPr/>
              </p:nvGrpSpPr>
              <p:grpSpPr>
                <a:xfrm>
                  <a:off x="3334" y="2840"/>
                  <a:ext cx="1224" cy="984"/>
                  <a:chOff x="3334" y="2840"/>
                  <a:chExt cx="1224" cy="984"/>
                </a:xfrm>
              </p:grpSpPr>
              <p:sp>
                <p:nvSpPr>
                  <p:cNvPr id="132141" name="Oval 42"/>
                  <p:cNvSpPr/>
                  <p:nvPr/>
                </p:nvSpPr>
                <p:spPr>
                  <a:xfrm>
                    <a:off x="3334" y="3022"/>
                    <a:ext cx="136" cy="136"/>
                  </a:xfrm>
                  <a:prstGeom prst="ellipse">
                    <a:avLst/>
                  </a:prstGeom>
                  <a:solidFill>
                    <a:srgbClr val="3333FF"/>
                  </a:solidFill>
                  <a:ln w="9525">
                    <a:noFill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2142" name="Text Box 43"/>
                  <p:cNvSpPr txBox="1"/>
                  <p:nvPr/>
                </p:nvSpPr>
                <p:spPr>
                  <a:xfrm>
                    <a:off x="3515" y="2840"/>
                    <a:ext cx="1043" cy="43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zh-CN" altLang="en-US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氧原子</a:t>
                    </a:r>
                    <a:endParaRPr lang="zh-CN" altLang="en-US" sz="1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132143" name="Oval 44"/>
                  <p:cNvSpPr/>
                  <p:nvPr/>
                </p:nvSpPr>
                <p:spPr>
                  <a:xfrm>
                    <a:off x="3368" y="3566"/>
                    <a:ext cx="90" cy="91"/>
                  </a:xfrm>
                  <a:prstGeom prst="ellipse">
                    <a:avLst/>
                  </a:prstGeom>
                  <a:solidFill>
                    <a:srgbClr val="FF3300"/>
                  </a:solidFill>
                  <a:ln w="9525">
                    <a:noFill/>
                  </a:ln>
                </p:spPr>
                <p:txBody>
                  <a:bodyPr wrap="none" anchor="ctr" anchorCtr="0"/>
                  <a:lstStyle/>
                  <a:p>
                    <a:pPr eaLnBrk="1" hangingPunct="1"/>
                    <a:endParaRPr lang="zh-CN" altLang="en-US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2144" name="Text Box 45"/>
                  <p:cNvSpPr txBox="1"/>
                  <p:nvPr/>
                </p:nvSpPr>
                <p:spPr>
                  <a:xfrm>
                    <a:off x="3515" y="3385"/>
                    <a:ext cx="998" cy="439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zh-CN" altLang="en-US" b="1" dirty="0">
                        <a:latin typeface="Times New Roman" panose="02020603050405020304" pitchFamily="18" charset="0"/>
                        <a:ea typeface="幼圆" panose="02010509060101010101" pitchFamily="49" charset="-122"/>
                      </a:rPr>
                      <a:t>碳原子</a:t>
                    </a:r>
                    <a:endParaRPr lang="zh-CN" altLang="en-US" sz="1400" dirty="0">
                      <a:latin typeface="Arial" panose="020B0604020202020204" pitchFamily="34" charset="0"/>
                      <a:ea typeface="宋体" panose="02010600030101010101" pitchFamily="2" charset="-122"/>
                    </a:endParaRPr>
                  </a:p>
                </p:txBody>
              </p:sp>
            </p:grpSp>
          </p:grpSp>
          <p:sp>
            <p:nvSpPr>
              <p:cNvPr id="132137" name="Text Box 46"/>
              <p:cNvSpPr txBox="1"/>
              <p:nvPr/>
            </p:nvSpPr>
            <p:spPr>
              <a:xfrm>
                <a:off x="204" y="2568"/>
                <a:ext cx="771" cy="43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32130" name="Line 47"/>
            <p:cNvSpPr/>
            <p:nvPr/>
          </p:nvSpPr>
          <p:spPr>
            <a:xfrm flipH="1">
              <a:off x="2426" y="3294"/>
              <a:ext cx="91" cy="181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32131" name="Line 48"/>
            <p:cNvSpPr/>
            <p:nvPr/>
          </p:nvSpPr>
          <p:spPr>
            <a:xfrm flipH="1">
              <a:off x="2326" y="3331"/>
              <a:ext cx="91" cy="181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32132" name="Line 49"/>
            <p:cNvSpPr/>
            <p:nvPr/>
          </p:nvSpPr>
          <p:spPr>
            <a:xfrm flipH="1">
              <a:off x="2227" y="3330"/>
              <a:ext cx="91" cy="181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32133" name="Line 50"/>
            <p:cNvSpPr/>
            <p:nvPr/>
          </p:nvSpPr>
          <p:spPr>
            <a:xfrm flipH="1">
              <a:off x="2136" y="3339"/>
              <a:ext cx="91" cy="181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32134" name="Line 51"/>
            <p:cNvSpPr/>
            <p:nvPr/>
          </p:nvSpPr>
          <p:spPr>
            <a:xfrm flipH="1">
              <a:off x="2054" y="3357"/>
              <a:ext cx="91" cy="181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132135" name="Line 52"/>
            <p:cNvSpPr/>
            <p:nvPr/>
          </p:nvSpPr>
          <p:spPr>
            <a:xfrm flipH="1">
              <a:off x="2517" y="3285"/>
              <a:ext cx="91" cy="181"/>
            </a:xfrm>
            <a:prstGeom prst="line">
              <a:avLst/>
            </a:prstGeom>
            <a:ln w="9525" cap="flat" cmpd="sng">
              <a:solidFill>
                <a:srgbClr val="00FF00"/>
              </a:solidFill>
              <a:prstDash val="dash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/>
          <p:nvPr/>
        </p:nvSpPr>
        <p:spPr>
          <a:xfrm>
            <a:off x="273050" y="204788"/>
            <a:ext cx="2762250" cy="584200"/>
          </a:xfrm>
          <a:prstGeom prst="rect">
            <a:avLst/>
          </a:prstGeom>
          <a:solidFill>
            <a:srgbClr val="00B050"/>
          </a:solidFill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000000"/>
                </a:solidFill>
                <a:latin typeface="华文新魏" panose="02010800040101010101" pitchFamily="2" charset="-122"/>
              </a:rPr>
              <a:t>5.3.4</a:t>
            </a:r>
            <a:r>
              <a:rPr lang="zh-CN" altLang="en-US" sz="3200" b="1" dirty="0">
                <a:solidFill>
                  <a:srgbClr val="000000"/>
                </a:solidFill>
                <a:latin typeface="华文新魏" panose="02010800040101010101" pitchFamily="2" charset="-122"/>
              </a:rPr>
              <a:t>金属晶体</a:t>
            </a:r>
            <a:endParaRPr lang="zh-CN" altLang="en-US" sz="3200" dirty="0">
              <a:latin typeface="华文新魏" panose="02010800040101010101" pitchFamily="2" charset="-122"/>
            </a:endParaRPr>
          </a:p>
        </p:txBody>
      </p:sp>
      <p:graphicFrame>
        <p:nvGraphicFramePr>
          <p:cNvPr id="206851" name="Group 3"/>
          <p:cNvGraphicFramePr>
            <a:graphicFrameLocks noGrp="1"/>
          </p:cNvGraphicFramePr>
          <p:nvPr/>
        </p:nvGraphicFramePr>
        <p:xfrm>
          <a:off x="250825" y="879475"/>
          <a:ext cx="8642350" cy="2629357"/>
        </p:xfrm>
        <a:graphic>
          <a:graphicData uri="http://schemas.openxmlformats.org/drawingml/2006/table">
            <a:tbl>
              <a:tblPr/>
              <a:tblGrid>
                <a:gridCol w="865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7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39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1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4066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晶体 </a:t>
                      </a:r>
                      <a:endParaRPr kumimoji="0" lang="zh-CN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类型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结点粒子 </a:t>
                      </a:r>
                      <a:endParaRPr kumimoji="0" lang="zh-CN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种类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粒子间作用力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一般性质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物质示例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802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金属 </a:t>
                      </a:r>
                      <a:endParaRPr kumimoji="0" lang="zh-CN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晶体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金属原子 </a:t>
                      </a:r>
                      <a:endParaRPr kumimoji="0" lang="zh-CN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金属阳离子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金属键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熔点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、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硬度差别大 </a:t>
                      </a:r>
                      <a:endParaRPr kumimoji="0" lang="zh-CN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导电性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、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导热性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、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延 </a:t>
                      </a:r>
                      <a:endParaRPr kumimoji="0" lang="zh-CN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展性好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,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有金属光泽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金属 </a:t>
                      </a:r>
                      <a:endParaRPr kumimoji="0" lang="zh-CN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合金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66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Cu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Cu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原子 </a:t>
                      </a:r>
                      <a:endParaRPr kumimoji="0" lang="zh-CN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Cu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离子</a:t>
                      </a:r>
                      <a:r>
                        <a:rPr kumimoji="0" lang="zh-CN" altLang="en-US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 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金属键</a:t>
                      </a:r>
                      <a:endParaRPr kumimoji="0" lang="zh-CN" alt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熔点 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Hg -38.87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℃</a:t>
                      </a: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W 3410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  <a:cs typeface="Times New Roman" panose="02020603050405020304" pitchFamily="18" charset="0"/>
                        </a:rPr>
                        <a:t>℃ </a:t>
                      </a:r>
                      <a:endParaRPr kumimoji="0" lang="en-US" altLang="zh-CN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1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 </a:t>
                      </a: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幼圆" panose="02010509060101010101" pitchFamily="49" charset="-122"/>
                          <a:ea typeface="幼圆" panose="02010509060101010101" pitchFamily="49" charset="-122"/>
                        </a:rPr>
                        <a:t>硬度 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Na 0.4</a:t>
                      </a:r>
                      <a:r>
                        <a:rPr kumimoji="0" lang="zh-CN" altLang="en-US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、</a:t>
                      </a:r>
                      <a:r>
                        <a:rPr kumimoji="0" lang="en-US" altLang="zh-CN" sz="2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幼圆" panose="02010509060101010101" pitchFamily="49" charset="-122"/>
                        </a:rPr>
                        <a:t>Cr 9.0</a:t>
                      </a:r>
                      <a:endParaRPr kumimoji="0" lang="en-US" altLang="zh-CN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3148" name="Text Box 28"/>
          <p:cNvSpPr txBox="1"/>
          <p:nvPr/>
        </p:nvSpPr>
        <p:spPr>
          <a:xfrm>
            <a:off x="395288" y="4335463"/>
            <a:ext cx="849788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29"/>
          <p:cNvGrpSpPr/>
          <p:nvPr/>
        </p:nvGrpSpPr>
        <p:grpSpPr>
          <a:xfrm>
            <a:off x="250825" y="3586163"/>
            <a:ext cx="8785225" cy="831850"/>
            <a:chOff x="158" y="2888"/>
            <a:chExt cx="5534" cy="698"/>
          </a:xfrm>
        </p:grpSpPr>
        <p:sp>
          <p:nvSpPr>
            <p:cNvPr id="133153" name="Text Box 30"/>
            <p:cNvSpPr txBox="1"/>
            <p:nvPr/>
          </p:nvSpPr>
          <p:spPr>
            <a:xfrm>
              <a:off x="340" y="2888"/>
              <a:ext cx="5352" cy="69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金属单质晶体中，金属原子采取尽可能紧密堆积方式，所以一般金属密度较大。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154" name="Oval 31"/>
            <p:cNvSpPr/>
            <p:nvPr/>
          </p:nvSpPr>
          <p:spPr>
            <a:xfrm>
              <a:off x="158" y="2931"/>
              <a:ext cx="137" cy="136"/>
            </a:xfrm>
            <a:prstGeom prst="ellipse">
              <a:avLst/>
            </a:prstGeom>
            <a:solidFill>
              <a:srgbClr val="3333FF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32"/>
          <p:cNvGrpSpPr/>
          <p:nvPr/>
        </p:nvGrpSpPr>
        <p:grpSpPr>
          <a:xfrm>
            <a:off x="250825" y="4416425"/>
            <a:ext cx="8713788" cy="461963"/>
            <a:chOff x="158" y="2873"/>
            <a:chExt cx="5489" cy="388"/>
          </a:xfrm>
        </p:grpSpPr>
        <p:sp>
          <p:nvSpPr>
            <p:cNvPr id="133151" name="Text Box 33"/>
            <p:cNvSpPr txBox="1"/>
            <p:nvPr/>
          </p:nvSpPr>
          <p:spPr>
            <a:xfrm>
              <a:off x="295" y="2873"/>
              <a:ext cx="5352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每个原子被较多的相同原子包围，一般配位数较大。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152" name="Oval 34"/>
            <p:cNvSpPr/>
            <p:nvPr/>
          </p:nvSpPr>
          <p:spPr>
            <a:xfrm>
              <a:off x="158" y="2931"/>
              <a:ext cx="137" cy="136"/>
            </a:xfrm>
            <a:prstGeom prst="ellipse">
              <a:avLst/>
            </a:prstGeom>
            <a:solidFill>
              <a:srgbClr val="3333FF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3"/>
          <p:cNvSpPr/>
          <p:nvPr/>
        </p:nvSpPr>
        <p:spPr>
          <a:xfrm>
            <a:off x="0" y="-190500"/>
            <a:ext cx="184150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4147" name="Text Box 4"/>
          <p:cNvSpPr txBox="1"/>
          <p:nvPr/>
        </p:nvSpPr>
        <p:spPr>
          <a:xfrm>
            <a:off x="395288" y="4264025"/>
            <a:ext cx="849788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/>
            <a:endParaRPr lang="zh-CN" altLang="en-US" sz="1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7877" name="Text Box 5"/>
          <p:cNvSpPr txBox="1"/>
          <p:nvPr/>
        </p:nvSpPr>
        <p:spPr>
          <a:xfrm>
            <a:off x="468313" y="2222500"/>
            <a:ext cx="8281987" cy="942975"/>
          </a:xfrm>
          <a:prstGeom prst="rect">
            <a:avLst/>
          </a:prstGeom>
          <a:gradFill rotWithShape="1">
            <a:gsLst>
              <a:gs pos="0">
                <a:srgbClr val="181876"/>
              </a:gs>
              <a:gs pos="50000">
                <a:srgbClr val="3333FF"/>
              </a:gs>
              <a:gs pos="100000">
                <a:srgbClr val="181876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金属键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——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自由电子气把金属阳离子“胶 合”成金属晶体的结合力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250825" y="835025"/>
            <a:ext cx="8858250" cy="1200150"/>
            <a:chOff x="158" y="527"/>
            <a:chExt cx="5580" cy="1008"/>
          </a:xfrm>
        </p:grpSpPr>
        <p:sp>
          <p:nvSpPr>
            <p:cNvPr id="134157" name="Text Box 7"/>
            <p:cNvSpPr txBox="1"/>
            <p:nvPr/>
          </p:nvSpPr>
          <p:spPr>
            <a:xfrm>
              <a:off x="294" y="527"/>
              <a:ext cx="5444" cy="100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金属原子的电负性和电离能较小，价电子 </a:t>
              </a:r>
              <a:endParaRPr lang="zh-CN" altLang="en-US" sz="12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容易脱离原子的束缚，在阳离子之间可以 </a:t>
              </a:r>
              <a:endParaRPr lang="zh-CN" altLang="en-US" sz="12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自由运动，形成离域的自由电子气。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4158" name="Oval 8"/>
            <p:cNvSpPr/>
            <p:nvPr/>
          </p:nvSpPr>
          <p:spPr>
            <a:xfrm>
              <a:off x="158" y="699"/>
              <a:ext cx="137" cy="136"/>
            </a:xfrm>
            <a:prstGeom prst="ellipse">
              <a:avLst/>
            </a:prstGeom>
            <a:solidFill>
              <a:srgbClr val="3333FF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Group 9"/>
          <p:cNvGrpSpPr/>
          <p:nvPr/>
        </p:nvGrpSpPr>
        <p:grpSpPr>
          <a:xfrm>
            <a:off x="247650" y="3275013"/>
            <a:ext cx="8567738" cy="460375"/>
            <a:chOff x="204" y="2535"/>
            <a:chExt cx="5397" cy="388"/>
          </a:xfrm>
        </p:grpSpPr>
        <p:sp>
          <p:nvSpPr>
            <p:cNvPr id="134155" name="Text Box 10"/>
            <p:cNvSpPr txBox="1"/>
            <p:nvPr/>
          </p:nvSpPr>
          <p:spPr>
            <a:xfrm>
              <a:off x="340" y="2535"/>
              <a:ext cx="5261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特征</a:t>
              </a:r>
              <a:r>
                <a:rPr lang="en-US" altLang="zh-CN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: </a:t>
              </a: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无饱和性和方向性。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4156" name="Oval 11"/>
            <p:cNvSpPr/>
            <p:nvPr/>
          </p:nvSpPr>
          <p:spPr>
            <a:xfrm>
              <a:off x="204" y="2704"/>
              <a:ext cx="136" cy="136"/>
            </a:xfrm>
            <a:prstGeom prst="ellipse">
              <a:avLst/>
            </a:prstGeom>
            <a:solidFill>
              <a:srgbClr val="3333FF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" name="Group 12"/>
          <p:cNvGrpSpPr/>
          <p:nvPr/>
        </p:nvGrpSpPr>
        <p:grpSpPr>
          <a:xfrm>
            <a:off x="247650" y="3868738"/>
            <a:ext cx="8567738" cy="831850"/>
            <a:chOff x="204" y="2535"/>
            <a:chExt cx="5397" cy="699"/>
          </a:xfrm>
        </p:grpSpPr>
        <p:sp>
          <p:nvSpPr>
            <p:cNvPr id="134153" name="Text Box 13"/>
            <p:cNvSpPr txBox="1"/>
            <p:nvPr/>
          </p:nvSpPr>
          <p:spPr>
            <a:xfrm>
              <a:off x="340" y="2535"/>
              <a:ext cx="5261" cy="69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使金属具有良好的导电性、导热性和 </a:t>
              </a:r>
              <a:endParaRPr lang="zh-CN" altLang="en-US" sz="1200" dirty="0">
                <a:latin typeface="Arial" panose="020B0604020202020204" pitchFamily="34" charset="0"/>
                <a:ea typeface="ˎ̥"/>
              </a:endParaRP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lang="zh-CN" altLang="en-US" sz="2400" b="1" dirty="0">
                  <a:latin typeface="Times New Roman" panose="02020603050405020304" pitchFamily="18" charset="0"/>
                  <a:ea typeface="幼圆" panose="02010509060101010101" pitchFamily="49" charset="-122"/>
                </a:rPr>
                <a:t>延展性。</a:t>
              </a:r>
              <a:endParaRPr lang="zh-CN" altLang="en-US" sz="12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4154" name="Oval 14"/>
            <p:cNvSpPr/>
            <p:nvPr/>
          </p:nvSpPr>
          <p:spPr>
            <a:xfrm>
              <a:off x="204" y="2704"/>
              <a:ext cx="136" cy="136"/>
            </a:xfrm>
            <a:prstGeom prst="ellipse">
              <a:avLst/>
            </a:prstGeom>
            <a:solidFill>
              <a:srgbClr val="3333FF"/>
            </a:solidFill>
            <a:ln w="9525">
              <a:noFill/>
            </a:ln>
          </p:spPr>
          <p:txBody>
            <a:bodyPr wrap="none" anchor="ctr" anchorCtr="0"/>
            <a:lstStyle/>
            <a:p>
              <a:pPr eaLnBrk="1" hangingPunct="1"/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34152" name="Text Box 15"/>
          <p:cNvSpPr txBox="1"/>
          <p:nvPr/>
        </p:nvSpPr>
        <p:spPr>
          <a:xfrm>
            <a:off x="568325" y="195263"/>
            <a:ext cx="2419350" cy="536575"/>
          </a:xfrm>
          <a:prstGeom prst="rect">
            <a:avLst/>
          </a:prstGeom>
          <a:gradFill rotWithShape="1">
            <a:gsLst>
              <a:gs pos="0">
                <a:srgbClr val="181876"/>
              </a:gs>
              <a:gs pos="50000">
                <a:srgbClr val="3333FF"/>
              </a:gs>
              <a:gs pos="100000">
                <a:srgbClr val="181876"/>
              </a:gs>
            </a:gsLst>
            <a:lin ang="5400000" scaled="1"/>
            <a:tileRect/>
          </a:gradFill>
          <a:ln w="9525">
            <a:noFill/>
          </a:ln>
          <a:effectLst>
            <a:outerShdw sy="50000" kx="2453608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 金属键</a:t>
            </a:r>
            <a:endParaRPr lang="zh-CN" altLang="en-US" sz="3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11" dur="500"/>
                                        <p:tgtEl>
                                          <p:spTgt spid="207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7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Line 2"/>
          <p:cNvSpPr/>
          <p:nvPr/>
        </p:nvSpPr>
        <p:spPr>
          <a:xfrm flipV="1">
            <a:off x="990600" y="1200150"/>
            <a:ext cx="7848600" cy="0"/>
          </a:xfrm>
          <a:prstGeom prst="line">
            <a:avLst/>
          </a:prstGeom>
          <a:ln w="9525">
            <a:noFill/>
          </a:ln>
        </p:spPr>
      </p:sp>
      <p:sp>
        <p:nvSpPr>
          <p:cNvPr id="135171" name="Text Box 3"/>
          <p:cNvSpPr txBox="1"/>
          <p:nvPr/>
        </p:nvSpPr>
        <p:spPr>
          <a:xfrm>
            <a:off x="214313" y="161925"/>
            <a:ext cx="4392612" cy="646113"/>
          </a:xfrm>
          <a:prstGeom prst="rect">
            <a:avLst/>
          </a:prstGeom>
          <a:solidFill>
            <a:srgbClr val="00B050"/>
          </a:solidFill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rgbClr val="000000"/>
                </a:solidFill>
                <a:latin typeface="华文新魏" panose="02010800040101010101" pitchFamily="2" charset="-122"/>
              </a:rPr>
              <a:t>5.3.5 </a:t>
            </a:r>
            <a:r>
              <a:rPr lang="zh-CN" altLang="en-US" sz="3600" b="1" dirty="0">
                <a:solidFill>
                  <a:srgbClr val="000000"/>
                </a:solidFill>
                <a:latin typeface="华文新魏" panose="02010800040101010101" pitchFamily="2" charset="-122"/>
              </a:rPr>
              <a:t>混合型晶体 </a:t>
            </a:r>
            <a:endParaRPr lang="zh-CN" altLang="en-US" sz="3600" dirty="0">
              <a:latin typeface="华文新魏" panose="02010800040101010101" pitchFamily="2" charset="-122"/>
            </a:endParaRPr>
          </a:p>
        </p:txBody>
      </p:sp>
      <p:sp>
        <p:nvSpPr>
          <p:cNvPr id="135172" name="Text Box 4"/>
          <p:cNvSpPr txBox="1"/>
          <p:nvPr/>
        </p:nvSpPr>
        <p:spPr>
          <a:xfrm>
            <a:off x="323850" y="996950"/>
            <a:ext cx="8496300" cy="831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晶体内同时存在着若干种不同的作用力，具有若干种晶体的结构和性质，这类晶体称为混合型晶体。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8901" name="Text Box 5"/>
          <p:cNvSpPr txBox="1"/>
          <p:nvPr/>
        </p:nvSpPr>
        <p:spPr>
          <a:xfrm>
            <a:off x="3779838" y="1841500"/>
            <a:ext cx="4824412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如　石墨</a:t>
            </a:r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5364163" y="2082800"/>
            <a:ext cx="3775075" cy="2919413"/>
            <a:chOff x="3515" y="1523"/>
            <a:chExt cx="2378" cy="2451"/>
          </a:xfrm>
        </p:grpSpPr>
        <p:grpSp>
          <p:nvGrpSpPr>
            <p:cNvPr id="135176" name="Group 7"/>
            <p:cNvGrpSpPr/>
            <p:nvPr/>
          </p:nvGrpSpPr>
          <p:grpSpPr>
            <a:xfrm>
              <a:off x="3515" y="1523"/>
              <a:ext cx="2378" cy="2451"/>
              <a:chOff x="3515" y="1523"/>
              <a:chExt cx="2378" cy="2451"/>
            </a:xfrm>
          </p:grpSpPr>
          <p:graphicFrame>
            <p:nvGraphicFramePr>
              <p:cNvPr id="135178" name="Object 8">
                <a:hlinkClick r:id="rId2" action="ppaction://hlinkfile"/>
              </p:cNvPr>
              <p:cNvGraphicFramePr>
                <a:graphicFrameLocks noChangeAspect="1"/>
              </p:cNvGraphicFramePr>
              <p:nvPr/>
            </p:nvGraphicFramePr>
            <p:xfrm>
              <a:off x="3515" y="1938"/>
              <a:ext cx="2132" cy="20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3" imgW="4362450" imgH="3495675" progId="Paint.Picture">
                      <p:embed/>
                    </p:oleObj>
                  </mc:Choice>
                  <mc:Fallback>
                    <p:oleObj r:id="rId3" imgW="4362450" imgH="3495675" progId="Paint.Picture">
                      <p:embed/>
                      <p:pic>
                        <p:nvPicPr>
                          <p:cNvPr id="0" name="图片 3142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515" y="1938"/>
                            <a:ext cx="2132" cy="20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35179" name="Line 9"/>
              <p:cNvSpPr/>
              <p:nvPr/>
            </p:nvSpPr>
            <p:spPr>
              <a:xfrm flipV="1">
                <a:off x="5239" y="3091"/>
                <a:ext cx="33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5180" name="Line 10"/>
              <p:cNvSpPr/>
              <p:nvPr/>
            </p:nvSpPr>
            <p:spPr>
              <a:xfrm>
                <a:off x="5396" y="2810"/>
                <a:ext cx="0" cy="27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35181" name="Line 11"/>
              <p:cNvSpPr/>
              <p:nvPr/>
            </p:nvSpPr>
            <p:spPr>
              <a:xfrm flipV="1">
                <a:off x="5193" y="2341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5182" name="Text Box 12"/>
              <p:cNvSpPr txBox="1"/>
              <p:nvPr/>
            </p:nvSpPr>
            <p:spPr>
              <a:xfrm>
                <a:off x="4895" y="2442"/>
                <a:ext cx="998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solidFill>
                      <a:srgbClr val="FF3300"/>
                    </a:solidFill>
                    <a:latin typeface="Times New Roman" panose="02020603050405020304" pitchFamily="18" charset="0"/>
                    <a:ea typeface="幼圆" panose="02010509060101010101" pitchFamily="49" charset="-122"/>
                  </a:rPr>
                  <a:t>335pm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5183" name="Line 13"/>
              <p:cNvSpPr/>
              <p:nvPr/>
            </p:nvSpPr>
            <p:spPr>
              <a:xfrm flipV="1">
                <a:off x="5403" y="2341"/>
                <a:ext cx="0" cy="18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135184" name="Line 14"/>
              <p:cNvSpPr/>
              <p:nvPr/>
            </p:nvSpPr>
            <p:spPr>
              <a:xfrm>
                <a:off x="4019" y="1843"/>
                <a:ext cx="0" cy="18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5185" name="Line 15"/>
              <p:cNvSpPr/>
              <p:nvPr/>
            </p:nvSpPr>
            <p:spPr>
              <a:xfrm>
                <a:off x="4020" y="1933"/>
                <a:ext cx="363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triangle" w="med" len="med"/>
                <a:tailEnd type="triangle" w="med" len="med"/>
              </a:ln>
            </p:spPr>
          </p:sp>
          <p:sp>
            <p:nvSpPr>
              <p:cNvPr id="135186" name="Text Box 16"/>
              <p:cNvSpPr txBox="1"/>
              <p:nvPr/>
            </p:nvSpPr>
            <p:spPr>
              <a:xfrm>
                <a:off x="3833" y="1523"/>
                <a:ext cx="862" cy="3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400" b="1" dirty="0">
                    <a:latin typeface="Times New Roman" panose="02020603050405020304" pitchFamily="18" charset="0"/>
                    <a:ea typeface="幼圆" panose="02010509060101010101" pitchFamily="49" charset="-122"/>
                  </a:rPr>
                  <a:t>142pm</a:t>
                </a:r>
                <a:endParaRPr lang="en-US" altLang="zh-CN" sz="1400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5177" name="Line 17"/>
            <p:cNvSpPr/>
            <p:nvPr/>
          </p:nvSpPr>
          <p:spPr>
            <a:xfrm>
              <a:off x="4370" y="1855"/>
              <a:ext cx="0" cy="1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208914" name="Text Box 18"/>
          <p:cNvSpPr txBox="1"/>
          <p:nvPr/>
        </p:nvSpPr>
        <p:spPr>
          <a:xfrm>
            <a:off x="395288" y="2408238"/>
            <a:ext cx="4897437" cy="1568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    C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原子以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sp</a:t>
            </a:r>
            <a:r>
              <a:rPr lang="en-US" altLang="zh-CN" sz="2400" b="1" baseline="30000" dirty="0">
                <a:latin typeface="Times New Roman" panose="02020603050405020304" pitchFamily="18" charset="0"/>
                <a:ea typeface="幼圆" panose="02010509060101010101" pitchFamily="49" charset="-122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杂化，键角为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120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  <a:sym typeface="Symbol" panose="05050102010706020507" pitchFamily="18" charset="2"/>
              </a:rPr>
              <a:t>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，形成无数个正六边形组成的平面，平面相互平行。 每个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C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原子剩下的一个</a:t>
            </a:r>
            <a:r>
              <a:rPr lang="en-US" altLang="zh-CN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p </a:t>
            </a:r>
            <a:r>
              <a:rPr lang="zh-CN" altLang="en-US" sz="2400" b="1" dirty="0">
                <a:latin typeface="Times New Roman" panose="02020603050405020304" pitchFamily="18" charset="0"/>
                <a:ea typeface="幼圆" panose="02010509060101010101" pitchFamily="49" charset="-122"/>
              </a:rPr>
              <a:t>电子形成大</a:t>
            </a:r>
            <a:r>
              <a:rPr lang="el-GR" altLang="zh-CN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π</a:t>
            </a:r>
            <a:r>
              <a:rPr lang="zh-CN" altLang="el-GR" sz="2400" b="1" dirty="0">
                <a:latin typeface="幼圆" panose="02010509060101010101" pitchFamily="49" charset="-122"/>
                <a:ea typeface="幼圆" panose="02010509060101010101" pitchFamily="49" charset="-122"/>
              </a:rPr>
              <a:t>键。 </a:t>
            </a:r>
            <a:endParaRPr lang="zh-CN" altLang="el-GR" sz="2400" b="1" dirty="0">
              <a:latin typeface="Times New Roman" panose="02020603050405020304" pitchFamily="18" charset="0"/>
              <a:ea typeface="幼圆" panose="020105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8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20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1" grpId="0"/>
      <p:bldP spid="208914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94" name="Picture 5" descr="u=800448305,1521519603&amp;fm=24&amp;gp=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1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Picture 11"/>
          <p:cNvPicPr>
            <a:picLocks noChangeAspect="1"/>
          </p:cNvPicPr>
          <p:nvPr/>
        </p:nvPicPr>
        <p:blipFill>
          <a:blip r:embed="rId3">
            <a:lum bright="-17999"/>
          </a:blip>
          <a:stretch>
            <a:fillRect/>
          </a:stretch>
        </p:blipFill>
        <p:spPr>
          <a:xfrm>
            <a:off x="6372225" y="3976688"/>
            <a:ext cx="2533650" cy="1085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zBlOWVlMGNkMmFjNDM3NzgyN2FmN2M1NGNjNDBmZTYifQ=="/>
</p:tagLst>
</file>

<file path=ppt/theme/theme1.xml><?xml version="1.0" encoding="utf-8"?>
<a:theme xmlns:a="http://schemas.openxmlformats.org/drawingml/2006/main" name="1.2-2">
  <a:themeElements>
    <a:clrScheme name="1.2-2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.2-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.2-2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.2-2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.2-2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.2-2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.2-2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.2-2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.2-2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.2-2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.2-2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.2-2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.2-2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.2-2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1.2-2">
  <a:themeElements>
    <a:clrScheme name="1.2-2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.2-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.2-2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.2-2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.2-2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.2-2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.2-2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.2-2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.2-2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.2-2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.2-2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.2-2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.2-2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.2-2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1.2-2">
  <a:themeElements>
    <a:clrScheme name="1.2-2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1.2-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.2-2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.2-2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.2-2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.2-2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.2-2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.2-2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.2-2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.2-2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.2-2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.2-2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.2-2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.2-2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Designs\Network Blitz.pot</Template>
  <TotalTime>244</TotalTime>
  <Words>9001</Words>
  <Application>Microsoft Office PowerPoint</Application>
  <PresentationFormat>全屏显示(16:9)</PresentationFormat>
  <Paragraphs>2702</Paragraphs>
  <Slides>137</Slides>
  <Notes>0</Notes>
  <HiddenSlides>0</HiddenSlides>
  <MMClips>0</MMClips>
  <ScaleCrop>false</ScaleCrop>
  <HeadingPairs>
    <vt:vector size="10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137</vt:i4>
      </vt:variant>
      <vt:variant>
        <vt:lpstr>自定义放映</vt:lpstr>
      </vt:variant>
      <vt:variant>
        <vt:i4>1</vt:i4>
      </vt:variant>
    </vt:vector>
  </HeadingPairs>
  <TitlesOfParts>
    <vt:vector size="154" baseType="lpstr">
      <vt:lpstr>黑体</vt:lpstr>
      <vt:lpstr>华文新魏</vt:lpstr>
      <vt:lpstr>楷体_GB2312</vt:lpstr>
      <vt:lpstr>宋体</vt:lpstr>
      <vt:lpstr>微软雅黑</vt:lpstr>
      <vt:lpstr>幼圆</vt:lpstr>
      <vt:lpstr>Arial</vt:lpstr>
      <vt:lpstr>Arial Black</vt:lpstr>
      <vt:lpstr>Times New Roman</vt:lpstr>
      <vt:lpstr>Wingdings</vt:lpstr>
      <vt:lpstr>1.2-2</vt:lpstr>
      <vt:lpstr>1_1.2-2</vt:lpstr>
      <vt:lpstr>2_1.2-2</vt:lpstr>
      <vt:lpstr>Equation.3</vt:lpstr>
      <vt:lpstr>Paintbrush Picture</vt:lpstr>
      <vt:lpstr>Photoshop.Image.7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自定义放映1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YXZhu</dc:creator>
  <cp:lastModifiedBy>训臣 刘</cp:lastModifiedBy>
  <cp:revision>256</cp:revision>
  <dcterms:created xsi:type="dcterms:W3CDTF">2003-02-07T04:30:00Z</dcterms:created>
  <dcterms:modified xsi:type="dcterms:W3CDTF">2026-01-14T02:38:20Z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C3EF4E670C204300A9131FF96012D95E_12</vt:lpwstr>
  </property>
  <property fmtid="{D5CDD505-2E9C-101B-9397-08002B2CF9AE}" pid="3" name="KSOProductBuildVer">
    <vt:lpwstr>2052-12.1.0.17147</vt:lpwstr>
  </property>
</Properties>
</file>