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35"/>
  </p:notesMasterIdLst>
  <p:sldIdLst>
    <p:sldId id="261" r:id="rId4"/>
    <p:sldId id="263" r:id="rId5"/>
    <p:sldId id="297" r:id="rId6"/>
    <p:sldId id="417" r:id="rId7"/>
    <p:sldId id="292" r:id="rId8"/>
    <p:sldId id="264" r:id="rId9"/>
    <p:sldId id="265" r:id="rId10"/>
    <p:sldId id="285" r:id="rId11"/>
    <p:sldId id="298" r:id="rId12"/>
    <p:sldId id="266" r:id="rId13"/>
    <p:sldId id="300" r:id="rId14"/>
    <p:sldId id="301" r:id="rId15"/>
    <p:sldId id="302" r:id="rId16"/>
    <p:sldId id="303" r:id="rId17"/>
    <p:sldId id="312" r:id="rId18"/>
    <p:sldId id="304" r:id="rId19"/>
    <p:sldId id="305" r:id="rId20"/>
    <p:sldId id="306" r:id="rId21"/>
    <p:sldId id="313" r:id="rId22"/>
    <p:sldId id="307" r:id="rId23"/>
    <p:sldId id="308" r:id="rId24"/>
    <p:sldId id="309" r:id="rId25"/>
    <p:sldId id="310" r:id="rId26"/>
    <p:sldId id="314" r:id="rId27"/>
    <p:sldId id="311" r:id="rId28"/>
    <p:sldId id="315" r:id="rId29"/>
    <p:sldId id="328" r:id="rId30"/>
    <p:sldId id="316" r:id="rId31"/>
    <p:sldId id="317" r:id="rId32"/>
    <p:sldId id="318" r:id="rId33"/>
    <p:sldId id="319" r:id="rId34"/>
    <p:sldId id="320" r:id="rId35"/>
    <p:sldId id="321" r:id="rId36"/>
    <p:sldId id="322" r:id="rId37"/>
    <p:sldId id="323" r:id="rId38"/>
    <p:sldId id="324" r:id="rId39"/>
    <p:sldId id="325" r:id="rId40"/>
    <p:sldId id="419" r:id="rId41"/>
    <p:sldId id="326" r:id="rId42"/>
    <p:sldId id="327" r:id="rId43"/>
    <p:sldId id="329" r:id="rId44"/>
    <p:sldId id="330" r:id="rId45"/>
    <p:sldId id="331" r:id="rId46"/>
    <p:sldId id="332" r:id="rId47"/>
    <p:sldId id="333" r:id="rId48"/>
    <p:sldId id="350" r:id="rId49"/>
    <p:sldId id="334" r:id="rId50"/>
    <p:sldId id="418" r:id="rId51"/>
    <p:sldId id="336" r:id="rId52"/>
    <p:sldId id="337" r:id="rId53"/>
    <p:sldId id="338" r:id="rId54"/>
    <p:sldId id="339" r:id="rId55"/>
    <p:sldId id="351" r:id="rId56"/>
    <p:sldId id="340" r:id="rId57"/>
    <p:sldId id="341" r:id="rId58"/>
    <p:sldId id="342" r:id="rId59"/>
    <p:sldId id="343" r:id="rId60"/>
    <p:sldId id="352" r:id="rId61"/>
    <p:sldId id="344" r:id="rId62"/>
    <p:sldId id="345" r:id="rId63"/>
    <p:sldId id="346" r:id="rId64"/>
    <p:sldId id="347" r:id="rId65"/>
    <p:sldId id="353" r:id="rId66"/>
    <p:sldId id="348" r:id="rId67"/>
    <p:sldId id="354" r:id="rId68"/>
    <p:sldId id="355" r:id="rId69"/>
    <p:sldId id="356" r:id="rId70"/>
    <p:sldId id="349" r:id="rId71"/>
    <p:sldId id="357" r:id="rId72"/>
    <p:sldId id="358" r:id="rId73"/>
    <p:sldId id="359" r:id="rId74"/>
    <p:sldId id="360" r:id="rId75"/>
    <p:sldId id="420" r:id="rId76"/>
    <p:sldId id="361" r:id="rId77"/>
    <p:sldId id="362" r:id="rId78"/>
    <p:sldId id="363" r:id="rId79"/>
    <p:sldId id="364" r:id="rId80"/>
    <p:sldId id="365" r:id="rId81"/>
    <p:sldId id="366" r:id="rId82"/>
    <p:sldId id="376" r:id="rId83"/>
    <p:sldId id="367" r:id="rId84"/>
    <p:sldId id="368" r:id="rId85"/>
    <p:sldId id="369" r:id="rId86"/>
    <p:sldId id="421" r:id="rId87"/>
    <p:sldId id="370" r:id="rId88"/>
    <p:sldId id="371" r:id="rId89"/>
    <p:sldId id="372" r:id="rId90"/>
    <p:sldId id="377" r:id="rId91"/>
    <p:sldId id="378" r:id="rId92"/>
    <p:sldId id="373" r:id="rId93"/>
    <p:sldId id="374" r:id="rId94"/>
    <p:sldId id="375" r:id="rId95"/>
    <p:sldId id="379" r:id="rId96"/>
    <p:sldId id="380" r:id="rId97"/>
    <p:sldId id="393" r:id="rId98"/>
    <p:sldId id="394" r:id="rId99"/>
    <p:sldId id="395" r:id="rId100"/>
    <p:sldId id="396" r:id="rId101"/>
    <p:sldId id="397" r:id="rId102"/>
    <p:sldId id="398" r:id="rId103"/>
    <p:sldId id="381" r:id="rId104"/>
    <p:sldId id="382" r:id="rId105"/>
    <p:sldId id="422" r:id="rId106"/>
    <p:sldId id="399" r:id="rId107"/>
    <p:sldId id="383" r:id="rId108"/>
    <p:sldId id="384" r:id="rId109"/>
    <p:sldId id="385" r:id="rId110"/>
    <p:sldId id="386" r:id="rId111"/>
    <p:sldId id="400" r:id="rId112"/>
    <p:sldId id="401" r:id="rId113"/>
    <p:sldId id="402" r:id="rId114"/>
    <p:sldId id="403" r:id="rId115"/>
    <p:sldId id="410" r:id="rId116"/>
    <p:sldId id="404" r:id="rId117"/>
    <p:sldId id="405" r:id="rId118"/>
    <p:sldId id="406" r:id="rId119"/>
    <p:sldId id="407" r:id="rId120"/>
    <p:sldId id="408" r:id="rId121"/>
    <p:sldId id="409" r:id="rId122"/>
    <p:sldId id="387" r:id="rId123"/>
    <p:sldId id="388" r:id="rId124"/>
    <p:sldId id="389" r:id="rId125"/>
    <p:sldId id="390" r:id="rId126"/>
    <p:sldId id="411" r:id="rId127"/>
    <p:sldId id="391" r:id="rId128"/>
    <p:sldId id="412" r:id="rId129"/>
    <p:sldId id="392" r:id="rId130"/>
    <p:sldId id="414" r:id="rId131"/>
    <p:sldId id="415" r:id="rId132"/>
    <p:sldId id="416" r:id="rId133"/>
    <p:sldId id="284" r:id="rId134"/>
  </p:sldIdLst>
  <p:sldSz cx="9144000" cy="5715000"/>
  <p:notesSz cx="6858000" cy="9144000"/>
  <p:custDataLst>
    <p:tags r:id="rId139"/>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6600CC"/>
    <a:srgbClr val="000099"/>
    <a:srgbClr val="540C2B"/>
    <a:srgbClr val="313828"/>
    <a:srgbClr val="0B5293"/>
    <a:srgbClr val="4D4D4D"/>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326"/>
    <p:restoredTop sz="92518"/>
  </p:normalViewPr>
  <p:slideViewPr>
    <p:cSldViewPr showGuides="1">
      <p:cViewPr varScale="1">
        <p:scale>
          <a:sx n="93" d="100"/>
          <a:sy n="93" d="100"/>
        </p:scale>
        <p:origin x="-1123" y="-62"/>
      </p:cViewPr>
      <p:guideLst>
        <p:guide orient="horz" pos="180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9" Type="http://schemas.openxmlformats.org/officeDocument/2006/relationships/tags" Target="tags/tag1.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notesMaster" Target="notesMasters/notesMaster1.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6C0F3F3-F1B2-499B-B6FB-4993E14C4665}"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12636"/>
            <a:ext cx="4038600" cy="36578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12636"/>
            <a:ext cx="4038600" cy="36578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195917"/>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0646"/>
            <a:ext cx="5486400" cy="34290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87375"/>
            <a:ext cx="2057400" cy="46831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87375"/>
            <a:ext cx="6019800" cy="46831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任意多边形 6"/>
          <p:cNvSpPr/>
          <p:nvPr/>
        </p:nvSpPr>
        <p:spPr bwMode="auto">
          <a:xfrm>
            <a:off x="-9525" y="-6350"/>
            <a:ext cx="9163050" cy="86836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Constantia" panose="02030602050306030303" pitchFamily="18" charset="0"/>
              <a:ea typeface="宋体" panose="02010600030101010101" pitchFamily="2" charset="-122"/>
              <a:cs typeface="+mn-cs"/>
            </a:endParaRPr>
          </a:p>
        </p:txBody>
      </p:sp>
      <p:sp>
        <p:nvSpPr>
          <p:cNvPr id="8" name="任意多边形 7"/>
          <p:cNvSpPr/>
          <p:nvPr/>
        </p:nvSpPr>
        <p:spPr bwMode="auto">
          <a:xfrm>
            <a:off x="4381500" y="-6350"/>
            <a:ext cx="4762500" cy="53181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Constantia" panose="02030602050306030303" pitchFamily="18" charset="0"/>
              <a:ea typeface="宋体" panose="02010600030101010101" pitchFamily="2" charset="-122"/>
              <a:cs typeface="+mn-cs"/>
            </a:endParaRPr>
          </a:p>
        </p:txBody>
      </p:sp>
      <p:grpSp>
        <p:nvGrpSpPr>
          <p:cNvPr id="3076" name="组合 8"/>
          <p:cNvGrpSpPr/>
          <p:nvPr/>
        </p:nvGrpSpPr>
        <p:grpSpPr>
          <a:xfrm>
            <a:off x="-19050" y="169863"/>
            <a:ext cx="9180513" cy="539750"/>
            <a:chOff x="-19045" y="216550"/>
            <a:chExt cx="9180548" cy="649224"/>
          </a:xfrm>
        </p:grpSpPr>
        <p:sp>
          <p:nvSpPr>
            <p:cNvPr id="10" name="任意多边形 9"/>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任意多边形 10"/>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9" name="标题 8"/>
          <p:cNvSpPr>
            <a:spLocks noGrp="1"/>
          </p:cNvSpPr>
          <p:nvPr>
            <p:ph type="ctrTitle"/>
          </p:nvPr>
        </p:nvSpPr>
        <p:spPr>
          <a:xfrm>
            <a:off x="533400" y="1143000"/>
            <a:ext cx="7851648" cy="15240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3400" y="2690447"/>
            <a:ext cx="7854696" cy="14605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12" name="日期占位符 29"/>
          <p:cNvSpPr>
            <a:spLocks noGrp="1"/>
          </p:cNvSpPr>
          <p:nvPr>
            <p:ph type="dt" sz="half" idx="2"/>
          </p:nvPr>
        </p:nvSpPr>
        <p:spPr>
          <a:xfrm>
            <a:off x="457200" y="5297488"/>
            <a:ext cx="2133600" cy="303213"/>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13" name="页脚占位符 18"/>
          <p:cNvSpPr>
            <a:spLocks noGrp="1"/>
          </p:cNvSpPr>
          <p:nvPr>
            <p:ph type="ftr" sz="quarter" idx="3"/>
          </p:nvPr>
        </p:nvSpPr>
        <p:spPr>
          <a:xfrm>
            <a:off x="2667000" y="5297488"/>
            <a:ext cx="3352800" cy="303213"/>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2" name="灯片编号占位符 26"/>
          <p:cNvSpPr>
            <a:spLocks noGrp="1"/>
          </p:cNvSpPr>
          <p:nvPr>
            <p:ph type="sldNum" sz="quarter" idx="4"/>
          </p:nvPr>
        </p:nvSpPr>
        <p:spPr>
          <a:xfrm>
            <a:off x="7924800" y="5297488"/>
            <a:ext cx="762000" cy="303213"/>
          </a:xfrm>
          <a:prstGeom prst="rect">
            <a:avLst/>
          </a:prstGeom>
        </p:spPr>
        <p:txBody>
          <a:bodyPr vert="horz" wrap="square" lIns="0" tIns="0" rIns="0" bIns="0" numCol="1" anchor="b" anchorCtr="0" compatLnSpc="1"/>
          <a:p>
            <a:pPr algn="r">
              <a:buNone/>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任意多边形 6"/>
          <p:cNvSpPr/>
          <p:nvPr/>
        </p:nvSpPr>
        <p:spPr bwMode="auto">
          <a:xfrm>
            <a:off x="-9525" y="-6350"/>
            <a:ext cx="9163050" cy="86836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Constantia" panose="02030602050306030303" pitchFamily="18" charset="0"/>
              <a:ea typeface="宋体" panose="02010600030101010101" pitchFamily="2" charset="-122"/>
              <a:cs typeface="+mn-cs"/>
            </a:endParaRPr>
          </a:p>
        </p:txBody>
      </p:sp>
      <p:sp>
        <p:nvSpPr>
          <p:cNvPr id="8" name="任意多边形 7"/>
          <p:cNvSpPr/>
          <p:nvPr/>
        </p:nvSpPr>
        <p:spPr bwMode="auto">
          <a:xfrm>
            <a:off x="4381500" y="-6350"/>
            <a:ext cx="4762500" cy="53181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Constantia" panose="02030602050306030303" pitchFamily="18" charset="0"/>
              <a:ea typeface="宋体" panose="02010600030101010101" pitchFamily="2" charset="-122"/>
              <a:cs typeface="+mn-cs"/>
            </a:endParaRPr>
          </a:p>
        </p:txBody>
      </p:sp>
      <p:grpSp>
        <p:nvGrpSpPr>
          <p:cNvPr id="4100" name="组合 1"/>
          <p:cNvGrpSpPr/>
          <p:nvPr/>
        </p:nvGrpSpPr>
        <p:grpSpPr>
          <a:xfrm>
            <a:off x="-19050" y="169863"/>
            <a:ext cx="9180513" cy="539750"/>
            <a:chOff x="-19045" y="216550"/>
            <a:chExt cx="9180548" cy="649224"/>
          </a:xfrm>
        </p:grpSpPr>
        <p:sp>
          <p:nvSpPr>
            <p:cNvPr id="10" name="任意多边形 9"/>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任意多边形 10"/>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 name="标题 1"/>
          <p:cNvSpPr>
            <a:spLocks noGrp="1"/>
          </p:cNvSpPr>
          <p:nvPr>
            <p:ph type="title"/>
          </p:nvPr>
        </p:nvSpPr>
        <p:spPr>
          <a:xfrm>
            <a:off x="530352" y="1097280"/>
            <a:ext cx="7772400" cy="1135380"/>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30352" y="2253887"/>
            <a:ext cx="7772400" cy="1258093"/>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2" name="日期占位符 3"/>
          <p:cNvSpPr>
            <a:spLocks noGrp="1"/>
          </p:cNvSpPr>
          <p:nvPr>
            <p:ph type="dt" sz="half" idx="2"/>
          </p:nvPr>
        </p:nvSpPr>
        <p:spPr>
          <a:xfrm>
            <a:off x="457200" y="5297488"/>
            <a:ext cx="2133600" cy="303213"/>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13" name="页脚占位符 4"/>
          <p:cNvSpPr>
            <a:spLocks noGrp="1"/>
          </p:cNvSpPr>
          <p:nvPr>
            <p:ph type="ftr" sz="quarter" idx="3"/>
          </p:nvPr>
        </p:nvSpPr>
        <p:spPr>
          <a:xfrm>
            <a:off x="2667000" y="5297488"/>
            <a:ext cx="3352800" cy="303213"/>
          </a:xfrm>
          <a:prstGeom prst="rect">
            <a:avLst/>
          </a:prstGeom>
        </p:spPr>
        <p:txBody>
          <a:bodyPr vert="horz" wrap="square" lIns="0" tIns="0" rIns="0" bIns="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17" name="灯片编号占位符 5"/>
          <p:cNvSpPr>
            <a:spLocks noGrp="1"/>
          </p:cNvSpPr>
          <p:nvPr>
            <p:ph type="sldNum" sz="quarter" idx="4"/>
          </p:nvPr>
        </p:nvSpPr>
        <p:spPr>
          <a:xfrm>
            <a:off x="7924800" y="5297488"/>
            <a:ext cx="762000" cy="303213"/>
          </a:xfrm>
          <a:prstGeom prst="rect">
            <a:avLst/>
          </a:prstGeom>
        </p:spPr>
        <p:txBody>
          <a:bodyPr vert="horz" wrap="square" lIns="0" tIns="0" rIns="0" bIns="0" numCol="1" anchor="b" anchorCtr="0" compatLnSpc="1"/>
          <a:p>
            <a:pPr algn="r">
              <a:buNone/>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8" name="任意多边形 7"/>
          <p:cNvSpPr/>
          <p:nvPr/>
        </p:nvSpPr>
        <p:spPr bwMode="auto">
          <a:xfrm>
            <a:off x="4381500" y="-6350"/>
            <a:ext cx="4762500" cy="53181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Constantia" panose="02030602050306030303" pitchFamily="18" charset="0"/>
              <a:ea typeface="宋体" panose="02010600030101010101" pitchFamily="2" charset="-122"/>
              <a:cs typeface="+mn-cs"/>
            </a:endParaRPr>
          </a:p>
        </p:txBody>
      </p:sp>
      <p:sp>
        <p:nvSpPr>
          <p:cNvPr id="1027" name="标题占位符 8"/>
          <p:cNvSpPr>
            <a:spLocks noGrp="1"/>
          </p:cNvSpPr>
          <p:nvPr>
            <p:ph type="title"/>
          </p:nvPr>
        </p:nvSpPr>
        <p:spPr>
          <a:xfrm>
            <a:off x="457200" y="587375"/>
            <a:ext cx="8229600" cy="952500"/>
          </a:xfrm>
          <a:prstGeom prst="rect">
            <a:avLst/>
          </a:prstGeom>
          <a:noFill/>
          <a:ln w="9525">
            <a:noFill/>
          </a:ln>
        </p:spPr>
        <p:txBody>
          <a:bodyPr lIns="0" rIns="0" bIns="0" anchor="b" anchorCtr="0"/>
          <a:p>
            <a:pPr lvl="0"/>
            <a:r>
              <a:rPr lang="zh-CN" altLang="en-US" dirty="0"/>
              <a:t>单击此处编辑母版标题样式</a:t>
            </a:r>
            <a:endParaRPr lang="zh-CN" altLang="en-US" dirty="0"/>
          </a:p>
        </p:txBody>
      </p:sp>
      <p:sp>
        <p:nvSpPr>
          <p:cNvPr id="1028" name="文本占位符 29"/>
          <p:cNvSpPr>
            <a:spLocks noGrp="1"/>
          </p:cNvSpPr>
          <p:nvPr>
            <p:ph type="body" idx="1"/>
          </p:nvPr>
        </p:nvSpPr>
        <p:spPr>
          <a:xfrm>
            <a:off x="457200" y="1612900"/>
            <a:ext cx="8229600" cy="3657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9"/>
          <p:cNvSpPr>
            <a:spLocks noGrp="1"/>
          </p:cNvSpPr>
          <p:nvPr>
            <p:ph type="dt" sz="half" idx="2"/>
          </p:nvPr>
        </p:nvSpPr>
        <p:spPr>
          <a:xfrm>
            <a:off x="457200" y="5297488"/>
            <a:ext cx="2133600" cy="303213"/>
          </a:xfrm>
          <a:prstGeom prst="rect">
            <a:avLst/>
          </a:prstGeom>
        </p:spPr>
        <p:txBody>
          <a:bodyPr vert="horz" wrap="square" lIns="0" tIns="0" rIns="0" bIns="0" numCol="1" anchor="b" anchorCtr="0" compatLnSpc="1"/>
          <a:lstStyle>
            <a:lvl1pPr>
              <a:defRPr sz="1200">
                <a:solidFill>
                  <a:srgbClr val="045C75"/>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22" name="页脚占位符 21"/>
          <p:cNvSpPr>
            <a:spLocks noGrp="1"/>
          </p:cNvSpPr>
          <p:nvPr>
            <p:ph type="ftr" sz="quarter" idx="3"/>
          </p:nvPr>
        </p:nvSpPr>
        <p:spPr>
          <a:xfrm>
            <a:off x="2667000" y="5297488"/>
            <a:ext cx="3352800" cy="303213"/>
          </a:xfrm>
          <a:prstGeom prst="rect">
            <a:avLst/>
          </a:prstGeom>
        </p:spPr>
        <p:txBody>
          <a:bodyPr vert="horz" wrap="square" lIns="0" tIns="0" rIns="0" bIns="0" numCol="1" anchor="b" anchorCtr="0" compatLnSpc="1"/>
          <a:lstStyle>
            <a:lvl1pPr>
              <a:defRPr sz="1200">
                <a:solidFill>
                  <a:srgbClr val="045C75"/>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45C75"/>
              </a:solidFill>
              <a:effectLst/>
              <a:uLnTx/>
              <a:uFillTx/>
              <a:latin typeface="Arial" panose="020B0604020202020204" pitchFamily="34" charset="0"/>
              <a:ea typeface="宋体" panose="02010600030101010101" pitchFamily="2" charset="-122"/>
              <a:cs typeface="+mn-cs"/>
            </a:endParaRPr>
          </a:p>
        </p:txBody>
      </p:sp>
      <p:sp>
        <p:nvSpPr>
          <p:cNvPr id="18" name="灯片编号占位符 17"/>
          <p:cNvSpPr>
            <a:spLocks noGrp="1"/>
          </p:cNvSpPr>
          <p:nvPr>
            <p:ph type="sldNum" sz="quarter" idx="4"/>
          </p:nvPr>
        </p:nvSpPr>
        <p:spPr>
          <a:xfrm>
            <a:off x="7924800" y="5297488"/>
            <a:ext cx="762000" cy="303213"/>
          </a:xfrm>
          <a:prstGeom prst="rect">
            <a:avLst/>
          </a:prstGeom>
        </p:spPr>
        <p:txBody>
          <a:bodyPr vert="horz" wrap="square" lIns="0" tIns="0" rIns="0" bIns="0" numCol="1" anchor="b" anchorCtr="0" compatLnSpc="1"/>
          <a:lstStyle>
            <a:lvl1pPr algn="r">
              <a:defRPr sz="1200">
                <a:solidFill>
                  <a:srgbClr val="045C75"/>
                </a:solidFill>
                <a:ea typeface="宋体" panose="02010600030101010101" pitchFamily="2" charset="-122"/>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eaLnBrk="0" fontAlgn="base" hangingPunct="0">
        <a:spcBef>
          <a:spcPct val="0"/>
        </a:spcBef>
        <a:spcAft>
          <a:spcPct val="0"/>
        </a:spcAft>
        <a:defRPr sz="5000">
          <a:solidFill>
            <a:schemeClr val="tx2"/>
          </a:solidFill>
          <a:latin typeface="Calibri" panose="020F0502020204030204" pitchFamily="34" charset="0"/>
        </a:defRPr>
      </a:lvl6pPr>
      <a:lvl7pPr marL="914400" algn="l" rtl="0" eaLnBrk="0" fontAlgn="base" hangingPunct="0">
        <a:spcBef>
          <a:spcPct val="0"/>
        </a:spcBef>
        <a:spcAft>
          <a:spcPct val="0"/>
        </a:spcAft>
        <a:defRPr sz="5000">
          <a:solidFill>
            <a:schemeClr val="tx2"/>
          </a:solidFill>
          <a:latin typeface="Calibri" panose="020F0502020204030204" pitchFamily="34" charset="0"/>
        </a:defRPr>
      </a:lvl7pPr>
      <a:lvl8pPr marL="1371600" algn="l" rtl="0" eaLnBrk="0" fontAlgn="base" hangingPunct="0">
        <a:spcBef>
          <a:spcPct val="0"/>
        </a:spcBef>
        <a:spcAft>
          <a:spcPct val="0"/>
        </a:spcAft>
        <a:defRPr sz="5000">
          <a:solidFill>
            <a:schemeClr val="tx2"/>
          </a:solidFill>
          <a:latin typeface="Calibri" panose="020F0502020204030204" pitchFamily="34" charset="0"/>
        </a:defRPr>
      </a:lvl8pPr>
      <a:lvl9pPr marL="1828800" algn="l" rtl="0" eaLnBrk="0" fontAlgn="base" hangingPunct="0">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vl6pPr marL="19196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6pPr>
      <a:lvl7pPr marL="23768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7pPr>
      <a:lvl8pPr marL="28340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8pPr>
      <a:lvl9pPr marL="32912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p:sp>
        <p:nvSpPr>
          <p:cNvPr id="2050" name="标题占位符 8"/>
          <p:cNvSpPr>
            <a:spLocks noGrp="1"/>
          </p:cNvSpPr>
          <p:nvPr>
            <p:ph type="title"/>
          </p:nvPr>
        </p:nvSpPr>
        <p:spPr>
          <a:xfrm>
            <a:off x="457200" y="587375"/>
            <a:ext cx="8229600" cy="952500"/>
          </a:xfrm>
          <a:prstGeom prst="rect">
            <a:avLst/>
          </a:prstGeom>
          <a:noFill/>
          <a:ln w="9525">
            <a:noFill/>
          </a:ln>
        </p:spPr>
        <p:txBody>
          <a:bodyPr lIns="0" rIns="0" bIns="0" anchor="b" anchorCtr="0"/>
          <a:p>
            <a:pPr lvl="0"/>
            <a:r>
              <a:rPr lang="zh-CN" altLang="en-US" dirty="0"/>
              <a:t>单击此处编辑母版标题样式</a:t>
            </a:r>
            <a:endParaRPr lang="zh-CN" altLang="en-US" dirty="0"/>
          </a:p>
        </p:txBody>
      </p:sp>
      <p:sp>
        <p:nvSpPr>
          <p:cNvPr id="2051" name="文本占位符 29"/>
          <p:cNvSpPr>
            <a:spLocks noGrp="1"/>
          </p:cNvSpPr>
          <p:nvPr>
            <p:ph type="body" idx="1"/>
          </p:nvPr>
        </p:nvSpPr>
        <p:spPr>
          <a:xfrm>
            <a:off x="457200" y="1612900"/>
            <a:ext cx="8229600" cy="3657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 name="日期占位符 3"/>
          <p:cNvSpPr>
            <a:spLocks noGrp="1"/>
          </p:cNvSpPr>
          <p:nvPr>
            <p:ph type="dt" sz="half" idx="2"/>
          </p:nvPr>
        </p:nvSpPr>
        <p:spPr>
          <a:xfrm>
            <a:off x="457200" y="5297488"/>
            <a:ext cx="2133600" cy="303213"/>
          </a:xfrm>
          <a:prstGeom prst="rect">
            <a:avLst/>
          </a:prstGeom>
        </p:spPr>
        <p:txBody>
          <a:bodyPr vert="horz" wrap="square" lIns="0" tIns="0" rIns="0" bIns="0" numCol="1" anchor="b" anchorCtr="0" compatLnSpc="1"/>
          <a:lstStyle>
            <a:lvl1pPr>
              <a:defRPr sz="1200">
                <a:solidFill>
                  <a:srgbClr val="D1EAEE"/>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15" name="页脚占位符 4"/>
          <p:cNvSpPr>
            <a:spLocks noGrp="1"/>
          </p:cNvSpPr>
          <p:nvPr>
            <p:ph type="ftr" sz="quarter" idx="3"/>
          </p:nvPr>
        </p:nvSpPr>
        <p:spPr>
          <a:xfrm>
            <a:off x="2667000" y="5297488"/>
            <a:ext cx="3352800" cy="303213"/>
          </a:xfrm>
          <a:prstGeom prst="rect">
            <a:avLst/>
          </a:prstGeom>
        </p:spPr>
        <p:txBody>
          <a:bodyPr vert="horz" wrap="square" lIns="0" tIns="0" rIns="0" bIns="0" numCol="1" anchor="b" anchorCtr="0" compatLnSpc="1"/>
          <a:lstStyle>
            <a:lvl1pPr>
              <a:defRPr sz="1200">
                <a:solidFill>
                  <a:srgbClr val="D1EAEE"/>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D1EAEE"/>
              </a:solidFill>
              <a:effectLst/>
              <a:uLnTx/>
              <a:uFillTx/>
              <a:latin typeface="Arial" panose="020B0604020202020204" pitchFamily="34" charset="0"/>
              <a:ea typeface="宋体" panose="02010600030101010101" pitchFamily="2" charset="-122"/>
              <a:cs typeface="+mn-cs"/>
            </a:endParaRPr>
          </a:p>
        </p:txBody>
      </p:sp>
      <p:sp>
        <p:nvSpPr>
          <p:cNvPr id="16" name="灯片编号占位符 5"/>
          <p:cNvSpPr>
            <a:spLocks noGrp="1"/>
          </p:cNvSpPr>
          <p:nvPr>
            <p:ph type="sldNum" sz="quarter" idx="4"/>
          </p:nvPr>
        </p:nvSpPr>
        <p:spPr>
          <a:xfrm>
            <a:off x="7924800" y="5297488"/>
            <a:ext cx="762000" cy="303213"/>
          </a:xfrm>
          <a:prstGeom prst="rect">
            <a:avLst/>
          </a:prstGeom>
        </p:spPr>
        <p:txBody>
          <a:bodyPr vert="horz" wrap="square" lIns="0" tIns="0" rIns="0" bIns="0" numCol="1" anchor="b" anchorCtr="0" compatLnSpc="1"/>
          <a:lstStyle>
            <a:lvl1pPr algn="r">
              <a:defRPr sz="1200">
                <a:solidFill>
                  <a:srgbClr val="D1EAEE"/>
                </a:solidFill>
                <a:ea typeface="宋体" panose="02010600030101010101" pitchFamily="2" charset="-122"/>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l" rtl="0" eaLnBrk="0" fontAlgn="base" hangingPunct="0">
        <a:spcBef>
          <a:spcPct val="0"/>
        </a:spcBef>
        <a:spcAft>
          <a:spcPct val="0"/>
        </a:spcAft>
        <a:defRPr sz="5000" kern="1200">
          <a:solidFill>
            <a:schemeClr val="tx2"/>
          </a:solidFill>
          <a:latin typeface="Arial" panose="020B0604020202020204" pitchFamily="34" charset="0"/>
          <a:ea typeface="+mj-ea"/>
          <a:cs typeface="+mj-cs"/>
        </a:defRPr>
      </a:lvl1pPr>
      <a:lvl2pPr algn="l" rtl="0" eaLnBrk="0" fontAlgn="base" hangingPunct="0">
        <a:spcBef>
          <a:spcPct val="0"/>
        </a:spcBef>
        <a:spcAft>
          <a:spcPct val="0"/>
        </a:spcAft>
        <a:defRPr sz="5000">
          <a:solidFill>
            <a:schemeClr val="tx2"/>
          </a:solidFill>
          <a:latin typeface="Arial" panose="020B0604020202020204" pitchFamily="34" charset="0"/>
        </a:defRPr>
      </a:lvl2pPr>
      <a:lvl3pPr algn="l" rtl="0" eaLnBrk="0" fontAlgn="base" hangingPunct="0">
        <a:spcBef>
          <a:spcPct val="0"/>
        </a:spcBef>
        <a:spcAft>
          <a:spcPct val="0"/>
        </a:spcAft>
        <a:defRPr sz="5000">
          <a:solidFill>
            <a:schemeClr val="tx2"/>
          </a:solidFill>
          <a:latin typeface="Arial" panose="020B0604020202020204" pitchFamily="34" charset="0"/>
        </a:defRPr>
      </a:lvl3pPr>
      <a:lvl4pPr algn="l" rtl="0" eaLnBrk="0" fontAlgn="base" hangingPunct="0">
        <a:spcBef>
          <a:spcPct val="0"/>
        </a:spcBef>
        <a:spcAft>
          <a:spcPct val="0"/>
        </a:spcAft>
        <a:defRPr sz="5000">
          <a:solidFill>
            <a:schemeClr val="tx2"/>
          </a:solidFill>
          <a:latin typeface="Arial" panose="020B0604020202020204" pitchFamily="34" charset="0"/>
        </a:defRPr>
      </a:lvl4pPr>
      <a:lvl5pPr algn="l" rtl="0" eaLnBrk="0" fontAlgn="base" hangingPunct="0">
        <a:spcBef>
          <a:spcPct val="0"/>
        </a:spcBef>
        <a:spcAft>
          <a:spcPct val="0"/>
        </a:spcAft>
        <a:defRPr sz="5000">
          <a:solidFill>
            <a:schemeClr val="tx2"/>
          </a:solidFill>
          <a:latin typeface="Arial" panose="020B060402020202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Arial" panose="020B0604020202020204" pitchFamily="34" charset="0"/>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Arial" panose="020B0604020202020204" pitchFamily="34" charset="0"/>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Arial" panose="020B0604020202020204"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Arial" panose="020B0604020202020204" pitchFamily="34" charset="0"/>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Arial" panose="020B060402020202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Arial" panose="020B0604020202020204" pitchFamily="34" charset="0"/>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Arial" panose="020B0604020202020204" pitchFamily="34" charset="0"/>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Arial" panose="020B0604020202020204" pitchFamily="34" charset="0"/>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Arial" panose="020B0604020202020204"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1\1.&#21270;&#23398;&#19982;&#26448;&#26009;.flv"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2\&#28860;&#38050;&#24037;&#33402;.mp4" TargetMode="Externa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D:/&#35768;&#32769;&#24072;/&#32534;&#20070;/&#25945;&#26448;&#31532;&#20108;&#29256;/&#24037;&#31243;&#21270;&#23398;/&#31532;&#20108;&#29256; ppt/2-9/&#24037;&#31243;&#21270;&#23398;&#35838;&#20214;/http:/a3.att.hudong.com/53/14/01300000281293122632147636365.jpg" TargetMode="External"/><Relationship Id="rId3" Type="http://schemas.openxmlformats.org/officeDocument/2006/relationships/image" Target="../media/image6.jpeg"/><Relationship Id="rId2" Type="http://schemas.openxmlformats.org/officeDocument/2006/relationships/image" Target="D:/&#35768;&#32769;&#24072;/&#32534;&#20070;/&#25945;&#26448;&#31532;&#20108;&#29256;/&#24037;&#31243;&#21270;&#23398;/&#31532;&#20108;&#29256; ppt/2-9/&#24037;&#31243;&#21270;&#23398;&#35838;&#20214;/http:/www.dy.e9898.com/tp/qiye/200910/20091023171646643.jpg" TargetMode="Externa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3\&#38209;&#21512;&#37329;%20&#31532;6&#31456;%20%20&#21270;&#23398;&#19982;&#26448;&#26009;1%20P43.docx"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D:/&#35768;&#32769;&#24072;/&#32534;&#20070;/&#25945;&#26448;&#31532;&#20108;&#29256;/&#24037;&#31243;&#21270;&#23398;/&#31532;&#20108;&#29256; ppt/2-9/&#24037;&#31243;&#21270;&#23398;&#35838;&#20214;/http:/www.qy39.com/00user/uploadpic/product_1/2011-8-4/172336711.jpg" TargetMode="External"/><Relationship Id="rId5" Type="http://schemas.openxmlformats.org/officeDocument/2006/relationships/image" Target="../media/image9.jpeg"/><Relationship Id="rId4" Type="http://schemas.openxmlformats.org/officeDocument/2006/relationships/image" Target="D:/&#35768;&#32769;&#24072;/&#32534;&#20070;/&#25945;&#26448;&#31532;&#20108;&#29256;/&#24037;&#31243;&#21270;&#23398;/&#31532;&#20108;&#29256; ppt/2-9/&#24037;&#31243;&#21270;&#23398;&#35838;&#20214;/http:/imgsrc.baidu.com/baike/pic/item/3bc6f7500756de671038c29c.jpg" TargetMode="External"/><Relationship Id="rId3" Type="http://schemas.openxmlformats.org/officeDocument/2006/relationships/image" Target="../media/image8.jpeg"/><Relationship Id="rId2" Type="http://schemas.openxmlformats.org/officeDocument/2006/relationships/image" Target="D:/&#35768;&#32769;&#24072;/&#32534;&#20070;/&#25945;&#26448;&#31532;&#20108;&#29256;/&#24037;&#31243;&#21270;&#23398;/&#31532;&#20108;&#29256; ppt/2-9/&#24037;&#31243;&#21270;&#23398;&#35838;&#20214;/http:/image.xoosh.cn/pic/daojian/2007/11/2007111615391035382.jpg" TargetMode="Externa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D:/&#35768;&#32769;&#24072;/&#32534;&#20070;/&#25945;&#26448;&#31532;&#20108;&#29256;/&#24037;&#31243;&#21270;&#23398;/&#31532;&#20108;&#29256; ppt/2-9/&#24037;&#31243;&#21270;&#23398;&#35838;&#20214;/http:/img.zj123.com/upload/uploadFile/2011/07/27/20110727174704957750.jpg" TargetMode="External"/><Relationship Id="rId3" Type="http://schemas.openxmlformats.org/officeDocument/2006/relationships/image" Target="../media/image11.jpeg"/><Relationship Id="rId2" Type="http://schemas.openxmlformats.org/officeDocument/2006/relationships/image" Target="D:/&#35768;&#32769;&#24072;/&#32534;&#20070;/&#25945;&#26448;&#31532;&#20108;&#29256;/&#24037;&#31243;&#21270;&#23398;/&#31532;&#20108;&#29256; ppt/2-9/&#24037;&#31243;&#21270;&#23398;&#35838;&#20214;/http:/www.crter.org/eWebEditor/uploadfile/20090926083244906.bmp" TargetMode="Externa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D:/&#35768;&#32769;&#24072;/&#32534;&#20070;/&#25945;&#26448;&#31532;&#20108;&#29256;/&#24037;&#31243;&#21270;&#23398;/&#31532;&#20108;&#29256; ppt/2-9/&#24037;&#31243;&#21270;&#23398;&#35838;&#20214;/http:/www.hbaike.com/uploads/hdpic/20091018/a0_01_33_01300000168780121299332451635_s.jpg" TargetMode="External"/><Relationship Id="rId5" Type="http://schemas.openxmlformats.org/officeDocument/2006/relationships/image" Target="../media/image14.jpeg"/><Relationship Id="rId4" Type="http://schemas.openxmlformats.org/officeDocument/2006/relationships/image" Target="D:/&#35768;&#32769;&#24072;/&#32534;&#20070;/&#25945;&#26448;&#31532;&#20108;&#29256;/&#24037;&#31243;&#21270;&#23398;/&#31532;&#20108;&#29256; ppt/2-9/&#24037;&#31243;&#21270;&#23398;&#35838;&#20214;/http:/i03.c.aliimg.com/img/product/77/91/00/77910057.jpg" TargetMode="External"/><Relationship Id="rId3" Type="http://schemas.openxmlformats.org/officeDocument/2006/relationships/image" Target="../media/image13.jpeg"/><Relationship Id="rId2" Type="http://schemas.openxmlformats.org/officeDocument/2006/relationships/image" Target="D:/&#35768;&#32769;&#24072;/&#32534;&#20070;/&#25945;&#26448;&#31532;&#20108;&#29256;/&#24037;&#31243;&#21270;&#23398;/&#31532;&#20108;&#29256; ppt/2-9/&#24037;&#31243;&#21270;&#23398;&#35838;&#20214;/http:/a3.att.hudong.com/84/51/01300000291092125154513090068.jpg" TargetMode="External"/><Relationship Id="rId1" Type="http://schemas.openxmlformats.org/officeDocument/2006/relationships/image" Target="../media/image12.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4\&#20116;&#24425;&#29627;&#29827;&#8220;&#33455;&#8221;.mp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5\&#20809;&#23548;&#32420;&#32500;.doc"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D:/&#35768;&#32769;&#24072;/&#32534;&#20070;/&#25945;&#26448;&#31532;&#20108;&#29256;/&#24037;&#31243;&#21270;&#23398;/&#31532;&#20108;&#29256; ppt/2-9/&#24037;&#31243;&#21270;&#23398;&#35838;&#20214;/http:/tpu.eku.cc/scdt/004tx/982878050792.jpg" TargetMode="External"/><Relationship Id="rId1" Type="http://schemas.openxmlformats.org/officeDocument/2006/relationships/image" Target="../media/image15.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D:/&#35768;&#32769;&#24072;/&#32534;&#20070;/&#25945;&#26448;&#31532;&#20108;&#29256;/&#24037;&#31243;&#21270;&#23398;/&#31532;&#20108;&#29256; ppt/2-9/&#24037;&#31243;&#21270;&#23398;&#35838;&#20214;/http:/www.cnjdz.net/files/2010/20100929083129692.jpg" TargetMode="External"/><Relationship Id="rId1" Type="http://schemas.openxmlformats.org/officeDocument/2006/relationships/image" Target="../media/image16.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7.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8\8.&#31070;&#22855;&#30340;&#36229;&#23548;.mp4"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D:/&#35768;&#32769;&#24072;/&#32534;&#20070;/&#25945;&#26448;&#31532;&#20108;&#29256;/&#24037;&#31243;&#21270;&#23398;/&#31532;&#20108;&#29256; ppt/2-9/&#24037;&#31243;&#21270;&#23398;&#35838;&#20214;/http:/imgsrc.baidu.com/baike/abpic/item/373bc4b4a66420488ad4b262.jpg" TargetMode="External"/><Relationship Id="rId3" Type="http://schemas.openxmlformats.org/officeDocument/2006/relationships/image" Target="../media/image20.jpeg"/><Relationship Id="rId2" Type="http://schemas.openxmlformats.org/officeDocument/2006/relationships/image" Target="D:/&#35768;&#32769;&#24072;/&#32534;&#20070;/&#25945;&#26448;&#31532;&#20108;&#29256;/&#24037;&#31243;&#21270;&#23398;/&#31532;&#20108;&#29256; ppt/2-9/&#24037;&#31243;&#21270;&#23398;&#35838;&#20214;/http:/fs01.bokee.net/userfilespace/2009/12/14/winghinghong2411905.jpg" TargetMode="External"/><Relationship Id="rId1" Type="http://schemas.openxmlformats.org/officeDocument/2006/relationships/image" Target="../media/image19.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10\&#19981;&#20250;&#29123;&#28903;&#30340;&#28422;.mp4"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D:/&#35768;&#32769;&#24072;/&#32534;&#20070;/&#25945;&#26448;&#31532;&#20108;&#29256;/&#24037;&#31243;&#21270;&#23398;/&#31532;&#20108;&#29256; ppt/2-9/&#24037;&#31243;&#21270;&#23398;&#35838;&#20214;/http:/www.vertpedia.com/uploadfile/200921915179622.jpg" TargetMode="External"/><Relationship Id="rId3" Type="http://schemas.openxmlformats.org/officeDocument/2006/relationships/image" Target="../media/image22.jpeg"/><Relationship Id="rId2" Type="http://schemas.openxmlformats.org/officeDocument/2006/relationships/image" Target="D:/&#35768;&#32769;&#24072;/&#32534;&#20070;/&#25945;&#26448;&#31532;&#20108;&#29256;/&#24037;&#31243;&#21270;&#23398;/&#31532;&#20108;&#29256; ppt/2-9/&#24037;&#31243;&#21270;&#23398;&#35838;&#20214;/http:/i05.c.aliimg.com/img/offer2/2010/370/303/55370303_f9d8e3b4d7c6295dbd6b1096b9ef8899.jpg" TargetMode="External"/><Relationship Id="rId1" Type="http://schemas.openxmlformats.org/officeDocument/2006/relationships/image" Target="../media/image21.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24.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15\&#32435;&#31859;&#25216;&#26415;&#30340;&#24212;&#29992;.mp4" TargetMode="Externa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14\&#30899;&#32435;&#31859;&#31649;&#26448;&#26009;.mp4"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WordArt 7"/>
          <p:cNvSpPr>
            <a:spLocks noChangeArrowheads="1" noChangeShapeType="1" noTextEdit="1"/>
          </p:cNvSpPr>
          <p:nvPr/>
        </p:nvSpPr>
        <p:spPr bwMode="auto">
          <a:xfrm>
            <a:off x="2209800" y="1524000"/>
            <a:ext cx="4953000" cy="1587500"/>
          </a:xfrm>
          <a:prstGeom prst="rect">
            <a:avLst/>
          </a:prstGeom>
        </p:spPr>
        <p:txBody>
          <a:bodyPr wrap="none" numCol="1" fromWordArt="1">
            <a:prstTxWarp prst="textDeflate">
              <a:avLst>
                <a:gd name="adj" fmla="val 26227"/>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第</a:t>
            </a:r>
            <a:r>
              <a:rPr kumimoji="0" lang="en-US" altLang="zh-CN"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6</a:t>
            </a:r>
            <a:r>
              <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章  化学与材料</a:t>
            </a:r>
            <a:endPar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endParaRPr>
          </a:p>
        </p:txBody>
      </p:sp>
      <p:pic>
        <p:nvPicPr>
          <p:cNvPr id="5123" name="Picture 4" descr="http://p0.so.qhimgs1.com/bdr/_240_/t01915a1dc4e3320980.jpg"/>
          <p:cNvPicPr>
            <a:picLocks noChangeAspect="1"/>
          </p:cNvPicPr>
          <p:nvPr/>
        </p:nvPicPr>
        <p:blipFill>
          <a:blip r:embed="rId1"/>
          <a:stretch>
            <a:fillRect/>
          </a:stretch>
        </p:blipFill>
        <p:spPr>
          <a:xfrm>
            <a:off x="6705600" y="4191000"/>
            <a:ext cx="2438400" cy="15240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6" name="Group 6"/>
          <p:cNvGrpSpPr/>
          <p:nvPr/>
        </p:nvGrpSpPr>
        <p:grpSpPr>
          <a:xfrm>
            <a:off x="2133600" y="317500"/>
            <a:ext cx="4752975" cy="660400"/>
            <a:chOff x="1338" y="300"/>
            <a:chExt cx="2858" cy="499"/>
          </a:xfrm>
        </p:grpSpPr>
        <p:sp>
          <p:nvSpPr>
            <p:cNvPr id="7175" name="AutoShape 7"/>
            <p:cNvSpPr>
              <a:spLocks noChangeArrowheads="1"/>
            </p:cNvSpPr>
            <p:nvPr/>
          </p:nvSpPr>
          <p:spPr bwMode="auto">
            <a:xfrm>
              <a:off x="1338" y="300"/>
              <a:ext cx="2858" cy="499"/>
            </a:xfrm>
            <a:prstGeom prst="roundRect">
              <a:avLst>
                <a:gd name="adj" fmla="val 16667"/>
              </a:avLst>
            </a:prstGeom>
            <a:gradFill rotWithShape="1">
              <a:gsLst>
                <a:gs pos="0">
                  <a:srgbClr val="3366FF">
                    <a:gamma/>
                    <a:shade val="15686"/>
                    <a:invGamma/>
                  </a:srgbClr>
                </a:gs>
                <a:gs pos="50000">
                  <a:srgbClr val="3366FF">
                    <a:alpha val="98000"/>
                  </a:srgbClr>
                </a:gs>
                <a:gs pos="100000">
                  <a:srgbClr val="3366FF">
                    <a:gamma/>
                    <a:shade val="15686"/>
                    <a:invGamma/>
                  </a:srgbClr>
                </a:gs>
              </a:gsLst>
              <a:lin ang="5400000" scaled="1"/>
            </a:gradFill>
            <a:ln w="22225">
              <a:solidFill>
                <a:srgbClr val="FFFF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6" name="Rectangle 8"/>
            <p:cNvSpPr>
              <a:spLocks noChangeArrowheads="1"/>
            </p:cNvSpPr>
            <p:nvPr/>
          </p:nvSpPr>
          <p:spPr bwMode="auto">
            <a:xfrm>
              <a:off x="2018" y="346"/>
              <a:ext cx="1597" cy="442"/>
            </a:xfrm>
            <a:prstGeom prst="rect">
              <a:avLst/>
            </a:prstGeom>
            <a:gradFill rotWithShape="1">
              <a:gsLst>
                <a:gs pos="0">
                  <a:srgbClr val="3366FF">
                    <a:gamma/>
                    <a:shade val="15686"/>
                    <a:invGamma/>
                  </a:srgbClr>
                </a:gs>
                <a:gs pos="50000">
                  <a:srgbClr val="3366FF">
                    <a:alpha val="98000"/>
                  </a:srgbClr>
                </a:gs>
                <a:gs pos="100000">
                  <a:srgbClr val="3366FF">
                    <a:gamma/>
                    <a:shade val="15686"/>
                    <a:invGamma/>
                  </a:srgbClr>
                </a:gs>
              </a:gsLst>
              <a:lin ang="5400000" scaled="1"/>
            </a:grad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bg1"/>
                  </a:solidFill>
                  <a:effectLst/>
                  <a:uLnTx/>
                  <a:uFillTx/>
                  <a:latin typeface="Arial" panose="020B0604020202020204" pitchFamily="34" charset="0"/>
                  <a:ea typeface="楷体_GB2312" panose="02010609030101010101" pitchFamily="49" charset="-122"/>
                  <a:cs typeface="+mn-cs"/>
                </a:rPr>
                <a:t>本章学习要点</a:t>
              </a:r>
              <a:endParaRPr kumimoji="0" lang="zh-CN" altLang="en-US" sz="3200" b="1" i="0" u="none" strike="noStrike" kern="1200" cap="none" spc="0" normalizeH="0" baseline="0" noProof="0">
                <a:ln>
                  <a:noFill/>
                </a:ln>
                <a:solidFill>
                  <a:schemeClr val="bg1"/>
                </a:solidFill>
                <a:effectLst/>
                <a:uLnTx/>
                <a:uFillTx/>
                <a:latin typeface="Arial" panose="020B0604020202020204" pitchFamily="34" charset="0"/>
                <a:ea typeface="楷体_GB2312" panose="02010609030101010101" pitchFamily="49" charset="-122"/>
                <a:cs typeface="+mn-cs"/>
              </a:endParaRPr>
            </a:p>
          </p:txBody>
        </p:sp>
      </p:grpSp>
      <p:graphicFrame>
        <p:nvGraphicFramePr>
          <p:cNvPr id="7319" name="Group 151"/>
          <p:cNvGraphicFramePr>
            <a:graphicFrameLocks noGrp="1"/>
          </p:cNvGraphicFramePr>
          <p:nvPr/>
        </p:nvGraphicFramePr>
        <p:xfrm>
          <a:off x="381000" y="1028700"/>
          <a:ext cx="8534400" cy="4232275"/>
        </p:xfrm>
        <a:graphic>
          <a:graphicData uri="http://schemas.openxmlformats.org/drawingml/2006/table">
            <a:tbl>
              <a:tblPr/>
              <a:tblGrid>
                <a:gridCol w="1516743"/>
                <a:gridCol w="3512457"/>
                <a:gridCol w="3505200"/>
              </a:tblGrid>
              <a:tr h="33805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dirty="0" smtClean="0">
                          <a:ln>
                            <a:noFill/>
                          </a:ln>
                          <a:solidFill>
                            <a:srgbClr val="6600CC"/>
                          </a:solidFill>
                          <a:effectLst/>
                          <a:latin typeface="Times New Roman" panose="02020603050405020304" pitchFamily="18" charset="0"/>
                          <a:ea typeface="宋体" panose="02010600030101010101" pitchFamily="2" charset="-122"/>
                          <a:cs typeface="Times New Roman" panose="02020603050405020304" pitchFamily="18" charset="0"/>
                        </a:rPr>
                        <a:t> 知识要点</a:t>
                      </a:r>
                      <a:endParaRPr kumimoji="0" lang="zh-CN" altLang="en-US" sz="1700" b="0" i="0" u="none" strike="noStrike" cap="none" normalizeH="0" baseline="0" dirty="0" smtClean="0">
                        <a:ln>
                          <a:noFill/>
                        </a:ln>
                        <a:solidFill>
                          <a:srgbClr val="6600CC"/>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smtClean="0">
                          <a:ln>
                            <a:noFill/>
                          </a:ln>
                          <a:solidFill>
                            <a:srgbClr val="6600CC"/>
                          </a:solidFill>
                          <a:effectLst/>
                          <a:latin typeface="Times New Roman" panose="02020603050405020304" pitchFamily="18" charset="0"/>
                          <a:ea typeface="宋体" panose="02010600030101010101" pitchFamily="2" charset="-122"/>
                          <a:cs typeface="Times New Roman" panose="02020603050405020304" pitchFamily="18" charset="0"/>
                        </a:rPr>
                        <a:t>掌握程度</a:t>
                      </a:r>
                      <a:endParaRPr kumimoji="0" lang="zh-CN" altLang="en-US" sz="1700" b="0" i="0" u="none" strike="noStrike" cap="none" normalizeH="0" baseline="0" smtClean="0">
                        <a:ln>
                          <a:noFill/>
                        </a:ln>
                        <a:solidFill>
                          <a:srgbClr val="6600CC"/>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700" b="1" i="0" u="none" strike="noStrike" cap="none" normalizeH="0" baseline="0" smtClean="0">
                          <a:ln>
                            <a:noFill/>
                          </a:ln>
                          <a:solidFill>
                            <a:srgbClr val="6600CC"/>
                          </a:solidFill>
                          <a:effectLst/>
                          <a:latin typeface="Times New Roman" panose="02020603050405020304" pitchFamily="18" charset="0"/>
                          <a:ea typeface="宋体" panose="02010600030101010101" pitchFamily="2" charset="-122"/>
                          <a:cs typeface="Times New Roman" panose="02020603050405020304" pitchFamily="18" charset="0"/>
                        </a:rPr>
                        <a:t>相关知识</a:t>
                      </a:r>
                      <a:endParaRPr kumimoji="0" lang="zh-CN" altLang="en-US" sz="1700" b="0" i="0" u="none" strike="noStrike" cap="none" normalizeH="0" baseline="0" smtClean="0">
                        <a:ln>
                          <a:noFill/>
                        </a:ln>
                        <a:solidFill>
                          <a:srgbClr val="6600CC"/>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855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金属材料</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熟悉金属材料的分类、主要特性；了解金属材料的应用范围</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金属单质、金属合金</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1441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无机非金属材料</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熟悉无机非金属材料的类型、主要特性；了解非金属材料的应用范围。</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传统无机非金属材料、新型无机非金属材料、功能转换材料</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1441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高分子材料</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了解高分子化合物的基本概念、命名方法；熟悉其类型、特性及主要应用范围。</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传统高分子材料、功能高分子材料、高分子智能材料</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256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复合材料</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掌握复合材料的分类、特性及</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主要应用范围。</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基体、增强体、聚合物基复合材料、金属基复合材料、陶瓷基复合材料</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828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纳米材料</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熟悉纳米材料的概念、特性</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及主要应用范围。</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小尺寸效应、表面效应、量子尺寸效应、宏观量子隧道效应、陶瓷增韧</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855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新材料</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了解新材料的发展方向、新的材料合成方法。</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新型薄膜材料、液晶材料、材料制备的新方法</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100" marB="381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diamon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5"/>
          <p:cNvSpPr/>
          <p:nvPr/>
        </p:nvSpPr>
        <p:spPr>
          <a:xfrm>
            <a:off x="827088" y="2697163"/>
            <a:ext cx="3671887" cy="447675"/>
          </a:xfrm>
          <a:prstGeom prst="rect">
            <a:avLst/>
          </a:prstGeom>
          <a:noFill/>
          <a:ln w="9525">
            <a:noFill/>
          </a:ln>
        </p:spPr>
        <p:txBody>
          <a:bodyPr tIns="76176" bIns="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71687" name="AutoShape 7"/>
          <p:cNvSpPr/>
          <p:nvPr/>
        </p:nvSpPr>
        <p:spPr>
          <a:xfrm>
            <a:off x="838200" y="2032000"/>
            <a:ext cx="4267200" cy="539750"/>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6.2  无机非金属材料</a:t>
            </a:r>
            <a:endParaRPr lang="zh-CN" altLang="en-US" sz="2800" b="1" dirty="0">
              <a:latin typeface="Times New Roman" panose="02020603050405020304" pitchFamily="18" charset="0"/>
              <a:ea typeface="宋体" panose="02010600030101010101" pitchFamily="2" charset="-122"/>
            </a:endParaRPr>
          </a:p>
        </p:txBody>
      </p:sp>
      <p:sp>
        <p:nvSpPr>
          <p:cNvPr id="71688" name="AutoShape 8"/>
          <p:cNvSpPr/>
          <p:nvPr/>
        </p:nvSpPr>
        <p:spPr>
          <a:xfrm>
            <a:off x="827088" y="1357313"/>
            <a:ext cx="4278312" cy="481012"/>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6.1  金属材料</a:t>
            </a:r>
            <a:endParaRPr lang="zh-CN" altLang="en-US" sz="2800" b="1" dirty="0">
              <a:latin typeface="Times New Roman" panose="02020603050405020304" pitchFamily="18" charset="0"/>
              <a:ea typeface="宋体" panose="02010600030101010101" pitchFamily="2" charset="-122"/>
            </a:endParaRPr>
          </a:p>
        </p:txBody>
      </p:sp>
      <p:sp>
        <p:nvSpPr>
          <p:cNvPr id="71689" name="AutoShape 9"/>
          <p:cNvSpPr/>
          <p:nvPr/>
        </p:nvSpPr>
        <p:spPr>
          <a:xfrm>
            <a:off x="838200" y="3492500"/>
            <a:ext cx="4343400" cy="481013"/>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宋体" panose="02010600030101010101" pitchFamily="2" charset="-122"/>
              </a:rPr>
              <a:t>§6.</a:t>
            </a:r>
            <a:r>
              <a:rPr lang="en-US" altLang="en-US" sz="2800" b="1" dirty="0">
                <a:latin typeface="Times New Roman" panose="02020603050405020304" pitchFamily="18" charset="0"/>
                <a:ea typeface="宋体" panose="02010600030101010101" pitchFamily="2" charset="-122"/>
              </a:rPr>
              <a:t>4 复合材料</a:t>
            </a:r>
            <a:endParaRPr lang="zh-CN" altLang="en-US" sz="2800" b="1" dirty="0">
              <a:latin typeface="Times New Roman" panose="02020603050405020304" pitchFamily="18" charset="0"/>
              <a:ea typeface="宋体" panose="02010600030101010101" pitchFamily="2" charset="-122"/>
            </a:endParaRPr>
          </a:p>
        </p:txBody>
      </p:sp>
      <p:sp>
        <p:nvSpPr>
          <p:cNvPr id="71690" name="AutoShape 10"/>
          <p:cNvSpPr/>
          <p:nvPr/>
        </p:nvSpPr>
        <p:spPr>
          <a:xfrm>
            <a:off x="838200" y="4889500"/>
            <a:ext cx="4343400" cy="481013"/>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6.6 新材料</a:t>
            </a:r>
            <a:endParaRPr lang="zh-CN" altLang="en-US" sz="2800" b="1" dirty="0">
              <a:latin typeface="Times New Roman" panose="02020603050405020304" pitchFamily="18" charset="0"/>
              <a:ea typeface="宋体" panose="02010600030101010101" pitchFamily="2" charset="-122"/>
            </a:endParaRPr>
          </a:p>
        </p:txBody>
      </p:sp>
      <p:sp>
        <p:nvSpPr>
          <p:cNvPr id="71691" name="AutoShape 11"/>
          <p:cNvSpPr/>
          <p:nvPr/>
        </p:nvSpPr>
        <p:spPr>
          <a:xfrm>
            <a:off x="838200" y="2794000"/>
            <a:ext cx="4343400" cy="481013"/>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en-US" sz="2800" b="1" dirty="0">
                <a:latin typeface="Times New Roman" panose="02020603050405020304" pitchFamily="18" charset="0"/>
                <a:ea typeface="宋体" panose="02010600030101010101" pitchFamily="2" charset="-122"/>
              </a:rPr>
              <a:t>§6.3  高分子材料</a:t>
            </a:r>
            <a:endParaRPr lang="zh-CN" altLang="en-US" sz="2800" b="1" dirty="0">
              <a:latin typeface="Times New Roman" panose="02020603050405020304" pitchFamily="18" charset="0"/>
              <a:ea typeface="宋体" panose="02010600030101010101" pitchFamily="2" charset="-122"/>
            </a:endParaRPr>
          </a:p>
        </p:txBody>
      </p:sp>
      <p:grpSp>
        <p:nvGrpSpPr>
          <p:cNvPr id="7176" name="Group 12"/>
          <p:cNvGrpSpPr/>
          <p:nvPr/>
        </p:nvGrpSpPr>
        <p:grpSpPr>
          <a:xfrm>
            <a:off x="2133600" y="317500"/>
            <a:ext cx="5257800" cy="660400"/>
            <a:chOff x="1338" y="300"/>
            <a:chExt cx="2858" cy="499"/>
          </a:xfrm>
        </p:grpSpPr>
        <p:sp>
          <p:nvSpPr>
            <p:cNvPr id="71693" name="AutoShape 13"/>
            <p:cNvSpPr>
              <a:spLocks noChangeArrowheads="1"/>
            </p:cNvSpPr>
            <p:nvPr/>
          </p:nvSpPr>
          <p:spPr bwMode="auto">
            <a:xfrm>
              <a:off x="1338" y="300"/>
              <a:ext cx="2858" cy="499"/>
            </a:xfrm>
            <a:prstGeom prst="roundRect">
              <a:avLst>
                <a:gd name="adj" fmla="val 16667"/>
              </a:avLst>
            </a:prstGeom>
            <a:gradFill rotWithShape="1">
              <a:gsLst>
                <a:gs pos="0">
                  <a:srgbClr val="3366FF">
                    <a:gamma/>
                    <a:shade val="15686"/>
                    <a:invGamma/>
                  </a:srgbClr>
                </a:gs>
                <a:gs pos="50000">
                  <a:srgbClr val="3366FF">
                    <a:alpha val="98000"/>
                  </a:srgbClr>
                </a:gs>
                <a:gs pos="100000">
                  <a:srgbClr val="3366FF">
                    <a:gamma/>
                    <a:shade val="15686"/>
                    <a:invGamma/>
                  </a:srgbClr>
                </a:gs>
              </a:gsLst>
              <a:lin ang="5400000" scaled="1"/>
            </a:gradFill>
            <a:ln w="22225">
              <a:solidFill>
                <a:srgbClr val="FFFF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694" name="Rectangle 14"/>
            <p:cNvSpPr>
              <a:spLocks noChangeArrowheads="1"/>
            </p:cNvSpPr>
            <p:nvPr/>
          </p:nvSpPr>
          <p:spPr bwMode="auto">
            <a:xfrm>
              <a:off x="2018" y="346"/>
              <a:ext cx="1582" cy="442"/>
            </a:xfrm>
            <a:prstGeom prst="rect">
              <a:avLst/>
            </a:prstGeom>
            <a:gradFill rotWithShape="1">
              <a:gsLst>
                <a:gs pos="0">
                  <a:srgbClr val="3366FF">
                    <a:gamma/>
                    <a:shade val="15686"/>
                    <a:invGamma/>
                  </a:srgbClr>
                </a:gs>
                <a:gs pos="50000">
                  <a:srgbClr val="3366FF">
                    <a:alpha val="98000"/>
                  </a:srgbClr>
                </a:gs>
                <a:gs pos="100000">
                  <a:srgbClr val="3366FF">
                    <a:gamma/>
                    <a:shade val="15686"/>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bg1"/>
                  </a:solidFill>
                  <a:effectLst/>
                  <a:uLnTx/>
                  <a:uFillTx/>
                  <a:latin typeface="Arial" panose="020B0604020202020204" pitchFamily="34" charset="0"/>
                  <a:ea typeface="楷体_GB2312" panose="02010609030101010101" pitchFamily="49" charset="-122"/>
                  <a:cs typeface="+mn-cs"/>
                </a:rPr>
                <a:t>本章主要内容</a:t>
              </a:r>
              <a:endParaRPr kumimoji="0" lang="zh-CN" altLang="en-US" sz="3200" b="1" i="0" u="none" strike="noStrike" kern="1200" cap="none" spc="0" normalizeH="0" baseline="0" noProof="0">
                <a:ln>
                  <a:noFill/>
                </a:ln>
                <a:solidFill>
                  <a:schemeClr val="bg1"/>
                </a:solidFill>
                <a:effectLst/>
                <a:uLnTx/>
                <a:uFillTx/>
                <a:latin typeface="Arial" panose="020B0604020202020204" pitchFamily="34" charset="0"/>
                <a:ea typeface="楷体_GB2312" panose="02010609030101010101" pitchFamily="49" charset="-122"/>
                <a:cs typeface="+mn-cs"/>
              </a:endParaRPr>
            </a:p>
          </p:txBody>
        </p:sp>
      </p:grpSp>
      <p:sp>
        <p:nvSpPr>
          <p:cNvPr id="71698" name="AutoShape 18"/>
          <p:cNvSpPr/>
          <p:nvPr/>
        </p:nvSpPr>
        <p:spPr>
          <a:xfrm>
            <a:off x="838200" y="4191000"/>
            <a:ext cx="4343400" cy="481013"/>
          </a:xfrm>
          <a:prstGeom prst="roundRect">
            <a:avLst>
              <a:gd name="adj" fmla="val 16667"/>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宋体" panose="02010600030101010101" pitchFamily="2" charset="-122"/>
              </a:rPr>
              <a:t>§6.5</a:t>
            </a:r>
            <a:r>
              <a:rPr lang="zh-CN" altLang="en-US" sz="2800" b="1" dirty="0">
                <a:latin typeface="Times New Roman" panose="02020603050405020304" pitchFamily="18" charset="0"/>
                <a:ea typeface="宋体" panose="02010600030101010101" pitchFamily="2" charset="-122"/>
              </a:rPr>
              <a:t>纳米材料</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wipe(left)">
                                      <p:cBhvr>
                                        <p:cTn id="7" dur="500"/>
                                        <p:tgtEl>
                                          <p:spTgt spid="716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87"/>
                                        </p:tgtEl>
                                        <p:attrNameLst>
                                          <p:attrName>style.visibility</p:attrName>
                                        </p:attrNameLst>
                                      </p:cBhvr>
                                      <p:to>
                                        <p:strVal val="visible"/>
                                      </p:to>
                                    </p:set>
                                    <p:animEffect transition="in" filter="wipe(left)">
                                      <p:cBhvr>
                                        <p:cTn id="12" dur="500"/>
                                        <p:tgtEl>
                                          <p:spTgt spid="716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91"/>
                                        </p:tgtEl>
                                        <p:attrNameLst>
                                          <p:attrName>style.visibility</p:attrName>
                                        </p:attrNameLst>
                                      </p:cBhvr>
                                      <p:to>
                                        <p:strVal val="visible"/>
                                      </p:to>
                                    </p:set>
                                    <p:animEffect transition="in" filter="wipe(left)">
                                      <p:cBhvr>
                                        <p:cTn id="17" dur="500"/>
                                        <p:tgtEl>
                                          <p:spTgt spid="716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689"/>
                                        </p:tgtEl>
                                        <p:attrNameLst>
                                          <p:attrName>style.visibility</p:attrName>
                                        </p:attrNameLst>
                                      </p:cBhvr>
                                      <p:to>
                                        <p:strVal val="visible"/>
                                      </p:to>
                                    </p:set>
                                    <p:animEffect transition="in" filter="wipe(left)">
                                      <p:cBhvr>
                                        <p:cTn id="22" dur="500"/>
                                        <p:tgtEl>
                                          <p:spTgt spid="716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698"/>
                                        </p:tgtEl>
                                        <p:attrNameLst>
                                          <p:attrName>style.visibility</p:attrName>
                                        </p:attrNameLst>
                                      </p:cBhvr>
                                      <p:to>
                                        <p:strVal val="visible"/>
                                      </p:to>
                                    </p:set>
                                    <p:animEffect transition="in" filter="wipe(left)">
                                      <p:cBhvr>
                                        <p:cTn id="27" dur="500"/>
                                        <p:tgtEl>
                                          <p:spTgt spid="7169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1690"/>
                                        </p:tgtEl>
                                        <p:attrNameLst>
                                          <p:attrName>style.visibility</p:attrName>
                                        </p:attrNameLst>
                                      </p:cBhvr>
                                      <p:to>
                                        <p:strVal val="visible"/>
                                      </p:to>
                                    </p:set>
                                    <p:animEffect transition="in" filter="wipe(left)">
                                      <p:cBhvr>
                                        <p:cTn id="32" dur="500"/>
                                        <p:tgtEl>
                                          <p:spTgt spid="71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 grpId="0" animBg="1"/>
      <p:bldP spid="71688" grpId="0" animBg="1"/>
      <p:bldP spid="71689" grpId="0" animBg="1"/>
      <p:bldP spid="71690" grpId="0" animBg="1"/>
      <p:bldP spid="71691" grpId="0" animBg="1"/>
      <p:bldP spid="7169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
          <p:cNvSpPr/>
          <p:nvPr/>
        </p:nvSpPr>
        <p:spPr>
          <a:xfrm>
            <a:off x="228600" y="274638"/>
            <a:ext cx="8610600" cy="5078412"/>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241300">
              <a:lnSpc>
                <a:spcPct val="150000"/>
              </a:lnSpc>
              <a:spcBef>
                <a:spcPct val="0"/>
              </a:spcBef>
              <a:buClrTx/>
              <a:buSzTx/>
              <a:buFontTx/>
              <a:buNone/>
            </a:pPr>
            <a:r>
              <a:rPr lang="zh-CN" altLang="en-US" sz="2400" b="1" dirty="0">
                <a:latin typeface="Times New Roman" panose="02020603050405020304" pitchFamily="18" charset="0"/>
                <a:ea typeface="宋体" panose="02010600030101010101" pitchFamily="2" charset="-122"/>
                <a:hlinkClick r:id="rId1" action="ppaction://hlinkfile"/>
              </a:rPr>
              <a:t>      化学是材料科学发展的基础科学，</a:t>
            </a:r>
            <a:r>
              <a:rPr lang="zh-CN" altLang="en-US" sz="2400" b="1" dirty="0">
                <a:latin typeface="Times New Roman" panose="02020603050405020304" pitchFamily="18" charset="0"/>
                <a:ea typeface="宋体" panose="02010600030101010101" pitchFamily="2" charset="-122"/>
              </a:rPr>
              <a:t>其分支材料化学是一门以现代材料为主要对象，研究材料的化学组成、结构与性能关系、合成制备方法、性能表征及其与环境协调等问题的科学。在材料科学的发展中起着无可替代的重要作用。</a:t>
            </a:r>
            <a:endParaRPr lang="zh-CN" altLang="en-US" sz="2400" b="1" dirty="0">
              <a:latin typeface="Arial" panose="020B0604020202020204" pitchFamily="34" charset="0"/>
              <a:ea typeface="宋体" panose="02010600030101010101" pitchFamily="2" charset="-122"/>
            </a:endParaRPr>
          </a:p>
          <a:p>
            <a:pPr marL="0" lvl="0" indent="241300">
              <a:lnSpc>
                <a:spcPct val="15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科学工作者根据材料的组成和结构特点，将材料分为金属材料、无机非金属材料、有机高分子材料和复合材料四大类；根据材料的性能特征，将其分为结构材料和功能材料；根据材料的用途将其分为建筑材料、能源材料、航空材料和电子材料等。本章将按照第一种分类对四类材料分别加以介绍。</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矩形 3"/>
          <p:cNvSpPr/>
          <p:nvPr/>
        </p:nvSpPr>
        <p:spPr>
          <a:xfrm>
            <a:off x="533400" y="2095500"/>
            <a:ext cx="7924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0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金属材料是以金属元素为基础的材料，分为</a:t>
            </a:r>
            <a:r>
              <a:rPr lang="zh-CN" altLang="en-US" sz="2400" b="1" i="1" dirty="0">
                <a:solidFill>
                  <a:srgbClr val="000099"/>
                </a:solidFill>
                <a:latin typeface="Arial" panose="020B0604020202020204" pitchFamily="34" charset="0"/>
                <a:ea typeface="宋体" panose="02010600030101010101" pitchFamily="2" charset="-122"/>
              </a:rPr>
              <a:t>黑色金属材料</a:t>
            </a:r>
            <a:r>
              <a:rPr lang="zh-CN" altLang="en-US" sz="2400" b="1" dirty="0">
                <a:latin typeface="Arial" panose="020B0604020202020204" pitchFamily="34" charset="0"/>
                <a:ea typeface="宋体" panose="02010600030101010101" pitchFamily="2" charset="-122"/>
              </a:rPr>
              <a:t>和</a:t>
            </a:r>
            <a:r>
              <a:rPr lang="zh-CN" altLang="en-US" sz="2400" b="1" i="1" dirty="0">
                <a:solidFill>
                  <a:srgbClr val="000099"/>
                </a:solidFill>
                <a:latin typeface="Arial" panose="020B0604020202020204" pitchFamily="34" charset="0"/>
                <a:ea typeface="宋体" panose="02010600030101010101" pitchFamily="2" charset="-122"/>
              </a:rPr>
              <a:t>有色金属材料</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黑色金属材料通常包括铁、锰、铬以及它们的合金；除黑色金属以外其他各种金属及其合金都称为有色金属。</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根据物理性质的不同，金属又可分为轻金属、重金属、高熔点金属、稀有金属等。         </a:t>
            </a:r>
            <a:endParaRPr lang="zh-CN" altLang="en-US" sz="2400" b="1" dirty="0">
              <a:latin typeface="Arial" panose="020B0604020202020204" pitchFamily="34" charset="0"/>
              <a:ea typeface="宋体" panose="02010600030101010101" pitchFamily="2" charset="-122"/>
            </a:endParaRPr>
          </a:p>
        </p:txBody>
      </p:sp>
      <p:grpSp>
        <p:nvGrpSpPr>
          <p:cNvPr id="9219" name="Group 4"/>
          <p:cNvGrpSpPr/>
          <p:nvPr/>
        </p:nvGrpSpPr>
        <p:grpSpPr>
          <a:xfrm>
            <a:off x="2057400" y="254000"/>
            <a:ext cx="5113338" cy="660400"/>
            <a:chOff x="1338" y="300"/>
            <a:chExt cx="2858" cy="499"/>
          </a:xfrm>
        </p:grpSpPr>
        <p:sp>
          <p:nvSpPr>
            <p:cNvPr id="9221" name="AutoShape 5"/>
            <p:cNvSpPr/>
            <p:nvPr/>
          </p:nvSpPr>
          <p:spPr>
            <a:xfrm>
              <a:off x="1338" y="30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9222" name="Rectangle 6"/>
            <p:cNvSpPr/>
            <p:nvPr/>
          </p:nvSpPr>
          <p:spPr>
            <a:xfrm>
              <a:off x="2018" y="346"/>
              <a:ext cx="1577"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6.1  </a:t>
              </a:r>
              <a:r>
                <a:rPr lang="zh-CN" altLang="en-US" sz="3200" b="1" dirty="0">
                  <a:solidFill>
                    <a:schemeClr val="bg1"/>
                  </a:solidFill>
                  <a:latin typeface="Times New Roman" panose="02020603050405020304" pitchFamily="18" charset="0"/>
                  <a:ea typeface="楷体_GB2312" panose="02010609030101010101" pitchFamily="49" charset="-122"/>
                </a:rPr>
                <a:t>金属材料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
        <p:nvSpPr>
          <p:cNvPr id="8199" name="Text Box 7"/>
          <p:cNvSpPr txBox="1"/>
          <p:nvPr/>
        </p:nvSpPr>
        <p:spPr>
          <a:xfrm>
            <a:off x="0" y="1206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6.1.1</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金属材料概述</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8199"/>
                                        </p:tgtEl>
                                        <p:attrNameLst>
                                          <p:attrName>style.visibility</p:attrName>
                                        </p:attrNameLst>
                                      </p:cBhvr>
                                      <p:to>
                                        <p:strVal val="visible"/>
                                      </p:to>
                                    </p:set>
                                    <p:anim calcmode="lin" valueType="num">
                                      <p:cBhvr>
                                        <p:cTn id="7" dur="1000" fill="hold"/>
                                        <p:tgtEl>
                                          <p:spTgt spid="8199"/>
                                        </p:tgtEl>
                                        <p:attrNameLst>
                                          <p:attrName>ppt_w</p:attrName>
                                        </p:attrNameLst>
                                      </p:cBhvr>
                                      <p:tavLst>
                                        <p:tav tm="0">
                                          <p:val>
                                            <p:fltVal val="0.000000"/>
                                          </p:val>
                                        </p:tav>
                                        <p:tav tm="100000">
                                          <p:val>
                                            <p:strVal val="#ppt_w"/>
                                          </p:val>
                                        </p:tav>
                                      </p:tavLst>
                                    </p:anim>
                                    <p:anim calcmode="lin" valueType="num">
                                      <p:cBhvr>
                                        <p:cTn id="8" dur="1000" fill="hold"/>
                                        <p:tgtEl>
                                          <p:spTgt spid="8199"/>
                                        </p:tgtEl>
                                        <p:attrNameLst>
                                          <p:attrName>ppt_h</p:attrName>
                                        </p:attrNameLst>
                                      </p:cBhvr>
                                      <p:tavLst>
                                        <p:tav tm="0">
                                          <p:val>
                                            <p:fltVal val="0.000000"/>
                                          </p:val>
                                        </p:tav>
                                        <p:tav tm="100000">
                                          <p:val>
                                            <p:strVal val="#ppt_h"/>
                                          </p:val>
                                        </p:tav>
                                      </p:tavLst>
                                    </p:anim>
                                    <p:anim calcmode="lin" valueType="num">
                                      <p:cBhvr>
                                        <p:cTn id="9" dur="1000" fill="hold"/>
                                        <p:tgtEl>
                                          <p:spTgt spid="8199"/>
                                        </p:tgtEl>
                                        <p:attrNameLst>
                                          <p:attrName>style.rotation</p:attrName>
                                        </p:attrNameLst>
                                      </p:cBhvr>
                                      <p:tavLst>
                                        <p:tav tm="0">
                                          <p:val>
                                            <p:fltVal val="90.000000"/>
                                          </p:val>
                                        </p:tav>
                                        <p:tav tm="100000">
                                          <p:val>
                                            <p:fltVal val="0.000000"/>
                                          </p:val>
                                        </p:tav>
                                      </p:tavLst>
                                    </p:anim>
                                    <p:animEffect transition="in" filter="fade">
                                      <p:cBhvr>
                                        <p:cTn id="10" dur="1000"/>
                                        <p:tgtEl>
                                          <p:spTgt spid="819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194">
                                            <p:txEl>
                                              <p:charRg st="0" end="44"/>
                                            </p:txEl>
                                          </p:spTgt>
                                        </p:tgtEl>
                                        <p:attrNameLst>
                                          <p:attrName>style.visibility</p:attrName>
                                        </p:attrNameLst>
                                      </p:cBhvr>
                                      <p:to>
                                        <p:strVal val="visible"/>
                                      </p:to>
                                    </p:set>
                                    <p:animEffect transition="in" filter="dissolve">
                                      <p:cBhvr>
                                        <p:cTn id="15" dur="500"/>
                                        <p:tgtEl>
                                          <p:spTgt spid="8194">
                                            <p:txEl>
                                              <p:charRg st="0" end="4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194">
                                            <p:txEl>
                                              <p:charRg st="44" end="101"/>
                                            </p:txEl>
                                          </p:spTgt>
                                        </p:tgtEl>
                                        <p:attrNameLst>
                                          <p:attrName>style.visibility</p:attrName>
                                        </p:attrNameLst>
                                      </p:cBhvr>
                                      <p:to>
                                        <p:strVal val="visible"/>
                                      </p:to>
                                    </p:set>
                                    <p:animEffect transition="in" filter="dissolve">
                                      <p:cBhvr>
                                        <p:cTn id="20" dur="500"/>
                                        <p:tgtEl>
                                          <p:spTgt spid="8194">
                                            <p:txEl>
                                              <p:charRg st="44" end="10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194">
                                            <p:txEl>
                                              <p:charRg st="101" end="154"/>
                                            </p:txEl>
                                          </p:spTgt>
                                        </p:tgtEl>
                                        <p:attrNameLst>
                                          <p:attrName>style.visibility</p:attrName>
                                        </p:attrNameLst>
                                      </p:cBhvr>
                                      <p:to>
                                        <p:strVal val="visible"/>
                                      </p:to>
                                    </p:set>
                                    <p:animEffect transition="in" filter="dissolve">
                                      <p:cBhvr>
                                        <p:cTn id="25" dur="500"/>
                                        <p:tgtEl>
                                          <p:spTgt spid="8194">
                                            <p:txEl>
                                              <p:charRg st="101" end="1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P spid="81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4"/>
          <p:cNvSpPr/>
          <p:nvPr/>
        </p:nvSpPr>
        <p:spPr>
          <a:xfrm>
            <a:off x="304800" y="68263"/>
            <a:ext cx="8534400" cy="5534025"/>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298450" eaLnBrk="1" hangingPunct="1">
              <a:lnSpc>
                <a:spcPct val="130000"/>
              </a:lnSpc>
              <a:spcBef>
                <a:spcPct val="0"/>
              </a:spcBef>
              <a:buClrTx/>
              <a:buSzTx/>
              <a:buFontTx/>
              <a:buNone/>
            </a:pPr>
            <a:r>
              <a:rPr lang="zh-CN" altLang="en-US" sz="2400" b="1" dirty="0">
                <a:latin typeface="Arial" panose="020B0604020202020204" pitchFamily="34" charset="0"/>
                <a:ea typeface="宋体" panose="02010600030101010101" pitchFamily="2" charset="-122"/>
              </a:rPr>
              <a:t>    纯金属的强度较低，很少直接应用，金属材料绝大多数是以合金的形式出现。</a:t>
            </a:r>
            <a:endParaRPr lang="zh-CN" altLang="en-US" sz="2400" b="1" dirty="0">
              <a:latin typeface="Arial" panose="020B0604020202020204" pitchFamily="34" charset="0"/>
              <a:ea typeface="宋体" panose="02010600030101010101" pitchFamily="2" charset="-122"/>
            </a:endParaRPr>
          </a:p>
          <a:p>
            <a:pPr marL="0" lvl="0" indent="298450" eaLnBrk="1" hangingPunct="1">
              <a:lnSpc>
                <a:spcPct val="130000"/>
              </a:lnSpc>
              <a:spcBef>
                <a:spcPct val="0"/>
              </a:spcBef>
              <a:buClrTx/>
              <a:buSzTx/>
              <a:buFontTx/>
              <a:buNone/>
            </a:pPr>
            <a:r>
              <a:rPr lang="zh-CN" altLang="en-US" sz="2400" b="1" dirty="0">
                <a:latin typeface="Arial" panose="020B0604020202020204" pitchFamily="34" charset="0"/>
                <a:ea typeface="宋体" panose="02010600030101010101" pitchFamily="2" charset="-122"/>
              </a:rPr>
              <a:t>     </a:t>
            </a:r>
            <a:r>
              <a:rPr lang="zh-CN" altLang="en-US" sz="3200" b="1" i="1" dirty="0">
                <a:solidFill>
                  <a:srgbClr val="000099"/>
                </a:solidFill>
                <a:latin typeface="Arial" panose="020B0604020202020204" pitchFamily="34" charset="0"/>
                <a:ea typeface="宋体" panose="02010600030101010101" pitchFamily="2" charset="-122"/>
              </a:rPr>
              <a:t>合金</a:t>
            </a:r>
            <a:r>
              <a:rPr lang="zh-CN" altLang="en-US" sz="2400" b="1" dirty="0">
                <a:latin typeface="Arial" panose="020B0604020202020204" pitchFamily="34" charset="0"/>
                <a:ea typeface="宋体" panose="02010600030101010101" pitchFamily="2" charset="-122"/>
              </a:rPr>
              <a:t>是由一种金属与一种或几种其它金属、非金属熔合在一起生成的具有金属特性的物质。如由铜和锡组成的青铜，铝、铜和镁组成的硬铝等都是合金。</a:t>
            </a:r>
            <a:endParaRPr lang="zh-CN" altLang="en-US" sz="2400" b="1" dirty="0">
              <a:latin typeface="Arial" panose="020B0604020202020204" pitchFamily="34" charset="0"/>
              <a:ea typeface="宋体" panose="02010600030101010101" pitchFamily="2" charset="-122"/>
            </a:endParaRPr>
          </a:p>
          <a:p>
            <a:pPr marL="0" lvl="0" indent="298450" eaLnBrk="1" hangingPunct="1">
              <a:lnSpc>
                <a:spcPct val="130000"/>
              </a:lnSpc>
              <a:spcBef>
                <a:spcPct val="0"/>
              </a:spcBef>
              <a:buClrTx/>
              <a:buSzTx/>
              <a:buFontTx/>
              <a:buNone/>
            </a:pPr>
            <a:r>
              <a:rPr lang="zh-CN" altLang="en-US" sz="2400" b="1" dirty="0">
                <a:latin typeface="Arial" panose="020B0604020202020204" pitchFamily="34" charset="0"/>
                <a:ea typeface="宋体" panose="02010600030101010101" pitchFamily="2" charset="-122"/>
              </a:rPr>
              <a:t>     金属材料一般具有优良的力学性能、可加工性及优异的物理特性。金属材料的性质主要取决于其成分、显微组织和制造工艺，人们可以通过调整和控制成分、组织结构和工艺，制造出具有不同性能的金属材料。在近代的物质文明中，金属材料如钢铁、铝、铜等起了关键作用，至今这类材料仍具有强大的生命力。</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219">
                                            <p:txEl>
                                              <p:charRg st="0" end="39"/>
                                            </p:txEl>
                                          </p:spTgt>
                                        </p:tgtEl>
                                        <p:attrNameLst>
                                          <p:attrName>style.visibility</p:attrName>
                                        </p:attrNameLst>
                                      </p:cBhvr>
                                      <p:to>
                                        <p:strVal val="visible"/>
                                      </p:to>
                                    </p:set>
                                    <p:animEffect transition="in" filter="circle(in)">
                                      <p:cBhvr>
                                        <p:cTn id="7" dur="2000"/>
                                        <p:tgtEl>
                                          <p:spTgt spid="9219">
                                            <p:txEl>
                                              <p:charRg st="0"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219">
                                            <p:txEl>
                                              <p:charRg st="39" end="112"/>
                                            </p:txEl>
                                          </p:spTgt>
                                        </p:tgtEl>
                                        <p:attrNameLst>
                                          <p:attrName>style.visibility</p:attrName>
                                        </p:attrNameLst>
                                      </p:cBhvr>
                                      <p:to>
                                        <p:strVal val="visible"/>
                                      </p:to>
                                    </p:set>
                                    <p:animEffect transition="in" filter="circle(in)">
                                      <p:cBhvr>
                                        <p:cTn id="12" dur="2000"/>
                                        <p:tgtEl>
                                          <p:spTgt spid="9219">
                                            <p:txEl>
                                              <p:charRg st="39" end="1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219">
                                            <p:txEl>
                                              <p:charRg st="112" end="255"/>
                                            </p:txEl>
                                          </p:spTgt>
                                        </p:tgtEl>
                                        <p:attrNameLst>
                                          <p:attrName>style.visibility</p:attrName>
                                        </p:attrNameLst>
                                      </p:cBhvr>
                                      <p:to>
                                        <p:strVal val="visible"/>
                                      </p:to>
                                    </p:set>
                                    <p:animEffect transition="in" filter="circle(in)">
                                      <p:cBhvr>
                                        <p:cTn id="17" dur="2000"/>
                                        <p:tgtEl>
                                          <p:spTgt spid="9219">
                                            <p:txEl>
                                              <p:charRg st="112" end="2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3"/>
          <p:cNvSpPr>
            <a:spLocks noGrp="1"/>
          </p:cNvSpPr>
          <p:nvPr>
            <p:ph type="body" idx="4294967295"/>
          </p:nvPr>
        </p:nvSpPr>
        <p:spPr>
          <a:xfrm>
            <a:off x="381000" y="1143000"/>
            <a:ext cx="8382000" cy="2222500"/>
          </a:xfrm>
          <a:ln/>
        </p:spPr>
        <p:txBody>
          <a:bodyPr vert="horz" wrap="square" lIns="91440" tIns="45720" rIns="91440" bIns="45720" anchor="t" anchorCtr="0"/>
          <a:p>
            <a:pPr marL="0" indent="355600">
              <a:lnSpc>
                <a:spcPct val="135000"/>
              </a:lnSpc>
              <a:buNone/>
            </a:pPr>
            <a:r>
              <a:rPr lang="zh-CN" altLang="en-US" sz="2400" b="1" dirty="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迄今为止，人类已经发现和人工合成的元素共</a:t>
            </a:r>
            <a:r>
              <a:rPr lang="en-US" altLang="zh-CN" sz="2400" b="1" dirty="0">
                <a:latin typeface="Times New Roman" panose="02020603050405020304" pitchFamily="18" charset="0"/>
                <a:ea typeface="宋体" panose="02010600030101010101" pitchFamily="2" charset="-122"/>
              </a:rPr>
              <a:t>117</a:t>
            </a:r>
            <a:r>
              <a:rPr lang="zh-CN" altLang="en-US" sz="2400" b="1" dirty="0">
                <a:latin typeface="Times New Roman" panose="02020603050405020304" pitchFamily="18" charset="0"/>
                <a:ea typeface="宋体" panose="02010600030101010101" pitchFamily="2" charset="-122"/>
              </a:rPr>
              <a:t>种，其中金属元素</a:t>
            </a:r>
            <a:r>
              <a:rPr lang="en-US" altLang="zh-CN" sz="2400" b="1" dirty="0">
                <a:latin typeface="Times New Roman" panose="02020603050405020304" pitchFamily="18" charset="0"/>
                <a:ea typeface="宋体" panose="02010600030101010101" pitchFamily="2" charset="-122"/>
              </a:rPr>
              <a:t>94</a:t>
            </a:r>
            <a:r>
              <a:rPr lang="zh-CN" altLang="en-US" sz="2400" b="1" dirty="0">
                <a:latin typeface="Times New Roman" panose="02020603050405020304" pitchFamily="18" charset="0"/>
                <a:ea typeface="宋体" panose="02010600030101010101" pitchFamily="2" charset="-122"/>
              </a:rPr>
              <a:t>种，占元素总数的</a:t>
            </a:r>
            <a:r>
              <a:rPr lang="en-US" altLang="zh-CN" sz="2400" b="1" dirty="0">
                <a:latin typeface="Times New Roman" panose="02020603050405020304" pitchFamily="18" charset="0"/>
                <a:ea typeface="宋体" panose="02010600030101010101" pitchFamily="2" charset="-122"/>
              </a:rPr>
              <a:t>4/5</a:t>
            </a:r>
            <a:r>
              <a:rPr lang="zh-CN" altLang="en-US" sz="2400" b="1" dirty="0">
                <a:latin typeface="Times New Roman" panose="02020603050405020304" pitchFamily="18" charset="0"/>
                <a:ea typeface="宋体" panose="02010600030101010101" pitchFamily="2" charset="-122"/>
              </a:rPr>
              <a:t>。它们</a:t>
            </a:r>
            <a:r>
              <a:rPr lang="zh-CN" altLang="en-US" sz="2400" b="1" dirty="0">
                <a:ea typeface="宋体" panose="02010600030101010101" pitchFamily="2" charset="-122"/>
              </a:rPr>
              <a:t>位于元素周期表中硼</a:t>
            </a:r>
            <a:r>
              <a:rPr lang="en-US" altLang="zh-CN" sz="2400" b="1" dirty="0">
                <a:ea typeface="宋体" panose="02010600030101010101" pitchFamily="2" charset="-122"/>
              </a:rPr>
              <a:t>-</a:t>
            </a:r>
            <a:r>
              <a:rPr lang="zh-CN" altLang="en-US" sz="2400" b="1" dirty="0">
                <a:ea typeface="宋体" panose="02010600030101010101" pitchFamily="2" charset="-122"/>
              </a:rPr>
              <a:t>硅</a:t>
            </a:r>
            <a:r>
              <a:rPr lang="en-US" altLang="zh-CN" sz="2400" b="1" dirty="0">
                <a:ea typeface="宋体" panose="02010600030101010101" pitchFamily="2" charset="-122"/>
              </a:rPr>
              <a:t>-</a:t>
            </a:r>
            <a:r>
              <a:rPr lang="zh-CN" altLang="en-US" sz="2400" b="1" dirty="0">
                <a:ea typeface="宋体" panose="02010600030101010101" pitchFamily="2" charset="-122"/>
              </a:rPr>
              <a:t>砷</a:t>
            </a:r>
            <a:r>
              <a:rPr lang="en-US" altLang="zh-CN" sz="2400" b="1" dirty="0">
                <a:ea typeface="宋体" panose="02010600030101010101" pitchFamily="2" charset="-122"/>
              </a:rPr>
              <a:t>-</a:t>
            </a:r>
            <a:r>
              <a:rPr lang="zh-CN" altLang="en-US" sz="2400" b="1" dirty="0">
                <a:ea typeface="宋体" panose="02010600030101010101" pitchFamily="2" charset="-122"/>
              </a:rPr>
              <a:t>碲</a:t>
            </a:r>
            <a:r>
              <a:rPr lang="en-US" altLang="zh-CN" sz="2400" b="1" dirty="0">
                <a:ea typeface="宋体" panose="02010600030101010101" pitchFamily="2" charset="-122"/>
              </a:rPr>
              <a:t>-</a:t>
            </a:r>
            <a:r>
              <a:rPr lang="zh-CN" altLang="en-US" sz="2400" b="1" dirty="0">
                <a:ea typeface="宋体" panose="02010600030101010101" pitchFamily="2" charset="-122"/>
              </a:rPr>
              <a:t>砹和铝</a:t>
            </a:r>
            <a:r>
              <a:rPr lang="en-US" altLang="zh-CN" sz="2400" b="1" dirty="0">
                <a:ea typeface="宋体" panose="02010600030101010101" pitchFamily="2" charset="-122"/>
              </a:rPr>
              <a:t>-</a:t>
            </a:r>
            <a:r>
              <a:rPr lang="zh-CN" altLang="en-US" sz="2400" b="1" dirty="0">
                <a:ea typeface="宋体" panose="02010600030101010101" pitchFamily="2" charset="-122"/>
              </a:rPr>
              <a:t>锗</a:t>
            </a:r>
            <a:r>
              <a:rPr lang="en-US" altLang="zh-CN" sz="2400" b="1" dirty="0">
                <a:ea typeface="宋体" panose="02010600030101010101" pitchFamily="2" charset="-122"/>
              </a:rPr>
              <a:t>-</a:t>
            </a:r>
            <a:r>
              <a:rPr lang="zh-CN" altLang="en-US" sz="2400" b="1" dirty="0">
                <a:ea typeface="宋体" panose="02010600030101010101" pitchFamily="2" charset="-122"/>
              </a:rPr>
              <a:t>锑</a:t>
            </a:r>
            <a:r>
              <a:rPr lang="en-US" altLang="zh-CN" sz="2400" b="1" dirty="0">
                <a:ea typeface="宋体" panose="02010600030101010101" pitchFamily="2" charset="-122"/>
              </a:rPr>
              <a:t>-</a:t>
            </a:r>
            <a:r>
              <a:rPr lang="zh-CN" altLang="en-US" sz="2400" b="1" dirty="0">
                <a:ea typeface="宋体" panose="02010600030101010101" pitchFamily="2" charset="-122"/>
              </a:rPr>
              <a:t>钋构成的对角线的左下方。对角线附近的锗、砷、锑、碲等为准金属，即性质介于金属和非金属之间的单质，准金属大多可作半导体。</a:t>
            </a:r>
            <a:endParaRPr lang="zh-CN" altLang="en-US" sz="2400" b="1" dirty="0">
              <a:ea typeface="宋体" panose="02010600030101010101" pitchFamily="2" charset="-122"/>
            </a:endParaRPr>
          </a:p>
        </p:txBody>
      </p:sp>
      <p:sp>
        <p:nvSpPr>
          <p:cNvPr id="10245" name="Text Box 5"/>
          <p:cNvSpPr txBox="1"/>
          <p:nvPr/>
        </p:nvSpPr>
        <p:spPr>
          <a:xfrm>
            <a:off x="0" y="444500"/>
            <a:ext cx="4419600"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6.1.2</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金属</a:t>
            </a:r>
            <a:r>
              <a:rPr lang="zh-CN" altLang="en-US" sz="3200" b="1" dirty="0">
                <a:solidFill>
                  <a:schemeClr val="bg1"/>
                </a:solidFill>
                <a:latin typeface="Times New Roman" panose="02020603050405020304" pitchFamily="18" charset="0"/>
                <a:ea typeface="楷体_GB2312" panose="02010609030101010101" pitchFamily="49" charset="-122"/>
              </a:rPr>
              <a:t>单质</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2" name="Rectangle 3"/>
          <p:cNvSpPr/>
          <p:nvPr/>
        </p:nvSpPr>
        <p:spPr>
          <a:xfrm>
            <a:off x="381000" y="3429000"/>
            <a:ext cx="8382000" cy="17780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355600">
              <a:lnSpc>
                <a:spcPct val="135000"/>
              </a:lnSpc>
              <a:buNone/>
            </a:pPr>
            <a:r>
              <a:rPr lang="zh-CN" altLang="en-US" sz="2400" b="1" dirty="0">
                <a:ea typeface="宋体" panose="02010600030101010101" pitchFamily="2" charset="-122"/>
              </a:rPr>
              <a:t>地球上金属资源极其丰富，除了金、铂等极少数金属以单质形态存在于自然界以外，绝大多数金属在自然界中以化合物的形式存在于各种矿石中，此外，海水中含有大量的钾、钙、钠、镁的氯化物、碳酸盐等。</a:t>
            </a:r>
            <a:endParaRPr lang="zh-CN" altLang="en-US" sz="2400" b="1" dirty="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171">
                                            <p:txEl>
                                              <p:charRg st="0" end="135"/>
                                            </p:txEl>
                                          </p:spTgt>
                                        </p:tgtEl>
                                        <p:attrNameLst>
                                          <p:attrName>style.visibility</p:attrName>
                                        </p:attrNameLst>
                                      </p:cBhvr>
                                      <p:to>
                                        <p:strVal val="visible"/>
                                      </p:to>
                                    </p:set>
                                    <p:animEffect transition="in" filter="slide(fromBottom)">
                                      <p:cBhvr>
                                        <p:cTn id="12" dur="500"/>
                                        <p:tgtEl>
                                          <p:spTgt spid="7171">
                                            <p:txEl>
                                              <p:charRg st="0" end="1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amond(i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10245"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51"/>
          <p:cNvSpPr txBox="1"/>
          <p:nvPr/>
        </p:nvSpPr>
        <p:spPr>
          <a:xfrm>
            <a:off x="0" y="571500"/>
            <a:ext cx="4572000"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6.1.3   </a:t>
            </a:r>
            <a:r>
              <a:rPr lang="zh-CN" altLang="en-US" sz="3200" b="1" dirty="0">
                <a:solidFill>
                  <a:schemeClr val="bg1"/>
                </a:solidFill>
                <a:latin typeface="Times New Roman" panose="02020603050405020304" pitchFamily="18" charset="0"/>
                <a:ea typeface="楷体_GB2312" panose="02010609030101010101" pitchFamily="49" charset="-122"/>
              </a:rPr>
              <a:t>金属合金</a:t>
            </a:r>
            <a:endParaRPr lang="zh-CN" altLang="en-US" sz="1800" dirty="0">
              <a:latin typeface="Arial" panose="020B0604020202020204" pitchFamily="34" charset="0"/>
              <a:ea typeface="宋体" panose="02010600030101010101" pitchFamily="2" charset="-122"/>
            </a:endParaRPr>
          </a:p>
        </p:txBody>
      </p:sp>
      <p:sp>
        <p:nvSpPr>
          <p:cNvPr id="12291" name="Rectangle 52"/>
          <p:cNvSpPr/>
          <p:nvPr/>
        </p:nvSpPr>
        <p:spPr>
          <a:xfrm>
            <a:off x="0" y="1397000"/>
            <a:ext cx="2209800" cy="63023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buClrTx/>
              <a:buSzTx/>
              <a:buFontTx/>
              <a:buNone/>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钢铁</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
        <p:nvSpPr>
          <p:cNvPr id="7171" name="Rectangle 3"/>
          <p:cNvSpPr/>
          <p:nvPr/>
        </p:nvSpPr>
        <p:spPr>
          <a:xfrm>
            <a:off x="381000" y="2095500"/>
            <a:ext cx="8382000" cy="31750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273050" lvl="0" indent="-273050">
              <a:lnSpc>
                <a:spcPct val="135000"/>
              </a:lnSpc>
            </a:pPr>
            <a:r>
              <a:rPr lang="zh-CN" altLang="en-US" sz="2400" b="1" dirty="0">
                <a:ea typeface="宋体" panose="02010600030101010101" pitchFamily="2" charset="-122"/>
              </a:rPr>
              <a:t>      钢铁是</a:t>
            </a:r>
            <a:r>
              <a:rPr lang="en-US" altLang="zh-CN" sz="2400" b="1" dirty="0">
                <a:ea typeface="宋体" panose="02010600030101010101" pitchFamily="2" charset="-122"/>
              </a:rPr>
              <a:t>Fe</a:t>
            </a:r>
            <a:r>
              <a:rPr lang="zh-CN" altLang="en-US" sz="2400" b="1" dirty="0">
                <a:ea typeface="宋体" panose="02010600030101010101" pitchFamily="2" charset="-122"/>
              </a:rPr>
              <a:t>与</a:t>
            </a:r>
            <a:r>
              <a:rPr lang="en-US" altLang="zh-CN" sz="2400" b="1" dirty="0">
                <a:ea typeface="宋体" panose="02010600030101010101" pitchFamily="2" charset="-122"/>
              </a:rPr>
              <a:t>C</a:t>
            </a:r>
            <a:r>
              <a:rPr lang="zh-CN" altLang="en-US" sz="2400" b="1" dirty="0">
                <a:ea typeface="宋体" panose="02010600030101010101" pitchFamily="2" charset="-122"/>
              </a:rPr>
              <a:t>、</a:t>
            </a:r>
            <a:r>
              <a:rPr lang="en-US" altLang="zh-CN" sz="2400" b="1" dirty="0">
                <a:ea typeface="宋体" panose="02010600030101010101" pitchFamily="2" charset="-122"/>
              </a:rPr>
              <a:t>Si</a:t>
            </a:r>
            <a:r>
              <a:rPr lang="zh-CN" altLang="en-US" sz="2400" b="1" dirty="0">
                <a:ea typeface="宋体" panose="02010600030101010101" pitchFamily="2" charset="-122"/>
              </a:rPr>
              <a:t>、</a:t>
            </a:r>
            <a:r>
              <a:rPr lang="en-US" altLang="zh-CN" sz="2400" b="1" dirty="0">
                <a:ea typeface="宋体" panose="02010600030101010101" pitchFamily="2" charset="-122"/>
              </a:rPr>
              <a:t>Mn</a:t>
            </a:r>
            <a:r>
              <a:rPr lang="zh-CN" altLang="en-US" sz="2400" b="1" dirty="0">
                <a:ea typeface="宋体" panose="02010600030101010101" pitchFamily="2" charset="-122"/>
              </a:rPr>
              <a:t>、</a:t>
            </a:r>
            <a:r>
              <a:rPr lang="en-US" altLang="zh-CN" sz="2400" b="1" dirty="0">
                <a:ea typeface="宋体" panose="02010600030101010101" pitchFamily="2" charset="-122"/>
              </a:rPr>
              <a:t>P</a:t>
            </a:r>
            <a:r>
              <a:rPr lang="zh-CN" altLang="en-US" sz="2400" b="1" dirty="0">
                <a:ea typeface="宋体" panose="02010600030101010101" pitchFamily="2" charset="-122"/>
              </a:rPr>
              <a:t>、</a:t>
            </a:r>
            <a:r>
              <a:rPr lang="en-US" altLang="zh-CN" sz="2400" b="1" dirty="0">
                <a:ea typeface="宋体" panose="02010600030101010101" pitchFamily="2" charset="-122"/>
              </a:rPr>
              <a:t>S</a:t>
            </a:r>
            <a:r>
              <a:rPr lang="zh-CN" altLang="en-US" sz="2400" b="1" dirty="0">
                <a:ea typeface="宋体" panose="02010600030101010101" pitchFamily="2" charset="-122"/>
              </a:rPr>
              <a:t>以及少量的其他元素所组成的合金，生产过程如图</a:t>
            </a:r>
            <a:r>
              <a:rPr lang="en-US" altLang="zh-CN" sz="2400" b="1" dirty="0">
                <a:ea typeface="宋体" panose="02010600030101010101" pitchFamily="2" charset="-122"/>
              </a:rPr>
              <a:t>6-1</a:t>
            </a:r>
            <a:r>
              <a:rPr lang="zh-CN" altLang="en-US" sz="2400" b="1" dirty="0">
                <a:ea typeface="宋体" panose="02010600030101010101" pitchFamily="2" charset="-122"/>
              </a:rPr>
              <a:t>所示。其中除</a:t>
            </a:r>
            <a:r>
              <a:rPr lang="en-US" altLang="zh-CN" sz="2400" b="1" dirty="0">
                <a:ea typeface="宋体" panose="02010600030101010101" pitchFamily="2" charset="-122"/>
              </a:rPr>
              <a:t>Fe</a:t>
            </a:r>
            <a:r>
              <a:rPr lang="zh-CN" altLang="en-US" sz="2400" b="1" dirty="0">
                <a:ea typeface="宋体" panose="02010600030101010101" pitchFamily="2" charset="-122"/>
              </a:rPr>
              <a:t>外，</a:t>
            </a:r>
            <a:r>
              <a:rPr lang="en-US" altLang="zh-CN" sz="2400" b="1" dirty="0">
                <a:ea typeface="宋体" panose="02010600030101010101" pitchFamily="2" charset="-122"/>
              </a:rPr>
              <a:t>C</a:t>
            </a:r>
            <a:r>
              <a:rPr lang="zh-CN" altLang="en-US" sz="2400" b="1" dirty="0">
                <a:ea typeface="宋体" panose="02010600030101010101" pitchFamily="2" charset="-122"/>
              </a:rPr>
              <a:t>的含量对钢铁的力学性能起着主要作用，故统称为铁碳合金。它是工程技术中最重要、用量最大的金属材料。按</a:t>
            </a:r>
            <a:r>
              <a:rPr lang="en-US" altLang="zh-CN" sz="2400" b="1" dirty="0">
                <a:ea typeface="宋体" panose="02010600030101010101" pitchFamily="2" charset="-122"/>
              </a:rPr>
              <a:t>C</a:t>
            </a:r>
            <a:r>
              <a:rPr lang="zh-CN" altLang="en-US" sz="2400" b="1" dirty="0">
                <a:ea typeface="宋体" panose="02010600030101010101" pitchFamily="2" charset="-122"/>
              </a:rPr>
              <a:t>含量的不同，铁碳合金分为钢与生铸铁两大类，钢是</a:t>
            </a:r>
            <a:r>
              <a:rPr lang="en-US" altLang="zh-CN" sz="2400" b="1" dirty="0">
                <a:ea typeface="宋体" panose="02010600030101010101" pitchFamily="2" charset="-122"/>
              </a:rPr>
              <a:t>C</a:t>
            </a:r>
            <a:r>
              <a:rPr lang="zh-CN" altLang="en-US" sz="2400" b="1" dirty="0">
                <a:ea typeface="宋体" panose="02010600030101010101" pitchFamily="2" charset="-122"/>
              </a:rPr>
              <a:t>含量小于</a:t>
            </a:r>
            <a:r>
              <a:rPr lang="en-US" altLang="zh-CN" sz="2400" b="1" dirty="0">
                <a:ea typeface="宋体" panose="02010600030101010101" pitchFamily="2" charset="-122"/>
              </a:rPr>
              <a:t>2%</a:t>
            </a:r>
            <a:r>
              <a:rPr lang="zh-CN" altLang="en-US" sz="2400" b="1" dirty="0">
                <a:ea typeface="宋体" panose="02010600030101010101" pitchFamily="2" charset="-122"/>
              </a:rPr>
              <a:t>的铁碳合金。钢的种类很多，根据其化学成分可分为碳素钢和合金钢两类。</a:t>
            </a:r>
            <a:endParaRPr lang="zh-CN" altLang="en-US" sz="2400" b="1" dirty="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plus(in)">
                                      <p:cBhvr>
                                        <p:cTn id="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4" name="Picture 4" descr="Ocr0001"/>
          <p:cNvPicPr>
            <a:picLocks noChangeAspect="1"/>
          </p:cNvPicPr>
          <p:nvPr/>
        </p:nvPicPr>
        <p:blipFill>
          <a:blip r:embed="rId1"/>
          <a:srcRect b="6348"/>
          <a:stretch>
            <a:fillRect/>
          </a:stretch>
        </p:blipFill>
        <p:spPr>
          <a:xfrm>
            <a:off x="1219200" y="889000"/>
            <a:ext cx="6781800" cy="3568700"/>
          </a:xfrm>
          <a:prstGeom prst="rect">
            <a:avLst/>
          </a:prstGeom>
          <a:noFill/>
          <a:ln w="9525">
            <a:noFill/>
          </a:ln>
        </p:spPr>
      </p:pic>
      <p:sp>
        <p:nvSpPr>
          <p:cNvPr id="13315" name="Rectangle 5"/>
          <p:cNvSpPr/>
          <p:nvPr/>
        </p:nvSpPr>
        <p:spPr>
          <a:xfrm>
            <a:off x="3124200" y="4605338"/>
            <a:ext cx="2874963" cy="36830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a:spcBef>
                <a:spcPct val="0"/>
              </a:spcBef>
              <a:buClrTx/>
              <a:buSzTx/>
              <a:buFontTx/>
              <a:buNone/>
            </a:pPr>
            <a:r>
              <a:rPr lang="zh-CN" altLang="en-US" sz="1800" b="1" dirty="0">
                <a:latin typeface="Times New Roman" panose="02020603050405020304" pitchFamily="18" charset="0"/>
                <a:ea typeface="宋体" panose="02010600030101010101" pitchFamily="2" charset="-122"/>
                <a:hlinkClick r:id="rId2" action="ppaction://hlinkfile"/>
              </a:rPr>
              <a:t>图</a:t>
            </a:r>
            <a:r>
              <a:rPr lang="en-US" altLang="zh-CN" sz="1800" b="1" dirty="0">
                <a:latin typeface="Times New Roman" panose="02020603050405020304" pitchFamily="18" charset="0"/>
                <a:ea typeface="宋体" panose="02010600030101010101" pitchFamily="2" charset="-122"/>
                <a:hlinkClick r:id="rId2" action="ppaction://hlinkfile"/>
              </a:rPr>
              <a:t>6-1 </a:t>
            </a:r>
            <a:r>
              <a:rPr lang="zh-CN" altLang="en-US" sz="1800" b="1" dirty="0">
                <a:latin typeface="Times New Roman" panose="02020603050405020304" pitchFamily="18" charset="0"/>
                <a:ea typeface="宋体" panose="02010600030101010101" pitchFamily="2" charset="-122"/>
                <a:hlinkClick r:id="rId2" action="ppaction://hlinkfile"/>
              </a:rPr>
              <a:t>钢铁的生产工艺过程</a:t>
            </a:r>
            <a:endParaRPr lang="zh-CN" altLang="en-US" sz="1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88" name="Rectangle 100"/>
          <p:cNvSpPr/>
          <p:nvPr/>
        </p:nvSpPr>
        <p:spPr>
          <a:xfrm>
            <a:off x="609600" y="419100"/>
            <a:ext cx="8229600" cy="49736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(1) 碳素钢</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碳素钢是最常用的普通钢，冶炼方便、加工容易、价格低廉，应用十分普遍。</a:t>
            </a:r>
            <a:endParaRPr lang="en-US" altLang="zh-CN"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按C含量的不同，</a:t>
            </a:r>
            <a:r>
              <a:rPr lang="en-US" altLang="zh-CN" sz="2400" b="1" dirty="0">
                <a:solidFill>
                  <a:srgbClr val="CC0099"/>
                </a:solidFill>
                <a:latin typeface="Times New Roman" panose="02020603050405020304" pitchFamily="18" charset="0"/>
                <a:ea typeface="宋体" panose="02010600030101010101" pitchFamily="2" charset="-122"/>
              </a:rPr>
              <a:t>碳钢又分为低碳钢、中碳钢和高碳钢。低碳钢 </a:t>
            </a:r>
            <a:r>
              <a:rPr lang="en-US" altLang="zh-CN" sz="2400" b="1" dirty="0">
                <a:latin typeface="Times New Roman" panose="02020603050405020304" pitchFamily="18" charset="0"/>
                <a:ea typeface="宋体" panose="02010600030101010101" pitchFamily="2" charset="-122"/>
              </a:rPr>
              <a:t>(C含量&lt;0.25%)韧性好、强度低、焊接性能优良，主要用于制造薄铁皮、铁丝和铁管等；</a:t>
            </a:r>
            <a:r>
              <a:rPr lang="en-US" altLang="zh-CN" sz="2400" b="1" dirty="0">
                <a:solidFill>
                  <a:srgbClr val="CC0099"/>
                </a:solidFill>
                <a:latin typeface="Times New Roman" panose="02020603050405020304" pitchFamily="18" charset="0"/>
                <a:ea typeface="宋体" panose="02010600030101010101" pitchFamily="2" charset="-122"/>
              </a:rPr>
              <a:t>中碳钢 </a:t>
            </a:r>
            <a:r>
              <a:rPr lang="en-US" altLang="zh-CN" sz="2400" b="1" dirty="0">
                <a:latin typeface="Times New Roman" panose="02020603050405020304" pitchFamily="18" charset="0"/>
                <a:ea typeface="宋体" panose="02010600030101010101" pitchFamily="2" charset="-122"/>
              </a:rPr>
              <a:t>(C含量0.25%~0.6%)强度较高，韧性及加工性能较好，用于制造铁轨、车轮等；</a:t>
            </a:r>
            <a:r>
              <a:rPr lang="en-US" altLang="zh-CN" sz="2400" b="1" dirty="0">
                <a:solidFill>
                  <a:srgbClr val="CC0099"/>
                </a:solidFill>
                <a:latin typeface="Times New Roman" panose="02020603050405020304" pitchFamily="18" charset="0"/>
                <a:ea typeface="宋体" panose="02010600030101010101" pitchFamily="2" charset="-122"/>
              </a:rPr>
              <a:t>高碳钢</a:t>
            </a:r>
            <a:r>
              <a:rPr lang="en-US" altLang="zh-CN" sz="2400" b="1" dirty="0">
                <a:latin typeface="Times New Roman" panose="02020603050405020304" pitchFamily="18" charset="0"/>
                <a:ea typeface="宋体" panose="02010600030101010101" pitchFamily="2" charset="-122"/>
              </a:rPr>
              <a:t> (C含量0.6%~1.7%)硬而脆，经热处理后有较好的弹性，用于制造医疗器具、弹簧和刀具等。总之，碳钢随C含量升高，其硬度增加，韧性下降。</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388">
                                            <p:txEl>
                                              <p:charRg st="0" end="10"/>
                                            </p:txEl>
                                          </p:spTgt>
                                        </p:tgtEl>
                                        <p:attrNameLst>
                                          <p:attrName>style.visibility</p:attrName>
                                        </p:attrNameLst>
                                      </p:cBhvr>
                                      <p:to>
                                        <p:strVal val="visible"/>
                                      </p:to>
                                    </p:set>
                                    <p:animEffect transition="in" filter="dissolve">
                                      <p:cBhvr>
                                        <p:cTn id="7" dur="500"/>
                                        <p:tgtEl>
                                          <p:spTgt spid="12388">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388">
                                            <p:txEl>
                                              <p:charRg st="10" end="54"/>
                                            </p:txEl>
                                          </p:spTgt>
                                        </p:tgtEl>
                                        <p:attrNameLst>
                                          <p:attrName>style.visibility</p:attrName>
                                        </p:attrNameLst>
                                      </p:cBhvr>
                                      <p:to>
                                        <p:strVal val="visible"/>
                                      </p:to>
                                    </p:set>
                                    <p:animEffect transition="in" filter="dissolve">
                                      <p:cBhvr>
                                        <p:cTn id="12" dur="500"/>
                                        <p:tgtEl>
                                          <p:spTgt spid="12388">
                                            <p:txEl>
                                              <p:charRg st="10" end="5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388">
                                            <p:txEl>
                                              <p:charRg st="54" end="253"/>
                                            </p:txEl>
                                          </p:spTgt>
                                        </p:tgtEl>
                                        <p:attrNameLst>
                                          <p:attrName>style.visibility</p:attrName>
                                        </p:attrNameLst>
                                      </p:cBhvr>
                                      <p:to>
                                        <p:strVal val="visible"/>
                                      </p:to>
                                    </p:set>
                                    <p:animEffect transition="in" filter="dissolve">
                                      <p:cBhvr>
                                        <p:cTn id="17" dur="500"/>
                                        <p:tgtEl>
                                          <p:spTgt spid="12388">
                                            <p:txEl>
                                              <p:charRg st="54"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8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p:nvPr/>
        </p:nvSpPr>
        <p:spPr>
          <a:xfrm>
            <a:off x="457200" y="114300"/>
            <a:ext cx="8534400" cy="54530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(2) </a:t>
            </a:r>
            <a:r>
              <a:rPr lang="zh-CN" altLang="en-US" sz="2800" b="1" dirty="0">
                <a:solidFill>
                  <a:srgbClr val="6600CC"/>
                </a:solidFill>
                <a:latin typeface="Times New Roman" panose="02020603050405020304" pitchFamily="18" charset="0"/>
                <a:ea typeface="宋体" panose="02010600030101010101" pitchFamily="2" charset="-122"/>
              </a:rPr>
              <a:t>合金钢</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在钢中加入不同的合金元素，使钢的内部组织和结构发生变化，改善其工作和使用性能，可得到各种合金钢。</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应用最广的合金元素有</a:t>
            </a:r>
            <a:r>
              <a:rPr lang="en-US" altLang="zh-CN" sz="2400" b="1" dirty="0">
                <a:latin typeface="Times New Roman" panose="02020603050405020304" pitchFamily="18" charset="0"/>
                <a:ea typeface="宋体" panose="02010600030101010101" pitchFamily="2" charset="-122"/>
              </a:rPr>
              <a:t>Cr</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Mn</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Mo</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Co</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Si</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Al</a:t>
            </a:r>
            <a:r>
              <a:rPr lang="zh-CN" altLang="en-US" sz="2400" b="1" dirty="0">
                <a:latin typeface="Times New Roman" panose="02020603050405020304" pitchFamily="18" charset="0"/>
                <a:ea typeface="宋体" panose="02010600030101010101" pitchFamily="2" charset="-122"/>
              </a:rPr>
              <a:t>等，它们除能显著提高并改善钢的力学性能外，还能赋予钢许多新的特性。</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合金钢种类繁多，按其他元素含量不同可分为低合金钢 </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合金元素总量</a:t>
            </a:r>
            <a:r>
              <a:rPr lang="en-US" altLang="zh-CN" sz="2400" b="1" dirty="0">
                <a:latin typeface="Times New Roman" panose="02020603050405020304" pitchFamily="18" charset="0"/>
                <a:ea typeface="宋体" panose="02010600030101010101" pitchFamily="2" charset="-122"/>
              </a:rPr>
              <a:t>&lt;4%)</a:t>
            </a:r>
            <a:r>
              <a:rPr lang="zh-CN" altLang="en-US" sz="2400" b="1" dirty="0">
                <a:latin typeface="Times New Roman" panose="02020603050405020304" pitchFamily="18" charset="0"/>
                <a:ea typeface="宋体" panose="02010600030101010101" pitchFamily="2" charset="-122"/>
              </a:rPr>
              <a:t>、中合金钢 </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合金元素总量</a:t>
            </a:r>
            <a:r>
              <a:rPr lang="en-US" altLang="zh-CN" sz="2400" b="1" dirty="0">
                <a:latin typeface="Times New Roman" panose="02020603050405020304" pitchFamily="18" charset="0"/>
                <a:ea typeface="宋体" panose="02010600030101010101" pitchFamily="2" charset="-122"/>
              </a:rPr>
              <a:t>4%~10%)</a:t>
            </a:r>
            <a:r>
              <a:rPr lang="zh-CN" altLang="en-US" sz="2400" b="1" dirty="0">
                <a:latin typeface="Times New Roman" panose="02020603050405020304" pitchFamily="18" charset="0"/>
                <a:ea typeface="宋体" panose="02010600030101010101" pitchFamily="2" charset="-122"/>
              </a:rPr>
              <a:t>和高合金钢 </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合金元素总量</a:t>
            </a:r>
            <a:r>
              <a:rPr lang="en-US" altLang="zh-CN" sz="2400" b="1" dirty="0">
                <a:latin typeface="Times New Roman" panose="02020603050405020304" pitchFamily="18" charset="0"/>
                <a:ea typeface="宋体" panose="02010600030101010101" pitchFamily="2" charset="-122"/>
              </a:rPr>
              <a:t>&gt;10%)</a:t>
            </a:r>
            <a:r>
              <a:rPr lang="zh-CN" altLang="en-US" sz="2400" b="1" dirty="0">
                <a:latin typeface="Times New Roman" panose="02020603050405020304" pitchFamily="18" charset="0"/>
                <a:ea typeface="宋体" panose="02010600030101010101" pitchFamily="2" charset="-122"/>
              </a:rPr>
              <a:t>。还可按用途分类，如不锈钢是一种具有耐腐蚀性的特殊性能钢，已在民用、石油、化工、原子能、海洋开发和一些尖端科学技术领域得到广泛应用。</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4754">
                                            <p:txEl>
                                              <p:charRg st="0" end="8"/>
                                            </p:txEl>
                                          </p:spTgt>
                                        </p:tgtEl>
                                        <p:attrNameLst>
                                          <p:attrName>style.visibility</p:attrName>
                                        </p:attrNameLst>
                                      </p:cBhvr>
                                      <p:to>
                                        <p:strVal val="visible"/>
                                      </p:to>
                                    </p:set>
                                    <p:animEffect transition="in" filter="dissolve">
                                      <p:cBhvr>
                                        <p:cTn id="7" dur="500"/>
                                        <p:tgtEl>
                                          <p:spTgt spid="74754">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4754">
                                            <p:txEl>
                                              <p:charRg st="8" end="64"/>
                                            </p:txEl>
                                          </p:spTgt>
                                        </p:tgtEl>
                                        <p:attrNameLst>
                                          <p:attrName>style.visibility</p:attrName>
                                        </p:attrNameLst>
                                      </p:cBhvr>
                                      <p:to>
                                        <p:strVal val="visible"/>
                                      </p:to>
                                    </p:set>
                                    <p:animEffect transition="in" filter="dissolve">
                                      <p:cBhvr>
                                        <p:cTn id="12" dur="500"/>
                                        <p:tgtEl>
                                          <p:spTgt spid="74754">
                                            <p:txEl>
                                              <p:charRg st="8"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4754">
                                            <p:txEl>
                                              <p:charRg st="64" end="133"/>
                                            </p:txEl>
                                          </p:spTgt>
                                        </p:tgtEl>
                                        <p:attrNameLst>
                                          <p:attrName>style.visibility</p:attrName>
                                        </p:attrNameLst>
                                      </p:cBhvr>
                                      <p:to>
                                        <p:strVal val="visible"/>
                                      </p:to>
                                    </p:set>
                                    <p:animEffect transition="in" filter="dissolve">
                                      <p:cBhvr>
                                        <p:cTn id="17" dur="500"/>
                                        <p:tgtEl>
                                          <p:spTgt spid="74754">
                                            <p:txEl>
                                              <p:charRg st="64" end="13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4754">
                                            <p:txEl>
                                              <p:charRg st="133" end="281"/>
                                            </p:txEl>
                                          </p:spTgt>
                                        </p:tgtEl>
                                        <p:attrNameLst>
                                          <p:attrName>style.visibility</p:attrName>
                                        </p:attrNameLst>
                                      </p:cBhvr>
                                      <p:to>
                                        <p:strVal val="visible"/>
                                      </p:to>
                                    </p:set>
                                    <p:animEffect transition="in" filter="dissolve">
                                      <p:cBhvr>
                                        <p:cTn id="22" dur="500"/>
                                        <p:tgtEl>
                                          <p:spTgt spid="74754">
                                            <p:txEl>
                                              <p:charRg st="133" end="2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p:nvPr/>
        </p:nvSpPr>
        <p:spPr>
          <a:xfrm>
            <a:off x="304800" y="261938"/>
            <a:ext cx="8686800" cy="4973637"/>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(3)  </a:t>
            </a:r>
            <a:r>
              <a:rPr lang="zh-CN" altLang="en-US" sz="2800" b="1" dirty="0">
                <a:solidFill>
                  <a:srgbClr val="6600CC"/>
                </a:solidFill>
                <a:latin typeface="Times New Roman" panose="02020603050405020304" pitchFamily="18" charset="0"/>
                <a:ea typeface="宋体" panose="02010600030101010101" pitchFamily="2" charset="-122"/>
              </a:rPr>
              <a:t>生  铁</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C</a:t>
            </a:r>
            <a:r>
              <a:rPr lang="zh-CN" altLang="en-US" sz="2400" b="1" dirty="0">
                <a:latin typeface="Times New Roman" panose="02020603050405020304" pitchFamily="18" charset="0"/>
                <a:ea typeface="宋体" panose="02010600030101010101" pitchFamily="2" charset="-122"/>
              </a:rPr>
              <a:t>含量</a:t>
            </a:r>
            <a:r>
              <a:rPr lang="en-US" altLang="zh-CN" sz="2400" b="1" dirty="0">
                <a:latin typeface="Times New Roman" panose="02020603050405020304" pitchFamily="18" charset="0"/>
                <a:ea typeface="宋体" panose="02010600030101010101" pitchFamily="2" charset="-122"/>
              </a:rPr>
              <a:t>2%~4.3%</a:t>
            </a:r>
            <a:r>
              <a:rPr lang="zh-CN" altLang="en-US" sz="2400" b="1" dirty="0">
                <a:latin typeface="Times New Roman" panose="02020603050405020304" pitchFamily="18" charset="0"/>
                <a:ea typeface="宋体" panose="02010600030101010101" pitchFamily="2" charset="-122"/>
              </a:rPr>
              <a:t>的铁碳合金称为生铁。生铁硬而脆，但耐压耐磨。</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根据生铁中</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存在的形态不同可分为</a:t>
            </a:r>
            <a:r>
              <a:rPr lang="zh-CN" altLang="en-US" sz="2400" b="1" dirty="0">
                <a:solidFill>
                  <a:srgbClr val="CC0099"/>
                </a:solidFill>
                <a:latin typeface="Times New Roman" panose="02020603050405020304" pitchFamily="18" charset="0"/>
                <a:ea typeface="宋体" panose="02010600030101010101" pitchFamily="2" charset="-122"/>
              </a:rPr>
              <a:t>白口铁、灰口铁、球墨铸铁</a:t>
            </a:r>
            <a:r>
              <a:rPr lang="zh-CN" altLang="en-US" sz="2400" b="1" dirty="0">
                <a:latin typeface="Times New Roman" panose="02020603050405020304" pitchFamily="18" charset="0"/>
                <a:ea typeface="宋体" panose="02010600030101010101" pitchFamily="2" charset="-122"/>
              </a:rPr>
              <a:t>。</a:t>
            </a:r>
            <a:r>
              <a:rPr lang="zh-CN" altLang="en-US" sz="2400" b="1" dirty="0">
                <a:solidFill>
                  <a:srgbClr val="CC0099"/>
                </a:solidFill>
                <a:latin typeface="Times New Roman" panose="02020603050405020304" pitchFamily="18" charset="0"/>
                <a:ea typeface="宋体" panose="02010600030101010101" pitchFamily="2" charset="-122"/>
              </a:rPr>
              <a:t>白口铁</a:t>
            </a:r>
            <a:r>
              <a:rPr lang="zh-CN" altLang="en-US" sz="2400" b="1" dirty="0">
                <a:latin typeface="Times New Roman" panose="02020603050405020304" pitchFamily="18" charset="0"/>
                <a:ea typeface="宋体" panose="02010600030101010101" pitchFamily="2" charset="-122"/>
              </a:rPr>
              <a:t>中</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以</a:t>
            </a:r>
            <a:r>
              <a:rPr lang="en-US" altLang="zh-CN" sz="2400" b="1" dirty="0">
                <a:latin typeface="Times New Roman" panose="02020603050405020304" pitchFamily="18" charset="0"/>
                <a:ea typeface="宋体" panose="02010600030101010101" pitchFamily="2" charset="-122"/>
              </a:rPr>
              <a:t>Fe</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形态分布，断口呈银白色，质硬而脆，不能进行机械加工，是炼钢的原料，故又称为炼钢生铁；</a:t>
            </a:r>
            <a:r>
              <a:rPr lang="zh-CN" altLang="en-US" sz="2400" b="1" dirty="0">
                <a:solidFill>
                  <a:srgbClr val="CC0099"/>
                </a:solidFill>
                <a:latin typeface="Times New Roman" panose="02020603050405020304" pitchFamily="18" charset="0"/>
                <a:ea typeface="宋体" panose="02010600030101010101" pitchFamily="2" charset="-122"/>
              </a:rPr>
              <a:t>灰口铁</a:t>
            </a:r>
            <a:r>
              <a:rPr lang="zh-CN" altLang="en-US" sz="2400" b="1" dirty="0">
                <a:latin typeface="Times New Roman" panose="02020603050405020304" pitchFamily="18" charset="0"/>
                <a:ea typeface="宋体" panose="02010600030101010101" pitchFamily="2" charset="-122"/>
              </a:rPr>
              <a:t>中</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以片状石墨形态分布，断口呈银灰色，易切削、易铸、耐磨；</a:t>
            </a:r>
            <a:r>
              <a:rPr lang="zh-CN" altLang="en-US" sz="2400" b="1" dirty="0">
                <a:solidFill>
                  <a:srgbClr val="CC0099"/>
                </a:solidFill>
                <a:latin typeface="Times New Roman" panose="02020603050405020304" pitchFamily="18" charset="0"/>
                <a:ea typeface="宋体" panose="02010600030101010101" pitchFamily="2" charset="-122"/>
              </a:rPr>
              <a:t>球墨铸铁</a:t>
            </a:r>
            <a:r>
              <a:rPr lang="zh-CN" altLang="en-US" sz="2400" b="1" dirty="0">
                <a:latin typeface="Times New Roman" panose="02020603050405020304" pitchFamily="18" charset="0"/>
                <a:ea typeface="宋体" panose="02010600030101010101" pitchFamily="2" charset="-122"/>
              </a:rPr>
              <a:t>中</a:t>
            </a: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以球状石墨分布，其力学性能、加工性能接近于钢。在铸铁中加入特种合金元素可得到特种铸铁，如加入</a:t>
            </a:r>
            <a:r>
              <a:rPr lang="en-US" altLang="zh-CN" sz="2400" b="1" dirty="0">
                <a:latin typeface="Times New Roman" panose="02020603050405020304" pitchFamily="18" charset="0"/>
                <a:ea typeface="宋体" panose="02010600030101010101" pitchFamily="2" charset="-122"/>
              </a:rPr>
              <a:t>Cr</a:t>
            </a:r>
            <a:r>
              <a:rPr lang="zh-CN" altLang="en-US" sz="2400" b="1" dirty="0">
                <a:latin typeface="Times New Roman" panose="02020603050405020304" pitchFamily="18" charset="0"/>
                <a:ea typeface="宋体" panose="02010600030101010101" pitchFamily="2" charset="-122"/>
              </a:rPr>
              <a:t>后耐磨性可大大提高，在特殊条件下有十分重要的应用。</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778">
                                            <p:txEl>
                                              <p:charRg st="0" end="10"/>
                                            </p:txEl>
                                          </p:spTgt>
                                        </p:tgtEl>
                                        <p:attrNameLst>
                                          <p:attrName>style.visibility</p:attrName>
                                        </p:attrNameLst>
                                      </p:cBhvr>
                                      <p:to>
                                        <p:strVal val="visible"/>
                                      </p:to>
                                    </p:set>
                                    <p:animEffect transition="in" filter="dissolve">
                                      <p:cBhvr>
                                        <p:cTn id="7" dur="500"/>
                                        <p:tgtEl>
                                          <p:spTgt spid="75778">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778">
                                            <p:txEl>
                                              <p:charRg st="10" end="52"/>
                                            </p:txEl>
                                          </p:spTgt>
                                        </p:tgtEl>
                                        <p:attrNameLst>
                                          <p:attrName>style.visibility</p:attrName>
                                        </p:attrNameLst>
                                      </p:cBhvr>
                                      <p:to>
                                        <p:strVal val="visible"/>
                                      </p:to>
                                    </p:set>
                                    <p:animEffect transition="in" filter="dissolve">
                                      <p:cBhvr>
                                        <p:cTn id="12" dur="500"/>
                                        <p:tgtEl>
                                          <p:spTgt spid="75778">
                                            <p:txEl>
                                              <p:charRg st="10"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5778">
                                            <p:txEl>
                                              <p:charRg st="52" end="252"/>
                                            </p:txEl>
                                          </p:spTgt>
                                        </p:tgtEl>
                                        <p:attrNameLst>
                                          <p:attrName>style.visibility</p:attrName>
                                        </p:attrNameLst>
                                      </p:cBhvr>
                                      <p:to>
                                        <p:strVal val="visible"/>
                                      </p:to>
                                    </p:set>
                                    <p:animEffect transition="in" filter="dissolve">
                                      <p:cBhvr>
                                        <p:cTn id="17" dur="500"/>
                                        <p:tgtEl>
                                          <p:spTgt spid="75778">
                                            <p:txEl>
                                              <p:charRg st="52" end="2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p:nvPr/>
        </p:nvSpPr>
        <p:spPr>
          <a:xfrm>
            <a:off x="304800" y="1943100"/>
            <a:ext cx="8305800" cy="35337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(1) </a:t>
            </a:r>
            <a:r>
              <a:rPr lang="zh-CN" altLang="en-US" sz="2800" b="1" dirty="0">
                <a:solidFill>
                  <a:srgbClr val="6600CC"/>
                </a:solidFill>
                <a:latin typeface="Times New Roman" panose="02020603050405020304" pitchFamily="18" charset="0"/>
                <a:ea typeface="宋体" panose="02010600030101010101" pitchFamily="2" charset="-122"/>
              </a:rPr>
              <a:t>铝合金</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铝以其密度小（</a:t>
            </a:r>
            <a:r>
              <a:rPr lang="en-US" altLang="zh-CN" sz="2400" b="1" dirty="0">
                <a:latin typeface="Times New Roman" panose="02020603050405020304" pitchFamily="18" charset="0"/>
                <a:ea typeface="宋体" panose="02010600030101010101" pitchFamily="2" charset="-122"/>
              </a:rPr>
              <a:t>2.702 g•cm</a:t>
            </a:r>
            <a:r>
              <a:rPr lang="en-US" altLang="zh-CN" sz="2400" b="1" baseline="30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）、耐腐蚀、地壳中含量丰富（含量为</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％，居第三位）等特点，一直被作为轻质合金元素使用。一架现代化超音速飞机，铝及铝合金占所使用金属材料的</a:t>
            </a:r>
            <a:r>
              <a:rPr lang="en-US" altLang="zh-CN" sz="2400" b="1" dirty="0">
                <a:latin typeface="Times New Roman" panose="02020603050405020304" pitchFamily="18" charset="0"/>
                <a:ea typeface="宋体" panose="02010600030101010101" pitchFamily="2" charset="-122"/>
              </a:rPr>
              <a:t>70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80</a:t>
            </a:r>
            <a:r>
              <a:rPr lang="zh-CN" altLang="en-US" sz="2400" b="1" dirty="0">
                <a:latin typeface="Times New Roman" panose="02020603050405020304" pitchFamily="18" charset="0"/>
                <a:ea typeface="宋体" panose="02010600030101010101" pitchFamily="2" charset="-122"/>
              </a:rPr>
              <a:t>％；美国阿波罗号宇宙飞船，铝及铝合金占所使用金属材料的</a:t>
            </a:r>
            <a:r>
              <a:rPr lang="en-US" altLang="zh-CN" sz="2400" b="1" dirty="0">
                <a:latin typeface="Times New Roman" panose="02020603050405020304" pitchFamily="18" charset="0"/>
                <a:ea typeface="宋体" panose="02010600030101010101" pitchFamily="2" charset="-122"/>
              </a:rPr>
              <a:t>75</a:t>
            </a:r>
            <a:r>
              <a:rPr lang="zh-CN" altLang="en-US" sz="2400" b="1" dirty="0">
                <a:latin typeface="Times New Roman" panose="02020603050405020304" pitchFamily="18" charset="0"/>
                <a:ea typeface="宋体" panose="02010600030101010101" pitchFamily="2" charset="-122"/>
              </a:rPr>
              <a:t>％；此外铝及铝合金还用于火箭和导弹的制造中；近年来汽车制造业也越来越多地采用这种材料。</a:t>
            </a:r>
            <a:endParaRPr lang="zh-CN" altLang="en-US" sz="2400" b="1" dirty="0">
              <a:latin typeface="Times New Roman" panose="02020603050405020304" pitchFamily="18" charset="0"/>
              <a:ea typeface="宋体" panose="02010600030101010101" pitchFamily="2" charset="-122"/>
            </a:endParaRPr>
          </a:p>
        </p:txBody>
      </p:sp>
      <p:sp>
        <p:nvSpPr>
          <p:cNvPr id="17411" name="Rectangle 3"/>
          <p:cNvSpPr/>
          <p:nvPr/>
        </p:nvSpPr>
        <p:spPr>
          <a:xfrm>
            <a:off x="0" y="190500"/>
            <a:ext cx="3200400" cy="63023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buClrTx/>
              <a:buSzTx/>
              <a:buFontTx/>
              <a:buNone/>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2. </a:t>
            </a:r>
            <a:r>
              <a:rPr lang="zh-CN" altLang="en-US" sz="2800" b="1" dirty="0">
                <a:solidFill>
                  <a:srgbClr val="540C2B"/>
                </a:solidFill>
                <a:latin typeface="楷体_GB2312" panose="02010609030101010101" pitchFamily="49" charset="-122"/>
                <a:ea typeface="楷体_GB2312" panose="02010609030101010101" pitchFamily="49" charset="-122"/>
              </a:rPr>
              <a:t>轻质合金</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
        <p:nvSpPr>
          <p:cNvPr id="17412" name="Rectangle 4"/>
          <p:cNvSpPr/>
          <p:nvPr/>
        </p:nvSpPr>
        <p:spPr>
          <a:xfrm>
            <a:off x="152400" y="892175"/>
            <a:ext cx="8610600" cy="1052513"/>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轻质合金是以轻金属为主要成分的合金材料。常用的轻金属有</a:t>
            </a:r>
            <a:r>
              <a:rPr lang="en-US" altLang="zh-CN" sz="2400" b="1" dirty="0">
                <a:latin typeface="Times New Roman" panose="02020603050405020304" pitchFamily="18" charset="0"/>
                <a:ea typeface="宋体" panose="02010600030101010101" pitchFamily="2" charset="-122"/>
              </a:rPr>
              <a:t>Mg</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Al</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Ti </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Li</a:t>
            </a:r>
            <a:r>
              <a:rPr lang="zh-CN" altLang="en-US" sz="2400" b="1" dirty="0">
                <a:latin typeface="Times New Roman" panose="02020603050405020304" pitchFamily="18" charset="0"/>
                <a:ea typeface="宋体" panose="02010600030101010101" pitchFamily="2" charset="-122"/>
              </a:rPr>
              <a:t>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02">
                                            <p:txEl>
                                              <p:charRg st="0" end="10"/>
                                            </p:txEl>
                                          </p:spTgt>
                                        </p:tgtEl>
                                        <p:attrNameLst>
                                          <p:attrName>style.visibility</p:attrName>
                                        </p:attrNameLst>
                                      </p:cBhvr>
                                      <p:to>
                                        <p:strVal val="visible"/>
                                      </p:to>
                                    </p:set>
                                    <p:animEffect transition="in" filter="dissolve">
                                      <p:cBhvr>
                                        <p:cTn id="7" dur="500"/>
                                        <p:tgtEl>
                                          <p:spTgt spid="7680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6802">
                                            <p:txEl>
                                              <p:charRg st="10" end="184"/>
                                            </p:txEl>
                                          </p:spTgt>
                                        </p:tgtEl>
                                        <p:attrNameLst>
                                          <p:attrName>style.visibility</p:attrName>
                                        </p:attrNameLst>
                                      </p:cBhvr>
                                      <p:to>
                                        <p:strVal val="visible"/>
                                      </p:to>
                                    </p:set>
                                    <p:animEffect transition="in" filter="dissolve">
                                      <p:cBhvr>
                                        <p:cTn id="12" dur="500"/>
                                        <p:tgtEl>
                                          <p:spTgt spid="76802">
                                            <p:txEl>
                                              <p:charRg st="10"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p:nvPr/>
        </p:nvSpPr>
        <p:spPr>
          <a:xfrm>
            <a:off x="762000" y="698500"/>
            <a:ext cx="79248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CC0099"/>
                </a:solidFill>
                <a:latin typeface="Times New Roman" panose="02020603050405020304" pitchFamily="18" charset="0"/>
                <a:ea typeface="宋体" panose="02010600030101010101" pitchFamily="2" charset="-122"/>
              </a:rPr>
              <a:t>纯铝</a:t>
            </a:r>
            <a:r>
              <a:rPr lang="zh-CN" altLang="en-US" sz="2400" b="1" dirty="0">
                <a:latin typeface="Times New Roman" panose="02020603050405020304" pitchFamily="18" charset="0"/>
                <a:ea typeface="宋体" panose="02010600030101010101" pitchFamily="2" charset="-122"/>
              </a:rPr>
              <a:t>质软、不耐磨、强度低，不能做结构材料，做结构材料用的都是</a:t>
            </a:r>
            <a:r>
              <a:rPr lang="zh-CN" altLang="en-US" sz="2400" b="1" dirty="0">
                <a:solidFill>
                  <a:srgbClr val="CC0099"/>
                </a:solidFill>
                <a:latin typeface="Times New Roman" panose="02020603050405020304" pitchFamily="18" charset="0"/>
                <a:ea typeface="宋体" panose="02010600030101010101" pitchFamily="2" charset="-122"/>
              </a:rPr>
              <a:t>铝合金</a:t>
            </a:r>
            <a:r>
              <a:rPr lang="zh-CN" altLang="en-US" sz="2400" b="1" dirty="0">
                <a:latin typeface="Times New Roman" panose="02020603050405020304" pitchFamily="18" charset="0"/>
                <a:ea typeface="宋体" panose="02010600030101010101" pitchFamily="2" charset="-122"/>
              </a:rPr>
              <a:t>，如图</a:t>
            </a:r>
            <a:r>
              <a:rPr lang="en-US" altLang="zh-CN" sz="2400" b="1" dirty="0">
                <a:latin typeface="Times New Roman" panose="02020603050405020304" pitchFamily="18" charset="0"/>
                <a:ea typeface="宋体" panose="02010600030101010101" pitchFamily="2" charset="-122"/>
              </a:rPr>
              <a:t>6-2</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向铝中加入一定量的铜、镁等合金元素制得的铝合金是</a:t>
            </a:r>
            <a:r>
              <a:rPr lang="zh-CN" altLang="en-US" sz="2400" b="1" dirty="0">
                <a:solidFill>
                  <a:srgbClr val="CC0099"/>
                </a:solidFill>
                <a:latin typeface="Times New Roman" panose="02020603050405020304" pitchFamily="18" charset="0"/>
                <a:ea typeface="宋体" panose="02010600030101010101" pitchFamily="2" charset="-122"/>
              </a:rPr>
              <a:t>硬铝</a:t>
            </a:r>
            <a:r>
              <a:rPr lang="zh-CN" altLang="en-US" sz="2400" b="1" dirty="0">
                <a:latin typeface="Times New Roman" panose="02020603050405020304" pitchFamily="18" charset="0"/>
                <a:ea typeface="宋体" panose="02010600030101010101" pitchFamily="2" charset="-122"/>
              </a:rPr>
              <a:t>，它主要用做建筑装饰材料等，如铝合金门窗。</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向硬铝中再加入</a:t>
            </a: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7</a:t>
            </a:r>
            <a:r>
              <a:rPr lang="zh-CN" altLang="en-US" sz="2400" b="1" dirty="0">
                <a:latin typeface="Times New Roman" panose="02020603050405020304" pitchFamily="18" charset="0"/>
                <a:ea typeface="宋体" panose="02010600030101010101" pitchFamily="2" charset="-122"/>
              </a:rPr>
              <a:t>％的锌，可制成铝锌镁铜的</a:t>
            </a:r>
            <a:r>
              <a:rPr lang="zh-CN" altLang="en-US" sz="2400" b="1" dirty="0">
                <a:solidFill>
                  <a:srgbClr val="CC0099"/>
                </a:solidFill>
                <a:latin typeface="Times New Roman" panose="02020603050405020304" pitchFamily="18" charset="0"/>
                <a:ea typeface="宋体" panose="02010600030101010101" pitchFamily="2" charset="-122"/>
              </a:rPr>
              <a:t>超硬铝</a:t>
            </a:r>
            <a:r>
              <a:rPr lang="zh-CN" altLang="en-US" sz="2400" b="1" dirty="0">
                <a:latin typeface="Times New Roman" panose="02020603050405020304" pitchFamily="18" charset="0"/>
                <a:ea typeface="宋体" panose="02010600030101010101" pitchFamily="2" charset="-122"/>
              </a:rPr>
              <a:t>，这种合金强度高、密度小、易成型，是良好的航空轻质结构材料。</a:t>
            </a:r>
            <a:r>
              <a:rPr lang="zh-CN" altLang="en-US" sz="2400" b="1" dirty="0">
                <a:solidFill>
                  <a:srgbClr val="CC0099"/>
                </a:solidFill>
                <a:latin typeface="Times New Roman" panose="02020603050405020304" pitchFamily="18" charset="0"/>
                <a:ea typeface="宋体" panose="02010600030101010101" pitchFamily="2" charset="-122"/>
              </a:rPr>
              <a:t>铝锂合金</a:t>
            </a:r>
            <a:r>
              <a:rPr lang="zh-CN" altLang="en-US" sz="2400" b="1" dirty="0">
                <a:latin typeface="Times New Roman" panose="02020603050405020304" pitchFamily="18" charset="0"/>
                <a:ea typeface="宋体" panose="02010600030101010101" pitchFamily="2" charset="-122"/>
              </a:rPr>
              <a:t>是一类新型轻质合金，向铝合金中加入</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％的锂，可以使铝锂合金的强度提高</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24</a:t>
            </a:r>
            <a:r>
              <a:rPr lang="zh-CN" altLang="en-US" sz="2400" b="1" dirty="0">
                <a:latin typeface="Times New Roman" panose="02020603050405020304" pitchFamily="18" charset="0"/>
                <a:ea typeface="宋体" panose="02010600030101010101" pitchFamily="2" charset="-122"/>
              </a:rPr>
              <a:t>％，刚度提高</a:t>
            </a:r>
            <a:r>
              <a:rPr lang="en-US" altLang="zh-CN" sz="2400" b="1" dirty="0">
                <a:latin typeface="Times New Roman" panose="02020603050405020304" pitchFamily="18" charset="0"/>
                <a:ea typeface="宋体" panose="02010600030101010101" pitchFamily="2" charset="-122"/>
              </a:rPr>
              <a:t>19</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30</a:t>
            </a:r>
            <a:r>
              <a:rPr lang="zh-CN" altLang="en-US" sz="2400" b="1" dirty="0">
                <a:latin typeface="Times New Roman" panose="02020603050405020304" pitchFamily="18" charset="0"/>
                <a:ea typeface="宋体" panose="02010600030101010101" pitchFamily="2" charset="-122"/>
              </a:rPr>
              <a:t>％，而其密度可降低到</a:t>
            </a:r>
            <a:r>
              <a:rPr lang="en-US" altLang="zh-CN" sz="2400" b="1" dirty="0">
                <a:latin typeface="Times New Roman" panose="02020603050405020304" pitchFamily="18" charset="0"/>
                <a:ea typeface="宋体" panose="02010600030101010101" pitchFamily="2" charset="-122"/>
              </a:rPr>
              <a:t>2.5</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2.6g•cm-3</a:t>
            </a:r>
            <a:r>
              <a:rPr lang="zh-CN" altLang="en-US" sz="2400" b="1" dirty="0">
                <a:latin typeface="Times New Roman" panose="02020603050405020304" pitchFamily="18" charset="0"/>
                <a:ea typeface="宋体" panose="02010600030101010101" pitchFamily="2" charset="-122"/>
              </a:rPr>
              <a:t>，因此铝锂合金是一种很有前途的合金。</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26">
                                            <p:txEl>
                                              <p:charRg st="0" end="50"/>
                                            </p:txEl>
                                          </p:spTgt>
                                        </p:tgtEl>
                                        <p:attrNameLst>
                                          <p:attrName>style.visibility</p:attrName>
                                        </p:attrNameLst>
                                      </p:cBhvr>
                                      <p:to>
                                        <p:strVal val="visible"/>
                                      </p:to>
                                    </p:set>
                                    <p:animEffect transition="in" filter="dissolve">
                                      <p:cBhvr>
                                        <p:cTn id="7" dur="500"/>
                                        <p:tgtEl>
                                          <p:spTgt spid="77826">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826">
                                            <p:txEl>
                                              <p:charRg st="50" end="105"/>
                                            </p:txEl>
                                          </p:spTgt>
                                        </p:tgtEl>
                                        <p:attrNameLst>
                                          <p:attrName>style.visibility</p:attrName>
                                        </p:attrNameLst>
                                      </p:cBhvr>
                                      <p:to>
                                        <p:strVal val="visible"/>
                                      </p:to>
                                    </p:set>
                                    <p:animEffect transition="in" filter="dissolve">
                                      <p:cBhvr>
                                        <p:cTn id="12" dur="500"/>
                                        <p:tgtEl>
                                          <p:spTgt spid="77826">
                                            <p:txEl>
                                              <p:charRg st="50" end="10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826">
                                            <p:txEl>
                                              <p:charRg st="105" end="269"/>
                                            </p:txEl>
                                          </p:spTgt>
                                        </p:tgtEl>
                                        <p:attrNameLst>
                                          <p:attrName>style.visibility</p:attrName>
                                        </p:attrNameLst>
                                      </p:cBhvr>
                                      <p:to>
                                        <p:strVal val="visible"/>
                                      </p:to>
                                    </p:set>
                                    <p:animEffect transition="in" filter="dissolve">
                                      <p:cBhvr>
                                        <p:cTn id="17" dur="500"/>
                                        <p:tgtEl>
                                          <p:spTgt spid="77826">
                                            <p:txEl>
                                              <p:charRg st="105" end="2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458" name="Group 4"/>
          <p:cNvGrpSpPr>
            <a:grpSpLocks noChangeAspect="1"/>
          </p:cNvGrpSpPr>
          <p:nvPr/>
        </p:nvGrpSpPr>
        <p:grpSpPr>
          <a:xfrm>
            <a:off x="762000" y="1397000"/>
            <a:ext cx="7315200" cy="2120900"/>
            <a:chOff x="0" y="0"/>
            <a:chExt cx="7388" cy="2640"/>
          </a:xfrm>
        </p:grpSpPr>
        <p:pic>
          <p:nvPicPr>
            <p:cNvPr id="19460" name="Picture 5" descr="http://www.dy.e9898.com/tp/qiye/200910/20091023171646643.jpg"/>
            <p:cNvPicPr>
              <a:picLocks noChangeAspect="1"/>
            </p:cNvPicPr>
            <p:nvPr/>
          </p:nvPicPr>
          <p:blipFill>
            <a:blip r:embed="rId1" r:link="rId2"/>
            <a:stretch>
              <a:fillRect/>
            </a:stretch>
          </p:blipFill>
          <p:spPr>
            <a:xfrm>
              <a:off x="0" y="0"/>
              <a:ext cx="3520" cy="2640"/>
            </a:xfrm>
            <a:prstGeom prst="rect">
              <a:avLst/>
            </a:prstGeom>
            <a:noFill/>
            <a:ln w="9525">
              <a:noFill/>
            </a:ln>
          </p:spPr>
        </p:pic>
        <p:pic>
          <p:nvPicPr>
            <p:cNvPr id="19461" name="Picture 6" descr="http://a3.att.hudong.com/53/14/01300000281293122632147636365.jpg"/>
            <p:cNvPicPr>
              <a:picLocks noChangeAspect="1"/>
            </p:cNvPicPr>
            <p:nvPr/>
          </p:nvPicPr>
          <p:blipFill>
            <a:blip r:embed="rId3" r:link="rId4"/>
            <a:stretch>
              <a:fillRect/>
            </a:stretch>
          </p:blipFill>
          <p:spPr>
            <a:xfrm>
              <a:off x="4790" y="3"/>
              <a:ext cx="2598" cy="2598"/>
            </a:xfrm>
            <a:prstGeom prst="rect">
              <a:avLst/>
            </a:prstGeom>
            <a:noFill/>
            <a:ln w="9525">
              <a:noFill/>
            </a:ln>
          </p:spPr>
        </p:pic>
      </p:grpSp>
      <p:sp>
        <p:nvSpPr>
          <p:cNvPr id="19459" name="Rectangle 7"/>
          <p:cNvSpPr/>
          <p:nvPr/>
        </p:nvSpPr>
        <p:spPr>
          <a:xfrm>
            <a:off x="2057400" y="3968750"/>
            <a:ext cx="5410200" cy="369888"/>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b="1" dirty="0">
                <a:latin typeface="Times New Roman" panose="02020603050405020304" pitchFamily="18" charset="0"/>
                <a:ea typeface="宋体" panose="02010600030101010101" pitchFamily="2" charset="-122"/>
              </a:rPr>
              <a:t>图</a:t>
            </a:r>
            <a:r>
              <a:rPr lang="en-US" altLang="zh-CN" sz="1800" b="1" dirty="0">
                <a:latin typeface="Times New Roman" panose="02020603050405020304" pitchFamily="18" charset="0"/>
                <a:ea typeface="宋体" panose="02010600030101010101" pitchFamily="2" charset="-122"/>
              </a:rPr>
              <a:t>6-2  </a:t>
            </a:r>
            <a:r>
              <a:rPr lang="zh-CN" altLang="en-US" sz="1800" b="1" dirty="0">
                <a:latin typeface="Times New Roman" panose="02020603050405020304" pitchFamily="18" charset="0"/>
                <a:ea typeface="宋体" panose="02010600030101010101" pitchFamily="2" charset="-122"/>
              </a:rPr>
              <a:t>铝合金                                         图</a:t>
            </a:r>
            <a:r>
              <a:rPr lang="en-US" altLang="zh-CN" sz="1800" b="1" dirty="0">
                <a:latin typeface="Times New Roman" panose="02020603050405020304" pitchFamily="18" charset="0"/>
                <a:ea typeface="宋体" panose="02010600030101010101" pitchFamily="2" charset="-122"/>
              </a:rPr>
              <a:t>6-3 </a:t>
            </a:r>
            <a:r>
              <a:rPr lang="zh-CN" altLang="en-US" sz="1800" b="1" dirty="0">
                <a:latin typeface="Times New Roman" panose="02020603050405020304" pitchFamily="18" charset="0"/>
                <a:ea typeface="宋体" panose="02010600030101010101" pitchFamily="2" charset="-122"/>
              </a:rPr>
              <a:t>钛合金</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p:nvPr/>
        </p:nvSpPr>
        <p:spPr>
          <a:xfrm>
            <a:off x="304800" y="190500"/>
            <a:ext cx="8534400" cy="44942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(2) </a:t>
            </a:r>
            <a:r>
              <a:rPr lang="zh-CN" altLang="en-US" sz="2800" b="1" dirty="0">
                <a:solidFill>
                  <a:srgbClr val="6600CC"/>
                </a:solidFill>
                <a:latin typeface="Times New Roman" panose="02020603050405020304" pitchFamily="18" charset="0"/>
                <a:ea typeface="宋体" panose="02010600030101010101" pitchFamily="2" charset="-122"/>
              </a:rPr>
              <a:t>钛合金</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钛合金比铝合金密度大，但强度高，几乎是铝合金的</a:t>
            </a: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倍。经热处理，其强度可与高强度钢媲美，但密度仅为钢的</a:t>
            </a:r>
            <a:r>
              <a:rPr lang="en-US" altLang="zh-CN" sz="2400" b="1" dirty="0">
                <a:latin typeface="Times New Roman" panose="02020603050405020304" pitchFamily="18" charset="0"/>
                <a:ea typeface="宋体" panose="02010600030101010101" pitchFamily="2" charset="-122"/>
              </a:rPr>
              <a:t>57%</a:t>
            </a:r>
            <a:r>
              <a:rPr lang="zh-CN" altLang="en-US" sz="2400" b="1" dirty="0">
                <a:latin typeface="Times New Roman" panose="02020603050405020304" pitchFamily="18" charset="0"/>
                <a:ea typeface="宋体" panose="02010600030101010101" pitchFamily="2" charset="-122"/>
              </a:rPr>
              <a:t>，如用钛合金制造的汽车车身，其重量仅为钢制车身的一半。</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钛和钛合金的抗蚀性很好，高级合金钢在</a:t>
            </a:r>
            <a:r>
              <a:rPr lang="en-US" altLang="zh-CN" sz="2400" b="1" dirty="0">
                <a:latin typeface="Times New Roman" panose="02020603050405020304" pitchFamily="18" charset="0"/>
                <a:ea typeface="宋体" panose="02010600030101010101" pitchFamily="2" charset="-122"/>
              </a:rPr>
              <a:t>HCl-HNO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中一年剥蚀</a:t>
            </a:r>
            <a:r>
              <a:rPr lang="en-US" altLang="zh-CN" sz="2400" b="1" dirty="0">
                <a:latin typeface="Times New Roman" panose="02020603050405020304" pitchFamily="18" charset="0"/>
                <a:ea typeface="宋体" panose="02010600030101010101" pitchFamily="2" charset="-122"/>
              </a:rPr>
              <a:t>10mm</a:t>
            </a:r>
            <a:r>
              <a:rPr lang="zh-CN" altLang="en-US" sz="2400" b="1" dirty="0">
                <a:latin typeface="Times New Roman" panose="02020603050405020304" pitchFamily="18" charset="0"/>
                <a:ea typeface="宋体" panose="02010600030101010101" pitchFamily="2" charset="-122"/>
              </a:rPr>
              <a:t>，而钛合金仅被剥蚀</a:t>
            </a:r>
            <a:r>
              <a:rPr lang="en-US" altLang="zh-CN" sz="2400" b="1" dirty="0">
                <a:latin typeface="Times New Roman" panose="02020603050405020304" pitchFamily="18" charset="0"/>
                <a:ea typeface="宋体" panose="02010600030101010101" pitchFamily="2" charset="-122"/>
              </a:rPr>
              <a:t>0.5mm</a:t>
            </a:r>
            <a:r>
              <a:rPr lang="zh-CN" altLang="en-US" sz="2400" b="1" dirty="0">
                <a:latin typeface="Times New Roman" panose="02020603050405020304" pitchFamily="18" charset="0"/>
                <a:ea typeface="宋体" panose="02010600030101010101" pitchFamily="2" charset="-122"/>
              </a:rPr>
              <a:t>。钢在</a:t>
            </a:r>
            <a:r>
              <a:rPr lang="en-US" altLang="zh-CN" sz="2400" b="1" dirty="0">
                <a:latin typeface="Times New Roman" panose="02020603050405020304" pitchFamily="18" charset="0"/>
                <a:ea typeface="宋体" panose="02010600030101010101" pitchFamily="2" charset="-122"/>
              </a:rPr>
              <a:t>300℃</a:t>
            </a:r>
            <a:r>
              <a:rPr lang="zh-CN" altLang="en-US" sz="2400" b="1" dirty="0">
                <a:latin typeface="Times New Roman" panose="02020603050405020304" pitchFamily="18" charset="0"/>
                <a:ea typeface="宋体" panose="02010600030101010101" pitchFamily="2" charset="-122"/>
              </a:rPr>
              <a:t>失去其特性，而钛合金的工作温度范围可宽达</a:t>
            </a:r>
            <a:r>
              <a:rPr lang="en-US" altLang="zh-CN" sz="2400" b="1" dirty="0">
                <a:latin typeface="Times New Roman" panose="02020603050405020304" pitchFamily="18" charset="0"/>
                <a:ea typeface="宋体" panose="02010600030101010101" pitchFamily="2" charset="-122"/>
              </a:rPr>
              <a:t>-200~500℃</a:t>
            </a:r>
            <a:r>
              <a:rPr lang="zh-CN" altLang="en-US" sz="2400" b="1" dirty="0">
                <a:latin typeface="Times New Roman" panose="02020603050405020304" pitchFamily="18" charset="0"/>
                <a:ea typeface="宋体" panose="02010600030101010101" pitchFamily="2" charset="-122"/>
              </a:rPr>
              <a:t>，在</a:t>
            </a:r>
            <a:r>
              <a:rPr lang="en-US" altLang="zh-CN" sz="2400" b="1" dirty="0">
                <a:latin typeface="Times New Roman" panose="02020603050405020304" pitchFamily="18" charset="0"/>
                <a:ea typeface="宋体" panose="02010600030101010101" pitchFamily="2" charset="-122"/>
              </a:rPr>
              <a:t>-250℃</a:t>
            </a:r>
            <a:r>
              <a:rPr lang="zh-CN" altLang="en-US" sz="2400" b="1" dirty="0">
                <a:latin typeface="Times New Roman" panose="02020603050405020304" pitchFamily="18" charset="0"/>
                <a:ea typeface="宋体" panose="02010600030101010101" pitchFamily="2" charset="-122"/>
              </a:rPr>
              <a:t>仍保持着较高的冲击韧性。被称为“第三金属”的钛及其合金，正在成为十分有发展前途的新型轻金属材料。</a:t>
            </a:r>
            <a:endParaRPr lang="zh-CN" altLang="en-US" sz="2400" b="1" dirty="0">
              <a:latin typeface="Times New Roman" panose="02020603050405020304" pitchFamily="18" charset="0"/>
              <a:ea typeface="宋体" panose="02010600030101010101" pitchFamily="2" charset="-122"/>
            </a:endParaRPr>
          </a:p>
        </p:txBody>
      </p:sp>
      <p:sp>
        <p:nvSpPr>
          <p:cNvPr id="20483" name="矩形 2"/>
          <p:cNvSpPr/>
          <p:nvPr/>
        </p:nvSpPr>
        <p:spPr>
          <a:xfrm>
            <a:off x="533400" y="4684713"/>
            <a:ext cx="1776413" cy="652462"/>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hlinkClick r:id="rId1" action="ppaction://hlinkfile"/>
              </a:rPr>
              <a:t>(3) </a:t>
            </a:r>
            <a:r>
              <a:rPr lang="zh-CN" altLang="en-US" sz="2800" b="1" dirty="0">
                <a:solidFill>
                  <a:srgbClr val="6600CC"/>
                </a:solidFill>
                <a:latin typeface="Times New Roman" panose="02020603050405020304" pitchFamily="18" charset="0"/>
                <a:ea typeface="宋体" panose="02010600030101010101" pitchFamily="2" charset="-122"/>
                <a:hlinkClick r:id="rId1" action="ppaction://hlinkfile"/>
              </a:rPr>
              <a:t>镁合金</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50">
                                            <p:txEl>
                                              <p:charRg st="0" end="8"/>
                                            </p:txEl>
                                          </p:spTgt>
                                        </p:tgtEl>
                                        <p:attrNameLst>
                                          <p:attrName>style.visibility</p:attrName>
                                        </p:attrNameLst>
                                      </p:cBhvr>
                                      <p:to>
                                        <p:strVal val="visible"/>
                                      </p:to>
                                    </p:set>
                                    <p:animEffect transition="in" filter="dissolve">
                                      <p:cBhvr>
                                        <p:cTn id="7" dur="500"/>
                                        <p:tgtEl>
                                          <p:spTgt spid="78850">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50">
                                            <p:txEl>
                                              <p:charRg st="8" end="98"/>
                                            </p:txEl>
                                          </p:spTgt>
                                        </p:tgtEl>
                                        <p:attrNameLst>
                                          <p:attrName>style.visibility</p:attrName>
                                        </p:attrNameLst>
                                      </p:cBhvr>
                                      <p:to>
                                        <p:strVal val="visible"/>
                                      </p:to>
                                    </p:set>
                                    <p:animEffect transition="in" filter="dissolve">
                                      <p:cBhvr>
                                        <p:cTn id="12" dur="500"/>
                                        <p:tgtEl>
                                          <p:spTgt spid="78850">
                                            <p:txEl>
                                              <p:charRg st="8" end="9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50">
                                            <p:txEl>
                                              <p:charRg st="98" end="247"/>
                                            </p:txEl>
                                          </p:spTgt>
                                        </p:tgtEl>
                                        <p:attrNameLst>
                                          <p:attrName>style.visibility</p:attrName>
                                        </p:attrNameLst>
                                      </p:cBhvr>
                                      <p:to>
                                        <p:strVal val="visible"/>
                                      </p:to>
                                    </p:set>
                                    <p:animEffect transition="in" filter="dissolve">
                                      <p:cBhvr>
                                        <p:cTn id="17" dur="500"/>
                                        <p:tgtEl>
                                          <p:spTgt spid="78850">
                                            <p:txEl>
                                              <p:charRg st="98" end="2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p:nvPr/>
        </p:nvSpPr>
        <p:spPr>
          <a:xfrm>
            <a:off x="762000" y="1333500"/>
            <a:ext cx="7924800" cy="4013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(1) </a:t>
            </a:r>
            <a:r>
              <a:rPr lang="zh-CN" altLang="en-US" sz="2800" b="1" dirty="0">
                <a:solidFill>
                  <a:srgbClr val="6600CC"/>
                </a:solidFill>
                <a:latin typeface="Times New Roman" panose="02020603050405020304" pitchFamily="18" charset="0"/>
                <a:ea typeface="宋体" panose="02010600030101010101" pitchFamily="2" charset="-122"/>
              </a:rPr>
              <a:t>硬质合金</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凡是与切削、冲压、伸拉、成型、轧制等有关的工作都要用到硬质合金。硬质合金以其在高温下仍保持良好的热硬性及抗腐蚀性等特点，被广泛用来制作切削金属的刀具、展薄金属的模具以及各种耐磨部件等，如图</a:t>
            </a:r>
            <a:r>
              <a:rPr lang="en-US" altLang="zh-CN" sz="2400" b="1" dirty="0">
                <a:latin typeface="Times New Roman" panose="02020603050405020304" pitchFamily="18" charset="0"/>
                <a:ea typeface="宋体" panose="02010600030101010101" pitchFamily="2" charset="-122"/>
              </a:rPr>
              <a:t>6-4</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大到开山凿岩机械的钻头，小到展薄罐盒的冲头，无一不用到硬质合金，硬质合金对提高工业生产效率有着重要作用。</a:t>
            </a:r>
            <a:endParaRPr lang="zh-CN" altLang="en-US" sz="2400" b="1" dirty="0">
              <a:latin typeface="Times New Roman" panose="02020603050405020304" pitchFamily="18" charset="0"/>
              <a:ea typeface="宋体" panose="02010600030101010101" pitchFamily="2" charset="-122"/>
            </a:endParaRPr>
          </a:p>
        </p:txBody>
      </p:sp>
      <p:sp>
        <p:nvSpPr>
          <p:cNvPr id="21507" name="Rectangle 3"/>
          <p:cNvSpPr/>
          <p:nvPr/>
        </p:nvSpPr>
        <p:spPr>
          <a:xfrm>
            <a:off x="0" y="571500"/>
            <a:ext cx="3200400" cy="63023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buClrTx/>
              <a:buSzTx/>
              <a:buFontTx/>
              <a:buNone/>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3. </a:t>
            </a:r>
            <a:r>
              <a:rPr lang="zh-CN" altLang="en-US" sz="2800" b="1" dirty="0">
                <a:solidFill>
                  <a:srgbClr val="540C2B"/>
                </a:solidFill>
                <a:latin typeface="楷体_GB2312" panose="02010609030101010101" pitchFamily="49" charset="-122"/>
                <a:ea typeface="楷体_GB2312" panose="02010609030101010101" pitchFamily="49" charset="-122"/>
              </a:rPr>
              <a:t>特种合金</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874">
                                            <p:txEl>
                                              <p:charRg st="0" end="9"/>
                                            </p:txEl>
                                          </p:spTgt>
                                        </p:tgtEl>
                                        <p:attrNameLst>
                                          <p:attrName>style.visibility</p:attrName>
                                        </p:attrNameLst>
                                      </p:cBhvr>
                                      <p:to>
                                        <p:strVal val="visible"/>
                                      </p:to>
                                    </p:set>
                                    <p:animEffect transition="in" filter="dissolve">
                                      <p:cBhvr>
                                        <p:cTn id="7" dur="500"/>
                                        <p:tgtEl>
                                          <p:spTgt spid="79874">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9874">
                                            <p:txEl>
                                              <p:charRg st="9" end="119"/>
                                            </p:txEl>
                                          </p:spTgt>
                                        </p:tgtEl>
                                        <p:attrNameLst>
                                          <p:attrName>style.visibility</p:attrName>
                                        </p:attrNameLst>
                                      </p:cBhvr>
                                      <p:to>
                                        <p:strVal val="visible"/>
                                      </p:to>
                                    </p:set>
                                    <p:animEffect transition="in" filter="dissolve">
                                      <p:cBhvr>
                                        <p:cTn id="12" dur="500"/>
                                        <p:tgtEl>
                                          <p:spTgt spid="79874">
                                            <p:txEl>
                                              <p:charRg st="9" end="1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874">
                                            <p:txEl>
                                              <p:charRg st="119" end="178"/>
                                            </p:txEl>
                                          </p:spTgt>
                                        </p:tgtEl>
                                        <p:attrNameLst>
                                          <p:attrName>style.visibility</p:attrName>
                                        </p:attrNameLst>
                                      </p:cBhvr>
                                      <p:to>
                                        <p:strVal val="visible"/>
                                      </p:to>
                                    </p:set>
                                    <p:animEffect transition="in" filter="dissolve">
                                      <p:cBhvr>
                                        <p:cTn id="17" dur="500"/>
                                        <p:tgtEl>
                                          <p:spTgt spid="79874">
                                            <p:txEl>
                                              <p:charRg st="119"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p:nvPr/>
        </p:nvSpPr>
        <p:spPr>
          <a:xfrm>
            <a:off x="304800" y="114300"/>
            <a:ext cx="8534400" cy="54530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(2) </a:t>
            </a:r>
            <a:r>
              <a:rPr lang="zh-CN" altLang="en-US" sz="2800" b="1" dirty="0">
                <a:solidFill>
                  <a:srgbClr val="6600CC"/>
                </a:solidFill>
                <a:latin typeface="Times New Roman" panose="02020603050405020304" pitchFamily="18" charset="0"/>
                <a:ea typeface="宋体" panose="02010600030101010101" pitchFamily="2" charset="-122"/>
              </a:rPr>
              <a:t>高温合金</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高温合金要求材料在高温下保持较高的强度和韧性及优良的抗腐蚀性。高温合金主要是高熔点金属和第</a:t>
            </a:r>
            <a:r>
              <a:rPr lang="en-US" altLang="zh-CN" sz="2400" b="1" dirty="0">
                <a:latin typeface="Times New Roman" panose="02020603050405020304" pitchFamily="18" charset="0"/>
                <a:ea typeface="宋体" panose="02010600030101010101" pitchFamily="2" charset="-122"/>
              </a:rPr>
              <a:t>Ⅷ</a:t>
            </a:r>
            <a:r>
              <a:rPr lang="zh-CN" altLang="en-US" sz="2400" b="1" dirty="0">
                <a:latin typeface="Times New Roman" panose="02020603050405020304" pitchFamily="18" charset="0"/>
                <a:ea typeface="宋体" panose="02010600030101010101" pitchFamily="2" charset="-122"/>
              </a:rPr>
              <a:t>族金属形成的合金，如图</a:t>
            </a:r>
            <a:r>
              <a:rPr lang="en-US" altLang="zh-CN" sz="2400" b="1" dirty="0">
                <a:latin typeface="Times New Roman" panose="02020603050405020304" pitchFamily="18" charset="0"/>
                <a:ea typeface="宋体" panose="02010600030101010101" pitchFamily="2" charset="-122"/>
              </a:rPr>
              <a:t>6-5</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随着对高温合金性能的要求越来越高，铁基高温合金中镍含量越来越高。习惯上，把含镍</a:t>
            </a:r>
            <a:r>
              <a:rPr lang="en-US" altLang="zh-CN" sz="2400" b="1" dirty="0">
                <a:latin typeface="Times New Roman" panose="02020603050405020304" pitchFamily="18" charset="0"/>
                <a:ea typeface="宋体" panose="02010600030101010101" pitchFamily="2" charset="-122"/>
              </a:rPr>
              <a:t>25</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60</a:t>
            </a:r>
            <a:r>
              <a:rPr lang="zh-CN" altLang="en-US" sz="2400" b="1" dirty="0">
                <a:latin typeface="Times New Roman" panose="02020603050405020304" pitchFamily="18" charset="0"/>
                <a:ea typeface="宋体" panose="02010600030101010101" pitchFamily="2" charset="-122"/>
              </a:rPr>
              <a:t>％的铁基高温合金称为</a:t>
            </a:r>
            <a:r>
              <a:rPr lang="zh-CN" altLang="en-US" sz="2400" b="1" dirty="0">
                <a:solidFill>
                  <a:srgbClr val="CC0099"/>
                </a:solidFill>
                <a:latin typeface="Times New Roman" panose="02020603050405020304" pitchFamily="18" charset="0"/>
                <a:ea typeface="宋体" panose="02010600030101010101" pitchFamily="2" charset="-122"/>
              </a:rPr>
              <a:t>铁镍基高温合金</a:t>
            </a:r>
            <a:r>
              <a:rPr lang="zh-CN" altLang="en-US" sz="2400" b="1" dirty="0">
                <a:latin typeface="Times New Roman" panose="02020603050405020304" pitchFamily="18" charset="0"/>
                <a:ea typeface="宋体" panose="02010600030101010101" pitchFamily="2" charset="-122"/>
              </a:rPr>
              <a:t>，而富镍的铁镍基高温合金实际上是镍基合金。如镍铬铁非磁性耐热合金在</a:t>
            </a:r>
            <a:r>
              <a:rPr lang="en-US" altLang="zh-CN" sz="2400" b="1" dirty="0">
                <a:latin typeface="Times New Roman" panose="02020603050405020304" pitchFamily="18" charset="0"/>
                <a:ea typeface="宋体" panose="02010600030101010101" pitchFamily="2" charset="-122"/>
              </a:rPr>
              <a:t>1200℃</a:t>
            </a:r>
            <a:r>
              <a:rPr lang="zh-CN" altLang="en-US" sz="2400" b="1" dirty="0">
                <a:latin typeface="Times New Roman" panose="02020603050405020304" pitchFamily="18" charset="0"/>
                <a:ea typeface="宋体" panose="02010600030101010101" pitchFamily="2" charset="-122"/>
              </a:rPr>
              <a:t>时仍具有高强度，韧性好的特点，可用于航天飞机的部件和原子反应堆的控制棒等；超耐热合金镍钴合金能耐</a:t>
            </a:r>
            <a:r>
              <a:rPr lang="en-US" altLang="zh-CN" sz="2400" b="1" dirty="0">
                <a:latin typeface="Times New Roman" panose="02020603050405020304" pitchFamily="18" charset="0"/>
                <a:ea typeface="宋体" panose="02010600030101010101" pitchFamily="2" charset="-122"/>
              </a:rPr>
              <a:t>1200℃</a:t>
            </a:r>
            <a:r>
              <a:rPr lang="zh-CN" altLang="en-US" sz="2400" b="1" dirty="0">
                <a:latin typeface="Times New Roman" panose="02020603050405020304" pitchFamily="18" charset="0"/>
                <a:ea typeface="宋体" panose="02010600030101010101" pitchFamily="2" charset="-122"/>
              </a:rPr>
              <a:t>高温，用于喷气发动机和燃气轮机的构件。</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898">
                                            <p:txEl>
                                              <p:charRg st="0" end="9"/>
                                            </p:txEl>
                                          </p:spTgt>
                                        </p:tgtEl>
                                        <p:attrNameLst>
                                          <p:attrName>style.visibility</p:attrName>
                                        </p:attrNameLst>
                                      </p:cBhvr>
                                      <p:to>
                                        <p:strVal val="visible"/>
                                      </p:to>
                                    </p:set>
                                    <p:animEffect transition="in" filter="dissolve">
                                      <p:cBhvr>
                                        <p:cTn id="7" dur="500"/>
                                        <p:tgtEl>
                                          <p:spTgt spid="80898">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0898">
                                            <p:txEl>
                                              <p:charRg st="9" end="81"/>
                                            </p:txEl>
                                          </p:spTgt>
                                        </p:tgtEl>
                                        <p:attrNameLst>
                                          <p:attrName>style.visibility</p:attrName>
                                        </p:attrNameLst>
                                      </p:cBhvr>
                                      <p:to>
                                        <p:strVal val="visible"/>
                                      </p:to>
                                    </p:set>
                                    <p:animEffect transition="in" filter="dissolve">
                                      <p:cBhvr>
                                        <p:cTn id="12" dur="500"/>
                                        <p:tgtEl>
                                          <p:spTgt spid="80898">
                                            <p:txEl>
                                              <p:charRg st="9"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898">
                                            <p:txEl>
                                              <p:charRg st="81" end="261"/>
                                            </p:txEl>
                                          </p:spTgt>
                                        </p:tgtEl>
                                        <p:attrNameLst>
                                          <p:attrName>style.visibility</p:attrName>
                                        </p:attrNameLst>
                                      </p:cBhvr>
                                      <p:to>
                                        <p:strVal val="visible"/>
                                      </p:to>
                                    </p:set>
                                    <p:animEffect transition="in" filter="dissolve">
                                      <p:cBhvr>
                                        <p:cTn id="17" dur="500"/>
                                        <p:tgtEl>
                                          <p:spTgt spid="80898">
                                            <p:txEl>
                                              <p:charRg st="81" end="2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4" name="Group 4"/>
          <p:cNvGrpSpPr>
            <a:grpSpLocks noChangeAspect="1"/>
          </p:cNvGrpSpPr>
          <p:nvPr/>
        </p:nvGrpSpPr>
        <p:grpSpPr>
          <a:xfrm>
            <a:off x="381000" y="1524000"/>
            <a:ext cx="8458200" cy="1636713"/>
            <a:chOff x="0" y="0"/>
            <a:chExt cx="9850" cy="2288"/>
          </a:xfrm>
        </p:grpSpPr>
        <p:pic>
          <p:nvPicPr>
            <p:cNvPr id="23556" name="Picture 5" descr="http://image.xoosh.cn/pic/daojian/2007/11/2007111615391035382.jpg"/>
            <p:cNvPicPr>
              <a:picLocks noChangeAspect="1"/>
            </p:cNvPicPr>
            <p:nvPr/>
          </p:nvPicPr>
          <p:blipFill>
            <a:blip r:embed="rId1" r:link="rId2"/>
            <a:srcRect l="154" t="19034" r="1083" b="19499"/>
            <a:stretch>
              <a:fillRect/>
            </a:stretch>
          </p:blipFill>
          <p:spPr>
            <a:xfrm>
              <a:off x="0" y="27"/>
              <a:ext cx="3634" cy="2261"/>
            </a:xfrm>
            <a:prstGeom prst="rect">
              <a:avLst/>
            </a:prstGeom>
            <a:noFill/>
            <a:ln w="9525">
              <a:noFill/>
            </a:ln>
          </p:spPr>
        </p:pic>
        <p:pic>
          <p:nvPicPr>
            <p:cNvPr id="23557" name="Picture 6" descr="http://imgsrc.baidu.com/baike/pic/item/3bc6f7500756de671038c29c.jpg"/>
            <p:cNvPicPr>
              <a:picLocks noChangeAspect="1"/>
            </p:cNvPicPr>
            <p:nvPr/>
          </p:nvPicPr>
          <p:blipFill>
            <a:blip r:embed="rId3" r:link="rId4"/>
            <a:stretch>
              <a:fillRect/>
            </a:stretch>
          </p:blipFill>
          <p:spPr>
            <a:xfrm>
              <a:off x="3822" y="27"/>
              <a:ext cx="2784" cy="2239"/>
            </a:xfrm>
            <a:prstGeom prst="rect">
              <a:avLst/>
            </a:prstGeom>
            <a:noFill/>
            <a:ln w="9525">
              <a:noFill/>
            </a:ln>
          </p:spPr>
        </p:pic>
        <p:pic>
          <p:nvPicPr>
            <p:cNvPr id="23558" name="Picture 7" descr="http://www.qy39.com/00user/uploadpic/product_1/2011-8-4/172336711.jpg"/>
            <p:cNvPicPr>
              <a:picLocks noChangeAspect="1"/>
            </p:cNvPicPr>
            <p:nvPr/>
          </p:nvPicPr>
          <p:blipFill>
            <a:blip r:embed="rId5" r:link="rId6"/>
            <a:stretch>
              <a:fillRect/>
            </a:stretch>
          </p:blipFill>
          <p:spPr>
            <a:xfrm>
              <a:off x="6846" y="0"/>
              <a:ext cx="3004" cy="2222"/>
            </a:xfrm>
            <a:prstGeom prst="rect">
              <a:avLst/>
            </a:prstGeom>
            <a:noFill/>
            <a:ln w="9525">
              <a:noFill/>
            </a:ln>
          </p:spPr>
        </p:pic>
      </p:grpSp>
      <p:sp>
        <p:nvSpPr>
          <p:cNvPr id="23555" name="Rectangle 8"/>
          <p:cNvSpPr/>
          <p:nvPr/>
        </p:nvSpPr>
        <p:spPr>
          <a:xfrm>
            <a:off x="381000" y="3589338"/>
            <a:ext cx="7720013" cy="36830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b="1" dirty="0">
                <a:latin typeface="Times New Roman" panose="02020603050405020304" pitchFamily="18" charset="0"/>
                <a:ea typeface="宋体" panose="02010600030101010101" pitchFamily="2" charset="-122"/>
              </a:rPr>
              <a:t>  图</a:t>
            </a:r>
            <a:r>
              <a:rPr lang="en-US" altLang="zh-CN" sz="1800" b="1" dirty="0">
                <a:latin typeface="Times New Roman" panose="02020603050405020304" pitchFamily="18" charset="0"/>
                <a:ea typeface="宋体" panose="02010600030101010101" pitchFamily="2" charset="-122"/>
              </a:rPr>
              <a:t>6-4 </a:t>
            </a:r>
            <a:r>
              <a:rPr lang="zh-CN" altLang="en-US" sz="1800" b="1" dirty="0">
                <a:latin typeface="Times New Roman" panose="02020603050405020304" pitchFamily="18" charset="0"/>
                <a:ea typeface="宋体" panose="02010600030101010101" pitchFamily="2" charset="-122"/>
              </a:rPr>
              <a:t>硬质合金刀具              图</a:t>
            </a:r>
            <a:r>
              <a:rPr lang="en-US" altLang="zh-CN" sz="1800" b="1" dirty="0">
                <a:latin typeface="Times New Roman" panose="02020603050405020304" pitchFamily="18" charset="0"/>
                <a:ea typeface="宋体" panose="02010600030101010101" pitchFamily="2" charset="-122"/>
              </a:rPr>
              <a:t>6-5 </a:t>
            </a:r>
            <a:r>
              <a:rPr lang="zh-CN" altLang="en-US" sz="1800" b="1" dirty="0">
                <a:latin typeface="Times New Roman" panose="02020603050405020304" pitchFamily="18" charset="0"/>
                <a:ea typeface="宋体" panose="02010600030101010101" pitchFamily="2" charset="-122"/>
              </a:rPr>
              <a:t>高温合金零件           图</a:t>
            </a:r>
            <a:r>
              <a:rPr lang="en-US" altLang="zh-CN" sz="1800" b="1" dirty="0">
                <a:latin typeface="Times New Roman" panose="02020603050405020304" pitchFamily="18" charset="0"/>
                <a:ea typeface="宋体" panose="02010600030101010101" pitchFamily="2" charset="-122"/>
              </a:rPr>
              <a:t>6-6 </a:t>
            </a:r>
            <a:r>
              <a:rPr lang="zh-CN" altLang="en-US" sz="1800" b="1" dirty="0">
                <a:latin typeface="Times New Roman" panose="02020603050405020304" pitchFamily="18" charset="0"/>
                <a:ea typeface="宋体" panose="02010600030101010101" pitchFamily="2" charset="-122"/>
              </a:rPr>
              <a:t>低温合金三通</a:t>
            </a:r>
            <a:endParaRPr lang="zh-CN" altLang="en-US" sz="1800" b="1" dirty="0">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p:nvPr/>
        </p:nvSpPr>
        <p:spPr>
          <a:xfrm>
            <a:off x="609600" y="698500"/>
            <a:ext cx="8382000" cy="44942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(3) </a:t>
            </a:r>
            <a:r>
              <a:rPr lang="zh-CN" altLang="en-US" sz="2800" b="1" dirty="0">
                <a:solidFill>
                  <a:srgbClr val="6600CC"/>
                </a:solidFill>
                <a:latin typeface="Times New Roman" panose="02020603050405020304" pitchFamily="18" charset="0"/>
                <a:ea typeface="宋体" panose="02010600030101010101" pitchFamily="2" charset="-122"/>
              </a:rPr>
              <a:t>低温合金</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指适合在低温下使用而不产生脆性破坏的合金。</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一般情况下，合金在低温下都会变硬，容易产生脆性破坏。著名的泰坦尼克号沉船事件，就是钢（含硫量较高）在低温下发生脆性破坏的事故之一。桥梁、海上石油钻机、工程机械都发生过低温环境下的脆性破坏事故。</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后来人们通过除去钢中有害杂质，在低碳钢中加入少量合金元素如 </a:t>
            </a:r>
            <a:r>
              <a:rPr lang="en-US" altLang="zh-CN" sz="2400" b="1" dirty="0">
                <a:latin typeface="Times New Roman" panose="02020603050405020304" pitchFamily="18" charset="0"/>
                <a:ea typeface="宋体" panose="02010600030101010101" pitchFamily="2" charset="-122"/>
              </a:rPr>
              <a:t>Ni</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Mn</a:t>
            </a:r>
            <a:r>
              <a:rPr lang="zh-CN" altLang="en-US" sz="2400" b="1" dirty="0">
                <a:latin typeface="Times New Roman" panose="02020603050405020304" pitchFamily="18" charset="0"/>
                <a:ea typeface="宋体" panose="02010600030101010101" pitchFamily="2" charset="-122"/>
              </a:rPr>
              <a:t>等，制成合金元素总量不超过 </a:t>
            </a: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％的低温合金钢，有效克服了钢材在低温下发生脆性破坏的问题。</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22">
                                            <p:txEl>
                                              <p:charRg st="0" end="9"/>
                                            </p:txEl>
                                          </p:spTgt>
                                        </p:tgtEl>
                                        <p:attrNameLst>
                                          <p:attrName>style.visibility</p:attrName>
                                        </p:attrNameLst>
                                      </p:cBhvr>
                                      <p:to>
                                        <p:strVal val="visible"/>
                                      </p:to>
                                    </p:set>
                                    <p:animEffect transition="in" filter="dissolve">
                                      <p:cBhvr>
                                        <p:cTn id="7" dur="500"/>
                                        <p:tgtEl>
                                          <p:spTgt spid="81922">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1922">
                                            <p:txEl>
                                              <p:charRg st="9" end="39"/>
                                            </p:txEl>
                                          </p:spTgt>
                                        </p:tgtEl>
                                        <p:attrNameLst>
                                          <p:attrName>style.visibility</p:attrName>
                                        </p:attrNameLst>
                                      </p:cBhvr>
                                      <p:to>
                                        <p:strVal val="visible"/>
                                      </p:to>
                                    </p:set>
                                    <p:animEffect transition="in" filter="dissolve">
                                      <p:cBhvr>
                                        <p:cTn id="12" dur="500"/>
                                        <p:tgtEl>
                                          <p:spTgt spid="81922">
                                            <p:txEl>
                                              <p:charRg st="9"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1922">
                                            <p:txEl>
                                              <p:charRg st="39" end="144"/>
                                            </p:txEl>
                                          </p:spTgt>
                                        </p:tgtEl>
                                        <p:attrNameLst>
                                          <p:attrName>style.visibility</p:attrName>
                                        </p:attrNameLst>
                                      </p:cBhvr>
                                      <p:to>
                                        <p:strVal val="visible"/>
                                      </p:to>
                                    </p:set>
                                    <p:animEffect transition="in" filter="dissolve">
                                      <p:cBhvr>
                                        <p:cTn id="17" dur="500"/>
                                        <p:tgtEl>
                                          <p:spTgt spid="81922">
                                            <p:txEl>
                                              <p:charRg st="39" end="14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1922">
                                            <p:txEl>
                                              <p:charRg st="144" end="233"/>
                                            </p:txEl>
                                          </p:spTgt>
                                        </p:tgtEl>
                                        <p:attrNameLst>
                                          <p:attrName>style.visibility</p:attrName>
                                        </p:attrNameLst>
                                      </p:cBhvr>
                                      <p:to>
                                        <p:strVal val="visible"/>
                                      </p:to>
                                    </p:set>
                                    <p:animEffect transition="in" filter="dissolve">
                                      <p:cBhvr>
                                        <p:cTn id="22" dur="500"/>
                                        <p:tgtEl>
                                          <p:spTgt spid="81922">
                                            <p:txEl>
                                              <p:charRg st="144" end="2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p:nvPr/>
        </p:nvSpPr>
        <p:spPr>
          <a:xfrm>
            <a:off x="609600" y="1016000"/>
            <a:ext cx="79248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目前，人们已研究出可耐不同低温、有不同用途的多种低温材料，如镍钢、奥氏体不锈钢、钛合金、铝合金、铜合金等。这些低温合金可用于制造火箭、导弹和宇宙飞船的液氢、液氧及其他液体燃料储箱及输送管道，还可作制造超导发电机和电动机的构件材料，如图</a:t>
            </a:r>
            <a:r>
              <a:rPr lang="en-US" altLang="zh-CN" sz="2400" b="1" dirty="0">
                <a:latin typeface="Times New Roman" panose="02020603050405020304" pitchFamily="18" charset="0"/>
                <a:ea typeface="宋体" panose="02010600030101010101" pitchFamily="2" charset="-122"/>
              </a:rPr>
              <a:t>6-6</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把铁镍铬不锈钢中镍、铬分别用锰、铝代替，可制成铁锰铝新合金钢，是一种在常温下有良好的加工性，在低温下强度、延伸率、耐冲击值都大的优秀材料。</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6">
                                            <p:txEl>
                                              <p:charRg st="0" end="132"/>
                                            </p:txEl>
                                          </p:spTgt>
                                        </p:tgtEl>
                                        <p:attrNameLst>
                                          <p:attrName>style.visibility</p:attrName>
                                        </p:attrNameLst>
                                      </p:cBhvr>
                                      <p:to>
                                        <p:strVal val="visible"/>
                                      </p:to>
                                    </p:set>
                                    <p:animEffect transition="in" filter="dissolve">
                                      <p:cBhvr>
                                        <p:cTn id="7" dur="500"/>
                                        <p:tgtEl>
                                          <p:spTgt spid="82946">
                                            <p:txEl>
                                              <p:charRg st="0" end="1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6">
                                            <p:txEl>
                                              <p:charRg st="132" end="211"/>
                                            </p:txEl>
                                          </p:spTgt>
                                        </p:tgtEl>
                                        <p:attrNameLst>
                                          <p:attrName>style.visibility</p:attrName>
                                        </p:attrNameLst>
                                      </p:cBhvr>
                                      <p:to>
                                        <p:strVal val="visible"/>
                                      </p:to>
                                    </p:set>
                                    <p:animEffect transition="in" filter="dissolve">
                                      <p:cBhvr>
                                        <p:cTn id="12" dur="500"/>
                                        <p:tgtEl>
                                          <p:spTgt spid="82946">
                                            <p:txEl>
                                              <p:charRg st="132" end="2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p:nvPr/>
        </p:nvSpPr>
        <p:spPr>
          <a:xfrm>
            <a:off x="381000" y="190500"/>
            <a:ext cx="8610600" cy="54530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(4)</a:t>
            </a:r>
            <a:r>
              <a:rPr lang="zh-CN" altLang="en-US" sz="2400" b="1" dirty="0">
                <a:solidFill>
                  <a:srgbClr val="6600CC"/>
                </a:solidFill>
                <a:latin typeface="Times New Roman" panose="02020603050405020304" pitchFamily="18" charset="0"/>
                <a:ea typeface="宋体" panose="02010600030101010101" pitchFamily="2" charset="-122"/>
              </a:rPr>
              <a:t>形状记忆合金 </a:t>
            </a:r>
            <a:r>
              <a:rPr lang="en-US" altLang="zh-CN" sz="2400" b="1" dirty="0">
                <a:solidFill>
                  <a:srgbClr val="6600CC"/>
                </a:solidFill>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二十世纪</a:t>
            </a:r>
            <a:r>
              <a:rPr lang="en-US" altLang="zh-CN" sz="2400" b="1" dirty="0">
                <a:latin typeface="Times New Roman" panose="02020603050405020304" pitchFamily="18" charset="0"/>
                <a:ea typeface="宋体" panose="02010600030101010101" pitchFamily="2" charset="-122"/>
              </a:rPr>
              <a:t>60</a:t>
            </a:r>
            <a:r>
              <a:rPr lang="zh-CN" altLang="en-US" sz="2400" b="1" dirty="0">
                <a:latin typeface="Times New Roman" panose="02020603050405020304" pitchFamily="18" charset="0"/>
                <a:ea typeface="宋体" panose="02010600030101010101" pitchFamily="2" charset="-122"/>
              </a:rPr>
              <a:t>年代初，美国海军武器研究所为获得轻质高强并具优异耐海水腐蚀性的结构材料，对钛镍合金进行了极为秘密的研究，研究中意外发现</a:t>
            </a:r>
            <a:r>
              <a:rPr lang="zh-CN" altLang="en-US" sz="2400" b="1" dirty="0">
                <a:solidFill>
                  <a:srgbClr val="CC0099"/>
                </a:solidFill>
                <a:latin typeface="Times New Roman" panose="02020603050405020304" pitchFamily="18" charset="0"/>
                <a:ea typeface="宋体" panose="02010600030101010101" pitchFamily="2" charset="-122"/>
              </a:rPr>
              <a:t>钛镍</a:t>
            </a:r>
            <a:r>
              <a:rPr lang="zh-CN" altLang="en-US" sz="2400" b="1" dirty="0">
                <a:latin typeface="Times New Roman" panose="02020603050405020304" pitchFamily="18" charset="0"/>
                <a:ea typeface="宋体" panose="02010600030101010101" pitchFamily="2" charset="-122"/>
              </a:rPr>
              <a:t>比例为</a:t>
            </a:r>
            <a:r>
              <a:rPr lang="en-US" altLang="zh-CN" sz="2400" b="1" dirty="0">
                <a:latin typeface="Times New Roman" panose="02020603050405020304" pitchFamily="18" charset="0"/>
                <a:ea typeface="宋体" panose="02010600030101010101" pitchFamily="2" charset="-122"/>
              </a:rPr>
              <a:t>1∶1</a:t>
            </a:r>
            <a:r>
              <a:rPr lang="zh-CN" altLang="en-US" sz="2400" b="1" dirty="0">
                <a:latin typeface="Times New Roman" panose="02020603050405020304" pitchFamily="18" charset="0"/>
                <a:ea typeface="宋体" panose="02010600030101010101" pitchFamily="2" charset="-122"/>
              </a:rPr>
              <a:t>时，弯曲的合金竟能自动恢复原来笔直的形状，也就是说这种合金能够记忆原来的形状，进一步研究表明，外界温度的提高是引起试样恢复原状的原因。</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人们将金属材料在发生塑性变形后（材料受外力作用达到一定程度后，当外力消失后留下的永久变形就是塑性变形），经加热到某一温度之上，能够恢复到变形前形状的现象，叫做</a:t>
            </a:r>
            <a:r>
              <a:rPr lang="zh-CN" altLang="en-US" sz="2400" b="1" dirty="0">
                <a:solidFill>
                  <a:srgbClr val="CC0099"/>
                </a:solidFill>
                <a:latin typeface="Times New Roman" panose="02020603050405020304" pitchFamily="18" charset="0"/>
                <a:ea typeface="宋体" panose="02010600030101010101" pitchFamily="2" charset="-122"/>
              </a:rPr>
              <a:t>形状记忆效应</a:t>
            </a:r>
            <a:r>
              <a:rPr lang="zh-CN" altLang="en-US" sz="2400" b="1" dirty="0">
                <a:latin typeface="Times New Roman" panose="02020603050405020304" pitchFamily="18" charset="0"/>
                <a:ea typeface="宋体" panose="02010600030101010101" pitchFamily="2" charset="-122"/>
              </a:rPr>
              <a:t>，将具有形状记忆效应的合金称为</a:t>
            </a:r>
            <a:r>
              <a:rPr lang="zh-CN" altLang="en-US" sz="2400" b="1" dirty="0">
                <a:solidFill>
                  <a:srgbClr val="CC0099"/>
                </a:solidFill>
                <a:latin typeface="Times New Roman" panose="02020603050405020304" pitchFamily="18" charset="0"/>
                <a:ea typeface="宋体" panose="02010600030101010101" pitchFamily="2" charset="-122"/>
              </a:rPr>
              <a:t>形状记忆合金</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970">
                                            <p:txEl>
                                              <p:charRg st="0" end="20"/>
                                            </p:txEl>
                                          </p:spTgt>
                                        </p:tgtEl>
                                        <p:attrNameLst>
                                          <p:attrName>style.visibility</p:attrName>
                                        </p:attrNameLst>
                                      </p:cBhvr>
                                      <p:to>
                                        <p:strVal val="visible"/>
                                      </p:to>
                                    </p:set>
                                    <p:animEffect transition="in" filter="dissolve">
                                      <p:cBhvr>
                                        <p:cTn id="7" dur="500"/>
                                        <p:tgtEl>
                                          <p:spTgt spid="83970">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970">
                                            <p:txEl>
                                              <p:charRg st="20" end="169"/>
                                            </p:txEl>
                                          </p:spTgt>
                                        </p:tgtEl>
                                        <p:attrNameLst>
                                          <p:attrName>style.visibility</p:attrName>
                                        </p:attrNameLst>
                                      </p:cBhvr>
                                      <p:to>
                                        <p:strVal val="visible"/>
                                      </p:to>
                                    </p:set>
                                    <p:animEffect transition="in" filter="dissolve">
                                      <p:cBhvr>
                                        <p:cTn id="12" dur="500"/>
                                        <p:tgtEl>
                                          <p:spTgt spid="83970">
                                            <p:txEl>
                                              <p:charRg st="20" end="1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3970">
                                            <p:txEl>
                                              <p:charRg st="169" end="284"/>
                                            </p:txEl>
                                          </p:spTgt>
                                        </p:tgtEl>
                                        <p:attrNameLst>
                                          <p:attrName>style.visibility</p:attrName>
                                        </p:attrNameLst>
                                      </p:cBhvr>
                                      <p:to>
                                        <p:strVal val="visible"/>
                                      </p:to>
                                    </p:set>
                                    <p:animEffect transition="in" filter="dissolve">
                                      <p:cBhvr>
                                        <p:cTn id="17" dur="500"/>
                                        <p:tgtEl>
                                          <p:spTgt spid="83970">
                                            <p:txEl>
                                              <p:charRg st="169" end="2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p:nvPr/>
        </p:nvSpPr>
        <p:spPr>
          <a:xfrm>
            <a:off x="762000" y="952500"/>
            <a:ext cx="79248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记忆合金在某一温度下能发生形状变化的特性，是由于合金中存在着一对可逆变的晶体结构的原因。</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晶体结构类型的改变导致了材料形状的改变。</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目前已知的记忆合金有</a:t>
            </a:r>
            <a:r>
              <a:rPr lang="en-US" altLang="zh-CN" sz="2400" b="1" dirty="0">
                <a:latin typeface="Times New Roman" panose="02020603050405020304" pitchFamily="18" charset="0"/>
                <a:ea typeface="宋体" panose="02010600030101010101" pitchFamily="2" charset="-122"/>
              </a:rPr>
              <a:t>Cu-Zn-X(X=Si</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Sn</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Ga)</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Cu-A1-Ni</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Cu-Au-Zn</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Ni-Ti(A1)</a:t>
            </a: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Fe-Pt(Pd)</a:t>
            </a:r>
            <a:r>
              <a:rPr lang="zh-CN" altLang="en-US" sz="2400" b="1" dirty="0">
                <a:latin typeface="Times New Roman" panose="02020603050405020304" pitchFamily="18" charset="0"/>
                <a:ea typeface="宋体" panose="02010600030101010101" pitchFamily="2" charset="-122"/>
              </a:rPr>
              <a:t>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形状记忆合金由于具有特殊的形状记忆功能，如图</a:t>
            </a:r>
            <a:r>
              <a:rPr lang="en-US" altLang="zh-CN" sz="2400" b="1" dirty="0">
                <a:latin typeface="Times New Roman" panose="02020603050405020304" pitchFamily="18" charset="0"/>
                <a:ea typeface="宋体" panose="02010600030101010101" pitchFamily="2" charset="-122"/>
              </a:rPr>
              <a:t>6-7</a:t>
            </a:r>
            <a:r>
              <a:rPr lang="zh-CN" altLang="en-US" sz="2400" b="1" dirty="0">
                <a:latin typeface="Times New Roman" panose="02020603050405020304" pitchFamily="18" charset="0"/>
                <a:ea typeface="宋体" panose="02010600030101010101" pitchFamily="2" charset="-122"/>
              </a:rPr>
              <a:t>所示，被广泛地用于卫星、航空、生物工程、医药、能源和自动化等方面。</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4">
                                            <p:txEl>
                                              <p:charRg st="0" end="53"/>
                                            </p:txEl>
                                          </p:spTgt>
                                        </p:tgtEl>
                                        <p:attrNameLst>
                                          <p:attrName>style.visibility</p:attrName>
                                        </p:attrNameLst>
                                      </p:cBhvr>
                                      <p:to>
                                        <p:strVal val="visible"/>
                                      </p:to>
                                    </p:set>
                                    <p:animEffect transition="in" filter="dissolve">
                                      <p:cBhvr>
                                        <p:cTn id="7" dur="500"/>
                                        <p:tgtEl>
                                          <p:spTgt spid="84994">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994">
                                            <p:txEl>
                                              <p:charRg st="53" end="81"/>
                                            </p:txEl>
                                          </p:spTgt>
                                        </p:tgtEl>
                                        <p:attrNameLst>
                                          <p:attrName>style.visibility</p:attrName>
                                        </p:attrNameLst>
                                      </p:cBhvr>
                                      <p:to>
                                        <p:strVal val="visible"/>
                                      </p:to>
                                    </p:set>
                                    <p:animEffect transition="in" filter="dissolve">
                                      <p:cBhvr>
                                        <p:cTn id="12" dur="500"/>
                                        <p:tgtEl>
                                          <p:spTgt spid="84994">
                                            <p:txEl>
                                              <p:charRg st="53"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994">
                                            <p:txEl>
                                              <p:charRg st="81" end="162"/>
                                            </p:txEl>
                                          </p:spTgt>
                                        </p:tgtEl>
                                        <p:attrNameLst>
                                          <p:attrName>style.visibility</p:attrName>
                                        </p:attrNameLst>
                                      </p:cBhvr>
                                      <p:to>
                                        <p:strVal val="visible"/>
                                      </p:to>
                                    </p:set>
                                    <p:animEffect transition="in" filter="dissolve">
                                      <p:cBhvr>
                                        <p:cTn id="17" dur="500"/>
                                        <p:tgtEl>
                                          <p:spTgt spid="84994">
                                            <p:txEl>
                                              <p:charRg st="81" end="1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4994">
                                            <p:txEl>
                                              <p:charRg st="162" end="228"/>
                                            </p:txEl>
                                          </p:spTgt>
                                        </p:tgtEl>
                                        <p:attrNameLst>
                                          <p:attrName>style.visibility</p:attrName>
                                        </p:attrNameLst>
                                      </p:cBhvr>
                                      <p:to>
                                        <p:strVal val="visible"/>
                                      </p:to>
                                    </p:set>
                                    <p:animEffect transition="in" filter="dissolve">
                                      <p:cBhvr>
                                        <p:cTn id="22" dur="500"/>
                                        <p:tgtEl>
                                          <p:spTgt spid="84994">
                                            <p:txEl>
                                              <p:charRg st="162"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4" descr="http://www.crter.org/eWebEditor/uploadfile/20090926083244906.bmp"/>
          <p:cNvPicPr>
            <a:picLocks noChangeAspect="1"/>
          </p:cNvPicPr>
          <p:nvPr/>
        </p:nvPicPr>
        <p:blipFill>
          <a:blip r:embed="rId1" r:link="rId2"/>
          <a:srcRect l="453" t="14400" r="757" b="16000"/>
          <a:stretch>
            <a:fillRect/>
          </a:stretch>
        </p:blipFill>
        <p:spPr>
          <a:xfrm>
            <a:off x="1371600" y="1587500"/>
            <a:ext cx="3200400" cy="2133600"/>
          </a:xfrm>
          <a:prstGeom prst="rect">
            <a:avLst/>
          </a:prstGeom>
          <a:noFill/>
          <a:ln w="9525">
            <a:noFill/>
          </a:ln>
        </p:spPr>
      </p:pic>
      <p:pic>
        <p:nvPicPr>
          <p:cNvPr id="28675" name="Picture 5" descr="http://img.zj123.com/upload/uploadFile/2011/07/27/20110727174704957750.jpg"/>
          <p:cNvPicPr>
            <a:picLocks noChangeAspect="1"/>
          </p:cNvPicPr>
          <p:nvPr/>
        </p:nvPicPr>
        <p:blipFill>
          <a:blip r:embed="rId3" r:link="rId4"/>
          <a:stretch>
            <a:fillRect/>
          </a:stretch>
        </p:blipFill>
        <p:spPr>
          <a:xfrm>
            <a:off x="5257800" y="1460500"/>
            <a:ext cx="2667000" cy="2212975"/>
          </a:xfrm>
          <a:prstGeom prst="rect">
            <a:avLst/>
          </a:prstGeom>
          <a:noFill/>
          <a:ln w="9525">
            <a:noFill/>
          </a:ln>
        </p:spPr>
      </p:pic>
      <p:sp>
        <p:nvSpPr>
          <p:cNvPr id="28676" name="Rectangle 6"/>
          <p:cNvSpPr/>
          <p:nvPr/>
        </p:nvSpPr>
        <p:spPr>
          <a:xfrm>
            <a:off x="304800" y="4095750"/>
            <a:ext cx="8047038" cy="369888"/>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b="1" dirty="0">
                <a:latin typeface="Times New Roman" panose="02020603050405020304" pitchFamily="18" charset="0"/>
                <a:ea typeface="宋体" panose="02010600030101010101" pitchFamily="2" charset="-122"/>
              </a:rPr>
              <a:t>                    图</a:t>
            </a:r>
            <a:r>
              <a:rPr lang="en-US" altLang="zh-CN" sz="1800" b="1" dirty="0">
                <a:latin typeface="Times New Roman" panose="02020603050405020304" pitchFamily="18" charset="0"/>
                <a:ea typeface="宋体" panose="02010600030101010101" pitchFamily="2" charset="-122"/>
              </a:rPr>
              <a:t>6-7 </a:t>
            </a:r>
            <a:r>
              <a:rPr lang="zh-CN" altLang="en-US" sz="1800" b="1" dirty="0">
                <a:latin typeface="Times New Roman" panose="02020603050405020304" pitchFamily="18" charset="0"/>
                <a:ea typeface="宋体" panose="02010600030101010101" pitchFamily="2" charset="-122"/>
              </a:rPr>
              <a:t>月球上使用的形状记忆合金天线                  图</a:t>
            </a:r>
            <a:r>
              <a:rPr lang="en-US" altLang="zh-CN" sz="1800" b="1" dirty="0">
                <a:latin typeface="Times New Roman" panose="02020603050405020304" pitchFamily="18" charset="0"/>
                <a:ea typeface="宋体" panose="02010600030101010101" pitchFamily="2" charset="-122"/>
              </a:rPr>
              <a:t>6-8  </a:t>
            </a:r>
            <a:r>
              <a:rPr lang="zh-CN" altLang="en-US" sz="1800" b="1" dirty="0">
                <a:latin typeface="Times New Roman" panose="02020603050405020304" pitchFamily="18" charset="0"/>
                <a:ea typeface="宋体" panose="02010600030101010101" pitchFamily="2" charset="-122"/>
              </a:rPr>
              <a:t>储氢合金粉</a:t>
            </a:r>
            <a:endParaRPr lang="zh-CN" altLang="en-US" sz="1800" b="1" dirty="0">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p:nvPr/>
        </p:nvSpPr>
        <p:spPr>
          <a:xfrm>
            <a:off x="762000" y="825500"/>
            <a:ext cx="7924800" cy="40132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(5)   </a:t>
            </a:r>
            <a:r>
              <a:rPr lang="zh-CN" altLang="en-US" sz="2400" b="1" dirty="0">
                <a:solidFill>
                  <a:srgbClr val="6600CC"/>
                </a:solidFill>
                <a:latin typeface="Times New Roman" panose="02020603050405020304" pitchFamily="18" charset="0"/>
                <a:ea typeface="宋体" panose="02010600030101010101" pitchFamily="2" charset="-122"/>
              </a:rPr>
              <a:t>储氢合金 </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储氢合金是利用金属或合金与氢形成氢化物而把氢储存起来，储氢合金粉如图</a:t>
            </a:r>
            <a:r>
              <a:rPr lang="en-US" altLang="zh-CN" sz="2400" b="1" dirty="0">
                <a:latin typeface="Times New Roman" panose="02020603050405020304" pitchFamily="18" charset="0"/>
                <a:ea typeface="宋体" panose="02010600030101010101" pitchFamily="2" charset="-122"/>
              </a:rPr>
              <a:t>6-8</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在储氢合金中，一个金属原子能与</a:t>
            </a:r>
            <a:r>
              <a:rPr lang="en-US" altLang="zh-CN" sz="2400" b="1" dirty="0">
                <a:latin typeface="Times New Roman" panose="02020603050405020304" pitchFamily="18" charset="0"/>
                <a:ea typeface="宋体" panose="02010600030101010101" pitchFamily="2" charset="-122"/>
              </a:rPr>
              <a:t>2-3</a:t>
            </a:r>
            <a:r>
              <a:rPr lang="zh-CN" altLang="en-US" sz="2400" b="1" dirty="0">
                <a:latin typeface="Times New Roman" panose="02020603050405020304" pitchFamily="18" charset="0"/>
                <a:ea typeface="宋体" panose="02010600030101010101" pitchFamily="2" charset="-122"/>
              </a:rPr>
              <a:t>个甚至更多的氢原子结合生成金属氢化物。并不是每种储氢合金都能作为储氢材料，具有实用价值的储氢材料要求储氢量大，金属氢化物既容易形成，稍加热又容易分解，室温下吸、放氢的速度快，使用寿命长和成本低。</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018">
                                            <p:txEl>
                                              <p:charRg st="0" end="12"/>
                                            </p:txEl>
                                          </p:spTgt>
                                        </p:tgtEl>
                                        <p:attrNameLst>
                                          <p:attrName>style.visibility</p:attrName>
                                        </p:attrNameLst>
                                      </p:cBhvr>
                                      <p:to>
                                        <p:strVal val="visible"/>
                                      </p:to>
                                    </p:set>
                                    <p:animEffect transition="in" filter="dissolve">
                                      <p:cBhvr>
                                        <p:cTn id="7" dur="500"/>
                                        <p:tgtEl>
                                          <p:spTgt spid="86018">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018">
                                            <p:txEl>
                                              <p:charRg st="12" end="61"/>
                                            </p:txEl>
                                          </p:spTgt>
                                        </p:tgtEl>
                                        <p:attrNameLst>
                                          <p:attrName>style.visibility</p:attrName>
                                        </p:attrNameLst>
                                      </p:cBhvr>
                                      <p:to>
                                        <p:strVal val="visible"/>
                                      </p:to>
                                    </p:set>
                                    <p:animEffect transition="in" filter="dissolve">
                                      <p:cBhvr>
                                        <p:cTn id="12" dur="500"/>
                                        <p:tgtEl>
                                          <p:spTgt spid="86018">
                                            <p:txEl>
                                              <p:charRg st="12" end="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018">
                                            <p:txEl>
                                              <p:charRg st="61" end="184"/>
                                            </p:txEl>
                                          </p:spTgt>
                                        </p:tgtEl>
                                        <p:attrNameLst>
                                          <p:attrName>style.visibility</p:attrName>
                                        </p:attrNameLst>
                                      </p:cBhvr>
                                      <p:to>
                                        <p:strVal val="visible"/>
                                      </p:to>
                                    </p:set>
                                    <p:animEffect transition="in" filter="dissolve">
                                      <p:cBhvr>
                                        <p:cTn id="17" dur="500"/>
                                        <p:tgtEl>
                                          <p:spTgt spid="86018">
                                            <p:txEl>
                                              <p:charRg st="61"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p:nvPr/>
        </p:nvSpPr>
        <p:spPr>
          <a:xfrm>
            <a:off x="609600" y="698500"/>
            <a:ext cx="79248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1968年美国首先发现Mg-Ni合金具有储氢功能，但要在250℃时才放出氢。随后相继发现Ti-Fe，Ti-Mn，La-Ni等合金也有储氢功能，La-Ni储氢合金在常温、0.152MPa下就可放出氢，可用于汽车、燃料电池等。</a:t>
            </a:r>
            <a:endParaRPr lang="en-US" altLang="zh-CN"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目前正在研究开发的储氢合金主要有三大系列：镁系储氢合金，如MgH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等；稀土系储氢合金，如LaNi</a:t>
            </a:r>
            <a:r>
              <a:rPr lang="en-US" altLang="zh-CN" sz="2400" b="1" baseline="-25000" dirty="0">
                <a:latin typeface="Times New Roman" panose="02020603050405020304" pitchFamily="18" charset="0"/>
                <a:ea typeface="宋体" panose="02010600030101010101" pitchFamily="2" charset="-122"/>
              </a:rPr>
              <a:t>5</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6</a:t>
            </a:r>
            <a:r>
              <a:rPr lang="en-US" altLang="zh-CN" sz="2400" b="1" dirty="0">
                <a:latin typeface="Times New Roman" panose="02020603050405020304" pitchFamily="18" charset="0"/>
                <a:ea typeface="宋体" panose="02010600030101010101" pitchFamily="2" charset="-122"/>
              </a:rPr>
              <a:t>；钛系储氢合金如TiH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储氢合金用于氢动力汽车的试验已获得成功。储氢合金不仅可用于氢的储存和运输，它在氢的回收、分离、净化及对氢的同位素的吸收和分离等方面也有具体的应用。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0114">
                                            <p:txEl>
                                              <p:charRg st="0" end="120"/>
                                            </p:txEl>
                                          </p:spTgt>
                                        </p:tgtEl>
                                        <p:attrNameLst>
                                          <p:attrName>style.visibility</p:attrName>
                                        </p:attrNameLst>
                                      </p:cBhvr>
                                      <p:to>
                                        <p:strVal val="visible"/>
                                      </p:to>
                                    </p:set>
                                    <p:animEffect transition="in" filter="dissolve">
                                      <p:cBhvr>
                                        <p:cTn id="7" dur="500"/>
                                        <p:tgtEl>
                                          <p:spTgt spid="90114">
                                            <p:txEl>
                                              <p:charRg st="0" end="1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0114">
                                            <p:txEl>
                                              <p:charRg st="120" end="192"/>
                                            </p:txEl>
                                          </p:spTgt>
                                        </p:tgtEl>
                                        <p:attrNameLst>
                                          <p:attrName>style.visibility</p:attrName>
                                        </p:attrNameLst>
                                      </p:cBhvr>
                                      <p:to>
                                        <p:strVal val="visible"/>
                                      </p:to>
                                    </p:set>
                                    <p:animEffect transition="in" filter="dissolve">
                                      <p:cBhvr>
                                        <p:cTn id="12" dur="500"/>
                                        <p:tgtEl>
                                          <p:spTgt spid="90114">
                                            <p:txEl>
                                              <p:charRg st="120" end="19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0114">
                                            <p:txEl>
                                              <p:charRg st="192" end="273"/>
                                            </p:txEl>
                                          </p:spTgt>
                                        </p:tgtEl>
                                        <p:attrNameLst>
                                          <p:attrName>style.visibility</p:attrName>
                                        </p:attrNameLst>
                                      </p:cBhvr>
                                      <p:to>
                                        <p:strVal val="visible"/>
                                      </p:to>
                                    </p:set>
                                    <p:animEffect transition="in" filter="dissolve">
                                      <p:cBhvr>
                                        <p:cTn id="17" dur="500"/>
                                        <p:tgtEl>
                                          <p:spTgt spid="90114">
                                            <p:txEl>
                                              <p:charRg st="192" end="2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矩形 3"/>
          <p:cNvSpPr/>
          <p:nvPr/>
        </p:nvSpPr>
        <p:spPr>
          <a:xfrm>
            <a:off x="533400" y="1968500"/>
            <a:ext cx="8305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无机非金属材料又称陶瓷材料，指由各种金属元素与非金属元素形成的无机化合物和非金属单质材料。其历史悠久，近几十年来，得到飞速发展，主要包括传统无机非金属材料</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又称传统陶瓷</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和新型无机非金属材料 </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又称精细陶瓷材料</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前者指以硅酸盐化合物为主要成分制成的材料，主要是烧结体，如玻璃、水泥、耐火材料、建筑材料和搪瓷等；</a:t>
            </a:r>
            <a:endParaRPr lang="zh-CN" altLang="en-US" sz="2400" b="1" dirty="0">
              <a:latin typeface="Arial" panose="020B0604020202020204" pitchFamily="34" charset="0"/>
              <a:ea typeface="宋体" panose="02010600030101010101" pitchFamily="2" charset="-122"/>
            </a:endParaRPr>
          </a:p>
        </p:txBody>
      </p:sp>
      <p:grpSp>
        <p:nvGrpSpPr>
          <p:cNvPr id="31747" name="Group 7"/>
          <p:cNvGrpSpPr/>
          <p:nvPr/>
        </p:nvGrpSpPr>
        <p:grpSpPr>
          <a:xfrm>
            <a:off x="1371600" y="190500"/>
            <a:ext cx="6705600" cy="663575"/>
            <a:chOff x="912" y="144"/>
            <a:chExt cx="4224" cy="502"/>
          </a:xfrm>
        </p:grpSpPr>
        <p:sp>
          <p:nvSpPr>
            <p:cNvPr id="31749" name="AutoShape 4"/>
            <p:cNvSpPr/>
            <p:nvPr/>
          </p:nvSpPr>
          <p:spPr>
            <a:xfrm>
              <a:off x="912" y="144"/>
              <a:ext cx="4224" cy="502"/>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31750" name="Rectangle 5"/>
            <p:cNvSpPr/>
            <p:nvPr/>
          </p:nvSpPr>
          <p:spPr>
            <a:xfrm>
              <a:off x="1824" y="192"/>
              <a:ext cx="2688"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6.2  </a:t>
              </a:r>
              <a:r>
                <a:rPr lang="zh-CN" altLang="en-US" sz="3200" b="1" dirty="0">
                  <a:solidFill>
                    <a:schemeClr val="bg1"/>
                  </a:solidFill>
                  <a:latin typeface="Times New Roman" panose="02020603050405020304" pitchFamily="18" charset="0"/>
                  <a:ea typeface="楷体_GB2312" panose="02010609030101010101" pitchFamily="49" charset="-122"/>
                </a:rPr>
                <a:t>无机非金属材料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
        <p:nvSpPr>
          <p:cNvPr id="103430" name="Text Box 6"/>
          <p:cNvSpPr txBox="1"/>
          <p:nvPr/>
        </p:nvSpPr>
        <p:spPr>
          <a:xfrm>
            <a:off x="0" y="1079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6.2.1</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无机非金属材料概述</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03430"/>
                                        </p:tgtEl>
                                        <p:attrNameLst>
                                          <p:attrName>style.visibility</p:attrName>
                                        </p:attrNameLst>
                                      </p:cBhvr>
                                      <p:to>
                                        <p:strVal val="visible"/>
                                      </p:to>
                                    </p:set>
                                    <p:anim calcmode="lin" valueType="num">
                                      <p:cBhvr>
                                        <p:cTn id="7" dur="1000" fill="hold"/>
                                        <p:tgtEl>
                                          <p:spTgt spid="103430"/>
                                        </p:tgtEl>
                                        <p:attrNameLst>
                                          <p:attrName>ppt_w</p:attrName>
                                        </p:attrNameLst>
                                      </p:cBhvr>
                                      <p:tavLst>
                                        <p:tav tm="0">
                                          <p:val>
                                            <p:fltVal val="0.000000"/>
                                          </p:val>
                                        </p:tav>
                                        <p:tav tm="100000">
                                          <p:val>
                                            <p:strVal val="#ppt_w"/>
                                          </p:val>
                                        </p:tav>
                                      </p:tavLst>
                                    </p:anim>
                                    <p:anim calcmode="lin" valueType="num">
                                      <p:cBhvr>
                                        <p:cTn id="8" dur="1000" fill="hold"/>
                                        <p:tgtEl>
                                          <p:spTgt spid="103430"/>
                                        </p:tgtEl>
                                        <p:attrNameLst>
                                          <p:attrName>ppt_h</p:attrName>
                                        </p:attrNameLst>
                                      </p:cBhvr>
                                      <p:tavLst>
                                        <p:tav tm="0">
                                          <p:val>
                                            <p:fltVal val="0.000000"/>
                                          </p:val>
                                        </p:tav>
                                        <p:tav tm="100000">
                                          <p:val>
                                            <p:strVal val="#ppt_h"/>
                                          </p:val>
                                        </p:tav>
                                      </p:tavLst>
                                    </p:anim>
                                    <p:anim calcmode="lin" valueType="num">
                                      <p:cBhvr>
                                        <p:cTn id="9" dur="1000" fill="hold"/>
                                        <p:tgtEl>
                                          <p:spTgt spid="103430"/>
                                        </p:tgtEl>
                                        <p:attrNameLst>
                                          <p:attrName>style.rotation</p:attrName>
                                        </p:attrNameLst>
                                      </p:cBhvr>
                                      <p:tavLst>
                                        <p:tav tm="0">
                                          <p:val>
                                            <p:fltVal val="90.000000"/>
                                          </p:val>
                                        </p:tav>
                                        <p:tav tm="100000">
                                          <p:val>
                                            <p:fltVal val="0.000000"/>
                                          </p:val>
                                        </p:tav>
                                      </p:tavLst>
                                    </p:anim>
                                    <p:animEffect transition="in" filter="fade">
                                      <p:cBhvr>
                                        <p:cTn id="10" dur="1000"/>
                                        <p:tgtEl>
                                          <p:spTgt spid="10343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3426">
                                            <p:txEl>
                                              <p:charRg st="0" end="114"/>
                                            </p:txEl>
                                          </p:spTgt>
                                        </p:tgtEl>
                                        <p:attrNameLst>
                                          <p:attrName>style.visibility</p:attrName>
                                        </p:attrNameLst>
                                      </p:cBhvr>
                                      <p:to>
                                        <p:strVal val="visible"/>
                                      </p:to>
                                    </p:set>
                                    <p:animEffect transition="in" filter="dissolve">
                                      <p:cBhvr>
                                        <p:cTn id="15" dur="500"/>
                                        <p:tgtEl>
                                          <p:spTgt spid="103426">
                                            <p:txEl>
                                              <p:charRg st="0" end="11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3426">
                                            <p:txEl>
                                              <p:charRg st="114" end="170"/>
                                            </p:txEl>
                                          </p:spTgt>
                                        </p:tgtEl>
                                        <p:attrNameLst>
                                          <p:attrName>style.visibility</p:attrName>
                                        </p:attrNameLst>
                                      </p:cBhvr>
                                      <p:to>
                                        <p:strVal val="visible"/>
                                      </p:to>
                                    </p:set>
                                    <p:animEffect transition="in" filter="dissolve">
                                      <p:cBhvr>
                                        <p:cTn id="20" dur="500"/>
                                        <p:tgtEl>
                                          <p:spTgt spid="103426">
                                            <p:txEl>
                                              <p:charRg st="114" end="1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uild="p"/>
      <p:bldP spid="1034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p:nvPr/>
        </p:nvSpPr>
        <p:spPr>
          <a:xfrm>
            <a:off x="228600" y="114300"/>
            <a:ext cx="8686800" cy="53736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后者的成分除了氧化物外，还有氮化物、碳化物、硅化物和硼化物等，可以是烧结体，还可以做成单晶、纤维、薄膜和粉末，具有强度高、耐高温、耐腐蚀，并有声、电、光、热、磁等多方面的特殊功能，是新一代的特种陶瓷，用途极为广泛，遍及现代科技的各个领域。</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目前已知的非金属元素除氢外都集中在周期表的右上方，以硼、硅、砷、碲、砹为界。非金属元素虽然仅占元素总数的</a:t>
            </a:r>
            <a:r>
              <a:rPr lang="en-US" altLang="zh-CN" sz="2400" b="1" dirty="0">
                <a:latin typeface="Times New Roman" panose="02020603050405020304" pitchFamily="18" charset="0"/>
                <a:ea typeface="宋体" panose="02010600030101010101" pitchFamily="2" charset="-122"/>
              </a:rPr>
              <a:t>1/5</a:t>
            </a:r>
            <a:r>
              <a:rPr lang="zh-CN" altLang="en-US" sz="2400" b="1" dirty="0">
                <a:latin typeface="Times New Roman" panose="02020603050405020304" pitchFamily="18" charset="0"/>
                <a:ea typeface="宋体" panose="02010600030101010101" pitchFamily="2" charset="-122"/>
              </a:rPr>
              <a:t>，但在自然界的总量却超过了</a:t>
            </a:r>
            <a:r>
              <a:rPr lang="en-US" altLang="zh-CN" sz="2400" b="1" dirty="0">
                <a:latin typeface="Times New Roman" panose="02020603050405020304" pitchFamily="18" charset="0"/>
                <a:ea typeface="宋体" panose="02010600030101010101" pitchFamily="2" charset="-122"/>
              </a:rPr>
              <a:t>3/4</a:t>
            </a:r>
            <a:r>
              <a:rPr lang="zh-CN" altLang="en-US" sz="2400" b="1" dirty="0">
                <a:latin typeface="Times New Roman" panose="02020603050405020304" pitchFamily="18" charset="0"/>
                <a:ea typeface="宋体" panose="02010600030101010101" pitchFamily="2" charset="-122"/>
              </a:rPr>
              <a:t>。空气和水完全由非金属组成，地壳中氧的质量分数为</a:t>
            </a:r>
            <a:r>
              <a:rPr lang="en-US" altLang="zh-CN" sz="2400" b="1" dirty="0">
                <a:latin typeface="Times New Roman" panose="02020603050405020304" pitchFamily="18" charset="0"/>
                <a:ea typeface="宋体" panose="02010600030101010101" pitchFamily="2" charset="-122"/>
              </a:rPr>
              <a:t>49.13%</a:t>
            </a:r>
            <a:r>
              <a:rPr lang="zh-CN" altLang="en-US" sz="2400" b="1" dirty="0">
                <a:latin typeface="Times New Roman" panose="02020603050405020304" pitchFamily="18" charset="0"/>
                <a:ea typeface="宋体" panose="02010600030101010101" pitchFamily="2" charset="-122"/>
              </a:rPr>
              <a:t>，硅的质量分数为</a:t>
            </a:r>
            <a:r>
              <a:rPr lang="en-US" altLang="zh-CN" sz="2400" b="1" dirty="0">
                <a:latin typeface="Times New Roman" panose="02020603050405020304" pitchFamily="18" charset="0"/>
                <a:ea typeface="宋体" panose="02010600030101010101" pitchFamily="2" charset="-122"/>
              </a:rPr>
              <a:t>29.50%</a:t>
            </a:r>
            <a:r>
              <a:rPr lang="zh-CN" altLang="en-US" sz="2400" b="1" dirty="0">
                <a:latin typeface="Times New Roman" panose="02020603050405020304" pitchFamily="18" charset="0"/>
                <a:ea typeface="宋体" panose="02010600030101010101" pitchFamily="2" charset="-122"/>
              </a:rPr>
              <a:t>。因此，非金属化学的涵盖面很大，非金属材料的应用范围也很广。</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138">
                                            <p:txEl>
                                              <p:charRg st="0" end="127"/>
                                            </p:txEl>
                                          </p:spTgt>
                                        </p:tgtEl>
                                        <p:attrNameLst>
                                          <p:attrName>style.visibility</p:attrName>
                                        </p:attrNameLst>
                                      </p:cBhvr>
                                      <p:to>
                                        <p:strVal val="visible"/>
                                      </p:to>
                                    </p:set>
                                    <p:animEffect transition="in" filter="dissolve">
                                      <p:cBhvr>
                                        <p:cTn id="7" dur="500"/>
                                        <p:tgtEl>
                                          <p:spTgt spid="91138">
                                            <p:txEl>
                                              <p:charRg st="0" end="1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1138">
                                            <p:txEl>
                                              <p:charRg st="127" end="281"/>
                                            </p:txEl>
                                          </p:spTgt>
                                        </p:tgtEl>
                                        <p:attrNameLst>
                                          <p:attrName>style.visibility</p:attrName>
                                        </p:attrNameLst>
                                      </p:cBhvr>
                                      <p:to>
                                        <p:strVal val="visible"/>
                                      </p:to>
                                    </p:set>
                                    <p:animEffect transition="in" filter="dissolve">
                                      <p:cBhvr>
                                        <p:cTn id="12" dur="500"/>
                                        <p:tgtEl>
                                          <p:spTgt spid="91138">
                                            <p:txEl>
                                              <p:charRg st="127" end="2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p:nvPr/>
        </p:nvSpPr>
        <p:spPr>
          <a:xfrm>
            <a:off x="152400" y="1143000"/>
            <a:ext cx="89916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传统无机非金属材料的主要成分是硅酸盐，自然界存在天然的硅酸盐，如岩石、砂子、黏土、土壤等，还有许多矿物如云母、滑石、石棉、高岭石、石英等，都属于天然硅酸盐。此外，还有大量人造硅酸盐，如玻璃、水泥、砖瓦、水玻璃等。硅酸盐制品性质稳定、熔点较高、难溶于水，有很广泛的用途。</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硅酸盐制品一般是以粘土</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高岭石</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、石英和长石为原料。粘土的化学组成为</a:t>
            </a:r>
            <a:r>
              <a:rPr lang="en-US" altLang="zh-CN" sz="2400" b="1" dirty="0">
                <a:latin typeface="Times New Roman" panose="02020603050405020304" pitchFamily="18" charset="0"/>
                <a:ea typeface="宋体" panose="02010600030101010101" pitchFamily="2" charset="-122"/>
              </a:rPr>
              <a:t>Al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 2SiO</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•2H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、石英为</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。这些原料中都含有</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，因此在硅酸盐晶体结构中，硅与氧的结合是最重要的。</a:t>
            </a:r>
            <a:endParaRPr lang="zh-CN" altLang="en-US" sz="2400" b="1" dirty="0">
              <a:latin typeface="Times New Roman" panose="02020603050405020304" pitchFamily="18" charset="0"/>
              <a:ea typeface="宋体" panose="02010600030101010101" pitchFamily="2" charset="-122"/>
            </a:endParaRPr>
          </a:p>
        </p:txBody>
      </p:sp>
      <p:sp>
        <p:nvSpPr>
          <p:cNvPr id="92163" name="Text Box 3"/>
          <p:cNvSpPr txBox="1"/>
          <p:nvPr/>
        </p:nvSpPr>
        <p:spPr>
          <a:xfrm>
            <a:off x="0" y="508000"/>
            <a:ext cx="5638800"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   6.2.2</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传统无机非金属材料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92163"/>
                                        </p:tgtEl>
                                        <p:attrNameLst>
                                          <p:attrName>style.visibility</p:attrName>
                                        </p:attrNameLst>
                                      </p:cBhvr>
                                      <p:to>
                                        <p:strVal val="visible"/>
                                      </p:to>
                                    </p:set>
                                    <p:anim calcmode="lin" valueType="num">
                                      <p:cBhvr>
                                        <p:cTn id="7" dur="1000" fill="hold"/>
                                        <p:tgtEl>
                                          <p:spTgt spid="92163"/>
                                        </p:tgtEl>
                                        <p:attrNameLst>
                                          <p:attrName>ppt_w</p:attrName>
                                        </p:attrNameLst>
                                      </p:cBhvr>
                                      <p:tavLst>
                                        <p:tav tm="0">
                                          <p:val>
                                            <p:fltVal val="0.000000"/>
                                          </p:val>
                                        </p:tav>
                                        <p:tav tm="100000">
                                          <p:val>
                                            <p:strVal val="#ppt_w"/>
                                          </p:val>
                                        </p:tav>
                                      </p:tavLst>
                                    </p:anim>
                                    <p:anim calcmode="lin" valueType="num">
                                      <p:cBhvr>
                                        <p:cTn id="8" dur="1000" fill="hold"/>
                                        <p:tgtEl>
                                          <p:spTgt spid="92163"/>
                                        </p:tgtEl>
                                        <p:attrNameLst>
                                          <p:attrName>ppt_h</p:attrName>
                                        </p:attrNameLst>
                                      </p:cBhvr>
                                      <p:tavLst>
                                        <p:tav tm="0">
                                          <p:val>
                                            <p:fltVal val="0.000000"/>
                                          </p:val>
                                        </p:tav>
                                        <p:tav tm="100000">
                                          <p:val>
                                            <p:strVal val="#ppt_h"/>
                                          </p:val>
                                        </p:tav>
                                      </p:tavLst>
                                    </p:anim>
                                    <p:anim calcmode="lin" valueType="num">
                                      <p:cBhvr>
                                        <p:cTn id="9" dur="1000" fill="hold"/>
                                        <p:tgtEl>
                                          <p:spTgt spid="92163"/>
                                        </p:tgtEl>
                                        <p:attrNameLst>
                                          <p:attrName>style.rotation</p:attrName>
                                        </p:attrNameLst>
                                      </p:cBhvr>
                                      <p:tavLst>
                                        <p:tav tm="0">
                                          <p:val>
                                            <p:fltVal val="90.000000"/>
                                          </p:val>
                                        </p:tav>
                                        <p:tav tm="100000">
                                          <p:val>
                                            <p:fltVal val="0.000000"/>
                                          </p:val>
                                        </p:tav>
                                      </p:tavLst>
                                    </p:anim>
                                    <p:animEffect transition="in" filter="fade">
                                      <p:cBhvr>
                                        <p:cTn id="10" dur="1000"/>
                                        <p:tgtEl>
                                          <p:spTgt spid="9216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92162">
                                            <p:txEl>
                                              <p:charRg st="0" end="142"/>
                                            </p:txEl>
                                          </p:spTgt>
                                        </p:tgtEl>
                                        <p:attrNameLst>
                                          <p:attrName>style.visibility</p:attrName>
                                        </p:attrNameLst>
                                      </p:cBhvr>
                                      <p:to>
                                        <p:strVal val="visible"/>
                                      </p:to>
                                    </p:set>
                                    <p:animEffect transition="in" filter="dissolve">
                                      <p:cBhvr>
                                        <p:cTn id="15" dur="500"/>
                                        <p:tgtEl>
                                          <p:spTgt spid="92162">
                                            <p:txEl>
                                              <p:charRg st="0" end="14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2162">
                                            <p:txEl>
                                              <p:charRg st="142" end="248"/>
                                            </p:txEl>
                                          </p:spTgt>
                                        </p:tgtEl>
                                        <p:attrNameLst>
                                          <p:attrName>style.visibility</p:attrName>
                                        </p:attrNameLst>
                                      </p:cBhvr>
                                      <p:to>
                                        <p:strVal val="visible"/>
                                      </p:to>
                                    </p:set>
                                    <p:animEffect transition="in" filter="dissolve">
                                      <p:cBhvr>
                                        <p:cTn id="20" dur="500"/>
                                        <p:tgtEl>
                                          <p:spTgt spid="92162">
                                            <p:txEl>
                                              <p:charRg st="142" end="2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build="p"/>
      <p:bldP spid="9216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p:nvPr/>
        </p:nvSpPr>
        <p:spPr>
          <a:xfrm>
            <a:off x="195263" y="876300"/>
            <a:ext cx="8763000" cy="44942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      (</a:t>
            </a:r>
            <a:r>
              <a:rPr lang="en-US" altLang="zh-CN" sz="2400" b="1" dirty="0">
                <a:solidFill>
                  <a:srgbClr val="6600CC"/>
                </a:solidFill>
                <a:latin typeface="Times New Roman" panose="02020603050405020304" pitchFamily="18" charset="0"/>
                <a:ea typeface="宋体" panose="02010600030101010101" pitchFamily="2" charset="-122"/>
              </a:rPr>
              <a:t>1</a:t>
            </a:r>
            <a:r>
              <a:rPr lang="en-US" altLang="zh-CN" sz="2800" b="1" dirty="0">
                <a:solidFill>
                  <a:srgbClr val="6600CC"/>
                </a:solidFill>
                <a:latin typeface="Times New Roman" panose="02020603050405020304" pitchFamily="18" charset="0"/>
                <a:ea typeface="宋体" panose="02010600030101010101" pitchFamily="2" charset="-122"/>
              </a:rPr>
              <a:t>)  </a:t>
            </a:r>
            <a:r>
              <a:rPr lang="zh-CN" altLang="en-US" sz="2800" b="1" dirty="0">
                <a:solidFill>
                  <a:srgbClr val="6600CC"/>
                </a:solidFill>
                <a:latin typeface="Times New Roman" panose="02020603050405020304" pitchFamily="18" charset="0"/>
                <a:ea typeface="宋体" panose="02010600030101010101" pitchFamily="2" charset="-122"/>
              </a:rPr>
              <a:t>水泥</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水泥是硅酸盐工业制造的最重要材料之一，大量应用于建筑业。将黏土和石灰石调匀，放入旋转窑中于</a:t>
            </a:r>
            <a:r>
              <a:rPr lang="en-US" altLang="zh-CN" sz="2400" b="1" dirty="0">
                <a:latin typeface="Times New Roman" panose="02020603050405020304" pitchFamily="18" charset="0"/>
                <a:ea typeface="宋体" panose="02010600030101010101" pitchFamily="2" charset="-122"/>
              </a:rPr>
              <a:t>1500℃</a:t>
            </a:r>
            <a:r>
              <a:rPr lang="zh-CN" altLang="en-US" sz="2400" b="1" dirty="0">
                <a:latin typeface="Times New Roman" panose="02020603050405020304" pitchFamily="18" charset="0"/>
                <a:ea typeface="宋体" panose="02010600030101010101" pitchFamily="2" charset="-122"/>
              </a:rPr>
              <a:t>以上温度烧成熔块（水泥熟料），再混入少量石膏，磨成细粉即得硅酸盐水泥。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施工过程中，水泥、沙子与适量水调和成的浆料具有可塑性，可夹在砖块或石料间将其胶结为墙体等。随着时间的推移，水分的逸散使砂浆失去可塑性，其硬度和强度逐渐增强，最后成为石状固体。水泥砂浆与碎石混合而成的混凝土可供建造路桥、涵洞、住宅等，以钢筋为骨架的混凝土结构称为钢筋混凝土结构。</a:t>
            </a:r>
            <a:endParaRPr lang="zh-CN" altLang="en-US" sz="2400" b="1" dirty="0">
              <a:latin typeface="Times New Roman" panose="02020603050405020304" pitchFamily="18" charset="0"/>
              <a:ea typeface="宋体" panose="02010600030101010101" pitchFamily="2" charset="-122"/>
            </a:endParaRPr>
          </a:p>
        </p:txBody>
      </p:sp>
      <p:sp>
        <p:nvSpPr>
          <p:cNvPr id="34819" name="Rectangle 3"/>
          <p:cNvSpPr/>
          <p:nvPr/>
        </p:nvSpPr>
        <p:spPr>
          <a:xfrm>
            <a:off x="3175" y="133350"/>
            <a:ext cx="3810000" cy="63023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buClrTx/>
              <a:buSzTx/>
              <a:buFontTx/>
              <a:buNone/>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建筑凝胶材料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3186">
                                            <p:txEl>
                                              <p:charRg st="0" end="14"/>
                                            </p:txEl>
                                          </p:spTgt>
                                        </p:tgtEl>
                                        <p:attrNameLst>
                                          <p:attrName>style.visibility</p:attrName>
                                        </p:attrNameLst>
                                      </p:cBhvr>
                                      <p:to>
                                        <p:strVal val="visible"/>
                                      </p:to>
                                    </p:set>
                                    <p:animEffect transition="in" filter="dissolve">
                                      <p:cBhvr>
                                        <p:cTn id="7" dur="500"/>
                                        <p:tgtEl>
                                          <p:spTgt spid="93186">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3186">
                                            <p:txEl>
                                              <p:charRg st="14" end="114"/>
                                            </p:txEl>
                                          </p:spTgt>
                                        </p:tgtEl>
                                        <p:attrNameLst>
                                          <p:attrName>style.visibility</p:attrName>
                                        </p:attrNameLst>
                                      </p:cBhvr>
                                      <p:to>
                                        <p:strVal val="visible"/>
                                      </p:to>
                                    </p:set>
                                    <p:animEffect transition="in" filter="dissolve">
                                      <p:cBhvr>
                                        <p:cTn id="12" dur="500"/>
                                        <p:tgtEl>
                                          <p:spTgt spid="93186">
                                            <p:txEl>
                                              <p:charRg st="14" end="1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3186">
                                            <p:txEl>
                                              <p:charRg st="114" end="260"/>
                                            </p:txEl>
                                          </p:spTgt>
                                        </p:tgtEl>
                                        <p:attrNameLst>
                                          <p:attrName>style.visibility</p:attrName>
                                        </p:attrNameLst>
                                      </p:cBhvr>
                                      <p:to>
                                        <p:strVal val="visible"/>
                                      </p:to>
                                    </p:set>
                                    <p:animEffect transition="in" filter="dissolve">
                                      <p:cBhvr>
                                        <p:cTn id="17" dur="500"/>
                                        <p:tgtEl>
                                          <p:spTgt spid="93186">
                                            <p:txEl>
                                              <p:charRg st="114" end="2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p:nvPr/>
        </p:nvSpPr>
        <p:spPr>
          <a:xfrm>
            <a:off x="609600" y="952500"/>
            <a:ext cx="82296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除普通硅酸盐水泥外，还有高铝水泥和耐酸水泥等特种水泥。</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与普通硅酸盐水泥相比，高铝水泥中</a:t>
            </a:r>
            <a:r>
              <a:rPr lang="en-US" altLang="zh-CN" sz="2400" b="1" dirty="0">
                <a:latin typeface="Times New Roman" panose="02020603050405020304" pitchFamily="18" charset="0"/>
                <a:ea typeface="宋体" panose="02010600030101010101" pitchFamily="2" charset="-122"/>
              </a:rPr>
              <a:t>CaO</a:t>
            </a:r>
            <a:r>
              <a:rPr lang="zh-CN" altLang="en-US" sz="2400" b="1" dirty="0">
                <a:latin typeface="Times New Roman" panose="02020603050405020304" pitchFamily="18" charset="0"/>
                <a:ea typeface="宋体" panose="02010600030101010101" pitchFamily="2" charset="-122"/>
              </a:rPr>
              <a:t>含量低而</a:t>
            </a:r>
            <a:r>
              <a:rPr lang="en-US" altLang="zh-CN" sz="2400" b="1" dirty="0">
                <a:latin typeface="Times New Roman" panose="02020603050405020304" pitchFamily="18" charset="0"/>
                <a:ea typeface="宋体" panose="02010600030101010101" pitchFamily="2" charset="-122"/>
              </a:rPr>
              <a:t>Al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含量高，具有抗寒耐温、快硬早强等特点，用于建造窑炉、紧急抢修、海上作业等特殊工程。</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耐酸水泥主要由磨细的石英砂与具有高度分散表面的活性硅土物质混合而成。耐酸水泥加入硅酸钠溶液形成可塑性浆状物，主要用作耐酸设备中的黏结料，可抵抗除氢氟酸以外的所有酸的侵蚀。</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10">
                                            <p:txEl>
                                              <p:charRg st="0" end="35"/>
                                            </p:txEl>
                                          </p:spTgt>
                                        </p:tgtEl>
                                        <p:attrNameLst>
                                          <p:attrName>style.visibility</p:attrName>
                                        </p:attrNameLst>
                                      </p:cBhvr>
                                      <p:to>
                                        <p:strVal val="visible"/>
                                      </p:to>
                                    </p:set>
                                    <p:animEffect transition="in" filter="dissolve">
                                      <p:cBhvr>
                                        <p:cTn id="7" dur="500"/>
                                        <p:tgtEl>
                                          <p:spTgt spid="94210">
                                            <p:txEl>
                                              <p:charRg st="0" end="3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210">
                                            <p:txEl>
                                              <p:charRg st="35" end="112"/>
                                            </p:txEl>
                                          </p:spTgt>
                                        </p:tgtEl>
                                        <p:attrNameLst>
                                          <p:attrName>style.visibility</p:attrName>
                                        </p:attrNameLst>
                                      </p:cBhvr>
                                      <p:to>
                                        <p:strVal val="visible"/>
                                      </p:to>
                                    </p:set>
                                    <p:animEffect transition="in" filter="dissolve">
                                      <p:cBhvr>
                                        <p:cTn id="12" dur="500"/>
                                        <p:tgtEl>
                                          <p:spTgt spid="94210">
                                            <p:txEl>
                                              <p:charRg st="35" end="1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4210">
                                            <p:txEl>
                                              <p:charRg st="112" end="205"/>
                                            </p:txEl>
                                          </p:spTgt>
                                        </p:tgtEl>
                                        <p:attrNameLst>
                                          <p:attrName>style.visibility</p:attrName>
                                        </p:attrNameLst>
                                      </p:cBhvr>
                                      <p:to>
                                        <p:strVal val="visible"/>
                                      </p:to>
                                    </p:set>
                                    <p:animEffect transition="in" filter="dissolve">
                                      <p:cBhvr>
                                        <p:cTn id="17" dur="500"/>
                                        <p:tgtEl>
                                          <p:spTgt spid="94210">
                                            <p:txEl>
                                              <p:charRg st="112" end="2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p:nvPr/>
        </p:nvSpPr>
        <p:spPr>
          <a:xfrm>
            <a:off x="228600" y="190500"/>
            <a:ext cx="8686800" cy="54530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(2)  </a:t>
            </a:r>
            <a:r>
              <a:rPr lang="zh-CN" altLang="en-US" sz="2800" b="1" dirty="0">
                <a:solidFill>
                  <a:srgbClr val="6600CC"/>
                </a:solidFill>
                <a:latin typeface="Times New Roman" panose="02020603050405020304" pitchFamily="18" charset="0"/>
                <a:ea typeface="宋体" panose="02010600030101010101" pitchFamily="2" charset="-122"/>
              </a:rPr>
              <a:t>石灰</a:t>
            </a:r>
            <a:endParaRPr lang="zh-CN" altLang="en-US" sz="28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石灰石</a:t>
            </a:r>
            <a:r>
              <a:rPr lang="en-US" altLang="zh-CN" sz="2400" b="1" dirty="0">
                <a:latin typeface="Times New Roman" panose="02020603050405020304" pitchFamily="18" charset="0"/>
                <a:ea typeface="宋体" panose="02010600030101010101" pitchFamily="2" charset="-122"/>
              </a:rPr>
              <a:t>CaCO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，在</a:t>
            </a:r>
            <a:r>
              <a:rPr lang="en-US" altLang="zh-CN" sz="2400" b="1" dirty="0">
                <a:latin typeface="Times New Roman" panose="02020603050405020304" pitchFamily="18" charset="0"/>
                <a:ea typeface="宋体" panose="02010600030101010101" pitchFamily="2" charset="-122"/>
              </a:rPr>
              <a:t>910℃</a:t>
            </a:r>
            <a:r>
              <a:rPr lang="zh-CN" altLang="en-US" sz="2400" b="1" dirty="0">
                <a:latin typeface="Times New Roman" panose="02020603050405020304" pitchFamily="18" charset="0"/>
                <a:ea typeface="宋体" panose="02010600030101010101" pitchFamily="2" charset="-122"/>
              </a:rPr>
              <a:t>时发生热分解，分解产物</a:t>
            </a:r>
            <a:r>
              <a:rPr lang="en-US" altLang="zh-CN" sz="2400" b="1" dirty="0">
                <a:latin typeface="Times New Roman" panose="02020603050405020304" pitchFamily="18" charset="0"/>
                <a:ea typeface="宋体" panose="02010600030101010101" pitchFamily="2" charset="-122"/>
              </a:rPr>
              <a:t>CaO</a:t>
            </a:r>
            <a:r>
              <a:rPr lang="zh-CN" altLang="en-US" sz="2400" b="1" dirty="0">
                <a:latin typeface="Times New Roman" panose="02020603050405020304" pitchFamily="18" charset="0"/>
                <a:ea typeface="宋体" panose="02010600030101010101" pitchFamily="2" charset="-122"/>
              </a:rPr>
              <a:t>俗称生石灰。生石灰与水作用变成熟石灰或称消石灰</a:t>
            </a:r>
            <a:r>
              <a:rPr lang="en-US" altLang="zh-CN" sz="2400" b="1" dirty="0">
                <a:latin typeface="Times New Roman" panose="02020603050405020304" pitchFamily="18" charset="0"/>
                <a:ea typeface="宋体" panose="02010600030101010101" pitchFamily="2" charset="-122"/>
              </a:rPr>
              <a:t>Ca(OH)</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，同时放出大量的热。   含有过量水的石灰膏置于空气中会逐渐硬化。硬化过程主要有两种作用：（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）是水分不断蒸发，溶液中</a:t>
            </a:r>
            <a:r>
              <a:rPr lang="en-US" altLang="zh-CN" sz="2400" b="1" dirty="0">
                <a:latin typeface="Times New Roman" panose="02020603050405020304" pitchFamily="18" charset="0"/>
                <a:ea typeface="宋体" panose="02010600030101010101" pitchFamily="2" charset="-122"/>
              </a:rPr>
              <a:t>Ca(OH)</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达过饱和后析出晶体；（</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Ca(OH)</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吸收空气中的</a:t>
            </a:r>
            <a:r>
              <a:rPr lang="en-US" altLang="zh-CN" sz="2400" b="1" dirty="0">
                <a:latin typeface="Times New Roman" panose="02020603050405020304" pitchFamily="18" charset="0"/>
                <a:ea typeface="宋体" panose="02010600030101010101" pitchFamily="2" charset="-122"/>
              </a:rPr>
              <a:t>CO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，生成难溶的固体</a:t>
            </a:r>
            <a:r>
              <a:rPr lang="en-US" altLang="zh-CN" sz="2400" b="1" dirty="0">
                <a:latin typeface="Times New Roman" panose="02020603050405020304" pitchFamily="18" charset="0"/>
                <a:ea typeface="宋体" panose="02010600030101010101" pitchFamily="2" charset="-122"/>
              </a:rPr>
              <a:t>CaCO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石灰膏硬化时因体积收缩较大而出现干裂，因此，在使用时常加入沙土、纸筋等材料以防缩裂。作为最常用的无机胶凝材料之一，石灰广泛用于建筑业。例如用石灰乳粉刷混凝土墙面；用石灰制成灰土加强地基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34">
                                            <p:txEl>
                                              <p:charRg st="0" end="8"/>
                                            </p:txEl>
                                          </p:spTgt>
                                        </p:tgtEl>
                                        <p:attrNameLst>
                                          <p:attrName>style.visibility</p:attrName>
                                        </p:attrNameLst>
                                      </p:cBhvr>
                                      <p:to>
                                        <p:strVal val="visible"/>
                                      </p:to>
                                    </p:set>
                                    <p:animEffect transition="in" filter="dissolve">
                                      <p:cBhvr>
                                        <p:cTn id="7" dur="500"/>
                                        <p:tgtEl>
                                          <p:spTgt spid="95234">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5234">
                                            <p:txEl>
                                              <p:charRg st="8" end="184"/>
                                            </p:txEl>
                                          </p:spTgt>
                                        </p:tgtEl>
                                        <p:attrNameLst>
                                          <p:attrName>style.visibility</p:attrName>
                                        </p:attrNameLst>
                                      </p:cBhvr>
                                      <p:to>
                                        <p:strVal val="visible"/>
                                      </p:to>
                                    </p:set>
                                    <p:animEffect transition="in" filter="dissolve">
                                      <p:cBhvr>
                                        <p:cTn id="12" dur="500"/>
                                        <p:tgtEl>
                                          <p:spTgt spid="95234">
                                            <p:txEl>
                                              <p:charRg st="8" end="18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5234">
                                            <p:txEl>
                                              <p:charRg st="184" end="286"/>
                                            </p:txEl>
                                          </p:spTgt>
                                        </p:tgtEl>
                                        <p:attrNameLst>
                                          <p:attrName>style.visibility</p:attrName>
                                        </p:attrNameLst>
                                      </p:cBhvr>
                                      <p:to>
                                        <p:strVal val="visible"/>
                                      </p:to>
                                    </p:set>
                                    <p:animEffect transition="in" filter="dissolve">
                                      <p:cBhvr>
                                        <p:cTn id="17" dur="500"/>
                                        <p:tgtEl>
                                          <p:spTgt spid="95234">
                                            <p:txEl>
                                              <p:charRg st="184" end="2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p:nvPr/>
        </p:nvSpPr>
        <p:spPr>
          <a:xfrm>
            <a:off x="361950" y="419100"/>
            <a:ext cx="8305800" cy="49736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(3)</a:t>
            </a:r>
            <a:r>
              <a:rPr lang="zh-CN" altLang="en-US" sz="2400" b="1" dirty="0">
                <a:solidFill>
                  <a:srgbClr val="6600CC"/>
                </a:solidFill>
                <a:latin typeface="Times New Roman" panose="02020603050405020304" pitchFamily="18" charset="0"/>
                <a:ea typeface="宋体" panose="02010600030101010101" pitchFamily="2" charset="-122"/>
              </a:rPr>
              <a:t>石膏</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天然石膏又称二水石膏，主要成分是</a:t>
            </a:r>
            <a:r>
              <a:rPr lang="en-US" altLang="zh-CN" sz="2400" b="1" dirty="0">
                <a:latin typeface="Times New Roman" panose="02020603050405020304" pitchFamily="18" charset="0"/>
                <a:ea typeface="宋体" panose="02010600030101010101" pitchFamily="2" charset="-122"/>
              </a:rPr>
              <a:t>CaSO4•2H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天然石膏在</a:t>
            </a:r>
            <a:r>
              <a:rPr lang="en-US" altLang="zh-CN" sz="2400" b="1" dirty="0">
                <a:latin typeface="Times New Roman" panose="02020603050405020304" pitchFamily="18" charset="0"/>
                <a:ea typeface="宋体" panose="02010600030101010101" pitchFamily="2" charset="-122"/>
              </a:rPr>
              <a:t>107℃-170℃</a:t>
            </a:r>
            <a:r>
              <a:rPr lang="zh-CN" altLang="en-US" sz="2400" b="1" dirty="0">
                <a:latin typeface="Times New Roman" panose="02020603050405020304" pitchFamily="18" charset="0"/>
                <a:ea typeface="宋体" panose="02010600030101010101" pitchFamily="2" charset="-122"/>
              </a:rPr>
              <a:t>范围内加热会失水生成建筑石膏或称为</a:t>
            </a:r>
            <a:r>
              <a:rPr lang="en-US" altLang="zh-CN" sz="2400" b="1" dirty="0">
                <a:latin typeface="Times New Roman" panose="02020603050405020304" pitchFamily="18" charset="0"/>
                <a:ea typeface="宋体" panose="02010600030101010101" pitchFamily="2" charset="-122"/>
              </a:rPr>
              <a:t>β</a:t>
            </a:r>
            <a:r>
              <a:rPr lang="zh-CN" altLang="en-US" sz="2400" b="1" dirty="0">
                <a:latin typeface="Times New Roman" panose="02020603050405020304" pitchFamily="18" charset="0"/>
                <a:ea typeface="宋体" panose="02010600030101010101" pitchFamily="2" charset="-122"/>
              </a:rPr>
              <a:t>型半水石膏（</a:t>
            </a:r>
            <a:r>
              <a:rPr lang="en-US" altLang="zh-CN" sz="2400" b="1" dirty="0">
                <a:latin typeface="Times New Roman" panose="02020603050405020304" pitchFamily="18" charset="0"/>
                <a:ea typeface="宋体" panose="02010600030101010101" pitchFamily="2" charset="-122"/>
              </a:rPr>
              <a:t>CaSO4•1/2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 建筑石膏加水拌和并与水结合成二水石膏</a:t>
            </a:r>
            <a:r>
              <a:rPr lang="en-US" altLang="zh-CN" sz="2400" b="1" dirty="0">
                <a:latin typeface="Times New Roman" panose="02020603050405020304" pitchFamily="18" charset="0"/>
                <a:ea typeface="宋体" panose="02010600030101010101" pitchFamily="2" charset="-122"/>
              </a:rPr>
              <a:t>(CaSO4•2H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由于二水石膏的溶解度比半水石膏小，所以半水石膏不断变成二水石膏并逐渐硬化，达到一定的强度。建筑石膏比石灰更加洁白、细腻，广泛用于室内墙体抹灰、粉刷和装修。此外，用它做成的石膏板具有质轻、隔热、防水、加工方便等优点，应用广泛。</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258">
                                            <p:txEl>
                                              <p:charRg st="0" end="6"/>
                                            </p:txEl>
                                          </p:spTgt>
                                        </p:tgtEl>
                                        <p:attrNameLst>
                                          <p:attrName>style.visibility</p:attrName>
                                        </p:attrNameLst>
                                      </p:cBhvr>
                                      <p:to>
                                        <p:strVal val="visible"/>
                                      </p:to>
                                    </p:set>
                                    <p:animEffect transition="in" filter="dissolve">
                                      <p:cBhvr>
                                        <p:cTn id="7" dur="500"/>
                                        <p:tgtEl>
                                          <p:spTgt spid="9625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6258">
                                            <p:txEl>
                                              <p:charRg st="6" end="40"/>
                                            </p:txEl>
                                          </p:spTgt>
                                        </p:tgtEl>
                                        <p:attrNameLst>
                                          <p:attrName>style.visibility</p:attrName>
                                        </p:attrNameLst>
                                      </p:cBhvr>
                                      <p:to>
                                        <p:strVal val="visible"/>
                                      </p:to>
                                    </p:set>
                                    <p:animEffect transition="in" filter="dissolve">
                                      <p:cBhvr>
                                        <p:cTn id="12" dur="500"/>
                                        <p:tgtEl>
                                          <p:spTgt spid="96258">
                                            <p:txEl>
                                              <p:charRg st="6"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6258">
                                            <p:txEl>
                                              <p:charRg st="40" end="132"/>
                                            </p:txEl>
                                          </p:spTgt>
                                        </p:tgtEl>
                                        <p:attrNameLst>
                                          <p:attrName>style.visibility</p:attrName>
                                        </p:attrNameLst>
                                      </p:cBhvr>
                                      <p:to>
                                        <p:strVal val="visible"/>
                                      </p:to>
                                    </p:set>
                                    <p:animEffect transition="in" filter="dissolve">
                                      <p:cBhvr>
                                        <p:cTn id="17" dur="500"/>
                                        <p:tgtEl>
                                          <p:spTgt spid="96258">
                                            <p:txEl>
                                              <p:charRg st="40" end="1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6258">
                                            <p:txEl>
                                              <p:charRg st="132" end="253"/>
                                            </p:txEl>
                                          </p:spTgt>
                                        </p:tgtEl>
                                        <p:attrNameLst>
                                          <p:attrName>style.visibility</p:attrName>
                                        </p:attrNameLst>
                                      </p:cBhvr>
                                      <p:to>
                                        <p:strVal val="visible"/>
                                      </p:to>
                                    </p:set>
                                    <p:animEffect transition="in" filter="dissolve">
                                      <p:cBhvr>
                                        <p:cTn id="22" dur="500"/>
                                        <p:tgtEl>
                                          <p:spTgt spid="96258">
                                            <p:txEl>
                                              <p:charRg st="132"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p:nvPr/>
        </p:nvSpPr>
        <p:spPr>
          <a:xfrm>
            <a:off x="762000" y="1143000"/>
            <a:ext cx="7924800" cy="49736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800" b="1" dirty="0">
                <a:solidFill>
                  <a:srgbClr val="6600CC"/>
                </a:solidFill>
                <a:latin typeface="Times New Roman" panose="02020603050405020304" pitchFamily="18" charset="0"/>
                <a:ea typeface="宋体" panose="02010600030101010101" pitchFamily="2" charset="-122"/>
              </a:rPr>
              <a:t>(1)</a:t>
            </a:r>
            <a:r>
              <a:rPr lang="zh-CN" altLang="en-US" sz="2400" b="1" dirty="0">
                <a:solidFill>
                  <a:srgbClr val="6600CC"/>
                </a:solidFill>
                <a:latin typeface="Times New Roman" panose="02020603050405020304" pitchFamily="18" charset="0"/>
                <a:ea typeface="宋体" panose="02010600030101010101" pitchFamily="2" charset="-122"/>
              </a:rPr>
              <a:t>工业耐火材料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耐火材料一般是指在不低于</a:t>
            </a:r>
            <a:r>
              <a:rPr lang="en-US" altLang="zh-CN" sz="2400" b="1" dirty="0">
                <a:latin typeface="Times New Roman" panose="02020603050405020304" pitchFamily="18" charset="0"/>
                <a:ea typeface="宋体" panose="02010600030101010101" pitchFamily="2" charset="-122"/>
              </a:rPr>
              <a:t>1580℃</a:t>
            </a:r>
            <a:r>
              <a:rPr lang="zh-CN" altLang="en-US" sz="2400" b="1" dirty="0">
                <a:latin typeface="Times New Roman" panose="02020603050405020304" pitchFamily="18" charset="0"/>
                <a:ea typeface="宋体" panose="02010600030101010101" pitchFamily="2" charset="-122"/>
              </a:rPr>
              <a:t>的高温下，能耐气体、熔融金属、熔融炉渣等物质的侵蚀，而且有一定机械强度的无机非金属固体材料，如图</a:t>
            </a:r>
            <a:r>
              <a:rPr lang="en-US" altLang="zh-CN" sz="2400" b="1" dirty="0">
                <a:latin typeface="Times New Roman" panose="02020603050405020304" pitchFamily="18" charset="0"/>
                <a:ea typeface="宋体" panose="02010600030101010101" pitchFamily="2" charset="-122"/>
              </a:rPr>
              <a:t>6-9</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根据耐火程度的高低，可将耐火材料分为普通耐火材料</a:t>
            </a:r>
            <a:r>
              <a:rPr lang="en-US" altLang="zh-CN" sz="2400" b="1" dirty="0">
                <a:latin typeface="Times New Roman" panose="02020603050405020304" pitchFamily="18" charset="0"/>
                <a:ea typeface="宋体" panose="02010600030101010101" pitchFamily="2" charset="-122"/>
              </a:rPr>
              <a:t>(1580~1770℃)</a:t>
            </a:r>
            <a:r>
              <a:rPr lang="zh-CN" altLang="en-US" sz="2400" b="1" dirty="0">
                <a:latin typeface="Times New Roman" panose="02020603050405020304" pitchFamily="18" charset="0"/>
                <a:ea typeface="宋体" panose="02010600030101010101" pitchFamily="2" charset="-122"/>
              </a:rPr>
              <a:t>，高级耐火材料</a:t>
            </a:r>
            <a:r>
              <a:rPr lang="en-US" altLang="zh-CN" sz="2400" b="1" dirty="0">
                <a:latin typeface="Times New Roman" panose="02020603050405020304" pitchFamily="18" charset="0"/>
                <a:ea typeface="宋体" panose="02010600030101010101" pitchFamily="2" charset="-122"/>
              </a:rPr>
              <a:t>(1770~2000℃)</a:t>
            </a:r>
            <a:r>
              <a:rPr lang="zh-CN" altLang="en-US" sz="2400" b="1" dirty="0">
                <a:latin typeface="Times New Roman" panose="02020603050405020304" pitchFamily="18" charset="0"/>
                <a:ea typeface="宋体" panose="02010600030101010101" pitchFamily="2" charset="-122"/>
              </a:rPr>
              <a:t>和特级耐火材料</a:t>
            </a:r>
            <a:r>
              <a:rPr lang="en-US" altLang="zh-CN" sz="2400" b="1" dirty="0">
                <a:latin typeface="Times New Roman" panose="02020603050405020304" pitchFamily="18" charset="0"/>
                <a:ea typeface="宋体" panose="02010600030101010101" pitchFamily="2" charset="-122"/>
              </a:rPr>
              <a:t>(&gt;2000℃)</a:t>
            </a:r>
            <a:r>
              <a:rPr lang="zh-CN" altLang="en-US" sz="2400" b="1" dirty="0">
                <a:latin typeface="Times New Roman" panose="02020603050405020304" pitchFamily="18" charset="0"/>
                <a:ea typeface="宋体" panose="02010600030101010101" pitchFamily="2" charset="-122"/>
              </a:rPr>
              <a:t>。常用耐火材料的主要组分是高熔点氧化物，故也可根据氧化物的化学性质，将其分为酸性、中性和碱性耐火材料。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endParaRPr lang="zh-CN" altLang="en-US" sz="2400" b="1" dirty="0">
              <a:latin typeface="Times New Roman" panose="02020603050405020304" pitchFamily="18" charset="0"/>
              <a:ea typeface="宋体" panose="02010600030101010101" pitchFamily="2" charset="-122"/>
            </a:endParaRPr>
          </a:p>
        </p:txBody>
      </p:sp>
      <p:sp>
        <p:nvSpPr>
          <p:cNvPr id="38915" name="Rectangle 3"/>
          <p:cNvSpPr/>
          <p:nvPr/>
        </p:nvSpPr>
        <p:spPr>
          <a:xfrm>
            <a:off x="0" y="444500"/>
            <a:ext cx="3429000" cy="63023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buClrTx/>
              <a:buSzTx/>
              <a:buFontTx/>
              <a:buNone/>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耐热高强材料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282">
                                            <p:txEl>
                                              <p:charRg st="0" end="10"/>
                                            </p:txEl>
                                          </p:spTgt>
                                        </p:tgtEl>
                                        <p:attrNameLst>
                                          <p:attrName>style.visibility</p:attrName>
                                        </p:attrNameLst>
                                      </p:cBhvr>
                                      <p:to>
                                        <p:strVal val="visible"/>
                                      </p:to>
                                    </p:set>
                                    <p:animEffect transition="in" filter="dissolve">
                                      <p:cBhvr>
                                        <p:cTn id="7" dur="500"/>
                                        <p:tgtEl>
                                          <p:spTgt spid="9728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7282">
                                            <p:txEl>
                                              <p:charRg st="10" end="90"/>
                                            </p:txEl>
                                          </p:spTgt>
                                        </p:tgtEl>
                                        <p:attrNameLst>
                                          <p:attrName>style.visibility</p:attrName>
                                        </p:attrNameLst>
                                      </p:cBhvr>
                                      <p:to>
                                        <p:strVal val="visible"/>
                                      </p:to>
                                    </p:set>
                                    <p:animEffect transition="in" filter="dissolve">
                                      <p:cBhvr>
                                        <p:cTn id="12" dur="500"/>
                                        <p:tgtEl>
                                          <p:spTgt spid="97282">
                                            <p:txEl>
                                              <p:charRg st="10"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7282">
                                            <p:txEl>
                                              <p:charRg st="90" end="220"/>
                                            </p:txEl>
                                          </p:spTgt>
                                        </p:tgtEl>
                                        <p:attrNameLst>
                                          <p:attrName>style.visibility</p:attrName>
                                        </p:attrNameLst>
                                      </p:cBhvr>
                                      <p:to>
                                        <p:strVal val="visible"/>
                                      </p:to>
                                    </p:set>
                                    <p:animEffect transition="in" filter="dissolve">
                                      <p:cBhvr>
                                        <p:cTn id="17" dur="500"/>
                                        <p:tgtEl>
                                          <p:spTgt spid="97282">
                                            <p:txEl>
                                              <p:charRg st="90" end="2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p:nvPr/>
        </p:nvSpPr>
        <p:spPr>
          <a:xfrm>
            <a:off x="762000" y="508000"/>
            <a:ext cx="7924800" cy="20129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酸性耐火材料的主要组分是</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等酸性氧化物；碱性耐火材料的主要组分是</a:t>
            </a:r>
            <a:r>
              <a:rPr lang="en-US" altLang="zh-CN" sz="2400" b="1" dirty="0">
                <a:latin typeface="Times New Roman" panose="02020603050405020304" pitchFamily="18" charset="0"/>
                <a:ea typeface="宋体" panose="02010600030101010101" pitchFamily="2" charset="-122"/>
              </a:rPr>
              <a:t>MgO</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CaO</a:t>
            </a:r>
            <a:r>
              <a:rPr lang="zh-CN" altLang="en-US" sz="2400" b="1" dirty="0">
                <a:latin typeface="Times New Roman" panose="02020603050405020304" pitchFamily="18" charset="0"/>
                <a:ea typeface="宋体" panose="02010600030101010101" pitchFamily="2" charset="-122"/>
              </a:rPr>
              <a:t>等碱性氧化物；中性耐火材料的主要组分是</a:t>
            </a:r>
            <a:r>
              <a:rPr lang="en-US" altLang="zh-CN" sz="2400" b="1" dirty="0">
                <a:latin typeface="Times New Roman" panose="02020603050405020304" pitchFamily="18" charset="0"/>
                <a:ea typeface="宋体" panose="02010600030101010101" pitchFamily="2" charset="-122"/>
              </a:rPr>
              <a:t>Al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Cr</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等两性氧化物。选用耐火材料时必须注意耐火温度及应用环境的酸碱性。</a:t>
            </a:r>
            <a:endParaRPr lang="zh-CN" altLang="en-US" sz="2400" b="1" dirty="0">
              <a:latin typeface="Times New Roman" panose="02020603050405020304" pitchFamily="18" charset="0"/>
              <a:ea typeface="宋体" panose="02010600030101010101" pitchFamily="2" charset="-122"/>
            </a:endParaRPr>
          </a:p>
        </p:txBody>
      </p:sp>
      <p:grpSp>
        <p:nvGrpSpPr>
          <p:cNvPr id="2" name="Group 4"/>
          <p:cNvGrpSpPr/>
          <p:nvPr/>
        </p:nvGrpSpPr>
        <p:grpSpPr>
          <a:xfrm>
            <a:off x="762000" y="2413000"/>
            <a:ext cx="8001000" cy="2159000"/>
            <a:chOff x="1160" y="9639"/>
            <a:chExt cx="9692" cy="2310"/>
          </a:xfrm>
        </p:grpSpPr>
        <p:pic>
          <p:nvPicPr>
            <p:cNvPr id="39941" name="Picture 5" descr="http://a3.att.hudong.com/84/51/01300000291092125154513090068.jpg"/>
            <p:cNvPicPr>
              <a:picLocks noChangeAspect="1"/>
            </p:cNvPicPr>
            <p:nvPr/>
          </p:nvPicPr>
          <p:blipFill>
            <a:blip r:embed="rId1" r:link="rId2"/>
            <a:stretch>
              <a:fillRect/>
            </a:stretch>
          </p:blipFill>
          <p:spPr>
            <a:xfrm>
              <a:off x="1160" y="9639"/>
              <a:ext cx="2996" cy="2310"/>
            </a:xfrm>
            <a:prstGeom prst="rect">
              <a:avLst/>
            </a:prstGeom>
            <a:noFill/>
            <a:ln w="9525">
              <a:noFill/>
            </a:ln>
          </p:spPr>
        </p:pic>
        <p:pic>
          <p:nvPicPr>
            <p:cNvPr id="39942" name="Picture 6" descr="http://i03.c.aliimg.com/img/product/77/91/00/77910057.jpg"/>
            <p:cNvPicPr>
              <a:picLocks noChangeAspect="1"/>
            </p:cNvPicPr>
            <p:nvPr/>
          </p:nvPicPr>
          <p:blipFill>
            <a:blip r:embed="rId3" r:link="rId4"/>
            <a:srcRect r="-858" b="4965"/>
            <a:stretch>
              <a:fillRect/>
            </a:stretch>
          </p:blipFill>
          <p:spPr>
            <a:xfrm>
              <a:off x="4326" y="9639"/>
              <a:ext cx="3164" cy="2260"/>
            </a:xfrm>
            <a:prstGeom prst="rect">
              <a:avLst/>
            </a:prstGeom>
            <a:noFill/>
            <a:ln w="9525">
              <a:noFill/>
            </a:ln>
          </p:spPr>
        </p:pic>
        <p:pic>
          <p:nvPicPr>
            <p:cNvPr id="39943" name="Picture 7" descr="微晶玻璃台盆"/>
            <p:cNvPicPr>
              <a:picLocks noChangeAspect="1"/>
            </p:cNvPicPr>
            <p:nvPr/>
          </p:nvPicPr>
          <p:blipFill>
            <a:blip r:embed="rId5" r:link="rId6"/>
            <a:srcRect l="3484" t="5624" r="5281" b="7986"/>
            <a:stretch>
              <a:fillRect/>
            </a:stretch>
          </p:blipFill>
          <p:spPr>
            <a:xfrm>
              <a:off x="7674" y="9642"/>
              <a:ext cx="3178" cy="2254"/>
            </a:xfrm>
            <a:prstGeom prst="rect">
              <a:avLst/>
            </a:prstGeom>
            <a:noFill/>
            <a:ln w="9525">
              <a:noFill/>
            </a:ln>
          </p:spPr>
        </p:pic>
      </p:grpSp>
      <p:sp>
        <p:nvSpPr>
          <p:cNvPr id="98312" name="Rectangle 8"/>
          <p:cNvSpPr/>
          <p:nvPr/>
        </p:nvSpPr>
        <p:spPr>
          <a:xfrm>
            <a:off x="685800" y="4857750"/>
            <a:ext cx="7678738" cy="369888"/>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dirty="0">
                <a:latin typeface="Times New Roman" panose="02020603050405020304" pitchFamily="18" charset="0"/>
                <a:ea typeface="宋体" panose="02010600030101010101" pitchFamily="2" charset="-122"/>
              </a:rPr>
              <a:t>图</a:t>
            </a:r>
            <a:r>
              <a:rPr lang="en-US" altLang="zh-CN" sz="1800" dirty="0">
                <a:latin typeface="Times New Roman" panose="02020603050405020304" pitchFamily="18" charset="0"/>
                <a:ea typeface="宋体" panose="02010600030101010101" pitchFamily="2" charset="-122"/>
              </a:rPr>
              <a:t>6-9  </a:t>
            </a:r>
            <a:r>
              <a:rPr lang="zh-CN" altLang="en-US" sz="1800" dirty="0">
                <a:latin typeface="Times New Roman" panose="02020603050405020304" pitchFamily="18" charset="0"/>
                <a:ea typeface="宋体" panose="02010600030101010101" pitchFamily="2" charset="-122"/>
              </a:rPr>
              <a:t>耐火材料               图</a:t>
            </a:r>
            <a:r>
              <a:rPr lang="en-US" altLang="zh-CN" sz="1800" dirty="0">
                <a:latin typeface="Times New Roman" panose="02020603050405020304" pitchFamily="18" charset="0"/>
                <a:ea typeface="宋体" panose="02010600030101010101" pitchFamily="2" charset="-122"/>
              </a:rPr>
              <a:t>6-10  </a:t>
            </a:r>
            <a:r>
              <a:rPr lang="zh-CN" altLang="en-US" sz="1800" dirty="0">
                <a:latin typeface="Times New Roman" panose="02020603050405020304" pitchFamily="18" charset="0"/>
                <a:ea typeface="宋体" panose="02010600030101010101" pitchFamily="2" charset="-122"/>
              </a:rPr>
              <a:t>高温结构材料         图</a:t>
            </a:r>
            <a:r>
              <a:rPr lang="en-US" altLang="zh-CN" sz="1800" dirty="0">
                <a:latin typeface="Times New Roman" panose="02020603050405020304" pitchFamily="18" charset="0"/>
                <a:ea typeface="宋体" panose="02010600030101010101" pitchFamily="2" charset="-122"/>
              </a:rPr>
              <a:t>6-11  </a:t>
            </a:r>
            <a:r>
              <a:rPr lang="zh-CN" altLang="en-US" sz="1800" dirty="0">
                <a:latin typeface="Times New Roman" panose="02020603050405020304" pitchFamily="18" charset="0"/>
                <a:ea typeface="宋体" panose="02010600030101010101" pitchFamily="2" charset="-122"/>
              </a:rPr>
              <a:t>微晶玻璃台盆    </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8306">
                                            <p:txEl>
                                              <p:charRg st="0" end="113"/>
                                            </p:txEl>
                                          </p:spTgt>
                                        </p:tgtEl>
                                        <p:attrNameLst>
                                          <p:attrName>style.visibility</p:attrName>
                                        </p:attrNameLst>
                                      </p:cBhvr>
                                      <p:to>
                                        <p:strVal val="visible"/>
                                      </p:to>
                                    </p:set>
                                    <p:animEffect transition="in" filter="dissolve">
                                      <p:cBhvr>
                                        <p:cTn id="7" dur="500"/>
                                        <p:tgtEl>
                                          <p:spTgt spid="98306">
                                            <p:txEl>
                                              <p:charRg st="0" end="1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312"/>
                                        </p:tgtEl>
                                        <p:attrNameLst>
                                          <p:attrName>style.visibility</p:attrName>
                                        </p:attrNameLst>
                                      </p:cBhvr>
                                      <p:to>
                                        <p:strVal val="visible"/>
                                      </p:to>
                                    </p:set>
                                    <p:animEffect transition="in" filter="wipe(left)">
                                      <p:cBhvr>
                                        <p:cTn id="17" dur="500"/>
                                        <p:tgtEl>
                                          <p:spTgt spid="98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build="p"/>
      <p:bldP spid="983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p:nvPr/>
        </p:nvSpPr>
        <p:spPr>
          <a:xfrm>
            <a:off x="381000" y="317500"/>
            <a:ext cx="8610600" cy="53736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en-US" sz="2400" b="1" dirty="0">
                <a:solidFill>
                  <a:srgbClr val="6600CC"/>
                </a:solidFill>
                <a:latin typeface="Times New Roman" panose="02020603050405020304" pitchFamily="18" charset="0"/>
                <a:ea typeface="宋体" panose="02010600030101010101" pitchFamily="2" charset="-122"/>
              </a:rPr>
              <a:t>（2）高温结构材料</a:t>
            </a:r>
            <a:endParaRPr lang="en-US" altLang="zh-CN"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高温结构材料也称为高温结构陶瓷，在工业生产和工程实践中有重要作用，如图</a:t>
            </a:r>
            <a:r>
              <a:rPr lang="en-US" altLang="zh-CN" sz="2400" b="1" dirty="0">
                <a:latin typeface="Times New Roman" panose="02020603050405020304" pitchFamily="18" charset="0"/>
                <a:ea typeface="宋体" panose="02010600030101010101" pitchFamily="2" charset="-122"/>
              </a:rPr>
              <a:t>6-10</a:t>
            </a:r>
            <a:r>
              <a:rPr lang="zh-CN" altLang="en-US" sz="2400" b="1" dirty="0">
                <a:latin typeface="Times New Roman" panose="02020603050405020304" pitchFamily="18" charset="0"/>
                <a:ea typeface="宋体" panose="02010600030101010101" pitchFamily="2" charset="-122"/>
              </a:rPr>
              <a:t>所示。高致密的氮化硅（</a:t>
            </a:r>
            <a:r>
              <a:rPr lang="en-US" altLang="zh-CN" sz="2400" b="1" dirty="0">
                <a:latin typeface="Times New Roman" panose="02020603050405020304" pitchFamily="18" charset="0"/>
                <a:ea typeface="宋体" panose="02010600030101010101" pitchFamily="2" charset="-122"/>
              </a:rPr>
              <a:t>Si</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N</a:t>
            </a:r>
            <a:r>
              <a:rPr lang="en-US" altLang="zh-CN" sz="2400" b="1" baseline="-25000"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）、碳化硅（</a:t>
            </a:r>
            <a:r>
              <a:rPr lang="en-US" altLang="zh-CN" sz="2400" b="1" dirty="0">
                <a:latin typeface="Times New Roman" panose="02020603050405020304" pitchFamily="18" charset="0"/>
                <a:ea typeface="宋体" panose="02010600030101010101" pitchFamily="2" charset="-122"/>
              </a:rPr>
              <a:t>SiC</a:t>
            </a:r>
            <a:r>
              <a:rPr lang="zh-CN" altLang="en-US" sz="2400" b="1" dirty="0">
                <a:latin typeface="Times New Roman" panose="02020603050405020304" pitchFamily="18" charset="0"/>
                <a:ea typeface="宋体" panose="02010600030101010101" pitchFamily="2" charset="-122"/>
              </a:rPr>
              <a:t>）等无机非金属材料是很好的高温结构材料，可作汽车发动机、航天器喷嘴、高温轴承等。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汽车发动机一般用铸铁铸造，耐热性有一定限度。如果用高温结构材料</a:t>
            </a:r>
            <a:r>
              <a:rPr lang="en-US" altLang="zh-CN" sz="2400" b="1" dirty="0">
                <a:latin typeface="Times New Roman" panose="02020603050405020304" pitchFamily="18" charset="0"/>
                <a:ea typeface="宋体" panose="02010600030101010101" pitchFamily="2" charset="-122"/>
              </a:rPr>
              <a:t>Si</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N</a:t>
            </a:r>
            <a:r>
              <a:rPr lang="en-US" altLang="zh-CN" sz="2400" b="1" baseline="-25000"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，发动机的工作温度能稳定在</a:t>
            </a:r>
            <a:r>
              <a:rPr lang="en-US" altLang="zh-CN" sz="2400" b="1" dirty="0">
                <a:latin typeface="Times New Roman" panose="02020603050405020304" pitchFamily="18" charset="0"/>
                <a:ea typeface="宋体" panose="02010600030101010101" pitchFamily="2" charset="-122"/>
              </a:rPr>
              <a:t>1300℃</a:t>
            </a:r>
            <a:r>
              <a:rPr lang="zh-CN" altLang="en-US" sz="2400" b="1" dirty="0">
                <a:latin typeface="Times New Roman" panose="02020603050405020304" pitchFamily="18" charset="0"/>
                <a:ea typeface="宋体" panose="02010600030101010101" pitchFamily="2" charset="-122"/>
              </a:rPr>
              <a:t>左右，由于燃料燃烧充分而且不需要水冷系统，使热效率明显提高。陶瓷发动机还可减轻重量，此优点对航空航天器意义更大。</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除了</a:t>
            </a:r>
            <a:r>
              <a:rPr lang="en-US" altLang="zh-CN" sz="2400" b="1" dirty="0">
                <a:latin typeface="Times New Roman" panose="02020603050405020304" pitchFamily="18" charset="0"/>
                <a:ea typeface="宋体" panose="02010600030101010101" pitchFamily="2" charset="-122"/>
              </a:rPr>
              <a:t>Si</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N</a:t>
            </a:r>
            <a:r>
              <a:rPr lang="en-US" altLang="zh-CN" sz="2400" b="1" baseline="-25000"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SiC</a:t>
            </a:r>
            <a:r>
              <a:rPr lang="zh-CN" altLang="en-US" sz="2400" b="1" dirty="0">
                <a:latin typeface="Times New Roman" panose="02020603050405020304" pitchFamily="18" charset="0"/>
                <a:ea typeface="宋体" panose="02010600030101010101" pitchFamily="2" charset="-122"/>
              </a:rPr>
              <a:t>外，高温结构材料还有氮化硼</a:t>
            </a:r>
            <a:r>
              <a:rPr lang="en-US" altLang="zh-CN" sz="2400" b="1" dirty="0">
                <a:latin typeface="Times New Roman" panose="02020603050405020304" pitchFamily="18" charset="0"/>
                <a:ea typeface="宋体" panose="02010600030101010101" pitchFamily="2" charset="-122"/>
              </a:rPr>
              <a:t>(BN)</a:t>
            </a:r>
            <a:r>
              <a:rPr lang="zh-CN" altLang="en-US" sz="2400" b="1" dirty="0">
                <a:latin typeface="Times New Roman" panose="02020603050405020304" pitchFamily="18" charset="0"/>
                <a:ea typeface="宋体" panose="02010600030101010101" pitchFamily="2" charset="-122"/>
              </a:rPr>
              <a:t>、二氧化锆</a:t>
            </a:r>
            <a:r>
              <a:rPr lang="en-US" altLang="zh-CN" sz="2400" b="1" dirty="0">
                <a:latin typeface="Times New Roman" panose="02020603050405020304" pitchFamily="18" charset="0"/>
                <a:ea typeface="宋体" panose="02010600030101010101" pitchFamily="2" charset="-122"/>
              </a:rPr>
              <a:t>(ZrO</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9330">
                                            <p:txEl>
                                              <p:charRg st="0" end="10"/>
                                            </p:txEl>
                                          </p:spTgt>
                                        </p:tgtEl>
                                        <p:attrNameLst>
                                          <p:attrName>style.visibility</p:attrName>
                                        </p:attrNameLst>
                                      </p:cBhvr>
                                      <p:to>
                                        <p:strVal val="visible"/>
                                      </p:to>
                                    </p:set>
                                    <p:animEffect transition="in" filter="dissolve">
                                      <p:cBhvr>
                                        <p:cTn id="7" dur="500"/>
                                        <p:tgtEl>
                                          <p:spTgt spid="99330">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9330">
                                            <p:txEl>
                                              <p:charRg st="10" end="123"/>
                                            </p:txEl>
                                          </p:spTgt>
                                        </p:tgtEl>
                                        <p:attrNameLst>
                                          <p:attrName>style.visibility</p:attrName>
                                        </p:attrNameLst>
                                      </p:cBhvr>
                                      <p:to>
                                        <p:strVal val="visible"/>
                                      </p:to>
                                    </p:set>
                                    <p:animEffect transition="in" filter="dissolve">
                                      <p:cBhvr>
                                        <p:cTn id="12" dur="500"/>
                                        <p:tgtEl>
                                          <p:spTgt spid="99330">
                                            <p:txEl>
                                              <p:charRg st="10" end="1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9330">
                                            <p:txEl>
                                              <p:charRg st="123" end="241"/>
                                            </p:txEl>
                                          </p:spTgt>
                                        </p:tgtEl>
                                        <p:attrNameLst>
                                          <p:attrName>style.visibility</p:attrName>
                                        </p:attrNameLst>
                                      </p:cBhvr>
                                      <p:to>
                                        <p:strVal val="visible"/>
                                      </p:to>
                                    </p:set>
                                    <p:animEffect transition="in" filter="dissolve">
                                      <p:cBhvr>
                                        <p:cTn id="17" dur="500"/>
                                        <p:tgtEl>
                                          <p:spTgt spid="99330">
                                            <p:txEl>
                                              <p:charRg st="123" end="24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9330">
                                            <p:txEl>
                                              <p:charRg st="241" end="290"/>
                                            </p:txEl>
                                          </p:spTgt>
                                        </p:tgtEl>
                                        <p:attrNameLst>
                                          <p:attrName>style.visibility</p:attrName>
                                        </p:attrNameLst>
                                      </p:cBhvr>
                                      <p:to>
                                        <p:strVal val="visible"/>
                                      </p:to>
                                    </p:set>
                                    <p:animEffect transition="in" filter="dissolve">
                                      <p:cBhvr>
                                        <p:cTn id="22" dur="500"/>
                                        <p:tgtEl>
                                          <p:spTgt spid="99330">
                                            <p:txEl>
                                              <p:charRg st="241" end="2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p:nvPr/>
        </p:nvSpPr>
        <p:spPr>
          <a:xfrm>
            <a:off x="152400" y="1104900"/>
            <a:ext cx="88392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普通玻璃</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钠玻璃</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是将石英砂、石灰石、纯碱等混合后，在高温熔化、成型、冷却，制得的质地硬而脆的透明物体。其主要成分是</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Na</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CaO</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这种熔体称作玻璃态物质，没在固定的熔点，而是在某一温度范围内逐渐软化。在软化状态时，可将玻璃制成各种形状的制品，例如建筑玻璃饰品、化学玻璃仪器等。在普通玻璃中加入有颜色的金属氧化物，可制成</a:t>
            </a:r>
            <a:r>
              <a:rPr lang="zh-CN" altLang="en-US" sz="2400" b="1" dirty="0">
                <a:latin typeface="Times New Roman" panose="02020603050405020304" pitchFamily="18" charset="0"/>
                <a:ea typeface="宋体" panose="02010600030101010101" pitchFamily="2" charset="-122"/>
                <a:hlinkClick r:id="rId1" action="ppaction://hlinkfile"/>
              </a:rPr>
              <a:t>有色玻璃</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41987" name="Rectangle 3"/>
          <p:cNvSpPr/>
          <p:nvPr/>
        </p:nvSpPr>
        <p:spPr>
          <a:xfrm>
            <a:off x="228600" y="495300"/>
            <a:ext cx="3581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zh-CN" altLang="en-US"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3.</a:t>
            </a:r>
            <a:r>
              <a:rPr lang="zh-CN" altLang="en-US" sz="2800" b="1" dirty="0">
                <a:solidFill>
                  <a:srgbClr val="540C2B"/>
                </a:solidFill>
                <a:latin typeface="楷体_GB2312" panose="02010609030101010101" pitchFamily="49" charset="-122"/>
                <a:ea typeface="楷体_GB2312" panose="02010609030101010101" pitchFamily="49" charset="-122"/>
              </a:rPr>
              <a:t>玻璃装饰材料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0354">
                                            <p:txEl>
                                              <p:charRg st="0" end="80"/>
                                            </p:txEl>
                                          </p:spTgt>
                                        </p:tgtEl>
                                        <p:attrNameLst>
                                          <p:attrName>style.visibility</p:attrName>
                                        </p:attrNameLst>
                                      </p:cBhvr>
                                      <p:to>
                                        <p:strVal val="visible"/>
                                      </p:to>
                                    </p:set>
                                    <p:animEffect transition="in" filter="dissolve">
                                      <p:cBhvr>
                                        <p:cTn id="7" dur="500"/>
                                        <p:tgtEl>
                                          <p:spTgt spid="100354">
                                            <p:txEl>
                                              <p:charRg st="0" end="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0354">
                                            <p:txEl>
                                              <p:charRg st="80" end="187"/>
                                            </p:txEl>
                                          </p:spTgt>
                                        </p:tgtEl>
                                        <p:attrNameLst>
                                          <p:attrName>style.visibility</p:attrName>
                                        </p:attrNameLst>
                                      </p:cBhvr>
                                      <p:to>
                                        <p:strVal val="visible"/>
                                      </p:to>
                                    </p:set>
                                    <p:animEffect transition="in" filter="dissolve">
                                      <p:cBhvr>
                                        <p:cTn id="12" dur="500"/>
                                        <p:tgtEl>
                                          <p:spTgt spid="100354">
                                            <p:txEl>
                                              <p:charRg st="80" end="1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p:nvPr/>
        </p:nvSpPr>
        <p:spPr>
          <a:xfrm>
            <a:off x="166688" y="1409700"/>
            <a:ext cx="8839200" cy="20129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例如，加入</a:t>
            </a:r>
            <a:r>
              <a:rPr lang="en-US" altLang="zh-CN" sz="2400" b="1" dirty="0">
                <a:latin typeface="Times New Roman" panose="02020603050405020304" pitchFamily="18" charset="0"/>
                <a:ea typeface="宋体" panose="02010600030101010101" pitchFamily="2" charset="-122"/>
              </a:rPr>
              <a:t>CoO</a:t>
            </a:r>
            <a:r>
              <a:rPr lang="zh-CN" altLang="en-US" sz="2400" b="1" dirty="0">
                <a:latin typeface="Times New Roman" panose="02020603050405020304" pitchFamily="18" charset="0"/>
                <a:ea typeface="宋体" panose="02010600030101010101" pitchFamily="2" charset="-122"/>
              </a:rPr>
              <a:t>的玻璃呈蓝色；加入</a:t>
            </a:r>
            <a:r>
              <a:rPr lang="en-US" altLang="zh-CN" sz="2400" b="1" dirty="0">
                <a:latin typeface="Times New Roman" panose="02020603050405020304" pitchFamily="18" charset="0"/>
                <a:ea typeface="宋体" panose="02010600030101010101" pitchFamily="2" charset="-122"/>
              </a:rPr>
              <a:t>Cr</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的玻璃呈绿色；加入</a:t>
            </a:r>
            <a:r>
              <a:rPr lang="en-US" altLang="zh-CN" sz="2400" b="1" dirty="0">
                <a:latin typeface="Times New Roman" panose="02020603050405020304" pitchFamily="18" charset="0"/>
                <a:ea typeface="宋体" panose="02010600030101010101" pitchFamily="2" charset="-122"/>
              </a:rPr>
              <a:t>MnO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的玻璃呈紫色；加入</a:t>
            </a:r>
            <a:r>
              <a:rPr lang="en-US" altLang="zh-CN" sz="2400" b="1" dirty="0">
                <a:latin typeface="Times New Roman" panose="02020603050405020304" pitchFamily="18" charset="0"/>
                <a:ea typeface="宋体" panose="02010600030101010101" pitchFamily="2" charset="-122"/>
              </a:rPr>
              <a:t>Cu</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的玻璃呈红色。在钠铝硼硅酸盐玻璃中加入卤化银等感光剂，玻璃不仅有色，而且受到光照时颜色变暗、停止光照又恢复为原来的颜色。</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0354">
                                            <p:txEl>
                                              <p:charRg st="0" end="117"/>
                                            </p:txEl>
                                          </p:spTgt>
                                        </p:tgtEl>
                                        <p:attrNameLst>
                                          <p:attrName>style.visibility</p:attrName>
                                        </p:attrNameLst>
                                      </p:cBhvr>
                                      <p:to>
                                        <p:strVal val="visible"/>
                                      </p:to>
                                    </p:set>
                                    <p:animEffect transition="in" filter="dissolve">
                                      <p:cBhvr>
                                        <p:cTn id="7" dur="500"/>
                                        <p:tgtEl>
                                          <p:spTgt spid="100354">
                                            <p:txEl>
                                              <p:charRg st="0" end="1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p:nvPr/>
        </p:nvSpPr>
        <p:spPr>
          <a:xfrm>
            <a:off x="685800" y="1016000"/>
            <a:ext cx="79248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用铅代替普通玻璃中的钙，便可制得高折射率的光学玻璃，用来制造光学仪器和射线保护屏；用纯</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制成的石英玻璃具有透射紫外线的特性，可用作紫外分光光度计的透射窗和吸收池等。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改变玻璃的成分或对玻璃进行特殊处理，还可制成不同性能的玻璃。除上述与光和色有关的特殊玻璃外，还有钢化玻璃、微晶玻璃（如图</a:t>
            </a:r>
            <a:r>
              <a:rPr lang="en-US" altLang="zh-CN" sz="2400" b="1" dirty="0">
                <a:latin typeface="Times New Roman" panose="02020603050405020304" pitchFamily="18" charset="0"/>
                <a:ea typeface="宋体" panose="02010600030101010101" pitchFamily="2" charset="-122"/>
              </a:rPr>
              <a:t>6-11</a:t>
            </a:r>
            <a:r>
              <a:rPr lang="zh-CN" altLang="en-US" sz="2400" b="1" dirty="0">
                <a:latin typeface="Times New Roman" panose="02020603050405020304" pitchFamily="18" charset="0"/>
                <a:ea typeface="宋体" panose="02010600030101010101" pitchFamily="2" charset="-122"/>
              </a:rPr>
              <a:t>所示）、微孔玻璃、导电玻璃、生化玻璃等。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378">
                                            <p:txEl>
                                              <p:charRg st="0" end="93"/>
                                            </p:txEl>
                                          </p:spTgt>
                                        </p:tgtEl>
                                        <p:attrNameLst>
                                          <p:attrName>style.visibility</p:attrName>
                                        </p:attrNameLst>
                                      </p:cBhvr>
                                      <p:to>
                                        <p:strVal val="visible"/>
                                      </p:to>
                                    </p:set>
                                    <p:animEffect transition="in" filter="dissolve">
                                      <p:cBhvr>
                                        <p:cTn id="7" dur="500"/>
                                        <p:tgtEl>
                                          <p:spTgt spid="101378">
                                            <p:txEl>
                                              <p:charRg st="0" end="9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1378">
                                            <p:txEl>
                                              <p:charRg st="93" end="185"/>
                                            </p:txEl>
                                          </p:spTgt>
                                        </p:tgtEl>
                                        <p:attrNameLst>
                                          <p:attrName>style.visibility</p:attrName>
                                        </p:attrNameLst>
                                      </p:cBhvr>
                                      <p:to>
                                        <p:strVal val="visible"/>
                                      </p:to>
                                    </p:set>
                                    <p:animEffect transition="in" filter="dissolve">
                                      <p:cBhvr>
                                        <p:cTn id="12" dur="500"/>
                                        <p:tgtEl>
                                          <p:spTgt spid="101378">
                                            <p:txEl>
                                              <p:charRg st="93" end="1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p:nvPr/>
        </p:nvSpPr>
        <p:spPr>
          <a:xfrm>
            <a:off x="228600" y="1968500"/>
            <a:ext cx="87630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半导体</a:t>
            </a:r>
            <a:r>
              <a:rPr lang="zh-CN" altLang="en-US" sz="2400" b="1" dirty="0">
                <a:latin typeface="Times New Roman" panose="02020603050405020304" pitchFamily="18" charset="0"/>
                <a:ea typeface="宋体" panose="02010600030101010101" pitchFamily="2" charset="-122"/>
              </a:rPr>
              <a:t>是指导电性能介于金属和绝缘体之间的物质。与金属依靠自由电子导电不同，半导体的导电是借助</a:t>
            </a:r>
            <a:r>
              <a:rPr lang="zh-CN" altLang="en-US" sz="2400" b="1" dirty="0">
                <a:solidFill>
                  <a:srgbClr val="6600CC"/>
                </a:solidFill>
                <a:latin typeface="Times New Roman" panose="02020603050405020304" pitchFamily="18" charset="0"/>
                <a:ea typeface="宋体" panose="02010600030101010101" pitchFamily="2" charset="-122"/>
              </a:rPr>
              <a:t>载流子</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电子和空穴</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的迁移来实现的。</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半导体材料按其化学成分可分为</a:t>
            </a:r>
            <a:r>
              <a:rPr lang="zh-CN" altLang="en-US" sz="2400" b="1" dirty="0">
                <a:solidFill>
                  <a:srgbClr val="6600CC"/>
                </a:solidFill>
                <a:latin typeface="Times New Roman" panose="02020603050405020304" pitchFamily="18" charset="0"/>
                <a:ea typeface="宋体" panose="02010600030101010101" pitchFamily="2" charset="-122"/>
              </a:rPr>
              <a:t>单质半导体</a:t>
            </a:r>
            <a:r>
              <a:rPr lang="zh-CN" altLang="en-US" sz="2400" b="1" dirty="0">
                <a:latin typeface="Times New Roman" panose="02020603050405020304" pitchFamily="18" charset="0"/>
                <a:ea typeface="宋体" panose="02010600030101010101" pitchFamily="2" charset="-122"/>
              </a:rPr>
              <a:t>和</a:t>
            </a:r>
            <a:r>
              <a:rPr lang="zh-CN" altLang="en-US" sz="2400" b="1" dirty="0">
                <a:solidFill>
                  <a:srgbClr val="6600CC"/>
                </a:solidFill>
                <a:latin typeface="Times New Roman" panose="02020603050405020304" pitchFamily="18" charset="0"/>
                <a:ea typeface="宋体" panose="02010600030101010101" pitchFamily="2" charset="-122"/>
              </a:rPr>
              <a:t>化合物导体</a:t>
            </a:r>
            <a:r>
              <a:rPr lang="zh-CN" altLang="en-US" sz="2400" b="1" dirty="0">
                <a:latin typeface="Times New Roman" panose="02020603050405020304" pitchFamily="18" charset="0"/>
                <a:ea typeface="宋体" panose="02010600030101010101" pitchFamily="2" charset="-122"/>
              </a:rPr>
              <a:t>；按其是否含有杂质分为本征半导体和杂质半导体。处于元素周期表</a:t>
            </a:r>
            <a:r>
              <a:rPr lang="en-US" altLang="zh-CN" sz="2400" b="1" dirty="0">
                <a:latin typeface="Times New Roman" panose="02020603050405020304" pitchFamily="18" charset="0"/>
                <a:ea typeface="宋体" panose="02010600030101010101" pitchFamily="2" charset="-122"/>
              </a:rPr>
              <a:t>p</a:t>
            </a:r>
            <a:r>
              <a:rPr lang="zh-CN" altLang="en-US" sz="2400" b="1" dirty="0">
                <a:latin typeface="Times New Roman" panose="02020603050405020304" pitchFamily="18" charset="0"/>
                <a:ea typeface="宋体" panose="02010600030101010101" pitchFamily="2" charset="-122"/>
              </a:rPr>
              <a:t>区金属与非金属交界处的元素单质一般都具有半导体性质，但最具有实用价值的单质半导体是</a:t>
            </a:r>
            <a:r>
              <a:rPr lang="en-US" altLang="zh-CN" sz="2400" b="1" dirty="0">
                <a:latin typeface="Times New Roman" panose="02020603050405020304" pitchFamily="18" charset="0"/>
                <a:ea typeface="宋体" panose="02010600030101010101" pitchFamily="2" charset="-122"/>
              </a:rPr>
              <a:t>Si</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Ge</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102403" name="Text Box 3"/>
          <p:cNvSpPr txBox="1"/>
          <p:nvPr/>
        </p:nvSpPr>
        <p:spPr>
          <a:xfrm>
            <a:off x="0" y="635000"/>
            <a:ext cx="5638800"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   6.2.3</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新型无机非金属材料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45060" name="Rectangle 4"/>
          <p:cNvSpPr/>
          <p:nvPr/>
        </p:nvSpPr>
        <p:spPr>
          <a:xfrm>
            <a:off x="0" y="1333500"/>
            <a:ext cx="2971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zh-CN" altLang="en-US"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1.</a:t>
            </a:r>
            <a:r>
              <a:rPr lang="zh-CN" altLang="en-US" sz="2800" b="1" dirty="0">
                <a:solidFill>
                  <a:srgbClr val="540C2B"/>
                </a:solidFill>
                <a:latin typeface="楷体_GB2312" panose="02010609030101010101" pitchFamily="49" charset="-122"/>
                <a:ea typeface="楷体_GB2312" panose="02010609030101010101" pitchFamily="49" charset="-122"/>
              </a:rPr>
              <a:t>半导体材料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02403"/>
                                        </p:tgtEl>
                                        <p:attrNameLst>
                                          <p:attrName>style.visibility</p:attrName>
                                        </p:attrNameLst>
                                      </p:cBhvr>
                                      <p:to>
                                        <p:strVal val="visible"/>
                                      </p:to>
                                    </p:set>
                                    <p:anim calcmode="lin" valueType="num">
                                      <p:cBhvr>
                                        <p:cTn id="7" dur="1000" fill="hold"/>
                                        <p:tgtEl>
                                          <p:spTgt spid="102403"/>
                                        </p:tgtEl>
                                        <p:attrNameLst>
                                          <p:attrName>ppt_w</p:attrName>
                                        </p:attrNameLst>
                                      </p:cBhvr>
                                      <p:tavLst>
                                        <p:tav tm="0">
                                          <p:val>
                                            <p:fltVal val="0.000000"/>
                                          </p:val>
                                        </p:tav>
                                        <p:tav tm="100000">
                                          <p:val>
                                            <p:strVal val="#ppt_w"/>
                                          </p:val>
                                        </p:tav>
                                      </p:tavLst>
                                    </p:anim>
                                    <p:anim calcmode="lin" valueType="num">
                                      <p:cBhvr>
                                        <p:cTn id="8" dur="1000" fill="hold"/>
                                        <p:tgtEl>
                                          <p:spTgt spid="102403"/>
                                        </p:tgtEl>
                                        <p:attrNameLst>
                                          <p:attrName>ppt_h</p:attrName>
                                        </p:attrNameLst>
                                      </p:cBhvr>
                                      <p:tavLst>
                                        <p:tav tm="0">
                                          <p:val>
                                            <p:fltVal val="0.000000"/>
                                          </p:val>
                                        </p:tav>
                                        <p:tav tm="100000">
                                          <p:val>
                                            <p:strVal val="#ppt_h"/>
                                          </p:val>
                                        </p:tav>
                                      </p:tavLst>
                                    </p:anim>
                                    <p:anim calcmode="lin" valueType="num">
                                      <p:cBhvr>
                                        <p:cTn id="9" dur="1000" fill="hold"/>
                                        <p:tgtEl>
                                          <p:spTgt spid="102403"/>
                                        </p:tgtEl>
                                        <p:attrNameLst>
                                          <p:attrName>style.rotation</p:attrName>
                                        </p:attrNameLst>
                                      </p:cBhvr>
                                      <p:tavLst>
                                        <p:tav tm="0">
                                          <p:val>
                                            <p:fltVal val="90.000000"/>
                                          </p:val>
                                        </p:tav>
                                        <p:tav tm="100000">
                                          <p:val>
                                            <p:fltVal val="0.000000"/>
                                          </p:val>
                                        </p:tav>
                                      </p:tavLst>
                                    </p:anim>
                                    <p:animEffect transition="in" filter="fade">
                                      <p:cBhvr>
                                        <p:cTn id="10" dur="1000"/>
                                        <p:tgtEl>
                                          <p:spTgt spid="10240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2402">
                                            <p:txEl>
                                              <p:charRg st="0" end="73"/>
                                            </p:txEl>
                                          </p:spTgt>
                                        </p:tgtEl>
                                        <p:attrNameLst>
                                          <p:attrName>style.visibility</p:attrName>
                                        </p:attrNameLst>
                                      </p:cBhvr>
                                      <p:to>
                                        <p:strVal val="visible"/>
                                      </p:to>
                                    </p:set>
                                    <p:animEffect transition="in" filter="dissolve">
                                      <p:cBhvr>
                                        <p:cTn id="15" dur="500"/>
                                        <p:tgtEl>
                                          <p:spTgt spid="102402">
                                            <p:txEl>
                                              <p:charRg st="0" end="7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2402">
                                            <p:txEl>
                                              <p:charRg st="73" end="185"/>
                                            </p:txEl>
                                          </p:spTgt>
                                        </p:tgtEl>
                                        <p:attrNameLst>
                                          <p:attrName>style.visibility</p:attrName>
                                        </p:attrNameLst>
                                      </p:cBhvr>
                                      <p:to>
                                        <p:strVal val="visible"/>
                                      </p:to>
                                    </p:set>
                                    <p:animEffect transition="in" filter="dissolve">
                                      <p:cBhvr>
                                        <p:cTn id="20" dur="500"/>
                                        <p:tgtEl>
                                          <p:spTgt spid="102402">
                                            <p:txEl>
                                              <p:charRg st="73" end="1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p"/>
      <p:bldP spid="10240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p:nvPr/>
        </p:nvSpPr>
        <p:spPr>
          <a:xfrm>
            <a:off x="609600" y="698500"/>
            <a:ext cx="8153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在电子工业中，使用最多的是杂质半导体，通过选择性的掺入杂质，改变半导体的导电形式，达到对杂质半导体电导率的控制与调节。</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根据对导电性的影响，杂质半导体可分为两种：载流子是电子的半导体称为</a:t>
            </a:r>
            <a:r>
              <a:rPr lang="zh-CN" altLang="en-US" sz="2400" b="1" dirty="0">
                <a:solidFill>
                  <a:srgbClr val="6600CC"/>
                </a:solidFill>
                <a:latin typeface="Times New Roman" panose="02020603050405020304" pitchFamily="18" charset="0"/>
                <a:ea typeface="宋体" panose="02010600030101010101" pitchFamily="2" charset="-122"/>
              </a:rPr>
              <a:t>电子半导体</a:t>
            </a:r>
            <a:r>
              <a:rPr lang="zh-CN" altLang="en-US" sz="2400" b="1" dirty="0">
                <a:latin typeface="Times New Roman" panose="02020603050405020304" pitchFamily="18" charset="0"/>
                <a:ea typeface="宋体" panose="02010600030101010101" pitchFamily="2" charset="-122"/>
              </a:rPr>
              <a:t>或</a:t>
            </a:r>
            <a:r>
              <a:rPr lang="en-US" altLang="zh-CN" sz="2400" b="1" dirty="0">
                <a:solidFill>
                  <a:srgbClr val="6600CC"/>
                </a:solidFill>
                <a:latin typeface="Times New Roman" panose="02020603050405020304" pitchFamily="18" charset="0"/>
                <a:ea typeface="宋体" panose="02010600030101010101" pitchFamily="2" charset="-122"/>
              </a:rPr>
              <a:t>n</a:t>
            </a:r>
            <a:r>
              <a:rPr lang="zh-CN" altLang="en-US" sz="2400" b="1" dirty="0">
                <a:solidFill>
                  <a:srgbClr val="6600CC"/>
                </a:solidFill>
                <a:latin typeface="Times New Roman" panose="02020603050405020304" pitchFamily="18" charset="0"/>
                <a:ea typeface="宋体" panose="02010600030101010101" pitchFamily="2" charset="-122"/>
              </a:rPr>
              <a:t>型半导体</a:t>
            </a:r>
            <a:r>
              <a:rPr lang="en-US" altLang="zh-CN" sz="2400" b="1" dirty="0">
                <a:solidFill>
                  <a:srgbClr val="6600CC"/>
                </a:solidFill>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；载流子是空穴的半导体称为</a:t>
            </a:r>
            <a:r>
              <a:rPr lang="zh-CN" altLang="en-US" sz="2400" b="1" dirty="0">
                <a:solidFill>
                  <a:srgbClr val="6600CC"/>
                </a:solidFill>
                <a:latin typeface="Times New Roman" panose="02020603050405020304" pitchFamily="18" charset="0"/>
                <a:ea typeface="宋体" panose="02010600030101010101" pitchFamily="2" charset="-122"/>
              </a:rPr>
              <a:t>空穴半导体</a:t>
            </a:r>
            <a:r>
              <a:rPr lang="zh-CN" altLang="en-US" sz="2400" b="1" dirty="0">
                <a:latin typeface="Times New Roman" panose="02020603050405020304" pitchFamily="18" charset="0"/>
                <a:ea typeface="宋体" panose="02010600030101010101" pitchFamily="2" charset="-122"/>
              </a:rPr>
              <a:t>或</a:t>
            </a:r>
            <a:r>
              <a:rPr lang="en-US" altLang="zh-CN" sz="2400" b="1" dirty="0">
                <a:solidFill>
                  <a:srgbClr val="6600CC"/>
                </a:solidFill>
                <a:latin typeface="Times New Roman" panose="02020603050405020304" pitchFamily="18" charset="0"/>
                <a:ea typeface="宋体" panose="02010600030101010101" pitchFamily="2" charset="-122"/>
              </a:rPr>
              <a:t>p</a:t>
            </a:r>
            <a:r>
              <a:rPr lang="zh-CN" altLang="en-US" sz="2400" b="1" dirty="0">
                <a:solidFill>
                  <a:srgbClr val="6600CC"/>
                </a:solidFill>
                <a:latin typeface="Times New Roman" panose="02020603050405020304" pitchFamily="18" charset="0"/>
                <a:ea typeface="宋体" panose="02010600030101010101" pitchFamily="2" charset="-122"/>
              </a:rPr>
              <a:t>型半导体</a:t>
            </a:r>
            <a:r>
              <a:rPr lang="en-US" altLang="zh-CN" sz="2400" b="1" dirty="0">
                <a:solidFill>
                  <a:srgbClr val="6600CC"/>
                </a:solidFill>
                <a:latin typeface="Times New Roman" panose="02020603050405020304" pitchFamily="18" charset="0"/>
                <a:ea typeface="宋体" panose="02010600030101010101" pitchFamily="2" charset="-122"/>
              </a:rPr>
              <a:t>(+)</a:t>
            </a:r>
            <a:r>
              <a:rPr lang="zh-CN" altLang="en-US" sz="2400" b="1" dirty="0">
                <a:solidFill>
                  <a:srgbClr val="6600CC"/>
                </a:solidFill>
                <a:latin typeface="Times New Roman" panose="02020603050405020304" pitchFamily="18" charset="0"/>
                <a:ea typeface="宋体" panose="02010600030101010101" pitchFamily="2" charset="-122"/>
              </a:rPr>
              <a:t>。</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如果将</a:t>
            </a:r>
            <a:r>
              <a:rPr lang="en-US" altLang="zh-CN" sz="2400" b="1" dirty="0">
                <a:latin typeface="Times New Roman" panose="02020603050405020304" pitchFamily="18" charset="0"/>
                <a:ea typeface="宋体" panose="02010600030101010101" pitchFamily="2" charset="-122"/>
              </a:rPr>
              <a:t>p</a:t>
            </a:r>
            <a:r>
              <a:rPr lang="zh-CN" altLang="en-US" sz="2400" b="1" dirty="0">
                <a:latin typeface="Times New Roman" panose="02020603050405020304" pitchFamily="18" charset="0"/>
                <a:ea typeface="宋体" panose="02010600030101010101" pitchFamily="2" charset="-122"/>
              </a:rPr>
              <a:t>型半导体与</a:t>
            </a:r>
            <a:r>
              <a:rPr lang="en-US" altLang="zh-CN" sz="2400" b="1" dirty="0">
                <a:latin typeface="Times New Roman" panose="02020603050405020304" pitchFamily="18" charset="0"/>
                <a:ea typeface="宋体" panose="02010600030101010101" pitchFamily="2" charset="-122"/>
              </a:rPr>
              <a:t>n</a:t>
            </a:r>
            <a:r>
              <a:rPr lang="zh-CN" altLang="en-US" sz="2400" b="1" dirty="0">
                <a:latin typeface="Times New Roman" panose="02020603050405020304" pitchFamily="18" charset="0"/>
                <a:ea typeface="宋体" panose="02010600030101010101" pitchFamily="2" charset="-122"/>
              </a:rPr>
              <a:t>型半导体接触，组成</a:t>
            </a:r>
            <a:r>
              <a:rPr lang="en-US" altLang="zh-CN" sz="2400" b="1" dirty="0">
                <a:solidFill>
                  <a:srgbClr val="6600CC"/>
                </a:solidFill>
                <a:latin typeface="Times New Roman" panose="02020603050405020304" pitchFamily="18" charset="0"/>
                <a:ea typeface="宋体" panose="02010600030101010101" pitchFamily="2" charset="-122"/>
              </a:rPr>
              <a:t>p-n</a:t>
            </a:r>
            <a:r>
              <a:rPr lang="zh-CN" altLang="en-US" sz="2400" b="1" dirty="0">
                <a:solidFill>
                  <a:srgbClr val="6600CC"/>
                </a:solidFill>
                <a:latin typeface="Times New Roman" panose="02020603050405020304" pitchFamily="18" charset="0"/>
                <a:ea typeface="宋体" panose="02010600030101010101" pitchFamily="2" charset="-122"/>
              </a:rPr>
              <a:t>结</a:t>
            </a:r>
            <a:r>
              <a:rPr lang="zh-CN" altLang="en-US" sz="2400" b="1" dirty="0">
                <a:latin typeface="Times New Roman" panose="02020603050405020304" pitchFamily="18" charset="0"/>
                <a:ea typeface="宋体" panose="02010600030101010101" pitchFamily="2" charset="-122"/>
              </a:rPr>
              <a:t>，利用</a:t>
            </a:r>
            <a:r>
              <a:rPr lang="en-US" altLang="zh-CN" sz="2400" b="1" dirty="0">
                <a:latin typeface="Times New Roman" panose="02020603050405020304" pitchFamily="18" charset="0"/>
                <a:ea typeface="宋体" panose="02010600030101010101" pitchFamily="2" charset="-122"/>
              </a:rPr>
              <a:t>p-n</a:t>
            </a:r>
            <a:r>
              <a:rPr lang="zh-CN" altLang="en-US" sz="2400" b="1" dirty="0">
                <a:latin typeface="Times New Roman" panose="02020603050405020304" pitchFamily="18" charset="0"/>
                <a:ea typeface="宋体" panose="02010600030101010101" pitchFamily="2" charset="-122"/>
              </a:rPr>
              <a:t>结形成的接触电势差，可对交变电源电压起整流作用，或对信号起放大作用。整个晶体管技术就是在</a:t>
            </a:r>
            <a:r>
              <a:rPr lang="en-US" altLang="zh-CN" sz="2400" b="1" dirty="0">
                <a:latin typeface="Times New Roman" panose="02020603050405020304" pitchFamily="18" charset="0"/>
                <a:ea typeface="宋体" panose="02010600030101010101" pitchFamily="2" charset="-122"/>
              </a:rPr>
              <a:t>p-n</a:t>
            </a:r>
            <a:r>
              <a:rPr lang="zh-CN" altLang="en-US" sz="2400" b="1" dirty="0">
                <a:latin typeface="Times New Roman" panose="02020603050405020304" pitchFamily="18" charset="0"/>
                <a:ea typeface="宋体" panose="02010600030101010101" pitchFamily="2" charset="-122"/>
              </a:rPr>
              <a:t>结的基础上发展起来的。</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450">
                                            <p:txEl>
                                              <p:charRg st="0" end="67"/>
                                            </p:txEl>
                                          </p:spTgt>
                                        </p:tgtEl>
                                        <p:attrNameLst>
                                          <p:attrName>style.visibility</p:attrName>
                                        </p:attrNameLst>
                                      </p:cBhvr>
                                      <p:to>
                                        <p:strVal val="visible"/>
                                      </p:to>
                                    </p:set>
                                    <p:animEffect transition="in" filter="dissolve">
                                      <p:cBhvr>
                                        <p:cTn id="7" dur="500"/>
                                        <p:tgtEl>
                                          <p:spTgt spid="104450">
                                            <p:txEl>
                                              <p:charRg st="0"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4450">
                                            <p:txEl>
                                              <p:charRg st="67" end="150"/>
                                            </p:txEl>
                                          </p:spTgt>
                                        </p:tgtEl>
                                        <p:attrNameLst>
                                          <p:attrName>style.visibility</p:attrName>
                                        </p:attrNameLst>
                                      </p:cBhvr>
                                      <p:to>
                                        <p:strVal val="visible"/>
                                      </p:to>
                                    </p:set>
                                    <p:animEffect transition="in" filter="dissolve">
                                      <p:cBhvr>
                                        <p:cTn id="12" dur="500"/>
                                        <p:tgtEl>
                                          <p:spTgt spid="104450">
                                            <p:txEl>
                                              <p:charRg st="67" end="1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4450">
                                            <p:txEl>
                                              <p:charRg st="150" end="246"/>
                                            </p:txEl>
                                          </p:spTgt>
                                        </p:tgtEl>
                                        <p:attrNameLst>
                                          <p:attrName>style.visibility</p:attrName>
                                        </p:attrNameLst>
                                      </p:cBhvr>
                                      <p:to>
                                        <p:strVal val="visible"/>
                                      </p:to>
                                    </p:set>
                                    <p:animEffect transition="in" filter="dissolve">
                                      <p:cBhvr>
                                        <p:cTn id="17" dur="500"/>
                                        <p:tgtEl>
                                          <p:spTgt spid="104450">
                                            <p:txEl>
                                              <p:charRg st="150" end="2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p:nvPr/>
        </p:nvSpPr>
        <p:spPr>
          <a:xfrm>
            <a:off x="452438" y="495300"/>
            <a:ext cx="8462962"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杂质半导体的电导率比本征半导体的要高得多。同时掺杂还丰富了半导体的种类和应用。把各种类型的半导体适当组合，可制成各种晶体管和小型化的集成电路，广泛用于电子计算机、电视机、通讯设备和雷达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利用半导体电导率随温度升高而迅速增大的特点</a:t>
            </a:r>
            <a:r>
              <a:rPr lang="zh-CN" altLang="en-US" sz="2400" b="1" dirty="0">
                <a:latin typeface="Times New Roman" panose="02020603050405020304" pitchFamily="18" charset="0"/>
                <a:ea typeface="宋体" panose="02010600030101010101" pitchFamily="2" charset="-122"/>
              </a:rPr>
              <a:t>，可制成各种热敏电阻，广泛用于测量温度。</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利用光照能使半导体电导率大大增加的性质</a:t>
            </a:r>
            <a:r>
              <a:rPr lang="zh-CN" altLang="en-US" sz="2400" b="1" dirty="0">
                <a:latin typeface="Times New Roman" panose="02020603050405020304" pitchFamily="18" charset="0"/>
                <a:ea typeface="宋体" panose="02010600030101010101" pitchFamily="2" charset="-122"/>
              </a:rPr>
              <a:t>，可制造光敏电阻，用于自动控制、遥感、静电复印等。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利用半导体中载流子的密度随温度改变而发生显著变化的特点</a:t>
            </a:r>
            <a:r>
              <a:rPr lang="zh-CN" altLang="en-US" sz="2400" b="1" dirty="0">
                <a:latin typeface="Times New Roman" panose="02020603050405020304" pitchFamily="18" charset="0"/>
                <a:ea typeface="宋体" panose="02010600030101010101" pitchFamily="2" charset="-122"/>
              </a:rPr>
              <a:t>，可制成半导体制冷装置。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474">
                                            <p:txEl>
                                              <p:charRg st="0" end="102"/>
                                            </p:txEl>
                                          </p:spTgt>
                                        </p:tgtEl>
                                        <p:attrNameLst>
                                          <p:attrName>style.visibility</p:attrName>
                                        </p:attrNameLst>
                                      </p:cBhvr>
                                      <p:to>
                                        <p:strVal val="visible"/>
                                      </p:to>
                                    </p:set>
                                    <p:animEffect transition="in" filter="dissolve">
                                      <p:cBhvr>
                                        <p:cTn id="7" dur="500"/>
                                        <p:tgtEl>
                                          <p:spTgt spid="105474">
                                            <p:txEl>
                                              <p:charRg st="0" end="10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5474">
                                            <p:txEl>
                                              <p:charRg st="102" end="152"/>
                                            </p:txEl>
                                          </p:spTgt>
                                        </p:tgtEl>
                                        <p:attrNameLst>
                                          <p:attrName>style.visibility</p:attrName>
                                        </p:attrNameLst>
                                      </p:cBhvr>
                                      <p:to>
                                        <p:strVal val="visible"/>
                                      </p:to>
                                    </p:set>
                                    <p:animEffect transition="in" filter="dissolve">
                                      <p:cBhvr>
                                        <p:cTn id="12" dur="500"/>
                                        <p:tgtEl>
                                          <p:spTgt spid="105474">
                                            <p:txEl>
                                              <p:charRg st="102" end="1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5474">
                                            <p:txEl>
                                              <p:charRg st="152" end="204"/>
                                            </p:txEl>
                                          </p:spTgt>
                                        </p:tgtEl>
                                        <p:attrNameLst>
                                          <p:attrName>style.visibility</p:attrName>
                                        </p:attrNameLst>
                                      </p:cBhvr>
                                      <p:to>
                                        <p:strVal val="visible"/>
                                      </p:to>
                                    </p:set>
                                    <p:animEffect transition="in" filter="dissolve">
                                      <p:cBhvr>
                                        <p:cTn id="17" dur="500"/>
                                        <p:tgtEl>
                                          <p:spTgt spid="105474">
                                            <p:txEl>
                                              <p:charRg st="152" end="20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5474">
                                            <p:txEl>
                                              <p:charRg st="204" end="257"/>
                                            </p:txEl>
                                          </p:spTgt>
                                        </p:tgtEl>
                                        <p:attrNameLst>
                                          <p:attrName>style.visibility</p:attrName>
                                        </p:attrNameLst>
                                      </p:cBhvr>
                                      <p:to>
                                        <p:strVal val="visible"/>
                                      </p:to>
                                    </p:set>
                                    <p:animEffect transition="in" filter="dissolve">
                                      <p:cBhvr>
                                        <p:cTn id="22" dur="500"/>
                                        <p:tgtEl>
                                          <p:spTgt spid="105474">
                                            <p:txEl>
                                              <p:charRg st="204" end="2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p:nvPr/>
        </p:nvSpPr>
        <p:spPr>
          <a:xfrm>
            <a:off x="381000" y="495300"/>
            <a:ext cx="86106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利用温差能使不同半导体材料间产生温差电势的特点，可以制作热电偶等。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由两种不同半导体材料所组成的</a:t>
            </a:r>
            <a:r>
              <a:rPr lang="en-US" altLang="zh-CN" sz="2400" b="1" dirty="0">
                <a:latin typeface="Times New Roman" panose="02020603050405020304" pitchFamily="18" charset="0"/>
                <a:ea typeface="宋体" panose="02010600030101010101" pitchFamily="2" charset="-122"/>
              </a:rPr>
              <a:t>p-n</a:t>
            </a:r>
            <a:r>
              <a:rPr lang="zh-CN" altLang="en-US" sz="2400" b="1" dirty="0">
                <a:latin typeface="Times New Roman" panose="02020603050405020304" pitchFamily="18" charset="0"/>
                <a:ea typeface="宋体" panose="02010600030101010101" pitchFamily="2" charset="-122"/>
              </a:rPr>
              <a:t>结，称为</a:t>
            </a:r>
            <a:r>
              <a:rPr lang="zh-CN" altLang="en-US" sz="2400" b="1" dirty="0">
                <a:solidFill>
                  <a:srgbClr val="6600CC"/>
                </a:solidFill>
                <a:latin typeface="Times New Roman" panose="02020603050405020304" pitchFamily="18" charset="0"/>
                <a:ea typeface="宋体" panose="02010600030101010101" pitchFamily="2" charset="-122"/>
              </a:rPr>
              <a:t>异质结。</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两种或两种以上不同材料的薄层周期性的交替构成</a:t>
            </a:r>
            <a:r>
              <a:rPr lang="zh-CN" altLang="en-US" sz="2400" b="1" dirty="0">
                <a:solidFill>
                  <a:srgbClr val="6600CC"/>
                </a:solidFill>
                <a:latin typeface="Times New Roman" panose="02020603050405020304" pitchFamily="18" charset="0"/>
                <a:ea typeface="宋体" panose="02010600030101010101" pitchFamily="2" charset="-122"/>
              </a:rPr>
              <a:t>超晶格。</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两个同样的异质结背对背接起来，构成一个</a:t>
            </a:r>
            <a:r>
              <a:rPr lang="zh-CN" altLang="en-US" sz="2400" b="1" dirty="0">
                <a:solidFill>
                  <a:srgbClr val="6600CC"/>
                </a:solidFill>
                <a:latin typeface="Times New Roman" panose="02020603050405020304" pitchFamily="18" charset="0"/>
                <a:ea typeface="宋体" panose="02010600030101010101" pitchFamily="2" charset="-122"/>
              </a:rPr>
              <a:t>量子阱</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半导体异质结、超晶格和量子阱材料统称为</a:t>
            </a:r>
            <a:r>
              <a:rPr lang="zh-CN" altLang="en-US" sz="2400" b="1" dirty="0">
                <a:solidFill>
                  <a:srgbClr val="6600CC"/>
                </a:solidFill>
                <a:latin typeface="Times New Roman" panose="02020603050405020304" pitchFamily="18" charset="0"/>
                <a:ea typeface="宋体" panose="02010600030101010101" pitchFamily="2" charset="-122"/>
              </a:rPr>
              <a:t>半导体微结构材料。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近</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年来，半导体微结构材料的出现，改变了人们设计电子器件的思想，开辟了半导体材料更广阔的应用前景。</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6498">
                                            <p:txEl>
                                              <p:charRg st="0" end="42"/>
                                            </p:txEl>
                                          </p:spTgt>
                                        </p:tgtEl>
                                        <p:attrNameLst>
                                          <p:attrName>style.visibility</p:attrName>
                                        </p:attrNameLst>
                                      </p:cBhvr>
                                      <p:to>
                                        <p:strVal val="visible"/>
                                      </p:to>
                                    </p:set>
                                    <p:animEffect transition="in" filter="dissolve">
                                      <p:cBhvr>
                                        <p:cTn id="7" dur="500"/>
                                        <p:tgtEl>
                                          <p:spTgt spid="106498">
                                            <p:txEl>
                                              <p:charRg st="0" end="4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6498">
                                            <p:txEl>
                                              <p:charRg st="42" end="75"/>
                                            </p:txEl>
                                          </p:spTgt>
                                        </p:tgtEl>
                                        <p:attrNameLst>
                                          <p:attrName>style.visibility</p:attrName>
                                        </p:attrNameLst>
                                      </p:cBhvr>
                                      <p:to>
                                        <p:strVal val="visible"/>
                                      </p:to>
                                    </p:set>
                                    <p:animEffect transition="in" filter="dissolve">
                                      <p:cBhvr>
                                        <p:cTn id="12" dur="500"/>
                                        <p:tgtEl>
                                          <p:spTgt spid="106498">
                                            <p:txEl>
                                              <p:charRg st="42" end="7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6498">
                                            <p:txEl>
                                              <p:charRg st="75" end="109"/>
                                            </p:txEl>
                                          </p:spTgt>
                                        </p:tgtEl>
                                        <p:attrNameLst>
                                          <p:attrName>style.visibility</p:attrName>
                                        </p:attrNameLst>
                                      </p:cBhvr>
                                      <p:to>
                                        <p:strVal val="visible"/>
                                      </p:to>
                                    </p:set>
                                    <p:animEffect transition="in" filter="dissolve">
                                      <p:cBhvr>
                                        <p:cTn id="17" dur="500"/>
                                        <p:tgtEl>
                                          <p:spTgt spid="106498">
                                            <p:txEl>
                                              <p:charRg st="75" end="10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6498">
                                            <p:txEl>
                                              <p:charRg st="109" end="141"/>
                                            </p:txEl>
                                          </p:spTgt>
                                        </p:tgtEl>
                                        <p:attrNameLst>
                                          <p:attrName>style.visibility</p:attrName>
                                        </p:attrNameLst>
                                      </p:cBhvr>
                                      <p:to>
                                        <p:strVal val="visible"/>
                                      </p:to>
                                    </p:set>
                                    <p:animEffect transition="in" filter="dissolve">
                                      <p:cBhvr>
                                        <p:cTn id="22" dur="500"/>
                                        <p:tgtEl>
                                          <p:spTgt spid="106498">
                                            <p:txEl>
                                              <p:charRg st="109" end="14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6498">
                                            <p:txEl>
                                              <p:charRg st="141" end="178"/>
                                            </p:txEl>
                                          </p:spTgt>
                                        </p:tgtEl>
                                        <p:attrNameLst>
                                          <p:attrName>style.visibility</p:attrName>
                                        </p:attrNameLst>
                                      </p:cBhvr>
                                      <p:to>
                                        <p:strVal val="visible"/>
                                      </p:to>
                                    </p:set>
                                    <p:animEffect transition="in" filter="dissolve">
                                      <p:cBhvr>
                                        <p:cTn id="27" dur="500"/>
                                        <p:tgtEl>
                                          <p:spTgt spid="106498">
                                            <p:txEl>
                                              <p:charRg st="141" end="1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6498">
                                            <p:txEl>
                                              <p:charRg st="178" end="237"/>
                                            </p:txEl>
                                          </p:spTgt>
                                        </p:tgtEl>
                                        <p:attrNameLst>
                                          <p:attrName>style.visibility</p:attrName>
                                        </p:attrNameLst>
                                      </p:cBhvr>
                                      <p:to>
                                        <p:strVal val="visible"/>
                                      </p:to>
                                    </p:set>
                                    <p:animEffect transition="in" filter="dissolve">
                                      <p:cBhvr>
                                        <p:cTn id="32" dur="500"/>
                                        <p:tgtEl>
                                          <p:spTgt spid="106498">
                                            <p:txEl>
                                              <p:charRg st="178" end="2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p:nvPr/>
        </p:nvSpPr>
        <p:spPr>
          <a:xfrm>
            <a:off x="457200" y="1016000"/>
            <a:ext cx="8153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光通讯中使用的纤维称为</a:t>
            </a:r>
            <a:r>
              <a:rPr lang="zh-CN" altLang="en-US" sz="2400" b="1" dirty="0">
                <a:latin typeface="Times New Roman" panose="02020603050405020304" pitchFamily="18" charset="0"/>
                <a:ea typeface="宋体" panose="02010600030101010101" pitchFamily="2" charset="-122"/>
                <a:hlinkClick r:id="rId1" action="ppaction://hlinkfile"/>
              </a:rPr>
              <a:t>光导纤维</a:t>
            </a:r>
            <a:r>
              <a:rPr lang="zh-CN" altLang="en-US" sz="2400" b="1" dirty="0">
                <a:latin typeface="Times New Roman" panose="02020603050405020304" pitchFamily="18" charset="0"/>
                <a:ea typeface="宋体" panose="02010600030101010101" pitchFamily="2" charset="-122"/>
              </a:rPr>
              <a:t>，简称光纤，如图</a:t>
            </a:r>
            <a:r>
              <a:rPr lang="en-US" altLang="zh-CN" sz="2400" b="1" dirty="0">
                <a:latin typeface="Times New Roman" panose="02020603050405020304" pitchFamily="18" charset="0"/>
                <a:ea typeface="宋体" panose="02010600030101010101" pitchFamily="2" charset="-122"/>
              </a:rPr>
              <a:t>6-12</a:t>
            </a:r>
            <a:r>
              <a:rPr lang="zh-CN" altLang="en-US" sz="2400" b="1" dirty="0">
                <a:latin typeface="Times New Roman" panose="02020603050405020304" pitchFamily="18" charset="0"/>
                <a:ea typeface="宋体" panose="02010600030101010101" pitchFamily="2" charset="-122"/>
              </a:rPr>
              <a:t>所示。光纤是近几十年发展起来的新型材料。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石英光纤是最具实用价值的光纤，已广泛用于各种通讯系统。石英光纤的主要成分为</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，还要添加少量的</a:t>
            </a:r>
            <a:r>
              <a:rPr lang="en-US" altLang="zh-CN" sz="2400" b="1" dirty="0">
                <a:latin typeface="Times New Roman" panose="02020603050405020304" pitchFamily="18" charset="0"/>
                <a:ea typeface="宋体" panose="02010600030101010101" pitchFamily="2" charset="-122"/>
              </a:rPr>
              <a:t>GeO</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及 </a:t>
            </a:r>
            <a:r>
              <a:rPr lang="en-US" altLang="zh-CN" sz="2400" b="1" dirty="0">
                <a:latin typeface="Times New Roman" panose="02020603050405020304" pitchFamily="18" charset="0"/>
                <a:ea typeface="宋体" panose="02010600030101010101" pitchFamily="2" charset="-122"/>
              </a:rPr>
              <a:t>F</a:t>
            </a:r>
            <a:r>
              <a:rPr lang="zh-CN" altLang="en-US" sz="2400" b="1" dirty="0">
                <a:latin typeface="Times New Roman" panose="02020603050405020304" pitchFamily="18" charset="0"/>
                <a:ea typeface="宋体" panose="02010600030101010101" pitchFamily="2" charset="-122"/>
              </a:rPr>
              <a:t>等控制光纤的折射率。</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这种光纤原材料资源丰富，化学性能极其稳定，除氢氟酸外，对各种化学试剂有较强的耐蚀性及优异的长期可靠性，而且生产技术先进，因此已实际应用在各种通讯线路上。除石英光纤外，其他类型的光纤材料也在大力开发之中。</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49155" name="Rectangle 3"/>
          <p:cNvSpPr/>
          <p:nvPr/>
        </p:nvSpPr>
        <p:spPr>
          <a:xfrm>
            <a:off x="0" y="444500"/>
            <a:ext cx="2667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spcBef>
                <a:spcPct val="0"/>
              </a:spcBef>
              <a:buClrTx/>
              <a:buSzTx/>
              <a:buFontTx/>
              <a:buNone/>
            </a:pPr>
            <a:r>
              <a:rPr lang="zh-CN" altLang="en-US" sz="2800" b="1" dirty="0">
                <a:solidFill>
                  <a:schemeClr val="tx2"/>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光导纤维</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22">
                                            <p:txEl>
                                              <p:charRg st="0" end="56"/>
                                            </p:txEl>
                                          </p:spTgt>
                                        </p:tgtEl>
                                        <p:attrNameLst>
                                          <p:attrName>style.visibility</p:attrName>
                                        </p:attrNameLst>
                                      </p:cBhvr>
                                      <p:to>
                                        <p:strVal val="visible"/>
                                      </p:to>
                                    </p:set>
                                    <p:animEffect transition="in" filter="dissolve">
                                      <p:cBhvr>
                                        <p:cTn id="7" dur="500"/>
                                        <p:tgtEl>
                                          <p:spTgt spid="107522">
                                            <p:txEl>
                                              <p:charRg st="0"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7522">
                                            <p:txEl>
                                              <p:charRg st="56" end="137"/>
                                            </p:txEl>
                                          </p:spTgt>
                                        </p:tgtEl>
                                        <p:attrNameLst>
                                          <p:attrName>style.visibility</p:attrName>
                                        </p:attrNameLst>
                                      </p:cBhvr>
                                      <p:to>
                                        <p:strVal val="visible"/>
                                      </p:to>
                                    </p:set>
                                    <p:animEffect transition="in" filter="dissolve">
                                      <p:cBhvr>
                                        <p:cTn id="12" dur="500"/>
                                        <p:tgtEl>
                                          <p:spTgt spid="107522">
                                            <p:txEl>
                                              <p:charRg st="56" end="1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7522">
                                            <p:txEl>
                                              <p:charRg st="137" end="245"/>
                                            </p:txEl>
                                          </p:spTgt>
                                        </p:tgtEl>
                                        <p:attrNameLst>
                                          <p:attrName>style.visibility</p:attrName>
                                        </p:attrNameLst>
                                      </p:cBhvr>
                                      <p:to>
                                        <p:strVal val="visible"/>
                                      </p:to>
                                    </p:set>
                                    <p:animEffect transition="in" filter="dissolve">
                                      <p:cBhvr>
                                        <p:cTn id="17" dur="500"/>
                                        <p:tgtEl>
                                          <p:spTgt spid="107522">
                                            <p:txEl>
                                              <p:charRg st="137" end="2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7522">
                                            <p:txEl>
                                              <p:charRg st="245" end="253"/>
                                            </p:txEl>
                                          </p:spTgt>
                                        </p:tgtEl>
                                        <p:attrNameLst>
                                          <p:attrName>style.visibility</p:attrName>
                                        </p:attrNameLst>
                                      </p:cBhvr>
                                      <p:to>
                                        <p:strVal val="visible"/>
                                      </p:to>
                                    </p:set>
                                    <p:animEffect transition="in" filter="dissolve">
                                      <p:cBhvr>
                                        <p:cTn id="22" dur="500"/>
                                        <p:tgtEl>
                                          <p:spTgt spid="107522">
                                            <p:txEl>
                                              <p:charRg st="245"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p:nvPr/>
        </p:nvSpPr>
        <p:spPr>
          <a:xfrm>
            <a:off x="384175" y="1028700"/>
            <a:ext cx="8534400" cy="29210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目前光纤最大的应用是在通讯上，即光纤通讯。光纤通讯信息容量很大，如 </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根光纤组成的象铅笔一样大小的一支光缆每天可通话</a:t>
            </a:r>
            <a:r>
              <a:rPr lang="en-US" altLang="zh-CN" sz="2400" b="1" dirty="0">
                <a:latin typeface="Times New Roman" panose="02020603050405020304" pitchFamily="18" charset="0"/>
                <a:ea typeface="宋体" panose="02010600030101010101" pitchFamily="2" charset="-122"/>
              </a:rPr>
              <a:t>76 200</a:t>
            </a:r>
            <a:r>
              <a:rPr lang="zh-CN" altLang="en-US" sz="2400" b="1" dirty="0">
                <a:latin typeface="Times New Roman" panose="02020603050405020304" pitchFamily="18" charset="0"/>
                <a:ea typeface="宋体" panose="02010600030101010101" pitchFamily="2" charset="-122"/>
              </a:rPr>
              <a:t>人次，而直径</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英寸、由</a:t>
            </a:r>
            <a:r>
              <a:rPr lang="en-US" altLang="zh-CN" sz="2400" b="1" dirty="0">
                <a:latin typeface="Times New Roman" panose="02020603050405020304" pitchFamily="18" charset="0"/>
                <a:ea typeface="宋体" panose="02010600030101010101" pitchFamily="2" charset="-122"/>
              </a:rPr>
              <a:t>1 800</a:t>
            </a:r>
            <a:r>
              <a:rPr lang="zh-CN" altLang="en-US" sz="2400" b="1" dirty="0">
                <a:latin typeface="Times New Roman" panose="02020603050405020304" pitchFamily="18" charset="0"/>
                <a:ea typeface="宋体" panose="02010600030101010101" pitchFamily="2" charset="-122"/>
              </a:rPr>
              <a:t>根铜线组成的电缆每天只能通话</a:t>
            </a:r>
            <a:r>
              <a:rPr lang="en-US" altLang="zh-CN" sz="2400" b="1" dirty="0">
                <a:latin typeface="Times New Roman" panose="02020603050405020304" pitchFamily="18" charset="0"/>
                <a:ea typeface="宋体" panose="02010600030101010101" pitchFamily="2" charset="-122"/>
              </a:rPr>
              <a:t>900</a:t>
            </a:r>
            <a:r>
              <a:rPr lang="zh-CN" altLang="en-US" sz="2400" b="1" dirty="0">
                <a:latin typeface="Times New Roman" panose="02020603050405020304" pitchFamily="18" charset="0"/>
                <a:ea typeface="宋体" panose="02010600030101010101" pitchFamily="2" charset="-122"/>
              </a:rPr>
              <a:t>人次；另外光纤传输的失真度小、通讯质量高，用最新的氟玻璃制成的光导纤维可以把光信号传输到太平洋彼岸而不需任何中继站。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8546">
                                            <p:txEl>
                                              <p:charRg st="0" end="174"/>
                                            </p:txEl>
                                          </p:spTgt>
                                        </p:tgtEl>
                                        <p:attrNameLst>
                                          <p:attrName>style.visibility</p:attrName>
                                        </p:attrNameLst>
                                      </p:cBhvr>
                                      <p:to>
                                        <p:strVal val="visible"/>
                                      </p:to>
                                    </p:set>
                                    <p:animEffect transition="in" filter="dissolve">
                                      <p:cBhvr>
                                        <p:cTn id="7" dur="500"/>
                                        <p:tgtEl>
                                          <p:spTgt spid="108546">
                                            <p:txEl>
                                              <p:charRg st="0" end="1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5" descr="http://tpu.eku.cc/scdt/004tx/982878050792.jpg"/>
          <p:cNvPicPr>
            <a:picLocks noChangeAspect="1"/>
          </p:cNvPicPr>
          <p:nvPr/>
        </p:nvPicPr>
        <p:blipFill>
          <a:blip r:embed="rId1" r:link="rId2"/>
          <a:srcRect r="-2414" b="7393"/>
          <a:stretch>
            <a:fillRect/>
          </a:stretch>
        </p:blipFill>
        <p:spPr>
          <a:xfrm>
            <a:off x="2743200" y="3060700"/>
            <a:ext cx="3813175" cy="1981200"/>
          </a:xfrm>
          <a:prstGeom prst="rect">
            <a:avLst/>
          </a:prstGeom>
          <a:noFill/>
          <a:ln w="9525">
            <a:noFill/>
          </a:ln>
        </p:spPr>
      </p:pic>
      <p:sp>
        <p:nvSpPr>
          <p:cNvPr id="51203" name="Rectangle 7"/>
          <p:cNvSpPr/>
          <p:nvPr/>
        </p:nvSpPr>
        <p:spPr>
          <a:xfrm>
            <a:off x="1447800" y="5041900"/>
            <a:ext cx="6934200" cy="368300"/>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b="1" dirty="0">
                <a:latin typeface="Arial" panose="020B0604020202020204" pitchFamily="34" charset="0"/>
                <a:ea typeface="宋体" panose="02010600030101010101" pitchFamily="2" charset="-122"/>
              </a:rPr>
              <a:t>                      图</a:t>
            </a:r>
            <a:r>
              <a:rPr lang="en-US" altLang="zh-CN" sz="1800" b="1" dirty="0">
                <a:latin typeface="Times New Roman" panose="02020603050405020304" pitchFamily="18" charset="0"/>
                <a:ea typeface="宋体" panose="02010600030101010101" pitchFamily="2" charset="-122"/>
              </a:rPr>
              <a:t>6-12  </a:t>
            </a:r>
            <a:r>
              <a:rPr lang="zh-CN" altLang="en-US" sz="1800" b="1" dirty="0">
                <a:latin typeface="Times New Roman" panose="02020603050405020304" pitchFamily="18" charset="0"/>
                <a:ea typeface="宋体" panose="02010600030101010101" pitchFamily="2" charset="-122"/>
              </a:rPr>
              <a:t>光导纤维</a:t>
            </a:r>
            <a:endParaRPr lang="zh-CN" altLang="en-US" sz="1800" b="1" dirty="0">
              <a:latin typeface="Times New Roman" panose="02020603050405020304" pitchFamily="18" charset="0"/>
              <a:ea typeface="宋体" panose="02010600030101010101" pitchFamily="2" charset="-122"/>
            </a:endParaRPr>
          </a:p>
        </p:txBody>
      </p:sp>
      <p:sp>
        <p:nvSpPr>
          <p:cNvPr id="4" name="Rectangle 2"/>
          <p:cNvSpPr/>
          <p:nvPr/>
        </p:nvSpPr>
        <p:spPr>
          <a:xfrm>
            <a:off x="304800" y="190500"/>
            <a:ext cx="8534400" cy="29210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此外光纤通讯具有重量轻、抗干扰、耐腐蚀等优点，而且保密性好，原材料丰富，可大量节约有色金属（每公里可节省</a:t>
            </a:r>
            <a:r>
              <a:rPr lang="en-US" altLang="zh-CN" sz="2400" b="1" dirty="0">
                <a:latin typeface="Times New Roman" panose="02020603050405020304" pitchFamily="18" charset="0"/>
                <a:ea typeface="宋体" panose="02010600030101010101" pitchFamily="2" charset="-122"/>
              </a:rPr>
              <a:t>1.1</a:t>
            </a:r>
            <a:r>
              <a:rPr lang="zh-CN" altLang="en-US" sz="2400" b="1" dirty="0">
                <a:latin typeface="Times New Roman" panose="02020603050405020304" pitchFamily="18" charset="0"/>
                <a:ea typeface="宋体" panose="02010600030101010101" pitchFamily="2" charset="-122"/>
              </a:rPr>
              <a:t>吨铜）。光纤通讯与数字技术及计算机结合起来，起到部分取代通讯卫星的作用。因此光纤是一种极为理想的通讯材料，光缆的铺设使全世界通讯进行了一次革新，对现代信息社会作出了巨大的贡献。</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charRg st="0" end="144"/>
                                            </p:txEl>
                                          </p:spTgt>
                                        </p:tgtEl>
                                        <p:attrNameLst>
                                          <p:attrName>style.visibility</p:attrName>
                                        </p:attrNameLst>
                                      </p:cBhvr>
                                      <p:to>
                                        <p:strVal val="visible"/>
                                      </p:to>
                                    </p:set>
                                    <p:animEffect transition="in" filter="dissolve">
                                      <p:cBhvr>
                                        <p:cTn id="7" dur="500"/>
                                        <p:tgtEl>
                                          <p:spTgt spid="4">
                                            <p:txEl>
                                              <p:charRg st="0"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p:nvPr/>
        </p:nvSpPr>
        <p:spPr>
          <a:xfrm>
            <a:off x="228600" y="825500"/>
            <a:ext cx="86868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光学陶瓷可像玻璃一样透明，故称透明陶瓷。常见有氧化镁、氧化铍、氧化钇等多种氧化物系列透明陶瓷。</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这些透明陶瓷不仅具有优异的光学性能，而且耐高温，其熔点一般都在</a:t>
            </a:r>
            <a:r>
              <a:rPr lang="en-US" altLang="zh-CN" sz="2400" b="1" dirty="0">
                <a:latin typeface="Times New Roman" panose="02020603050405020304" pitchFamily="18" charset="0"/>
                <a:ea typeface="宋体" panose="02010600030101010101" pitchFamily="2" charset="-122"/>
              </a:rPr>
              <a:t>2000℃</a:t>
            </a:r>
            <a:r>
              <a:rPr lang="zh-CN" altLang="en-US" sz="2400" b="1" dirty="0">
                <a:latin typeface="Times New Roman" panose="02020603050405020304" pitchFamily="18" charset="0"/>
                <a:ea typeface="宋体" panose="02010600030101010101" pitchFamily="2" charset="-122"/>
              </a:rPr>
              <a:t>以上。如氧化钍</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氧化钇透明陶瓷的熔点高达 </a:t>
            </a:r>
            <a:r>
              <a:rPr lang="en-US" altLang="zh-CN" sz="2400" b="1" dirty="0">
                <a:latin typeface="Times New Roman" panose="02020603050405020304" pitchFamily="18" charset="0"/>
                <a:ea typeface="宋体" panose="02010600030101010101" pitchFamily="2" charset="-122"/>
              </a:rPr>
              <a:t>3100℃</a:t>
            </a:r>
            <a:r>
              <a:rPr lang="zh-CN" altLang="en-US" sz="2400" b="1" dirty="0">
                <a:latin typeface="Times New Roman" panose="02020603050405020304" pitchFamily="18" charset="0"/>
                <a:ea typeface="宋体" panose="02010600030101010101" pitchFamily="2" charset="-122"/>
              </a:rPr>
              <a:t>，比普通硼酸盐玻璃高</a:t>
            </a:r>
            <a:r>
              <a:rPr lang="en-US" altLang="zh-CN" sz="2400" b="1" dirty="0">
                <a:latin typeface="Times New Roman" panose="02020603050405020304" pitchFamily="18" charset="0"/>
                <a:ea typeface="宋体" panose="02010600030101010101" pitchFamily="2" charset="-122"/>
              </a:rPr>
              <a:t>1 500℃</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52227" name="Rectangle 3"/>
          <p:cNvSpPr/>
          <p:nvPr/>
        </p:nvSpPr>
        <p:spPr>
          <a:xfrm>
            <a:off x="0" y="190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a:t>
            </a:r>
            <a:r>
              <a:rPr lang="zh-CN" altLang="en-US" sz="2800" b="1" dirty="0">
                <a:solidFill>
                  <a:srgbClr val="540C2B"/>
                </a:solidFill>
                <a:latin typeface="楷体_GB2312" panose="02010609030101010101" pitchFamily="49" charset="-122"/>
                <a:ea typeface="楷体_GB2312" panose="02010609030101010101" pitchFamily="49" charset="-122"/>
              </a:rPr>
              <a:t>透明陶瓷</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9570">
                                            <p:txEl>
                                              <p:charRg st="0" end="58"/>
                                            </p:txEl>
                                          </p:spTgt>
                                        </p:tgtEl>
                                        <p:attrNameLst>
                                          <p:attrName>style.visibility</p:attrName>
                                        </p:attrNameLst>
                                      </p:cBhvr>
                                      <p:to>
                                        <p:strVal val="visible"/>
                                      </p:to>
                                    </p:set>
                                    <p:animEffect transition="in" filter="dissolve">
                                      <p:cBhvr>
                                        <p:cTn id="7" dur="500"/>
                                        <p:tgtEl>
                                          <p:spTgt spid="109570">
                                            <p:txEl>
                                              <p:charRg st="0" end="5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9570">
                                            <p:txEl>
                                              <p:charRg st="58" end="146"/>
                                            </p:txEl>
                                          </p:spTgt>
                                        </p:tgtEl>
                                        <p:attrNameLst>
                                          <p:attrName>style.visibility</p:attrName>
                                        </p:attrNameLst>
                                      </p:cBhvr>
                                      <p:to>
                                        <p:strVal val="visible"/>
                                      </p:to>
                                    </p:set>
                                    <p:animEffect transition="in" filter="dissolve">
                                      <p:cBhvr>
                                        <p:cTn id="12" dur="500"/>
                                        <p:tgtEl>
                                          <p:spTgt spid="109570">
                                            <p:txEl>
                                              <p:charRg st="58" end="1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9570">
                                            <p:txEl>
                                              <p:charRg st="146" end="155"/>
                                            </p:txEl>
                                          </p:spTgt>
                                        </p:tgtEl>
                                        <p:attrNameLst>
                                          <p:attrName>style.visibility</p:attrName>
                                        </p:attrNameLst>
                                      </p:cBhvr>
                                      <p:to>
                                        <p:strVal val="visible"/>
                                      </p:to>
                                    </p:set>
                                    <p:animEffect transition="in" filter="dissolve">
                                      <p:cBhvr>
                                        <p:cTn id="17" dur="500"/>
                                        <p:tgtEl>
                                          <p:spTgt spid="109570">
                                            <p:txEl>
                                              <p:charRg st="146" end="1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250" name="Picture 6" descr="http://www.cnjdz.net/files/2010/20100929083129692.jpg"/>
          <p:cNvPicPr>
            <a:picLocks noChangeAspect="1"/>
          </p:cNvPicPr>
          <p:nvPr/>
        </p:nvPicPr>
        <p:blipFill>
          <a:blip r:embed="rId1" r:link="rId2"/>
          <a:srcRect l="23392" t="739"/>
          <a:stretch>
            <a:fillRect/>
          </a:stretch>
        </p:blipFill>
        <p:spPr>
          <a:xfrm>
            <a:off x="6324600" y="1866900"/>
            <a:ext cx="2514600" cy="2473325"/>
          </a:xfrm>
          <a:prstGeom prst="rect">
            <a:avLst/>
          </a:prstGeom>
          <a:noFill/>
          <a:ln w="9525">
            <a:noFill/>
          </a:ln>
        </p:spPr>
      </p:pic>
      <p:sp>
        <p:nvSpPr>
          <p:cNvPr id="53251" name="矩形 4"/>
          <p:cNvSpPr/>
          <p:nvPr/>
        </p:nvSpPr>
        <p:spPr>
          <a:xfrm>
            <a:off x="6488113" y="4686300"/>
            <a:ext cx="2351087" cy="369888"/>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b="1" dirty="0">
                <a:latin typeface="Times New Roman" panose="02020603050405020304" pitchFamily="18" charset="0"/>
                <a:ea typeface="宋体" panose="02010600030101010101" pitchFamily="2" charset="-122"/>
              </a:rPr>
              <a:t>图</a:t>
            </a:r>
            <a:r>
              <a:rPr lang="en-US" altLang="zh-CN" sz="1800" b="1" dirty="0">
                <a:latin typeface="Times New Roman" panose="02020603050405020304" pitchFamily="18" charset="0"/>
                <a:ea typeface="宋体" panose="02010600030101010101" pitchFamily="2" charset="-122"/>
              </a:rPr>
              <a:t>6-13  </a:t>
            </a:r>
            <a:r>
              <a:rPr lang="zh-CN" altLang="en-US" sz="1800" b="1" dirty="0">
                <a:latin typeface="Times New Roman" panose="02020603050405020304" pitchFamily="18" charset="0"/>
                <a:ea typeface="宋体" panose="02010600030101010101" pitchFamily="2" charset="-122"/>
              </a:rPr>
              <a:t>透明陶瓷材料</a:t>
            </a:r>
            <a:endParaRPr lang="zh-CN" altLang="en-US" sz="1800" b="1" dirty="0">
              <a:latin typeface="Times New Roman" panose="02020603050405020304" pitchFamily="18" charset="0"/>
              <a:ea typeface="宋体" panose="02010600030101010101" pitchFamily="2" charset="-122"/>
            </a:endParaRPr>
          </a:p>
        </p:txBody>
      </p:sp>
      <p:sp>
        <p:nvSpPr>
          <p:cNvPr id="4" name="Rectangle 2"/>
          <p:cNvSpPr/>
          <p:nvPr/>
        </p:nvSpPr>
        <p:spPr>
          <a:xfrm>
            <a:off x="228600" y="825500"/>
            <a:ext cx="58674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透明陶瓷的重要用途是制造高压钠灯，它的发光效率比高压汞灯提高一倍，使用寿命达</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万小时，是使用寿命最长的高效电光源。此外透明陶瓷的透明度、强度、硬度都高于普通玻璃，耐磨损、耐划伤，用透明陶瓷可以制造防弹汽车窗、坦克的观察窗、轰炸机的轰炸瞄准器等。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charRg st="0" end="129"/>
                                            </p:txEl>
                                          </p:spTgt>
                                        </p:tgtEl>
                                        <p:attrNameLst>
                                          <p:attrName>style.visibility</p:attrName>
                                        </p:attrNameLst>
                                      </p:cBhvr>
                                      <p:to>
                                        <p:strVal val="visible"/>
                                      </p:to>
                                    </p:set>
                                    <p:animEffect transition="in" filter="dissolve">
                                      <p:cBhvr>
                                        <p:cTn id="7" dur="500"/>
                                        <p:tgtEl>
                                          <p:spTgt spid="4">
                                            <p:txEl>
                                              <p:charRg st="0"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p:nvPr/>
        </p:nvSpPr>
        <p:spPr>
          <a:xfrm>
            <a:off x="609600" y="12065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人体器官和组织需要修复或再造时，选用的材料要求生物相容性好，对肌体无免疫排异反应；血液相容性好，无溶血、凝血反应；不会引起代谢作用异常现象；对人体无毒，不会致癌。目前</a:t>
            </a:r>
            <a:r>
              <a:rPr lang="zh-CN" altLang="en-US" sz="2400" b="1" dirty="0">
                <a:solidFill>
                  <a:srgbClr val="6600CC"/>
                </a:solidFill>
                <a:latin typeface="Times New Roman" panose="02020603050405020304" pitchFamily="18" charset="0"/>
                <a:ea typeface="宋体" panose="02010600030101010101" pitchFamily="2" charset="-122"/>
              </a:rPr>
              <a:t>生物合金、生物高分子和生物陶瓷</a:t>
            </a:r>
            <a:r>
              <a:rPr lang="zh-CN" altLang="en-US" sz="2400" b="1" dirty="0">
                <a:latin typeface="Times New Roman" panose="02020603050405020304" pitchFamily="18" charset="0"/>
                <a:ea typeface="宋体" panose="02010600030101010101" pitchFamily="2" charset="-122"/>
              </a:rPr>
              <a:t>能满足这些要求。</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但</a:t>
            </a:r>
            <a:r>
              <a:rPr lang="zh-CN" altLang="en-US" sz="2400" b="1" dirty="0">
                <a:solidFill>
                  <a:srgbClr val="6600CC"/>
                </a:solidFill>
                <a:latin typeface="Times New Roman" panose="02020603050405020304" pitchFamily="18" charset="0"/>
                <a:ea typeface="宋体" panose="02010600030101010101" pitchFamily="2" charset="-122"/>
              </a:rPr>
              <a:t>生物合金</a:t>
            </a:r>
            <a:r>
              <a:rPr lang="zh-CN" altLang="en-US" sz="2400" b="1" dirty="0">
                <a:latin typeface="Times New Roman" panose="02020603050405020304" pitchFamily="18" charset="0"/>
                <a:ea typeface="宋体" panose="02010600030101010101" pitchFamily="2" charset="-122"/>
              </a:rPr>
              <a:t>植入体内，三五年后便会出现腐蚀斑，且会有微量金属离子析出；</a:t>
            </a:r>
            <a:r>
              <a:rPr lang="zh-CN" altLang="en-US" sz="2400" b="1" dirty="0">
                <a:solidFill>
                  <a:srgbClr val="6600CC"/>
                </a:solidFill>
                <a:latin typeface="Times New Roman" panose="02020603050405020304" pitchFamily="18" charset="0"/>
                <a:ea typeface="宋体" panose="02010600030101010101" pitchFamily="2" charset="-122"/>
              </a:rPr>
              <a:t>生物高分子材料</a:t>
            </a:r>
            <a:r>
              <a:rPr lang="zh-CN" altLang="en-US" sz="2400" b="1" dirty="0">
                <a:latin typeface="Times New Roman" panose="02020603050405020304" pitchFamily="18" charset="0"/>
                <a:ea typeface="宋体" panose="02010600030101010101" pitchFamily="2" charset="-122"/>
              </a:rPr>
              <a:t>做成的人工器官容易老化，相比之下，</a:t>
            </a:r>
            <a:r>
              <a:rPr lang="zh-CN" altLang="en-US" sz="2400" b="1" dirty="0">
                <a:solidFill>
                  <a:srgbClr val="6600CC"/>
                </a:solidFill>
                <a:latin typeface="Times New Roman" panose="02020603050405020304" pitchFamily="18" charset="0"/>
                <a:ea typeface="宋体" panose="02010600030101010101" pitchFamily="2" charset="-122"/>
              </a:rPr>
              <a:t>生物陶瓷</a:t>
            </a:r>
            <a:r>
              <a:rPr lang="zh-CN" altLang="en-US" sz="2400" b="1" dirty="0">
                <a:latin typeface="Times New Roman" panose="02020603050405020304" pitchFamily="18" charset="0"/>
                <a:ea typeface="宋体" panose="02010600030101010101" pitchFamily="2" charset="-122"/>
              </a:rPr>
              <a:t>是惰性材料，耐腐蚀，更适合植入体内。</a:t>
            </a:r>
            <a:endParaRPr lang="zh-CN" altLang="en-US" sz="2400" b="1" dirty="0">
              <a:latin typeface="Times New Roman" panose="02020603050405020304" pitchFamily="18" charset="0"/>
              <a:ea typeface="宋体" panose="02010600030101010101" pitchFamily="2" charset="-122"/>
            </a:endParaRPr>
          </a:p>
        </p:txBody>
      </p:sp>
      <p:sp>
        <p:nvSpPr>
          <p:cNvPr id="54275" name="Rectangle 4"/>
          <p:cNvSpPr/>
          <p:nvPr/>
        </p:nvSpPr>
        <p:spPr>
          <a:xfrm>
            <a:off x="152400" y="571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4.</a:t>
            </a:r>
            <a:r>
              <a:rPr lang="zh-CN" altLang="en-US" sz="2800" b="1" dirty="0">
                <a:solidFill>
                  <a:srgbClr val="540C2B"/>
                </a:solidFill>
                <a:latin typeface="楷体_GB2312" panose="02010609030101010101" pitchFamily="49" charset="-122"/>
                <a:ea typeface="楷体_GB2312" panose="02010609030101010101" pitchFamily="49" charset="-122"/>
              </a:rPr>
              <a:t>生物陶瓷</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618">
                                            <p:txEl>
                                              <p:charRg st="0" end="114"/>
                                            </p:txEl>
                                          </p:spTgt>
                                        </p:tgtEl>
                                        <p:attrNameLst>
                                          <p:attrName>style.visibility</p:attrName>
                                        </p:attrNameLst>
                                      </p:cBhvr>
                                      <p:to>
                                        <p:strVal val="visible"/>
                                      </p:to>
                                    </p:set>
                                    <p:animEffect transition="in" filter="dissolve">
                                      <p:cBhvr>
                                        <p:cTn id="7" dur="500"/>
                                        <p:tgtEl>
                                          <p:spTgt spid="111618">
                                            <p:txEl>
                                              <p:charRg st="0" end="1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1618">
                                            <p:txEl>
                                              <p:charRg st="114" end="202"/>
                                            </p:txEl>
                                          </p:spTgt>
                                        </p:tgtEl>
                                        <p:attrNameLst>
                                          <p:attrName>style.visibility</p:attrName>
                                        </p:attrNameLst>
                                      </p:cBhvr>
                                      <p:to>
                                        <p:strVal val="visible"/>
                                      </p:to>
                                    </p:set>
                                    <p:animEffect transition="in" filter="dissolve">
                                      <p:cBhvr>
                                        <p:cTn id="12" dur="500"/>
                                        <p:tgtEl>
                                          <p:spTgt spid="111618">
                                            <p:txEl>
                                              <p:charRg st="114" end="2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p:nvPr/>
        </p:nvSpPr>
        <p:spPr>
          <a:xfrm>
            <a:off x="685800" y="1397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Al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陶瓷做成的假牙与天然齿十分接近，还可以做人工关节用于很多部位，如膝关节、肘关节、肩关节等。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ZrO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陶瓷的强度、断裂韧性和耐磨性比</a:t>
            </a:r>
            <a:r>
              <a:rPr lang="en-US" altLang="zh-CN" sz="2400" b="1" dirty="0">
                <a:latin typeface="Times New Roman" panose="02020603050405020304" pitchFamily="18" charset="0"/>
                <a:ea typeface="宋体" panose="02010600030101010101" pitchFamily="2" charset="-122"/>
              </a:rPr>
              <a:t>Al</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陶瓷好，也可用以制造牙根、骨和股关节等。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陶瓷材料的最大弱点是脆性，韧性不足，这也严重影响了其作为人工人体器官的推广应用。</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42">
                                            <p:txEl>
                                              <p:charRg st="0" end="59"/>
                                            </p:txEl>
                                          </p:spTgt>
                                        </p:tgtEl>
                                        <p:attrNameLst>
                                          <p:attrName>style.visibility</p:attrName>
                                        </p:attrNameLst>
                                      </p:cBhvr>
                                      <p:to>
                                        <p:strVal val="visible"/>
                                      </p:to>
                                    </p:set>
                                    <p:animEffect transition="in" filter="dissolve">
                                      <p:cBhvr>
                                        <p:cTn id="7" dur="500"/>
                                        <p:tgtEl>
                                          <p:spTgt spid="112642">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642">
                                            <p:txEl>
                                              <p:charRg st="59" end="112"/>
                                            </p:txEl>
                                          </p:spTgt>
                                        </p:tgtEl>
                                        <p:attrNameLst>
                                          <p:attrName>style.visibility</p:attrName>
                                        </p:attrNameLst>
                                      </p:cBhvr>
                                      <p:to>
                                        <p:strVal val="visible"/>
                                      </p:to>
                                    </p:set>
                                    <p:animEffect transition="in" filter="dissolve">
                                      <p:cBhvr>
                                        <p:cTn id="12" dur="500"/>
                                        <p:tgtEl>
                                          <p:spTgt spid="112642">
                                            <p:txEl>
                                              <p:charRg st="59" end="1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642">
                                            <p:txEl>
                                              <p:charRg st="112" end="161"/>
                                            </p:txEl>
                                          </p:spTgt>
                                        </p:tgtEl>
                                        <p:attrNameLst>
                                          <p:attrName>style.visibility</p:attrName>
                                        </p:attrNameLst>
                                      </p:cBhvr>
                                      <p:to>
                                        <p:strVal val="visible"/>
                                      </p:to>
                                    </p:set>
                                    <p:animEffect transition="in" filter="dissolve">
                                      <p:cBhvr>
                                        <p:cTn id="17" dur="500"/>
                                        <p:tgtEl>
                                          <p:spTgt spid="112642">
                                            <p:txEl>
                                              <p:charRg st="112" end="1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p:nvPr/>
        </p:nvSpPr>
        <p:spPr>
          <a:xfrm>
            <a:off x="0" y="827088"/>
            <a:ext cx="9067800" cy="4892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solidFill>
                  <a:srgbClr val="6600CC"/>
                </a:solidFill>
                <a:latin typeface="Times New Roman" panose="02020603050405020304" pitchFamily="18" charset="0"/>
                <a:ea typeface="宋体" panose="02010600030101010101" pitchFamily="2" charset="-122"/>
              </a:rPr>
              <a:t>        超硬陶瓷</a:t>
            </a:r>
            <a:r>
              <a:rPr lang="zh-CN" altLang="en-US" sz="2400" b="1" dirty="0">
                <a:latin typeface="Times New Roman" panose="02020603050405020304" pitchFamily="18" charset="0"/>
                <a:ea typeface="宋体" panose="02010600030101010101" pitchFamily="2" charset="-122"/>
              </a:rPr>
              <a:t>是较硬质合金性能更为优异的硬质材料，如金刚石、宝石、立方氮化硼等，可作为高速切削刀具，切削高硬难加工材料。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人造金刚石</a:t>
            </a:r>
            <a:r>
              <a:rPr lang="zh-CN" altLang="en-US" sz="2400" b="1" dirty="0">
                <a:latin typeface="Times New Roman" panose="02020603050405020304" pitchFamily="18" charset="0"/>
                <a:ea typeface="宋体" panose="02010600030101010101" pitchFamily="2" charset="-122"/>
              </a:rPr>
              <a:t>因其具有高硬度在工业上作硬质刀具和拔丝用模具。碳化硅晶体结构也和金刚石相似，硬度接近于金刚石，又称</a:t>
            </a:r>
            <a:r>
              <a:rPr lang="zh-CN" altLang="en-US" sz="2400" b="1" dirty="0">
                <a:solidFill>
                  <a:srgbClr val="6600CC"/>
                </a:solidFill>
                <a:latin typeface="Times New Roman" panose="02020603050405020304" pitchFamily="18" charset="0"/>
                <a:ea typeface="宋体" panose="02010600030101010101" pitchFamily="2" charset="-122"/>
              </a:rPr>
              <a:t>金刚砂</a:t>
            </a:r>
            <a:r>
              <a:rPr lang="zh-CN" altLang="en-US" sz="2400" b="1" dirty="0">
                <a:latin typeface="Times New Roman" panose="02020603050405020304" pitchFamily="18" charset="0"/>
                <a:ea typeface="宋体" panose="02010600030101010101" pitchFamily="2" charset="-122"/>
              </a:rPr>
              <a:t>，工业上常用作磨料。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自然界中以晶体存在的氧化铝称为</a:t>
            </a:r>
            <a:r>
              <a:rPr lang="zh-CN" altLang="en-US" sz="2400" b="1" dirty="0">
                <a:solidFill>
                  <a:srgbClr val="6600CC"/>
                </a:solidFill>
                <a:latin typeface="Times New Roman" panose="02020603050405020304" pitchFamily="18" charset="0"/>
                <a:ea typeface="宋体" panose="02010600030101010101" pitchFamily="2" charset="-122"/>
              </a:rPr>
              <a:t>人造宝石</a:t>
            </a:r>
            <a:r>
              <a:rPr lang="en-US" altLang="zh-CN" sz="2400" b="1" dirty="0">
                <a:solidFill>
                  <a:srgbClr val="6600CC"/>
                </a:solidFill>
                <a:latin typeface="Times New Roman" panose="02020603050405020304" pitchFamily="18" charset="0"/>
                <a:ea typeface="宋体" panose="02010600030101010101" pitchFamily="2" charset="-122"/>
              </a:rPr>
              <a:t>-</a:t>
            </a:r>
            <a:r>
              <a:rPr lang="zh-CN" altLang="en-US" sz="2400" b="1" dirty="0">
                <a:solidFill>
                  <a:srgbClr val="6600CC"/>
                </a:solidFill>
                <a:latin typeface="Times New Roman" panose="02020603050405020304" pitchFamily="18" charset="0"/>
                <a:ea typeface="宋体" panose="02010600030101010101" pitchFamily="2" charset="-122"/>
              </a:rPr>
              <a:t>刚玉</a:t>
            </a:r>
            <a:r>
              <a:rPr lang="zh-CN" altLang="en-US" sz="2400" b="1" dirty="0">
                <a:latin typeface="Times New Roman" panose="02020603050405020304" pitchFamily="18" charset="0"/>
                <a:ea typeface="宋体" panose="02010600030101010101" pitchFamily="2" charset="-122"/>
              </a:rPr>
              <a:t>，其硬度仅次于金刚石和金刚砂。人造宝石也常作耐磨材料，用于仪器、仪表的轴和手表中的钻石。人造宝石除有氧化铝外，还有其他元素的氧化物。</a:t>
            </a:r>
            <a:endParaRPr lang="zh-CN" altLang="en-US" sz="2400" b="1" dirty="0">
              <a:latin typeface="Times New Roman" panose="02020603050405020304" pitchFamily="18" charset="0"/>
              <a:ea typeface="宋体" panose="02010600030101010101" pitchFamily="2" charset="-122"/>
            </a:endParaRPr>
          </a:p>
        </p:txBody>
      </p:sp>
      <p:sp>
        <p:nvSpPr>
          <p:cNvPr id="56323" name="Rectangle 3"/>
          <p:cNvSpPr/>
          <p:nvPr/>
        </p:nvSpPr>
        <p:spPr>
          <a:xfrm>
            <a:off x="0" y="157163"/>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5. </a:t>
            </a:r>
            <a:r>
              <a:rPr lang="zh-CN" altLang="en-US" sz="2800" b="1" dirty="0">
                <a:solidFill>
                  <a:srgbClr val="540C2B"/>
                </a:solidFill>
                <a:latin typeface="楷体_GB2312" panose="02010609030101010101" pitchFamily="49" charset="-122"/>
                <a:ea typeface="楷体_GB2312" panose="02010609030101010101" pitchFamily="49" charset="-122"/>
              </a:rPr>
              <a:t>超硬陶瓷</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3666">
                                            <p:txEl>
                                              <p:charRg st="0" end="66"/>
                                            </p:txEl>
                                          </p:spTgt>
                                        </p:tgtEl>
                                        <p:attrNameLst>
                                          <p:attrName>style.visibility</p:attrName>
                                        </p:attrNameLst>
                                      </p:cBhvr>
                                      <p:to>
                                        <p:strVal val="visible"/>
                                      </p:to>
                                    </p:set>
                                    <p:animEffect transition="in" filter="dissolve">
                                      <p:cBhvr>
                                        <p:cTn id="7" dur="500"/>
                                        <p:tgtEl>
                                          <p:spTgt spid="113666">
                                            <p:txEl>
                                              <p:charRg st="0" end="6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3666">
                                            <p:txEl>
                                              <p:charRg st="66" end="142"/>
                                            </p:txEl>
                                          </p:spTgt>
                                        </p:tgtEl>
                                        <p:attrNameLst>
                                          <p:attrName>style.visibility</p:attrName>
                                        </p:attrNameLst>
                                      </p:cBhvr>
                                      <p:to>
                                        <p:strVal val="visible"/>
                                      </p:to>
                                    </p:set>
                                    <p:animEffect transition="in" filter="dissolve">
                                      <p:cBhvr>
                                        <p:cTn id="12" dur="500"/>
                                        <p:tgtEl>
                                          <p:spTgt spid="113666">
                                            <p:txEl>
                                              <p:charRg st="66" end="1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3666">
                                            <p:txEl>
                                              <p:charRg st="142" end="239"/>
                                            </p:txEl>
                                          </p:spTgt>
                                        </p:tgtEl>
                                        <p:attrNameLst>
                                          <p:attrName>style.visibility</p:attrName>
                                        </p:attrNameLst>
                                      </p:cBhvr>
                                      <p:to>
                                        <p:strVal val="visible"/>
                                      </p:to>
                                    </p:set>
                                    <p:animEffect transition="in" filter="dissolve">
                                      <p:cBhvr>
                                        <p:cTn id="17" dur="500"/>
                                        <p:tgtEl>
                                          <p:spTgt spid="113666">
                                            <p:txEl>
                                              <p:charRg st="142" end="2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p:nvPr/>
        </p:nvSpPr>
        <p:spPr>
          <a:xfrm>
            <a:off x="228600" y="825500"/>
            <a:ext cx="8534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从陶瓷材料发展的历史来看，经历了三次飞跃。（</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）由陶器进入瓷器；（</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）由传统陶瓷发展到精细陶瓷；（</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）精细陶瓷粉体的颗粒较大，属微米级，把陶瓷粉体的颗粒加工到纳米级，用这种超细粒子制造新一代纳米陶瓷，是陶瓷材料的第三次飞跃。</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纳米陶瓷（如图</a:t>
            </a:r>
            <a:r>
              <a:rPr lang="en-US" altLang="zh-CN" sz="2400" b="1" dirty="0">
                <a:latin typeface="Times New Roman" panose="02020603050405020304" pitchFamily="18" charset="0"/>
                <a:ea typeface="宋体" panose="02010600030101010101" pitchFamily="2" charset="-122"/>
              </a:rPr>
              <a:t>6-14</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6-15</a:t>
            </a:r>
            <a:r>
              <a:rPr lang="zh-CN" altLang="en-US" sz="2400" b="1" dirty="0">
                <a:latin typeface="Times New Roman" panose="02020603050405020304" pitchFamily="18" charset="0"/>
                <a:ea typeface="宋体" panose="02010600030101010101" pitchFamily="2" charset="-122"/>
              </a:rPr>
              <a:t>所示）具有延伸性，有的甚至出现超塑性。如室温下合成的</a:t>
            </a:r>
            <a:r>
              <a:rPr lang="en-US" altLang="zh-CN" sz="2400" b="1" dirty="0">
                <a:latin typeface="Times New Roman" panose="02020603050405020304" pitchFamily="18" charset="0"/>
                <a:ea typeface="宋体" panose="02010600030101010101" pitchFamily="2" charset="-122"/>
              </a:rPr>
              <a:t>TiO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陶瓷，可以弯曲，其塑性变形高达</a:t>
            </a:r>
            <a:r>
              <a:rPr lang="en-US" altLang="zh-CN" sz="2400" b="1" dirty="0">
                <a:latin typeface="Times New Roman" panose="02020603050405020304" pitchFamily="18" charset="0"/>
                <a:ea typeface="宋体" panose="02010600030101010101" pitchFamily="2" charset="-122"/>
              </a:rPr>
              <a:t>100</a:t>
            </a:r>
            <a:r>
              <a:rPr lang="zh-CN" altLang="en-US" sz="2400" b="1" dirty="0">
                <a:latin typeface="Times New Roman" panose="02020603050405020304" pitchFamily="18" charset="0"/>
                <a:ea typeface="宋体" panose="02010600030101010101" pitchFamily="2" charset="-122"/>
              </a:rPr>
              <a:t>％，韧性极好。因此人们寄希望于发展纳米技术去解决陶瓷材料的脆性问题。纳米陶瓷被称为是</a:t>
            </a:r>
            <a:r>
              <a:rPr lang="en-US" altLang="zh-CN" sz="2400" b="1" dirty="0">
                <a:latin typeface="Times New Roman" panose="02020603050405020304" pitchFamily="18" charset="0"/>
                <a:ea typeface="宋体" panose="02010600030101010101" pitchFamily="2" charset="-122"/>
              </a:rPr>
              <a:t>21</a:t>
            </a:r>
            <a:r>
              <a:rPr lang="zh-CN" altLang="en-US" sz="2400" b="1" dirty="0">
                <a:latin typeface="Times New Roman" panose="02020603050405020304" pitchFamily="18" charset="0"/>
                <a:ea typeface="宋体" panose="02010600030101010101" pitchFamily="2" charset="-122"/>
              </a:rPr>
              <a:t>世纪陶瓷，是材料科学最重要的研究方向之一。</a:t>
            </a:r>
            <a:endParaRPr lang="zh-CN" altLang="en-US" sz="2400" b="1" dirty="0">
              <a:latin typeface="Times New Roman" panose="02020603050405020304" pitchFamily="18" charset="0"/>
              <a:ea typeface="宋体" panose="02010600030101010101" pitchFamily="2" charset="-122"/>
            </a:endParaRPr>
          </a:p>
        </p:txBody>
      </p:sp>
      <p:sp>
        <p:nvSpPr>
          <p:cNvPr id="57347" name="Rectangle 3"/>
          <p:cNvSpPr/>
          <p:nvPr/>
        </p:nvSpPr>
        <p:spPr>
          <a:xfrm>
            <a:off x="-76200" y="190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6.</a:t>
            </a:r>
            <a:r>
              <a:rPr lang="zh-CN" altLang="en-US" sz="2800" b="1" dirty="0">
                <a:solidFill>
                  <a:srgbClr val="540C2B"/>
                </a:solidFill>
                <a:latin typeface="楷体_GB2312" panose="02010609030101010101" pitchFamily="49" charset="-122"/>
                <a:ea typeface="楷体_GB2312" panose="02010609030101010101" pitchFamily="49" charset="-122"/>
              </a:rPr>
              <a:t>纳米陶瓷</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4690">
                                            <p:txEl>
                                              <p:charRg st="0" end="120"/>
                                            </p:txEl>
                                          </p:spTgt>
                                        </p:tgtEl>
                                        <p:attrNameLst>
                                          <p:attrName>style.visibility</p:attrName>
                                        </p:attrNameLst>
                                      </p:cBhvr>
                                      <p:to>
                                        <p:strVal val="visible"/>
                                      </p:to>
                                    </p:set>
                                    <p:animEffect transition="in" filter="dissolve">
                                      <p:cBhvr>
                                        <p:cTn id="7" dur="500"/>
                                        <p:tgtEl>
                                          <p:spTgt spid="114690">
                                            <p:txEl>
                                              <p:charRg st="0" end="1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4690">
                                            <p:txEl>
                                              <p:charRg st="120" end="258"/>
                                            </p:txEl>
                                          </p:spTgt>
                                        </p:tgtEl>
                                        <p:attrNameLst>
                                          <p:attrName>style.visibility</p:attrName>
                                        </p:attrNameLst>
                                      </p:cBhvr>
                                      <p:to>
                                        <p:strVal val="visible"/>
                                      </p:to>
                                    </p:set>
                                    <p:animEffect transition="in" filter="dissolve">
                                      <p:cBhvr>
                                        <p:cTn id="12" dur="500"/>
                                        <p:tgtEl>
                                          <p:spTgt spid="114690">
                                            <p:txEl>
                                              <p:charRg st="120" end="2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8370" name="Group 4"/>
          <p:cNvGrpSpPr>
            <a:grpSpLocks noChangeAspect="1"/>
          </p:cNvGrpSpPr>
          <p:nvPr/>
        </p:nvGrpSpPr>
        <p:grpSpPr>
          <a:xfrm>
            <a:off x="914400" y="1460500"/>
            <a:ext cx="6899275" cy="2125663"/>
            <a:chOff x="0" y="0"/>
            <a:chExt cx="7450" cy="2754"/>
          </a:xfrm>
        </p:grpSpPr>
        <p:pic>
          <p:nvPicPr>
            <p:cNvPr id="58372" name="Picture 5" descr="Ocr0003"/>
            <p:cNvPicPr>
              <a:picLocks noChangeAspect="1"/>
            </p:cNvPicPr>
            <p:nvPr/>
          </p:nvPicPr>
          <p:blipFill>
            <a:blip r:embed="rId1"/>
            <a:srcRect l="3714" t="6017" r="5472" b="15501"/>
            <a:stretch>
              <a:fillRect/>
            </a:stretch>
          </p:blipFill>
          <p:spPr>
            <a:xfrm>
              <a:off x="0" y="15"/>
              <a:ext cx="3668" cy="2739"/>
            </a:xfrm>
            <a:prstGeom prst="rect">
              <a:avLst/>
            </a:prstGeom>
            <a:noFill/>
            <a:ln w="9525">
              <a:noFill/>
            </a:ln>
          </p:spPr>
        </p:pic>
        <p:pic>
          <p:nvPicPr>
            <p:cNvPr id="58373" name="Picture 6" descr="Ocr0004"/>
            <p:cNvPicPr>
              <a:picLocks noChangeAspect="1"/>
            </p:cNvPicPr>
            <p:nvPr/>
          </p:nvPicPr>
          <p:blipFill>
            <a:blip r:embed="rId2"/>
            <a:srcRect l="3551" t="2156" r="3874" b="24521"/>
            <a:stretch>
              <a:fillRect/>
            </a:stretch>
          </p:blipFill>
          <p:spPr>
            <a:xfrm>
              <a:off x="4692" y="0"/>
              <a:ext cx="2758" cy="2648"/>
            </a:xfrm>
            <a:prstGeom prst="rect">
              <a:avLst/>
            </a:prstGeom>
            <a:noFill/>
            <a:ln w="9525">
              <a:noFill/>
            </a:ln>
          </p:spPr>
        </p:pic>
      </p:grpSp>
      <p:sp>
        <p:nvSpPr>
          <p:cNvPr id="58371" name="Rectangle 7"/>
          <p:cNvSpPr/>
          <p:nvPr/>
        </p:nvSpPr>
        <p:spPr>
          <a:xfrm>
            <a:off x="1143000" y="3965575"/>
            <a:ext cx="7043738" cy="4000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2000" b="1" dirty="0">
                <a:latin typeface="Times New Roman" panose="02020603050405020304" pitchFamily="18" charset="0"/>
                <a:ea typeface="宋体" panose="02010600030101010101" pitchFamily="2" charset="-122"/>
              </a:rPr>
              <a:t>图</a:t>
            </a:r>
            <a:r>
              <a:rPr lang="en-US" altLang="zh-CN" sz="2000" b="1" dirty="0">
                <a:latin typeface="Times New Roman" panose="02020603050405020304" pitchFamily="18" charset="0"/>
                <a:ea typeface="宋体" panose="02010600030101010101" pitchFamily="2" charset="-122"/>
              </a:rPr>
              <a:t>6-14  </a:t>
            </a:r>
            <a:r>
              <a:rPr lang="zh-CN" altLang="en-US" sz="2000" b="1" dirty="0">
                <a:latin typeface="Times New Roman" panose="02020603050405020304" pitchFamily="18" charset="0"/>
                <a:ea typeface="宋体" panose="02010600030101010101" pitchFamily="2" charset="-122"/>
              </a:rPr>
              <a:t>纳米陶瓷材料                                 图</a:t>
            </a:r>
            <a:r>
              <a:rPr lang="en-US" altLang="zh-CN" sz="2000" b="1" dirty="0">
                <a:latin typeface="Times New Roman" panose="02020603050405020304" pitchFamily="18" charset="0"/>
                <a:ea typeface="宋体" panose="02010600030101010101" pitchFamily="2" charset="-122"/>
              </a:rPr>
              <a:t>6-15  </a:t>
            </a:r>
            <a:r>
              <a:rPr lang="zh-CN" altLang="en-US" sz="2000" b="1" dirty="0">
                <a:latin typeface="Times New Roman" panose="02020603050405020304" pitchFamily="18" charset="0"/>
                <a:ea typeface="宋体" panose="02010600030101010101" pitchFamily="2" charset="-122"/>
              </a:rPr>
              <a:t>纳米陶瓷刀</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p:nvPr/>
        </p:nvSpPr>
        <p:spPr>
          <a:xfrm>
            <a:off x="304800" y="952500"/>
            <a:ext cx="86868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1911</a:t>
            </a:r>
            <a:r>
              <a:rPr lang="zh-CN" altLang="en-US" sz="2400" b="1" dirty="0">
                <a:latin typeface="Times New Roman" panose="02020603050405020304" pitchFamily="18" charset="0"/>
                <a:ea typeface="宋体" panose="02010600030101010101" pitchFamily="2" charset="-122"/>
              </a:rPr>
              <a:t>年，荷兰物理学家昂尼斯偶然发现在液氦温度（</a:t>
            </a:r>
            <a:r>
              <a:rPr lang="en-US" altLang="zh-CN" sz="2400" b="1" dirty="0">
                <a:latin typeface="Times New Roman" panose="02020603050405020304" pitchFamily="18" charset="0"/>
                <a:ea typeface="宋体" panose="02010600030101010101" pitchFamily="2" charset="-122"/>
              </a:rPr>
              <a:t>4.2K</a:t>
            </a:r>
            <a:r>
              <a:rPr lang="zh-CN" altLang="en-US" sz="2400" b="1" dirty="0">
                <a:latin typeface="Times New Roman" panose="02020603050405020304" pitchFamily="18" charset="0"/>
                <a:ea typeface="宋体" panose="02010600030101010101" pitchFamily="2" charset="-122"/>
              </a:rPr>
              <a:t>）下，汞电阻突然消失的现象，他把这种零电阻现象称为</a:t>
            </a:r>
            <a:r>
              <a:rPr lang="zh-CN" altLang="en-US" sz="2400" b="1" dirty="0">
                <a:solidFill>
                  <a:srgbClr val="6600CC"/>
                </a:solidFill>
                <a:latin typeface="Times New Roman" panose="02020603050405020304" pitchFamily="18" charset="0"/>
                <a:ea typeface="宋体" panose="02010600030101010101" pitchFamily="2" charset="-122"/>
              </a:rPr>
              <a:t>超导电性</a:t>
            </a:r>
            <a:r>
              <a:rPr lang="zh-CN" altLang="en-US" sz="2400" b="1" dirty="0">
                <a:latin typeface="Times New Roman" panose="02020603050405020304" pitchFamily="18" charset="0"/>
                <a:ea typeface="宋体" panose="02010600030101010101" pitchFamily="2" charset="-122"/>
              </a:rPr>
              <a:t>。物质电阻突然消失时的温度称为转变温度或临界温度，用</a:t>
            </a:r>
            <a:r>
              <a:rPr lang="en-US" altLang="zh-CN" sz="2400" b="1" i="1" dirty="0">
                <a:latin typeface="Times New Roman" panose="02020603050405020304" pitchFamily="18" charset="0"/>
                <a:ea typeface="宋体" panose="02010600030101010101" pitchFamily="2" charset="-122"/>
              </a:rPr>
              <a:t>T</a:t>
            </a:r>
            <a:r>
              <a:rPr lang="en-US" altLang="zh-CN" sz="2400" b="1" baseline="-25000"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表示。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在一定温度下具有超导电性的物体称为</a:t>
            </a:r>
            <a:r>
              <a:rPr lang="zh-CN" altLang="en-US" sz="2400" b="1" dirty="0">
                <a:solidFill>
                  <a:srgbClr val="6600CC"/>
                </a:solidFill>
                <a:latin typeface="Times New Roman" panose="02020603050405020304" pitchFamily="18" charset="0"/>
                <a:ea typeface="宋体" panose="02010600030101010101" pitchFamily="2" charset="-122"/>
                <a:hlinkClick r:id="rId1" action="ppaction://hlinkfile"/>
              </a:rPr>
              <a:t>超导体</a:t>
            </a:r>
            <a:r>
              <a:rPr lang="zh-CN" altLang="en-US" sz="2400" b="1" dirty="0">
                <a:latin typeface="Times New Roman" panose="02020603050405020304" pitchFamily="18" charset="0"/>
                <a:ea typeface="宋体" panose="02010600030101010101" pitchFamily="2" charset="-122"/>
              </a:rPr>
              <a:t>。超导体的</a:t>
            </a:r>
            <a:r>
              <a:rPr lang="zh-CN" altLang="en-US" sz="2400" b="1" dirty="0">
                <a:solidFill>
                  <a:srgbClr val="6600CC"/>
                </a:solidFill>
                <a:latin typeface="Times New Roman" panose="02020603050405020304" pitchFamily="18" charset="0"/>
                <a:ea typeface="宋体" panose="02010600030101010101" pitchFamily="2" charset="-122"/>
              </a:rPr>
              <a:t>电阻为零</a:t>
            </a:r>
            <a:r>
              <a:rPr lang="zh-CN" altLang="en-US" sz="2400" b="1" dirty="0">
                <a:latin typeface="Times New Roman" panose="02020603050405020304" pitchFamily="18" charset="0"/>
                <a:ea typeface="宋体" panose="02010600030101010101" pitchFamily="2" charset="-122"/>
              </a:rPr>
              <a:t>意味着电能在产生和输送的过程中将无电阻损耗，例如用超导材料做成超导电缆输电，节约了电能，此外在超导发电机、磁悬浮高速列车、可控热核聚变等方面</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具有广阔的应用前景。然而超导材料的</a:t>
            </a:r>
            <a:r>
              <a:rPr lang="en-US" altLang="en-US" sz="2400" b="1" i="1" dirty="0">
                <a:latin typeface="Times New Roman" panose="02020603050405020304" pitchFamily="18" charset="0"/>
                <a:ea typeface="宋体" panose="02010600030101010101" pitchFamily="2" charset="-122"/>
              </a:rPr>
              <a:t>T</a:t>
            </a:r>
            <a:r>
              <a:rPr lang="en-US" altLang="en-US"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太低限制了其普遍应用，因此提高材料的超导转变温度是科学家们努力的方向。</a:t>
            </a:r>
            <a:endParaRPr lang="zh-CN" altLang="en-US" sz="2400" b="1" dirty="0">
              <a:latin typeface="Times New Roman" panose="02020603050405020304" pitchFamily="18" charset="0"/>
              <a:ea typeface="宋体" panose="02010600030101010101" pitchFamily="2" charset="-122"/>
            </a:endParaRPr>
          </a:p>
        </p:txBody>
      </p:sp>
      <p:sp>
        <p:nvSpPr>
          <p:cNvPr id="59395" name="Rectangle 3"/>
          <p:cNvSpPr/>
          <p:nvPr/>
        </p:nvSpPr>
        <p:spPr>
          <a:xfrm>
            <a:off x="-152400" y="119063"/>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7.</a:t>
            </a:r>
            <a:r>
              <a:rPr lang="zh-CN" altLang="en-US" sz="2800" b="1" dirty="0">
                <a:solidFill>
                  <a:srgbClr val="540C2B"/>
                </a:solidFill>
                <a:latin typeface="楷体_GB2312" panose="02010609030101010101" pitchFamily="49" charset="-122"/>
                <a:ea typeface="楷体_GB2312" panose="02010609030101010101" pitchFamily="49" charset="-122"/>
              </a:rPr>
              <a:t>超导陶瓷</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5714">
                                            <p:txEl>
                                              <p:charRg st="0" end="98"/>
                                            </p:txEl>
                                          </p:spTgt>
                                        </p:tgtEl>
                                        <p:attrNameLst>
                                          <p:attrName>style.visibility</p:attrName>
                                        </p:attrNameLst>
                                      </p:cBhvr>
                                      <p:to>
                                        <p:strVal val="visible"/>
                                      </p:to>
                                    </p:set>
                                    <p:animEffect transition="in" filter="dissolve">
                                      <p:cBhvr>
                                        <p:cTn id="7" dur="500"/>
                                        <p:tgtEl>
                                          <p:spTgt spid="115714">
                                            <p:txEl>
                                              <p:charRg st="0" end="9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5714">
                                            <p:txEl>
                                              <p:charRg st="98" end="207"/>
                                            </p:txEl>
                                          </p:spTgt>
                                        </p:tgtEl>
                                        <p:attrNameLst>
                                          <p:attrName>style.visibility</p:attrName>
                                        </p:attrNameLst>
                                      </p:cBhvr>
                                      <p:to>
                                        <p:strVal val="visible"/>
                                      </p:to>
                                    </p:set>
                                    <p:animEffect transition="in" filter="dissolve">
                                      <p:cBhvr>
                                        <p:cTn id="12" dur="500"/>
                                        <p:tgtEl>
                                          <p:spTgt spid="115714">
                                            <p:txEl>
                                              <p:charRg st="98" end="20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5714">
                                            <p:txEl>
                                              <p:charRg st="207" end="262"/>
                                            </p:txEl>
                                          </p:spTgt>
                                        </p:tgtEl>
                                        <p:attrNameLst>
                                          <p:attrName>style.visibility</p:attrName>
                                        </p:attrNameLst>
                                      </p:cBhvr>
                                      <p:to>
                                        <p:strVal val="visible"/>
                                      </p:to>
                                    </p:set>
                                    <p:animEffect transition="in" filter="dissolve">
                                      <p:cBhvr>
                                        <p:cTn id="17" dur="500"/>
                                        <p:tgtEl>
                                          <p:spTgt spid="115714">
                                            <p:txEl>
                                              <p:charRg st="207" end="2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p:nvPr/>
        </p:nvSpPr>
        <p:spPr>
          <a:xfrm>
            <a:off x="685800" y="571500"/>
            <a:ext cx="8153400" cy="53736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1986</a:t>
            </a:r>
            <a:r>
              <a:rPr lang="zh-CN" altLang="en-US" sz="2400" b="1" dirty="0">
                <a:latin typeface="Times New Roman" panose="02020603050405020304" pitchFamily="18" charset="0"/>
                <a:ea typeface="宋体" panose="02010600030101010101" pitchFamily="2" charset="-122"/>
              </a:rPr>
              <a:t>年</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月美国</a:t>
            </a:r>
            <a:r>
              <a:rPr lang="en-US" altLang="zh-CN" sz="2400" b="1" dirty="0">
                <a:latin typeface="Times New Roman" panose="02020603050405020304" pitchFamily="18" charset="0"/>
                <a:ea typeface="宋体" panose="02010600030101010101" pitchFamily="2" charset="-122"/>
              </a:rPr>
              <a:t>IBM</a:t>
            </a:r>
            <a:r>
              <a:rPr lang="zh-CN" altLang="en-US" sz="2400" b="1" dirty="0">
                <a:latin typeface="Times New Roman" panose="02020603050405020304" pitchFamily="18" charset="0"/>
                <a:ea typeface="宋体" panose="02010600030101010101" pitchFamily="2" charset="-122"/>
              </a:rPr>
              <a:t>公司的科学家们发现，钡镧铜氧化物陶瓷材料具有超导性，转变温度为</a:t>
            </a:r>
            <a:r>
              <a:rPr lang="en-US" altLang="zh-CN" sz="2400" b="1" dirty="0">
                <a:latin typeface="Times New Roman" panose="02020603050405020304" pitchFamily="18" charset="0"/>
                <a:ea typeface="宋体" panose="02010600030101010101" pitchFamily="2" charset="-122"/>
              </a:rPr>
              <a:t>35K</a:t>
            </a:r>
            <a:r>
              <a:rPr lang="zh-CN" altLang="en-US" sz="2400" b="1" dirty="0">
                <a:latin typeface="Times New Roman" panose="02020603050405020304" pitchFamily="18" charset="0"/>
                <a:ea typeface="宋体" panose="02010600030101010101" pitchFamily="2" charset="-122"/>
              </a:rPr>
              <a:t>，开拓了混合金属氧化物超导体的研究方向，他们因此获得了</a:t>
            </a:r>
            <a:r>
              <a:rPr lang="en-US" altLang="zh-CN" sz="2400" b="1" dirty="0">
                <a:latin typeface="Times New Roman" panose="02020603050405020304" pitchFamily="18" charset="0"/>
                <a:ea typeface="宋体" panose="02010600030101010101" pitchFamily="2" charset="-122"/>
              </a:rPr>
              <a:t>1987</a:t>
            </a:r>
            <a:r>
              <a:rPr lang="zh-CN" altLang="en-US" sz="2400" b="1" dirty="0">
                <a:latin typeface="Times New Roman" panose="02020603050405020304" pitchFamily="18" charset="0"/>
                <a:ea typeface="宋体" panose="02010600030101010101" pitchFamily="2" charset="-122"/>
              </a:rPr>
              <a:t>年的诺贝尔物理学奖。</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接着中国科学院首次公布了临界温度</a:t>
            </a:r>
            <a:r>
              <a:rPr lang="en-US" altLang="zh-CN" sz="2400" b="1" dirty="0">
                <a:latin typeface="Times New Roman" panose="02020603050405020304" pitchFamily="18" charset="0"/>
                <a:ea typeface="宋体" panose="02010600030101010101" pitchFamily="2" charset="-122"/>
              </a:rPr>
              <a:t>Tc</a:t>
            </a:r>
            <a:r>
              <a:rPr lang="zh-CN" altLang="en-US" sz="2400" b="1" dirty="0">
                <a:latin typeface="Times New Roman" panose="02020603050405020304" pitchFamily="18" charset="0"/>
                <a:ea typeface="宋体" panose="02010600030101010101" pitchFamily="2" charset="-122"/>
              </a:rPr>
              <a:t>高于液氮（</a:t>
            </a:r>
            <a:r>
              <a:rPr lang="en-US" altLang="zh-CN" sz="2400" b="1" dirty="0">
                <a:latin typeface="Times New Roman" panose="02020603050405020304" pitchFamily="18" charset="0"/>
                <a:ea typeface="宋体" panose="02010600030101010101" pitchFamily="2" charset="-122"/>
              </a:rPr>
              <a:t>77K</a:t>
            </a:r>
            <a:r>
              <a:rPr lang="zh-CN" altLang="en-US" sz="2400" b="1" dirty="0">
                <a:latin typeface="Times New Roman" panose="02020603050405020304" pitchFamily="18" charset="0"/>
                <a:ea typeface="宋体" panose="02010600030101010101" pitchFamily="2" charset="-122"/>
              </a:rPr>
              <a:t>）的钡钇铜氧体系，其</a:t>
            </a:r>
            <a:r>
              <a:rPr lang="en-US" altLang="zh-CN" sz="2400" b="1" dirty="0">
                <a:latin typeface="Times New Roman" panose="02020603050405020304" pitchFamily="18" charset="0"/>
                <a:ea typeface="宋体" panose="02010600030101010101" pitchFamily="2" charset="-122"/>
              </a:rPr>
              <a:t>Tc</a:t>
            </a:r>
            <a:r>
              <a:rPr lang="zh-CN" altLang="en-US" sz="2400" b="1" dirty="0">
                <a:latin typeface="Times New Roman" panose="02020603050405020304" pitchFamily="18" charset="0"/>
                <a:ea typeface="宋体" panose="02010600030101010101" pitchFamily="2" charset="-122"/>
              </a:rPr>
              <a:t>为</a:t>
            </a:r>
            <a:r>
              <a:rPr lang="en-US" altLang="zh-CN" sz="2400" b="1" dirty="0">
                <a:latin typeface="Times New Roman" panose="02020603050405020304" pitchFamily="18" charset="0"/>
                <a:ea typeface="宋体" panose="02010600030101010101" pitchFamily="2" charset="-122"/>
              </a:rPr>
              <a:t>93K</a:t>
            </a:r>
            <a:r>
              <a:rPr lang="zh-CN" altLang="en-US" sz="2400" b="1" dirty="0">
                <a:latin typeface="Times New Roman" panose="02020603050405020304" pitchFamily="18" charset="0"/>
                <a:ea typeface="宋体" panose="02010600030101010101" pitchFamily="2" charset="-122"/>
              </a:rPr>
              <a:t>，这一发现被誉为超导研究史上“划时代的成就”。</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1993</a:t>
            </a:r>
            <a:r>
              <a:rPr lang="zh-CN" altLang="en-US" sz="2400" b="1" dirty="0">
                <a:latin typeface="Times New Roman" panose="02020603050405020304" pitchFamily="18" charset="0"/>
                <a:ea typeface="宋体" panose="02010600030101010101" pitchFamily="2" charset="-122"/>
              </a:rPr>
              <a:t>年</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月，中国和瑞士科学家合作制备的汞钡铜氧化物，</a:t>
            </a:r>
            <a:r>
              <a:rPr lang="en-US" altLang="zh-CN" sz="2400" b="1" dirty="0">
                <a:latin typeface="Times New Roman" panose="02020603050405020304" pitchFamily="18" charset="0"/>
                <a:ea typeface="宋体" panose="02010600030101010101" pitchFamily="2" charset="-122"/>
              </a:rPr>
              <a:t>Tc</a:t>
            </a:r>
            <a:r>
              <a:rPr lang="zh-CN" altLang="en-US" sz="2400" b="1" dirty="0">
                <a:latin typeface="Times New Roman" panose="02020603050405020304" pitchFamily="18" charset="0"/>
                <a:ea typeface="宋体" panose="02010600030101010101" pitchFamily="2" charset="-122"/>
              </a:rPr>
              <a:t>为</a:t>
            </a:r>
            <a:r>
              <a:rPr lang="en-US" altLang="zh-CN" sz="2400" b="1" dirty="0">
                <a:latin typeface="Times New Roman" panose="02020603050405020304" pitchFamily="18" charset="0"/>
                <a:ea typeface="宋体" panose="02010600030101010101" pitchFamily="2" charset="-122"/>
              </a:rPr>
              <a:t>133.5K</a:t>
            </a:r>
            <a:r>
              <a:rPr lang="zh-CN" altLang="en-US" sz="2400" b="1" dirty="0">
                <a:latin typeface="Times New Roman" panose="02020603050405020304" pitchFamily="18" charset="0"/>
                <a:ea typeface="宋体" panose="02010600030101010101" pitchFamily="2" charset="-122"/>
              </a:rPr>
              <a:t>，这是一种创世界记录的超导材料，被认为是近几年超导研究领域的重大突破。</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38">
                                            <p:txEl>
                                              <p:charRg st="0" end="95"/>
                                            </p:txEl>
                                          </p:spTgt>
                                        </p:tgtEl>
                                        <p:attrNameLst>
                                          <p:attrName>style.visibility</p:attrName>
                                        </p:attrNameLst>
                                      </p:cBhvr>
                                      <p:to>
                                        <p:strVal val="visible"/>
                                      </p:to>
                                    </p:set>
                                    <p:animEffect transition="in" filter="dissolve">
                                      <p:cBhvr>
                                        <p:cTn id="7" dur="500"/>
                                        <p:tgtEl>
                                          <p:spTgt spid="116738">
                                            <p:txEl>
                                              <p:charRg st="0" end="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6738">
                                            <p:txEl>
                                              <p:charRg st="95" end="167"/>
                                            </p:txEl>
                                          </p:spTgt>
                                        </p:tgtEl>
                                        <p:attrNameLst>
                                          <p:attrName>style.visibility</p:attrName>
                                        </p:attrNameLst>
                                      </p:cBhvr>
                                      <p:to>
                                        <p:strVal val="visible"/>
                                      </p:to>
                                    </p:set>
                                    <p:animEffect transition="in" filter="dissolve">
                                      <p:cBhvr>
                                        <p:cTn id="12" dur="500"/>
                                        <p:tgtEl>
                                          <p:spTgt spid="116738">
                                            <p:txEl>
                                              <p:charRg st="95" end="1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6738">
                                            <p:txEl>
                                              <p:charRg st="167" end="247"/>
                                            </p:txEl>
                                          </p:spTgt>
                                        </p:tgtEl>
                                        <p:attrNameLst>
                                          <p:attrName>style.visibility</p:attrName>
                                        </p:attrNameLst>
                                      </p:cBhvr>
                                      <p:to>
                                        <p:strVal val="visible"/>
                                      </p:to>
                                    </p:set>
                                    <p:animEffect transition="in" filter="dissolve">
                                      <p:cBhvr>
                                        <p:cTn id="17" dur="500"/>
                                        <p:tgtEl>
                                          <p:spTgt spid="116738">
                                            <p:txEl>
                                              <p:charRg st="167" end="2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6738">
                                            <p:txEl>
                                              <p:charRg st="247" end="254"/>
                                            </p:txEl>
                                          </p:spTgt>
                                        </p:tgtEl>
                                        <p:attrNameLst>
                                          <p:attrName>style.visibility</p:attrName>
                                        </p:attrNameLst>
                                      </p:cBhvr>
                                      <p:to>
                                        <p:strVal val="visible"/>
                                      </p:to>
                                    </p:set>
                                    <p:animEffect transition="in" filter="dissolve">
                                      <p:cBhvr>
                                        <p:cTn id="22" dur="500"/>
                                        <p:tgtEl>
                                          <p:spTgt spid="116738">
                                            <p:txEl>
                                              <p:charRg st="247" end="2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p:nvPr/>
        </p:nvSpPr>
        <p:spPr>
          <a:xfrm>
            <a:off x="609600" y="2095500"/>
            <a:ext cx="81534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压电材料是一种可以使电能和机械能相互转换的功能材料，如图</a:t>
            </a:r>
            <a:r>
              <a:rPr lang="en-US" altLang="zh-CN" sz="2400" b="1" dirty="0">
                <a:latin typeface="Times New Roman" panose="02020603050405020304" pitchFamily="18" charset="0"/>
                <a:ea typeface="宋体" panose="02010600030101010101" pitchFamily="2" charset="-122"/>
              </a:rPr>
              <a:t>6-16</a:t>
            </a:r>
            <a:r>
              <a:rPr lang="zh-CN" altLang="en-US" sz="2400" b="1" dirty="0">
                <a:latin typeface="Times New Roman" panose="02020603050405020304" pitchFamily="18" charset="0"/>
                <a:ea typeface="宋体" panose="02010600030101010101" pitchFamily="2" charset="-122"/>
              </a:rPr>
              <a:t>所示。当机械力作用于压电材料使其变形时，在其表面上会产生电荷；反之，加电压于压电材料会使其发生形变。</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许多具有四面体结构的晶体</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如</a:t>
            </a:r>
            <a:r>
              <a:rPr lang="en-US" altLang="zh-CN" sz="2400" b="1" dirty="0">
                <a:latin typeface="Times New Roman" panose="02020603050405020304" pitchFamily="18" charset="0"/>
                <a:ea typeface="宋体" panose="02010600030101010101" pitchFamily="2" charset="-122"/>
              </a:rPr>
              <a:t>ZnO</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ZnS)</a:t>
            </a:r>
            <a:r>
              <a:rPr lang="zh-CN" altLang="en-US" sz="2400" b="1" dirty="0">
                <a:latin typeface="Times New Roman" panose="02020603050405020304" pitchFamily="18" charset="0"/>
                <a:ea typeface="宋体" panose="02010600030101010101" pitchFamily="2" charset="-122"/>
              </a:rPr>
              <a:t>都具有压电转换的性能，在己发现的几千种压电材料中，锆钛酸铅是最重要的压电物质之一。</a:t>
            </a:r>
            <a:endParaRPr lang="zh-CN" altLang="en-US" sz="2400" b="1" dirty="0">
              <a:latin typeface="Times New Roman" panose="02020603050405020304" pitchFamily="18" charset="0"/>
              <a:ea typeface="宋体" panose="02010600030101010101" pitchFamily="2" charset="-122"/>
            </a:endParaRPr>
          </a:p>
        </p:txBody>
      </p:sp>
      <p:sp>
        <p:nvSpPr>
          <p:cNvPr id="117763" name="Text Box 3"/>
          <p:cNvSpPr txBox="1"/>
          <p:nvPr/>
        </p:nvSpPr>
        <p:spPr>
          <a:xfrm>
            <a:off x="0" y="635000"/>
            <a:ext cx="5257800"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   6.2.4     </a:t>
            </a:r>
            <a:r>
              <a:rPr lang="zh-CN" altLang="en-US" sz="3200" b="1" dirty="0">
                <a:solidFill>
                  <a:schemeClr val="bg1"/>
                </a:solidFill>
                <a:latin typeface="Times New Roman" panose="02020603050405020304" pitchFamily="18" charset="0"/>
                <a:ea typeface="楷体_GB2312" panose="02010609030101010101" pitchFamily="49" charset="-122"/>
              </a:rPr>
              <a:t>功能转换材料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60420" name="Rectangle 4"/>
          <p:cNvSpPr/>
          <p:nvPr/>
        </p:nvSpPr>
        <p:spPr>
          <a:xfrm>
            <a:off x="0" y="1333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a:t>
            </a:r>
            <a:r>
              <a:rPr lang="zh-CN" altLang="en-US" sz="2800" b="1" dirty="0">
                <a:solidFill>
                  <a:srgbClr val="540C2B"/>
                </a:solidFill>
                <a:latin typeface="楷体_GB2312" panose="02010609030101010101" pitchFamily="49" charset="-122"/>
                <a:ea typeface="楷体_GB2312" panose="02010609030101010101" pitchFamily="49" charset="-122"/>
              </a:rPr>
              <a:t>压电材料</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17763"/>
                                        </p:tgtEl>
                                        <p:attrNameLst>
                                          <p:attrName>style.visibility</p:attrName>
                                        </p:attrNameLst>
                                      </p:cBhvr>
                                      <p:to>
                                        <p:strVal val="visible"/>
                                      </p:to>
                                    </p:set>
                                    <p:anim calcmode="lin" valueType="num">
                                      <p:cBhvr>
                                        <p:cTn id="7" dur="1000" fill="hold"/>
                                        <p:tgtEl>
                                          <p:spTgt spid="117763"/>
                                        </p:tgtEl>
                                        <p:attrNameLst>
                                          <p:attrName>ppt_w</p:attrName>
                                        </p:attrNameLst>
                                      </p:cBhvr>
                                      <p:tavLst>
                                        <p:tav tm="0">
                                          <p:val>
                                            <p:fltVal val="0.000000"/>
                                          </p:val>
                                        </p:tav>
                                        <p:tav tm="100000">
                                          <p:val>
                                            <p:strVal val="#ppt_w"/>
                                          </p:val>
                                        </p:tav>
                                      </p:tavLst>
                                    </p:anim>
                                    <p:anim calcmode="lin" valueType="num">
                                      <p:cBhvr>
                                        <p:cTn id="8" dur="1000" fill="hold"/>
                                        <p:tgtEl>
                                          <p:spTgt spid="117763"/>
                                        </p:tgtEl>
                                        <p:attrNameLst>
                                          <p:attrName>ppt_h</p:attrName>
                                        </p:attrNameLst>
                                      </p:cBhvr>
                                      <p:tavLst>
                                        <p:tav tm="0">
                                          <p:val>
                                            <p:fltVal val="0.000000"/>
                                          </p:val>
                                        </p:tav>
                                        <p:tav tm="100000">
                                          <p:val>
                                            <p:strVal val="#ppt_h"/>
                                          </p:val>
                                        </p:tav>
                                      </p:tavLst>
                                    </p:anim>
                                    <p:anim calcmode="lin" valueType="num">
                                      <p:cBhvr>
                                        <p:cTn id="9" dur="1000" fill="hold"/>
                                        <p:tgtEl>
                                          <p:spTgt spid="117763"/>
                                        </p:tgtEl>
                                        <p:attrNameLst>
                                          <p:attrName>style.rotation</p:attrName>
                                        </p:attrNameLst>
                                      </p:cBhvr>
                                      <p:tavLst>
                                        <p:tav tm="0">
                                          <p:val>
                                            <p:fltVal val="90.000000"/>
                                          </p:val>
                                        </p:tav>
                                        <p:tav tm="100000">
                                          <p:val>
                                            <p:fltVal val="0.000000"/>
                                          </p:val>
                                        </p:tav>
                                      </p:tavLst>
                                    </p:anim>
                                    <p:animEffect transition="in" filter="fade">
                                      <p:cBhvr>
                                        <p:cTn id="10" dur="1000"/>
                                        <p:tgtEl>
                                          <p:spTgt spid="117763"/>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60420"/>
                                        </p:tgtEl>
                                        <p:attrNameLst>
                                          <p:attrName>style.visibility</p:attrName>
                                        </p:attrNameLst>
                                      </p:cBhvr>
                                      <p:to>
                                        <p:strVal val="visible"/>
                                      </p:to>
                                    </p:set>
                                    <p:animEffect transition="in" filter="checkerboard(across)">
                                      <p:cBhvr>
                                        <p:cTn id="15" dur="500"/>
                                        <p:tgtEl>
                                          <p:spTgt spid="6042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7762">
                                            <p:txEl>
                                              <p:charRg st="0" end="92"/>
                                            </p:txEl>
                                          </p:spTgt>
                                        </p:tgtEl>
                                        <p:attrNameLst>
                                          <p:attrName>style.visibility</p:attrName>
                                        </p:attrNameLst>
                                      </p:cBhvr>
                                      <p:to>
                                        <p:strVal val="visible"/>
                                      </p:to>
                                    </p:set>
                                    <p:animEffect transition="in" filter="dissolve">
                                      <p:cBhvr>
                                        <p:cTn id="20" dur="500"/>
                                        <p:tgtEl>
                                          <p:spTgt spid="117762">
                                            <p:txEl>
                                              <p:charRg st="0" end="9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17762">
                                            <p:txEl>
                                              <p:charRg st="92" end="164"/>
                                            </p:txEl>
                                          </p:spTgt>
                                        </p:tgtEl>
                                        <p:attrNameLst>
                                          <p:attrName>style.visibility</p:attrName>
                                        </p:attrNameLst>
                                      </p:cBhvr>
                                      <p:to>
                                        <p:strVal val="visible"/>
                                      </p:to>
                                    </p:set>
                                    <p:animEffect transition="in" filter="dissolve">
                                      <p:cBhvr>
                                        <p:cTn id="25" dur="500"/>
                                        <p:tgtEl>
                                          <p:spTgt spid="117762">
                                            <p:txEl>
                                              <p:charRg st="92"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build="p"/>
      <p:bldP spid="117763" grpId="0" animBg="1"/>
      <p:bldP spid="604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p:nvPr/>
        </p:nvSpPr>
        <p:spPr>
          <a:xfrm>
            <a:off x="685800" y="444500"/>
            <a:ext cx="8153400" cy="53736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利用压电材料的正压电效应，可将机械能转换成电能，高电压发生器是压电材料最早开拓的应用之一，其中应用较多的有：压电点火器、引燃引爆装置、压电开关等。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水声换能器是压电材料的一项重要应用。其利用正、逆压电效应以发射声波或接收声波来完成水下观察、通讯和探测工作。</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利用压电材料的逆压电效应，在高驱动电压下产生高强度超声波，并以此作为动力应用在超声清洗、超声乳化、超声焊接、超声粉碎等装置上的机电换能器等方面。</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压电材料作为超声换能器，具有结构简单、使用方便、灵敏度高、选择性好、易与电源匹配、小型轻便等优点。</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8786">
                                            <p:txEl>
                                              <p:charRg st="0" end="81"/>
                                            </p:txEl>
                                          </p:spTgt>
                                        </p:tgtEl>
                                        <p:attrNameLst>
                                          <p:attrName>style.visibility</p:attrName>
                                        </p:attrNameLst>
                                      </p:cBhvr>
                                      <p:to>
                                        <p:strVal val="visible"/>
                                      </p:to>
                                    </p:set>
                                    <p:animEffect transition="in" filter="dissolve">
                                      <p:cBhvr>
                                        <p:cTn id="7" dur="500"/>
                                        <p:tgtEl>
                                          <p:spTgt spid="118786">
                                            <p:txEl>
                                              <p:charRg st="0"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8786">
                                            <p:txEl>
                                              <p:charRg st="81" end="143"/>
                                            </p:txEl>
                                          </p:spTgt>
                                        </p:tgtEl>
                                        <p:attrNameLst>
                                          <p:attrName>style.visibility</p:attrName>
                                        </p:attrNameLst>
                                      </p:cBhvr>
                                      <p:to>
                                        <p:strVal val="visible"/>
                                      </p:to>
                                    </p:set>
                                    <p:animEffect transition="in" filter="dissolve">
                                      <p:cBhvr>
                                        <p:cTn id="12" dur="500"/>
                                        <p:tgtEl>
                                          <p:spTgt spid="118786">
                                            <p:txEl>
                                              <p:charRg st="81" end="14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8786">
                                            <p:txEl>
                                              <p:charRg st="143" end="225"/>
                                            </p:txEl>
                                          </p:spTgt>
                                        </p:tgtEl>
                                        <p:attrNameLst>
                                          <p:attrName>style.visibility</p:attrName>
                                        </p:attrNameLst>
                                      </p:cBhvr>
                                      <p:to>
                                        <p:strVal val="visible"/>
                                      </p:to>
                                    </p:set>
                                    <p:animEffect transition="in" filter="dissolve">
                                      <p:cBhvr>
                                        <p:cTn id="17" dur="500"/>
                                        <p:tgtEl>
                                          <p:spTgt spid="118786">
                                            <p:txEl>
                                              <p:charRg st="143" end="22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8786">
                                            <p:txEl>
                                              <p:charRg st="225" end="284"/>
                                            </p:txEl>
                                          </p:spTgt>
                                        </p:tgtEl>
                                        <p:attrNameLst>
                                          <p:attrName>style.visibility</p:attrName>
                                        </p:attrNameLst>
                                      </p:cBhvr>
                                      <p:to>
                                        <p:strVal val="visible"/>
                                      </p:to>
                                    </p:set>
                                    <p:animEffect transition="in" filter="dissolve">
                                      <p:cBhvr>
                                        <p:cTn id="22" dur="500"/>
                                        <p:tgtEl>
                                          <p:spTgt spid="118786">
                                            <p:txEl>
                                              <p:charRg st="225" end="2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3490" name="Group 4"/>
          <p:cNvGrpSpPr>
            <a:grpSpLocks noChangeAspect="1"/>
          </p:cNvGrpSpPr>
          <p:nvPr/>
        </p:nvGrpSpPr>
        <p:grpSpPr>
          <a:xfrm>
            <a:off x="914400" y="1333500"/>
            <a:ext cx="7543800" cy="1811338"/>
            <a:chOff x="0" y="0"/>
            <a:chExt cx="6862" cy="1979"/>
          </a:xfrm>
        </p:grpSpPr>
        <p:pic>
          <p:nvPicPr>
            <p:cNvPr id="63492" name="Picture 5" descr="http://fs01.bokee.net/userfilespace/2009/12/14/winghinghong2411905.jpg"/>
            <p:cNvPicPr>
              <a:picLocks noChangeAspect="1"/>
            </p:cNvPicPr>
            <p:nvPr/>
          </p:nvPicPr>
          <p:blipFill>
            <a:blip r:embed="rId1" r:link="rId2"/>
            <a:srcRect t="3740"/>
            <a:stretch>
              <a:fillRect/>
            </a:stretch>
          </p:blipFill>
          <p:spPr>
            <a:xfrm>
              <a:off x="4144" y="18"/>
              <a:ext cx="2718" cy="1961"/>
            </a:xfrm>
            <a:prstGeom prst="rect">
              <a:avLst/>
            </a:prstGeom>
            <a:noFill/>
            <a:ln w="9525">
              <a:noFill/>
            </a:ln>
          </p:spPr>
        </p:pic>
        <p:pic>
          <p:nvPicPr>
            <p:cNvPr id="63493" name="Picture 6" descr="http://imgsrc.baidu.com/baike/abpic/item/373bc4b4a66420488ad4b262.jpg"/>
            <p:cNvPicPr>
              <a:picLocks noChangeAspect="1"/>
            </p:cNvPicPr>
            <p:nvPr/>
          </p:nvPicPr>
          <p:blipFill>
            <a:blip r:embed="rId3" r:link="rId4"/>
            <a:stretch>
              <a:fillRect/>
            </a:stretch>
          </p:blipFill>
          <p:spPr>
            <a:xfrm>
              <a:off x="0" y="0"/>
              <a:ext cx="3093" cy="1978"/>
            </a:xfrm>
            <a:prstGeom prst="rect">
              <a:avLst/>
            </a:prstGeom>
            <a:noFill/>
            <a:ln w="9525">
              <a:noFill/>
            </a:ln>
          </p:spPr>
        </p:pic>
      </p:grpSp>
      <p:sp>
        <p:nvSpPr>
          <p:cNvPr id="63491" name="Rectangle 7"/>
          <p:cNvSpPr/>
          <p:nvPr/>
        </p:nvSpPr>
        <p:spPr>
          <a:xfrm>
            <a:off x="1752600" y="3509963"/>
            <a:ext cx="5754688" cy="4000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2000" b="1" dirty="0">
                <a:latin typeface="Times New Roman" panose="02020603050405020304" pitchFamily="18" charset="0"/>
                <a:ea typeface="宋体" panose="02010600030101010101" pitchFamily="2" charset="-122"/>
              </a:rPr>
              <a:t>    图</a:t>
            </a:r>
            <a:r>
              <a:rPr lang="en-US" altLang="zh-CN" sz="2000" b="1" dirty="0">
                <a:latin typeface="Times New Roman" panose="02020603050405020304" pitchFamily="18" charset="0"/>
                <a:ea typeface="宋体" panose="02010600030101010101" pitchFamily="2" charset="-122"/>
              </a:rPr>
              <a:t>6-16  </a:t>
            </a:r>
            <a:r>
              <a:rPr lang="zh-CN" altLang="en-US" sz="2000" b="1" dirty="0">
                <a:latin typeface="Times New Roman" panose="02020603050405020304" pitchFamily="18" charset="0"/>
                <a:ea typeface="宋体" panose="02010600030101010101" pitchFamily="2" charset="-122"/>
              </a:rPr>
              <a:t>压电材料                            图</a:t>
            </a:r>
            <a:r>
              <a:rPr lang="en-US" altLang="zh-CN" sz="2000" b="1" dirty="0">
                <a:latin typeface="Times New Roman" panose="02020603050405020304" pitchFamily="18" charset="0"/>
                <a:ea typeface="宋体" panose="02010600030101010101" pitchFamily="2" charset="-122"/>
              </a:rPr>
              <a:t>6-17  </a:t>
            </a:r>
            <a:r>
              <a:rPr lang="zh-CN" altLang="en-US" sz="2000" b="1" dirty="0">
                <a:latin typeface="Times New Roman" panose="02020603050405020304" pitchFamily="18" charset="0"/>
                <a:ea typeface="宋体" panose="02010600030101010101" pitchFamily="2" charset="-122"/>
              </a:rPr>
              <a:t>智能窗</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p:nvPr/>
        </p:nvSpPr>
        <p:spPr>
          <a:xfrm>
            <a:off x="533400" y="1397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物质在受到光照后，往往会引发其某些电性质的变化，这一现象称为光电效应。</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光电效应主要有</a:t>
            </a:r>
            <a:r>
              <a:rPr lang="zh-CN" altLang="en-US" sz="2400" b="1" dirty="0">
                <a:solidFill>
                  <a:srgbClr val="6600CC"/>
                </a:solidFill>
                <a:latin typeface="Times New Roman" panose="02020603050405020304" pitchFamily="18" charset="0"/>
                <a:ea typeface="宋体" panose="02010600030101010101" pitchFamily="2" charset="-122"/>
              </a:rPr>
              <a:t>光电导效应、光生伏特效应和光电子发射效应</a:t>
            </a:r>
            <a:r>
              <a:rPr lang="zh-CN" altLang="en-US" sz="2400" b="1" dirty="0">
                <a:latin typeface="Times New Roman" panose="02020603050405020304" pitchFamily="18" charset="0"/>
                <a:ea typeface="宋体" panose="02010600030101010101" pitchFamily="2" charset="-122"/>
              </a:rPr>
              <a:t>三种。前两种效应在物体内部发生，统称为</a:t>
            </a:r>
            <a:r>
              <a:rPr lang="zh-CN" altLang="en-US" sz="2400" b="1" dirty="0">
                <a:solidFill>
                  <a:srgbClr val="6600CC"/>
                </a:solidFill>
                <a:latin typeface="Times New Roman" panose="02020603050405020304" pitchFamily="18" charset="0"/>
                <a:ea typeface="宋体" panose="02010600030101010101" pitchFamily="2" charset="-122"/>
              </a:rPr>
              <a:t>内光电效应</a:t>
            </a:r>
            <a:r>
              <a:rPr lang="zh-CN" altLang="en-US" sz="2400" b="1" dirty="0">
                <a:latin typeface="Times New Roman" panose="02020603050405020304" pitchFamily="18" charset="0"/>
                <a:ea typeface="宋体" panose="02010600030101010101" pitchFamily="2" charset="-122"/>
              </a:rPr>
              <a:t>；光电子发射效应产生于物体表面，又称</a:t>
            </a:r>
            <a:r>
              <a:rPr lang="zh-CN" altLang="en-US" sz="2400" b="1" dirty="0">
                <a:solidFill>
                  <a:srgbClr val="6600CC"/>
                </a:solidFill>
                <a:latin typeface="Times New Roman" panose="02020603050405020304" pitchFamily="18" charset="0"/>
                <a:ea typeface="宋体" panose="02010600030101010101" pitchFamily="2" charset="-122"/>
              </a:rPr>
              <a:t>外光电效应</a:t>
            </a:r>
            <a:r>
              <a:rPr lang="zh-CN" altLang="en-US" sz="2400" b="1" dirty="0">
                <a:latin typeface="Times New Roman" panose="02020603050405020304" pitchFamily="18" charset="0"/>
                <a:ea typeface="宋体" panose="02010600030101010101" pitchFamily="2" charset="-122"/>
              </a:rPr>
              <a:t>，其主要发生于金属。       </a:t>
            </a:r>
            <a:endParaRPr lang="zh-CN" altLang="en-US" sz="2400" b="1" dirty="0">
              <a:latin typeface="Times New Roman" panose="02020603050405020304" pitchFamily="18" charset="0"/>
              <a:ea typeface="宋体" panose="02010600030101010101" pitchFamily="2" charset="-122"/>
            </a:endParaRPr>
          </a:p>
        </p:txBody>
      </p:sp>
      <p:sp>
        <p:nvSpPr>
          <p:cNvPr id="64515" name="Rectangle 3"/>
          <p:cNvSpPr/>
          <p:nvPr/>
        </p:nvSpPr>
        <p:spPr>
          <a:xfrm>
            <a:off x="0" y="825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光电材料</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9810">
                                            <p:txEl>
                                              <p:charRg st="0" end="44"/>
                                            </p:txEl>
                                          </p:spTgt>
                                        </p:tgtEl>
                                        <p:attrNameLst>
                                          <p:attrName>style.visibility</p:attrName>
                                        </p:attrNameLst>
                                      </p:cBhvr>
                                      <p:to>
                                        <p:strVal val="visible"/>
                                      </p:to>
                                    </p:set>
                                    <p:animEffect transition="in" filter="dissolve">
                                      <p:cBhvr>
                                        <p:cTn id="7" dur="500"/>
                                        <p:tgtEl>
                                          <p:spTgt spid="119810">
                                            <p:txEl>
                                              <p:charRg st="0"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9810">
                                            <p:txEl>
                                              <p:charRg st="44" end="144"/>
                                            </p:txEl>
                                          </p:spTgt>
                                        </p:tgtEl>
                                        <p:attrNameLst>
                                          <p:attrName>style.visibility</p:attrName>
                                        </p:attrNameLst>
                                      </p:cBhvr>
                                      <p:to>
                                        <p:strVal val="visible"/>
                                      </p:to>
                                    </p:set>
                                    <p:animEffect transition="in" filter="dissolve">
                                      <p:cBhvr>
                                        <p:cTn id="12" dur="500"/>
                                        <p:tgtEl>
                                          <p:spTgt spid="119810">
                                            <p:txEl>
                                              <p:charRg st="44"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p:nvPr/>
        </p:nvSpPr>
        <p:spPr>
          <a:xfrm>
            <a:off x="609600" y="7620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利用</a:t>
            </a:r>
            <a:r>
              <a:rPr lang="zh-CN" altLang="en-US" sz="2400" b="1" dirty="0">
                <a:solidFill>
                  <a:srgbClr val="6600CC"/>
                </a:solidFill>
                <a:latin typeface="Times New Roman" panose="02020603050405020304" pitchFamily="18" charset="0"/>
                <a:ea typeface="宋体" panose="02010600030101010101" pitchFamily="2" charset="-122"/>
              </a:rPr>
              <a:t>光生伏特效应</a:t>
            </a:r>
            <a:r>
              <a:rPr lang="zh-CN" altLang="en-US" sz="2400" b="1" dirty="0">
                <a:latin typeface="Times New Roman" panose="02020603050405020304" pitchFamily="18" charset="0"/>
                <a:ea typeface="宋体" panose="02010600030101010101" pitchFamily="2" charset="-122"/>
              </a:rPr>
              <a:t>原理不仅可以制做探测光信号的光电转换元件，还可以制造光电池</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太阳能电池。</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目前使用的太阳能电池主要有</a:t>
            </a:r>
            <a:r>
              <a:rPr lang="zh-CN" altLang="en-US" sz="2400" b="1" dirty="0">
                <a:solidFill>
                  <a:srgbClr val="6600CC"/>
                </a:solidFill>
                <a:latin typeface="Times New Roman" panose="02020603050405020304" pitchFamily="18" charset="0"/>
                <a:ea typeface="宋体" panose="02010600030101010101" pitchFamily="2" charset="-122"/>
              </a:rPr>
              <a:t>单晶材料和薄膜材料。</a:t>
            </a:r>
            <a:r>
              <a:rPr lang="zh-CN" altLang="en-US" sz="2400" b="1" dirty="0">
                <a:latin typeface="Times New Roman" panose="02020603050405020304" pitchFamily="18" charset="0"/>
                <a:ea typeface="宋体" panose="02010600030101010101" pitchFamily="2" charset="-122"/>
              </a:rPr>
              <a:t>硅是太阳能电池较理想的材料，但成本偏高；硫化镉、碲化镉和砷化嫁是比较好的薄膜材料，但薄膜工艺复杂，效率不高、质量不稳。因此人们探索使用工艺简单的陶瓷材料制造太阳能电池。</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近年来，硫化镉陶瓷太阳能电池发展很快，它制备简单、成本低、充分利用光生伏特效应，其缺点是稳定性差。</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4">
                                            <p:txEl>
                                              <p:charRg st="0" end="53"/>
                                            </p:txEl>
                                          </p:spTgt>
                                        </p:tgtEl>
                                        <p:attrNameLst>
                                          <p:attrName>style.visibility</p:attrName>
                                        </p:attrNameLst>
                                      </p:cBhvr>
                                      <p:to>
                                        <p:strVal val="visible"/>
                                      </p:to>
                                    </p:set>
                                    <p:animEffect transition="in" filter="dissolve">
                                      <p:cBhvr>
                                        <p:cTn id="7" dur="500"/>
                                        <p:tgtEl>
                                          <p:spTgt spid="120834">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4">
                                            <p:txEl>
                                              <p:charRg st="53" end="169"/>
                                            </p:txEl>
                                          </p:spTgt>
                                        </p:tgtEl>
                                        <p:attrNameLst>
                                          <p:attrName>style.visibility</p:attrName>
                                        </p:attrNameLst>
                                      </p:cBhvr>
                                      <p:to>
                                        <p:strVal val="visible"/>
                                      </p:to>
                                    </p:set>
                                    <p:animEffect transition="in" filter="dissolve">
                                      <p:cBhvr>
                                        <p:cTn id="12" dur="500"/>
                                        <p:tgtEl>
                                          <p:spTgt spid="120834">
                                            <p:txEl>
                                              <p:charRg st="53" end="1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0834">
                                            <p:txEl>
                                              <p:charRg st="169" end="227"/>
                                            </p:txEl>
                                          </p:spTgt>
                                        </p:tgtEl>
                                        <p:attrNameLst>
                                          <p:attrName>style.visibility</p:attrName>
                                        </p:attrNameLst>
                                      </p:cBhvr>
                                      <p:to>
                                        <p:strVal val="visible"/>
                                      </p:to>
                                    </p:set>
                                    <p:animEffect transition="in" filter="dissolve">
                                      <p:cBhvr>
                                        <p:cTn id="17" dur="500"/>
                                        <p:tgtEl>
                                          <p:spTgt spid="120834">
                                            <p:txEl>
                                              <p:charRg st="169" end="2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p:nvPr/>
        </p:nvSpPr>
        <p:spPr>
          <a:xfrm>
            <a:off x="609600" y="1333500"/>
            <a:ext cx="81534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智能材料具有很多的特殊功能，如能感知客观世界，对外发射声波、辐射电磁波和热能，促进化学反应和改变颜色等对外做出类似有生命的智慧反应。很多智能材料具有自修复和保护功能，使材料能抵抗环境的突然变化。</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陶瓷变阻器和正温度系数热敏电阻是智能陶瓷，在高电压雷击时，氧化锌变阻器可失去电阻，使雷击电流旁路入地。该变阻器的自修复和保护功能使材料能重复多次使用。       </a:t>
            </a:r>
            <a:endParaRPr lang="zh-CN" altLang="en-US" sz="2400" b="1" dirty="0">
              <a:latin typeface="Times New Roman" panose="02020603050405020304" pitchFamily="18" charset="0"/>
              <a:ea typeface="宋体" panose="02010600030101010101" pitchFamily="2" charset="-122"/>
            </a:endParaRPr>
          </a:p>
        </p:txBody>
      </p:sp>
      <p:sp>
        <p:nvSpPr>
          <p:cNvPr id="66563" name="Rectangle 3"/>
          <p:cNvSpPr/>
          <p:nvPr/>
        </p:nvSpPr>
        <p:spPr>
          <a:xfrm>
            <a:off x="0" y="698500"/>
            <a:ext cx="2895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 </a:t>
            </a:r>
            <a:r>
              <a:rPr lang="zh-CN" altLang="en-US" sz="2800" b="1" dirty="0">
                <a:solidFill>
                  <a:srgbClr val="540C2B"/>
                </a:solidFill>
                <a:latin typeface="楷体_GB2312" panose="02010609030101010101" pitchFamily="49" charset="-122"/>
                <a:ea typeface="楷体_GB2312" panose="02010609030101010101" pitchFamily="49" charset="-122"/>
              </a:rPr>
              <a:t>智能材料</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1858">
                                            <p:txEl>
                                              <p:charRg st="0" end="104"/>
                                            </p:txEl>
                                          </p:spTgt>
                                        </p:tgtEl>
                                        <p:attrNameLst>
                                          <p:attrName>style.visibility</p:attrName>
                                        </p:attrNameLst>
                                      </p:cBhvr>
                                      <p:to>
                                        <p:strVal val="visible"/>
                                      </p:to>
                                    </p:set>
                                    <p:animEffect transition="in" filter="dissolve">
                                      <p:cBhvr>
                                        <p:cTn id="7" dur="500"/>
                                        <p:tgtEl>
                                          <p:spTgt spid="121858">
                                            <p:txEl>
                                              <p:charRg st="0" end="10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858">
                                            <p:txEl>
                                              <p:charRg st="105" end="195"/>
                                            </p:txEl>
                                          </p:spTgt>
                                        </p:tgtEl>
                                        <p:attrNameLst>
                                          <p:attrName>style.visibility</p:attrName>
                                        </p:attrNameLst>
                                      </p:cBhvr>
                                      <p:to>
                                        <p:strVal val="visible"/>
                                      </p:to>
                                    </p:set>
                                    <p:animEffect transition="in" filter="dissolve">
                                      <p:cBhvr>
                                        <p:cTn id="12" dur="500"/>
                                        <p:tgtEl>
                                          <p:spTgt spid="121858">
                                            <p:txEl>
                                              <p:charRg st="105" end="1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p:nvPr/>
        </p:nvSpPr>
        <p:spPr>
          <a:xfrm>
            <a:off x="685800" y="444500"/>
            <a:ext cx="8153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电致变色现象是指智能材料在电场作用下引起的可逆且连续可调的颜色变化，利用电致变色材料制造的玻璃窗具有对通过光、热的动态可调性，称为智能窗，如图</a:t>
            </a:r>
            <a:r>
              <a:rPr lang="en-US" altLang="zh-CN" sz="2400" b="1" dirty="0">
                <a:latin typeface="Times New Roman" panose="02020603050405020304" pitchFamily="18" charset="0"/>
                <a:ea typeface="宋体" panose="02010600030101010101" pitchFamily="2" charset="-122"/>
              </a:rPr>
              <a:t>6-17</a:t>
            </a:r>
            <a:r>
              <a:rPr lang="zh-CN" altLang="en-US" sz="2400" b="1" dirty="0">
                <a:latin typeface="Times New Roman" panose="02020603050405020304" pitchFamily="18" charset="0"/>
                <a:ea typeface="宋体" panose="02010600030101010101" pitchFamily="2" charset="-122"/>
              </a:rPr>
              <a:t>所示。</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近年来，智能窗的开发研究非常活跃，利用电致变色材料透光</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或吸收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性能的可调性，可实现按人的意愿调节光照度的目的。同时，电致变色系统可通过选择性的吸收或反射外界热辐射和阻止内部热扩散，节约了大量能源。这种装置既可用作建筑物的门窗玻璃，又可作为汽车等交通工具的挡风玻璃，在建筑、运输及电子等工业领域有着广泛的应用前景。</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882">
                                            <p:txEl>
                                              <p:charRg st="0" end="88"/>
                                            </p:txEl>
                                          </p:spTgt>
                                        </p:tgtEl>
                                        <p:attrNameLst>
                                          <p:attrName>style.visibility</p:attrName>
                                        </p:attrNameLst>
                                      </p:cBhvr>
                                      <p:to>
                                        <p:strVal val="visible"/>
                                      </p:to>
                                    </p:set>
                                    <p:animEffect transition="in" filter="dissolve">
                                      <p:cBhvr>
                                        <p:cTn id="7" dur="500"/>
                                        <p:tgtEl>
                                          <p:spTgt spid="122882">
                                            <p:txEl>
                                              <p:charRg st="0" end="8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2882">
                                            <p:txEl>
                                              <p:charRg st="88" end="255"/>
                                            </p:txEl>
                                          </p:spTgt>
                                        </p:tgtEl>
                                        <p:attrNameLst>
                                          <p:attrName>style.visibility</p:attrName>
                                        </p:attrNameLst>
                                      </p:cBhvr>
                                      <p:to>
                                        <p:strVal val="visible"/>
                                      </p:to>
                                    </p:set>
                                    <p:animEffect transition="in" filter="dissolve">
                                      <p:cBhvr>
                                        <p:cTn id="12" dur="500"/>
                                        <p:tgtEl>
                                          <p:spTgt spid="122882">
                                            <p:txEl>
                                              <p:charRg st="88" end="2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矩形 3"/>
          <p:cNvSpPr/>
          <p:nvPr/>
        </p:nvSpPr>
        <p:spPr>
          <a:xfrm>
            <a:off x="457200" y="2349500"/>
            <a:ext cx="8305800" cy="33242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高分子化合物是由成千上万个小分子化合物通过聚合反应连接而成，也称</a:t>
            </a:r>
            <a:r>
              <a:rPr lang="zh-CN" altLang="en-US" sz="2400" b="1" dirty="0">
                <a:solidFill>
                  <a:srgbClr val="6600CC"/>
                </a:solidFill>
                <a:latin typeface="Arial" panose="020B0604020202020204" pitchFamily="34" charset="0"/>
                <a:ea typeface="宋体" panose="02010600030101010101" pitchFamily="2" charset="-122"/>
              </a:rPr>
              <a:t>聚合物或高聚物</a:t>
            </a:r>
            <a:r>
              <a:rPr lang="zh-CN" altLang="en-US" sz="2400" b="1" dirty="0">
                <a:latin typeface="Arial" panose="020B0604020202020204" pitchFamily="34" charset="0"/>
                <a:ea typeface="宋体" panose="02010600030101010101" pitchFamily="2" charset="-122"/>
              </a:rPr>
              <a:t>。高分子化合物的相对分子量很大，但化学组成并不复杂，都是由简单的结构单元重复连接而成的，这种重复结构单元称为“</a:t>
            </a:r>
            <a:r>
              <a:rPr lang="zh-CN" altLang="en-US" sz="2400" b="1" dirty="0">
                <a:solidFill>
                  <a:srgbClr val="6600CC"/>
                </a:solidFill>
                <a:latin typeface="Arial" panose="020B0604020202020204" pitchFamily="34" charset="0"/>
                <a:ea typeface="宋体" panose="02010600030101010101" pitchFamily="2" charset="-122"/>
              </a:rPr>
              <a:t>链节</a:t>
            </a:r>
            <a:r>
              <a:rPr lang="zh-CN" altLang="en-US" sz="2400" b="1" dirty="0">
                <a:latin typeface="Arial" panose="020B0604020202020204" pitchFamily="34" charset="0"/>
                <a:ea typeface="宋体" panose="02010600030101010101" pitchFamily="2" charset="-122"/>
              </a:rPr>
              <a:t>”，重复的次数</a:t>
            </a:r>
            <a:r>
              <a:rPr lang="en-US" altLang="zh-CN" sz="2400" b="1" dirty="0">
                <a:latin typeface="Arial" panose="020B0604020202020204" pitchFamily="34" charset="0"/>
                <a:ea typeface="宋体" panose="02010600030101010101" pitchFamily="2" charset="-122"/>
              </a:rPr>
              <a:t>n</a:t>
            </a:r>
            <a:r>
              <a:rPr lang="zh-CN" altLang="en-US" sz="2400" b="1" dirty="0">
                <a:latin typeface="Arial" panose="020B0604020202020204" pitchFamily="34" charset="0"/>
                <a:ea typeface="宋体" panose="02010600030101010101" pitchFamily="2" charset="-122"/>
              </a:rPr>
              <a:t>称为“</a:t>
            </a:r>
            <a:r>
              <a:rPr lang="zh-CN" altLang="en-US" sz="2400" b="1" dirty="0">
                <a:solidFill>
                  <a:srgbClr val="6600CC"/>
                </a:solidFill>
                <a:latin typeface="Arial" panose="020B0604020202020204" pitchFamily="34" charset="0"/>
                <a:ea typeface="宋体" panose="02010600030101010101" pitchFamily="2" charset="-122"/>
              </a:rPr>
              <a:t>聚合度</a:t>
            </a:r>
            <a:r>
              <a:rPr lang="zh-CN" altLang="en-US" sz="2400" b="1" dirty="0">
                <a:latin typeface="Arial" panose="020B0604020202020204" pitchFamily="34" charset="0"/>
                <a:ea typeface="宋体" panose="02010600030101010101" pitchFamily="2" charset="-122"/>
              </a:rPr>
              <a:t>”。一般聚合物的聚合度约几百到几千。合成高分子化合物所用的低分子原料称为</a:t>
            </a:r>
            <a:r>
              <a:rPr lang="zh-CN" altLang="en-US" sz="2400" b="1" dirty="0">
                <a:solidFill>
                  <a:srgbClr val="6600CC"/>
                </a:solidFill>
                <a:latin typeface="Arial" panose="020B0604020202020204" pitchFamily="34" charset="0"/>
                <a:ea typeface="宋体" panose="02010600030101010101" pitchFamily="2" charset="-122"/>
              </a:rPr>
              <a:t>单体</a:t>
            </a:r>
            <a:r>
              <a:rPr lang="zh-CN" altLang="en-US" sz="2400" b="1" dirty="0">
                <a:latin typeface="Arial" panose="020B0604020202020204" pitchFamily="34" charset="0"/>
                <a:ea typeface="宋体" panose="02010600030101010101" pitchFamily="2" charset="-122"/>
              </a:rPr>
              <a:t>，如氯乙烯是聚氯乙烯的单体。单体可以是一种、两种或两种以上。</a:t>
            </a:r>
            <a:endParaRPr lang="zh-CN" altLang="en-US" sz="2400" b="1" dirty="0">
              <a:latin typeface="Arial" panose="020B0604020202020204" pitchFamily="34" charset="0"/>
              <a:ea typeface="宋体" panose="02010600030101010101" pitchFamily="2" charset="-122"/>
            </a:endParaRPr>
          </a:p>
        </p:txBody>
      </p:sp>
      <p:grpSp>
        <p:nvGrpSpPr>
          <p:cNvPr id="68611" name="Group 3"/>
          <p:cNvGrpSpPr/>
          <p:nvPr/>
        </p:nvGrpSpPr>
        <p:grpSpPr>
          <a:xfrm>
            <a:off x="1371600" y="190500"/>
            <a:ext cx="6705600" cy="663575"/>
            <a:chOff x="912" y="144"/>
            <a:chExt cx="4224" cy="502"/>
          </a:xfrm>
        </p:grpSpPr>
        <p:sp>
          <p:nvSpPr>
            <p:cNvPr id="68614" name="AutoShape 4"/>
            <p:cNvSpPr/>
            <p:nvPr/>
          </p:nvSpPr>
          <p:spPr>
            <a:xfrm>
              <a:off x="912" y="144"/>
              <a:ext cx="4224" cy="502"/>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68615" name="Rectangle 5"/>
            <p:cNvSpPr/>
            <p:nvPr/>
          </p:nvSpPr>
          <p:spPr>
            <a:xfrm>
              <a:off x="1824" y="192"/>
              <a:ext cx="2688"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6.3   </a:t>
              </a:r>
              <a:r>
                <a:rPr lang="zh-CN" altLang="en-US" sz="3200" b="1" dirty="0">
                  <a:solidFill>
                    <a:schemeClr val="bg1"/>
                  </a:solidFill>
                  <a:latin typeface="Times New Roman" panose="02020603050405020304" pitchFamily="18" charset="0"/>
                  <a:ea typeface="楷体_GB2312" panose="02010609030101010101" pitchFamily="49" charset="-122"/>
                </a:rPr>
                <a:t>高分子材料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
        <p:nvSpPr>
          <p:cNvPr id="129030" name="Text Box 6"/>
          <p:cNvSpPr txBox="1"/>
          <p:nvPr/>
        </p:nvSpPr>
        <p:spPr>
          <a:xfrm>
            <a:off x="0" y="1079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6.3.1</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高分子材料概述</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129031" name="Rectangle 7"/>
          <p:cNvSpPr/>
          <p:nvPr/>
        </p:nvSpPr>
        <p:spPr>
          <a:xfrm>
            <a:off x="0" y="17145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a:t>
            </a:r>
            <a:r>
              <a:rPr lang="zh-CN" altLang="en-US" sz="2800" b="1" dirty="0">
                <a:solidFill>
                  <a:srgbClr val="540C2B"/>
                </a:solidFill>
                <a:latin typeface="楷体_GB2312" panose="02010609030101010101" pitchFamily="49" charset="-122"/>
                <a:ea typeface="楷体_GB2312" panose="02010609030101010101" pitchFamily="49" charset="-122"/>
              </a:rPr>
              <a:t>高分子化合物的概念</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29030"/>
                                        </p:tgtEl>
                                        <p:attrNameLst>
                                          <p:attrName>style.visibility</p:attrName>
                                        </p:attrNameLst>
                                      </p:cBhvr>
                                      <p:to>
                                        <p:strVal val="visible"/>
                                      </p:to>
                                    </p:set>
                                    <p:anim calcmode="lin" valueType="num">
                                      <p:cBhvr>
                                        <p:cTn id="7" dur="1000" fill="hold"/>
                                        <p:tgtEl>
                                          <p:spTgt spid="129030"/>
                                        </p:tgtEl>
                                        <p:attrNameLst>
                                          <p:attrName>ppt_w</p:attrName>
                                        </p:attrNameLst>
                                      </p:cBhvr>
                                      <p:tavLst>
                                        <p:tav tm="0">
                                          <p:val>
                                            <p:fltVal val="0.000000"/>
                                          </p:val>
                                        </p:tav>
                                        <p:tav tm="100000">
                                          <p:val>
                                            <p:strVal val="#ppt_w"/>
                                          </p:val>
                                        </p:tav>
                                      </p:tavLst>
                                    </p:anim>
                                    <p:anim calcmode="lin" valueType="num">
                                      <p:cBhvr>
                                        <p:cTn id="8" dur="1000" fill="hold"/>
                                        <p:tgtEl>
                                          <p:spTgt spid="129030"/>
                                        </p:tgtEl>
                                        <p:attrNameLst>
                                          <p:attrName>ppt_h</p:attrName>
                                        </p:attrNameLst>
                                      </p:cBhvr>
                                      <p:tavLst>
                                        <p:tav tm="0">
                                          <p:val>
                                            <p:fltVal val="0.000000"/>
                                          </p:val>
                                        </p:tav>
                                        <p:tav tm="100000">
                                          <p:val>
                                            <p:strVal val="#ppt_h"/>
                                          </p:val>
                                        </p:tav>
                                      </p:tavLst>
                                    </p:anim>
                                    <p:anim calcmode="lin" valueType="num">
                                      <p:cBhvr>
                                        <p:cTn id="9" dur="1000" fill="hold"/>
                                        <p:tgtEl>
                                          <p:spTgt spid="129030"/>
                                        </p:tgtEl>
                                        <p:attrNameLst>
                                          <p:attrName>style.rotation</p:attrName>
                                        </p:attrNameLst>
                                      </p:cBhvr>
                                      <p:tavLst>
                                        <p:tav tm="0">
                                          <p:val>
                                            <p:fltVal val="90.000000"/>
                                          </p:val>
                                        </p:tav>
                                        <p:tav tm="100000">
                                          <p:val>
                                            <p:fltVal val="0.000000"/>
                                          </p:val>
                                        </p:tav>
                                      </p:tavLst>
                                    </p:anim>
                                    <p:animEffect transition="in" filter="fade">
                                      <p:cBhvr>
                                        <p:cTn id="10" dur="1000"/>
                                        <p:tgtEl>
                                          <p:spTgt spid="1290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9031"/>
                                        </p:tgtEl>
                                        <p:attrNameLst>
                                          <p:attrName>style.visibility</p:attrName>
                                        </p:attrNameLst>
                                      </p:cBhvr>
                                      <p:to>
                                        <p:strVal val="visible"/>
                                      </p:to>
                                    </p:set>
                                    <p:animEffect transition="in" filter="wipe(left)">
                                      <p:cBhvr>
                                        <p:cTn id="15" dur="500"/>
                                        <p:tgtEl>
                                          <p:spTgt spid="12903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29026">
                                            <p:txEl>
                                              <p:charRg st="0" end="186"/>
                                            </p:txEl>
                                          </p:spTgt>
                                        </p:tgtEl>
                                        <p:attrNameLst>
                                          <p:attrName>style.visibility</p:attrName>
                                        </p:attrNameLst>
                                      </p:cBhvr>
                                      <p:to>
                                        <p:strVal val="visible"/>
                                      </p:to>
                                    </p:set>
                                    <p:animEffect transition="in" filter="dissolve">
                                      <p:cBhvr>
                                        <p:cTn id="20" dur="500"/>
                                        <p:tgtEl>
                                          <p:spTgt spid="129026">
                                            <p:txEl>
                                              <p:charRg st="0"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p:bldP spid="129030" grpId="0" animBg="1"/>
      <p:bldP spid="12903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p:nvPr/>
        </p:nvSpPr>
        <p:spPr>
          <a:xfrm>
            <a:off x="533400" y="1778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有系统命名法和通俗命名法。系统命名法很少采用，这里只简介通俗命名法。</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天然高分子化合物常用其俗名，如纤维素、淀粉、蛋白质等。而合成高分子化合物常按合成方法、所用原料或高聚物的用途来命名。如由一种单体通过加聚而成的高分子，命名时只需在单体前加一“聚”字，如聚氯乙烯、聚苯乙烯等。</a:t>
            </a:r>
            <a:endParaRPr lang="zh-CN" altLang="en-US" sz="2400" b="1" dirty="0">
              <a:latin typeface="Times New Roman" panose="02020603050405020304" pitchFamily="18" charset="0"/>
              <a:ea typeface="宋体" panose="02010600030101010101" pitchFamily="2" charset="-122"/>
            </a:endParaRPr>
          </a:p>
        </p:txBody>
      </p:sp>
      <p:sp>
        <p:nvSpPr>
          <p:cNvPr id="123907" name="Rectangle 3"/>
          <p:cNvSpPr/>
          <p:nvPr/>
        </p:nvSpPr>
        <p:spPr>
          <a:xfrm>
            <a:off x="0" y="10160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高分子化合物的命名</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07"/>
                                        </p:tgtEl>
                                        <p:attrNameLst>
                                          <p:attrName>style.visibility</p:attrName>
                                        </p:attrNameLst>
                                      </p:cBhvr>
                                      <p:to>
                                        <p:strVal val="visible"/>
                                      </p:to>
                                    </p:set>
                                    <p:animEffect transition="in" filter="wipe(left)">
                                      <p:cBhvr>
                                        <p:cTn id="7" dur="500"/>
                                        <p:tgtEl>
                                          <p:spTgt spid="12390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3906">
                                            <p:txEl>
                                              <p:charRg st="0" end="42"/>
                                            </p:txEl>
                                          </p:spTgt>
                                        </p:tgtEl>
                                        <p:attrNameLst>
                                          <p:attrName>style.visibility</p:attrName>
                                        </p:attrNameLst>
                                      </p:cBhvr>
                                      <p:to>
                                        <p:strVal val="visible"/>
                                      </p:to>
                                    </p:set>
                                    <p:animEffect transition="in" filter="dissolve">
                                      <p:cBhvr>
                                        <p:cTn id="12" dur="500"/>
                                        <p:tgtEl>
                                          <p:spTgt spid="123906">
                                            <p:txEl>
                                              <p:charRg st="0"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3906">
                                            <p:txEl>
                                              <p:charRg st="42" end="152"/>
                                            </p:txEl>
                                          </p:spTgt>
                                        </p:tgtEl>
                                        <p:attrNameLst>
                                          <p:attrName>style.visibility</p:attrName>
                                        </p:attrNameLst>
                                      </p:cBhvr>
                                      <p:to>
                                        <p:strVal val="visible"/>
                                      </p:to>
                                    </p:set>
                                    <p:animEffect transition="in" filter="dissolve">
                                      <p:cBhvr>
                                        <p:cTn id="17" dur="500"/>
                                        <p:tgtEl>
                                          <p:spTgt spid="123906">
                                            <p:txEl>
                                              <p:charRg st="42" end="1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uild="p"/>
      <p:bldP spid="12390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2" name="Rectangle 4"/>
          <p:cNvSpPr/>
          <p:nvPr/>
        </p:nvSpPr>
        <p:spPr>
          <a:xfrm>
            <a:off x="457200" y="9525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由两种单体缩聚而成的高分子，在缩聚后的单体前加“聚”字，如己二胺和己二酸缩聚而成的聚合物称为聚己二酰己二胺。由对苯二甲酸和已二醇缩聚得到的聚合物称为聚对苯二甲酸已二酯。</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也有在两种原料缩写的名称后加“树脂”来命名的。如苯酚和甲醛合成的聚合物称酚醛树脂。</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有些高分子化合物常使用习惯名称或商品名称及简写代号。例如聚甲基丙烯酸甲酯，商品名称为有机玻璃，简写代号：</a:t>
            </a:r>
            <a:r>
              <a:rPr lang="en-US" altLang="zh-CN" sz="2400" b="1" dirty="0">
                <a:latin typeface="Times New Roman" panose="02020603050405020304" pitchFamily="18" charset="0"/>
                <a:ea typeface="宋体" panose="02010600030101010101" pitchFamily="2" charset="-122"/>
              </a:rPr>
              <a:t>PMMA </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0052">
                                            <p:txEl>
                                              <p:charRg st="0" end="92"/>
                                            </p:txEl>
                                          </p:spTgt>
                                        </p:tgtEl>
                                        <p:attrNameLst>
                                          <p:attrName>style.visibility</p:attrName>
                                        </p:attrNameLst>
                                      </p:cBhvr>
                                      <p:to>
                                        <p:strVal val="visible"/>
                                      </p:to>
                                    </p:set>
                                    <p:animEffect transition="in" filter="dissolve">
                                      <p:cBhvr>
                                        <p:cTn id="7" dur="500"/>
                                        <p:tgtEl>
                                          <p:spTgt spid="130052">
                                            <p:txEl>
                                              <p:charRg st="0" end="9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0052">
                                            <p:txEl>
                                              <p:charRg st="92" end="140"/>
                                            </p:txEl>
                                          </p:spTgt>
                                        </p:tgtEl>
                                        <p:attrNameLst>
                                          <p:attrName>style.visibility</p:attrName>
                                        </p:attrNameLst>
                                      </p:cBhvr>
                                      <p:to>
                                        <p:strVal val="visible"/>
                                      </p:to>
                                    </p:set>
                                    <p:animEffect transition="in" filter="dissolve">
                                      <p:cBhvr>
                                        <p:cTn id="12" dur="500"/>
                                        <p:tgtEl>
                                          <p:spTgt spid="130052">
                                            <p:txEl>
                                              <p:charRg st="92" end="1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0052">
                                            <p:txEl>
                                              <p:charRg st="140" end="206"/>
                                            </p:txEl>
                                          </p:spTgt>
                                        </p:tgtEl>
                                        <p:attrNameLst>
                                          <p:attrName>style.visibility</p:attrName>
                                        </p:attrNameLst>
                                      </p:cBhvr>
                                      <p:to>
                                        <p:strVal val="visible"/>
                                      </p:to>
                                    </p:set>
                                    <p:animEffect transition="in" filter="dissolve">
                                      <p:cBhvr>
                                        <p:cTn id="17" dur="500"/>
                                        <p:tgtEl>
                                          <p:spTgt spid="130052">
                                            <p:txEl>
                                              <p:charRg st="140" end="2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p:nvPr/>
        </p:nvSpPr>
        <p:spPr>
          <a:xfrm>
            <a:off x="533400" y="952500"/>
            <a:ext cx="8153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1</a:t>
            </a:r>
            <a:r>
              <a:rPr lang="zh-CN" altLang="en-US" sz="2400" b="1" dirty="0">
                <a:solidFill>
                  <a:srgbClr val="6600CC"/>
                </a:solidFill>
                <a:latin typeface="Times New Roman" panose="02020603050405020304" pitchFamily="18" charset="0"/>
                <a:ea typeface="宋体" panose="02010600030101010101" pitchFamily="2" charset="-122"/>
              </a:rPr>
              <a:t>）质轻</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聚合物一般比金属轻，相对密度在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2g•cm-3</a:t>
            </a:r>
            <a:r>
              <a:rPr lang="zh-CN" altLang="en-US" sz="2400" b="1" dirty="0">
                <a:latin typeface="Times New Roman" panose="02020603050405020304" pitchFamily="18" charset="0"/>
                <a:ea typeface="宋体" panose="02010600030101010101" pitchFamily="2" charset="-122"/>
              </a:rPr>
              <a:t>之间，比水轻</a:t>
            </a:r>
            <a:r>
              <a:rPr lang="en-US" altLang="zh-CN" sz="2400" b="1" dirty="0">
                <a:latin typeface="Times New Roman" panose="02020603050405020304" pitchFamily="18" charset="0"/>
                <a:ea typeface="宋体" panose="02010600030101010101" pitchFamily="2" charset="-122"/>
              </a:rPr>
              <a:t>100</a:t>
            </a:r>
            <a:r>
              <a:rPr lang="zh-CN" altLang="en-US" sz="2400" b="1" dirty="0">
                <a:latin typeface="Times New Roman" panose="02020603050405020304" pitchFamily="18" charset="0"/>
                <a:ea typeface="宋体" panose="02010600030101010101" pitchFamily="2" charset="-122"/>
              </a:rPr>
              <a:t>倍，是非常好的救生材料。在满足使用强度的条件下，可用高分子材料代替金属材料，减轻自重。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solidFill>
                  <a:srgbClr val="6600CC"/>
                </a:solidFill>
                <a:latin typeface="Times New Roman" panose="02020603050405020304" pitchFamily="18" charset="0"/>
                <a:ea typeface="宋体" panose="02010600030101010101" pitchFamily="2" charset="-122"/>
              </a:rPr>
              <a:t>     （</a:t>
            </a:r>
            <a:r>
              <a:rPr lang="en-US" altLang="zh-CN" sz="2400" b="1" dirty="0">
                <a:solidFill>
                  <a:srgbClr val="6600CC"/>
                </a:solidFill>
                <a:latin typeface="Times New Roman" panose="02020603050405020304" pitchFamily="18" charset="0"/>
                <a:ea typeface="宋体" panose="02010600030101010101" pitchFamily="2" charset="-122"/>
              </a:rPr>
              <a:t>2</a:t>
            </a:r>
            <a:r>
              <a:rPr lang="zh-CN" altLang="en-US" sz="2400" b="1" dirty="0">
                <a:solidFill>
                  <a:srgbClr val="6600CC"/>
                </a:solidFill>
                <a:latin typeface="Times New Roman" panose="02020603050405020304" pitchFamily="18" charset="0"/>
                <a:ea typeface="宋体" panose="02010600030101010101" pitchFamily="2" charset="-122"/>
              </a:rPr>
              <a:t>）强度高</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聚合物具有良好的机械强度，聚合度越大，分子间作用力就越大，以至超过了化学键的键能。如果分子链的极性强，或有氢键存在，聚合物的强度会非常高，有的甚至超过钢铁和其他金属材料。例如玻璃钢的强度比合金钢大</a:t>
            </a:r>
            <a:r>
              <a:rPr lang="en-US" altLang="zh-CN" sz="2400" b="1" dirty="0">
                <a:latin typeface="Times New Roman" panose="02020603050405020304" pitchFamily="18" charset="0"/>
                <a:ea typeface="宋体" panose="02010600030101010101" pitchFamily="2" charset="-122"/>
              </a:rPr>
              <a:t>1.7</a:t>
            </a:r>
            <a:r>
              <a:rPr lang="zh-CN" altLang="en-US" sz="2400" b="1" dirty="0">
                <a:latin typeface="Times New Roman" panose="02020603050405020304" pitchFamily="18" charset="0"/>
                <a:ea typeface="宋体" panose="02010600030101010101" pitchFamily="2" charset="-122"/>
              </a:rPr>
              <a:t>倍，比铝大</a:t>
            </a:r>
            <a:r>
              <a:rPr lang="en-US" altLang="zh-CN" sz="2400" b="1" dirty="0">
                <a:latin typeface="Times New Roman" panose="02020603050405020304" pitchFamily="18" charset="0"/>
                <a:ea typeface="宋体" panose="02010600030101010101" pitchFamily="2" charset="-122"/>
              </a:rPr>
              <a:t>1.5</a:t>
            </a:r>
            <a:r>
              <a:rPr lang="zh-CN" altLang="en-US" sz="2400" b="1" dirty="0">
                <a:latin typeface="Times New Roman" panose="02020603050405020304" pitchFamily="18" charset="0"/>
                <a:ea typeface="宋体" panose="02010600030101010101" pitchFamily="2" charset="-122"/>
              </a:rPr>
              <a:t>倍，比钛钢大</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倍。</a:t>
            </a:r>
            <a:endParaRPr lang="zh-CN" altLang="en-US" sz="2400" b="1" dirty="0">
              <a:latin typeface="Times New Roman" panose="02020603050405020304" pitchFamily="18" charset="0"/>
              <a:ea typeface="宋体" panose="02010600030101010101" pitchFamily="2" charset="-122"/>
            </a:endParaRPr>
          </a:p>
        </p:txBody>
      </p:sp>
      <p:sp>
        <p:nvSpPr>
          <p:cNvPr id="131075" name="Rectangle 3"/>
          <p:cNvSpPr/>
          <p:nvPr/>
        </p:nvSpPr>
        <p:spPr>
          <a:xfrm>
            <a:off x="0" y="5080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a:t>
            </a:r>
            <a:r>
              <a:rPr lang="zh-CN" altLang="en-US" sz="2800" b="1" dirty="0">
                <a:solidFill>
                  <a:srgbClr val="540C2B"/>
                </a:solidFill>
                <a:latin typeface="楷体_GB2312" panose="02010609030101010101" pitchFamily="49" charset="-122"/>
                <a:ea typeface="楷体_GB2312" panose="02010609030101010101" pitchFamily="49" charset="-122"/>
              </a:rPr>
              <a:t>高分子化合物的性能</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wipe(left)">
                                      <p:cBhvr>
                                        <p:cTn id="7" dur="500"/>
                                        <p:tgtEl>
                                          <p:spTgt spid="13107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074">
                                            <p:txEl>
                                              <p:charRg st="0" end="13"/>
                                            </p:txEl>
                                          </p:spTgt>
                                        </p:tgtEl>
                                        <p:attrNameLst>
                                          <p:attrName>style.visibility</p:attrName>
                                        </p:attrNameLst>
                                      </p:cBhvr>
                                      <p:to>
                                        <p:strVal val="visible"/>
                                      </p:to>
                                    </p:set>
                                    <p:animEffect transition="in" filter="dissolve">
                                      <p:cBhvr>
                                        <p:cTn id="12" dur="500"/>
                                        <p:tgtEl>
                                          <p:spTgt spid="131074">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1074">
                                            <p:txEl>
                                              <p:charRg st="13" end="98"/>
                                            </p:txEl>
                                          </p:spTgt>
                                        </p:tgtEl>
                                        <p:attrNameLst>
                                          <p:attrName>style.visibility</p:attrName>
                                        </p:attrNameLst>
                                      </p:cBhvr>
                                      <p:to>
                                        <p:strVal val="visible"/>
                                      </p:to>
                                    </p:set>
                                    <p:animEffect transition="in" filter="dissolve">
                                      <p:cBhvr>
                                        <p:cTn id="17" dur="500"/>
                                        <p:tgtEl>
                                          <p:spTgt spid="131074">
                                            <p:txEl>
                                              <p:charRg st="13" end="9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1074">
                                            <p:txEl>
                                              <p:charRg st="98" end="112"/>
                                            </p:txEl>
                                          </p:spTgt>
                                        </p:tgtEl>
                                        <p:attrNameLst>
                                          <p:attrName>style.visibility</p:attrName>
                                        </p:attrNameLst>
                                      </p:cBhvr>
                                      <p:to>
                                        <p:strVal val="visible"/>
                                      </p:to>
                                    </p:set>
                                    <p:animEffect transition="in" filter="dissolve">
                                      <p:cBhvr>
                                        <p:cTn id="22" dur="500"/>
                                        <p:tgtEl>
                                          <p:spTgt spid="131074">
                                            <p:txEl>
                                              <p:charRg st="98" end="1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1074">
                                            <p:txEl>
                                              <p:charRg st="112" end="238"/>
                                            </p:txEl>
                                          </p:spTgt>
                                        </p:tgtEl>
                                        <p:attrNameLst>
                                          <p:attrName>style.visibility</p:attrName>
                                        </p:attrNameLst>
                                      </p:cBhvr>
                                      <p:to>
                                        <p:strVal val="visible"/>
                                      </p:to>
                                    </p:set>
                                    <p:animEffect transition="in" filter="dissolve">
                                      <p:cBhvr>
                                        <p:cTn id="27" dur="500"/>
                                        <p:tgtEl>
                                          <p:spTgt spid="131074">
                                            <p:txEl>
                                              <p:charRg st="112" end="2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p:bldP spid="13107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p:nvPr/>
        </p:nvSpPr>
        <p:spPr>
          <a:xfrm>
            <a:off x="152400" y="190500"/>
            <a:ext cx="8763000" cy="53736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3</a:t>
            </a:r>
            <a:r>
              <a:rPr lang="zh-CN" altLang="en-US" sz="2400" b="1" dirty="0">
                <a:solidFill>
                  <a:srgbClr val="6600CC"/>
                </a:solidFill>
                <a:latin typeface="Times New Roman" panose="02020603050405020304" pitchFamily="18" charset="0"/>
                <a:ea typeface="宋体" panose="02010600030101010101" pitchFamily="2" charset="-122"/>
              </a:rPr>
              <a:t>）可塑性 </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线型聚合物受热达一定温度后，会逐渐变软并最终成为黏性流体状态，因而具有良好的可塑性。由于软化过程需要经过一个较长的时间和温度间隔，为聚合物的加工成型带来很大方便，能耗远远低于金属材料的机械加工。这也是聚合物材料获得广泛应用的原因之一。</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4</a:t>
            </a:r>
            <a:r>
              <a:rPr lang="zh-CN" altLang="en-US" sz="2400" b="1" dirty="0">
                <a:solidFill>
                  <a:srgbClr val="6600CC"/>
                </a:solidFill>
                <a:latin typeface="Times New Roman" panose="02020603050405020304" pitchFamily="18" charset="0"/>
                <a:ea typeface="宋体" panose="02010600030101010101" pitchFamily="2" charset="-122"/>
              </a:rPr>
              <a:t>）电性能</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由于聚合物的分子链是原子以共价键结合起来的，分子既不能离解，也不能在结构中传递电子，所以高分子材料具有绝缘性，电线的包皮、电插座等都是用塑料制成。此外，高分子对多种射线如</a:t>
            </a:r>
            <a:r>
              <a:rPr lang="en-US" altLang="zh-CN" sz="2400" b="1" i="1" dirty="0">
                <a:latin typeface="Times New Roman" panose="02020603050405020304" pitchFamily="18" charset="0"/>
                <a:ea typeface="宋体" panose="02010600030101010101" pitchFamily="2" charset="-122"/>
              </a:rPr>
              <a:t>α</a:t>
            </a:r>
            <a:r>
              <a:rPr lang="zh-CN" altLang="en-US" sz="2400" b="1" i="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β</a:t>
            </a:r>
            <a:r>
              <a:rPr lang="zh-CN" altLang="en-US" sz="2400" b="1" i="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γ</a:t>
            </a:r>
            <a:r>
              <a:rPr lang="zh-CN" altLang="en-US" sz="2400" b="1" dirty="0">
                <a:latin typeface="Times New Roman" panose="02020603050405020304" pitchFamily="18" charset="0"/>
                <a:ea typeface="宋体" panose="02010600030101010101" pitchFamily="2" charset="-122"/>
              </a:rPr>
              <a:t>和</a:t>
            </a:r>
            <a:r>
              <a:rPr lang="en-US" altLang="zh-CN" sz="2400" b="1" i="1" dirty="0">
                <a:latin typeface="Times New Roman" panose="02020603050405020304" pitchFamily="18" charset="0"/>
                <a:ea typeface="宋体" panose="02010600030101010101" pitchFamily="2" charset="-122"/>
              </a:rPr>
              <a:t>x</a:t>
            </a:r>
            <a:r>
              <a:rPr lang="zh-CN" altLang="en-US" sz="2400" b="1" dirty="0">
                <a:latin typeface="Times New Roman" panose="02020603050405020304" pitchFamily="18" charset="0"/>
                <a:ea typeface="宋体" panose="02010600030101010101" pitchFamily="2" charset="-122"/>
              </a:rPr>
              <a:t>射线有抵抗能力，可以抗辐射。</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2098">
                                            <p:txEl>
                                              <p:charRg st="0" end="8"/>
                                            </p:txEl>
                                          </p:spTgt>
                                        </p:tgtEl>
                                        <p:attrNameLst>
                                          <p:attrName>style.visibility</p:attrName>
                                        </p:attrNameLst>
                                      </p:cBhvr>
                                      <p:to>
                                        <p:strVal val="visible"/>
                                      </p:to>
                                    </p:set>
                                    <p:animEffect transition="in" filter="dissolve">
                                      <p:cBhvr>
                                        <p:cTn id="7" dur="500"/>
                                        <p:tgtEl>
                                          <p:spTgt spid="132098">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2098">
                                            <p:txEl>
                                              <p:charRg st="8" end="135"/>
                                            </p:txEl>
                                          </p:spTgt>
                                        </p:tgtEl>
                                        <p:attrNameLst>
                                          <p:attrName>style.visibility</p:attrName>
                                        </p:attrNameLst>
                                      </p:cBhvr>
                                      <p:to>
                                        <p:strVal val="visible"/>
                                      </p:to>
                                    </p:set>
                                    <p:animEffect transition="in" filter="dissolve">
                                      <p:cBhvr>
                                        <p:cTn id="12" dur="500"/>
                                        <p:tgtEl>
                                          <p:spTgt spid="132098">
                                            <p:txEl>
                                              <p:charRg st="8" end="1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2098">
                                            <p:txEl>
                                              <p:charRg st="135" end="144"/>
                                            </p:txEl>
                                          </p:spTgt>
                                        </p:tgtEl>
                                        <p:attrNameLst>
                                          <p:attrName>style.visibility</p:attrName>
                                        </p:attrNameLst>
                                      </p:cBhvr>
                                      <p:to>
                                        <p:strVal val="visible"/>
                                      </p:to>
                                    </p:set>
                                    <p:animEffect transition="in" filter="dissolve">
                                      <p:cBhvr>
                                        <p:cTn id="17" dur="500"/>
                                        <p:tgtEl>
                                          <p:spTgt spid="132098">
                                            <p:txEl>
                                              <p:charRg st="135" end="14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2098">
                                            <p:txEl>
                                              <p:charRg st="144" end="261"/>
                                            </p:txEl>
                                          </p:spTgt>
                                        </p:tgtEl>
                                        <p:attrNameLst>
                                          <p:attrName>style.visibility</p:attrName>
                                        </p:attrNameLst>
                                      </p:cBhvr>
                                      <p:to>
                                        <p:strVal val="visible"/>
                                      </p:to>
                                    </p:set>
                                    <p:animEffect transition="in" filter="dissolve">
                                      <p:cBhvr>
                                        <p:cTn id="22" dur="500"/>
                                        <p:tgtEl>
                                          <p:spTgt spid="132098">
                                            <p:txEl>
                                              <p:charRg st="144" end="2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p:nvPr/>
        </p:nvSpPr>
        <p:spPr>
          <a:xfrm>
            <a:off x="685800" y="1143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en-US"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5</a:t>
            </a:r>
            <a:r>
              <a:rPr lang="en-US" altLang="en-US" sz="2400" b="1" dirty="0">
                <a:solidFill>
                  <a:srgbClr val="6600CC"/>
                </a:solidFill>
                <a:latin typeface="Times New Roman" panose="02020603050405020304" pitchFamily="18" charset="0"/>
                <a:ea typeface="宋体" panose="02010600030101010101" pitchFamily="2" charset="-122"/>
              </a:rPr>
              <a:t>）</a:t>
            </a:r>
            <a:r>
              <a:rPr lang="zh-CN" altLang="en-US" sz="2400" b="1" dirty="0">
                <a:solidFill>
                  <a:srgbClr val="6600CC"/>
                </a:solidFill>
                <a:latin typeface="Times New Roman" panose="02020603050405020304" pitchFamily="18" charset="0"/>
                <a:ea typeface="宋体" panose="02010600030101010101" pitchFamily="2" charset="-122"/>
              </a:rPr>
              <a:t>耐腐蚀性</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聚物的化学反应性能较差，对化学试剂比较稳定，所以一般具有耐酸、碱腐蚀的特性。高聚物普遍可用作耐腐蚀材料，其原因主要是共价键结合牢固，不易破裂。如具有“塑料王”之称的聚四氟乙烯在王水中煮沸也不会变质，是优异的耐腐蚀材料。</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4930">
                                            <p:txEl>
                                              <p:charRg st="0" end="8"/>
                                            </p:txEl>
                                          </p:spTgt>
                                        </p:tgtEl>
                                        <p:attrNameLst>
                                          <p:attrName>style.visibility</p:attrName>
                                        </p:attrNameLst>
                                      </p:cBhvr>
                                      <p:to>
                                        <p:strVal val="visible"/>
                                      </p:to>
                                    </p:set>
                                    <p:animEffect transition="in" filter="dissolve">
                                      <p:cBhvr>
                                        <p:cTn id="7" dur="500"/>
                                        <p:tgtEl>
                                          <p:spTgt spid="124930">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4930">
                                            <p:txEl>
                                              <p:charRg st="8" end="126"/>
                                            </p:txEl>
                                          </p:spTgt>
                                        </p:tgtEl>
                                        <p:attrNameLst>
                                          <p:attrName>style.visibility</p:attrName>
                                        </p:attrNameLst>
                                      </p:cBhvr>
                                      <p:to>
                                        <p:strVal val="visible"/>
                                      </p:to>
                                    </p:set>
                                    <p:animEffect transition="in" filter="dissolve">
                                      <p:cBhvr>
                                        <p:cTn id="12" dur="500"/>
                                        <p:tgtEl>
                                          <p:spTgt spid="124930">
                                            <p:txEl>
                                              <p:charRg st="8"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p:nvPr/>
        </p:nvSpPr>
        <p:spPr>
          <a:xfrm>
            <a:off x="228600" y="1143000"/>
            <a:ext cx="84582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hlinkClick r:id="rId1" action="ppaction://hlinkfile"/>
              </a:rPr>
              <a:t>高分子化合物</a:t>
            </a:r>
            <a:r>
              <a:rPr lang="zh-CN" altLang="en-US" sz="2400" b="1" dirty="0">
                <a:latin typeface="Times New Roman" panose="02020603050405020304" pitchFamily="18" charset="0"/>
                <a:ea typeface="宋体" panose="02010600030101010101" pitchFamily="2" charset="-122"/>
              </a:rPr>
              <a:t>的种类很多，按来源分可分为</a:t>
            </a:r>
            <a:r>
              <a:rPr lang="zh-CN" altLang="en-US" sz="2400" b="1" dirty="0">
                <a:solidFill>
                  <a:srgbClr val="6600CC"/>
                </a:solidFill>
                <a:latin typeface="Times New Roman" panose="02020603050405020304" pitchFamily="18" charset="0"/>
                <a:ea typeface="宋体" panose="02010600030101010101" pitchFamily="2" charset="-122"/>
              </a:rPr>
              <a:t>天然高分子化合物、合成高分子化合物和天然改性高分子化合物</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天然高分子化合物直接来自动、植物体内，如纤维素、蛋白质、淀粉、天然橡胶等。改变其组成、结构，可使其性能得到改善，得到天然改性高分子化合物，如天然橡胶经硫化可改善其使用性能；天然纤维经硝化可制得人造纤维、清漆等。对高分子材料进行改性研究，是高分子科学和材料领域的一个重要方向。合成高分子化合物的品种最多、应用也最广。按性能分为传统高分子材料、功能高分子材料、高分子智能材料。 </a:t>
            </a:r>
            <a:endParaRPr lang="zh-CN" altLang="en-US" sz="2400" b="1" dirty="0">
              <a:latin typeface="Times New Roman" panose="02020603050405020304" pitchFamily="18" charset="0"/>
              <a:ea typeface="宋体" panose="02010600030101010101" pitchFamily="2" charset="-122"/>
            </a:endParaRPr>
          </a:p>
        </p:txBody>
      </p:sp>
      <p:sp>
        <p:nvSpPr>
          <p:cNvPr id="133123" name="Rectangle 3"/>
          <p:cNvSpPr/>
          <p:nvPr/>
        </p:nvSpPr>
        <p:spPr>
          <a:xfrm>
            <a:off x="0" y="5080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4.</a:t>
            </a:r>
            <a:r>
              <a:rPr lang="zh-CN" altLang="en-US" sz="2800" b="1" dirty="0">
                <a:solidFill>
                  <a:srgbClr val="540C2B"/>
                </a:solidFill>
                <a:latin typeface="楷体_GB2312" panose="02010609030101010101" pitchFamily="49" charset="-122"/>
                <a:ea typeface="楷体_GB2312" panose="02010609030101010101" pitchFamily="49" charset="-122"/>
              </a:rPr>
              <a:t>高分子化合物的分类</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wipe(left)">
                                      <p:cBhvr>
                                        <p:cTn id="7" dur="500"/>
                                        <p:tgtEl>
                                          <p:spTgt spid="1331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22">
                                            <p:txEl>
                                              <p:charRg st="0" end="57"/>
                                            </p:txEl>
                                          </p:spTgt>
                                        </p:tgtEl>
                                        <p:attrNameLst>
                                          <p:attrName>style.visibility</p:attrName>
                                        </p:attrNameLst>
                                      </p:cBhvr>
                                      <p:to>
                                        <p:strVal val="visible"/>
                                      </p:to>
                                    </p:set>
                                    <p:animEffect transition="in" filter="dissolve">
                                      <p:cBhvr>
                                        <p:cTn id="12" dur="500"/>
                                        <p:tgtEl>
                                          <p:spTgt spid="133122">
                                            <p:txEl>
                                              <p:charRg st="0" end="5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3122">
                                            <p:txEl>
                                              <p:charRg st="57" end="253"/>
                                            </p:txEl>
                                          </p:spTgt>
                                        </p:tgtEl>
                                        <p:attrNameLst>
                                          <p:attrName>style.visibility</p:attrName>
                                        </p:attrNameLst>
                                      </p:cBhvr>
                                      <p:to>
                                        <p:strVal val="visible"/>
                                      </p:to>
                                    </p:set>
                                    <p:animEffect transition="in" filter="dissolve">
                                      <p:cBhvr>
                                        <p:cTn id="17" dur="500"/>
                                        <p:tgtEl>
                                          <p:spTgt spid="133122">
                                            <p:txEl>
                                              <p:charRg st="57"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build="p"/>
      <p:bldP spid="13312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矩形 3"/>
          <p:cNvSpPr/>
          <p:nvPr/>
        </p:nvSpPr>
        <p:spPr>
          <a:xfrm>
            <a:off x="304800" y="1905000"/>
            <a:ext cx="8305800" cy="19383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传统高分子材料根据力学性能和使用状态可以分为塑料、橡胶、纤维、涂料和胶黏剂五类。各类聚合物之间无严格的界限，同一聚合物，采用不同的合成方法和成型工艺，既可制成塑料，也可制成纤维，如尼龙等。</a:t>
            </a:r>
            <a:endParaRPr lang="zh-CN" altLang="en-US" sz="2400" b="1" dirty="0">
              <a:latin typeface="Arial" panose="020B0604020202020204" pitchFamily="34" charset="0"/>
              <a:ea typeface="宋体" panose="02010600030101010101" pitchFamily="2" charset="-122"/>
            </a:endParaRPr>
          </a:p>
        </p:txBody>
      </p:sp>
      <p:sp>
        <p:nvSpPr>
          <p:cNvPr id="134150" name="Text Box 6"/>
          <p:cNvSpPr txBox="1"/>
          <p:nvPr/>
        </p:nvSpPr>
        <p:spPr>
          <a:xfrm>
            <a:off x="0" y="1016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6.3.2</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传统高分子材料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34150"/>
                                        </p:tgtEl>
                                        <p:attrNameLst>
                                          <p:attrName>style.visibility</p:attrName>
                                        </p:attrNameLst>
                                      </p:cBhvr>
                                      <p:to>
                                        <p:strVal val="visible"/>
                                      </p:to>
                                    </p:set>
                                    <p:anim calcmode="lin" valueType="num">
                                      <p:cBhvr>
                                        <p:cTn id="7" dur="1000" fill="hold"/>
                                        <p:tgtEl>
                                          <p:spTgt spid="134150"/>
                                        </p:tgtEl>
                                        <p:attrNameLst>
                                          <p:attrName>ppt_w</p:attrName>
                                        </p:attrNameLst>
                                      </p:cBhvr>
                                      <p:tavLst>
                                        <p:tav tm="0">
                                          <p:val>
                                            <p:fltVal val="0.000000"/>
                                          </p:val>
                                        </p:tav>
                                        <p:tav tm="100000">
                                          <p:val>
                                            <p:strVal val="#ppt_w"/>
                                          </p:val>
                                        </p:tav>
                                      </p:tavLst>
                                    </p:anim>
                                    <p:anim calcmode="lin" valueType="num">
                                      <p:cBhvr>
                                        <p:cTn id="8" dur="1000" fill="hold"/>
                                        <p:tgtEl>
                                          <p:spTgt spid="134150"/>
                                        </p:tgtEl>
                                        <p:attrNameLst>
                                          <p:attrName>ppt_h</p:attrName>
                                        </p:attrNameLst>
                                      </p:cBhvr>
                                      <p:tavLst>
                                        <p:tav tm="0">
                                          <p:val>
                                            <p:fltVal val="0.000000"/>
                                          </p:val>
                                        </p:tav>
                                        <p:tav tm="100000">
                                          <p:val>
                                            <p:strVal val="#ppt_h"/>
                                          </p:val>
                                        </p:tav>
                                      </p:tavLst>
                                    </p:anim>
                                    <p:anim calcmode="lin" valueType="num">
                                      <p:cBhvr>
                                        <p:cTn id="9" dur="1000" fill="hold"/>
                                        <p:tgtEl>
                                          <p:spTgt spid="134150"/>
                                        </p:tgtEl>
                                        <p:attrNameLst>
                                          <p:attrName>style.rotation</p:attrName>
                                        </p:attrNameLst>
                                      </p:cBhvr>
                                      <p:tavLst>
                                        <p:tav tm="0">
                                          <p:val>
                                            <p:fltVal val="90.000000"/>
                                          </p:val>
                                        </p:tav>
                                        <p:tav tm="100000">
                                          <p:val>
                                            <p:fltVal val="0.000000"/>
                                          </p:val>
                                        </p:tav>
                                      </p:tavLst>
                                    </p:anim>
                                    <p:animEffect transition="in" filter="fade">
                                      <p:cBhvr>
                                        <p:cTn id="10" dur="1000"/>
                                        <p:tgtEl>
                                          <p:spTgt spid="13415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4146">
                                            <p:txEl>
                                              <p:charRg st="0" end="102"/>
                                            </p:txEl>
                                          </p:spTgt>
                                        </p:tgtEl>
                                        <p:attrNameLst>
                                          <p:attrName>style.visibility</p:attrName>
                                        </p:attrNameLst>
                                      </p:cBhvr>
                                      <p:to>
                                        <p:strVal val="visible"/>
                                      </p:to>
                                    </p:set>
                                    <p:animEffect transition="in" filter="dissolve">
                                      <p:cBhvr>
                                        <p:cTn id="15" dur="500"/>
                                        <p:tgtEl>
                                          <p:spTgt spid="134146">
                                            <p:txEl>
                                              <p:charRg st="0"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build="p"/>
      <p:bldP spid="13415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p:nvPr/>
        </p:nvSpPr>
        <p:spPr>
          <a:xfrm>
            <a:off x="533400" y="11430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塑料是指在加热、加压下可塑制成型、常温下能保持固定形状的合成高分子材料。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塑料最基本、最主要的成分是树脂，其决定着塑料的类型与主要性能。根据树脂受热后性能的不同将塑料分为</a:t>
            </a:r>
            <a:r>
              <a:rPr lang="zh-CN" altLang="en-US" sz="2400" b="1" dirty="0">
                <a:solidFill>
                  <a:srgbClr val="6600CC"/>
                </a:solidFill>
                <a:latin typeface="Times New Roman" panose="02020603050405020304" pitchFamily="18" charset="0"/>
                <a:ea typeface="宋体" panose="02010600030101010101" pitchFamily="2" charset="-122"/>
              </a:rPr>
              <a:t>热塑性塑料和热固性塑料</a:t>
            </a:r>
            <a:r>
              <a:rPr lang="zh-CN" altLang="en-US" sz="2400" b="1" dirty="0">
                <a:latin typeface="Times New Roman" panose="02020603050405020304" pitchFamily="18" charset="0"/>
                <a:ea typeface="宋体" panose="02010600030101010101" pitchFamily="2" charset="-122"/>
              </a:rPr>
              <a:t>。热塑性塑料是指固化成型后受热可再次软化熔融重塑的塑料，如聚乙烯等。热固性塑料是指固化成型后受热不能再次熔融成型的塑料，如环氧树脂等。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按性能和用途不同，塑料可分为</a:t>
            </a:r>
            <a:r>
              <a:rPr lang="zh-CN" altLang="en-US" sz="2400" b="1" dirty="0">
                <a:solidFill>
                  <a:srgbClr val="6600CC"/>
                </a:solidFill>
                <a:latin typeface="Times New Roman" panose="02020603050405020304" pitchFamily="18" charset="0"/>
                <a:ea typeface="宋体" panose="02010600030101010101" pitchFamily="2" charset="-122"/>
              </a:rPr>
              <a:t>通用塑料、工程塑料、特种塑料和增强塑料。</a:t>
            </a:r>
            <a:endParaRPr lang="zh-CN" altLang="en-US" sz="2400" b="1" dirty="0">
              <a:solidFill>
                <a:srgbClr val="6600CC"/>
              </a:solidFill>
              <a:latin typeface="Times New Roman" panose="02020603050405020304" pitchFamily="18" charset="0"/>
              <a:ea typeface="宋体" panose="02010600030101010101" pitchFamily="2" charset="-122"/>
            </a:endParaRPr>
          </a:p>
        </p:txBody>
      </p:sp>
      <p:sp>
        <p:nvSpPr>
          <p:cNvPr id="135171" name="Rectangle 3"/>
          <p:cNvSpPr/>
          <p:nvPr/>
        </p:nvSpPr>
        <p:spPr>
          <a:xfrm>
            <a:off x="0" y="508000"/>
            <a:ext cx="2438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塑料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1"/>
                                        </p:tgtEl>
                                        <p:attrNameLst>
                                          <p:attrName>style.visibility</p:attrName>
                                        </p:attrNameLst>
                                      </p:cBhvr>
                                      <p:to>
                                        <p:strVal val="visible"/>
                                      </p:to>
                                    </p:set>
                                    <p:animEffect transition="in" filter="wipe(left)">
                                      <p:cBhvr>
                                        <p:cTn id="7" dur="500"/>
                                        <p:tgtEl>
                                          <p:spTgt spid="1351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170">
                                            <p:txEl>
                                              <p:charRg st="0" end="44"/>
                                            </p:txEl>
                                          </p:spTgt>
                                        </p:tgtEl>
                                        <p:attrNameLst>
                                          <p:attrName>style.visibility</p:attrName>
                                        </p:attrNameLst>
                                      </p:cBhvr>
                                      <p:to>
                                        <p:strVal val="visible"/>
                                      </p:to>
                                    </p:set>
                                    <p:animEffect transition="in" filter="dissolve">
                                      <p:cBhvr>
                                        <p:cTn id="12" dur="500"/>
                                        <p:tgtEl>
                                          <p:spTgt spid="135170">
                                            <p:txEl>
                                              <p:charRg st="0"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170">
                                            <p:txEl>
                                              <p:charRg st="44" end="178"/>
                                            </p:txEl>
                                          </p:spTgt>
                                        </p:tgtEl>
                                        <p:attrNameLst>
                                          <p:attrName>style.visibility</p:attrName>
                                        </p:attrNameLst>
                                      </p:cBhvr>
                                      <p:to>
                                        <p:strVal val="visible"/>
                                      </p:to>
                                    </p:set>
                                    <p:animEffect transition="in" filter="dissolve">
                                      <p:cBhvr>
                                        <p:cTn id="17" dur="500"/>
                                        <p:tgtEl>
                                          <p:spTgt spid="135170">
                                            <p:txEl>
                                              <p:charRg st="44" end="17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170">
                                            <p:txEl>
                                              <p:charRg st="178" end="220"/>
                                            </p:txEl>
                                          </p:spTgt>
                                        </p:tgtEl>
                                        <p:attrNameLst>
                                          <p:attrName>style.visibility</p:attrName>
                                        </p:attrNameLst>
                                      </p:cBhvr>
                                      <p:to>
                                        <p:strVal val="visible"/>
                                      </p:to>
                                    </p:set>
                                    <p:animEffect transition="in" filter="dissolve">
                                      <p:cBhvr>
                                        <p:cTn id="22" dur="500"/>
                                        <p:tgtEl>
                                          <p:spTgt spid="135170">
                                            <p:txEl>
                                              <p:charRg st="178" end="2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uild="p"/>
      <p:bldP spid="13517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p:nvPr/>
        </p:nvSpPr>
        <p:spPr>
          <a:xfrm>
            <a:off x="231775" y="495300"/>
            <a:ext cx="87630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通用塑料</a:t>
            </a:r>
            <a:r>
              <a:rPr lang="zh-CN" altLang="en-US" sz="2400" b="1" dirty="0">
                <a:latin typeface="Times New Roman" panose="02020603050405020304" pitchFamily="18" charset="0"/>
                <a:ea typeface="宋体" panose="02010600030101010101" pitchFamily="2" charset="-122"/>
              </a:rPr>
              <a:t>产量大、用途广、价格低，其中聚乙烯、聚氯乙烯、聚丙烯和聚苯乙烯的产量占全部塑料产量的</a:t>
            </a:r>
            <a:r>
              <a:rPr lang="en-US" altLang="zh-CN" sz="2400" b="1" dirty="0">
                <a:latin typeface="Times New Roman" panose="02020603050405020304" pitchFamily="18" charset="0"/>
                <a:ea typeface="宋体" panose="02010600030101010101" pitchFamily="2" charset="-122"/>
              </a:rPr>
              <a:t>80</a:t>
            </a:r>
            <a:r>
              <a:rPr lang="zh-CN" altLang="en-US" sz="2400" b="1" dirty="0">
                <a:latin typeface="Times New Roman" panose="02020603050405020304" pitchFamily="18" charset="0"/>
                <a:ea typeface="宋体" panose="02010600030101010101" pitchFamily="2" charset="-122"/>
              </a:rPr>
              <a:t>％，以聚乙烯的产量最大。</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工程塑料</a:t>
            </a:r>
            <a:r>
              <a:rPr lang="zh-CN" altLang="en-US" sz="2400" b="1" dirty="0">
                <a:latin typeface="Times New Roman" panose="02020603050405020304" pitchFamily="18" charset="0"/>
                <a:ea typeface="宋体" panose="02010600030101010101" pitchFamily="2" charset="-122"/>
              </a:rPr>
              <a:t>是作为工程材料和替代金属的塑料，要求有优良的机械性能、耐热性和尺寸稳定性，主要有聚甲醛、聚碳酸酯、</a:t>
            </a:r>
            <a:r>
              <a:rPr lang="en-US" altLang="zh-CN" sz="2400" b="1" dirty="0">
                <a:latin typeface="Times New Roman" panose="02020603050405020304" pitchFamily="18" charset="0"/>
                <a:ea typeface="宋体" panose="02010600030101010101" pitchFamily="2" charset="-122"/>
              </a:rPr>
              <a:t>ABS</a:t>
            </a:r>
            <a:r>
              <a:rPr lang="zh-CN" altLang="en-US" sz="2400" b="1" dirty="0">
                <a:latin typeface="Times New Roman" panose="02020603050405020304" pitchFamily="18" charset="0"/>
                <a:ea typeface="宋体" panose="02010600030101010101" pitchFamily="2" charset="-122"/>
              </a:rPr>
              <a:t>树脂等。如聚甲醛的力学、机械性能与铜、锌相似，用它做汽车上的轴承，使用寿命比金属的长一倍；聚碳酸酯不但可代替某些金属，还可代替玻璃、木材和合金等，做各种仪器的外壳、自行车车架和高级家具等。目前，工程塑料已广泛用于机电、建材、运输等部门。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4">
                                            <p:txEl>
                                              <p:charRg st="0" end="70"/>
                                            </p:txEl>
                                          </p:spTgt>
                                        </p:tgtEl>
                                        <p:attrNameLst>
                                          <p:attrName>style.visibility</p:attrName>
                                        </p:attrNameLst>
                                      </p:cBhvr>
                                      <p:to>
                                        <p:strVal val="visible"/>
                                      </p:to>
                                    </p:set>
                                    <p:animEffect transition="in" filter="dissolve">
                                      <p:cBhvr>
                                        <p:cTn id="7" dur="500"/>
                                        <p:tgtEl>
                                          <p:spTgt spid="136194">
                                            <p:txEl>
                                              <p:charRg st="0" end="7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6194">
                                            <p:txEl>
                                              <p:charRg st="70" end="261"/>
                                            </p:txEl>
                                          </p:spTgt>
                                        </p:tgtEl>
                                        <p:attrNameLst>
                                          <p:attrName>style.visibility</p:attrName>
                                        </p:attrNameLst>
                                      </p:cBhvr>
                                      <p:to>
                                        <p:strVal val="visible"/>
                                      </p:to>
                                    </p:set>
                                    <p:animEffect transition="in" filter="dissolve">
                                      <p:cBhvr>
                                        <p:cTn id="12" dur="500"/>
                                        <p:tgtEl>
                                          <p:spTgt spid="136194">
                                            <p:txEl>
                                              <p:charRg st="70" end="2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p:nvPr/>
        </p:nvSpPr>
        <p:spPr>
          <a:xfrm>
            <a:off x="381000" y="1116013"/>
            <a:ext cx="8153400" cy="10525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solidFill>
                  <a:srgbClr val="6600CC"/>
                </a:solidFill>
                <a:latin typeface="Times New Roman" panose="02020603050405020304" pitchFamily="18" charset="0"/>
                <a:ea typeface="宋体" panose="02010600030101010101" pitchFamily="2" charset="-122"/>
              </a:rPr>
              <a:t>特种塑料</a:t>
            </a:r>
            <a:r>
              <a:rPr lang="zh-CN" altLang="en-US" sz="2400" b="1" dirty="0">
                <a:latin typeface="Times New Roman" panose="02020603050405020304" pitchFamily="18" charset="0"/>
                <a:ea typeface="宋体" panose="02010600030101010101" pitchFamily="2" charset="-122"/>
              </a:rPr>
              <a:t>是指在高温、高腐蚀或高辐射等特殊条件下使用的塑料，它们主要用在尖端技术设备上。</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4">
                                            <p:txEl>
                                              <p:charRg st="0" end="44"/>
                                            </p:txEl>
                                          </p:spTgt>
                                        </p:tgtEl>
                                        <p:attrNameLst>
                                          <p:attrName>style.visibility</p:attrName>
                                        </p:attrNameLst>
                                      </p:cBhvr>
                                      <p:to>
                                        <p:strVal val="visible"/>
                                      </p:to>
                                    </p:set>
                                    <p:animEffect transition="in" filter="dissolve">
                                      <p:cBhvr>
                                        <p:cTn id="7" dur="500"/>
                                        <p:tgtEl>
                                          <p:spTgt spid="136194">
                                            <p:txEl>
                                              <p:charRg st="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p:nvPr/>
        </p:nvSpPr>
        <p:spPr>
          <a:xfrm>
            <a:off x="304800" y="866775"/>
            <a:ext cx="86868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纤维分为</a:t>
            </a:r>
            <a:r>
              <a:rPr lang="zh-CN" altLang="en-US" sz="2400" b="1" dirty="0">
                <a:solidFill>
                  <a:srgbClr val="6600CC"/>
                </a:solidFill>
                <a:latin typeface="Times New Roman" panose="02020603050405020304" pitchFamily="18" charset="0"/>
                <a:ea typeface="宋体" panose="02010600030101010101" pitchFamily="2" charset="-122"/>
              </a:rPr>
              <a:t>天然纤维和化学纤维</a:t>
            </a:r>
            <a:r>
              <a:rPr lang="zh-CN" altLang="en-US" sz="2400" b="1" dirty="0">
                <a:latin typeface="Times New Roman" panose="02020603050405020304" pitchFamily="18" charset="0"/>
                <a:ea typeface="宋体" panose="02010600030101010101" pitchFamily="2" charset="-122"/>
              </a:rPr>
              <a:t>两大类。棉、麻、丝、毛属天然纤维。化学纤维又可分为</a:t>
            </a:r>
            <a:r>
              <a:rPr lang="zh-CN" altLang="en-US" sz="2400" b="1" dirty="0">
                <a:solidFill>
                  <a:srgbClr val="6600CC"/>
                </a:solidFill>
                <a:latin typeface="Times New Roman" panose="02020603050405020304" pitchFamily="18" charset="0"/>
                <a:ea typeface="宋体" panose="02010600030101010101" pitchFamily="2" charset="-122"/>
              </a:rPr>
              <a:t>人造纤维和合成纤维</a:t>
            </a:r>
            <a:r>
              <a:rPr lang="zh-CN" altLang="en-US" sz="2400" b="1" dirty="0">
                <a:latin typeface="Times New Roman" panose="02020603050405020304" pitchFamily="18" charset="0"/>
                <a:ea typeface="宋体" panose="02010600030101010101" pitchFamily="2" charset="-122"/>
              </a:rPr>
              <a:t>。人造纤维是以天然高分子纤维素或蛋白质为原料，经过化学改性而制成的，如黏胶纤维（人造棉）、醋酸纤维（人造丝）、再生蛋白质纤维等。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合成纤维是以煤、石油、天然气等为原料，用化学方法合成各种树脂，再通过拉丝工艺获得的纤维。合成纤维的品种很多，最重要的品种是聚酯（涤纶）、聚酰胺（尼龙、锦纶）、聚丙烯腈（腈纶），它们占合成纤维总产量的</a:t>
            </a:r>
            <a:r>
              <a:rPr lang="en-US" altLang="zh-CN" sz="2400" b="1" dirty="0">
                <a:latin typeface="Times New Roman" panose="02020603050405020304" pitchFamily="18" charset="0"/>
                <a:ea typeface="宋体" panose="02010600030101010101" pitchFamily="2" charset="-122"/>
              </a:rPr>
              <a:t>90</a:t>
            </a:r>
            <a:r>
              <a:rPr lang="zh-CN" altLang="en-US" sz="2400" b="1" dirty="0">
                <a:latin typeface="Times New Roman" panose="02020603050405020304" pitchFamily="18" charset="0"/>
                <a:ea typeface="宋体" panose="02010600030101010101" pitchFamily="2" charset="-122"/>
              </a:rPr>
              <a:t>％以上。</a:t>
            </a:r>
            <a:endParaRPr lang="zh-CN" altLang="en-US" sz="2400" b="1" dirty="0">
              <a:latin typeface="Times New Roman" panose="02020603050405020304" pitchFamily="18" charset="0"/>
              <a:ea typeface="宋体" panose="02010600030101010101" pitchFamily="2" charset="-122"/>
            </a:endParaRPr>
          </a:p>
        </p:txBody>
      </p:sp>
      <p:sp>
        <p:nvSpPr>
          <p:cNvPr id="137219" name="Rectangle 3"/>
          <p:cNvSpPr/>
          <p:nvPr/>
        </p:nvSpPr>
        <p:spPr>
          <a:xfrm>
            <a:off x="0" y="342900"/>
            <a:ext cx="2590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纤维</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gtEl>
                                        <p:attrNameLst>
                                          <p:attrName>style.visibility</p:attrName>
                                        </p:attrNameLst>
                                      </p:cBhvr>
                                      <p:to>
                                        <p:strVal val="visible"/>
                                      </p:to>
                                    </p:set>
                                    <p:animEffect transition="in" filter="wipe(left)">
                                      <p:cBhvr>
                                        <p:cTn id="7" dur="500"/>
                                        <p:tgtEl>
                                          <p:spTgt spid="1372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7218">
                                            <p:txEl>
                                              <p:charRg st="0" end="121"/>
                                            </p:txEl>
                                          </p:spTgt>
                                        </p:tgtEl>
                                        <p:attrNameLst>
                                          <p:attrName>style.visibility</p:attrName>
                                        </p:attrNameLst>
                                      </p:cBhvr>
                                      <p:to>
                                        <p:strVal val="visible"/>
                                      </p:to>
                                    </p:set>
                                    <p:animEffect transition="in" filter="dissolve">
                                      <p:cBhvr>
                                        <p:cTn id="12" dur="500"/>
                                        <p:tgtEl>
                                          <p:spTgt spid="137218">
                                            <p:txEl>
                                              <p:charRg st="0" end="1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7218">
                                            <p:txEl>
                                              <p:charRg st="121" end="234"/>
                                            </p:txEl>
                                          </p:spTgt>
                                        </p:tgtEl>
                                        <p:attrNameLst>
                                          <p:attrName>style.visibility</p:attrName>
                                        </p:attrNameLst>
                                      </p:cBhvr>
                                      <p:to>
                                        <p:strVal val="visible"/>
                                      </p:to>
                                    </p:set>
                                    <p:animEffect transition="in" filter="dissolve">
                                      <p:cBhvr>
                                        <p:cTn id="17" dur="500"/>
                                        <p:tgtEl>
                                          <p:spTgt spid="137218">
                                            <p:txEl>
                                              <p:charRg st="121" end="2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build="p"/>
      <p:bldP spid="13721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p:nvPr/>
        </p:nvSpPr>
        <p:spPr>
          <a:xfrm>
            <a:off x="533400" y="1143000"/>
            <a:ext cx="8153400" cy="5730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138244" name="Rectangle 4"/>
          <p:cNvSpPr/>
          <p:nvPr/>
        </p:nvSpPr>
        <p:spPr>
          <a:xfrm>
            <a:off x="533400" y="1143000"/>
            <a:ext cx="8153400" cy="5730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endParaRPr lang="zh-CN" altLang="en-US" sz="2400" b="1" dirty="0">
              <a:latin typeface="Times New Roman" panose="02020603050405020304" pitchFamily="18" charset="0"/>
              <a:ea typeface="宋体" panose="02010600030101010101" pitchFamily="2" charset="-122"/>
            </a:endParaRPr>
          </a:p>
        </p:txBody>
      </p:sp>
      <p:sp>
        <p:nvSpPr>
          <p:cNvPr id="138245" name="Rectangle 5"/>
          <p:cNvSpPr/>
          <p:nvPr/>
        </p:nvSpPr>
        <p:spPr>
          <a:xfrm>
            <a:off x="533400" y="1143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合成纤维一般都具有强度高、弹性大、耐磨、耐化学腐蚀等特点，广泛用作衣料等生活用品。在工农业、交通、国防等部门也有许多重要应用，例如用锦纶帘子线做的汽车轮胎，其寿命比一般天然纤维高出</a:t>
            </a:r>
            <a:r>
              <a:rPr lang="en-US" altLang="zh-CN" sz="2400" b="1" dirty="0">
                <a:latin typeface="Times New Roman" panose="02020603050405020304" pitchFamily="18" charset="0"/>
                <a:ea typeface="宋体" panose="02010600030101010101" pitchFamily="2" charset="-122"/>
              </a:rPr>
              <a:t>l</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倍，并可节约橡胶用量</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8242">
                                            <p:txEl>
                                              <p:charRg st="0" end="9"/>
                                            </p:txEl>
                                          </p:spTgt>
                                        </p:tgtEl>
                                        <p:attrNameLst>
                                          <p:attrName>style.visibility</p:attrName>
                                        </p:attrNameLst>
                                      </p:cBhvr>
                                      <p:to>
                                        <p:strVal val="visible"/>
                                      </p:to>
                                    </p:set>
                                    <p:animEffect transition="in" filter="dissolve">
                                      <p:cBhvr>
                                        <p:cTn id="7" dur="500"/>
                                        <p:tgtEl>
                                          <p:spTgt spid="138242">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38244">
                                            <p:txEl>
                                              <p:charRg st="0" end="1"/>
                                            </p:txEl>
                                          </p:spTgt>
                                        </p:tgtEl>
                                        <p:attrNameLst>
                                          <p:attrName>style.visibility</p:attrName>
                                        </p:attrNameLst>
                                      </p:cBhvr>
                                      <p:to>
                                        <p:strVal val="visible"/>
                                      </p:to>
                                    </p:set>
                                    <p:animEffect transition="in" filter="dissolve">
                                      <p:cBhvr>
                                        <p:cTn id="12" dur="500"/>
                                        <p:tgtEl>
                                          <p:spTgt spid="138244">
                                            <p:txEl>
                                              <p:charRg st="0"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8245">
                                            <p:txEl>
                                              <p:charRg st="0" end="117"/>
                                            </p:txEl>
                                          </p:spTgt>
                                        </p:tgtEl>
                                        <p:attrNameLst>
                                          <p:attrName>style.visibility</p:attrName>
                                        </p:attrNameLst>
                                      </p:cBhvr>
                                      <p:to>
                                        <p:strVal val="visible"/>
                                      </p:to>
                                    </p:set>
                                    <p:animEffect transition="in" filter="dissolve">
                                      <p:cBhvr>
                                        <p:cTn id="17" dur="500"/>
                                        <p:tgtEl>
                                          <p:spTgt spid="138245">
                                            <p:txEl>
                                              <p:charRg st="0" end="1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uild="p"/>
      <p:bldP spid="138244" grpId="0" build="p"/>
      <p:bldP spid="138245"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p:nvPr/>
        </p:nvSpPr>
        <p:spPr>
          <a:xfrm>
            <a:off x="152400" y="571500"/>
            <a:ext cx="8915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通常将处于高弹态的有机聚合物称为橡胶，橡胶包括</a:t>
            </a:r>
            <a:r>
              <a:rPr lang="zh-CN" altLang="en-US" sz="2400" b="1" dirty="0">
                <a:solidFill>
                  <a:srgbClr val="6600CC"/>
                </a:solidFill>
                <a:latin typeface="Times New Roman" panose="02020603050405020304" pitchFamily="18" charset="0"/>
                <a:ea typeface="宋体" panose="02010600030101010101" pitchFamily="2" charset="-122"/>
              </a:rPr>
              <a:t>天然橡胶和合成橡胶</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世界橡胶产量中，天然橡胶仅占</a:t>
            </a:r>
            <a:r>
              <a:rPr lang="en-US" altLang="zh-CN" sz="2400" b="1" dirty="0">
                <a:latin typeface="Times New Roman" panose="02020603050405020304" pitchFamily="18" charset="0"/>
                <a:ea typeface="宋体" panose="02010600030101010101" pitchFamily="2" charset="-122"/>
              </a:rPr>
              <a:t>15</a:t>
            </a:r>
            <a:r>
              <a:rPr lang="zh-CN" altLang="en-US" sz="2400" b="1" dirty="0">
                <a:latin typeface="Times New Roman" panose="02020603050405020304" pitchFamily="18" charset="0"/>
                <a:ea typeface="宋体" panose="02010600030101010101" pitchFamily="2" charset="-122"/>
              </a:rPr>
              <a:t>％左右，其余都是合成橡胶。合成橡胶品种很多，性能各异，在许多场合可以代替甚至超过天然橡胶。合成橡胶可分为</a:t>
            </a:r>
            <a:r>
              <a:rPr lang="zh-CN" altLang="en-US" sz="2400" b="1" dirty="0">
                <a:solidFill>
                  <a:srgbClr val="6600CC"/>
                </a:solidFill>
                <a:latin typeface="Times New Roman" panose="02020603050405020304" pitchFamily="18" charset="0"/>
                <a:ea typeface="宋体" panose="02010600030101010101" pitchFamily="2" charset="-122"/>
              </a:rPr>
              <a:t>通用橡胶和特种橡胶。</a:t>
            </a:r>
            <a:r>
              <a:rPr lang="zh-CN" altLang="en-US" sz="2400" b="1" dirty="0">
                <a:latin typeface="Times New Roman" panose="02020603050405020304" pitchFamily="18" charset="0"/>
                <a:ea typeface="宋体" panose="02010600030101010101" pitchFamily="2" charset="-122"/>
              </a:rPr>
              <a:t>通用橡胶用量较大，例如丁苯橡胶、顺丁橡胶。特种橡胶是在特殊条件下使用的橡胶，具有耐高温、耐低温、耐油、耐化学腐蚀等特点。</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硅橡胶</a:t>
            </a:r>
            <a:r>
              <a:rPr lang="zh-CN" altLang="en-US" sz="2400" b="1" dirty="0">
                <a:latin typeface="Times New Roman" panose="02020603050405020304" pitchFamily="18" charset="0"/>
                <a:ea typeface="宋体" panose="02010600030101010101" pitchFamily="2" charset="-122"/>
              </a:rPr>
              <a:t>是以硅原子取代主链中的碳原子形成的一种特种橡胶，其柔软、光滑，适宜做医用制品，能耐高温，可承受高温消毒而不变形。</a:t>
            </a:r>
            <a:endParaRPr lang="zh-CN" altLang="en-US" sz="2400" b="1" dirty="0">
              <a:latin typeface="Times New Roman" panose="02020603050405020304" pitchFamily="18" charset="0"/>
              <a:ea typeface="宋体" panose="02010600030101010101" pitchFamily="2" charset="-122"/>
            </a:endParaRPr>
          </a:p>
        </p:txBody>
      </p:sp>
      <p:sp>
        <p:nvSpPr>
          <p:cNvPr id="139267" name="Rectangle 3"/>
          <p:cNvSpPr/>
          <p:nvPr/>
        </p:nvSpPr>
        <p:spPr>
          <a:xfrm>
            <a:off x="-76200" y="182563"/>
            <a:ext cx="2667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a:t>
            </a:r>
            <a:r>
              <a:rPr lang="zh-CN" altLang="en-US" sz="2800" b="1" dirty="0">
                <a:solidFill>
                  <a:srgbClr val="540C2B"/>
                </a:solidFill>
                <a:latin typeface="楷体_GB2312" panose="02010609030101010101" pitchFamily="49" charset="-122"/>
                <a:ea typeface="楷体_GB2312" panose="02010609030101010101" pitchFamily="49" charset="-122"/>
              </a:rPr>
              <a:t>橡胶</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7"/>
                                        </p:tgtEl>
                                        <p:attrNameLst>
                                          <p:attrName>style.visibility</p:attrName>
                                        </p:attrNameLst>
                                      </p:cBhvr>
                                      <p:to>
                                        <p:strVal val="visible"/>
                                      </p:to>
                                    </p:set>
                                    <p:animEffect transition="in" filter="wipe(left)">
                                      <p:cBhvr>
                                        <p:cTn id="7" dur="500"/>
                                        <p:tgtEl>
                                          <p:spTgt spid="1392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9266">
                                            <p:txEl>
                                              <p:charRg st="0" end="42"/>
                                            </p:txEl>
                                          </p:spTgt>
                                        </p:tgtEl>
                                        <p:attrNameLst>
                                          <p:attrName>style.visibility</p:attrName>
                                        </p:attrNameLst>
                                      </p:cBhvr>
                                      <p:to>
                                        <p:strVal val="visible"/>
                                      </p:to>
                                    </p:set>
                                    <p:animEffect transition="in" filter="dissolve">
                                      <p:cBhvr>
                                        <p:cTn id="12" dur="500"/>
                                        <p:tgtEl>
                                          <p:spTgt spid="139266">
                                            <p:txEl>
                                              <p:charRg st="0"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9266">
                                            <p:txEl>
                                              <p:charRg st="42" end="187"/>
                                            </p:txEl>
                                          </p:spTgt>
                                        </p:tgtEl>
                                        <p:attrNameLst>
                                          <p:attrName>style.visibility</p:attrName>
                                        </p:attrNameLst>
                                      </p:cBhvr>
                                      <p:to>
                                        <p:strVal val="visible"/>
                                      </p:to>
                                    </p:set>
                                    <p:animEffect transition="in" filter="dissolve">
                                      <p:cBhvr>
                                        <p:cTn id="17" dur="500"/>
                                        <p:tgtEl>
                                          <p:spTgt spid="139266">
                                            <p:txEl>
                                              <p:charRg st="42" end="1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9266">
                                            <p:txEl>
                                              <p:charRg st="187" end="254"/>
                                            </p:txEl>
                                          </p:spTgt>
                                        </p:tgtEl>
                                        <p:attrNameLst>
                                          <p:attrName>style.visibility</p:attrName>
                                        </p:attrNameLst>
                                      </p:cBhvr>
                                      <p:to>
                                        <p:strVal val="visible"/>
                                      </p:to>
                                    </p:set>
                                    <p:animEffect transition="in" filter="dissolve">
                                      <p:cBhvr>
                                        <p:cTn id="22" dur="500"/>
                                        <p:tgtEl>
                                          <p:spTgt spid="139266">
                                            <p:txEl>
                                              <p:charRg st="187" end="2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p:bldP spid="13926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p:nvPr/>
        </p:nvSpPr>
        <p:spPr>
          <a:xfrm>
            <a:off x="457200" y="1460500"/>
            <a:ext cx="81534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在高分子的主链或支链上带有显示某种功能的官能团，可使高分子具有特殊的功能，满足光、电、磁、化学、生物、医学等方面的功能要求，这类高分子通称为功能高分子。</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功能高分子是高分子化学的一个重要分支，是近些年来高分子科学最活跃的研究领域，与新技术研究的前沿领域有密切的关系。功能高分子材料发展已有</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多年历史，在许多领域中得到成功的应用。</a:t>
            </a:r>
            <a:endParaRPr lang="zh-CN" altLang="en-US" sz="2400" b="1" dirty="0">
              <a:latin typeface="Times New Roman" panose="02020603050405020304" pitchFamily="18" charset="0"/>
              <a:ea typeface="宋体" panose="02010600030101010101" pitchFamily="2" charset="-122"/>
            </a:endParaRPr>
          </a:p>
        </p:txBody>
      </p:sp>
      <p:sp>
        <p:nvSpPr>
          <p:cNvPr id="140292" name="Text Box 4"/>
          <p:cNvSpPr txBox="1"/>
          <p:nvPr/>
        </p:nvSpPr>
        <p:spPr>
          <a:xfrm>
            <a:off x="0" y="825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6.3.3</a:t>
            </a:r>
            <a:r>
              <a:rPr lang="en-US" altLang="en-US" sz="3200" b="1" dirty="0">
                <a:solidFill>
                  <a:schemeClr val="bg1"/>
                </a:solidFill>
                <a:latin typeface="Times New Roman" panose="02020603050405020304" pitchFamily="18" charset="0"/>
                <a:ea typeface="楷体_GB2312" panose="02010609030101010101" pitchFamily="49" charset="-122"/>
              </a:rPr>
              <a:t> </a:t>
            </a:r>
            <a:r>
              <a:rPr lang="en-US" altLang="zh-CN" sz="3200" b="1" dirty="0">
                <a:solidFill>
                  <a:schemeClr val="bg1"/>
                </a:solidFill>
                <a:latin typeface="Times New Roman" panose="02020603050405020304" pitchFamily="18" charset="0"/>
                <a:ea typeface="楷体_GB2312" panose="02010609030101010101" pitchFamily="49" charset="-122"/>
              </a:rPr>
              <a:t>  </a:t>
            </a:r>
            <a:r>
              <a:rPr lang="zh-CN" altLang="en-US" sz="3200" b="1" dirty="0">
                <a:solidFill>
                  <a:schemeClr val="bg1"/>
                </a:solidFill>
                <a:latin typeface="Times New Roman" panose="02020603050405020304" pitchFamily="18" charset="0"/>
                <a:ea typeface="楷体_GB2312" panose="02010609030101010101" pitchFamily="49" charset="-122"/>
              </a:rPr>
              <a:t>功能高分子材料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40292"/>
                                        </p:tgtEl>
                                        <p:attrNameLst>
                                          <p:attrName>style.visibility</p:attrName>
                                        </p:attrNameLst>
                                      </p:cBhvr>
                                      <p:to>
                                        <p:strVal val="visible"/>
                                      </p:to>
                                    </p:set>
                                    <p:anim calcmode="lin" valueType="num">
                                      <p:cBhvr>
                                        <p:cTn id="7" dur="1000" fill="hold"/>
                                        <p:tgtEl>
                                          <p:spTgt spid="140292"/>
                                        </p:tgtEl>
                                        <p:attrNameLst>
                                          <p:attrName>ppt_w</p:attrName>
                                        </p:attrNameLst>
                                      </p:cBhvr>
                                      <p:tavLst>
                                        <p:tav tm="0">
                                          <p:val>
                                            <p:fltVal val="0.000000"/>
                                          </p:val>
                                        </p:tav>
                                        <p:tav tm="100000">
                                          <p:val>
                                            <p:strVal val="#ppt_w"/>
                                          </p:val>
                                        </p:tav>
                                      </p:tavLst>
                                    </p:anim>
                                    <p:anim calcmode="lin" valueType="num">
                                      <p:cBhvr>
                                        <p:cTn id="8" dur="1000" fill="hold"/>
                                        <p:tgtEl>
                                          <p:spTgt spid="140292"/>
                                        </p:tgtEl>
                                        <p:attrNameLst>
                                          <p:attrName>ppt_h</p:attrName>
                                        </p:attrNameLst>
                                      </p:cBhvr>
                                      <p:tavLst>
                                        <p:tav tm="0">
                                          <p:val>
                                            <p:fltVal val="0.000000"/>
                                          </p:val>
                                        </p:tav>
                                        <p:tav tm="100000">
                                          <p:val>
                                            <p:strVal val="#ppt_h"/>
                                          </p:val>
                                        </p:tav>
                                      </p:tavLst>
                                    </p:anim>
                                    <p:anim calcmode="lin" valueType="num">
                                      <p:cBhvr>
                                        <p:cTn id="9" dur="1000" fill="hold"/>
                                        <p:tgtEl>
                                          <p:spTgt spid="140292"/>
                                        </p:tgtEl>
                                        <p:attrNameLst>
                                          <p:attrName>style.rotation</p:attrName>
                                        </p:attrNameLst>
                                      </p:cBhvr>
                                      <p:tavLst>
                                        <p:tav tm="0">
                                          <p:val>
                                            <p:fltVal val="90.000000"/>
                                          </p:val>
                                        </p:tav>
                                        <p:tav tm="100000">
                                          <p:val>
                                            <p:fltVal val="0.000000"/>
                                          </p:val>
                                        </p:tav>
                                      </p:tavLst>
                                    </p:anim>
                                    <p:animEffect transition="in" filter="fade">
                                      <p:cBhvr>
                                        <p:cTn id="10" dur="1000"/>
                                        <p:tgtEl>
                                          <p:spTgt spid="14029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40290">
                                            <p:txEl>
                                              <p:charRg st="0" end="84"/>
                                            </p:txEl>
                                          </p:spTgt>
                                        </p:tgtEl>
                                        <p:attrNameLst>
                                          <p:attrName>style.visibility</p:attrName>
                                        </p:attrNameLst>
                                      </p:cBhvr>
                                      <p:to>
                                        <p:strVal val="visible"/>
                                      </p:to>
                                    </p:set>
                                    <p:animEffect transition="in" filter="dissolve">
                                      <p:cBhvr>
                                        <p:cTn id="15" dur="500"/>
                                        <p:tgtEl>
                                          <p:spTgt spid="140290">
                                            <p:txEl>
                                              <p:charRg st="0" end="8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40290">
                                            <p:txEl>
                                              <p:charRg st="84" end="181"/>
                                            </p:txEl>
                                          </p:spTgt>
                                        </p:tgtEl>
                                        <p:attrNameLst>
                                          <p:attrName>style.visibility</p:attrName>
                                        </p:attrNameLst>
                                      </p:cBhvr>
                                      <p:to>
                                        <p:strVal val="visible"/>
                                      </p:to>
                                    </p:set>
                                    <p:animEffect transition="in" filter="dissolve">
                                      <p:cBhvr>
                                        <p:cTn id="20" dur="500"/>
                                        <p:tgtEl>
                                          <p:spTgt spid="140290">
                                            <p:txEl>
                                              <p:charRg st="84"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0" grpId="0" build="p"/>
      <p:bldP spid="14029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p:nvPr/>
        </p:nvSpPr>
        <p:spPr>
          <a:xfrm>
            <a:off x="228600" y="1143000"/>
            <a:ext cx="87630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高分子具有绝缘性，这是由其结构决定的。</a:t>
            </a:r>
            <a:r>
              <a:rPr lang="en-US" altLang="zh-CN" sz="2400" b="1" dirty="0">
                <a:latin typeface="Times New Roman" panose="02020603050405020304" pitchFamily="18" charset="0"/>
                <a:ea typeface="宋体" panose="02010600030101010101" pitchFamily="2" charset="-122"/>
              </a:rPr>
              <a:t>70</a:t>
            </a:r>
            <a:r>
              <a:rPr lang="zh-CN" altLang="en-US" sz="2400" b="1" dirty="0">
                <a:latin typeface="Times New Roman" panose="02020603050405020304" pitchFamily="18" charset="0"/>
                <a:ea typeface="宋体" panose="02010600030101010101" pitchFamily="2" charset="-122"/>
              </a:rPr>
              <a:t>年代人们合成了聚乙炔，发现它有导电性。后来发现，将碘掺杂到聚乙炔中，导电率会大大提高。迄今为止，已知道聚吡咯、聚噻吩、聚噻唑、聚苯硫醚等都具有导电性，并受到了人们的高度重视，</a:t>
            </a:r>
            <a:r>
              <a:rPr lang="en-US" altLang="zh-CN" sz="2400" b="1" dirty="0">
                <a:latin typeface="Times New Roman" panose="02020603050405020304" pitchFamily="18" charset="0"/>
                <a:ea typeface="宋体" panose="02010600030101010101" pitchFamily="2" charset="-122"/>
              </a:rPr>
              <a:t>2001</a:t>
            </a:r>
            <a:r>
              <a:rPr lang="zh-CN" altLang="en-US" sz="2400" b="1" dirty="0">
                <a:latin typeface="Times New Roman" panose="02020603050405020304" pitchFamily="18" charset="0"/>
                <a:ea typeface="宋体" panose="02010600030101010101" pitchFamily="2" charset="-122"/>
              </a:rPr>
              <a:t>年的诺贝尔化学奖就颁发给了发现塑料导体的日本白川英树教授。</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针对导电高分子材料所进行的研究开发工作中，最显著的成果是用导电塑料做成的塑料电池已进入市场。塑料电池具有体积小，工作寿命长的特点。据报道美国已把导电高分子用在隐型飞机上。</a:t>
            </a:r>
            <a:endParaRPr lang="zh-CN" altLang="en-US" sz="2400" b="1" dirty="0">
              <a:latin typeface="Times New Roman" panose="02020603050405020304" pitchFamily="18" charset="0"/>
              <a:ea typeface="宋体" panose="02010600030101010101" pitchFamily="2" charset="-122"/>
            </a:endParaRPr>
          </a:p>
        </p:txBody>
      </p:sp>
      <p:sp>
        <p:nvSpPr>
          <p:cNvPr id="141315" name="Rectangle 3"/>
          <p:cNvSpPr/>
          <p:nvPr/>
        </p:nvSpPr>
        <p:spPr>
          <a:xfrm>
            <a:off x="0" y="266700"/>
            <a:ext cx="3276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导电高分子</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wipe(left)">
                                      <p:cBhvr>
                                        <p:cTn id="7" dur="500"/>
                                        <p:tgtEl>
                                          <p:spTgt spid="1413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1314">
                                            <p:txEl>
                                              <p:charRg st="0" end="150"/>
                                            </p:txEl>
                                          </p:spTgt>
                                        </p:tgtEl>
                                        <p:attrNameLst>
                                          <p:attrName>style.visibility</p:attrName>
                                        </p:attrNameLst>
                                      </p:cBhvr>
                                      <p:to>
                                        <p:strVal val="visible"/>
                                      </p:to>
                                    </p:set>
                                    <p:animEffect transition="in" filter="dissolve">
                                      <p:cBhvr>
                                        <p:cTn id="12" dur="500"/>
                                        <p:tgtEl>
                                          <p:spTgt spid="141314">
                                            <p:txEl>
                                              <p:charRg st="0" end="1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1314">
                                            <p:txEl>
                                              <p:charRg st="150" end="245"/>
                                            </p:txEl>
                                          </p:spTgt>
                                        </p:tgtEl>
                                        <p:attrNameLst>
                                          <p:attrName>style.visibility</p:attrName>
                                        </p:attrNameLst>
                                      </p:cBhvr>
                                      <p:to>
                                        <p:strVal val="visible"/>
                                      </p:to>
                                    </p:set>
                                    <p:animEffect transition="in" filter="dissolve">
                                      <p:cBhvr>
                                        <p:cTn id="17" dur="500"/>
                                        <p:tgtEl>
                                          <p:spTgt spid="141314">
                                            <p:txEl>
                                              <p:charRg st="150" end="2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p:bldP spid="14131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p:nvPr/>
        </p:nvSpPr>
        <p:spPr>
          <a:xfrm>
            <a:off x="533400" y="190500"/>
            <a:ext cx="8153400" cy="24923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美国朗讯科技</a:t>
            </a:r>
            <a:r>
              <a:rPr lang="en-US" altLang="zh-CN" sz="2400" b="1" dirty="0">
                <a:latin typeface="Times New Roman" panose="02020603050405020304" pitchFamily="18" charset="0"/>
                <a:ea typeface="宋体" panose="02010600030101010101" pitchFamily="2" charset="-122"/>
              </a:rPr>
              <a:t>(Lucent Technologies)</a:t>
            </a:r>
            <a:r>
              <a:rPr lang="zh-CN" altLang="en-US" sz="2400" b="1" dirty="0">
                <a:latin typeface="Times New Roman" panose="02020603050405020304" pitchFamily="18" charset="0"/>
                <a:ea typeface="宋体" panose="02010600030101010101" pitchFamily="2" charset="-122"/>
              </a:rPr>
              <a:t>公司首次发现一种导电高分子“聚噻吩”在</a:t>
            </a:r>
            <a:r>
              <a:rPr lang="en-US" altLang="zh-CN" sz="2400" b="1" dirty="0">
                <a:latin typeface="Times New Roman" panose="02020603050405020304" pitchFamily="18" charset="0"/>
                <a:ea typeface="宋体" panose="02010600030101010101" pitchFamily="2" charset="-122"/>
              </a:rPr>
              <a:t>-235℃</a:t>
            </a:r>
            <a:r>
              <a:rPr lang="zh-CN" altLang="en-US" sz="2400" b="1" dirty="0">
                <a:latin typeface="Times New Roman" panose="02020603050405020304" pitchFamily="18" charset="0"/>
                <a:ea typeface="宋体" panose="02010600030101010101" pitchFamily="2" charset="-122"/>
              </a:rPr>
              <a:t>温度下电阻为零，成为超导体的塑料物质。虽然聚噻吩成为超导物质要求的温度非常低，但是科学家们认为，将来可以通过改变聚合物的分子构造来提高超导温度，使其在室温下成为超导物质。</a:t>
            </a:r>
            <a:endParaRPr lang="zh-CN" altLang="en-US" sz="2400" b="1" dirty="0">
              <a:latin typeface="Times New Roman" panose="02020603050405020304" pitchFamily="18" charset="0"/>
              <a:ea typeface="宋体" panose="02010600030101010101" pitchFamily="2" charset="-122"/>
            </a:endParaRPr>
          </a:p>
        </p:txBody>
      </p:sp>
      <p:grpSp>
        <p:nvGrpSpPr>
          <p:cNvPr id="84995" name="Group 4"/>
          <p:cNvGrpSpPr/>
          <p:nvPr/>
        </p:nvGrpSpPr>
        <p:grpSpPr>
          <a:xfrm>
            <a:off x="1341438" y="2692400"/>
            <a:ext cx="6705600" cy="2095500"/>
            <a:chOff x="2264" y="11036"/>
            <a:chExt cx="6937" cy="2328"/>
          </a:xfrm>
        </p:grpSpPr>
        <p:pic>
          <p:nvPicPr>
            <p:cNvPr id="84997" name="Picture 5" descr="http://i05.c.aliimg.com/img/offer2/2010/370/303/55370303_f9d8e3b4d7c6295dbd6b1096b9ef8899.jpg"/>
            <p:cNvPicPr>
              <a:picLocks noChangeAspect="1"/>
            </p:cNvPicPr>
            <p:nvPr/>
          </p:nvPicPr>
          <p:blipFill>
            <a:blip r:embed="rId1" r:link="rId2"/>
            <a:srcRect l="3041" r="876" b="6111"/>
            <a:stretch>
              <a:fillRect/>
            </a:stretch>
          </p:blipFill>
          <p:spPr>
            <a:xfrm>
              <a:off x="2264" y="11046"/>
              <a:ext cx="3160" cy="2318"/>
            </a:xfrm>
            <a:prstGeom prst="rect">
              <a:avLst/>
            </a:prstGeom>
            <a:noFill/>
            <a:ln w="9525">
              <a:noFill/>
            </a:ln>
          </p:spPr>
        </p:pic>
        <p:pic>
          <p:nvPicPr>
            <p:cNvPr id="84998" name="Picture 6" descr="http://www.vertpedia.com/uploadfile/200921915179622.jpg"/>
            <p:cNvPicPr>
              <a:picLocks noChangeAspect="1"/>
            </p:cNvPicPr>
            <p:nvPr/>
          </p:nvPicPr>
          <p:blipFill>
            <a:blip r:embed="rId3" r:link="rId4"/>
            <a:stretch>
              <a:fillRect/>
            </a:stretch>
          </p:blipFill>
          <p:spPr>
            <a:xfrm>
              <a:off x="6584" y="11036"/>
              <a:ext cx="2617" cy="2317"/>
            </a:xfrm>
            <a:prstGeom prst="rect">
              <a:avLst/>
            </a:prstGeom>
            <a:noFill/>
            <a:ln w="9525">
              <a:noFill/>
            </a:ln>
          </p:spPr>
        </p:pic>
      </p:grpSp>
      <p:sp>
        <p:nvSpPr>
          <p:cNvPr id="84996" name="Rectangle 7"/>
          <p:cNvSpPr/>
          <p:nvPr/>
        </p:nvSpPr>
        <p:spPr>
          <a:xfrm>
            <a:off x="1371600" y="4921250"/>
            <a:ext cx="6853238" cy="369888"/>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1800" dirty="0">
                <a:latin typeface="Arial" panose="020B0604020202020204" pitchFamily="34" charset="0"/>
                <a:ea typeface="宋体" panose="02010600030101010101" pitchFamily="2" charset="-122"/>
              </a:rPr>
              <a:t>  图</a:t>
            </a:r>
            <a:r>
              <a:rPr lang="en-US" altLang="zh-CN" sz="1800" dirty="0">
                <a:latin typeface="Arial" panose="020B0604020202020204" pitchFamily="34" charset="0"/>
                <a:ea typeface="宋体" panose="02010600030101010101" pitchFamily="2" charset="-122"/>
              </a:rPr>
              <a:t>6-18  </a:t>
            </a:r>
            <a:r>
              <a:rPr lang="zh-CN" altLang="en-US" sz="1800" dirty="0">
                <a:latin typeface="Arial" panose="020B0604020202020204" pitchFamily="34" charset="0"/>
                <a:ea typeface="宋体" panose="02010600030101010101" pitchFamily="2" charset="-122"/>
              </a:rPr>
              <a:t>医用高分子绷带                           图</a:t>
            </a:r>
            <a:r>
              <a:rPr lang="en-US" altLang="zh-CN" sz="1800" dirty="0">
                <a:latin typeface="Arial" panose="020B0604020202020204" pitchFamily="34" charset="0"/>
                <a:ea typeface="宋体" panose="02010600030101010101" pitchFamily="2" charset="-122"/>
              </a:rPr>
              <a:t>6-19 </a:t>
            </a:r>
            <a:r>
              <a:rPr lang="zh-CN" altLang="en-US" sz="1800" dirty="0">
                <a:latin typeface="Arial" panose="020B0604020202020204" pitchFamily="34" charset="0"/>
                <a:ea typeface="宋体" panose="02010600030101010101" pitchFamily="2" charset="-122"/>
              </a:rPr>
              <a:t>高吸水性高分子</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2338">
                                            <p:txEl>
                                              <p:charRg st="0" end="144"/>
                                            </p:txEl>
                                          </p:spTgt>
                                        </p:tgtEl>
                                        <p:attrNameLst>
                                          <p:attrName>style.visibility</p:attrName>
                                        </p:attrNameLst>
                                      </p:cBhvr>
                                      <p:to>
                                        <p:strVal val="visible"/>
                                      </p:to>
                                    </p:set>
                                    <p:animEffect transition="in" filter="dissolve">
                                      <p:cBhvr>
                                        <p:cTn id="7" dur="500"/>
                                        <p:tgtEl>
                                          <p:spTgt spid="142338">
                                            <p:txEl>
                                              <p:charRg st="0"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2613" name="Group 37"/>
          <p:cNvGraphicFramePr>
            <a:graphicFrameLocks noGrp="1"/>
          </p:cNvGraphicFramePr>
          <p:nvPr/>
        </p:nvGraphicFramePr>
        <p:xfrm>
          <a:off x="1066800" y="1079500"/>
          <a:ext cx="7543800" cy="4114800"/>
        </p:xfrm>
        <a:graphic>
          <a:graphicData uri="http://schemas.openxmlformats.org/drawingml/2006/table">
            <a:tbl>
              <a:tblPr/>
              <a:tblGrid>
                <a:gridCol w="2362200"/>
                <a:gridCol w="5181600"/>
              </a:tblGrid>
              <a:tr h="472420">
                <a:tc>
                  <a:txBody>
                    <a:bodyPr/>
                    <a:lstStyle/>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人造器官</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090" marB="380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医用高分子材料</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38090" marB="3809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42340">
                <a:tc>
                  <a:txBody>
                    <a:bodyPr/>
                    <a:lstStyle/>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人造心脏</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人造血管</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人造器官</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人造肾</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人造鼻</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人造肺</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人造骨</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人造肌肉</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人造皮肤</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8090" marB="3809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硅橡胶、聚氨酯橡胶</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聚氨酯橡胶、聚对苯二甲酸乙二酯</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有机硅橡胶、聚乙烯</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醋酸纤维素、聚酯纤维</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有机硅橡胶、聚乙烯</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聚四氟乙烯、聚碳酸酯、聚丙烯</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聚甲基丙烯酸甲酯、酚醛树脂</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硅橡胶和涤纶织物</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硅橡胶、聚多肽</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8090" marB="3809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6030" name="Rectangle 33"/>
          <p:cNvSpPr/>
          <p:nvPr/>
        </p:nvSpPr>
        <p:spPr>
          <a:xfrm>
            <a:off x="838200" y="663575"/>
            <a:ext cx="3492500" cy="4000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2000" b="1" dirty="0">
                <a:latin typeface="Times New Roman" panose="02020603050405020304" pitchFamily="18" charset="0"/>
                <a:ea typeface="宋体" panose="02010600030101010101" pitchFamily="2" charset="-122"/>
              </a:rPr>
              <a:t>表</a:t>
            </a:r>
            <a:r>
              <a:rPr lang="en-US" altLang="zh-CN" sz="2000" b="1" dirty="0">
                <a:latin typeface="Times New Roman" panose="02020603050405020304" pitchFamily="18" charset="0"/>
                <a:ea typeface="宋体" panose="02010600030101010101" pitchFamily="2" charset="-122"/>
              </a:rPr>
              <a:t>6-2  </a:t>
            </a:r>
            <a:r>
              <a:rPr lang="zh-CN" altLang="en-US" sz="2000" b="1" dirty="0">
                <a:latin typeface="Times New Roman" panose="02020603050405020304" pitchFamily="18" charset="0"/>
                <a:ea typeface="宋体" panose="02010600030101010101" pitchFamily="2" charset="-122"/>
              </a:rPr>
              <a:t>医用高分子材料及用途</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p:nvPr/>
        </p:nvSpPr>
        <p:spPr>
          <a:xfrm>
            <a:off x="228600" y="952500"/>
            <a:ext cx="86868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这种塑料在一定条件下，可以逐渐降解，直至最终成为二氧化碳和水，从而解决塑料废弃物的污染问题。目前已经研制开发出的可降解塑料主要有两类：</a:t>
            </a:r>
            <a:r>
              <a:rPr lang="zh-CN" altLang="en-US" sz="2400" b="1" dirty="0">
                <a:solidFill>
                  <a:srgbClr val="6600CC"/>
                </a:solidFill>
                <a:latin typeface="Times New Roman" panose="02020603050405020304" pitchFamily="18" charset="0"/>
                <a:ea typeface="宋体" panose="02010600030101010101" pitchFamily="2" charset="-122"/>
              </a:rPr>
              <a:t>光降解塑料和生物降解塑料。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光降解塑料是在制造过程中，其高分子链上每隔一定距离被添加光敏基团的塑料。其在人工光线的照射下是安全、稳定的，但是在太阳光（含有紫外线）的照射下，光敏基团就能吸收足够的能量而使高分子链在此断裂，将高分子长碳链分裂成较低分子量的碎片，这些碎片在空气中进一步发生氧化作用，最终转化为二氧化碳和水。</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endParaRPr lang="zh-CN" altLang="en-US" sz="2400" b="1" dirty="0">
              <a:latin typeface="Times New Roman" panose="02020603050405020304" pitchFamily="18" charset="0"/>
              <a:ea typeface="宋体" panose="02010600030101010101" pitchFamily="2" charset="-122"/>
            </a:endParaRPr>
          </a:p>
        </p:txBody>
      </p:sp>
      <p:sp>
        <p:nvSpPr>
          <p:cNvPr id="143363" name="Rectangle 3"/>
          <p:cNvSpPr/>
          <p:nvPr/>
        </p:nvSpPr>
        <p:spPr>
          <a:xfrm>
            <a:off x="-15875" y="298450"/>
            <a:ext cx="3733800" cy="522288"/>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 2. </a:t>
            </a:r>
            <a:r>
              <a:rPr lang="zh-CN" altLang="en-US" sz="2800" b="1" dirty="0">
                <a:solidFill>
                  <a:srgbClr val="540C2B"/>
                </a:solidFill>
                <a:latin typeface="楷体_GB2312" panose="02010609030101010101" pitchFamily="49" charset="-122"/>
                <a:ea typeface="楷体_GB2312" panose="02010609030101010101" pitchFamily="49" charset="-122"/>
              </a:rPr>
              <a:t>可降解高分子</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3"/>
                                        </p:tgtEl>
                                        <p:attrNameLst>
                                          <p:attrName>style.visibility</p:attrName>
                                        </p:attrNameLst>
                                      </p:cBhvr>
                                      <p:to>
                                        <p:strVal val="visible"/>
                                      </p:to>
                                    </p:set>
                                    <p:animEffect transition="in" filter="wipe(left)">
                                      <p:cBhvr>
                                        <p:cTn id="7" dur="500"/>
                                        <p:tgtEl>
                                          <p:spTgt spid="1433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62">
                                            <p:txEl>
                                              <p:charRg st="0" end="90"/>
                                            </p:txEl>
                                          </p:spTgt>
                                        </p:tgtEl>
                                        <p:attrNameLst>
                                          <p:attrName>style.visibility</p:attrName>
                                        </p:attrNameLst>
                                      </p:cBhvr>
                                      <p:to>
                                        <p:strVal val="visible"/>
                                      </p:to>
                                    </p:set>
                                    <p:animEffect transition="in" filter="dissolve">
                                      <p:cBhvr>
                                        <p:cTn id="12" dur="500"/>
                                        <p:tgtEl>
                                          <p:spTgt spid="143362">
                                            <p:txEl>
                                              <p:charRg st="0"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362">
                                            <p:txEl>
                                              <p:charRg st="90" end="244"/>
                                            </p:txEl>
                                          </p:spTgt>
                                        </p:tgtEl>
                                        <p:attrNameLst>
                                          <p:attrName>style.visibility</p:attrName>
                                        </p:attrNameLst>
                                      </p:cBhvr>
                                      <p:to>
                                        <p:strVal val="visible"/>
                                      </p:to>
                                    </p:set>
                                    <p:animEffect transition="in" filter="dissolve">
                                      <p:cBhvr>
                                        <p:cTn id="17" dur="500"/>
                                        <p:tgtEl>
                                          <p:spTgt spid="143362">
                                            <p:txEl>
                                              <p:charRg st="90" end="2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build="p"/>
      <p:bldP spid="14336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p:nvPr/>
        </p:nvSpPr>
        <p:spPr>
          <a:xfrm>
            <a:off x="533400" y="762000"/>
            <a:ext cx="8153400" cy="4894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生物降解塑料是在高分子链上引入一些基团，以便空气、土壤中的微生物能使高分子长链断裂为碎片，进而将其完全分解。例如淀粉、纤维素等天然高分子在酶作用下，发生水解生成水溶性碎片分子，这些碎片分子进一步氧化最终分解成二氧化碳和水。</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生物降解塑料除了用于制作包装袋和农用地膜外，还可用作缓释载体，包埋化肥、农药、除草剂等。这些缓释载体在土壤中经生物降解，使化肥、农药、除草剂等包埋物逐步释放出来，使其效力更持久、更均匀；用生物降解聚合物制成的外科用手术线，可被人体吸收，伤口愈合后不用拆线。</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4386">
                                            <p:txEl>
                                              <p:charRg st="0" end="121"/>
                                            </p:txEl>
                                          </p:spTgt>
                                        </p:tgtEl>
                                        <p:attrNameLst>
                                          <p:attrName>style.visibility</p:attrName>
                                        </p:attrNameLst>
                                      </p:cBhvr>
                                      <p:to>
                                        <p:strVal val="visible"/>
                                      </p:to>
                                    </p:set>
                                    <p:animEffect transition="in" filter="dissolve">
                                      <p:cBhvr>
                                        <p:cTn id="7" dur="500"/>
                                        <p:tgtEl>
                                          <p:spTgt spid="144386">
                                            <p:txEl>
                                              <p:charRg st="0" end="1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4386">
                                            <p:txEl>
                                              <p:charRg st="121" end="259"/>
                                            </p:txEl>
                                          </p:spTgt>
                                        </p:tgtEl>
                                        <p:attrNameLst>
                                          <p:attrName>style.visibility</p:attrName>
                                        </p:attrNameLst>
                                      </p:cBhvr>
                                      <p:to>
                                        <p:strVal val="visible"/>
                                      </p:to>
                                    </p:set>
                                    <p:animEffect transition="in" filter="dissolve">
                                      <p:cBhvr>
                                        <p:cTn id="12" dur="500"/>
                                        <p:tgtEl>
                                          <p:spTgt spid="144386">
                                            <p:txEl>
                                              <p:charRg st="121" end="2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p:nvPr/>
        </p:nvSpPr>
        <p:spPr>
          <a:xfrm>
            <a:off x="533400" y="11430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指吸收超过自重几十、几百倍甚至上千倍的水，体积虽然膨胀，但加压却挤不出水来的高分子材料。这类奇特的高分子材料可用淀粉、纤维素等天然高分子与丙烯酸、苯乙烯磺酸进行接枝共聚得到，或用聚乙烯醇与聚丙烯酸盐交联得到。</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高吸水性高分子的吸水机制尚不清楚，可能与高分子交联后结构中立体网络扩充有关，如图</a:t>
            </a:r>
            <a:r>
              <a:rPr lang="en-US" altLang="zh-CN" sz="2400" b="1" dirty="0">
                <a:latin typeface="Times New Roman" panose="02020603050405020304" pitchFamily="18" charset="0"/>
                <a:ea typeface="宋体" panose="02010600030101010101" pitchFamily="2" charset="-122"/>
              </a:rPr>
              <a:t>6-19</a:t>
            </a:r>
            <a:r>
              <a:rPr lang="zh-CN" altLang="en-US" sz="2400" b="1" dirty="0">
                <a:latin typeface="Times New Roman" panose="02020603050405020304" pitchFamily="18" charset="0"/>
                <a:ea typeface="宋体" panose="02010600030101010101" pitchFamily="2" charset="-122"/>
              </a:rPr>
              <a:t>所示。高吸水性高分子是一种很好的保鲜包装材料，也适宜做人造皮肤，还可以利用其来防止土地沙漠化。</a:t>
            </a:r>
            <a:endParaRPr lang="zh-CN" altLang="en-US" sz="2400" b="1" dirty="0">
              <a:latin typeface="Times New Roman" panose="02020603050405020304" pitchFamily="18" charset="0"/>
              <a:ea typeface="宋体" panose="02010600030101010101" pitchFamily="2" charset="-122"/>
            </a:endParaRPr>
          </a:p>
        </p:txBody>
      </p:sp>
      <p:sp>
        <p:nvSpPr>
          <p:cNvPr id="145411" name="Rectangle 3"/>
          <p:cNvSpPr/>
          <p:nvPr/>
        </p:nvSpPr>
        <p:spPr>
          <a:xfrm>
            <a:off x="0" y="508000"/>
            <a:ext cx="4191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 </a:t>
            </a:r>
            <a:r>
              <a:rPr lang="zh-CN" altLang="en-US" sz="2800" b="1" dirty="0">
                <a:solidFill>
                  <a:srgbClr val="540C2B"/>
                </a:solidFill>
                <a:latin typeface="楷体_GB2312" panose="02010609030101010101" pitchFamily="49" charset="-122"/>
                <a:ea typeface="楷体_GB2312" panose="02010609030101010101" pitchFamily="49" charset="-122"/>
              </a:rPr>
              <a:t>高吸水性高分子</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11"/>
                                        </p:tgtEl>
                                        <p:attrNameLst>
                                          <p:attrName>style.visibility</p:attrName>
                                        </p:attrNameLst>
                                      </p:cBhvr>
                                      <p:to>
                                        <p:strVal val="visible"/>
                                      </p:to>
                                    </p:set>
                                    <p:animEffect transition="in" filter="wipe(left)">
                                      <p:cBhvr>
                                        <p:cTn id="7" dur="500"/>
                                        <p:tgtEl>
                                          <p:spTgt spid="1454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5410">
                                            <p:txEl>
                                              <p:charRg st="0" end="114"/>
                                            </p:txEl>
                                          </p:spTgt>
                                        </p:tgtEl>
                                        <p:attrNameLst>
                                          <p:attrName>style.visibility</p:attrName>
                                        </p:attrNameLst>
                                      </p:cBhvr>
                                      <p:to>
                                        <p:strVal val="visible"/>
                                      </p:to>
                                    </p:set>
                                    <p:animEffect transition="in" filter="dissolve">
                                      <p:cBhvr>
                                        <p:cTn id="12" dur="500"/>
                                        <p:tgtEl>
                                          <p:spTgt spid="145410">
                                            <p:txEl>
                                              <p:charRg st="0" end="1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5410">
                                            <p:txEl>
                                              <p:charRg st="114" end="213"/>
                                            </p:txEl>
                                          </p:spTgt>
                                        </p:tgtEl>
                                        <p:attrNameLst>
                                          <p:attrName>style.visibility</p:attrName>
                                        </p:attrNameLst>
                                      </p:cBhvr>
                                      <p:to>
                                        <p:strVal val="visible"/>
                                      </p:to>
                                    </p:set>
                                    <p:animEffect transition="in" filter="dissolve">
                                      <p:cBhvr>
                                        <p:cTn id="17" dur="500"/>
                                        <p:tgtEl>
                                          <p:spTgt spid="145410">
                                            <p:txEl>
                                              <p:charRg st="114" end="2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build="p"/>
      <p:bldP spid="14541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p:nvPr/>
        </p:nvSpPr>
        <p:spPr>
          <a:xfrm>
            <a:off x="152400" y="1714500"/>
            <a:ext cx="8915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科学家们正集中力量研制使桥梁、高层建筑设施以及地下管道等能诊断其“健康”状况，并能自行“医治疾病”的材料。英国伊利斯诺大学的建筑研究中心开发出两种“自愈合”纤维，两种纤维能分别感知混凝土中的裂纹和钢筋的腐蚀，并能自动黏合混凝土的裂纹或阻止钢筋的腐蚀。</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146435" name="Rectangle 3"/>
          <p:cNvSpPr/>
          <p:nvPr/>
        </p:nvSpPr>
        <p:spPr>
          <a:xfrm>
            <a:off x="0" y="800100"/>
            <a:ext cx="3429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建筑智能材料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
        <p:nvSpPr>
          <p:cNvPr id="146436" name="Text Box 4"/>
          <p:cNvSpPr txBox="1"/>
          <p:nvPr/>
        </p:nvSpPr>
        <p:spPr>
          <a:xfrm>
            <a:off x="-76200" y="155575"/>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6.3.4    </a:t>
            </a:r>
            <a:r>
              <a:rPr lang="zh-CN" altLang="en-US" sz="3200" b="1" dirty="0">
                <a:solidFill>
                  <a:schemeClr val="bg1"/>
                </a:solidFill>
                <a:latin typeface="Times New Roman" panose="02020603050405020304" pitchFamily="18" charset="0"/>
                <a:ea typeface="楷体_GB2312" panose="02010609030101010101" pitchFamily="49" charset="-122"/>
              </a:rPr>
              <a:t>高分子智能材料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46436"/>
                                        </p:tgtEl>
                                        <p:attrNameLst>
                                          <p:attrName>style.visibility</p:attrName>
                                        </p:attrNameLst>
                                      </p:cBhvr>
                                      <p:to>
                                        <p:strVal val="visible"/>
                                      </p:to>
                                    </p:set>
                                    <p:anim calcmode="lin" valueType="num">
                                      <p:cBhvr>
                                        <p:cTn id="7" dur="1000" fill="hold"/>
                                        <p:tgtEl>
                                          <p:spTgt spid="146436"/>
                                        </p:tgtEl>
                                        <p:attrNameLst>
                                          <p:attrName>ppt_w</p:attrName>
                                        </p:attrNameLst>
                                      </p:cBhvr>
                                      <p:tavLst>
                                        <p:tav tm="0">
                                          <p:val>
                                            <p:fltVal val="0.000000"/>
                                          </p:val>
                                        </p:tav>
                                        <p:tav tm="100000">
                                          <p:val>
                                            <p:strVal val="#ppt_w"/>
                                          </p:val>
                                        </p:tav>
                                      </p:tavLst>
                                    </p:anim>
                                    <p:anim calcmode="lin" valueType="num">
                                      <p:cBhvr>
                                        <p:cTn id="8" dur="1000" fill="hold"/>
                                        <p:tgtEl>
                                          <p:spTgt spid="146436"/>
                                        </p:tgtEl>
                                        <p:attrNameLst>
                                          <p:attrName>ppt_h</p:attrName>
                                        </p:attrNameLst>
                                      </p:cBhvr>
                                      <p:tavLst>
                                        <p:tav tm="0">
                                          <p:val>
                                            <p:fltVal val="0.000000"/>
                                          </p:val>
                                        </p:tav>
                                        <p:tav tm="100000">
                                          <p:val>
                                            <p:strVal val="#ppt_h"/>
                                          </p:val>
                                        </p:tav>
                                      </p:tavLst>
                                    </p:anim>
                                    <p:anim calcmode="lin" valueType="num">
                                      <p:cBhvr>
                                        <p:cTn id="9" dur="1000" fill="hold"/>
                                        <p:tgtEl>
                                          <p:spTgt spid="146436"/>
                                        </p:tgtEl>
                                        <p:attrNameLst>
                                          <p:attrName>style.rotation</p:attrName>
                                        </p:attrNameLst>
                                      </p:cBhvr>
                                      <p:tavLst>
                                        <p:tav tm="0">
                                          <p:val>
                                            <p:fltVal val="90.000000"/>
                                          </p:val>
                                        </p:tav>
                                        <p:tav tm="100000">
                                          <p:val>
                                            <p:fltVal val="0.000000"/>
                                          </p:val>
                                        </p:tav>
                                      </p:tavLst>
                                    </p:anim>
                                    <p:animEffect transition="in" filter="fade">
                                      <p:cBhvr>
                                        <p:cTn id="10" dur="1000"/>
                                        <p:tgtEl>
                                          <p:spTgt spid="14643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6435"/>
                                        </p:tgtEl>
                                        <p:attrNameLst>
                                          <p:attrName>style.visibility</p:attrName>
                                        </p:attrNameLst>
                                      </p:cBhvr>
                                      <p:to>
                                        <p:strVal val="visible"/>
                                      </p:to>
                                    </p:set>
                                    <p:animEffect transition="in" filter="wipe(left)">
                                      <p:cBhvr>
                                        <p:cTn id="15" dur="500"/>
                                        <p:tgtEl>
                                          <p:spTgt spid="14643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46434">
                                            <p:txEl>
                                              <p:charRg st="0" end="133"/>
                                            </p:txEl>
                                          </p:spTgt>
                                        </p:tgtEl>
                                        <p:attrNameLst>
                                          <p:attrName>style.visibility</p:attrName>
                                        </p:attrNameLst>
                                      </p:cBhvr>
                                      <p:to>
                                        <p:strVal val="visible"/>
                                      </p:to>
                                    </p:set>
                                    <p:animEffect transition="in" filter="dissolve">
                                      <p:cBhvr>
                                        <p:cTn id="20" dur="500"/>
                                        <p:tgtEl>
                                          <p:spTgt spid="146434">
                                            <p:txEl>
                                              <p:charRg st="0" end="13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46434">
                                            <p:txEl>
                                              <p:charRg st="133" end="142"/>
                                            </p:txEl>
                                          </p:spTgt>
                                        </p:tgtEl>
                                        <p:attrNameLst>
                                          <p:attrName>style.visibility</p:attrName>
                                        </p:attrNameLst>
                                      </p:cBhvr>
                                      <p:to>
                                        <p:strVal val="visible"/>
                                      </p:to>
                                    </p:set>
                                    <p:animEffect transition="in" filter="dissolve">
                                      <p:cBhvr>
                                        <p:cTn id="25" dur="500"/>
                                        <p:tgtEl>
                                          <p:spTgt spid="146434">
                                            <p:txEl>
                                              <p:charRg st="133"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build="p"/>
      <p:bldP spid="146435" grpId="0" animBg="1"/>
      <p:bldP spid="14643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p:nvPr/>
        </p:nvSpPr>
        <p:spPr>
          <a:xfrm>
            <a:off x="152400" y="1323975"/>
            <a:ext cx="8915400" cy="24923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德国研制的一种智能塑料，可以按人们的需要时而变硬时而变软。这种塑料能自行消除外来的撞击，特别适合于车辆的缓冲器，用这种塑料制成的油箱即使被坦克压过也不会破裂，用于建房则抗震性能特强。住宅用的“智能墙纸”，可以使洗衣机等机器产生的噪减弱。</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6434">
                                            <p:txEl>
                                              <p:charRg st="0" end="125"/>
                                            </p:txEl>
                                          </p:spTgt>
                                        </p:tgtEl>
                                        <p:attrNameLst>
                                          <p:attrName>style.visibility</p:attrName>
                                        </p:attrNameLst>
                                      </p:cBhvr>
                                      <p:to>
                                        <p:strVal val="visible"/>
                                      </p:to>
                                    </p:set>
                                    <p:animEffect transition="in" filter="dissolve">
                                      <p:cBhvr>
                                        <p:cTn id="7" dur="500"/>
                                        <p:tgtEl>
                                          <p:spTgt spid="146434">
                                            <p:txEl>
                                              <p:charRg st="0"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p:nvPr/>
        </p:nvSpPr>
        <p:spPr>
          <a:xfrm>
            <a:off x="533400" y="11430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当飞机在飞行中遇到涡流或猛烈的逆风时，机翼中的智能材料能迅速变形，并带动机翼改变形状，从而消除涡流或逆风的影响，使飞机仍能平稳地飞行。此外，用智能材料制成涂料涂于机身和机翼上，当机身或机翼内出现异常时，涂料会改变颜色，以此告警。</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美国密执安州立大学的研究人员，正在研究一种能自动加固直升飞机水平旋翼的叶片。弗吉尼亚理工学院和州立大学的智能材料研究中心试图发明能减弱某些振动的飞行座舱壁，使飞机能平稳飞行。</a:t>
            </a:r>
            <a:endParaRPr lang="zh-CN" altLang="en-US" sz="2400" b="1" dirty="0">
              <a:latin typeface="Times New Roman" panose="02020603050405020304" pitchFamily="18" charset="0"/>
              <a:ea typeface="宋体" panose="02010600030101010101" pitchFamily="2" charset="-122"/>
            </a:endParaRPr>
          </a:p>
        </p:txBody>
      </p:sp>
      <p:sp>
        <p:nvSpPr>
          <p:cNvPr id="147459" name="Rectangle 3"/>
          <p:cNvSpPr/>
          <p:nvPr/>
        </p:nvSpPr>
        <p:spPr>
          <a:xfrm>
            <a:off x="0" y="508000"/>
            <a:ext cx="38862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zh-CN" altLang="en-US" sz="2800" b="1" dirty="0">
                <a:solidFill>
                  <a:srgbClr val="540C2B"/>
                </a:solidFill>
                <a:latin typeface="楷体_GB2312" panose="02010609030101010101" pitchFamily="49" charset="-122"/>
                <a:ea typeface="楷体_GB2312" panose="02010609030101010101" pitchFamily="49" charset="-122"/>
              </a:rPr>
              <a:t>航空智能材料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7459"/>
                                        </p:tgtEl>
                                        <p:attrNameLst>
                                          <p:attrName>style.visibility</p:attrName>
                                        </p:attrNameLst>
                                      </p:cBhvr>
                                      <p:to>
                                        <p:strVal val="visible"/>
                                      </p:to>
                                    </p:set>
                                    <p:animEffect transition="in" filter="wipe(left)">
                                      <p:cBhvr>
                                        <p:cTn id="7" dur="500"/>
                                        <p:tgtEl>
                                          <p:spTgt spid="1474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458">
                                            <p:txEl>
                                              <p:charRg st="0" end="122"/>
                                            </p:txEl>
                                          </p:spTgt>
                                        </p:tgtEl>
                                        <p:attrNameLst>
                                          <p:attrName>style.visibility</p:attrName>
                                        </p:attrNameLst>
                                      </p:cBhvr>
                                      <p:to>
                                        <p:strVal val="visible"/>
                                      </p:to>
                                    </p:set>
                                    <p:animEffect transition="in" filter="dissolve">
                                      <p:cBhvr>
                                        <p:cTn id="12" dur="500"/>
                                        <p:tgtEl>
                                          <p:spTgt spid="147458">
                                            <p:txEl>
                                              <p:charRg st="0"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7458">
                                            <p:txEl>
                                              <p:charRg st="122" end="217"/>
                                            </p:txEl>
                                          </p:spTgt>
                                        </p:tgtEl>
                                        <p:attrNameLst>
                                          <p:attrName>style.visibility</p:attrName>
                                        </p:attrNameLst>
                                      </p:cBhvr>
                                      <p:to>
                                        <p:strVal val="visible"/>
                                      </p:to>
                                    </p:set>
                                    <p:animEffect transition="in" filter="dissolve">
                                      <p:cBhvr>
                                        <p:cTn id="17" dur="500"/>
                                        <p:tgtEl>
                                          <p:spTgt spid="147458">
                                            <p:txEl>
                                              <p:charRg st="122" end="2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build="p"/>
      <p:bldP spid="14745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p:nvPr/>
        </p:nvSpPr>
        <p:spPr>
          <a:xfrm>
            <a:off x="533400" y="1143000"/>
            <a:ext cx="81534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日本用高分子聚碳酸酯与液晶结合而成的液晶膜或人工分离膜，已在医药工业得到应用。比如，在医疗中，将薄膜做成胶囊状，把消炎剂放入里面，然后将胶囊埋入发炎部位，胶囊可依据患处发炎而引起的温度变化，及时释放出药剂，达到预期的治疗目的和效果。</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意大利的研究人员根据人类皮肤表皮和真皮的特点，制造出一种人造皮肤，其由外层和内层组成，不仅富有弹性，而且具有灵敏的触感功能。</a:t>
            </a:r>
            <a:endParaRPr lang="zh-CN" altLang="en-US" sz="2400" b="1" dirty="0">
              <a:latin typeface="Times New Roman" panose="02020603050405020304" pitchFamily="18" charset="0"/>
              <a:ea typeface="宋体" panose="02010600030101010101" pitchFamily="2" charset="-122"/>
            </a:endParaRPr>
          </a:p>
        </p:txBody>
      </p:sp>
      <p:sp>
        <p:nvSpPr>
          <p:cNvPr id="148483" name="Rectangle 3"/>
          <p:cNvSpPr/>
          <p:nvPr/>
        </p:nvSpPr>
        <p:spPr>
          <a:xfrm>
            <a:off x="0" y="5080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a:t>
            </a:r>
            <a:r>
              <a:rPr lang="zh-CN" altLang="en-US" sz="2800" b="1" dirty="0">
                <a:solidFill>
                  <a:srgbClr val="540C2B"/>
                </a:solidFill>
                <a:latin typeface="楷体_GB2312" panose="02010609030101010101" pitchFamily="49" charset="-122"/>
                <a:ea typeface="楷体_GB2312" panose="02010609030101010101" pitchFamily="49" charset="-122"/>
              </a:rPr>
              <a:t>医疗智能材料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3"/>
                                        </p:tgtEl>
                                        <p:attrNameLst>
                                          <p:attrName>style.visibility</p:attrName>
                                        </p:attrNameLst>
                                      </p:cBhvr>
                                      <p:to>
                                        <p:strVal val="visible"/>
                                      </p:to>
                                    </p:set>
                                    <p:animEffect transition="in" filter="wipe(left)">
                                      <p:cBhvr>
                                        <p:cTn id="7" dur="500"/>
                                        <p:tgtEl>
                                          <p:spTgt spid="14848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482">
                                            <p:txEl>
                                              <p:charRg st="0" end="126"/>
                                            </p:txEl>
                                          </p:spTgt>
                                        </p:tgtEl>
                                        <p:attrNameLst>
                                          <p:attrName>style.visibility</p:attrName>
                                        </p:attrNameLst>
                                      </p:cBhvr>
                                      <p:to>
                                        <p:strVal val="visible"/>
                                      </p:to>
                                    </p:set>
                                    <p:animEffect transition="in" filter="dissolve">
                                      <p:cBhvr>
                                        <p:cTn id="12" dur="500"/>
                                        <p:tgtEl>
                                          <p:spTgt spid="148482">
                                            <p:txEl>
                                              <p:charRg st="0" end="1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8482">
                                            <p:txEl>
                                              <p:charRg st="126" end="197"/>
                                            </p:txEl>
                                          </p:spTgt>
                                        </p:tgtEl>
                                        <p:attrNameLst>
                                          <p:attrName>style.visibility</p:attrName>
                                        </p:attrNameLst>
                                      </p:cBhvr>
                                      <p:to>
                                        <p:strVal val="visible"/>
                                      </p:to>
                                    </p:set>
                                    <p:animEffect transition="in" filter="dissolve">
                                      <p:cBhvr>
                                        <p:cTn id="17" dur="500"/>
                                        <p:tgtEl>
                                          <p:spTgt spid="148482">
                                            <p:txEl>
                                              <p:charRg st="126"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build="p"/>
      <p:bldP spid="14848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矩形 3"/>
          <p:cNvSpPr/>
          <p:nvPr/>
        </p:nvSpPr>
        <p:spPr>
          <a:xfrm>
            <a:off x="304800" y="1206500"/>
            <a:ext cx="8305800" cy="42465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复合材料是由两种或两种以上的不同材料组合而成的一种多相固体材料。复合材料既能保持各组成材料原有的长处，又能弥补其不足。例如，金属材料易腐蚀，陶瓷材料易碎裂，高分子材料不耐热、易老化等缺点，都可以通过复合的手段加以改善或克服。</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复合材料可分为</a:t>
            </a:r>
            <a:r>
              <a:rPr lang="zh-CN" altLang="en-US" sz="2400" b="1" dirty="0">
                <a:solidFill>
                  <a:srgbClr val="6600CC"/>
                </a:solidFill>
                <a:latin typeface="Arial" panose="020B0604020202020204" pitchFamily="34" charset="0"/>
                <a:ea typeface="宋体" panose="02010600030101010101" pitchFamily="2" charset="-122"/>
              </a:rPr>
              <a:t>聚合物基复合材料、金属基复合材料和陶瓷基复合材料</a:t>
            </a:r>
            <a:r>
              <a:rPr lang="zh-CN" altLang="en-US" sz="2400" b="1" dirty="0">
                <a:latin typeface="Arial" panose="020B0604020202020204" pitchFamily="34" charset="0"/>
                <a:ea typeface="宋体" panose="02010600030101010101" pitchFamily="2" charset="-122"/>
              </a:rPr>
              <a:t>，可以根据对材料性能、结构的需要来进行设计和制造，得到综合性能优异的新型材料，为新材料的研制和使用提供了更大的自由度，开辟了广阔的应用前景。</a:t>
            </a:r>
            <a:endParaRPr lang="zh-CN" altLang="en-US" sz="2400" b="1" dirty="0">
              <a:latin typeface="Arial" panose="020B0604020202020204" pitchFamily="34" charset="0"/>
              <a:ea typeface="宋体" panose="02010600030101010101" pitchFamily="2" charset="-122"/>
            </a:endParaRPr>
          </a:p>
        </p:txBody>
      </p:sp>
      <p:grpSp>
        <p:nvGrpSpPr>
          <p:cNvPr id="94211" name="Group 3"/>
          <p:cNvGrpSpPr/>
          <p:nvPr/>
        </p:nvGrpSpPr>
        <p:grpSpPr>
          <a:xfrm>
            <a:off x="1371600" y="317500"/>
            <a:ext cx="6705600" cy="663575"/>
            <a:chOff x="912" y="144"/>
            <a:chExt cx="4224" cy="502"/>
          </a:xfrm>
        </p:grpSpPr>
        <p:sp>
          <p:nvSpPr>
            <p:cNvPr id="94212" name="AutoShape 4"/>
            <p:cNvSpPr/>
            <p:nvPr/>
          </p:nvSpPr>
          <p:spPr>
            <a:xfrm>
              <a:off x="912" y="144"/>
              <a:ext cx="4224" cy="502"/>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94213" name="Rectangle 5"/>
            <p:cNvSpPr/>
            <p:nvPr/>
          </p:nvSpPr>
          <p:spPr>
            <a:xfrm>
              <a:off x="1824" y="192"/>
              <a:ext cx="2688"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6.4   </a:t>
              </a:r>
              <a:r>
                <a:rPr lang="zh-CN" altLang="en-US" sz="3200" b="1" dirty="0">
                  <a:solidFill>
                    <a:schemeClr val="bg1"/>
                  </a:solidFill>
                  <a:latin typeface="Times New Roman" panose="02020603050405020304" pitchFamily="18" charset="0"/>
                  <a:ea typeface="楷体_GB2312" panose="02010609030101010101" pitchFamily="49" charset="-122"/>
                </a:rPr>
                <a:t>复合材料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02">
                                            <p:txEl>
                                              <p:charRg st="0" end="119"/>
                                            </p:txEl>
                                          </p:spTgt>
                                        </p:tgtEl>
                                        <p:attrNameLst>
                                          <p:attrName>style.visibility</p:attrName>
                                        </p:attrNameLst>
                                      </p:cBhvr>
                                      <p:to>
                                        <p:strVal val="visible"/>
                                      </p:to>
                                    </p:set>
                                    <p:animEffect transition="in" filter="dissolve">
                                      <p:cBhvr>
                                        <p:cTn id="7" dur="500"/>
                                        <p:tgtEl>
                                          <p:spTgt spid="153602">
                                            <p:txEl>
                                              <p:charRg st="0" end="1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02">
                                            <p:txEl>
                                              <p:charRg st="119" end="228"/>
                                            </p:txEl>
                                          </p:spTgt>
                                        </p:tgtEl>
                                        <p:attrNameLst>
                                          <p:attrName>style.visibility</p:attrName>
                                        </p:attrNameLst>
                                      </p:cBhvr>
                                      <p:to>
                                        <p:strVal val="visible"/>
                                      </p:to>
                                    </p:set>
                                    <p:animEffect transition="in" filter="dissolve">
                                      <p:cBhvr>
                                        <p:cTn id="12" dur="500"/>
                                        <p:tgtEl>
                                          <p:spTgt spid="153602">
                                            <p:txEl>
                                              <p:charRg st="119"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矩形 3"/>
          <p:cNvSpPr/>
          <p:nvPr/>
        </p:nvSpPr>
        <p:spPr>
          <a:xfrm>
            <a:off x="304800" y="1841500"/>
            <a:ext cx="8305800" cy="19383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复合材料的组分种类较多，但都有两大组分：</a:t>
            </a:r>
            <a:r>
              <a:rPr lang="zh-CN" altLang="en-US" sz="2400" b="1" dirty="0">
                <a:solidFill>
                  <a:srgbClr val="6600CC"/>
                </a:solidFill>
                <a:latin typeface="Arial" panose="020B0604020202020204" pitchFamily="34" charset="0"/>
                <a:ea typeface="宋体" panose="02010600030101010101" pitchFamily="2" charset="-122"/>
              </a:rPr>
              <a:t>基体材料，</a:t>
            </a:r>
            <a:r>
              <a:rPr lang="zh-CN" altLang="en-US" sz="2400" b="1" dirty="0">
                <a:latin typeface="Arial" panose="020B0604020202020204" pitchFamily="34" charset="0"/>
                <a:ea typeface="宋体" panose="02010600030101010101" pitchFamily="2" charset="-122"/>
              </a:rPr>
              <a:t>起黏结作用；</a:t>
            </a:r>
            <a:r>
              <a:rPr lang="zh-CN" altLang="en-US" sz="2400" b="1" dirty="0">
                <a:solidFill>
                  <a:srgbClr val="6600CC"/>
                </a:solidFill>
                <a:latin typeface="Arial" panose="020B0604020202020204" pitchFamily="34" charset="0"/>
                <a:ea typeface="宋体" panose="02010600030101010101" pitchFamily="2" charset="-122"/>
              </a:rPr>
              <a:t>增强材料</a:t>
            </a:r>
            <a:r>
              <a:rPr lang="zh-CN" altLang="en-US" sz="2400" b="1" dirty="0">
                <a:latin typeface="Arial" panose="020B0604020202020204" pitchFamily="34" charset="0"/>
                <a:ea typeface="宋体" panose="02010600030101010101" pitchFamily="2" charset="-122"/>
              </a:rPr>
              <a:t>，起增强作用。例如在钢筋水泥中，钢筋是增强材料，水泥是基体材料。增强材料分散分布在整个连续的基体材料中，各相之间存在着相界面。</a:t>
            </a:r>
            <a:endParaRPr lang="zh-CN" altLang="en-US" sz="2400" b="1" dirty="0">
              <a:latin typeface="Arial" panose="020B0604020202020204" pitchFamily="34" charset="0"/>
              <a:ea typeface="宋体" panose="02010600030101010101" pitchFamily="2" charset="-122"/>
            </a:endParaRPr>
          </a:p>
        </p:txBody>
      </p:sp>
      <p:sp>
        <p:nvSpPr>
          <p:cNvPr id="154630" name="Text Box 6"/>
          <p:cNvSpPr txBox="1"/>
          <p:nvPr/>
        </p:nvSpPr>
        <p:spPr>
          <a:xfrm>
            <a:off x="0" y="1016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6.4.1   </a:t>
            </a:r>
            <a:r>
              <a:rPr lang="zh-CN" altLang="en-US" sz="3200" b="1" dirty="0">
                <a:solidFill>
                  <a:schemeClr val="bg1"/>
                </a:solidFill>
                <a:latin typeface="Times New Roman" panose="02020603050405020304" pitchFamily="18" charset="0"/>
                <a:ea typeface="楷体_GB2312" panose="02010609030101010101" pitchFamily="49" charset="-122"/>
              </a:rPr>
              <a:t>基体材料和增强材料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54630"/>
                                        </p:tgtEl>
                                        <p:attrNameLst>
                                          <p:attrName>style.visibility</p:attrName>
                                        </p:attrNameLst>
                                      </p:cBhvr>
                                      <p:to>
                                        <p:strVal val="visible"/>
                                      </p:to>
                                    </p:set>
                                    <p:anim calcmode="lin" valueType="num">
                                      <p:cBhvr>
                                        <p:cTn id="7" dur="1000" fill="hold"/>
                                        <p:tgtEl>
                                          <p:spTgt spid="154630"/>
                                        </p:tgtEl>
                                        <p:attrNameLst>
                                          <p:attrName>ppt_w</p:attrName>
                                        </p:attrNameLst>
                                      </p:cBhvr>
                                      <p:tavLst>
                                        <p:tav tm="0">
                                          <p:val>
                                            <p:fltVal val="0.000000"/>
                                          </p:val>
                                        </p:tav>
                                        <p:tav tm="100000">
                                          <p:val>
                                            <p:strVal val="#ppt_w"/>
                                          </p:val>
                                        </p:tav>
                                      </p:tavLst>
                                    </p:anim>
                                    <p:anim calcmode="lin" valueType="num">
                                      <p:cBhvr>
                                        <p:cTn id="8" dur="1000" fill="hold"/>
                                        <p:tgtEl>
                                          <p:spTgt spid="154630"/>
                                        </p:tgtEl>
                                        <p:attrNameLst>
                                          <p:attrName>ppt_h</p:attrName>
                                        </p:attrNameLst>
                                      </p:cBhvr>
                                      <p:tavLst>
                                        <p:tav tm="0">
                                          <p:val>
                                            <p:fltVal val="0.000000"/>
                                          </p:val>
                                        </p:tav>
                                        <p:tav tm="100000">
                                          <p:val>
                                            <p:strVal val="#ppt_h"/>
                                          </p:val>
                                        </p:tav>
                                      </p:tavLst>
                                    </p:anim>
                                    <p:anim calcmode="lin" valueType="num">
                                      <p:cBhvr>
                                        <p:cTn id="9" dur="1000" fill="hold"/>
                                        <p:tgtEl>
                                          <p:spTgt spid="154630"/>
                                        </p:tgtEl>
                                        <p:attrNameLst>
                                          <p:attrName>style.rotation</p:attrName>
                                        </p:attrNameLst>
                                      </p:cBhvr>
                                      <p:tavLst>
                                        <p:tav tm="0">
                                          <p:val>
                                            <p:fltVal val="90.000000"/>
                                          </p:val>
                                        </p:tav>
                                        <p:tav tm="100000">
                                          <p:val>
                                            <p:fltVal val="0.000000"/>
                                          </p:val>
                                        </p:tav>
                                      </p:tavLst>
                                    </p:anim>
                                    <p:animEffect transition="in" filter="fade">
                                      <p:cBhvr>
                                        <p:cTn id="10" dur="1000"/>
                                        <p:tgtEl>
                                          <p:spTgt spid="15463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54626">
                                            <p:txEl>
                                              <p:charRg st="0" end="106"/>
                                            </p:txEl>
                                          </p:spTgt>
                                        </p:tgtEl>
                                        <p:attrNameLst>
                                          <p:attrName>style.visibility</p:attrName>
                                        </p:attrNameLst>
                                      </p:cBhvr>
                                      <p:to>
                                        <p:strVal val="visible"/>
                                      </p:to>
                                    </p:set>
                                    <p:animEffect transition="in" filter="dissolve">
                                      <p:cBhvr>
                                        <p:cTn id="15" dur="500"/>
                                        <p:tgtEl>
                                          <p:spTgt spid="154626">
                                            <p:txEl>
                                              <p:charRg st="0"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build="p"/>
      <p:bldP spid="15463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p:nvPr/>
        </p:nvSpPr>
        <p:spPr>
          <a:xfrm>
            <a:off x="533400" y="1651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基体材料可采用</a:t>
            </a:r>
            <a:r>
              <a:rPr lang="zh-CN" altLang="en-US" sz="2400" b="1" dirty="0">
                <a:solidFill>
                  <a:srgbClr val="6600CC"/>
                </a:solidFill>
                <a:latin typeface="Times New Roman" panose="02020603050405020304" pitchFamily="18" charset="0"/>
                <a:ea typeface="宋体" panose="02010600030101010101" pitchFamily="2" charset="-122"/>
              </a:rPr>
              <a:t>高分子聚合物、金属材料和无机非金属材料。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基体材料的作用主要有三种：</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(1)  </a:t>
            </a:r>
            <a:r>
              <a:rPr lang="zh-CN" altLang="en-US" sz="2400" b="1" dirty="0">
                <a:latin typeface="Times New Roman" panose="02020603050405020304" pitchFamily="18" charset="0"/>
                <a:ea typeface="宋体" panose="02010600030101010101" pitchFamily="2" charset="-122"/>
              </a:rPr>
              <a:t>把增强材料黏在一起；</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(2)  </a:t>
            </a:r>
            <a:r>
              <a:rPr lang="zh-CN" altLang="en-US" sz="2400" b="1" dirty="0">
                <a:latin typeface="Times New Roman" panose="02020603050405020304" pitchFamily="18" charset="0"/>
                <a:ea typeface="宋体" panose="02010600030101010101" pitchFamily="2" charset="-122"/>
              </a:rPr>
              <a:t>向增强材料传递载荷和均衡载荷；</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en-US" altLang="zh-CN" sz="2400" b="1" dirty="0">
                <a:latin typeface="Times New Roman" panose="02020603050405020304" pitchFamily="18" charset="0"/>
                <a:ea typeface="宋体" panose="02010600030101010101" pitchFamily="2" charset="-122"/>
              </a:rPr>
              <a:t>      (3)   </a:t>
            </a:r>
            <a:r>
              <a:rPr lang="zh-CN" altLang="en-US" sz="2400" b="1" dirty="0">
                <a:latin typeface="Times New Roman" panose="02020603050405020304" pitchFamily="18" charset="0"/>
                <a:ea typeface="宋体" panose="02010600030101010101" pitchFamily="2" charset="-122"/>
              </a:rPr>
              <a:t>保护增强材料不受环境破坏。</a:t>
            </a:r>
            <a:endParaRPr lang="zh-CN" altLang="en-US" sz="2400" b="1" dirty="0">
              <a:latin typeface="Times New Roman" panose="02020603050405020304" pitchFamily="18" charset="0"/>
              <a:ea typeface="宋体" panose="02010600030101010101" pitchFamily="2" charset="-122"/>
            </a:endParaRPr>
          </a:p>
        </p:txBody>
      </p:sp>
      <p:sp>
        <p:nvSpPr>
          <p:cNvPr id="149507" name="Rectangle 3"/>
          <p:cNvSpPr/>
          <p:nvPr/>
        </p:nvSpPr>
        <p:spPr>
          <a:xfrm>
            <a:off x="0" y="889000"/>
            <a:ext cx="2971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1.基体材料 </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7"/>
                                        </p:tgtEl>
                                        <p:attrNameLst>
                                          <p:attrName>style.visibility</p:attrName>
                                        </p:attrNameLst>
                                      </p:cBhvr>
                                      <p:to>
                                        <p:strVal val="visible"/>
                                      </p:to>
                                    </p:set>
                                    <p:animEffect transition="in" filter="wipe(left)">
                                      <p:cBhvr>
                                        <p:cTn id="7" dur="500"/>
                                        <p:tgtEl>
                                          <p:spTgt spid="14950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9506">
                                            <p:txEl>
                                              <p:charRg st="0" end="35"/>
                                            </p:txEl>
                                          </p:spTgt>
                                        </p:tgtEl>
                                        <p:attrNameLst>
                                          <p:attrName>style.visibility</p:attrName>
                                        </p:attrNameLst>
                                      </p:cBhvr>
                                      <p:to>
                                        <p:strVal val="visible"/>
                                      </p:to>
                                    </p:set>
                                    <p:animEffect transition="in" filter="dissolve">
                                      <p:cBhvr>
                                        <p:cTn id="12" dur="500"/>
                                        <p:tgtEl>
                                          <p:spTgt spid="149506">
                                            <p:txEl>
                                              <p:charRg st="0"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9506">
                                            <p:txEl>
                                              <p:charRg st="35" end="56"/>
                                            </p:txEl>
                                          </p:spTgt>
                                        </p:tgtEl>
                                        <p:attrNameLst>
                                          <p:attrName>style.visibility</p:attrName>
                                        </p:attrNameLst>
                                      </p:cBhvr>
                                      <p:to>
                                        <p:strVal val="visible"/>
                                      </p:to>
                                    </p:set>
                                    <p:animEffect transition="in" filter="dissolve">
                                      <p:cBhvr>
                                        <p:cTn id="17" dur="500"/>
                                        <p:tgtEl>
                                          <p:spTgt spid="149506">
                                            <p:txEl>
                                              <p:charRg st="35"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9506">
                                            <p:txEl>
                                              <p:charRg st="56" end="78"/>
                                            </p:txEl>
                                          </p:spTgt>
                                        </p:tgtEl>
                                        <p:attrNameLst>
                                          <p:attrName>style.visibility</p:attrName>
                                        </p:attrNameLst>
                                      </p:cBhvr>
                                      <p:to>
                                        <p:strVal val="visible"/>
                                      </p:to>
                                    </p:set>
                                    <p:animEffect transition="in" filter="dissolve">
                                      <p:cBhvr>
                                        <p:cTn id="22" dur="500"/>
                                        <p:tgtEl>
                                          <p:spTgt spid="149506">
                                            <p:txEl>
                                              <p:charRg st="56"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9506">
                                            <p:txEl>
                                              <p:charRg st="78" end="105"/>
                                            </p:txEl>
                                          </p:spTgt>
                                        </p:tgtEl>
                                        <p:attrNameLst>
                                          <p:attrName>style.visibility</p:attrName>
                                        </p:attrNameLst>
                                      </p:cBhvr>
                                      <p:to>
                                        <p:strVal val="visible"/>
                                      </p:to>
                                    </p:set>
                                    <p:animEffect transition="in" filter="dissolve">
                                      <p:cBhvr>
                                        <p:cTn id="27" dur="500"/>
                                        <p:tgtEl>
                                          <p:spTgt spid="149506">
                                            <p:txEl>
                                              <p:charRg st="78" end="10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9506">
                                            <p:txEl>
                                              <p:charRg st="105" end="131"/>
                                            </p:txEl>
                                          </p:spTgt>
                                        </p:tgtEl>
                                        <p:attrNameLst>
                                          <p:attrName>style.visibility</p:attrName>
                                        </p:attrNameLst>
                                      </p:cBhvr>
                                      <p:to>
                                        <p:strVal val="visible"/>
                                      </p:to>
                                    </p:set>
                                    <p:animEffect transition="in" filter="dissolve">
                                      <p:cBhvr>
                                        <p:cTn id="32" dur="500"/>
                                        <p:tgtEl>
                                          <p:spTgt spid="149506">
                                            <p:txEl>
                                              <p:charRg st="105" end="1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build="p"/>
      <p:bldP spid="14950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p:nvPr/>
        </p:nvSpPr>
        <p:spPr>
          <a:xfrm>
            <a:off x="533400" y="1143000"/>
            <a:ext cx="8153400" cy="34528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高分子聚合物是使用最早、应用最广泛的基体材料，种类很多，应用最多的是热固性聚合物中的不饱和聚酯树脂、环氧树脂和酚醛树脂。近年来热塑性树脂发展很快，也已在应用上占有一定比例。目前用作复合材料基体的金属有铝及铝合金、镁合金、铁合金、镍合金、铜与铜合金、锌合金等。无机非金属材料也可以作为复合材料的基体材料，包括陶瓷、玻璃、水泥、石膏和水玻璃等。</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0530">
                                            <p:txEl>
                                              <p:charRg st="0" end="179"/>
                                            </p:txEl>
                                          </p:spTgt>
                                        </p:tgtEl>
                                        <p:attrNameLst>
                                          <p:attrName>style.visibility</p:attrName>
                                        </p:attrNameLst>
                                      </p:cBhvr>
                                      <p:to>
                                        <p:strVal val="visible"/>
                                      </p:to>
                                    </p:set>
                                    <p:animEffect transition="in" filter="dissolve">
                                      <p:cBhvr>
                                        <p:cTn id="7" dur="500"/>
                                        <p:tgtEl>
                                          <p:spTgt spid="150530">
                                            <p:txEl>
                                              <p:charRg st="0" end="1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p:nvPr/>
        </p:nvSpPr>
        <p:spPr>
          <a:xfrm>
            <a:off x="533400" y="1143000"/>
            <a:ext cx="8153400" cy="4413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在复合材料中，凡是能提高基体材料力学性能的物质均称为增强材料，又称</a:t>
            </a:r>
            <a:r>
              <a:rPr lang="zh-CN" altLang="en-US" sz="2400" b="1" dirty="0">
                <a:solidFill>
                  <a:srgbClr val="6600CC"/>
                </a:solidFill>
                <a:latin typeface="Times New Roman" panose="02020603050405020304" pitchFamily="18" charset="0"/>
                <a:ea typeface="宋体" panose="02010600030101010101" pitchFamily="2" charset="-122"/>
              </a:rPr>
              <a:t>增强体</a:t>
            </a:r>
            <a:r>
              <a:rPr lang="zh-CN" altLang="en-US" sz="2400" b="1" dirty="0">
                <a:latin typeface="Times New Roman" panose="02020603050405020304" pitchFamily="18" charset="0"/>
                <a:ea typeface="宋体" panose="02010600030101010101" pitchFamily="2" charset="-122"/>
              </a:rPr>
              <a:t>。按增强材料的形态不同可以分为</a:t>
            </a:r>
            <a:r>
              <a:rPr lang="zh-CN" altLang="en-US" sz="2400" b="1" dirty="0">
                <a:solidFill>
                  <a:srgbClr val="6600CC"/>
                </a:solidFill>
                <a:latin typeface="Times New Roman" panose="02020603050405020304" pitchFamily="18" charset="0"/>
                <a:ea typeface="宋体" panose="02010600030101010101" pitchFamily="2" charset="-122"/>
              </a:rPr>
              <a:t>纤维增强材料和颗粒增强材料</a:t>
            </a:r>
            <a:r>
              <a:rPr lang="zh-CN" altLang="en-US" sz="2400" b="1" dirty="0">
                <a:latin typeface="Times New Roman" panose="02020603050405020304" pitchFamily="18" charset="0"/>
                <a:ea typeface="宋体" panose="02010600030101010101" pitchFamily="2" charset="-122"/>
              </a:rPr>
              <a:t>两大类。</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纤维增强材料</a:t>
            </a:r>
            <a:r>
              <a:rPr lang="zh-CN" altLang="en-US" sz="2400" b="1" dirty="0">
                <a:latin typeface="Times New Roman" panose="02020603050405020304" pitchFamily="18" charset="0"/>
                <a:ea typeface="宋体" panose="02010600030101010101" pitchFamily="2" charset="-122"/>
              </a:rPr>
              <a:t>是复合材料的支柱，其决定复合材料的各种力学性能，具有代表性的纤维增强材料有：玻璃纤维、碳纤维、石墨纤维、陶瓷纤维、金属纤维、晶须等。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颗粒增强材料</a:t>
            </a:r>
            <a:r>
              <a:rPr lang="zh-CN" altLang="en-US" sz="2400" b="1" dirty="0">
                <a:latin typeface="Times New Roman" panose="02020603050405020304" pitchFamily="18" charset="0"/>
                <a:ea typeface="宋体" panose="02010600030101010101" pitchFamily="2" charset="-122"/>
              </a:rPr>
              <a:t>除一般作为填料以降低成本外，同时也可改变材料的某些性能，起到功能增强的作用。如炭黑、陶土、粒状二氧化硅作为橡胶的增强剂，可使橡胶的强度显著提高。</a:t>
            </a:r>
            <a:endParaRPr lang="zh-CN" altLang="en-US" sz="2400" b="1" dirty="0">
              <a:latin typeface="Times New Roman" panose="02020603050405020304" pitchFamily="18" charset="0"/>
              <a:ea typeface="宋体" panose="02010600030101010101" pitchFamily="2" charset="-122"/>
            </a:endParaRPr>
          </a:p>
        </p:txBody>
      </p:sp>
      <p:sp>
        <p:nvSpPr>
          <p:cNvPr id="151555" name="Rectangle 3"/>
          <p:cNvSpPr/>
          <p:nvPr/>
        </p:nvSpPr>
        <p:spPr>
          <a:xfrm>
            <a:off x="0" y="508000"/>
            <a:ext cx="3048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2.增强材料 </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5"/>
                                        </p:tgtEl>
                                        <p:attrNameLst>
                                          <p:attrName>style.visibility</p:attrName>
                                        </p:attrNameLst>
                                      </p:cBhvr>
                                      <p:to>
                                        <p:strVal val="visible"/>
                                      </p:to>
                                    </p:set>
                                    <p:animEffect transition="in" filter="wipe(left)">
                                      <p:cBhvr>
                                        <p:cTn id="7" dur="500"/>
                                        <p:tgtEl>
                                          <p:spTgt spid="15155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1554">
                                            <p:txEl>
                                              <p:charRg st="0" end="76"/>
                                            </p:txEl>
                                          </p:spTgt>
                                        </p:tgtEl>
                                        <p:attrNameLst>
                                          <p:attrName>style.visibility</p:attrName>
                                        </p:attrNameLst>
                                      </p:cBhvr>
                                      <p:to>
                                        <p:strVal val="visible"/>
                                      </p:to>
                                    </p:set>
                                    <p:animEffect transition="in" filter="dissolve">
                                      <p:cBhvr>
                                        <p:cTn id="12" dur="500"/>
                                        <p:tgtEl>
                                          <p:spTgt spid="151554">
                                            <p:txEl>
                                              <p:charRg st="0" end="7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1554">
                                            <p:txEl>
                                              <p:charRg st="76" end="157"/>
                                            </p:txEl>
                                          </p:spTgt>
                                        </p:tgtEl>
                                        <p:attrNameLst>
                                          <p:attrName>style.visibility</p:attrName>
                                        </p:attrNameLst>
                                      </p:cBhvr>
                                      <p:to>
                                        <p:strVal val="visible"/>
                                      </p:to>
                                    </p:set>
                                    <p:animEffect transition="in" filter="dissolve">
                                      <p:cBhvr>
                                        <p:cTn id="17" dur="500"/>
                                        <p:tgtEl>
                                          <p:spTgt spid="151554">
                                            <p:txEl>
                                              <p:charRg st="76" end="1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1554">
                                            <p:txEl>
                                              <p:charRg st="157" end="243"/>
                                            </p:txEl>
                                          </p:spTgt>
                                        </p:tgtEl>
                                        <p:attrNameLst>
                                          <p:attrName>style.visibility</p:attrName>
                                        </p:attrNameLst>
                                      </p:cBhvr>
                                      <p:to>
                                        <p:strVal val="visible"/>
                                      </p:to>
                                    </p:set>
                                    <p:animEffect transition="in" filter="dissolve">
                                      <p:cBhvr>
                                        <p:cTn id="22" dur="500"/>
                                        <p:tgtEl>
                                          <p:spTgt spid="151554">
                                            <p:txEl>
                                              <p:charRg st="157" end="2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build="p"/>
      <p:bldP spid="15155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矩形 3"/>
          <p:cNvSpPr/>
          <p:nvPr/>
        </p:nvSpPr>
        <p:spPr>
          <a:xfrm>
            <a:off x="381000" y="1587500"/>
            <a:ext cx="8305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聚合物基复合材料是指以高聚物为基体材料，连续纤维为增强材料复合而成的一大类材料。聚合物基复合材料是复合材料中研究最早、发展最快的一类复合材料。目前，聚合物基复合材料己经形成了一个庞大的体系，性能不断提高，应用领域日益扩大，在航天、航空、交通运输、化工、建筑、通信等方面都有广泛的应用。</a:t>
            </a:r>
            <a:endParaRPr lang="zh-CN" altLang="en-US" sz="2400" b="1" dirty="0">
              <a:latin typeface="Arial" panose="020B0604020202020204" pitchFamily="34" charset="0"/>
              <a:ea typeface="宋体" panose="02010600030101010101" pitchFamily="2" charset="-122"/>
            </a:endParaRPr>
          </a:p>
        </p:txBody>
      </p:sp>
      <p:sp>
        <p:nvSpPr>
          <p:cNvPr id="155651" name="Text Box 3"/>
          <p:cNvSpPr txBox="1"/>
          <p:nvPr/>
        </p:nvSpPr>
        <p:spPr>
          <a:xfrm>
            <a:off x="0" y="825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6.4.2  </a:t>
            </a:r>
            <a:r>
              <a:rPr lang="zh-CN" altLang="en-US" sz="3200" b="1" dirty="0">
                <a:solidFill>
                  <a:schemeClr val="bg1"/>
                </a:solidFill>
                <a:latin typeface="Times New Roman" panose="02020603050405020304" pitchFamily="18" charset="0"/>
                <a:ea typeface="楷体_GB2312" panose="02010609030101010101" pitchFamily="49" charset="-122"/>
              </a:rPr>
              <a:t>聚合物基复合材料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55651"/>
                                        </p:tgtEl>
                                        <p:attrNameLst>
                                          <p:attrName>style.visibility</p:attrName>
                                        </p:attrNameLst>
                                      </p:cBhvr>
                                      <p:to>
                                        <p:strVal val="visible"/>
                                      </p:to>
                                    </p:set>
                                    <p:anim calcmode="lin" valueType="num">
                                      <p:cBhvr>
                                        <p:cTn id="7" dur="1000" fill="hold"/>
                                        <p:tgtEl>
                                          <p:spTgt spid="155651"/>
                                        </p:tgtEl>
                                        <p:attrNameLst>
                                          <p:attrName>ppt_w</p:attrName>
                                        </p:attrNameLst>
                                      </p:cBhvr>
                                      <p:tavLst>
                                        <p:tav tm="0">
                                          <p:val>
                                            <p:fltVal val="0.000000"/>
                                          </p:val>
                                        </p:tav>
                                        <p:tav tm="100000">
                                          <p:val>
                                            <p:strVal val="#ppt_w"/>
                                          </p:val>
                                        </p:tav>
                                      </p:tavLst>
                                    </p:anim>
                                    <p:anim calcmode="lin" valueType="num">
                                      <p:cBhvr>
                                        <p:cTn id="8" dur="1000" fill="hold"/>
                                        <p:tgtEl>
                                          <p:spTgt spid="155651"/>
                                        </p:tgtEl>
                                        <p:attrNameLst>
                                          <p:attrName>ppt_h</p:attrName>
                                        </p:attrNameLst>
                                      </p:cBhvr>
                                      <p:tavLst>
                                        <p:tav tm="0">
                                          <p:val>
                                            <p:fltVal val="0.000000"/>
                                          </p:val>
                                        </p:tav>
                                        <p:tav tm="100000">
                                          <p:val>
                                            <p:strVal val="#ppt_h"/>
                                          </p:val>
                                        </p:tav>
                                      </p:tavLst>
                                    </p:anim>
                                    <p:anim calcmode="lin" valueType="num">
                                      <p:cBhvr>
                                        <p:cTn id="9" dur="1000" fill="hold"/>
                                        <p:tgtEl>
                                          <p:spTgt spid="155651"/>
                                        </p:tgtEl>
                                        <p:attrNameLst>
                                          <p:attrName>style.rotation</p:attrName>
                                        </p:attrNameLst>
                                      </p:cBhvr>
                                      <p:tavLst>
                                        <p:tav tm="0">
                                          <p:val>
                                            <p:fltVal val="90.000000"/>
                                          </p:val>
                                        </p:tav>
                                        <p:tav tm="100000">
                                          <p:val>
                                            <p:fltVal val="0.000000"/>
                                          </p:val>
                                        </p:tav>
                                      </p:tavLst>
                                    </p:anim>
                                    <p:animEffect transition="in" filter="fade">
                                      <p:cBhvr>
                                        <p:cTn id="10" dur="1000"/>
                                        <p:tgtEl>
                                          <p:spTgt spid="15565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55650">
                                            <p:txEl>
                                              <p:charRg st="0" end="151"/>
                                            </p:txEl>
                                          </p:spTgt>
                                        </p:tgtEl>
                                        <p:attrNameLst>
                                          <p:attrName>style.visibility</p:attrName>
                                        </p:attrNameLst>
                                      </p:cBhvr>
                                      <p:to>
                                        <p:strVal val="visible"/>
                                      </p:to>
                                    </p:set>
                                    <p:animEffect transition="in" filter="dissolve">
                                      <p:cBhvr>
                                        <p:cTn id="15" dur="500"/>
                                        <p:tgtEl>
                                          <p:spTgt spid="155650">
                                            <p:txEl>
                                              <p:charRg st="0" end="1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build="p"/>
      <p:bldP spid="15565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矩形 3"/>
          <p:cNvSpPr/>
          <p:nvPr/>
        </p:nvSpPr>
        <p:spPr>
          <a:xfrm>
            <a:off x="304800" y="9525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由于聚合物的粘接性好，可以把纤维牢固地粘接起来，使载荷均匀分布，使聚合物基复合材料具有许多优良特性。如力学性能出色，可与钢铁、铝等金属材料媲美；耐热性和减振效果提高；一次成型使工艺过程比较简单。                                                                                </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由于增强纤维和基体的种类很多，聚合物基复合材料有很多品种。如玻璃纤维增强塑料、碳纤维增强塑料、芳香族聚酰胺纤维增强塑料、碳化硅纤维增强塑料等。这里只介绍玻璃纤维和碳纤维增强塑料。</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6674">
                                            <p:txEl>
                                              <p:charRg st="0" end="184"/>
                                            </p:txEl>
                                          </p:spTgt>
                                        </p:tgtEl>
                                        <p:attrNameLst>
                                          <p:attrName>style.visibility</p:attrName>
                                        </p:attrNameLst>
                                      </p:cBhvr>
                                      <p:to>
                                        <p:strVal val="visible"/>
                                      </p:to>
                                    </p:set>
                                    <p:animEffect transition="in" filter="dissolve">
                                      <p:cBhvr>
                                        <p:cTn id="7" dur="500"/>
                                        <p:tgtEl>
                                          <p:spTgt spid="156674">
                                            <p:txEl>
                                              <p:charRg st="0" end="18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6674">
                                            <p:txEl>
                                              <p:charRg st="184" end="281"/>
                                            </p:txEl>
                                          </p:spTgt>
                                        </p:tgtEl>
                                        <p:attrNameLst>
                                          <p:attrName>style.visibility</p:attrName>
                                        </p:attrNameLst>
                                      </p:cBhvr>
                                      <p:to>
                                        <p:strVal val="visible"/>
                                      </p:to>
                                    </p:set>
                                    <p:animEffect transition="in" filter="dissolve">
                                      <p:cBhvr>
                                        <p:cTn id="12" dur="500"/>
                                        <p:tgtEl>
                                          <p:spTgt spid="156674">
                                            <p:txEl>
                                              <p:charRg st="184" end="2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p:nvPr/>
        </p:nvSpPr>
        <p:spPr>
          <a:xfrm>
            <a:off x="457200" y="1524000"/>
            <a:ext cx="8153400" cy="29733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玻璃纤维增强塑料是指以玻璃纤维为增强材料，合成树脂为基体材料复合而成的复合材料。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包括</a:t>
            </a:r>
            <a:r>
              <a:rPr lang="zh-CN" altLang="en-US" sz="2400" b="1" dirty="0">
                <a:solidFill>
                  <a:srgbClr val="6600CC"/>
                </a:solidFill>
                <a:latin typeface="Times New Roman" panose="02020603050405020304" pitchFamily="18" charset="0"/>
                <a:ea typeface="宋体" panose="02010600030101010101" pitchFamily="2" charset="-122"/>
              </a:rPr>
              <a:t>玻璃纤维增强热固性塑料和玻璃纤维增强热塑性塑料</a:t>
            </a:r>
            <a:r>
              <a:rPr lang="zh-CN" altLang="en-US" sz="2400" b="1" dirty="0">
                <a:latin typeface="Times New Roman" panose="02020603050405020304" pitchFamily="18" charset="0"/>
                <a:ea typeface="宋体" panose="02010600030101010101" pitchFamily="2" charset="-122"/>
              </a:rPr>
              <a:t>两大类。其突出特点是重量轻、强度高、耐腐蚀、绝缘性好，相对密度为</a:t>
            </a:r>
            <a:r>
              <a:rPr lang="en-US" altLang="zh-CN" sz="2400" b="1" dirty="0">
                <a:latin typeface="Times New Roman" panose="02020603050405020304" pitchFamily="18" charset="0"/>
                <a:ea typeface="宋体" panose="02010600030101010101" pitchFamily="2" charset="-122"/>
              </a:rPr>
              <a:t>1.6~2.0</a:t>
            </a:r>
            <a:r>
              <a:rPr lang="zh-CN" altLang="en-US" sz="2400" b="1" dirty="0">
                <a:latin typeface="Times New Roman" panose="02020603050405020304" pitchFamily="18" charset="0"/>
                <a:ea typeface="宋体" panose="02010600030101010101" pitchFamily="2" charset="-122"/>
              </a:rPr>
              <a:t>，比金属铝还要轻，强度有的比高级合金钢还高，因此俗称“玻璃钢”。</a:t>
            </a:r>
            <a:endParaRPr lang="zh-CN" altLang="en-US" sz="2400" b="1" dirty="0">
              <a:latin typeface="Times New Roman" panose="02020603050405020304" pitchFamily="18" charset="0"/>
              <a:ea typeface="宋体" panose="02010600030101010101" pitchFamily="2" charset="-122"/>
            </a:endParaRPr>
          </a:p>
        </p:txBody>
      </p:sp>
      <p:sp>
        <p:nvSpPr>
          <p:cNvPr id="169987" name="Rectangle 3"/>
          <p:cNvSpPr/>
          <p:nvPr/>
        </p:nvSpPr>
        <p:spPr>
          <a:xfrm>
            <a:off x="0" y="889000"/>
            <a:ext cx="4114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1. 玻璃纤维增强塑料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wipe(left)">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9986">
                                            <p:txEl>
                                              <p:charRg st="0" end="50"/>
                                            </p:txEl>
                                          </p:spTgt>
                                        </p:tgtEl>
                                        <p:attrNameLst>
                                          <p:attrName>style.visibility</p:attrName>
                                        </p:attrNameLst>
                                      </p:cBhvr>
                                      <p:to>
                                        <p:strVal val="visible"/>
                                      </p:to>
                                    </p:set>
                                    <p:animEffect transition="in" filter="dissolve">
                                      <p:cBhvr>
                                        <p:cTn id="12" dur="500"/>
                                        <p:tgtEl>
                                          <p:spTgt spid="169986">
                                            <p:txEl>
                                              <p:charRg st="0" end="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9986">
                                            <p:txEl>
                                              <p:charRg st="50" end="154"/>
                                            </p:txEl>
                                          </p:spTgt>
                                        </p:tgtEl>
                                        <p:attrNameLst>
                                          <p:attrName>style.visibility</p:attrName>
                                        </p:attrNameLst>
                                      </p:cBhvr>
                                      <p:to>
                                        <p:strVal val="visible"/>
                                      </p:to>
                                    </p:set>
                                    <p:animEffect transition="in" filter="dissolve">
                                      <p:cBhvr>
                                        <p:cTn id="17" dur="500"/>
                                        <p:tgtEl>
                                          <p:spTgt spid="169986">
                                            <p:txEl>
                                              <p:charRg st="50" end="1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build="p"/>
      <p:bldP spid="16998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p:nvPr/>
        </p:nvSpPr>
        <p:spPr>
          <a:xfrm>
            <a:off x="533400" y="889000"/>
            <a:ext cx="81534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玻璃钢的用途十分广泛，常用于制造飞机、火车、汽车、农机的零部件，轻型船舶的船体构件，电机和电器的绝缘零件，化工设备和管道等。</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玻璃钢还具有保温、隔热、隔声、减振等性能，是一种理想的建筑材料，常被用作承力结构、冷却塔、水箱等。玻璃钢不受电磁作用的影响，不反射无线电波，微波透过性好，因此可用来制造扫雷艇和雷达罩。</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玻璃钢的最大的缺点是刚性差。</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0">
                                            <p:txEl>
                                              <p:charRg st="0" end="69"/>
                                            </p:txEl>
                                          </p:spTgt>
                                        </p:tgtEl>
                                        <p:attrNameLst>
                                          <p:attrName>style.visibility</p:attrName>
                                        </p:attrNameLst>
                                      </p:cBhvr>
                                      <p:to>
                                        <p:strVal val="visible"/>
                                      </p:to>
                                    </p:set>
                                    <p:animEffect transition="in" filter="dissolve">
                                      <p:cBhvr>
                                        <p:cTn id="7" dur="500"/>
                                        <p:tgtEl>
                                          <p:spTgt spid="171010">
                                            <p:txEl>
                                              <p:charRg st="0" end="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0">
                                            <p:txEl>
                                              <p:charRg st="69" end="168"/>
                                            </p:txEl>
                                          </p:spTgt>
                                        </p:tgtEl>
                                        <p:attrNameLst>
                                          <p:attrName>style.visibility</p:attrName>
                                        </p:attrNameLst>
                                      </p:cBhvr>
                                      <p:to>
                                        <p:strVal val="visible"/>
                                      </p:to>
                                    </p:set>
                                    <p:animEffect transition="in" filter="dissolve">
                                      <p:cBhvr>
                                        <p:cTn id="12" dur="500"/>
                                        <p:tgtEl>
                                          <p:spTgt spid="171010">
                                            <p:txEl>
                                              <p:charRg st="69" end="16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0">
                                            <p:txEl>
                                              <p:charRg st="168" end="190"/>
                                            </p:txEl>
                                          </p:spTgt>
                                        </p:tgtEl>
                                        <p:attrNameLst>
                                          <p:attrName>style.visibility</p:attrName>
                                        </p:attrNameLst>
                                      </p:cBhvr>
                                      <p:to>
                                        <p:strVal val="visible"/>
                                      </p:to>
                                    </p:set>
                                    <p:animEffect transition="in" filter="dissolve">
                                      <p:cBhvr>
                                        <p:cTn id="17" dur="500"/>
                                        <p:tgtEl>
                                          <p:spTgt spid="171010">
                                            <p:txEl>
                                              <p:charRg st="168" end="1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p:nvPr/>
        </p:nvSpPr>
        <p:spPr>
          <a:xfrm>
            <a:off x="533400" y="1587500"/>
            <a:ext cx="8153400" cy="39338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碳纤维复合材料是</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世纪</a:t>
            </a:r>
            <a:r>
              <a:rPr lang="en-US" altLang="zh-CN" sz="2400" b="1" dirty="0">
                <a:latin typeface="Times New Roman" panose="02020603050405020304" pitchFamily="18" charset="0"/>
                <a:ea typeface="宋体" panose="02010600030101010101" pitchFamily="2" charset="-122"/>
              </a:rPr>
              <a:t>60</a:t>
            </a:r>
            <a:r>
              <a:rPr lang="zh-CN" altLang="en-US" sz="2400" b="1" dirty="0">
                <a:latin typeface="Times New Roman" panose="02020603050405020304" pitchFamily="18" charset="0"/>
                <a:ea typeface="宋体" panose="02010600030101010101" pitchFamily="2" charset="-122"/>
              </a:rPr>
              <a:t>年代迅速发展起来的，碳纤维与合成树脂等基体结合即得到碳纤维增强塑料。</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碳纤维增强塑料重量比玻璃钢更轻，强度比玻璃钢更大。其在抗冲击、抗疲劳、自润滑性以及耐腐蚀、耐温等方面也有显著优点，如果采用碳纤维增强塑料制成长途客车的车身，重量是钢车身的</a:t>
            </a:r>
            <a:r>
              <a:rPr lang="en-US" altLang="zh-CN" sz="2400" b="1" dirty="0">
                <a:latin typeface="Times New Roman" panose="02020603050405020304" pitchFamily="18" charset="0"/>
                <a:ea typeface="宋体" panose="02010600030101010101" pitchFamily="2" charset="-122"/>
              </a:rPr>
              <a:t>1/4~1/3</a:t>
            </a:r>
            <a:r>
              <a:rPr lang="zh-CN" altLang="en-US" sz="2400" b="1" dirty="0">
                <a:latin typeface="Times New Roman" panose="02020603050405020304" pitchFamily="18" charset="0"/>
                <a:ea typeface="宋体" panose="02010600030101010101" pitchFamily="2" charset="-122"/>
              </a:rPr>
              <a:t>。碳纤维增强塑料的抗冲击强度也特别突出，不到</a:t>
            </a:r>
            <a:r>
              <a:rPr lang="en-US" altLang="zh-CN" sz="2400" b="1" dirty="0">
                <a:latin typeface="Times New Roman" panose="02020603050405020304" pitchFamily="18" charset="0"/>
                <a:ea typeface="宋体" panose="02010600030101010101" pitchFamily="2" charset="-122"/>
              </a:rPr>
              <a:t>lcm</a:t>
            </a:r>
            <a:r>
              <a:rPr lang="zh-CN" altLang="en-US" sz="2400" b="1" dirty="0">
                <a:latin typeface="Times New Roman" panose="02020603050405020304" pitchFamily="18" charset="0"/>
                <a:ea typeface="宋体" panose="02010600030101010101" pitchFamily="2" charset="-122"/>
              </a:rPr>
              <a:t>厚的碳纤维增强塑料板，在十步远的地方用手枪也不能将其射穿。</a:t>
            </a:r>
            <a:endParaRPr lang="zh-CN" altLang="en-US" sz="2400" b="1" dirty="0">
              <a:latin typeface="Times New Roman" panose="02020603050405020304" pitchFamily="18" charset="0"/>
              <a:ea typeface="宋体" panose="02010600030101010101" pitchFamily="2" charset="-122"/>
            </a:endParaRPr>
          </a:p>
        </p:txBody>
      </p:sp>
      <p:sp>
        <p:nvSpPr>
          <p:cNvPr id="172035" name="Rectangle 3"/>
          <p:cNvSpPr/>
          <p:nvPr/>
        </p:nvSpPr>
        <p:spPr>
          <a:xfrm>
            <a:off x="0" y="889000"/>
            <a:ext cx="3962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2. 碳纤维增强塑料 </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left)">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2034">
                                            <p:txEl>
                                              <p:charRg st="0" end="56"/>
                                            </p:txEl>
                                          </p:spTgt>
                                        </p:tgtEl>
                                        <p:attrNameLst>
                                          <p:attrName>style.visibility</p:attrName>
                                        </p:attrNameLst>
                                      </p:cBhvr>
                                      <p:to>
                                        <p:strVal val="visible"/>
                                      </p:to>
                                    </p:set>
                                    <p:animEffect transition="in" filter="dissolve">
                                      <p:cBhvr>
                                        <p:cTn id="12" dur="500"/>
                                        <p:tgtEl>
                                          <p:spTgt spid="172034">
                                            <p:txEl>
                                              <p:charRg st="0"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2034">
                                            <p:txEl>
                                              <p:charRg st="56" end="210"/>
                                            </p:txEl>
                                          </p:spTgt>
                                        </p:tgtEl>
                                        <p:attrNameLst>
                                          <p:attrName>style.visibility</p:attrName>
                                        </p:attrNameLst>
                                      </p:cBhvr>
                                      <p:to>
                                        <p:strVal val="visible"/>
                                      </p:to>
                                    </p:set>
                                    <p:animEffect transition="in" filter="dissolve">
                                      <p:cBhvr>
                                        <p:cTn id="17" dur="500"/>
                                        <p:tgtEl>
                                          <p:spTgt spid="172034">
                                            <p:txEl>
                                              <p:charRg st="56"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build="p"/>
      <p:bldP spid="17203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p:nvPr/>
        </p:nvSpPr>
        <p:spPr>
          <a:xfrm>
            <a:off x="533400" y="1651000"/>
            <a:ext cx="8153400" cy="24923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碳纤维增强塑料是火箭、人造卫星、导弹、飞机、汽车的机架和壳体等最理想的材料。因为重量比金属制品轻得多，可以节省大量的燃料。碳纤维增强塑料是目前最受重视的高性能材料之一，在航空航天、军事、工业、体育器材等许多方面有着广泛的用途。</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3058">
                                            <p:txEl>
                                              <p:charRg st="0" end="121"/>
                                            </p:txEl>
                                          </p:spTgt>
                                        </p:tgtEl>
                                        <p:attrNameLst>
                                          <p:attrName>style.visibility</p:attrName>
                                        </p:attrNameLst>
                                      </p:cBhvr>
                                      <p:to>
                                        <p:strVal val="visible"/>
                                      </p:to>
                                    </p:set>
                                    <p:animEffect transition="in" filter="dissolve">
                                      <p:cBhvr>
                                        <p:cTn id="7" dur="500"/>
                                        <p:tgtEl>
                                          <p:spTgt spid="173058">
                                            <p:txEl>
                                              <p:charRg st="0"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p:nvPr/>
        </p:nvSpPr>
        <p:spPr>
          <a:xfrm>
            <a:off x="457200" y="1079500"/>
            <a:ext cx="8153400" cy="34020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金属基复合材料是以金属及其合金为基体，纤维、陶瓷颗粒及金属丝为增强材料复合而成的复合材料。与聚合物基复合材料相比，金属基复合材料的强度、硬度和使用温度更高，具有横向力学性能好、不吸湿、不老化等优点。</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金属陶瓷是由陶瓷粒子和黏接金属组成的非均质的复合材料。例如，用碳化物陶瓷粒子增强</a:t>
            </a:r>
            <a:r>
              <a:rPr lang="en-US" altLang="zh-CN" sz="2400" b="1" dirty="0">
                <a:latin typeface="Times New Roman" panose="02020603050405020304" pitchFamily="18" charset="0"/>
                <a:ea typeface="宋体" panose="02010600030101010101" pitchFamily="2" charset="-122"/>
              </a:rPr>
              <a:t>Ti</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Cr</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Ni</a:t>
            </a:r>
            <a:r>
              <a:rPr lang="zh-CN" altLang="en-US" sz="2400" b="1" dirty="0">
                <a:latin typeface="Times New Roman" panose="02020603050405020304" pitchFamily="18" charset="0"/>
                <a:ea typeface="宋体" panose="02010600030101010101" pitchFamily="2" charset="-122"/>
              </a:rPr>
              <a:t>等金属，得到金属陶瓷复合材料。</a:t>
            </a:r>
            <a:endParaRPr lang="zh-CN" altLang="en-US" sz="2400" b="1" dirty="0">
              <a:latin typeface="Times New Roman" panose="02020603050405020304" pitchFamily="18" charset="0"/>
              <a:ea typeface="宋体" panose="02010600030101010101" pitchFamily="2" charset="-122"/>
            </a:endParaRPr>
          </a:p>
        </p:txBody>
      </p:sp>
      <p:sp>
        <p:nvSpPr>
          <p:cNvPr id="174084" name="Text Box 4"/>
          <p:cNvSpPr txBox="1"/>
          <p:nvPr/>
        </p:nvSpPr>
        <p:spPr>
          <a:xfrm>
            <a:off x="0" y="381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6.4.3  </a:t>
            </a:r>
            <a:r>
              <a:rPr lang="zh-CN" altLang="en-US" sz="3200" b="1" dirty="0">
                <a:solidFill>
                  <a:schemeClr val="bg1"/>
                </a:solidFill>
                <a:latin typeface="Times New Roman" panose="02020603050405020304" pitchFamily="18" charset="0"/>
                <a:ea typeface="楷体_GB2312" panose="02010609030101010101" pitchFamily="49" charset="-122"/>
              </a:rPr>
              <a:t>金属基复合材料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74084"/>
                                        </p:tgtEl>
                                        <p:attrNameLst>
                                          <p:attrName>style.visibility</p:attrName>
                                        </p:attrNameLst>
                                      </p:cBhvr>
                                      <p:to>
                                        <p:strVal val="visible"/>
                                      </p:to>
                                    </p:set>
                                    <p:anim calcmode="lin" valueType="num">
                                      <p:cBhvr>
                                        <p:cTn id="7" dur="1000" fill="hold"/>
                                        <p:tgtEl>
                                          <p:spTgt spid="174084"/>
                                        </p:tgtEl>
                                        <p:attrNameLst>
                                          <p:attrName>ppt_w</p:attrName>
                                        </p:attrNameLst>
                                      </p:cBhvr>
                                      <p:tavLst>
                                        <p:tav tm="0">
                                          <p:val>
                                            <p:fltVal val="0.000000"/>
                                          </p:val>
                                        </p:tav>
                                        <p:tav tm="100000">
                                          <p:val>
                                            <p:strVal val="#ppt_w"/>
                                          </p:val>
                                        </p:tav>
                                      </p:tavLst>
                                    </p:anim>
                                    <p:anim calcmode="lin" valueType="num">
                                      <p:cBhvr>
                                        <p:cTn id="8" dur="1000" fill="hold"/>
                                        <p:tgtEl>
                                          <p:spTgt spid="174084"/>
                                        </p:tgtEl>
                                        <p:attrNameLst>
                                          <p:attrName>ppt_h</p:attrName>
                                        </p:attrNameLst>
                                      </p:cBhvr>
                                      <p:tavLst>
                                        <p:tav tm="0">
                                          <p:val>
                                            <p:fltVal val="0.000000"/>
                                          </p:val>
                                        </p:tav>
                                        <p:tav tm="100000">
                                          <p:val>
                                            <p:strVal val="#ppt_h"/>
                                          </p:val>
                                        </p:tav>
                                      </p:tavLst>
                                    </p:anim>
                                    <p:anim calcmode="lin" valueType="num">
                                      <p:cBhvr>
                                        <p:cTn id="9" dur="1000" fill="hold"/>
                                        <p:tgtEl>
                                          <p:spTgt spid="174084"/>
                                        </p:tgtEl>
                                        <p:attrNameLst>
                                          <p:attrName>style.rotation</p:attrName>
                                        </p:attrNameLst>
                                      </p:cBhvr>
                                      <p:tavLst>
                                        <p:tav tm="0">
                                          <p:val>
                                            <p:fltVal val="90.000000"/>
                                          </p:val>
                                        </p:tav>
                                        <p:tav tm="100000">
                                          <p:val>
                                            <p:fltVal val="0.000000"/>
                                          </p:val>
                                        </p:tav>
                                      </p:tavLst>
                                    </p:anim>
                                    <p:animEffect transition="in" filter="fade">
                                      <p:cBhvr>
                                        <p:cTn id="10" dur="1000"/>
                                        <p:tgtEl>
                                          <p:spTgt spid="17408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74082">
                                            <p:txEl>
                                              <p:charRg st="0" end="108"/>
                                            </p:txEl>
                                          </p:spTgt>
                                        </p:tgtEl>
                                        <p:attrNameLst>
                                          <p:attrName>style.visibility</p:attrName>
                                        </p:attrNameLst>
                                      </p:cBhvr>
                                      <p:to>
                                        <p:strVal val="visible"/>
                                      </p:to>
                                    </p:set>
                                    <p:animEffect transition="in" filter="dissolve">
                                      <p:cBhvr>
                                        <p:cTn id="15" dur="500"/>
                                        <p:tgtEl>
                                          <p:spTgt spid="174082">
                                            <p:txEl>
                                              <p:charRg st="0" end="10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74082">
                                            <p:txEl>
                                              <p:charRg st="108" end="180"/>
                                            </p:txEl>
                                          </p:spTgt>
                                        </p:tgtEl>
                                        <p:attrNameLst>
                                          <p:attrName>style.visibility</p:attrName>
                                        </p:attrNameLst>
                                      </p:cBhvr>
                                      <p:to>
                                        <p:strVal val="visible"/>
                                      </p:to>
                                    </p:set>
                                    <p:animEffect transition="in" filter="dissolve">
                                      <p:cBhvr>
                                        <p:cTn id="20" dur="500"/>
                                        <p:tgtEl>
                                          <p:spTgt spid="174082">
                                            <p:txEl>
                                              <p:charRg st="108"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build="p"/>
      <p:bldP spid="17408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p:nvPr/>
        </p:nvSpPr>
        <p:spPr>
          <a:xfrm>
            <a:off x="685800" y="2668588"/>
            <a:ext cx="8153400" cy="20129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用碳纤维等高强度、高模量的纤维与金属及其合金 </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特别是轻金属</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制成的金属基复合材料，既可保持金属原有的耐热、导电、传热等性能，又可提高材料的强度和模量，降低相对密度，是航空、航天等尖端技术的理想材料。</a:t>
            </a:r>
            <a:endParaRPr lang="zh-CN" altLang="en-US" sz="2400" b="1" dirty="0">
              <a:latin typeface="Times New Roman" panose="02020603050405020304" pitchFamily="18" charset="0"/>
              <a:ea typeface="宋体" panose="02010600030101010101" pitchFamily="2" charset="-122"/>
            </a:endParaRPr>
          </a:p>
        </p:txBody>
      </p:sp>
      <p:sp>
        <p:nvSpPr>
          <p:cNvPr id="4" name="Rectangle 2"/>
          <p:cNvSpPr/>
          <p:nvPr/>
        </p:nvSpPr>
        <p:spPr>
          <a:xfrm>
            <a:off x="533400" y="647700"/>
            <a:ext cx="8153400" cy="20129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30000"/>
              </a:lnSpc>
              <a:spcBef>
                <a:spcPct val="0"/>
              </a:spcBef>
              <a:buClrTx/>
              <a:buSzTx/>
              <a:buFontTx/>
              <a:buNone/>
            </a:pPr>
            <a:r>
              <a:rPr lang="zh-CN" altLang="en-US" sz="2400" b="1" dirty="0">
                <a:latin typeface="Times New Roman" panose="02020603050405020304" pitchFamily="18" charset="0"/>
                <a:ea typeface="宋体" panose="02010600030101010101" pitchFamily="2" charset="-122"/>
              </a:rPr>
              <a:t>      这种复合材料的组成特点是用韧性的金属把耐热性好、硬度高但不耐冲击的陶瓷相粘接在一起，从而弥补了各自的缺点。这种金属陶瓷复合材料被称为硬质合金，目前已广泛应用于切削刀具材料。</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5106">
                                            <p:txEl>
                                              <p:charRg st="0" end="107"/>
                                            </p:txEl>
                                          </p:spTgt>
                                        </p:tgtEl>
                                        <p:attrNameLst>
                                          <p:attrName>style.visibility</p:attrName>
                                        </p:attrNameLst>
                                      </p:cBhvr>
                                      <p:to>
                                        <p:strVal val="visible"/>
                                      </p:to>
                                    </p:set>
                                    <p:animEffect transition="in" filter="dissolve">
                                      <p:cBhvr>
                                        <p:cTn id="7" dur="500"/>
                                        <p:tgtEl>
                                          <p:spTgt spid="175106">
                                            <p:txEl>
                                              <p:charRg st="0" end="10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charRg st="0" end="93"/>
                                            </p:txEl>
                                          </p:spTgt>
                                        </p:tgtEl>
                                        <p:attrNameLst>
                                          <p:attrName>style.visibility</p:attrName>
                                        </p:attrNameLst>
                                      </p:cBhvr>
                                      <p:to>
                                        <p:strVal val="visible"/>
                                      </p:to>
                                    </p:set>
                                    <p:animEffect transition="in" filter="dissolve">
                                      <p:cBhvr>
                                        <p:cTn id="12" dur="500"/>
                                        <p:tgtEl>
                                          <p:spTgt spid="4">
                                            <p:txEl>
                                              <p:charRg st="0" end="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build="p"/>
      <p:bldP spid="4"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矩形 3"/>
          <p:cNvSpPr/>
          <p:nvPr/>
        </p:nvSpPr>
        <p:spPr>
          <a:xfrm>
            <a:off x="228600" y="15240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陶瓷基复合材料是以陶瓷为基体材料，纤维或颗粒为增强材料复合而成的复合材料。陶瓷基复合材料具有高强度、高韧性和优异的耐高温性能及力学稳定性，是一类高性能的新型结构材料，应用前景很广阔。</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典型的陶瓷基复合材料是纤维增强陶瓷。陶瓷材料耐高温、耐磨损且耐腐蚀性能优越，但其脆性的弱点限制了使用范围，采用纤维复合可以大大提高陶瓷的韧性和材料的抗疲劳性能。</a:t>
            </a:r>
            <a:endParaRPr lang="zh-CN" altLang="en-US" sz="2400" b="1" dirty="0">
              <a:latin typeface="Arial" panose="020B0604020202020204" pitchFamily="34" charset="0"/>
              <a:ea typeface="宋体" panose="02010600030101010101" pitchFamily="2" charset="-122"/>
            </a:endParaRPr>
          </a:p>
        </p:txBody>
      </p:sp>
      <p:sp>
        <p:nvSpPr>
          <p:cNvPr id="157699" name="Text Box 3"/>
          <p:cNvSpPr txBox="1"/>
          <p:nvPr/>
        </p:nvSpPr>
        <p:spPr>
          <a:xfrm>
            <a:off x="0" y="762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6.4.4   </a:t>
            </a:r>
            <a:r>
              <a:rPr lang="zh-CN" altLang="en-US" sz="3200" b="1" dirty="0">
                <a:solidFill>
                  <a:schemeClr val="bg1"/>
                </a:solidFill>
                <a:latin typeface="Times New Roman" panose="02020603050405020304" pitchFamily="18" charset="0"/>
                <a:ea typeface="楷体_GB2312" panose="02010609030101010101" pitchFamily="49" charset="-122"/>
              </a:rPr>
              <a:t>陶瓷基复合材料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57699"/>
                                        </p:tgtEl>
                                        <p:attrNameLst>
                                          <p:attrName>style.visibility</p:attrName>
                                        </p:attrNameLst>
                                      </p:cBhvr>
                                      <p:to>
                                        <p:strVal val="visible"/>
                                      </p:to>
                                    </p:set>
                                    <p:anim calcmode="lin" valueType="num">
                                      <p:cBhvr>
                                        <p:cTn id="7" dur="1000" fill="hold"/>
                                        <p:tgtEl>
                                          <p:spTgt spid="157699"/>
                                        </p:tgtEl>
                                        <p:attrNameLst>
                                          <p:attrName>ppt_w</p:attrName>
                                        </p:attrNameLst>
                                      </p:cBhvr>
                                      <p:tavLst>
                                        <p:tav tm="0">
                                          <p:val>
                                            <p:fltVal val="0.000000"/>
                                          </p:val>
                                        </p:tav>
                                        <p:tav tm="100000">
                                          <p:val>
                                            <p:strVal val="#ppt_w"/>
                                          </p:val>
                                        </p:tav>
                                      </p:tavLst>
                                    </p:anim>
                                    <p:anim calcmode="lin" valueType="num">
                                      <p:cBhvr>
                                        <p:cTn id="8" dur="1000" fill="hold"/>
                                        <p:tgtEl>
                                          <p:spTgt spid="157699"/>
                                        </p:tgtEl>
                                        <p:attrNameLst>
                                          <p:attrName>ppt_h</p:attrName>
                                        </p:attrNameLst>
                                      </p:cBhvr>
                                      <p:tavLst>
                                        <p:tav tm="0">
                                          <p:val>
                                            <p:fltVal val="0.000000"/>
                                          </p:val>
                                        </p:tav>
                                        <p:tav tm="100000">
                                          <p:val>
                                            <p:strVal val="#ppt_h"/>
                                          </p:val>
                                        </p:tav>
                                      </p:tavLst>
                                    </p:anim>
                                    <p:anim calcmode="lin" valueType="num">
                                      <p:cBhvr>
                                        <p:cTn id="9" dur="1000" fill="hold"/>
                                        <p:tgtEl>
                                          <p:spTgt spid="157699"/>
                                        </p:tgtEl>
                                        <p:attrNameLst>
                                          <p:attrName>style.rotation</p:attrName>
                                        </p:attrNameLst>
                                      </p:cBhvr>
                                      <p:tavLst>
                                        <p:tav tm="0">
                                          <p:val>
                                            <p:fltVal val="90.000000"/>
                                          </p:val>
                                        </p:tav>
                                        <p:tav tm="100000">
                                          <p:val>
                                            <p:fltVal val="0.000000"/>
                                          </p:val>
                                        </p:tav>
                                      </p:tavLst>
                                    </p:anim>
                                    <p:animEffect transition="in" filter="fade">
                                      <p:cBhvr>
                                        <p:cTn id="10" dur="1000"/>
                                        <p:tgtEl>
                                          <p:spTgt spid="15769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57698">
                                            <p:txEl>
                                              <p:charRg st="0" end="99"/>
                                            </p:txEl>
                                          </p:spTgt>
                                        </p:tgtEl>
                                        <p:attrNameLst>
                                          <p:attrName>style.visibility</p:attrName>
                                        </p:attrNameLst>
                                      </p:cBhvr>
                                      <p:to>
                                        <p:strVal val="visible"/>
                                      </p:to>
                                    </p:set>
                                    <p:animEffect transition="in" filter="dissolve">
                                      <p:cBhvr>
                                        <p:cTn id="15" dur="500"/>
                                        <p:tgtEl>
                                          <p:spTgt spid="157698">
                                            <p:txEl>
                                              <p:charRg st="0" end="9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57698">
                                            <p:txEl>
                                              <p:charRg st="99" end="188"/>
                                            </p:txEl>
                                          </p:spTgt>
                                        </p:tgtEl>
                                        <p:attrNameLst>
                                          <p:attrName>style.visibility</p:attrName>
                                        </p:attrNameLst>
                                      </p:cBhvr>
                                      <p:to>
                                        <p:strVal val="visible"/>
                                      </p:to>
                                    </p:set>
                                    <p:animEffect transition="in" filter="dissolve">
                                      <p:cBhvr>
                                        <p:cTn id="20" dur="500"/>
                                        <p:tgtEl>
                                          <p:spTgt spid="157698">
                                            <p:txEl>
                                              <p:charRg st="99" end="1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build="p"/>
      <p:bldP spid="157699"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矩形 3"/>
          <p:cNvSpPr/>
          <p:nvPr/>
        </p:nvSpPr>
        <p:spPr>
          <a:xfrm>
            <a:off x="381000" y="571500"/>
            <a:ext cx="8305800" cy="419893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solidFill>
                  <a:srgbClr val="6600CC"/>
                </a:solidFill>
                <a:latin typeface="Arial" panose="020B0604020202020204" pitchFamily="34" charset="0"/>
                <a:ea typeface="宋体" panose="02010600030101010101" pitchFamily="2" charset="-122"/>
              </a:rPr>
              <a:t>陶瓷基复合材料</a:t>
            </a:r>
            <a:r>
              <a:rPr lang="zh-CN" altLang="en-US" sz="2400" b="1" dirty="0">
                <a:latin typeface="Arial" panose="020B0604020202020204" pitchFamily="34" charset="0"/>
                <a:ea typeface="宋体" panose="02010600030101010101" pitchFamily="2" charset="-122"/>
              </a:rPr>
              <a:t>具有很好的应用前景。在高温材料方面，连续纤维增强陶瓷基复合材料已广泛应用于航天、航空领域。例如用作防热板、航天飞机等的零件；在非航空领域，陶瓷基复合材料可应用于耐高温和耐腐蚀的发动机部件、切割工具、热交换管等方面。在防弹材料方面，陶瓷基复合材料由于具有强度高、韧性好、密度小等优点，是替代传统装甲钢的理想材料。在生物医学材料方面，陶瓷基复合材料具有极好的抗腐蚀能力、相当好的韧性、密度小，展现出良好的应用前景。       </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8722">
                                            <p:txEl>
                                              <p:charRg st="0" end="228"/>
                                            </p:txEl>
                                          </p:spTgt>
                                        </p:tgtEl>
                                        <p:attrNameLst>
                                          <p:attrName>style.visibility</p:attrName>
                                        </p:attrNameLst>
                                      </p:cBhvr>
                                      <p:to>
                                        <p:strVal val="visible"/>
                                      </p:to>
                                    </p:set>
                                    <p:animEffect transition="in" filter="dissolve">
                                      <p:cBhvr>
                                        <p:cTn id="7" dur="500"/>
                                        <p:tgtEl>
                                          <p:spTgt spid="158722">
                                            <p:txEl>
                                              <p:charRg st="0"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矩形 3"/>
          <p:cNvSpPr/>
          <p:nvPr/>
        </p:nvSpPr>
        <p:spPr>
          <a:xfrm>
            <a:off x="457200" y="1485900"/>
            <a:ext cx="8305800" cy="14779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用碳或石墨作为基体，用碳纤维或石墨纤维作为增强材料可组成</a:t>
            </a:r>
            <a:r>
              <a:rPr lang="zh-CN" altLang="en-US" sz="2400" b="1" dirty="0">
                <a:solidFill>
                  <a:srgbClr val="6600CC"/>
                </a:solidFill>
                <a:latin typeface="Arial" panose="020B0604020202020204" pitchFamily="34" charset="0"/>
                <a:ea typeface="宋体" panose="02010600030101010101" pitchFamily="2" charset="-122"/>
              </a:rPr>
              <a:t>碳碳复合材料</a:t>
            </a:r>
            <a:r>
              <a:rPr lang="zh-CN" altLang="en-US" sz="2400" b="1" dirty="0">
                <a:latin typeface="Arial" panose="020B0604020202020204" pitchFamily="34" charset="0"/>
                <a:ea typeface="宋体" panose="02010600030101010101" pitchFamily="2" charset="-122"/>
              </a:rPr>
              <a:t>，这是一种新型特种工程材料。已用于高温技术领域、化工和热核反应领域中。</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8722">
                                            <p:txEl>
                                              <p:charRg st="0" end="73"/>
                                            </p:txEl>
                                          </p:spTgt>
                                        </p:tgtEl>
                                        <p:attrNameLst>
                                          <p:attrName>style.visibility</p:attrName>
                                        </p:attrNameLst>
                                      </p:cBhvr>
                                      <p:to>
                                        <p:strVal val="visible"/>
                                      </p:to>
                                    </p:set>
                                    <p:animEffect transition="in" filter="dissolve">
                                      <p:cBhvr>
                                        <p:cTn id="7" dur="500"/>
                                        <p:tgtEl>
                                          <p:spTgt spid="158722">
                                            <p:txEl>
                                              <p:charRg st="0"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矩形 3"/>
          <p:cNvSpPr/>
          <p:nvPr/>
        </p:nvSpPr>
        <p:spPr>
          <a:xfrm>
            <a:off x="533400" y="1714500"/>
            <a:ext cx="8305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纳米是一种长度度量单位，</a:t>
            </a:r>
            <a:r>
              <a:rPr lang="en-US" altLang="zh-CN" sz="2400" b="1" dirty="0">
                <a:latin typeface="Times New Roman" panose="02020603050405020304" pitchFamily="18" charset="0"/>
                <a:ea typeface="宋体" panose="02010600030101010101" pitchFamily="2" charset="-122"/>
              </a:rPr>
              <a:t>1nm</a:t>
            </a:r>
            <a:r>
              <a:rPr lang="zh-CN" altLang="en-US" sz="2400" b="1" dirty="0">
                <a:latin typeface="Times New Roman" panose="02020603050405020304" pitchFamily="18" charset="0"/>
                <a:ea typeface="宋体" panose="02010600030101010101" pitchFamily="2" charset="-122"/>
              </a:rPr>
              <a:t>等于</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亿分之一米，相当于头发丝直径的</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万分之一。纳米材料是指组成相或晶粒在任一维上小于</a:t>
            </a:r>
            <a:r>
              <a:rPr lang="en-US" altLang="zh-CN" sz="2400" b="1" dirty="0">
                <a:latin typeface="Times New Roman" panose="02020603050405020304" pitchFamily="18" charset="0"/>
                <a:ea typeface="宋体" panose="02010600030101010101" pitchFamily="2" charset="-122"/>
              </a:rPr>
              <a:t>100nm</a:t>
            </a:r>
            <a:r>
              <a:rPr lang="zh-CN" altLang="en-US" sz="2400" b="1" dirty="0">
                <a:latin typeface="Times New Roman" panose="02020603050405020304" pitchFamily="18" charset="0"/>
                <a:ea typeface="宋体" panose="02010600030101010101" pitchFamily="2" charset="-122"/>
              </a:rPr>
              <a:t>的材料，又称超分子材料，纳米材料按宏观结构分为纳米块、纳米膜及纳米纤维等；按材料结构分为纳米晶体、纳米非晶体和纳米准晶体；按空间形态分为零维纳米颗粒、一维纳米线、二维纳米膜、三维纳米块。</a:t>
            </a:r>
            <a:endParaRPr lang="zh-CN" altLang="en-US" sz="2400" b="1" dirty="0">
              <a:latin typeface="Times New Roman" panose="02020603050405020304" pitchFamily="18" charset="0"/>
              <a:ea typeface="宋体" panose="02010600030101010101" pitchFamily="2" charset="-122"/>
            </a:endParaRPr>
          </a:p>
        </p:txBody>
      </p:sp>
      <p:grpSp>
        <p:nvGrpSpPr>
          <p:cNvPr id="110595" name="Group 3"/>
          <p:cNvGrpSpPr/>
          <p:nvPr/>
        </p:nvGrpSpPr>
        <p:grpSpPr>
          <a:xfrm>
            <a:off x="1295400" y="190500"/>
            <a:ext cx="7315200" cy="663575"/>
            <a:chOff x="912" y="144"/>
            <a:chExt cx="4224" cy="502"/>
          </a:xfrm>
        </p:grpSpPr>
        <p:sp>
          <p:nvSpPr>
            <p:cNvPr id="110597" name="AutoShape 4"/>
            <p:cNvSpPr/>
            <p:nvPr/>
          </p:nvSpPr>
          <p:spPr>
            <a:xfrm>
              <a:off x="912" y="144"/>
              <a:ext cx="4224" cy="502"/>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110598" name="Rectangle 5"/>
            <p:cNvSpPr/>
            <p:nvPr/>
          </p:nvSpPr>
          <p:spPr>
            <a:xfrm>
              <a:off x="1824" y="192"/>
              <a:ext cx="2688"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6.5   </a:t>
              </a:r>
              <a:r>
                <a:rPr lang="zh-CN" altLang="en-US" sz="3200" b="1" dirty="0">
                  <a:solidFill>
                    <a:schemeClr val="bg1"/>
                  </a:solidFill>
                  <a:latin typeface="Times New Roman" panose="02020603050405020304" pitchFamily="18" charset="0"/>
                  <a:ea typeface="楷体_GB2312" panose="02010609030101010101" pitchFamily="49" charset="-122"/>
                </a:rPr>
                <a:t>纳米材料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
        <p:nvSpPr>
          <p:cNvPr id="177158" name="Text Box 6"/>
          <p:cNvSpPr txBox="1"/>
          <p:nvPr/>
        </p:nvSpPr>
        <p:spPr>
          <a:xfrm>
            <a:off x="0" y="1016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6.5.1  </a:t>
            </a:r>
            <a:r>
              <a:rPr lang="zh-CN" altLang="en-US" sz="3200" b="1" dirty="0">
                <a:solidFill>
                  <a:schemeClr val="bg1"/>
                </a:solidFill>
                <a:latin typeface="Times New Roman" panose="02020603050405020304" pitchFamily="18" charset="0"/>
                <a:ea typeface="楷体_GB2312" panose="02010609030101010101" pitchFamily="49" charset="-122"/>
              </a:rPr>
              <a:t>纳米材料的概念</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77158"/>
                                        </p:tgtEl>
                                        <p:attrNameLst>
                                          <p:attrName>style.visibility</p:attrName>
                                        </p:attrNameLst>
                                      </p:cBhvr>
                                      <p:to>
                                        <p:strVal val="visible"/>
                                      </p:to>
                                    </p:set>
                                    <p:anim calcmode="lin" valueType="num">
                                      <p:cBhvr>
                                        <p:cTn id="7" dur="1000" fill="hold"/>
                                        <p:tgtEl>
                                          <p:spTgt spid="177158"/>
                                        </p:tgtEl>
                                        <p:attrNameLst>
                                          <p:attrName>ppt_w</p:attrName>
                                        </p:attrNameLst>
                                      </p:cBhvr>
                                      <p:tavLst>
                                        <p:tav tm="0">
                                          <p:val>
                                            <p:fltVal val="0.000000"/>
                                          </p:val>
                                        </p:tav>
                                        <p:tav tm="100000">
                                          <p:val>
                                            <p:strVal val="#ppt_w"/>
                                          </p:val>
                                        </p:tav>
                                      </p:tavLst>
                                    </p:anim>
                                    <p:anim calcmode="lin" valueType="num">
                                      <p:cBhvr>
                                        <p:cTn id="8" dur="1000" fill="hold"/>
                                        <p:tgtEl>
                                          <p:spTgt spid="177158"/>
                                        </p:tgtEl>
                                        <p:attrNameLst>
                                          <p:attrName>ppt_h</p:attrName>
                                        </p:attrNameLst>
                                      </p:cBhvr>
                                      <p:tavLst>
                                        <p:tav tm="0">
                                          <p:val>
                                            <p:fltVal val="0.000000"/>
                                          </p:val>
                                        </p:tav>
                                        <p:tav tm="100000">
                                          <p:val>
                                            <p:strVal val="#ppt_h"/>
                                          </p:val>
                                        </p:tav>
                                      </p:tavLst>
                                    </p:anim>
                                    <p:anim calcmode="lin" valueType="num">
                                      <p:cBhvr>
                                        <p:cTn id="9" dur="1000" fill="hold"/>
                                        <p:tgtEl>
                                          <p:spTgt spid="177158"/>
                                        </p:tgtEl>
                                        <p:attrNameLst>
                                          <p:attrName>style.rotation</p:attrName>
                                        </p:attrNameLst>
                                      </p:cBhvr>
                                      <p:tavLst>
                                        <p:tav tm="0">
                                          <p:val>
                                            <p:fltVal val="90.000000"/>
                                          </p:val>
                                        </p:tav>
                                        <p:tav tm="100000">
                                          <p:val>
                                            <p:fltVal val="0.000000"/>
                                          </p:val>
                                        </p:tav>
                                      </p:tavLst>
                                    </p:anim>
                                    <p:animEffect transition="in" filter="fade">
                                      <p:cBhvr>
                                        <p:cTn id="10" dur="1000"/>
                                        <p:tgtEl>
                                          <p:spTgt spid="17715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77154">
                                            <p:txEl>
                                              <p:charRg st="0" end="166"/>
                                            </p:txEl>
                                          </p:spTgt>
                                        </p:tgtEl>
                                        <p:attrNameLst>
                                          <p:attrName>style.visibility</p:attrName>
                                        </p:attrNameLst>
                                      </p:cBhvr>
                                      <p:to>
                                        <p:strVal val="visible"/>
                                      </p:to>
                                    </p:set>
                                    <p:animEffect transition="in" filter="dissolve">
                                      <p:cBhvr>
                                        <p:cTn id="15" dur="500"/>
                                        <p:tgtEl>
                                          <p:spTgt spid="177154">
                                            <p:txEl>
                                              <p:charRg st="0" end="1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build="p"/>
      <p:bldP spid="177158"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1618" name="Picture 4" descr="Ocr0002"/>
          <p:cNvPicPr>
            <a:picLocks noChangeAspect="1"/>
          </p:cNvPicPr>
          <p:nvPr/>
        </p:nvPicPr>
        <p:blipFill>
          <a:blip r:embed="rId1"/>
          <a:srcRect l="5841" t="6233" r="9943" b="9937"/>
          <a:stretch>
            <a:fillRect/>
          </a:stretch>
        </p:blipFill>
        <p:spPr>
          <a:xfrm>
            <a:off x="1752600" y="762000"/>
            <a:ext cx="5638800" cy="3568700"/>
          </a:xfrm>
          <a:prstGeom prst="rect">
            <a:avLst/>
          </a:prstGeom>
          <a:noFill/>
          <a:ln w="9525">
            <a:noFill/>
          </a:ln>
        </p:spPr>
      </p:pic>
      <p:sp>
        <p:nvSpPr>
          <p:cNvPr id="111619" name="Rectangle 5"/>
          <p:cNvSpPr/>
          <p:nvPr/>
        </p:nvSpPr>
        <p:spPr>
          <a:xfrm>
            <a:off x="2895600" y="4473575"/>
            <a:ext cx="3879850" cy="4000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2000" b="1" dirty="0">
                <a:latin typeface="Times New Roman" panose="02020603050405020304" pitchFamily="18" charset="0"/>
                <a:ea typeface="宋体" panose="02010600030101010101" pitchFamily="2" charset="-122"/>
              </a:rPr>
              <a:t>图</a:t>
            </a:r>
            <a:r>
              <a:rPr lang="en-US" altLang="zh-CN" sz="2000" b="1" dirty="0">
                <a:latin typeface="Times New Roman" panose="02020603050405020304" pitchFamily="18" charset="0"/>
                <a:ea typeface="宋体" panose="02010600030101010101" pitchFamily="2" charset="-122"/>
              </a:rPr>
              <a:t>6-20 </a:t>
            </a:r>
            <a:r>
              <a:rPr lang="zh-CN" altLang="en-US" sz="2000" b="1" dirty="0">
                <a:latin typeface="Times New Roman" panose="02020603050405020304" pitchFamily="18" charset="0"/>
                <a:ea typeface="宋体" panose="02010600030101010101" pitchFamily="2" charset="-122"/>
              </a:rPr>
              <a:t>纳米尺度与物体尺寸比较 </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transition>
    <p:diamon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矩形 3"/>
          <p:cNvSpPr/>
          <p:nvPr/>
        </p:nvSpPr>
        <p:spPr>
          <a:xfrm>
            <a:off x="304800" y="1841500"/>
            <a:ext cx="8305800" cy="24003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纳米微粒是由有限数量的原子或分子组成的、处于亚稳状态的原子团或分子团。当物质的尺寸减小时，其表面原子数的相对比例增大，使微粒的表面能迅速增大，当达到纳米尺度时，物质的结构和性能就会显现出奇异的效应，主要包括：</a:t>
            </a:r>
            <a:endParaRPr lang="zh-CN" altLang="en-US" sz="2400" b="1" dirty="0">
              <a:latin typeface="Arial" panose="020B0604020202020204" pitchFamily="34" charset="0"/>
              <a:ea typeface="宋体" panose="02010600030101010101" pitchFamily="2" charset="-122"/>
            </a:endParaRPr>
          </a:p>
        </p:txBody>
      </p:sp>
      <p:sp>
        <p:nvSpPr>
          <p:cNvPr id="160771" name="Text Box 3"/>
          <p:cNvSpPr txBox="1"/>
          <p:nvPr/>
        </p:nvSpPr>
        <p:spPr>
          <a:xfrm>
            <a:off x="0" y="10160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6.5.2  </a:t>
            </a:r>
            <a:r>
              <a:rPr lang="zh-CN" altLang="en-US" sz="3200" b="1" dirty="0">
                <a:solidFill>
                  <a:schemeClr val="bg1"/>
                </a:solidFill>
                <a:latin typeface="Times New Roman" panose="02020603050405020304" pitchFamily="18" charset="0"/>
                <a:ea typeface="楷体_GB2312" panose="02010609030101010101" pitchFamily="49" charset="-122"/>
              </a:rPr>
              <a:t>纳米材料的特性</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60771"/>
                                        </p:tgtEl>
                                        <p:attrNameLst>
                                          <p:attrName>style.visibility</p:attrName>
                                        </p:attrNameLst>
                                      </p:cBhvr>
                                      <p:to>
                                        <p:strVal val="visible"/>
                                      </p:to>
                                    </p:set>
                                    <p:anim calcmode="lin" valueType="num">
                                      <p:cBhvr>
                                        <p:cTn id="7" dur="1000" fill="hold"/>
                                        <p:tgtEl>
                                          <p:spTgt spid="160771"/>
                                        </p:tgtEl>
                                        <p:attrNameLst>
                                          <p:attrName>ppt_w</p:attrName>
                                        </p:attrNameLst>
                                      </p:cBhvr>
                                      <p:tavLst>
                                        <p:tav tm="0">
                                          <p:val>
                                            <p:fltVal val="0.000000"/>
                                          </p:val>
                                        </p:tav>
                                        <p:tav tm="100000">
                                          <p:val>
                                            <p:strVal val="#ppt_w"/>
                                          </p:val>
                                        </p:tav>
                                      </p:tavLst>
                                    </p:anim>
                                    <p:anim calcmode="lin" valueType="num">
                                      <p:cBhvr>
                                        <p:cTn id="8" dur="1000" fill="hold"/>
                                        <p:tgtEl>
                                          <p:spTgt spid="160771"/>
                                        </p:tgtEl>
                                        <p:attrNameLst>
                                          <p:attrName>ppt_h</p:attrName>
                                        </p:attrNameLst>
                                      </p:cBhvr>
                                      <p:tavLst>
                                        <p:tav tm="0">
                                          <p:val>
                                            <p:fltVal val="0.000000"/>
                                          </p:val>
                                        </p:tav>
                                        <p:tav tm="100000">
                                          <p:val>
                                            <p:strVal val="#ppt_h"/>
                                          </p:val>
                                        </p:tav>
                                      </p:tavLst>
                                    </p:anim>
                                    <p:anim calcmode="lin" valueType="num">
                                      <p:cBhvr>
                                        <p:cTn id="9" dur="1000" fill="hold"/>
                                        <p:tgtEl>
                                          <p:spTgt spid="160771"/>
                                        </p:tgtEl>
                                        <p:attrNameLst>
                                          <p:attrName>style.rotation</p:attrName>
                                        </p:attrNameLst>
                                      </p:cBhvr>
                                      <p:tavLst>
                                        <p:tav tm="0">
                                          <p:val>
                                            <p:fltVal val="90.000000"/>
                                          </p:val>
                                        </p:tav>
                                        <p:tav tm="100000">
                                          <p:val>
                                            <p:fltVal val="0.000000"/>
                                          </p:val>
                                        </p:tav>
                                      </p:tavLst>
                                    </p:anim>
                                    <p:animEffect transition="in" filter="fade">
                                      <p:cBhvr>
                                        <p:cTn id="10" dur="1000"/>
                                        <p:tgtEl>
                                          <p:spTgt spid="16077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0770">
                                            <p:txEl>
                                              <p:charRg st="0" end="113"/>
                                            </p:txEl>
                                          </p:spTgt>
                                        </p:tgtEl>
                                        <p:attrNameLst>
                                          <p:attrName>style.visibility</p:attrName>
                                        </p:attrNameLst>
                                      </p:cBhvr>
                                      <p:to>
                                        <p:strVal val="visible"/>
                                      </p:to>
                                    </p:set>
                                    <p:animEffect transition="in" filter="dissolve">
                                      <p:cBhvr>
                                        <p:cTn id="15" dur="500"/>
                                        <p:tgtEl>
                                          <p:spTgt spid="160770">
                                            <p:txEl>
                                              <p:charRg st="0"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uild="p"/>
      <p:bldP spid="16077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矩形 3"/>
          <p:cNvSpPr/>
          <p:nvPr/>
        </p:nvSpPr>
        <p:spPr>
          <a:xfrm>
            <a:off x="457200" y="1714500"/>
            <a:ext cx="8305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纳米材料中的微粒尺寸小到与光波波长、德布罗意波长以及超导态的相干长度等物理特征尺寸相当或更小时，晶体周期性的边界条件被破坏，纳米微粒表面层附近原子密度减小，使得材料的声、光、电、磁、热、力学等特性改变而产生新的特性的现象，称为纳米材料的小尺寸效应。如磁有序态向磁无序态转变；超导相向正常相转变。</a:t>
            </a:r>
            <a:endParaRPr lang="zh-CN" altLang="en-US" sz="2400" b="1" dirty="0">
              <a:latin typeface="Times New Roman" panose="02020603050405020304" pitchFamily="18" charset="0"/>
              <a:ea typeface="宋体" panose="02010600030101010101" pitchFamily="2" charset="-122"/>
            </a:endParaRPr>
          </a:p>
        </p:txBody>
      </p:sp>
      <p:sp>
        <p:nvSpPr>
          <p:cNvPr id="161796" name="Rectangle 4"/>
          <p:cNvSpPr/>
          <p:nvPr/>
        </p:nvSpPr>
        <p:spPr>
          <a:xfrm>
            <a:off x="0" y="762000"/>
            <a:ext cx="3429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a:t>
            </a:r>
            <a:r>
              <a:rPr lang="en-US" altLang="en-US" sz="2800" b="1" dirty="0">
                <a:solidFill>
                  <a:srgbClr val="540C2B"/>
                </a:solidFill>
                <a:latin typeface="楷体_GB2312" panose="02010609030101010101" pitchFamily="49" charset="-122"/>
                <a:ea typeface="楷体_GB2312" panose="02010609030101010101" pitchFamily="49" charset="-122"/>
              </a:rPr>
              <a:t>. 小尺寸效应</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left)">
                                      <p:cBhvr>
                                        <p:cTn id="7" dur="500"/>
                                        <p:tgtEl>
                                          <p:spTgt spid="1617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1794">
                                            <p:txEl>
                                              <p:charRg st="0" end="158"/>
                                            </p:txEl>
                                          </p:spTgt>
                                        </p:tgtEl>
                                        <p:attrNameLst>
                                          <p:attrName>style.visibility</p:attrName>
                                        </p:attrNameLst>
                                      </p:cBhvr>
                                      <p:to>
                                        <p:strVal val="visible"/>
                                      </p:to>
                                    </p:set>
                                    <p:animEffect transition="in" filter="dissolve">
                                      <p:cBhvr>
                                        <p:cTn id="12" dur="500"/>
                                        <p:tgtEl>
                                          <p:spTgt spid="161794">
                                            <p:txEl>
                                              <p:charRg st="0" end="1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build="p"/>
      <p:bldP spid="16179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20" name="矩形 3"/>
          <p:cNvSpPr/>
          <p:nvPr/>
        </p:nvSpPr>
        <p:spPr>
          <a:xfrm>
            <a:off x="533400" y="12700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小尺寸效应为实用技术开拓了新领域。例如，纳米尺度的强磁性颗粒</a:t>
            </a:r>
            <a:r>
              <a:rPr lang="en-US" altLang="zh-CN" sz="2400" b="1" dirty="0">
                <a:latin typeface="Times New Roman" panose="02020603050405020304" pitchFamily="18" charset="0"/>
                <a:ea typeface="宋体" panose="02010600030101010101" pitchFamily="2" charset="-122"/>
              </a:rPr>
              <a:t>(Fe-Co</a:t>
            </a:r>
            <a:r>
              <a:rPr lang="zh-CN" altLang="en-US" sz="2400" b="1" dirty="0">
                <a:latin typeface="Times New Roman" panose="02020603050405020304" pitchFamily="18" charset="0"/>
                <a:ea typeface="宋体" panose="02010600030101010101" pitchFamily="2" charset="-122"/>
              </a:rPr>
              <a:t>合金、氧化铁等</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，当颗粒尺寸为单磁畴临界尺寸时，具有很高的矫顽力，可制作磁性信用卡、磁性钥匙、磁性车票，还可以制成磁性液体，广泛用于电声器件、阻尼器件和旋转密封、润滑、选矿等领域。</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纳米微粒的熔点可远低于块状金属，例如</a:t>
            </a:r>
            <a:r>
              <a:rPr lang="en-US" altLang="zh-CN" sz="2400" b="1" dirty="0">
                <a:latin typeface="Times New Roman" panose="02020603050405020304" pitchFamily="18" charset="0"/>
                <a:ea typeface="宋体" panose="02010600030101010101" pitchFamily="2" charset="-122"/>
              </a:rPr>
              <a:t>2nm</a:t>
            </a:r>
            <a:r>
              <a:rPr lang="zh-CN" altLang="en-US" sz="2400" b="1" dirty="0">
                <a:latin typeface="Times New Roman" panose="02020603050405020304" pitchFamily="18" charset="0"/>
                <a:ea typeface="宋体" panose="02010600030101010101" pitchFamily="2" charset="-122"/>
              </a:rPr>
              <a:t>的金颗粒熔点为</a:t>
            </a:r>
            <a:r>
              <a:rPr lang="en-US" altLang="zh-CN" sz="2400" b="1" dirty="0">
                <a:latin typeface="Times New Roman" panose="02020603050405020304" pitchFamily="18" charset="0"/>
                <a:ea typeface="宋体" panose="02010600030101010101" pitchFamily="2" charset="-122"/>
              </a:rPr>
              <a:t>600K</a:t>
            </a:r>
            <a:r>
              <a:rPr lang="zh-CN" altLang="en-US" sz="2400" b="1" dirty="0">
                <a:latin typeface="Times New Roman" panose="02020603050405020304" pitchFamily="18" charset="0"/>
                <a:ea typeface="宋体" panose="02010600030101010101" pitchFamily="2" charset="-122"/>
              </a:rPr>
              <a:t>，块状金为</a:t>
            </a:r>
            <a:r>
              <a:rPr lang="en-US" altLang="zh-CN" sz="2400" b="1" dirty="0">
                <a:latin typeface="Times New Roman" panose="02020603050405020304" pitchFamily="18" charset="0"/>
                <a:ea typeface="宋体" panose="02010600030101010101" pitchFamily="2" charset="-122"/>
              </a:rPr>
              <a:t>1337K</a:t>
            </a:r>
            <a:r>
              <a:rPr lang="zh-CN" altLang="en-US" sz="2400" b="1" dirty="0">
                <a:latin typeface="Times New Roman" panose="02020603050405020304" pitchFamily="18" charset="0"/>
                <a:ea typeface="宋体" panose="02010600030101010101" pitchFamily="2" charset="-122"/>
              </a:rPr>
              <a:t>，此特性为粉末冶金提供了新工艺。</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20">
                                            <p:txEl>
                                              <p:charRg st="0" end="135"/>
                                            </p:txEl>
                                          </p:spTgt>
                                        </p:tgtEl>
                                        <p:attrNameLst>
                                          <p:attrName>style.visibility</p:attrName>
                                        </p:attrNameLst>
                                      </p:cBhvr>
                                      <p:to>
                                        <p:strVal val="visible"/>
                                      </p:to>
                                    </p:set>
                                    <p:animEffect transition="in" filter="dissolve">
                                      <p:cBhvr>
                                        <p:cTn id="7" dur="500"/>
                                        <p:tgtEl>
                                          <p:spTgt spid="162820">
                                            <p:txEl>
                                              <p:charRg st="0" end="13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2820">
                                            <p:txEl>
                                              <p:charRg st="135" end="201"/>
                                            </p:txEl>
                                          </p:spTgt>
                                        </p:tgtEl>
                                        <p:attrNameLst>
                                          <p:attrName>style.visibility</p:attrName>
                                        </p:attrNameLst>
                                      </p:cBhvr>
                                      <p:to>
                                        <p:strVal val="visible"/>
                                      </p:to>
                                    </p:set>
                                    <p:animEffect transition="in" filter="dissolve">
                                      <p:cBhvr>
                                        <p:cTn id="12" dur="500"/>
                                        <p:tgtEl>
                                          <p:spTgt spid="162820">
                                            <p:txEl>
                                              <p:charRg st="135"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矩形 3"/>
          <p:cNvSpPr/>
          <p:nvPr/>
        </p:nvSpPr>
        <p:spPr>
          <a:xfrm>
            <a:off x="457200" y="1397000"/>
            <a:ext cx="8305800" cy="42465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纳米材料的组成粒子尺寸小，且随着粒径减小，粒子比表面积增大，每克粒径为</a:t>
            </a:r>
            <a:r>
              <a:rPr lang="en-US" altLang="zh-CN" sz="2400" b="1" dirty="0">
                <a:latin typeface="Times New Roman" panose="02020603050405020304" pitchFamily="18" charset="0"/>
                <a:ea typeface="宋体" panose="02010600030101010101" pitchFamily="2" charset="-122"/>
              </a:rPr>
              <a:t>lnm </a:t>
            </a:r>
            <a:r>
              <a:rPr lang="zh-CN" altLang="en-US" sz="2400" b="1" dirty="0">
                <a:latin typeface="Times New Roman" panose="02020603050405020304" pitchFamily="18" charset="0"/>
                <a:ea typeface="宋体" panose="02010600030101010101" pitchFamily="2" charset="-122"/>
              </a:rPr>
              <a:t>粒子的比表面积是粒径为</a:t>
            </a:r>
            <a:r>
              <a:rPr lang="en-US" altLang="zh-CN" sz="2400" b="1" dirty="0">
                <a:latin typeface="Times New Roman" panose="02020603050405020304" pitchFamily="18" charset="0"/>
                <a:ea typeface="宋体" panose="02010600030101010101" pitchFamily="2" charset="-122"/>
              </a:rPr>
              <a:t>100nm </a:t>
            </a:r>
            <a:r>
              <a:rPr lang="zh-CN" altLang="en-US" sz="2400" b="1" dirty="0">
                <a:latin typeface="Times New Roman" panose="02020603050405020304" pitchFamily="18" charset="0"/>
                <a:ea typeface="宋体" panose="02010600030101010101" pitchFamily="2" charset="-122"/>
              </a:rPr>
              <a:t>粒子比表面积的</a:t>
            </a:r>
            <a:r>
              <a:rPr lang="en-US" altLang="zh-CN" sz="2400" b="1" dirty="0">
                <a:latin typeface="Times New Roman" panose="02020603050405020304" pitchFamily="18" charset="0"/>
                <a:ea typeface="宋体" panose="02010600030101010101" pitchFamily="2" charset="-122"/>
              </a:rPr>
              <a:t>100</a:t>
            </a:r>
            <a:r>
              <a:rPr lang="zh-CN" altLang="en-US" sz="2400" b="1" dirty="0">
                <a:latin typeface="Times New Roman" panose="02020603050405020304" pitchFamily="18" charset="0"/>
                <a:ea typeface="宋体" panose="02010600030101010101" pitchFamily="2" charset="-122"/>
              </a:rPr>
              <a:t>倍。</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表面原子数的增多，表面能高，表面原子极不稳定，很容易与其他原子结合。例如纳米金属粒子在空气中会燃烧，无机纳米粒子暴露在空气中会吸附气体，并与气体进行反应。</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利用这一性质，人们可以通过使用纳米材料来提高材料的利用率和开发材料的新用途。例如，提高催化剂效率、吸波材料的吸波率、涂料的遮盖率、杀菌剂的效率等。</a:t>
            </a:r>
            <a:endParaRPr lang="zh-CN" altLang="en-US" sz="2400" b="1" dirty="0">
              <a:latin typeface="Times New Roman" panose="02020603050405020304" pitchFamily="18" charset="0"/>
              <a:ea typeface="宋体" panose="02010600030101010101" pitchFamily="2" charset="-122"/>
            </a:endParaRPr>
          </a:p>
        </p:txBody>
      </p:sp>
      <p:sp>
        <p:nvSpPr>
          <p:cNvPr id="178179" name="Rectangle 3"/>
          <p:cNvSpPr/>
          <p:nvPr/>
        </p:nvSpPr>
        <p:spPr>
          <a:xfrm>
            <a:off x="0" y="762000"/>
            <a:ext cx="3200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en-US" altLang="en-US" sz="2800" b="1" dirty="0">
                <a:solidFill>
                  <a:srgbClr val="540C2B"/>
                </a:solidFill>
                <a:latin typeface="楷体_GB2312" panose="02010609030101010101" pitchFamily="49" charset="-122"/>
                <a:ea typeface="楷体_GB2312" panose="02010609030101010101" pitchFamily="49" charset="-122"/>
              </a:rPr>
              <a:t>. 表面效应</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wipe(left)">
                                      <p:cBhvr>
                                        <p:cTn id="7" dur="500"/>
                                        <p:tgtEl>
                                          <p:spTgt spid="1781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8178">
                                            <p:txEl>
                                              <p:charRg st="0" end="77"/>
                                            </p:txEl>
                                          </p:spTgt>
                                        </p:tgtEl>
                                        <p:attrNameLst>
                                          <p:attrName>style.visibility</p:attrName>
                                        </p:attrNameLst>
                                      </p:cBhvr>
                                      <p:to>
                                        <p:strVal val="visible"/>
                                      </p:to>
                                    </p:set>
                                    <p:animEffect transition="in" filter="dissolve">
                                      <p:cBhvr>
                                        <p:cTn id="12" dur="500"/>
                                        <p:tgtEl>
                                          <p:spTgt spid="178178">
                                            <p:txEl>
                                              <p:charRg st="0" end="7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8178">
                                            <p:txEl>
                                              <p:charRg st="77" end="162"/>
                                            </p:txEl>
                                          </p:spTgt>
                                        </p:tgtEl>
                                        <p:attrNameLst>
                                          <p:attrName>style.visibility</p:attrName>
                                        </p:attrNameLst>
                                      </p:cBhvr>
                                      <p:to>
                                        <p:strVal val="visible"/>
                                      </p:to>
                                    </p:set>
                                    <p:animEffect transition="in" filter="dissolve">
                                      <p:cBhvr>
                                        <p:cTn id="17" dur="500"/>
                                        <p:tgtEl>
                                          <p:spTgt spid="178178">
                                            <p:txEl>
                                              <p:charRg st="77" end="1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8178">
                                            <p:txEl>
                                              <p:charRg st="162" end="244"/>
                                            </p:txEl>
                                          </p:spTgt>
                                        </p:tgtEl>
                                        <p:attrNameLst>
                                          <p:attrName>style.visibility</p:attrName>
                                        </p:attrNameLst>
                                      </p:cBhvr>
                                      <p:to>
                                        <p:strVal val="visible"/>
                                      </p:to>
                                    </p:set>
                                    <p:animEffect transition="in" filter="dissolve">
                                      <p:cBhvr>
                                        <p:cTn id="22" dur="500"/>
                                        <p:tgtEl>
                                          <p:spTgt spid="178178">
                                            <p:txEl>
                                              <p:charRg st="162" end="2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build="p"/>
      <p:bldP spid="17817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矩形 3"/>
          <p:cNvSpPr/>
          <p:nvPr/>
        </p:nvSpPr>
        <p:spPr>
          <a:xfrm>
            <a:off x="457200" y="1714500"/>
            <a:ext cx="8305800" cy="24003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在纳米材料中，当组成粒子的尺寸下降到某一值时，金属费米能级附近的电子能级由准连续变为离散并使能级变宽的现象，称为纳米材料的量子尺寸效应。</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这一现象的出现使纳米银与普通银的性质完全不同，普通银为良导体，而纳米银在粒径小于</a:t>
            </a:r>
            <a:r>
              <a:rPr lang="en-US" altLang="zh-CN" sz="2400" b="1" dirty="0">
                <a:latin typeface="Times New Roman" panose="02020603050405020304" pitchFamily="18" charset="0"/>
                <a:ea typeface="宋体" panose="02010600030101010101" pitchFamily="2" charset="-122"/>
              </a:rPr>
              <a:t>20nm</a:t>
            </a:r>
            <a:r>
              <a:rPr lang="zh-CN" altLang="en-US" sz="2400" b="1" dirty="0">
                <a:latin typeface="Times New Roman" panose="02020603050405020304" pitchFamily="18" charset="0"/>
                <a:ea typeface="宋体" panose="02010600030101010101" pitchFamily="2" charset="-122"/>
              </a:rPr>
              <a:t>时却是绝缘体。</a:t>
            </a:r>
            <a:endParaRPr lang="zh-CN" altLang="en-US" sz="2400" b="1" dirty="0">
              <a:latin typeface="Times New Roman" panose="02020603050405020304" pitchFamily="18" charset="0"/>
              <a:ea typeface="宋体" panose="02010600030101010101" pitchFamily="2" charset="-122"/>
            </a:endParaRPr>
          </a:p>
        </p:txBody>
      </p:sp>
      <p:sp>
        <p:nvSpPr>
          <p:cNvPr id="179203" name="Rectangle 3"/>
          <p:cNvSpPr/>
          <p:nvPr/>
        </p:nvSpPr>
        <p:spPr>
          <a:xfrm>
            <a:off x="152400" y="952500"/>
            <a:ext cx="3429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3</a:t>
            </a:r>
            <a:r>
              <a:rPr lang="en-US" altLang="en-US" sz="2800" b="1" dirty="0">
                <a:solidFill>
                  <a:srgbClr val="540C2B"/>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量子尺寸效应</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Effect transition="in" filter="wipe(left)">
                                      <p:cBhvr>
                                        <p:cTn id="7" dur="500"/>
                                        <p:tgtEl>
                                          <p:spTgt spid="17920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9202">
                                            <p:txEl>
                                              <p:charRg st="0" end="78"/>
                                            </p:txEl>
                                          </p:spTgt>
                                        </p:tgtEl>
                                        <p:attrNameLst>
                                          <p:attrName>style.visibility</p:attrName>
                                        </p:attrNameLst>
                                      </p:cBhvr>
                                      <p:to>
                                        <p:strVal val="visible"/>
                                      </p:to>
                                    </p:set>
                                    <p:animEffect transition="in" filter="dissolve">
                                      <p:cBhvr>
                                        <p:cTn id="12" dur="500"/>
                                        <p:tgtEl>
                                          <p:spTgt spid="179202">
                                            <p:txEl>
                                              <p:charRg st="0" end="7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9202">
                                            <p:txEl>
                                              <p:charRg st="78" end="138"/>
                                            </p:txEl>
                                          </p:spTgt>
                                        </p:tgtEl>
                                        <p:attrNameLst>
                                          <p:attrName>style.visibility</p:attrName>
                                        </p:attrNameLst>
                                      </p:cBhvr>
                                      <p:to>
                                        <p:strVal val="visible"/>
                                      </p:to>
                                    </p:set>
                                    <p:animEffect transition="in" filter="dissolve">
                                      <p:cBhvr>
                                        <p:cTn id="17" dur="500"/>
                                        <p:tgtEl>
                                          <p:spTgt spid="179202">
                                            <p:txEl>
                                              <p:charRg st="78" end="1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build="p"/>
      <p:bldP spid="179203"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矩形 3"/>
          <p:cNvSpPr/>
          <p:nvPr/>
        </p:nvSpPr>
        <p:spPr>
          <a:xfrm>
            <a:off x="533400" y="1714500"/>
            <a:ext cx="8305800" cy="24003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微观粒子具有的贯穿势垒能力，称为隧道效应。近年来，人们发现一些宏观量，如磁颗粒的磁化强度，量子相干器件中的磁通量等，亦具有隧道效应，称为宏观量子隧道效应。例如，具有铁磁性的磁铁，其粒子尺寸达到纳米级时，由铁磁性变为顺磁性或软磁性。</a:t>
            </a:r>
            <a:endParaRPr lang="zh-CN" altLang="en-US" sz="2400" b="1" dirty="0">
              <a:latin typeface="Times New Roman" panose="02020603050405020304" pitchFamily="18" charset="0"/>
              <a:ea typeface="宋体" panose="02010600030101010101" pitchFamily="2" charset="-122"/>
            </a:endParaRPr>
          </a:p>
        </p:txBody>
      </p:sp>
      <p:sp>
        <p:nvSpPr>
          <p:cNvPr id="180227" name="Rectangle 3"/>
          <p:cNvSpPr/>
          <p:nvPr/>
        </p:nvSpPr>
        <p:spPr>
          <a:xfrm>
            <a:off x="0" y="762000"/>
            <a:ext cx="4114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4</a:t>
            </a:r>
            <a:r>
              <a:rPr lang="en-US" altLang="en-US" sz="2800" b="1" dirty="0">
                <a:solidFill>
                  <a:srgbClr val="540C2B"/>
                </a:solidFill>
                <a:latin typeface="楷体_GB2312" panose="02010609030101010101" pitchFamily="49" charset="-122"/>
                <a:ea typeface="楷体_GB2312" panose="02010609030101010101" pitchFamily="49" charset="-122"/>
              </a:rPr>
              <a:t>. </a:t>
            </a:r>
            <a:r>
              <a:rPr lang="en-US" altLang="zh-CN" sz="2800" b="1" dirty="0">
                <a:solidFill>
                  <a:srgbClr val="540C2B"/>
                </a:solidFill>
                <a:latin typeface="楷体_GB2312" panose="02010609030101010101" pitchFamily="49" charset="-122"/>
                <a:ea typeface="楷体_GB2312" panose="02010609030101010101" pitchFamily="49" charset="-122"/>
              </a:rPr>
              <a:t>宏观量子隧道效应</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Effect transition="in" filter="wipe(left)">
                                      <p:cBhvr>
                                        <p:cTn id="7" dur="500"/>
                                        <p:tgtEl>
                                          <p:spTgt spid="1802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26">
                                            <p:txEl>
                                              <p:charRg st="0" end="124"/>
                                            </p:txEl>
                                          </p:spTgt>
                                        </p:tgtEl>
                                        <p:attrNameLst>
                                          <p:attrName>style.visibility</p:attrName>
                                        </p:attrNameLst>
                                      </p:cBhvr>
                                      <p:to>
                                        <p:strVal val="visible"/>
                                      </p:to>
                                    </p:set>
                                    <p:animEffect transition="in" filter="dissolve">
                                      <p:cBhvr>
                                        <p:cTn id="12" dur="500"/>
                                        <p:tgtEl>
                                          <p:spTgt spid="180226">
                                            <p:txEl>
                                              <p:charRg st="0" end="1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uild="p"/>
      <p:bldP spid="18022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矩形 3"/>
          <p:cNvSpPr/>
          <p:nvPr/>
        </p:nvSpPr>
        <p:spPr>
          <a:xfrm>
            <a:off x="457200" y="11430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以上</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种效应体现了纳米材料的基本特征，使其性能指标，如电导率、机械强度、磁化率和降解速度等成数量级变化。此外，纳米材料还具有其他特性，如介电限域效应、表面缺陷等，这些特性共同使纳米材料呈现出许多奇异的物理、化学性质，具有广泛的应用前景。</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图</a:t>
            </a:r>
            <a:r>
              <a:rPr lang="en-US" altLang="zh-CN" sz="2400" b="1" dirty="0">
                <a:latin typeface="Times New Roman" panose="02020603050405020304" pitchFamily="18" charset="0"/>
                <a:ea typeface="宋体" panose="02010600030101010101" pitchFamily="2" charset="-122"/>
              </a:rPr>
              <a:t>6-21</a:t>
            </a:r>
            <a:r>
              <a:rPr lang="zh-CN" altLang="en-US" sz="2400" b="1" dirty="0">
                <a:latin typeface="Times New Roman" panose="02020603050405020304" pitchFamily="18" charset="0"/>
                <a:ea typeface="宋体" panose="02010600030101010101" pitchFamily="2" charset="-122"/>
              </a:rPr>
              <a:t>为防水纳米雨伞，图</a:t>
            </a:r>
            <a:r>
              <a:rPr lang="en-US" altLang="zh-CN" sz="2400" b="1" dirty="0">
                <a:latin typeface="Times New Roman" panose="02020603050405020304" pitchFamily="18" charset="0"/>
                <a:ea typeface="宋体" panose="02010600030101010101" pitchFamily="2" charset="-122"/>
              </a:rPr>
              <a:t>6-22</a:t>
            </a:r>
            <a:r>
              <a:rPr lang="zh-CN" altLang="en-US" sz="2400" b="1" dirty="0">
                <a:latin typeface="Times New Roman" panose="02020603050405020304" pitchFamily="18" charset="0"/>
                <a:ea typeface="宋体" panose="02010600030101010101" pitchFamily="2" charset="-122"/>
              </a:rPr>
              <a:t>是世界上第一辆框架均采用</a:t>
            </a:r>
            <a:r>
              <a:rPr lang="en-US" altLang="zh-CN" sz="2400" b="1" dirty="0">
                <a:latin typeface="Times New Roman" panose="02020603050405020304" pitchFamily="18" charset="0"/>
                <a:ea typeface="宋体" panose="02010600030101010101" pitchFamily="2" charset="-122"/>
              </a:rPr>
              <a:t>Easton CNT</a:t>
            </a:r>
            <a:r>
              <a:rPr lang="zh-CN" altLang="en-US" sz="2400" b="1" dirty="0">
                <a:latin typeface="Times New Roman" panose="02020603050405020304" pitchFamily="18" charset="0"/>
                <a:ea typeface="宋体" panose="02010600030101010101" pitchFamily="2" charset="-122"/>
              </a:rPr>
              <a:t>纳米技术的自行车，管状的纳米碳分子组成的纤维，其强度</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质量比是铝的几百倍，传统碳纤维高数倍。</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1250">
                                            <p:txEl>
                                              <p:charRg st="0" end="126"/>
                                            </p:txEl>
                                          </p:spTgt>
                                        </p:tgtEl>
                                        <p:attrNameLst>
                                          <p:attrName>style.visibility</p:attrName>
                                        </p:attrNameLst>
                                      </p:cBhvr>
                                      <p:to>
                                        <p:strVal val="visible"/>
                                      </p:to>
                                    </p:set>
                                    <p:animEffect transition="in" filter="dissolve">
                                      <p:cBhvr>
                                        <p:cTn id="7" dur="500"/>
                                        <p:tgtEl>
                                          <p:spTgt spid="181250">
                                            <p:txEl>
                                              <p:charRg st="0" end="1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1250">
                                            <p:txEl>
                                              <p:charRg st="126" end="220"/>
                                            </p:txEl>
                                          </p:spTgt>
                                        </p:tgtEl>
                                        <p:attrNameLst>
                                          <p:attrName>style.visibility</p:attrName>
                                        </p:attrNameLst>
                                      </p:cBhvr>
                                      <p:to>
                                        <p:strVal val="visible"/>
                                      </p:to>
                                    </p:set>
                                    <p:animEffect transition="in" filter="dissolve">
                                      <p:cBhvr>
                                        <p:cTn id="12" dur="500"/>
                                        <p:tgtEl>
                                          <p:spTgt spid="181250">
                                            <p:txEl>
                                              <p:charRg st="126" end="2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9810" name="Group 5"/>
          <p:cNvGrpSpPr/>
          <p:nvPr/>
        </p:nvGrpSpPr>
        <p:grpSpPr>
          <a:xfrm>
            <a:off x="1447800" y="1206500"/>
            <a:ext cx="6324600" cy="2286000"/>
            <a:chOff x="2046" y="11609"/>
            <a:chExt cx="8172" cy="2890"/>
          </a:xfrm>
        </p:grpSpPr>
        <p:pic>
          <p:nvPicPr>
            <p:cNvPr id="119812" name="Picture 6" descr="Ocr0010"/>
            <p:cNvPicPr>
              <a:picLocks noChangeAspect="1"/>
            </p:cNvPicPr>
            <p:nvPr/>
          </p:nvPicPr>
          <p:blipFill>
            <a:blip r:embed="rId1"/>
            <a:srcRect l="12344" t="7454" r="5327" b="19055"/>
            <a:stretch>
              <a:fillRect/>
            </a:stretch>
          </p:blipFill>
          <p:spPr>
            <a:xfrm>
              <a:off x="2046" y="11747"/>
              <a:ext cx="2697" cy="2752"/>
            </a:xfrm>
            <a:prstGeom prst="rect">
              <a:avLst/>
            </a:prstGeom>
            <a:noFill/>
            <a:ln w="9525">
              <a:noFill/>
            </a:ln>
          </p:spPr>
        </p:pic>
        <p:pic>
          <p:nvPicPr>
            <p:cNvPr id="119813" name="Picture 7" descr="Ocr0007"/>
            <p:cNvPicPr>
              <a:picLocks noChangeAspect="1"/>
            </p:cNvPicPr>
            <p:nvPr/>
          </p:nvPicPr>
          <p:blipFill>
            <a:blip r:embed="rId2"/>
            <a:srcRect l="7809" t="9361" r="10483" b="42366"/>
            <a:stretch>
              <a:fillRect/>
            </a:stretch>
          </p:blipFill>
          <p:spPr>
            <a:xfrm>
              <a:off x="5814" y="11609"/>
              <a:ext cx="4404" cy="2849"/>
            </a:xfrm>
            <a:prstGeom prst="rect">
              <a:avLst/>
            </a:prstGeom>
            <a:noFill/>
            <a:ln w="9525">
              <a:noFill/>
            </a:ln>
          </p:spPr>
        </p:pic>
      </p:grpSp>
      <p:sp>
        <p:nvSpPr>
          <p:cNvPr id="119811" name="Rectangle 8"/>
          <p:cNvSpPr/>
          <p:nvPr/>
        </p:nvSpPr>
        <p:spPr>
          <a:xfrm>
            <a:off x="304800" y="3902075"/>
            <a:ext cx="7569200" cy="4000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spcBef>
                <a:spcPct val="0"/>
              </a:spcBef>
              <a:buClrTx/>
              <a:buSzTx/>
              <a:buFontTx/>
              <a:buNone/>
            </a:pPr>
            <a:r>
              <a:rPr lang="zh-CN" altLang="en-US" sz="2000" b="1" dirty="0">
                <a:latin typeface="Times New Roman" panose="02020603050405020304" pitchFamily="18" charset="0"/>
                <a:ea typeface="宋体" panose="02010600030101010101" pitchFamily="2" charset="-122"/>
              </a:rPr>
              <a:t>图</a:t>
            </a:r>
            <a:r>
              <a:rPr lang="en-US" altLang="zh-CN" sz="2000" b="1" dirty="0">
                <a:latin typeface="Times New Roman" panose="02020603050405020304" pitchFamily="18" charset="0"/>
                <a:ea typeface="宋体" panose="02010600030101010101" pitchFamily="2" charset="-122"/>
              </a:rPr>
              <a:t>6-21 </a:t>
            </a:r>
            <a:r>
              <a:rPr lang="zh-CN" altLang="en-US" sz="2000" b="1" dirty="0">
                <a:latin typeface="Times New Roman" panose="02020603050405020304" pitchFamily="18" charset="0"/>
                <a:ea typeface="宋体" panose="02010600030101010101" pitchFamily="2" charset="-122"/>
              </a:rPr>
              <a:t>防水纳米雨伞             图</a:t>
            </a:r>
            <a:r>
              <a:rPr lang="en-US" altLang="zh-CN" sz="2000" b="1" dirty="0">
                <a:latin typeface="Times New Roman" panose="02020603050405020304" pitchFamily="18" charset="0"/>
                <a:ea typeface="宋体" panose="02010600030101010101" pitchFamily="2" charset="-122"/>
              </a:rPr>
              <a:t>6-22  </a:t>
            </a:r>
            <a:r>
              <a:rPr lang="zh-CN" altLang="en-US" sz="2000" b="1" dirty="0">
                <a:latin typeface="Times New Roman" panose="02020603050405020304" pitchFamily="18" charset="0"/>
                <a:ea typeface="宋体" panose="02010600030101010101" pitchFamily="2" charset="-122"/>
              </a:rPr>
              <a:t>框架均采用纳米技术的自行车</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矩形 3"/>
          <p:cNvSpPr/>
          <p:nvPr/>
        </p:nvSpPr>
        <p:spPr>
          <a:xfrm>
            <a:off x="457200" y="17145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将纳米微粒添加到常规陶瓷中，可使陶瓷的综合性能得到改善。在这方面，许多国家取得了具有商业价值的研究成果。例如，英国把纳米氧化铝与二氧化锆进行混合，在实验室得到了高韧性的陶瓷材料，烧结温度可降低</a:t>
            </a:r>
            <a:r>
              <a:rPr lang="en-US" altLang="zh-CN" sz="2400" b="1" dirty="0">
                <a:latin typeface="Times New Roman" panose="02020603050405020304" pitchFamily="18" charset="0"/>
                <a:ea typeface="宋体" panose="02010600030101010101" pitchFamily="2" charset="-122"/>
              </a:rPr>
              <a:t>100℃</a:t>
            </a:r>
            <a:r>
              <a:rPr lang="zh-CN" altLang="en-US" sz="2400" b="1" dirty="0">
                <a:latin typeface="Times New Roman" panose="02020603050405020304" pitchFamily="18" charset="0"/>
                <a:ea typeface="宋体" panose="02010600030101010101" pitchFamily="2" charset="-122"/>
              </a:rPr>
              <a:t>；日本用纳米氧化铝与亚微米的二氧化硅合成莫来石，这是一种非常好的电子封装材料；我国科技工作者已成功研制出多种纳米陶瓷粉体材料，其中氧化锆、碳化硅、氧化铝、氧化铁、氮化硅已进入规模化生产的试验阶段。</a:t>
            </a:r>
            <a:endParaRPr lang="zh-CN" altLang="en-US" sz="2400" b="1" dirty="0">
              <a:latin typeface="Times New Roman" panose="02020603050405020304" pitchFamily="18" charset="0"/>
              <a:ea typeface="宋体" panose="02010600030101010101" pitchFamily="2" charset="-122"/>
            </a:endParaRPr>
          </a:p>
        </p:txBody>
      </p:sp>
      <p:sp>
        <p:nvSpPr>
          <p:cNvPr id="182275" name="Rectangle 3"/>
          <p:cNvSpPr/>
          <p:nvPr/>
        </p:nvSpPr>
        <p:spPr>
          <a:xfrm>
            <a:off x="0" y="1143000"/>
            <a:ext cx="3048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a:t>
            </a:r>
            <a:r>
              <a:rPr lang="en-US" altLang="en-US" sz="2800" b="1" dirty="0">
                <a:solidFill>
                  <a:srgbClr val="540C2B"/>
                </a:solidFill>
                <a:latin typeface="楷体_GB2312" panose="02010609030101010101" pitchFamily="49" charset="-122"/>
                <a:ea typeface="楷体_GB2312" panose="02010609030101010101" pitchFamily="49" charset="-122"/>
              </a:rPr>
              <a:t>. 陶瓷增韧</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
        <p:nvSpPr>
          <p:cNvPr id="182276" name="Text Box 4"/>
          <p:cNvSpPr txBox="1"/>
          <p:nvPr/>
        </p:nvSpPr>
        <p:spPr>
          <a:xfrm>
            <a:off x="0" y="444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6.5.2  </a:t>
            </a:r>
            <a:r>
              <a:rPr lang="zh-CN" altLang="en-US" sz="3200" b="1" dirty="0">
                <a:solidFill>
                  <a:schemeClr val="bg1"/>
                </a:solidFill>
                <a:latin typeface="Times New Roman" panose="02020603050405020304" pitchFamily="18" charset="0"/>
                <a:ea typeface="楷体_GB2312" panose="02010609030101010101" pitchFamily="49" charset="-122"/>
              </a:rPr>
              <a:t>纳米材料的应用</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82276"/>
                                        </p:tgtEl>
                                        <p:attrNameLst>
                                          <p:attrName>style.visibility</p:attrName>
                                        </p:attrNameLst>
                                      </p:cBhvr>
                                      <p:to>
                                        <p:strVal val="visible"/>
                                      </p:to>
                                    </p:set>
                                    <p:anim calcmode="lin" valueType="num">
                                      <p:cBhvr>
                                        <p:cTn id="7" dur="1000" fill="hold"/>
                                        <p:tgtEl>
                                          <p:spTgt spid="182276"/>
                                        </p:tgtEl>
                                        <p:attrNameLst>
                                          <p:attrName>ppt_w</p:attrName>
                                        </p:attrNameLst>
                                      </p:cBhvr>
                                      <p:tavLst>
                                        <p:tav tm="0">
                                          <p:val>
                                            <p:fltVal val="0.000000"/>
                                          </p:val>
                                        </p:tav>
                                        <p:tav tm="100000">
                                          <p:val>
                                            <p:strVal val="#ppt_w"/>
                                          </p:val>
                                        </p:tav>
                                      </p:tavLst>
                                    </p:anim>
                                    <p:anim calcmode="lin" valueType="num">
                                      <p:cBhvr>
                                        <p:cTn id="8" dur="1000" fill="hold"/>
                                        <p:tgtEl>
                                          <p:spTgt spid="182276"/>
                                        </p:tgtEl>
                                        <p:attrNameLst>
                                          <p:attrName>ppt_h</p:attrName>
                                        </p:attrNameLst>
                                      </p:cBhvr>
                                      <p:tavLst>
                                        <p:tav tm="0">
                                          <p:val>
                                            <p:fltVal val="0.000000"/>
                                          </p:val>
                                        </p:tav>
                                        <p:tav tm="100000">
                                          <p:val>
                                            <p:strVal val="#ppt_h"/>
                                          </p:val>
                                        </p:tav>
                                      </p:tavLst>
                                    </p:anim>
                                    <p:anim calcmode="lin" valueType="num">
                                      <p:cBhvr>
                                        <p:cTn id="9" dur="1000" fill="hold"/>
                                        <p:tgtEl>
                                          <p:spTgt spid="182276"/>
                                        </p:tgtEl>
                                        <p:attrNameLst>
                                          <p:attrName>style.rotation</p:attrName>
                                        </p:attrNameLst>
                                      </p:cBhvr>
                                      <p:tavLst>
                                        <p:tav tm="0">
                                          <p:val>
                                            <p:fltVal val="90.000000"/>
                                          </p:val>
                                        </p:tav>
                                        <p:tav tm="100000">
                                          <p:val>
                                            <p:fltVal val="0.000000"/>
                                          </p:val>
                                        </p:tav>
                                      </p:tavLst>
                                    </p:anim>
                                    <p:animEffect transition="in" filter="fade">
                                      <p:cBhvr>
                                        <p:cTn id="10" dur="1000"/>
                                        <p:tgtEl>
                                          <p:spTgt spid="18227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2275"/>
                                        </p:tgtEl>
                                        <p:attrNameLst>
                                          <p:attrName>style.visibility</p:attrName>
                                        </p:attrNameLst>
                                      </p:cBhvr>
                                      <p:to>
                                        <p:strVal val="visible"/>
                                      </p:to>
                                    </p:set>
                                    <p:animEffect transition="in" filter="wipe(left)">
                                      <p:cBhvr>
                                        <p:cTn id="15" dur="500"/>
                                        <p:tgtEl>
                                          <p:spTgt spid="18227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82274">
                                            <p:txEl>
                                              <p:charRg st="0" end="207"/>
                                            </p:txEl>
                                          </p:spTgt>
                                        </p:tgtEl>
                                        <p:attrNameLst>
                                          <p:attrName>style.visibility</p:attrName>
                                        </p:attrNameLst>
                                      </p:cBhvr>
                                      <p:to>
                                        <p:strVal val="visible"/>
                                      </p:to>
                                    </p:set>
                                    <p:animEffect transition="in" filter="dissolve">
                                      <p:cBhvr>
                                        <p:cTn id="20" dur="500"/>
                                        <p:tgtEl>
                                          <p:spTgt spid="182274">
                                            <p:txEl>
                                              <p:charRg st="0" end="20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build="p"/>
      <p:bldP spid="182275" grpId="0" animBg="1"/>
      <p:bldP spid="18227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矩形 3"/>
          <p:cNvSpPr/>
          <p:nvPr/>
        </p:nvSpPr>
        <p:spPr>
          <a:xfrm>
            <a:off x="533400" y="1397000"/>
            <a:ext cx="8305800" cy="33242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1</a:t>
            </a:r>
            <a:r>
              <a:rPr lang="zh-CN" altLang="en-US" sz="2400" b="1" dirty="0">
                <a:solidFill>
                  <a:srgbClr val="6600CC"/>
                </a:solidFill>
                <a:latin typeface="Times New Roman" panose="02020603050405020304" pitchFamily="18" charset="0"/>
                <a:ea typeface="宋体" panose="02010600030101010101" pitchFamily="2" charset="-122"/>
              </a:rPr>
              <a:t>）巨磁电阻材料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磁性金属和合金在一定磁场下电阻改变的现象，称为磁电阻。所谓巨磁电阻是指在一定磁场下电阻急剧减小，其减小的幅度比通常的磁性金属或合金大</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余倍。由于巨磁电阻效应大，可使器件小型化、廉价化，广泛用于高密度读出磁头、磁存储元件、数控机床、非接触开关以及微弱磁场探测器中。</a:t>
            </a:r>
            <a:endParaRPr lang="zh-CN" altLang="en-US" sz="2400" b="1" dirty="0">
              <a:latin typeface="Times New Roman" panose="02020603050405020304" pitchFamily="18" charset="0"/>
              <a:ea typeface="宋体" panose="02010600030101010101" pitchFamily="2" charset="-122"/>
            </a:endParaRPr>
          </a:p>
        </p:txBody>
      </p:sp>
      <p:sp>
        <p:nvSpPr>
          <p:cNvPr id="183299" name="Rectangle 3"/>
          <p:cNvSpPr/>
          <p:nvPr/>
        </p:nvSpPr>
        <p:spPr>
          <a:xfrm>
            <a:off x="0" y="825500"/>
            <a:ext cx="3429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2</a:t>
            </a:r>
            <a:r>
              <a:rPr lang="en-US" altLang="en-US" sz="2800" b="1" dirty="0">
                <a:solidFill>
                  <a:srgbClr val="540C2B"/>
                </a:solidFill>
                <a:latin typeface="楷体_GB2312" panose="02010609030101010101" pitchFamily="49" charset="-122"/>
                <a:ea typeface="楷体_GB2312" panose="02010609030101010101" pitchFamily="49" charset="-122"/>
              </a:rPr>
              <a:t>. 磁性材料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9"/>
                                        </p:tgtEl>
                                        <p:attrNameLst>
                                          <p:attrName>style.visibility</p:attrName>
                                        </p:attrNameLst>
                                      </p:cBhvr>
                                      <p:to>
                                        <p:strVal val="visible"/>
                                      </p:to>
                                    </p:set>
                                    <p:animEffect transition="in" filter="wipe(left)">
                                      <p:cBhvr>
                                        <p:cTn id="7" dur="500"/>
                                        <p:tgtEl>
                                          <p:spTgt spid="1832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3298">
                                            <p:txEl>
                                              <p:charRg st="0" end="17"/>
                                            </p:txEl>
                                          </p:spTgt>
                                        </p:tgtEl>
                                        <p:attrNameLst>
                                          <p:attrName>style.visibility</p:attrName>
                                        </p:attrNameLst>
                                      </p:cBhvr>
                                      <p:to>
                                        <p:strVal val="visible"/>
                                      </p:to>
                                    </p:set>
                                    <p:animEffect transition="in" filter="dissolve">
                                      <p:cBhvr>
                                        <p:cTn id="12" dur="500"/>
                                        <p:tgtEl>
                                          <p:spTgt spid="183298">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3298">
                                            <p:txEl>
                                              <p:charRg st="17" end="159"/>
                                            </p:txEl>
                                          </p:spTgt>
                                        </p:tgtEl>
                                        <p:attrNameLst>
                                          <p:attrName>style.visibility</p:attrName>
                                        </p:attrNameLst>
                                      </p:cBhvr>
                                      <p:to>
                                        <p:strVal val="visible"/>
                                      </p:to>
                                    </p:set>
                                    <p:animEffect transition="in" filter="dissolve">
                                      <p:cBhvr>
                                        <p:cTn id="17" dur="500"/>
                                        <p:tgtEl>
                                          <p:spTgt spid="183298">
                                            <p:txEl>
                                              <p:charRg st="17" end="1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build="p"/>
      <p:bldP spid="183299"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矩形 3"/>
          <p:cNvSpPr/>
          <p:nvPr/>
        </p:nvSpPr>
        <p:spPr>
          <a:xfrm>
            <a:off x="457200" y="571500"/>
            <a:ext cx="8305800" cy="47085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2</a:t>
            </a:r>
            <a:r>
              <a:rPr lang="zh-CN" altLang="en-US" sz="2400" b="1" dirty="0">
                <a:solidFill>
                  <a:srgbClr val="6600CC"/>
                </a:solidFill>
                <a:latin typeface="Times New Roman" panose="02020603050405020304" pitchFamily="18" charset="0"/>
                <a:ea typeface="宋体" panose="02010600030101010101" pitchFamily="2" charset="-122"/>
              </a:rPr>
              <a:t>）新型磁性液体和磁记录材料</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          1963</a:t>
            </a:r>
            <a:r>
              <a:rPr lang="zh-CN" altLang="en-US" sz="2400" b="1" dirty="0">
                <a:latin typeface="Times New Roman" panose="02020603050405020304" pitchFamily="18" charset="0"/>
                <a:ea typeface="宋体" panose="02010600030101010101" pitchFamily="2" charset="-122"/>
              </a:rPr>
              <a:t>年美国国家航空与航天局首先将油酸包覆在超细</a:t>
            </a:r>
            <a:r>
              <a:rPr lang="en-US" altLang="zh-CN" sz="2400" b="1" dirty="0">
                <a:latin typeface="Times New Roman" panose="02020603050405020304" pitchFamily="18" charset="0"/>
                <a:ea typeface="宋体" panose="02010600030101010101" pitchFamily="2" charset="-122"/>
              </a:rPr>
              <a:t>Fe</a:t>
            </a:r>
            <a:r>
              <a:rPr lang="en-US" altLang="zh-CN" sz="2400" b="1" baseline="-25000"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颗粒表面，并高度弥散于煤油中，形成了稳定的胶体体系。在磁场作用下，颗粒带动着液体一起运动，就像整个液体具有了磁性，取名为磁性液体。</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磁性液体的主要特点是在磁场作用下，可以被磁化，可以在磁场中运动，同时又保留液体的流动性，当光波、声波在其中传播时，如同在各向异性的晶体中传播。磁性液体主要应用于旋转轴的动态密封、新型的润滑剂、各种阻尼器件、无声快速的磁印刷、磁性液体发电机、磁记录材料等方面。</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22">
                                            <p:txEl>
                                              <p:charRg st="0" end="16"/>
                                            </p:txEl>
                                          </p:spTgt>
                                        </p:tgtEl>
                                        <p:attrNameLst>
                                          <p:attrName>style.visibility</p:attrName>
                                        </p:attrNameLst>
                                      </p:cBhvr>
                                      <p:to>
                                        <p:strVal val="visible"/>
                                      </p:to>
                                    </p:set>
                                    <p:animEffect transition="in" filter="dissolve">
                                      <p:cBhvr>
                                        <p:cTn id="7" dur="500"/>
                                        <p:tgtEl>
                                          <p:spTgt spid="184322">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4322">
                                            <p:txEl>
                                              <p:charRg st="16" end="122"/>
                                            </p:txEl>
                                          </p:spTgt>
                                        </p:tgtEl>
                                        <p:attrNameLst>
                                          <p:attrName>style.visibility</p:attrName>
                                        </p:attrNameLst>
                                      </p:cBhvr>
                                      <p:to>
                                        <p:strVal val="visible"/>
                                      </p:to>
                                    </p:set>
                                    <p:animEffect transition="in" filter="dissolve">
                                      <p:cBhvr>
                                        <p:cTn id="12" dur="500"/>
                                        <p:tgtEl>
                                          <p:spTgt spid="184322">
                                            <p:txEl>
                                              <p:charRg st="16"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4322">
                                            <p:txEl>
                                              <p:charRg st="122" end="259"/>
                                            </p:txEl>
                                          </p:spTgt>
                                        </p:tgtEl>
                                        <p:attrNameLst>
                                          <p:attrName>style.visibility</p:attrName>
                                        </p:attrNameLst>
                                      </p:cBhvr>
                                      <p:to>
                                        <p:strVal val="visible"/>
                                      </p:to>
                                    </p:set>
                                    <p:animEffect transition="in" filter="dissolve">
                                      <p:cBhvr>
                                        <p:cTn id="17" dur="500"/>
                                        <p:tgtEl>
                                          <p:spTgt spid="184322">
                                            <p:txEl>
                                              <p:charRg st="122" end="2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矩形 3"/>
          <p:cNvSpPr/>
          <p:nvPr/>
        </p:nvSpPr>
        <p:spPr>
          <a:xfrm>
            <a:off x="381000" y="1460500"/>
            <a:ext cx="8305800" cy="42465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1</a:t>
            </a:r>
            <a:r>
              <a:rPr lang="zh-CN" altLang="en-US" sz="2400" b="1" dirty="0">
                <a:solidFill>
                  <a:srgbClr val="6600CC"/>
                </a:solidFill>
                <a:latin typeface="Times New Roman" panose="02020603050405020304" pitchFamily="18" charset="0"/>
                <a:ea typeface="宋体" panose="02010600030101010101" pitchFamily="2" charset="-122"/>
              </a:rPr>
              <a:t>）细胞分离</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将纳米微粒应用于生物细胞分离技术，在医疗的临床诊断上有着广阔的应用前景。例如，妇女怀孕</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个星期左右，其血液中开始出现极少量的胎儿细胞。过去常采用价格昂贵并对人体有害的羊水诊断技术判断胎儿是否有遗传缺陷，如果用纳米微粒则很容易将血液中少量的胎儿细胞分离出来，方法简便、价格便宜，且准确率高。目前，人们已经获得了用纳米</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实现细胞分离的新技术，这方面的临床应用还在实践中。</a:t>
            </a:r>
            <a:endParaRPr lang="zh-CN" altLang="en-US" sz="2400" b="1" dirty="0">
              <a:latin typeface="Times New Roman" panose="02020603050405020304" pitchFamily="18" charset="0"/>
              <a:ea typeface="宋体" panose="02010600030101010101" pitchFamily="2" charset="-122"/>
            </a:endParaRPr>
          </a:p>
        </p:txBody>
      </p:sp>
      <p:sp>
        <p:nvSpPr>
          <p:cNvPr id="185347" name="Rectangle 3"/>
          <p:cNvSpPr/>
          <p:nvPr/>
        </p:nvSpPr>
        <p:spPr>
          <a:xfrm>
            <a:off x="0" y="762000"/>
            <a:ext cx="53340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3. 在生物和医学领域的应用</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7"/>
                                        </p:tgtEl>
                                        <p:attrNameLst>
                                          <p:attrName>style.visibility</p:attrName>
                                        </p:attrNameLst>
                                      </p:cBhvr>
                                      <p:to>
                                        <p:strVal val="visible"/>
                                      </p:to>
                                    </p:set>
                                    <p:animEffect transition="in" filter="wipe(left)">
                                      <p:cBhvr>
                                        <p:cTn id="7" dur="500"/>
                                        <p:tgtEl>
                                          <p:spTgt spid="1853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5346">
                                            <p:txEl>
                                              <p:charRg st="0" end="14"/>
                                            </p:txEl>
                                          </p:spTgt>
                                        </p:tgtEl>
                                        <p:attrNameLst>
                                          <p:attrName>style.visibility</p:attrName>
                                        </p:attrNameLst>
                                      </p:cBhvr>
                                      <p:to>
                                        <p:strVal val="visible"/>
                                      </p:to>
                                    </p:set>
                                    <p:animEffect transition="in" filter="dissolve">
                                      <p:cBhvr>
                                        <p:cTn id="12" dur="500"/>
                                        <p:tgtEl>
                                          <p:spTgt spid="185346">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5346">
                                            <p:txEl>
                                              <p:charRg st="14" end="209"/>
                                            </p:txEl>
                                          </p:spTgt>
                                        </p:tgtEl>
                                        <p:attrNameLst>
                                          <p:attrName>style.visibility</p:attrName>
                                        </p:attrNameLst>
                                      </p:cBhvr>
                                      <p:to>
                                        <p:strVal val="visible"/>
                                      </p:to>
                                    </p:set>
                                    <p:animEffect transition="in" filter="dissolve">
                                      <p:cBhvr>
                                        <p:cTn id="17" dur="500"/>
                                        <p:tgtEl>
                                          <p:spTgt spid="185346">
                                            <p:txEl>
                                              <p:charRg st="14" end="2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build="p"/>
      <p:bldP spid="185347"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矩形 3"/>
          <p:cNvSpPr/>
          <p:nvPr/>
        </p:nvSpPr>
        <p:spPr>
          <a:xfrm>
            <a:off x="457200" y="889000"/>
            <a:ext cx="8305800" cy="47085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6600CC"/>
                </a:solidFill>
                <a:latin typeface="Times New Roman" panose="02020603050405020304" pitchFamily="18" charset="0"/>
                <a:ea typeface="宋体" panose="02010600030101010101" pitchFamily="2" charset="-122"/>
              </a:rPr>
              <a:t>（</a:t>
            </a:r>
            <a:r>
              <a:rPr lang="en-US" altLang="zh-CN" sz="2400" b="1" dirty="0">
                <a:solidFill>
                  <a:srgbClr val="6600CC"/>
                </a:solidFill>
                <a:latin typeface="Times New Roman" panose="02020603050405020304" pitchFamily="18" charset="0"/>
                <a:ea typeface="宋体" panose="02010600030101010101" pitchFamily="2" charset="-122"/>
              </a:rPr>
              <a:t>2</a:t>
            </a:r>
            <a:r>
              <a:rPr lang="zh-CN" altLang="en-US" sz="2400" b="1" dirty="0">
                <a:solidFill>
                  <a:srgbClr val="6600CC"/>
                </a:solidFill>
                <a:latin typeface="Times New Roman" panose="02020603050405020304" pitchFamily="18" charset="0"/>
                <a:ea typeface="宋体" panose="02010600030101010101" pitchFamily="2" charset="-122"/>
              </a:rPr>
              <a:t>）细胞染色</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细胞染色对于用光学显微镜和电子显微镜研究细胞内各种组织十分重要。物理学家已经发展了几种染色技术，如荧光抗体法、铁蛋白抗体法和过氧化物酶染色法等。纳米微粒的出现，为建立新的染色技术提供了新的途径。</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例如比利时的德梅博士将金超微粒</a:t>
            </a:r>
            <a:r>
              <a:rPr lang="en-US" altLang="zh-CN" sz="2400" b="1" dirty="0">
                <a:latin typeface="Times New Roman" panose="02020603050405020304" pitchFamily="18" charset="0"/>
                <a:ea typeface="宋体" panose="02010600030101010101" pitchFamily="2" charset="-122"/>
              </a:rPr>
              <a:t>(3-40nm)</a:t>
            </a:r>
            <a:r>
              <a:rPr lang="zh-CN" altLang="en-US" sz="2400" b="1" dirty="0">
                <a:latin typeface="Times New Roman" panose="02020603050405020304" pitchFamily="18" charset="0"/>
                <a:ea typeface="宋体" panose="02010600030101010101" pitchFamily="2" charset="-122"/>
              </a:rPr>
              <a:t>与预先精制的抗体混合，制备出金纳米粒子</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抗体的复合体，不同的抗体对细胞内各种器官和骨骼组织的敏感程度和亲和力不同，在光学显微镜或电子显微镜下衬度差别很大，从而较为容易地分辨各种组织。</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70">
                                            <p:txEl>
                                              <p:charRg st="0" end="18"/>
                                            </p:txEl>
                                          </p:spTgt>
                                        </p:tgtEl>
                                        <p:attrNameLst>
                                          <p:attrName>style.visibility</p:attrName>
                                        </p:attrNameLst>
                                      </p:cBhvr>
                                      <p:to>
                                        <p:strVal val="visible"/>
                                      </p:to>
                                    </p:set>
                                    <p:animEffect transition="in" filter="dissolve">
                                      <p:cBhvr>
                                        <p:cTn id="7" dur="500"/>
                                        <p:tgtEl>
                                          <p:spTgt spid="186370">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6370">
                                            <p:txEl>
                                              <p:charRg st="18" end="122"/>
                                            </p:txEl>
                                          </p:spTgt>
                                        </p:tgtEl>
                                        <p:attrNameLst>
                                          <p:attrName>style.visibility</p:attrName>
                                        </p:attrNameLst>
                                      </p:cBhvr>
                                      <p:to>
                                        <p:strVal val="visible"/>
                                      </p:to>
                                    </p:set>
                                    <p:animEffect transition="in" filter="dissolve">
                                      <p:cBhvr>
                                        <p:cTn id="12" dur="500"/>
                                        <p:tgtEl>
                                          <p:spTgt spid="186370">
                                            <p:txEl>
                                              <p:charRg st="18"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6370">
                                            <p:txEl>
                                              <p:charRg st="122" end="244"/>
                                            </p:txEl>
                                          </p:spTgt>
                                        </p:tgtEl>
                                        <p:attrNameLst>
                                          <p:attrName>style.visibility</p:attrName>
                                        </p:attrNameLst>
                                      </p:cBhvr>
                                      <p:to>
                                        <p:strVal val="visible"/>
                                      </p:to>
                                    </p:set>
                                    <p:animEffect transition="in" filter="dissolve">
                                      <p:cBhvr>
                                        <p:cTn id="17" dur="500"/>
                                        <p:tgtEl>
                                          <p:spTgt spid="186370">
                                            <p:txEl>
                                              <p:charRg st="122" end="2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矩形 3"/>
          <p:cNvSpPr/>
          <p:nvPr/>
        </p:nvSpPr>
        <p:spPr>
          <a:xfrm>
            <a:off x="457200" y="1333500"/>
            <a:ext cx="8305800" cy="240030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solidFill>
                  <a:srgbClr val="6600CC"/>
                </a:solidFill>
                <a:latin typeface="Times New Roman" panose="02020603050405020304" pitchFamily="18" charset="0"/>
                <a:ea typeface="宋体" panose="02010600030101010101" pitchFamily="2" charset="-122"/>
              </a:rPr>
              <a:t>      （</a:t>
            </a:r>
            <a:r>
              <a:rPr lang="en-US" altLang="zh-CN" sz="2400" b="1" dirty="0">
                <a:solidFill>
                  <a:srgbClr val="6600CC"/>
                </a:solidFill>
                <a:latin typeface="Times New Roman" panose="02020603050405020304" pitchFamily="18" charset="0"/>
                <a:ea typeface="宋体" panose="02010600030101010101" pitchFamily="2" charset="-122"/>
              </a:rPr>
              <a:t>3</a:t>
            </a:r>
            <a:r>
              <a:rPr lang="zh-CN" altLang="en-US" sz="2400" b="1" dirty="0">
                <a:solidFill>
                  <a:srgbClr val="6600CC"/>
                </a:solidFill>
                <a:latin typeface="Times New Roman" panose="02020603050405020304" pitchFamily="18" charset="0"/>
                <a:ea typeface="宋体" panose="02010600030101010101" pitchFamily="2" charset="-122"/>
              </a:rPr>
              <a:t>）在药物上的应用</a:t>
            </a:r>
            <a:endParaRPr lang="zh-CN" altLang="en-US" sz="2400" b="1" dirty="0">
              <a:solidFill>
                <a:srgbClr val="6600CC"/>
              </a:solidFill>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将磁性纳米微粒表面涂敷高分子，在外部再与蛋白质结合，注入生物体内，在外加磁场作用下通过纳米微粒的磁性导航，使其移向病变部位，达到定向治疗的目的。目前，这项技术还处于实验阶段，已通过动物临床实验。</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7394">
                                            <p:txEl>
                                              <p:charRg st="0" end="17"/>
                                            </p:txEl>
                                          </p:spTgt>
                                        </p:tgtEl>
                                        <p:attrNameLst>
                                          <p:attrName>style.visibility</p:attrName>
                                        </p:attrNameLst>
                                      </p:cBhvr>
                                      <p:to>
                                        <p:strVal val="visible"/>
                                      </p:to>
                                    </p:set>
                                    <p:animEffect transition="in" filter="dissolve">
                                      <p:cBhvr>
                                        <p:cTn id="7" dur="500"/>
                                        <p:tgtEl>
                                          <p:spTgt spid="187394">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7394">
                                            <p:txEl>
                                              <p:charRg st="17" end="122"/>
                                            </p:txEl>
                                          </p:spTgt>
                                        </p:tgtEl>
                                        <p:attrNameLst>
                                          <p:attrName>style.visibility</p:attrName>
                                        </p:attrNameLst>
                                      </p:cBhvr>
                                      <p:to>
                                        <p:strVal val="visible"/>
                                      </p:to>
                                    </p:set>
                                    <p:animEffect transition="in" filter="dissolve">
                                      <p:cBhvr>
                                        <p:cTn id="12" dur="500"/>
                                        <p:tgtEl>
                                          <p:spTgt spid="187394">
                                            <p:txEl>
                                              <p:charRg st="17" end="1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矩形 3"/>
          <p:cNvSpPr/>
          <p:nvPr/>
        </p:nvSpPr>
        <p:spPr>
          <a:xfrm>
            <a:off x="533400" y="1397000"/>
            <a:ext cx="8305800" cy="42465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小尺寸效应使纳米微粒具有常规大块材料不具备的光学特性。研究表明，纳米</a:t>
            </a:r>
            <a:r>
              <a:rPr lang="en-US" altLang="zh-CN" sz="2400" b="1" dirty="0">
                <a:latin typeface="Times New Roman" panose="02020603050405020304" pitchFamily="18" charset="0"/>
                <a:ea typeface="宋体" panose="02010600030101010101" pitchFamily="2" charset="-122"/>
              </a:rPr>
              <a:t>TiO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、纳米</a:t>
            </a:r>
            <a:r>
              <a:rPr lang="en-US" altLang="zh-CN" sz="2400" b="1" dirty="0">
                <a:latin typeface="Times New Roman" panose="02020603050405020304" pitchFamily="18" charset="0"/>
                <a:ea typeface="宋体" panose="02010600030101010101" pitchFamily="2" charset="-122"/>
              </a:rPr>
              <a:t>ZnO</a:t>
            </a:r>
            <a:r>
              <a:rPr lang="zh-CN" altLang="en-US" sz="2400" b="1" dirty="0">
                <a:latin typeface="Times New Roman" panose="02020603050405020304" pitchFamily="18" charset="0"/>
                <a:ea typeface="宋体" panose="02010600030101010101" pitchFamily="2" charset="-122"/>
              </a:rPr>
              <a:t>、纳米</a:t>
            </a:r>
            <a:r>
              <a:rPr lang="en-US" altLang="zh-CN" sz="2400" b="1" dirty="0">
                <a:latin typeface="Times New Roman" panose="02020603050405020304" pitchFamily="18" charset="0"/>
                <a:ea typeface="宋体" panose="02010600030101010101" pitchFamily="2" charset="-122"/>
              </a:rPr>
              <a:t>SiO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等都有吸收紫外光的特征，在防晒油、化妆品中加入这些纳米微粒，可以减弱紫外线对人体的辐射。但应注意，纳米颗粒的粒径不能太小，否则会把汗孔堵塞，不利于身体健康；而粒径太大，紫外吸收减弱。为了解决这个问题，通常在纳米微粒表面包覆一层对人体无害的高聚物，将此复合体加入化妆品中。</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利用纳米微粒的特殊光学特性制备的各种材料将在日常生活和高技术领域得到广泛应用。</a:t>
            </a:r>
            <a:endParaRPr lang="zh-CN" altLang="en-US" sz="2400" b="1" dirty="0">
              <a:latin typeface="Times New Roman" panose="02020603050405020304" pitchFamily="18" charset="0"/>
              <a:ea typeface="宋体" panose="02010600030101010101" pitchFamily="2" charset="-122"/>
            </a:endParaRPr>
          </a:p>
        </p:txBody>
      </p:sp>
      <p:sp>
        <p:nvSpPr>
          <p:cNvPr id="126979" name="Rectangle 4"/>
          <p:cNvSpPr/>
          <p:nvPr/>
        </p:nvSpPr>
        <p:spPr>
          <a:xfrm>
            <a:off x="0" y="762000"/>
            <a:ext cx="3962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4.在光学领域的应用</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42">
                                            <p:txEl>
                                              <p:charRg st="0" end="194"/>
                                            </p:txEl>
                                          </p:spTgt>
                                        </p:tgtEl>
                                        <p:attrNameLst>
                                          <p:attrName>style.visibility</p:attrName>
                                        </p:attrNameLst>
                                      </p:cBhvr>
                                      <p:to>
                                        <p:strVal val="visible"/>
                                      </p:to>
                                    </p:set>
                                    <p:animEffect transition="in" filter="dissolve">
                                      <p:cBhvr>
                                        <p:cTn id="7" dur="500"/>
                                        <p:tgtEl>
                                          <p:spTgt spid="163842">
                                            <p:txEl>
                                              <p:charRg st="0" end="19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42">
                                            <p:txEl>
                                              <p:charRg st="194" end="241"/>
                                            </p:txEl>
                                          </p:spTgt>
                                        </p:tgtEl>
                                        <p:attrNameLst>
                                          <p:attrName>style.visibility</p:attrName>
                                        </p:attrNameLst>
                                      </p:cBhvr>
                                      <p:to>
                                        <p:strVal val="visible"/>
                                      </p:to>
                                    </p:set>
                                    <p:animEffect transition="in" filter="dissolve">
                                      <p:cBhvr>
                                        <p:cTn id="12" dur="500"/>
                                        <p:tgtEl>
                                          <p:spTgt spid="163842">
                                            <p:txEl>
                                              <p:charRg st="194" end="2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矩形 3"/>
          <p:cNvSpPr/>
          <p:nvPr/>
        </p:nvSpPr>
        <p:spPr>
          <a:xfrm>
            <a:off x="304800" y="1460500"/>
            <a:ext cx="8305800" cy="33242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纳米微粒由于其尺寸小，表面所占的体积百分数大，表面原子配位不全等原因使其表面的活性位置增加，催化效率提高。</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近年来，科研工作者在纳米微粒催化剂的研究方面已取得一些成果。例如，以粒径小于</a:t>
            </a:r>
            <a:r>
              <a:rPr lang="en-US" altLang="zh-CN" sz="2400" b="1" dirty="0">
                <a:latin typeface="Times New Roman" panose="02020603050405020304" pitchFamily="18" charset="0"/>
                <a:ea typeface="宋体" panose="02010600030101010101" pitchFamily="2" charset="-122"/>
              </a:rPr>
              <a:t>0.3μm</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Ni</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Cu-Zn</a:t>
            </a:r>
            <a:r>
              <a:rPr lang="zh-CN" altLang="en-US" sz="2400" b="1" dirty="0">
                <a:latin typeface="Times New Roman" panose="02020603050405020304" pitchFamily="18" charset="0"/>
                <a:ea typeface="宋体" panose="02010600030101010101" pitchFamily="2" charset="-122"/>
              </a:rPr>
              <a:t>合金的超细微粉为主要成分的催化剂，使有机物的氢化效率是传统镍催化剂的</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倍。</a:t>
            </a:r>
            <a:endParaRPr lang="zh-CN" altLang="en-US" sz="2400" b="1" dirty="0">
              <a:latin typeface="Times New Roman" panose="02020603050405020304" pitchFamily="18" charset="0"/>
              <a:ea typeface="宋体" panose="02010600030101010101" pitchFamily="2" charset="-122"/>
            </a:endParaRPr>
          </a:p>
        </p:txBody>
      </p:sp>
      <p:sp>
        <p:nvSpPr>
          <p:cNvPr id="128003" name="Rectangle 4"/>
          <p:cNvSpPr/>
          <p:nvPr/>
        </p:nvSpPr>
        <p:spPr>
          <a:xfrm>
            <a:off x="0" y="889000"/>
            <a:ext cx="3962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5. 在催化领域的应用</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4866">
                                            <p:txEl>
                                              <p:charRg st="0" end="60"/>
                                            </p:txEl>
                                          </p:spTgt>
                                        </p:tgtEl>
                                        <p:attrNameLst>
                                          <p:attrName>style.visibility</p:attrName>
                                        </p:attrNameLst>
                                      </p:cBhvr>
                                      <p:to>
                                        <p:strVal val="visible"/>
                                      </p:to>
                                    </p:set>
                                    <p:animEffect transition="in" filter="dissolve">
                                      <p:cBhvr>
                                        <p:cTn id="7" dur="500"/>
                                        <p:tgtEl>
                                          <p:spTgt spid="164866">
                                            <p:txEl>
                                              <p:charRg st="0" end="6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4866">
                                            <p:txEl>
                                              <p:charRg st="60" end="157"/>
                                            </p:txEl>
                                          </p:spTgt>
                                        </p:tgtEl>
                                        <p:attrNameLst>
                                          <p:attrName>style.visibility</p:attrName>
                                        </p:attrNameLst>
                                      </p:cBhvr>
                                      <p:to>
                                        <p:strVal val="visible"/>
                                      </p:to>
                                    </p:set>
                                    <p:animEffect transition="in" filter="dissolve">
                                      <p:cBhvr>
                                        <p:cTn id="12" dur="500"/>
                                        <p:tgtEl>
                                          <p:spTgt spid="164866">
                                            <p:txEl>
                                              <p:charRg st="60" end="1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矩形 3"/>
          <p:cNvSpPr/>
          <p:nvPr/>
        </p:nvSpPr>
        <p:spPr>
          <a:xfrm>
            <a:off x="304800" y="1079500"/>
            <a:ext cx="83058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超细的</a:t>
            </a:r>
            <a:r>
              <a:rPr lang="en-US" altLang="zh-CN" sz="2400" b="1" dirty="0">
                <a:latin typeface="Times New Roman" panose="02020603050405020304" pitchFamily="18" charset="0"/>
                <a:ea typeface="宋体" panose="02010600030101010101" pitchFamily="2" charset="-122"/>
              </a:rPr>
              <a:t>Fe</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Ni</a:t>
            </a:r>
            <a:r>
              <a:rPr lang="zh-CN" altLang="en-US" sz="2400" b="1" dirty="0">
                <a:latin typeface="Times New Roman" panose="02020603050405020304" pitchFamily="18" charset="0"/>
                <a:ea typeface="宋体" panose="02010600030101010101" pitchFamily="2" charset="-122"/>
              </a:rPr>
              <a:t>与</a:t>
            </a:r>
            <a:r>
              <a:rPr lang="en-US" altLang="zh-CN" sz="2400" b="1" dirty="0">
                <a:latin typeface="Times New Roman" panose="02020603050405020304" pitchFamily="18" charset="0"/>
                <a:ea typeface="宋体" panose="02010600030101010101" pitchFamily="2" charset="-122"/>
              </a:rPr>
              <a:t>γ-Fe</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en-US" altLang="zh-CN" sz="2400" b="1" baseline="-25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、混合轻烧结体可代替贵金属作为汽车尾气净化剂；超细</a:t>
            </a:r>
            <a:r>
              <a:rPr lang="en-US" altLang="zh-CN" sz="2400" b="1" dirty="0">
                <a:latin typeface="Times New Roman" panose="02020603050405020304" pitchFamily="18" charset="0"/>
                <a:ea typeface="宋体" panose="02010600030101010101" pitchFamily="2" charset="-122"/>
              </a:rPr>
              <a:t>Ag</a:t>
            </a:r>
            <a:r>
              <a:rPr lang="zh-CN" altLang="en-US" sz="2400" b="1" dirty="0">
                <a:latin typeface="Times New Roman" panose="02020603050405020304" pitchFamily="18" charset="0"/>
                <a:ea typeface="宋体" panose="02010600030101010101" pitchFamily="2" charset="-122"/>
              </a:rPr>
              <a:t>粉可作为乙烯氧化的催化剂；超细</a:t>
            </a:r>
            <a:r>
              <a:rPr lang="en-US" altLang="zh-CN" sz="2400" b="1" dirty="0">
                <a:latin typeface="Times New Roman" panose="02020603050405020304" pitchFamily="18" charset="0"/>
                <a:ea typeface="宋体" panose="02010600030101010101" pitchFamily="2" charset="-122"/>
              </a:rPr>
              <a:t>Fe</a:t>
            </a:r>
            <a:r>
              <a:rPr lang="zh-CN" altLang="en-US" sz="2400" b="1" dirty="0">
                <a:latin typeface="Times New Roman" panose="02020603050405020304" pitchFamily="18" charset="0"/>
                <a:ea typeface="宋体" panose="02010600030101010101" pitchFamily="2" charset="-122"/>
              </a:rPr>
              <a:t>粉可在</a:t>
            </a:r>
            <a:r>
              <a:rPr lang="en-US" altLang="zh-CN" sz="2400" b="1" dirty="0">
                <a:latin typeface="Times New Roman" panose="02020603050405020304" pitchFamily="18" charset="0"/>
                <a:ea typeface="宋体" panose="02010600030101010101" pitchFamily="2" charset="-122"/>
              </a:rPr>
              <a:t>C</a:t>
            </a:r>
            <a:r>
              <a:rPr lang="en-US" altLang="zh-CN" sz="2400" b="1" baseline="-25000" dirty="0">
                <a:latin typeface="Times New Roman" panose="02020603050405020304" pitchFamily="18" charset="0"/>
                <a:ea typeface="宋体" panose="02010600030101010101" pitchFamily="2" charset="-122"/>
              </a:rPr>
              <a:t>6</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6</a:t>
            </a:r>
            <a:r>
              <a:rPr lang="zh-CN" altLang="en-US" sz="2400" b="1" dirty="0">
                <a:latin typeface="Times New Roman" panose="02020603050405020304" pitchFamily="18" charset="0"/>
                <a:ea typeface="宋体" panose="02010600030101010101" pitchFamily="2" charset="-122"/>
              </a:rPr>
              <a:t>气相热分解中起成核作用而生成碳纤维。  </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纳米</a:t>
            </a:r>
            <a:r>
              <a:rPr lang="en-US" altLang="zh-CN" sz="2400" b="1" dirty="0">
                <a:latin typeface="Times New Roman" panose="02020603050405020304" pitchFamily="18" charset="0"/>
                <a:ea typeface="宋体" panose="02010600030101010101" pitchFamily="2" charset="-122"/>
              </a:rPr>
              <a:t>TiO</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在可见光的照射下对碳氢化合物具有催化作用，利用这一效应可使粘污在玻璃、瓷砖和陶瓷表面的油污、细菌在光的照射下，被降解为气体或易溶易擦掉的物质，有很好的</a:t>
            </a:r>
            <a:r>
              <a:rPr lang="zh-CN" altLang="en-US" sz="2400" b="1" dirty="0">
                <a:latin typeface="Times New Roman" panose="02020603050405020304" pitchFamily="18" charset="0"/>
                <a:ea typeface="宋体" panose="02010600030101010101" pitchFamily="2" charset="-122"/>
                <a:hlinkClick r:id="rId1" action="ppaction://hlinkfile"/>
              </a:rPr>
              <a:t>保洁作用</a:t>
            </a:r>
            <a:r>
              <a:rPr lang="zh-CN" altLang="en-US" sz="2400" b="1" dirty="0">
                <a:latin typeface="Times New Roman" panose="02020603050405020304" pitchFamily="18" charset="0"/>
                <a:ea typeface="宋体" panose="02010600030101010101" pitchFamily="2" charset="-122"/>
              </a:rPr>
              <a:t>。日本已研制出保洁瓷砖，经使用证明，这种保洁瓷砖具有明显的杀菌作用。</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5890">
                                            <p:txEl>
                                              <p:charRg st="0" end="94"/>
                                            </p:txEl>
                                          </p:spTgt>
                                        </p:tgtEl>
                                        <p:attrNameLst>
                                          <p:attrName>style.visibility</p:attrName>
                                        </p:attrNameLst>
                                      </p:cBhvr>
                                      <p:to>
                                        <p:strVal val="visible"/>
                                      </p:to>
                                    </p:set>
                                    <p:animEffect transition="in" filter="dissolve">
                                      <p:cBhvr>
                                        <p:cTn id="7" dur="500"/>
                                        <p:tgtEl>
                                          <p:spTgt spid="165890">
                                            <p:txEl>
                                              <p:charRg st="0" end="9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5890">
                                            <p:txEl>
                                              <p:charRg st="94" end="221"/>
                                            </p:txEl>
                                          </p:spTgt>
                                        </p:tgtEl>
                                        <p:attrNameLst>
                                          <p:attrName>style.visibility</p:attrName>
                                        </p:attrNameLst>
                                      </p:cBhvr>
                                      <p:to>
                                        <p:strVal val="visible"/>
                                      </p:to>
                                    </p:set>
                                    <p:animEffect transition="in" filter="dissolve">
                                      <p:cBhvr>
                                        <p:cTn id="12" dur="500"/>
                                        <p:tgtEl>
                                          <p:spTgt spid="165890">
                                            <p:txEl>
                                              <p:charRg st="94" end="2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矩形 3"/>
          <p:cNvSpPr/>
          <p:nvPr/>
        </p:nvSpPr>
        <p:spPr>
          <a:xfrm>
            <a:off x="381000" y="1333500"/>
            <a:ext cx="8305800" cy="2862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总之，</a:t>
            </a:r>
            <a:r>
              <a:rPr lang="zh-CN" altLang="en-US" sz="2400" b="1" dirty="0">
                <a:latin typeface="Times New Roman" panose="02020603050405020304" pitchFamily="18" charset="0"/>
                <a:ea typeface="宋体" panose="02010600030101010101" pitchFamily="2" charset="-122"/>
                <a:hlinkClick r:id="rId1" action="ppaction://hlinkfile"/>
              </a:rPr>
              <a:t>纳米</a:t>
            </a:r>
            <a:r>
              <a:rPr lang="zh-CN" altLang="en-US" sz="2400" b="1" dirty="0">
                <a:latin typeface="Times New Roman" panose="02020603050405020304" pitchFamily="18" charset="0"/>
                <a:ea typeface="宋体" panose="02010600030101010101" pitchFamily="2" charset="-122"/>
              </a:rPr>
              <a:t>科学技术是多种学科交叉会合而产生的新科学，其研究成果势必把物理、化学领域的许多学科推向一个新层次，也会给</a:t>
            </a:r>
            <a:r>
              <a:rPr lang="en-US" altLang="zh-CN" sz="2400" b="1" dirty="0">
                <a:latin typeface="Times New Roman" panose="02020603050405020304" pitchFamily="18" charset="0"/>
                <a:ea typeface="宋体" panose="02010600030101010101" pitchFamily="2" charset="-122"/>
              </a:rPr>
              <a:t>21</a:t>
            </a:r>
            <a:r>
              <a:rPr lang="zh-CN" altLang="en-US" sz="2400" b="1" dirty="0">
                <a:latin typeface="Times New Roman" panose="02020603050405020304" pitchFamily="18" charset="0"/>
                <a:ea typeface="宋体" panose="02010600030101010101" pitchFamily="2" charset="-122"/>
              </a:rPr>
              <a:t>世纪的物理和化学研究带来新的机遇。日本将纳米材料的研究纳入六大尖端技术探索项目之一，美、英、俄、德、法等国也在不惜巨资推进纳米材料的专项研究，我国也将纳米材料科学列入国家“攀登计划”项目。</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6914">
                                            <p:txEl>
                                              <p:charRg st="0" end="160"/>
                                            </p:txEl>
                                          </p:spTgt>
                                        </p:tgtEl>
                                        <p:attrNameLst>
                                          <p:attrName>style.visibility</p:attrName>
                                        </p:attrNameLst>
                                      </p:cBhvr>
                                      <p:to>
                                        <p:strVal val="visible"/>
                                      </p:to>
                                    </p:set>
                                    <p:animEffect transition="in" filter="dissolve">
                                      <p:cBhvr>
                                        <p:cTn id="7" dur="500"/>
                                        <p:tgtEl>
                                          <p:spTgt spid="166914">
                                            <p:txEl>
                                              <p:charRg st="0"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矩形 3"/>
          <p:cNvSpPr/>
          <p:nvPr/>
        </p:nvSpPr>
        <p:spPr>
          <a:xfrm>
            <a:off x="457200" y="2349500"/>
            <a:ext cx="8305800" cy="33242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磁性薄膜材料是指其厚度等于或小于微米量级且具有磁性的材料。磁性薄膜材料种类较多，常见有：金属磁膜材料、非金属磁膜材料以及非晶磁膜材料等。磁性薄膜的磁特性取决于制备方法和工艺条件。磁性薄膜的制备方法主要有真空蒸发法、电沉积法、化学镀膜法、溅射法和外延生长法。磁性薄膜的应用极广，可用于制作电子计算机的磁膜存储器、磁记录技术中的薄膜介质和薄膜（多层膜）磁头等。</a:t>
            </a:r>
            <a:endParaRPr lang="zh-CN" altLang="en-US" sz="2400" b="1" dirty="0">
              <a:latin typeface="Arial" panose="020B0604020202020204" pitchFamily="34" charset="0"/>
              <a:ea typeface="宋体" panose="02010600030101010101" pitchFamily="2" charset="-122"/>
            </a:endParaRPr>
          </a:p>
        </p:txBody>
      </p:sp>
      <p:grpSp>
        <p:nvGrpSpPr>
          <p:cNvPr id="131075" name="Group 8"/>
          <p:cNvGrpSpPr/>
          <p:nvPr/>
        </p:nvGrpSpPr>
        <p:grpSpPr>
          <a:xfrm>
            <a:off x="1371600" y="190500"/>
            <a:ext cx="6705600" cy="663575"/>
            <a:chOff x="864" y="144"/>
            <a:chExt cx="4224" cy="502"/>
          </a:xfrm>
        </p:grpSpPr>
        <p:sp>
          <p:nvSpPr>
            <p:cNvPr id="131078" name="AutoShape 4"/>
            <p:cNvSpPr/>
            <p:nvPr/>
          </p:nvSpPr>
          <p:spPr>
            <a:xfrm>
              <a:off x="864" y="144"/>
              <a:ext cx="4224" cy="502"/>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131079" name="Rectangle 5"/>
            <p:cNvSpPr/>
            <p:nvPr/>
          </p:nvSpPr>
          <p:spPr>
            <a:xfrm>
              <a:off x="1488" y="192"/>
              <a:ext cx="2976" cy="44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6.6</a:t>
              </a:r>
              <a:r>
                <a:rPr lang="zh-CN" altLang="en-US" sz="3200" b="1" dirty="0">
                  <a:solidFill>
                    <a:schemeClr val="bg1"/>
                  </a:solidFill>
                  <a:latin typeface="Times New Roman" panose="02020603050405020304" pitchFamily="18" charset="0"/>
                  <a:ea typeface="楷体_GB2312" panose="02010609030101010101" pitchFamily="49" charset="-122"/>
                </a:rPr>
                <a:t>新材料的现状与展望</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grpSp>
      <p:sp>
        <p:nvSpPr>
          <p:cNvPr id="189446" name="Text Box 6"/>
          <p:cNvSpPr txBox="1"/>
          <p:nvPr/>
        </p:nvSpPr>
        <p:spPr>
          <a:xfrm>
            <a:off x="0" y="1079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en-US" sz="3200" b="1" dirty="0">
                <a:solidFill>
                  <a:schemeClr val="bg1"/>
                </a:solidFill>
                <a:latin typeface="Times New Roman" panose="02020603050405020304" pitchFamily="18" charset="0"/>
                <a:ea typeface="楷体_GB2312" panose="02010609030101010101" pitchFamily="49" charset="-122"/>
              </a:rPr>
              <a:t>6.6.1 </a:t>
            </a:r>
            <a:r>
              <a:rPr lang="en-US" altLang="zh-CN" sz="3200" b="1" dirty="0">
                <a:solidFill>
                  <a:schemeClr val="bg1"/>
                </a:solidFill>
                <a:latin typeface="Times New Roman" panose="02020603050405020304" pitchFamily="18" charset="0"/>
                <a:ea typeface="楷体_GB2312" panose="02010609030101010101" pitchFamily="49" charset="-122"/>
              </a:rPr>
              <a:t> </a:t>
            </a:r>
            <a:r>
              <a:rPr lang="en-US" altLang="en-US" sz="3200" b="1" dirty="0">
                <a:solidFill>
                  <a:schemeClr val="bg1"/>
                </a:solidFill>
                <a:latin typeface="Times New Roman" panose="02020603050405020304" pitchFamily="18" charset="0"/>
                <a:ea typeface="楷体_GB2312" panose="02010609030101010101" pitchFamily="49" charset="-122"/>
              </a:rPr>
              <a:t>新型薄膜材料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189447" name="Rectangle 7"/>
          <p:cNvSpPr/>
          <p:nvPr/>
        </p:nvSpPr>
        <p:spPr>
          <a:xfrm>
            <a:off x="0" y="1714500"/>
            <a:ext cx="4495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zh-CN" sz="2800" b="1" dirty="0">
                <a:solidFill>
                  <a:srgbClr val="540C2B"/>
                </a:solidFill>
                <a:latin typeface="楷体_GB2312" panose="02010609030101010101" pitchFamily="49" charset="-122"/>
                <a:ea typeface="楷体_GB2312" panose="02010609030101010101" pitchFamily="49" charset="-122"/>
              </a:rPr>
              <a:t>1. </a:t>
            </a:r>
            <a:r>
              <a:rPr lang="zh-CN" altLang="en-US" sz="2800" b="1" dirty="0">
                <a:solidFill>
                  <a:srgbClr val="540C2B"/>
                </a:solidFill>
                <a:latin typeface="楷体_GB2312" panose="02010609030101010101" pitchFamily="49" charset="-122"/>
                <a:ea typeface="楷体_GB2312" panose="02010609030101010101" pitchFamily="49" charset="-122"/>
              </a:rPr>
              <a:t>磁性薄膜材料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89446"/>
                                        </p:tgtEl>
                                        <p:attrNameLst>
                                          <p:attrName>style.visibility</p:attrName>
                                        </p:attrNameLst>
                                      </p:cBhvr>
                                      <p:to>
                                        <p:strVal val="visible"/>
                                      </p:to>
                                    </p:set>
                                    <p:anim calcmode="lin" valueType="num">
                                      <p:cBhvr>
                                        <p:cTn id="7" dur="1000" fill="hold"/>
                                        <p:tgtEl>
                                          <p:spTgt spid="189446"/>
                                        </p:tgtEl>
                                        <p:attrNameLst>
                                          <p:attrName>ppt_w</p:attrName>
                                        </p:attrNameLst>
                                      </p:cBhvr>
                                      <p:tavLst>
                                        <p:tav tm="0">
                                          <p:val>
                                            <p:fltVal val="0.000000"/>
                                          </p:val>
                                        </p:tav>
                                        <p:tav tm="100000">
                                          <p:val>
                                            <p:strVal val="#ppt_w"/>
                                          </p:val>
                                        </p:tav>
                                      </p:tavLst>
                                    </p:anim>
                                    <p:anim calcmode="lin" valueType="num">
                                      <p:cBhvr>
                                        <p:cTn id="8" dur="1000" fill="hold"/>
                                        <p:tgtEl>
                                          <p:spTgt spid="189446"/>
                                        </p:tgtEl>
                                        <p:attrNameLst>
                                          <p:attrName>ppt_h</p:attrName>
                                        </p:attrNameLst>
                                      </p:cBhvr>
                                      <p:tavLst>
                                        <p:tav tm="0">
                                          <p:val>
                                            <p:fltVal val="0.000000"/>
                                          </p:val>
                                        </p:tav>
                                        <p:tav tm="100000">
                                          <p:val>
                                            <p:strVal val="#ppt_h"/>
                                          </p:val>
                                        </p:tav>
                                      </p:tavLst>
                                    </p:anim>
                                    <p:anim calcmode="lin" valueType="num">
                                      <p:cBhvr>
                                        <p:cTn id="9" dur="1000" fill="hold"/>
                                        <p:tgtEl>
                                          <p:spTgt spid="189446"/>
                                        </p:tgtEl>
                                        <p:attrNameLst>
                                          <p:attrName>style.rotation</p:attrName>
                                        </p:attrNameLst>
                                      </p:cBhvr>
                                      <p:tavLst>
                                        <p:tav tm="0">
                                          <p:val>
                                            <p:fltVal val="90.000000"/>
                                          </p:val>
                                        </p:tav>
                                        <p:tav tm="100000">
                                          <p:val>
                                            <p:fltVal val="0.000000"/>
                                          </p:val>
                                        </p:tav>
                                      </p:tavLst>
                                    </p:anim>
                                    <p:animEffect transition="in" filter="fade">
                                      <p:cBhvr>
                                        <p:cTn id="10" dur="1000"/>
                                        <p:tgtEl>
                                          <p:spTgt spid="18944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9447"/>
                                        </p:tgtEl>
                                        <p:attrNameLst>
                                          <p:attrName>style.visibility</p:attrName>
                                        </p:attrNameLst>
                                      </p:cBhvr>
                                      <p:to>
                                        <p:strVal val="visible"/>
                                      </p:to>
                                    </p:set>
                                    <p:animEffect transition="in" filter="wipe(left)">
                                      <p:cBhvr>
                                        <p:cTn id="15" dur="500"/>
                                        <p:tgtEl>
                                          <p:spTgt spid="18944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89442">
                                            <p:txEl>
                                              <p:charRg st="0" end="186"/>
                                            </p:txEl>
                                          </p:spTgt>
                                        </p:tgtEl>
                                        <p:attrNameLst>
                                          <p:attrName>style.visibility</p:attrName>
                                        </p:attrNameLst>
                                      </p:cBhvr>
                                      <p:to>
                                        <p:strVal val="visible"/>
                                      </p:to>
                                    </p:set>
                                    <p:animEffect transition="in" filter="dissolve">
                                      <p:cBhvr>
                                        <p:cTn id="20" dur="500"/>
                                        <p:tgtEl>
                                          <p:spTgt spid="189442">
                                            <p:txEl>
                                              <p:charRg st="0"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build="p"/>
      <p:bldP spid="189446" grpId="0" animBg="1"/>
      <p:bldP spid="189447"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矩形 3"/>
          <p:cNvSpPr/>
          <p:nvPr/>
        </p:nvSpPr>
        <p:spPr>
          <a:xfrm>
            <a:off x="304800" y="1524000"/>
            <a:ext cx="8458200" cy="42465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金刚石薄膜通常分为多晶金刚石薄膜和单晶金刚石薄膜两种。金刚石薄膜因其优异的物理性质和相对低的制备成本，在许多领域中有重要的应用。例如用金刚石薄膜制成手术刀，刀刃厚度为微米级，远比一般外科手术刀锋利。金刚石薄膜兼有高热导率和高电阻率，可用于超高速集成电路、超大规模集成电路和功率电子器件的散热芯片。</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金刚石薄膜又是一种优良的光学材料，可用于各种光学元件的镀层，利用金刚石薄膜的力学、热传导和光学等物理性质制作的各种敏感器件和换能器件，具有重要的应用前景。</a:t>
            </a:r>
            <a:endParaRPr lang="zh-CN" altLang="en-US" sz="2400" b="1" dirty="0">
              <a:latin typeface="Arial" panose="020B0604020202020204" pitchFamily="34" charset="0"/>
              <a:ea typeface="宋体" panose="02010600030101010101" pitchFamily="2" charset="-122"/>
            </a:endParaRPr>
          </a:p>
        </p:txBody>
      </p:sp>
      <p:sp>
        <p:nvSpPr>
          <p:cNvPr id="167940" name="Rectangle 4"/>
          <p:cNvSpPr/>
          <p:nvPr/>
        </p:nvSpPr>
        <p:spPr>
          <a:xfrm>
            <a:off x="0" y="762000"/>
            <a:ext cx="4038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2. 金刚石薄膜材料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40"/>
                                        </p:tgtEl>
                                        <p:attrNameLst>
                                          <p:attrName>style.visibility</p:attrName>
                                        </p:attrNameLst>
                                      </p:cBhvr>
                                      <p:to>
                                        <p:strVal val="visible"/>
                                      </p:to>
                                    </p:set>
                                    <p:animEffect transition="in" filter="wipe(left)">
                                      <p:cBhvr>
                                        <p:cTn id="7" dur="500"/>
                                        <p:tgtEl>
                                          <p:spTgt spid="1679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7938">
                                            <p:txEl>
                                              <p:charRg st="0" end="155"/>
                                            </p:txEl>
                                          </p:spTgt>
                                        </p:tgtEl>
                                        <p:attrNameLst>
                                          <p:attrName>style.visibility</p:attrName>
                                        </p:attrNameLst>
                                      </p:cBhvr>
                                      <p:to>
                                        <p:strVal val="visible"/>
                                      </p:to>
                                    </p:set>
                                    <p:animEffect transition="in" filter="dissolve">
                                      <p:cBhvr>
                                        <p:cTn id="12" dur="500"/>
                                        <p:tgtEl>
                                          <p:spTgt spid="167938">
                                            <p:txEl>
                                              <p:charRg st="0" end="15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7938">
                                            <p:txEl>
                                              <p:charRg st="155" end="239"/>
                                            </p:txEl>
                                          </p:spTgt>
                                        </p:tgtEl>
                                        <p:attrNameLst>
                                          <p:attrName>style.visibility</p:attrName>
                                        </p:attrNameLst>
                                      </p:cBhvr>
                                      <p:to>
                                        <p:strVal val="visible"/>
                                      </p:to>
                                    </p:set>
                                    <p:animEffect transition="in" filter="dissolve">
                                      <p:cBhvr>
                                        <p:cTn id="17" dur="500"/>
                                        <p:tgtEl>
                                          <p:spTgt spid="167938">
                                            <p:txEl>
                                              <p:charRg st="155" end="2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build="p"/>
      <p:bldP spid="167940"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矩形 3"/>
          <p:cNvSpPr/>
          <p:nvPr/>
        </p:nvSpPr>
        <p:spPr>
          <a:xfrm>
            <a:off x="228600" y="889000"/>
            <a:ext cx="8458200" cy="51704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在有机材料的研究中，薄膜化、多层化的发展趋势格外引人注目。新型有机材料膜制备中最典型的是</a:t>
            </a:r>
            <a:r>
              <a:rPr lang="en-US" altLang="zh-CN" sz="2400" b="1" dirty="0">
                <a:latin typeface="Times New Roman" panose="02020603050405020304" pitchFamily="18" charset="0"/>
                <a:ea typeface="宋体" panose="02010600030101010101" pitchFamily="2" charset="-122"/>
              </a:rPr>
              <a:t>LB</a:t>
            </a:r>
            <a:r>
              <a:rPr lang="zh-CN" altLang="en-US" sz="2400" b="1" dirty="0">
                <a:latin typeface="Times New Roman" panose="02020603050405020304" pitchFamily="18" charset="0"/>
                <a:ea typeface="宋体" panose="02010600030101010101" pitchFamily="2" charset="-122"/>
              </a:rPr>
              <a:t>膜法，其所用的材料通常为有机高分子材料，如直链脂肪酸、叶绿素等与生物有关的物质。将其溶于易挥发的有机溶剂中，然后滴在平静的水面上，待溶剂挥发后就得到单分子膜。</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将单分子膜通过附着法转移到成膜的基质层积累，组成同质</a:t>
            </a:r>
            <a:r>
              <a:rPr lang="en-US" altLang="zh-CN" sz="2400" b="1" dirty="0">
                <a:latin typeface="Times New Roman" panose="02020603050405020304" pitchFamily="18" charset="0"/>
                <a:ea typeface="宋体" panose="02010600030101010101" pitchFamily="2" charset="-122"/>
              </a:rPr>
              <a:t>LB</a:t>
            </a:r>
            <a:r>
              <a:rPr lang="zh-CN" altLang="en-US" sz="2400" b="1" dirty="0">
                <a:latin typeface="Times New Roman" panose="02020603050405020304" pitchFamily="18" charset="0"/>
                <a:ea typeface="宋体" panose="02010600030101010101" pitchFamily="2" charset="-122"/>
              </a:rPr>
              <a:t>膜；不同的单分子层组成异质</a:t>
            </a:r>
            <a:r>
              <a:rPr lang="en-US" altLang="zh-CN" sz="2400" b="1" dirty="0">
                <a:latin typeface="Times New Roman" panose="02020603050405020304" pitchFamily="18" charset="0"/>
                <a:ea typeface="宋体" panose="02010600030101010101" pitchFamily="2" charset="-122"/>
              </a:rPr>
              <a:t>LB</a:t>
            </a:r>
            <a:r>
              <a:rPr lang="zh-CN" altLang="en-US" sz="2400" b="1" dirty="0">
                <a:latin typeface="Times New Roman" panose="02020603050405020304" pitchFamily="18" charset="0"/>
                <a:ea typeface="宋体" panose="02010600030101010101" pitchFamily="2" charset="-122"/>
              </a:rPr>
              <a:t>膜，由此可以实现沿膜厚方向的一维分子组合结构的设计和组装。</a:t>
            </a:r>
            <a:r>
              <a:rPr lang="en-US" altLang="zh-CN" sz="2400" b="1" dirty="0">
                <a:latin typeface="Times New Roman" panose="02020603050405020304" pitchFamily="18" charset="0"/>
                <a:ea typeface="宋体" panose="02010600030101010101" pitchFamily="2" charset="-122"/>
              </a:rPr>
              <a:t>LB</a:t>
            </a:r>
            <a:r>
              <a:rPr lang="zh-CN" altLang="en-US" sz="2400" b="1" dirty="0">
                <a:latin typeface="Times New Roman" panose="02020603050405020304" pitchFamily="18" charset="0"/>
                <a:ea typeface="宋体" panose="02010600030101010101" pitchFamily="2" charset="-122"/>
              </a:rPr>
              <a:t>膜厚薄均匀、超薄、可实现分子组装，是具有光、电、磁多种功能的新型膜材料，日益受到人们的重视。</a:t>
            </a:r>
            <a:endParaRPr lang="zh-CN" altLang="en-US" sz="2400" b="1" dirty="0">
              <a:latin typeface="Times New Roman" panose="02020603050405020304" pitchFamily="18"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endParaRPr lang="zh-CN" altLang="en-US" sz="2400" b="1" dirty="0">
              <a:latin typeface="Times New Roman" panose="02020603050405020304" pitchFamily="18" charset="0"/>
              <a:ea typeface="宋体" panose="02010600030101010101" pitchFamily="2" charset="-122"/>
            </a:endParaRPr>
          </a:p>
        </p:txBody>
      </p:sp>
      <p:sp>
        <p:nvSpPr>
          <p:cNvPr id="190467" name="Rectangle 3"/>
          <p:cNvSpPr/>
          <p:nvPr/>
        </p:nvSpPr>
        <p:spPr>
          <a:xfrm>
            <a:off x="0" y="381000"/>
            <a:ext cx="4038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3. LB膜材料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wipe(left)">
                                      <p:cBhvr>
                                        <p:cTn id="7" dur="500"/>
                                        <p:tgtEl>
                                          <p:spTgt spid="1904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0466">
                                            <p:txEl>
                                              <p:charRg st="0" end="133"/>
                                            </p:txEl>
                                          </p:spTgt>
                                        </p:tgtEl>
                                        <p:attrNameLst>
                                          <p:attrName>style.visibility</p:attrName>
                                        </p:attrNameLst>
                                      </p:cBhvr>
                                      <p:to>
                                        <p:strVal val="visible"/>
                                      </p:to>
                                    </p:set>
                                    <p:animEffect transition="in" filter="dissolve">
                                      <p:cBhvr>
                                        <p:cTn id="12" dur="500"/>
                                        <p:tgtEl>
                                          <p:spTgt spid="190466">
                                            <p:txEl>
                                              <p:charRg st="0" end="1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0466">
                                            <p:txEl>
                                              <p:charRg st="133" end="260"/>
                                            </p:txEl>
                                          </p:spTgt>
                                        </p:tgtEl>
                                        <p:attrNameLst>
                                          <p:attrName>style.visibility</p:attrName>
                                        </p:attrNameLst>
                                      </p:cBhvr>
                                      <p:to>
                                        <p:strVal val="visible"/>
                                      </p:to>
                                    </p:set>
                                    <p:animEffect transition="in" filter="dissolve">
                                      <p:cBhvr>
                                        <p:cTn id="17" dur="500"/>
                                        <p:tgtEl>
                                          <p:spTgt spid="190466">
                                            <p:txEl>
                                              <p:charRg st="133" end="2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build="p"/>
      <p:bldP spid="190467"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矩形 3"/>
          <p:cNvSpPr/>
          <p:nvPr/>
        </p:nvSpPr>
        <p:spPr>
          <a:xfrm>
            <a:off x="381000" y="1460500"/>
            <a:ext cx="8305800" cy="47085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1888</a:t>
            </a:r>
            <a:r>
              <a:rPr lang="zh-CN" altLang="en-US" sz="2400" b="1" dirty="0">
                <a:latin typeface="Arial" panose="020B0604020202020204" pitchFamily="34" charset="0"/>
                <a:ea typeface="宋体" panose="02010600030101010101" pitchFamily="2" charset="-122"/>
              </a:rPr>
              <a:t>年，奥地利植物学家莱尼茨尔在研究胆甾醇的苯甲酸酯和醋酸酯的性质时，观察到一种奇特的现象：这类酯类化合物受热融化后，首先变为混浊液体，并呈现五颜六色的美丽光泽，继续加热升温，才转变为透明液体。</a:t>
            </a:r>
            <a:endParaRPr lang="zh-CN" altLang="en-US" sz="2400" b="1" dirty="0">
              <a:latin typeface="Arial" panose="020B0604020202020204" pitchFamily="34" charset="0"/>
              <a:ea typeface="宋体" panose="02010600030101010101" pitchFamily="2" charset="-122"/>
            </a:endParaRPr>
          </a:p>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德国科学家莱曼进一步的研究表明，这类化合物受热融化后所呈现的混浊中间态不仅具有液体的流动性，同时还具有晶体所特有的各向异性。因此，莱曼将这类化合物命名为液晶，即具有晶体特征的液体。</a:t>
            </a:r>
            <a:r>
              <a:rPr lang="en-US" altLang="zh-CN" sz="2400" b="1" dirty="0">
                <a:latin typeface="Arial" panose="020B0604020202020204" pitchFamily="34" charset="0"/>
                <a:ea typeface="宋体" panose="02010600030101010101" pitchFamily="2" charset="-122"/>
              </a:rPr>
              <a:t>100</a:t>
            </a:r>
            <a:r>
              <a:rPr lang="zh-CN" altLang="en-US" sz="2400" b="1" dirty="0">
                <a:latin typeface="Arial" panose="020B0604020202020204" pitchFamily="34" charset="0"/>
                <a:ea typeface="宋体" panose="02010600030101010101" pitchFamily="2" charset="-122"/>
              </a:rPr>
              <a:t>多年来，液晶的应用已经遍布现代生活中的各个领域。例如液晶手表、液晶显示计算器、液晶温度计、液晶电视等。</a:t>
            </a:r>
            <a:endParaRPr lang="zh-CN" altLang="en-US" sz="2400" b="1" dirty="0">
              <a:latin typeface="Arial" panose="020B0604020202020204" pitchFamily="34" charset="0"/>
              <a:ea typeface="宋体" panose="02010600030101010101" pitchFamily="2" charset="-122"/>
            </a:endParaRPr>
          </a:p>
        </p:txBody>
      </p:sp>
      <p:sp>
        <p:nvSpPr>
          <p:cNvPr id="168963" name="Text Box 3"/>
          <p:cNvSpPr txBox="1"/>
          <p:nvPr/>
        </p:nvSpPr>
        <p:spPr>
          <a:xfrm>
            <a:off x="0" y="698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6.6.2   </a:t>
            </a:r>
            <a:r>
              <a:rPr lang="zh-CN" altLang="en-US" sz="3200" b="1" dirty="0">
                <a:solidFill>
                  <a:schemeClr val="bg1"/>
                </a:solidFill>
                <a:latin typeface="Times New Roman" panose="02020603050405020304" pitchFamily="18" charset="0"/>
                <a:ea typeface="楷体_GB2312" panose="02010609030101010101" pitchFamily="49" charset="-122"/>
              </a:rPr>
              <a:t>液晶材料</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68963"/>
                                        </p:tgtEl>
                                        <p:attrNameLst>
                                          <p:attrName>style.visibility</p:attrName>
                                        </p:attrNameLst>
                                      </p:cBhvr>
                                      <p:to>
                                        <p:strVal val="visible"/>
                                      </p:to>
                                    </p:set>
                                    <p:anim calcmode="lin" valueType="num">
                                      <p:cBhvr>
                                        <p:cTn id="7" dur="1000" fill="hold"/>
                                        <p:tgtEl>
                                          <p:spTgt spid="168963"/>
                                        </p:tgtEl>
                                        <p:attrNameLst>
                                          <p:attrName>ppt_w</p:attrName>
                                        </p:attrNameLst>
                                      </p:cBhvr>
                                      <p:tavLst>
                                        <p:tav tm="0">
                                          <p:val>
                                            <p:fltVal val="0.000000"/>
                                          </p:val>
                                        </p:tav>
                                        <p:tav tm="100000">
                                          <p:val>
                                            <p:strVal val="#ppt_w"/>
                                          </p:val>
                                        </p:tav>
                                      </p:tavLst>
                                    </p:anim>
                                    <p:anim calcmode="lin" valueType="num">
                                      <p:cBhvr>
                                        <p:cTn id="8" dur="1000" fill="hold"/>
                                        <p:tgtEl>
                                          <p:spTgt spid="168963"/>
                                        </p:tgtEl>
                                        <p:attrNameLst>
                                          <p:attrName>ppt_h</p:attrName>
                                        </p:attrNameLst>
                                      </p:cBhvr>
                                      <p:tavLst>
                                        <p:tav tm="0">
                                          <p:val>
                                            <p:fltVal val="0.000000"/>
                                          </p:val>
                                        </p:tav>
                                        <p:tav tm="100000">
                                          <p:val>
                                            <p:strVal val="#ppt_h"/>
                                          </p:val>
                                        </p:tav>
                                      </p:tavLst>
                                    </p:anim>
                                    <p:anim calcmode="lin" valueType="num">
                                      <p:cBhvr>
                                        <p:cTn id="9" dur="1000" fill="hold"/>
                                        <p:tgtEl>
                                          <p:spTgt spid="168963"/>
                                        </p:tgtEl>
                                        <p:attrNameLst>
                                          <p:attrName>style.rotation</p:attrName>
                                        </p:attrNameLst>
                                      </p:cBhvr>
                                      <p:tavLst>
                                        <p:tav tm="0">
                                          <p:val>
                                            <p:fltVal val="90.000000"/>
                                          </p:val>
                                        </p:tav>
                                        <p:tav tm="100000">
                                          <p:val>
                                            <p:fltVal val="0.000000"/>
                                          </p:val>
                                        </p:tav>
                                      </p:tavLst>
                                    </p:anim>
                                    <p:animEffect transition="in" filter="fade">
                                      <p:cBhvr>
                                        <p:cTn id="10" dur="1000"/>
                                        <p:tgtEl>
                                          <p:spTgt spid="16896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8962">
                                            <p:txEl>
                                              <p:charRg st="0" end="107"/>
                                            </p:txEl>
                                          </p:spTgt>
                                        </p:tgtEl>
                                        <p:attrNameLst>
                                          <p:attrName>style.visibility</p:attrName>
                                        </p:attrNameLst>
                                      </p:cBhvr>
                                      <p:to>
                                        <p:strVal val="visible"/>
                                      </p:to>
                                    </p:set>
                                    <p:animEffect transition="in" filter="dissolve">
                                      <p:cBhvr>
                                        <p:cTn id="15" dur="500"/>
                                        <p:tgtEl>
                                          <p:spTgt spid="168962">
                                            <p:txEl>
                                              <p:charRg st="0" end="10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68962">
                                            <p:txEl>
                                              <p:charRg st="107" end="259"/>
                                            </p:txEl>
                                          </p:spTgt>
                                        </p:tgtEl>
                                        <p:attrNameLst>
                                          <p:attrName>style.visibility</p:attrName>
                                        </p:attrNameLst>
                                      </p:cBhvr>
                                      <p:to>
                                        <p:strVal val="visible"/>
                                      </p:to>
                                    </p:set>
                                    <p:animEffect transition="in" filter="dissolve">
                                      <p:cBhvr>
                                        <p:cTn id="20" dur="500"/>
                                        <p:tgtEl>
                                          <p:spTgt spid="168962">
                                            <p:txEl>
                                              <p:charRg st="107" end="2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build="p"/>
      <p:bldP spid="168963"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矩形 3"/>
          <p:cNvSpPr/>
          <p:nvPr/>
        </p:nvSpPr>
        <p:spPr>
          <a:xfrm>
            <a:off x="228600" y="1143000"/>
            <a:ext cx="8458200" cy="37861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不难发现许多钟表上的指针和钟摆已经消逝，取而代之的是不断变幻的数字，这就是以液晶为显示材料的新一代钟表。由于液晶显示器件的工作电压低、功耗小、重量轻，不仅能满足电子钟表小型化和薄型化的要求，而且还适合于制作大型壁挂式图案显示屏。如北京首都机场大楼里的巨大时钟，就是以液晶为显示材料。此外，液晶还广泛用于各种仪器仪表的显示，例如酸度计、数显血压计、电子秤、照相机以及各种家用电器等。</a:t>
            </a:r>
            <a:endParaRPr lang="zh-CN" altLang="en-US" sz="2400" b="1" dirty="0">
              <a:latin typeface="Times New Roman" panose="02020603050405020304" pitchFamily="18" charset="0"/>
              <a:ea typeface="宋体" panose="02010600030101010101" pitchFamily="2" charset="-122"/>
            </a:endParaRPr>
          </a:p>
        </p:txBody>
      </p:sp>
      <p:sp>
        <p:nvSpPr>
          <p:cNvPr id="192515" name="Rectangle 3"/>
          <p:cNvSpPr/>
          <p:nvPr/>
        </p:nvSpPr>
        <p:spPr>
          <a:xfrm>
            <a:off x="0" y="571500"/>
            <a:ext cx="4038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1．新型的显示材料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5"/>
                                        </p:tgtEl>
                                        <p:attrNameLst>
                                          <p:attrName>style.visibility</p:attrName>
                                        </p:attrNameLst>
                                      </p:cBhvr>
                                      <p:to>
                                        <p:strVal val="visible"/>
                                      </p:to>
                                    </p:set>
                                    <p:animEffect transition="in" filter="wipe(left)">
                                      <p:cBhvr>
                                        <p:cTn id="7" dur="500"/>
                                        <p:tgtEl>
                                          <p:spTgt spid="1925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2514">
                                            <p:txEl>
                                              <p:charRg st="0" end="198"/>
                                            </p:txEl>
                                          </p:spTgt>
                                        </p:tgtEl>
                                        <p:attrNameLst>
                                          <p:attrName>style.visibility</p:attrName>
                                        </p:attrNameLst>
                                      </p:cBhvr>
                                      <p:to>
                                        <p:strVal val="visible"/>
                                      </p:to>
                                    </p:set>
                                    <p:animEffect transition="in" filter="dissolve">
                                      <p:cBhvr>
                                        <p:cTn id="12" dur="500"/>
                                        <p:tgtEl>
                                          <p:spTgt spid="192514">
                                            <p:txEl>
                                              <p:charRg st="0" end="1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build="p"/>
      <p:bldP spid="192515"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矩形 3"/>
          <p:cNvSpPr/>
          <p:nvPr/>
        </p:nvSpPr>
        <p:spPr>
          <a:xfrm>
            <a:off x="304800" y="952500"/>
            <a:ext cx="8458200" cy="470789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eaLnBrk="1" hangingPunct="1">
              <a:lnSpc>
                <a:spcPct val="125000"/>
              </a:lnSpc>
              <a:spcBef>
                <a:spcPct val="0"/>
              </a:spcBef>
              <a:buClrTx/>
              <a:buSz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当温度、电压甚至气体发生变化时，都会使胆甾型液晶呈现不同的颜色。这一特性使它在测试显示应用方面具有独特的魅力。例如，当温度升高时，液晶的颜色依次从红色转变为黄、绿、蓝、紫，当温度降低时，液晶的颜色则将逆向依次转变。实验表明，不同比例的胆甾型液晶混合物显示同一颜色的温度是不同的，因而可以通过调节液晶混合物配比使温度呈现梯度显示，液晶温度计就是根据这一原理而制成的。只要用液晶测温膜贴在额头上，立即就可知道人的体温，避免了用水银温度计给幼儿测体温的不便。这种液晶膜，还可用于显示人体局部热谱图，以确定病变部位。</a:t>
            </a:r>
            <a:endParaRPr lang="zh-CN" altLang="en-US" sz="2400" b="1" dirty="0">
              <a:latin typeface="Times New Roman" panose="02020603050405020304" pitchFamily="18" charset="0"/>
              <a:ea typeface="宋体" panose="02010600030101010101" pitchFamily="2" charset="-122"/>
            </a:endParaRPr>
          </a:p>
        </p:txBody>
      </p:sp>
      <p:sp>
        <p:nvSpPr>
          <p:cNvPr id="193539" name="Rectangle 3"/>
          <p:cNvSpPr/>
          <p:nvPr/>
        </p:nvSpPr>
        <p:spPr>
          <a:xfrm>
            <a:off x="0" y="381000"/>
            <a:ext cx="52578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2．胆甾型液晶的特异功能</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39"/>
                                        </p:tgtEl>
                                        <p:attrNameLst>
                                          <p:attrName>style.visibility</p:attrName>
                                        </p:attrNameLst>
                                      </p:cBhvr>
                                      <p:to>
                                        <p:strVal val="visible"/>
                                      </p:to>
                                    </p:set>
                                    <p:animEffect transition="in" filter="wipe(left)">
                                      <p:cBhvr>
                                        <p:cTn id="7" dur="500"/>
                                        <p:tgtEl>
                                          <p:spTgt spid="1935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3538">
                                            <p:txEl>
                                              <p:charRg st="0" end="286"/>
                                            </p:txEl>
                                          </p:spTgt>
                                        </p:tgtEl>
                                        <p:attrNameLst>
                                          <p:attrName>style.visibility</p:attrName>
                                        </p:attrNameLst>
                                      </p:cBhvr>
                                      <p:to>
                                        <p:strVal val="visible"/>
                                      </p:to>
                                    </p:set>
                                    <p:animEffect transition="in" filter="dissolve">
                                      <p:cBhvr>
                                        <p:cTn id="12" dur="500"/>
                                        <p:tgtEl>
                                          <p:spTgt spid="193538">
                                            <p:txEl>
                                              <p:charRg st="0" end="2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build="p"/>
      <p:bldP spid="193539"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5" name="Text Box 5"/>
          <p:cNvSpPr txBox="1"/>
          <p:nvPr/>
        </p:nvSpPr>
        <p:spPr>
          <a:xfrm>
            <a:off x="0" y="698500"/>
            <a:ext cx="5148263" cy="584200"/>
          </a:xfrm>
          <a:prstGeom prst="rect">
            <a:avLst/>
          </a:prstGeom>
          <a:gradFill rotWithShape="1">
            <a:gsLst>
              <a:gs pos="0">
                <a:srgbClr val="000000"/>
              </a:gs>
              <a:gs pos="50000">
                <a:srgbClr val="008080"/>
              </a:gs>
              <a:gs pos="100000">
                <a:srgbClr val="000000"/>
              </a:gs>
            </a:gsLst>
            <a:lin ang="5400000" scaled="1"/>
            <a:tileRect/>
          </a:grad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50000"/>
              </a:spcBef>
              <a:buClrTx/>
              <a:buSzTx/>
              <a:buFontTx/>
              <a:buNone/>
            </a:pPr>
            <a:r>
              <a:rPr lang="en-US" altLang="zh-CN" sz="3200" b="1" dirty="0">
                <a:solidFill>
                  <a:schemeClr val="bg1"/>
                </a:solidFill>
                <a:latin typeface="Times New Roman" panose="02020603050405020304" pitchFamily="18" charset="0"/>
                <a:ea typeface="楷体_GB2312" panose="02010609030101010101" pitchFamily="49" charset="-122"/>
              </a:rPr>
              <a:t>6.6.3   </a:t>
            </a:r>
            <a:r>
              <a:rPr lang="zh-CN" altLang="en-US" sz="3200" b="1" dirty="0">
                <a:solidFill>
                  <a:schemeClr val="bg1"/>
                </a:solidFill>
                <a:latin typeface="Times New Roman" panose="02020603050405020304" pitchFamily="18" charset="0"/>
                <a:ea typeface="楷体_GB2312" panose="02010609030101010101" pitchFamily="49" charset="-122"/>
              </a:rPr>
              <a:t>材料制备的新方法</a:t>
            </a:r>
            <a:endParaRPr lang="zh-CN" altLang="en-US" sz="3200" b="1" dirty="0">
              <a:solidFill>
                <a:schemeClr val="bg1"/>
              </a:solidFill>
              <a:latin typeface="Times New Roman" panose="02020603050405020304" pitchFamily="18" charset="0"/>
              <a:ea typeface="楷体_GB2312" panose="02010609030101010101" pitchFamily="49" charset="-122"/>
            </a:endParaRPr>
          </a:p>
        </p:txBody>
      </p:sp>
      <p:sp>
        <p:nvSpPr>
          <p:cNvPr id="194566" name="Rectangle 6"/>
          <p:cNvSpPr/>
          <p:nvPr/>
        </p:nvSpPr>
        <p:spPr>
          <a:xfrm>
            <a:off x="0" y="1905000"/>
            <a:ext cx="40386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 1. 到太空去制造材料</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
        <p:nvSpPr>
          <p:cNvPr id="194569" name="Rectangle 9"/>
          <p:cNvSpPr/>
          <p:nvPr/>
        </p:nvSpPr>
        <p:spPr>
          <a:xfrm>
            <a:off x="0" y="2921000"/>
            <a:ext cx="6248400" cy="523875"/>
          </a:xfrm>
          <a:prstGeom prst="rect">
            <a:avLst/>
          </a:prstGeom>
          <a:solidFill>
            <a:srgbClr val="CCFFCC"/>
          </a:solidFill>
          <a:ln w="19050" cap="flat" cmpd="sng">
            <a:solidFill>
              <a:srgbClr val="008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a:solidFill>
                  <a:schemeClr val="tx1"/>
                </a:solidFill>
                <a:latin typeface="+mn-lt"/>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a:solidFill>
                  <a:schemeClr val="tx1"/>
                </a:solidFill>
                <a:latin typeface="+mn-lt"/>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a:solidFill>
                  <a:schemeClr val="tx1"/>
                </a:solidFill>
                <a:latin typeface="+mn-lt"/>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mn-lt"/>
              </a:defRPr>
            </a:lvl5pPr>
          </a:lstStyle>
          <a:p>
            <a:pPr marL="0" lvl="0" indent="0" algn="ctr" eaLnBrk="1" hangingPunct="1">
              <a:spcBef>
                <a:spcPct val="0"/>
              </a:spcBef>
              <a:buClrTx/>
              <a:buSzTx/>
              <a:buFontTx/>
              <a:buNone/>
            </a:pPr>
            <a:r>
              <a:rPr lang="en-US" altLang="en-US" sz="2800" b="1" dirty="0">
                <a:solidFill>
                  <a:srgbClr val="540C2B"/>
                </a:solidFill>
                <a:latin typeface="楷体_GB2312" panose="02010609030101010101" pitchFamily="49" charset="-122"/>
                <a:ea typeface="楷体_GB2312" panose="02010609030101010101" pitchFamily="49" charset="-122"/>
              </a:rPr>
              <a:t>2. 将组合化学技术应用于材料制备</a:t>
            </a:r>
            <a:endParaRPr lang="zh-CN" altLang="en-US" sz="2800" b="1" dirty="0">
              <a:solidFill>
                <a:srgbClr val="540C2B"/>
              </a:solidFill>
              <a:latin typeface="楷体_GB2312" panose="02010609030101010101" pitchFamily="49" charset="-122"/>
              <a:ea typeface="楷体_GB2312" panose="02010609030101010101" pitchFamily="49" charset="-122"/>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94565"/>
                                        </p:tgtEl>
                                        <p:attrNameLst>
                                          <p:attrName>style.visibility</p:attrName>
                                        </p:attrNameLst>
                                      </p:cBhvr>
                                      <p:to>
                                        <p:strVal val="visible"/>
                                      </p:to>
                                    </p:set>
                                    <p:anim calcmode="lin" valueType="num">
                                      <p:cBhvr>
                                        <p:cTn id="7" dur="1000" fill="hold"/>
                                        <p:tgtEl>
                                          <p:spTgt spid="194565"/>
                                        </p:tgtEl>
                                        <p:attrNameLst>
                                          <p:attrName>ppt_w</p:attrName>
                                        </p:attrNameLst>
                                      </p:cBhvr>
                                      <p:tavLst>
                                        <p:tav tm="0">
                                          <p:val>
                                            <p:fltVal val="0.000000"/>
                                          </p:val>
                                        </p:tav>
                                        <p:tav tm="100000">
                                          <p:val>
                                            <p:strVal val="#ppt_w"/>
                                          </p:val>
                                        </p:tav>
                                      </p:tavLst>
                                    </p:anim>
                                    <p:anim calcmode="lin" valueType="num">
                                      <p:cBhvr>
                                        <p:cTn id="8" dur="1000" fill="hold"/>
                                        <p:tgtEl>
                                          <p:spTgt spid="194565"/>
                                        </p:tgtEl>
                                        <p:attrNameLst>
                                          <p:attrName>ppt_h</p:attrName>
                                        </p:attrNameLst>
                                      </p:cBhvr>
                                      <p:tavLst>
                                        <p:tav tm="0">
                                          <p:val>
                                            <p:fltVal val="0.000000"/>
                                          </p:val>
                                        </p:tav>
                                        <p:tav tm="100000">
                                          <p:val>
                                            <p:strVal val="#ppt_h"/>
                                          </p:val>
                                        </p:tav>
                                      </p:tavLst>
                                    </p:anim>
                                    <p:anim calcmode="lin" valueType="num">
                                      <p:cBhvr>
                                        <p:cTn id="9" dur="1000" fill="hold"/>
                                        <p:tgtEl>
                                          <p:spTgt spid="194565"/>
                                        </p:tgtEl>
                                        <p:attrNameLst>
                                          <p:attrName>style.rotation</p:attrName>
                                        </p:attrNameLst>
                                      </p:cBhvr>
                                      <p:tavLst>
                                        <p:tav tm="0">
                                          <p:val>
                                            <p:fltVal val="90.000000"/>
                                          </p:val>
                                        </p:tav>
                                        <p:tav tm="100000">
                                          <p:val>
                                            <p:fltVal val="0.000000"/>
                                          </p:val>
                                        </p:tav>
                                      </p:tavLst>
                                    </p:anim>
                                    <p:animEffect transition="in" filter="fade">
                                      <p:cBhvr>
                                        <p:cTn id="10" dur="1000"/>
                                        <p:tgtEl>
                                          <p:spTgt spid="19456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94566"/>
                                        </p:tgtEl>
                                        <p:attrNameLst>
                                          <p:attrName>style.visibility</p:attrName>
                                        </p:attrNameLst>
                                      </p:cBhvr>
                                      <p:to>
                                        <p:strVal val="visible"/>
                                      </p:to>
                                    </p:set>
                                    <p:animEffect transition="in" filter="wipe(left)">
                                      <p:cBhvr>
                                        <p:cTn id="15" dur="500"/>
                                        <p:tgtEl>
                                          <p:spTgt spid="19456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4569"/>
                                        </p:tgtEl>
                                        <p:attrNameLst>
                                          <p:attrName>style.visibility</p:attrName>
                                        </p:attrNameLst>
                                      </p:cBhvr>
                                      <p:to>
                                        <p:strVal val="visible"/>
                                      </p:to>
                                    </p:set>
                                    <p:animEffect transition="in" filter="wipe(left)">
                                      <p:cBhvr>
                                        <p:cTn id="20" dur="500"/>
                                        <p:tgtEl>
                                          <p:spTgt spid="194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nimBg="1"/>
      <p:bldP spid="194566" grpId="0" animBg="1"/>
      <p:bldP spid="194569"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8242" name="Picture 6" descr="http://p18.qhimg.com/bdr/__85/d/_open360/fresh0124/52.jpg"/>
          <p:cNvPicPr>
            <a:picLocks noChangeAspect="1"/>
          </p:cNvPicPr>
          <p:nvPr/>
        </p:nvPicPr>
        <p:blipFill>
          <a:blip r:embed="rId1"/>
          <a:srcRect l="16666"/>
          <a:stretch>
            <a:fillRect/>
          </a:stretch>
        </p:blipFill>
        <p:spPr>
          <a:xfrm>
            <a:off x="0" y="0"/>
            <a:ext cx="9144000" cy="5715000"/>
          </a:xfrm>
          <a:prstGeom prst="rect">
            <a:avLst/>
          </a:prstGeom>
          <a:noFill/>
          <a:ln w="9525">
            <a:noFill/>
          </a:ln>
        </p:spPr>
      </p:pic>
      <p:sp>
        <p:nvSpPr>
          <p:cNvPr id="138243" name="WordArt 3"/>
          <p:cNvSpPr/>
          <p:nvPr/>
        </p:nvSpPr>
        <p:spPr>
          <a:xfrm>
            <a:off x="457200" y="4254500"/>
            <a:ext cx="2519363" cy="1200150"/>
          </a:xfrm>
          <a:prstGeom prst="rect">
            <a:avLst/>
          </a:prstGeom>
        </p:spPr>
        <p:txBody>
          <a:bodyPr wrap="none" fromWordArt="1">
            <a:prstTxWarp prst="textDeflate">
              <a:avLst>
                <a:gd name="adj" fmla="val 26227"/>
              </a:avLst>
            </a:prstTxWarp>
            <a:normAutofit/>
          </a:bodyPr>
          <a:p>
            <a:pPr algn="ctr" eaLnBrk="0" hangingPunct="0"/>
            <a:r>
              <a:rPr lang="zh-CN" altLang="en-US" sz="4000" b="1">
                <a:ln w="9525" cap="flat" cmpd="sng">
                  <a:solidFill>
                    <a:srgbClr val="000000"/>
                  </a:solidFill>
                  <a:prstDash val="solid"/>
                  <a:headEnd type="none" w="med" len="med"/>
                  <a:tailEnd type="none" w="med" len="med"/>
                </a:ln>
                <a:solidFill>
                  <a:srgbClr val="6600CC"/>
                </a:solidFill>
                <a:latin typeface="Times New Roman" panose="02020603050405020304" pitchFamily="18" charset="0"/>
                <a:ea typeface="Times New Roman" panose="02020603050405020304" pitchFamily="18" charset="0"/>
              </a:rPr>
              <a:t>The End</a:t>
            </a:r>
            <a:endParaRPr lang="zh-CN" altLang="en-US" sz="4000" b="1">
              <a:ln w="9525" cap="flat" cmpd="sng">
                <a:solidFill>
                  <a:srgbClr val="000000"/>
                </a:solidFill>
                <a:prstDash val="solid"/>
                <a:headEnd type="none" w="med" len="med"/>
                <a:tailEnd type="none" w="med" len="med"/>
              </a:ln>
              <a:solidFill>
                <a:srgbClr val="6600CC"/>
              </a:solidFill>
              <a:latin typeface="Times New Roman" panose="02020603050405020304" pitchFamily="18" charset="0"/>
              <a:ea typeface="Times New Roman" panose="02020603050405020304" pitchFamily="18" charset="0"/>
            </a:endParaRPr>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8243"/>
                                        </p:tgtEl>
                                        <p:attrNameLst>
                                          <p:attrName>style.visibility</p:attrName>
                                        </p:attrNameLst>
                                      </p:cBhvr>
                                      <p:to>
                                        <p:strVal val="visible"/>
                                      </p:to>
                                    </p:set>
                                    <p:animEffect transition="in" filter="diamond(in)">
                                      <p:cBhvr>
                                        <p:cTn id="7" dur="500"/>
                                        <p:tgtEl>
                                          <p:spTgt spid="138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MzBlOWVlMGNkMmFjNDM3NzgyN2FmN2M1NGNjNDBmZTYifQ=="/>
</p:tagLst>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流畅">
  <a:themeElements>
    <a:clrScheme name="流畅 1">
      <a:dk1>
        <a:srgbClr val="000000"/>
      </a:dk1>
      <a:lt1>
        <a:srgbClr val="FFFFFF"/>
      </a:lt1>
      <a:dk2>
        <a:srgbClr val="04617B"/>
      </a:dk2>
      <a:lt2>
        <a:srgbClr val="DBF5F9"/>
      </a:lt2>
      <a:accent1>
        <a:srgbClr val="0F6FC6"/>
      </a:accent1>
      <a:accent2>
        <a:srgbClr val="009DD9"/>
      </a:accent2>
      <a:accent3>
        <a:srgbClr val="FFFFFF"/>
      </a:accent3>
      <a:accent4>
        <a:srgbClr val="000000"/>
      </a:accent4>
      <a:accent5>
        <a:srgbClr val="AABBDF"/>
      </a:accent5>
      <a:accent6>
        <a:srgbClr val="008EC4"/>
      </a:accent6>
      <a:hlink>
        <a:srgbClr val="E2D700"/>
      </a:hlink>
      <a:folHlink>
        <a:srgbClr val="85DFD0"/>
      </a:folHlink>
    </a:clrScheme>
    <a:fontScheme name="流畅">
      <a:majorFont>
        <a:latin typeface="Calibri"/>
        <a:ea typeface=""/>
        <a:cs typeface=""/>
      </a:majorFont>
      <a:minorFont>
        <a:latin typeface="Constant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流畅 1">
        <a:dk1>
          <a:srgbClr val="000000"/>
        </a:dk1>
        <a:lt1>
          <a:srgbClr val="FFFFFF"/>
        </a:lt1>
        <a:dk2>
          <a:srgbClr val="04617B"/>
        </a:dk2>
        <a:lt2>
          <a:srgbClr val="DBF5F9"/>
        </a:lt2>
        <a:accent1>
          <a:srgbClr val="0F6FC6"/>
        </a:accent1>
        <a:accent2>
          <a:srgbClr val="009DD9"/>
        </a:accent2>
        <a:accent3>
          <a:srgbClr val="FFFFFF"/>
        </a:accent3>
        <a:accent4>
          <a:srgbClr val="000000"/>
        </a:accent4>
        <a:accent5>
          <a:srgbClr val="AABBDF"/>
        </a:accent5>
        <a:accent6>
          <a:srgbClr val="008EC4"/>
        </a:accent6>
        <a:hlink>
          <a:srgbClr val="E2D700"/>
        </a:hlink>
        <a:folHlink>
          <a:srgbClr val="85DFD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3_流畅">
      <a:majorFont>
        <a:latin typeface=""/>
        <a:ea typeface=""/>
        <a:cs typeface=""/>
      </a:majorFont>
      <a:minorFont>
        <a:latin typeface=""/>
        <a:ea typeface=""/>
        <a:cs typeface=""/>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25598</Words>
  <Application>WPS 演示</Application>
  <PresentationFormat>全屏显示(16:10)</PresentationFormat>
  <Paragraphs>663</Paragraphs>
  <Slides>131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131</vt:i4>
      </vt:variant>
    </vt:vector>
  </HeadingPairs>
  <TitlesOfParts>
    <vt:vector size="144" baseType="lpstr">
      <vt:lpstr>Arial</vt:lpstr>
      <vt:lpstr>宋体</vt:lpstr>
      <vt:lpstr>Wingdings</vt:lpstr>
      <vt:lpstr>Calibri</vt:lpstr>
      <vt:lpstr>Constantia</vt:lpstr>
      <vt:lpstr>Wingdings 2</vt:lpstr>
      <vt:lpstr>楷体_GB2312</vt:lpstr>
      <vt:lpstr>Times New Roman</vt:lpstr>
      <vt:lpstr>Wingdings 2</vt:lpstr>
      <vt:lpstr>微软雅黑</vt:lpstr>
      <vt:lpstr>Arial Unicode MS</vt:lpstr>
      <vt:lpstr>流畅</vt:lpstr>
      <vt:lpstr>3_流畅</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eclipsed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PLANNING</dc:title>
  <dc:creator>eclipse</dc:creator>
  <cp:lastModifiedBy>微信用户</cp:lastModifiedBy>
  <cp:revision>158</cp:revision>
  <dcterms:created xsi:type="dcterms:W3CDTF">2003-01-30T17:58:38Z</dcterms:created>
  <dcterms:modified xsi:type="dcterms:W3CDTF">2024-08-09T03:39:31Z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552C8F6D78094B999B335172C15A6778_12</vt:lpwstr>
  </property>
  <property fmtid="{D5CDD505-2E9C-101B-9397-08002B2CF9AE}" pid="3" name="KSOProductBuildVer">
    <vt:lpwstr>2052-12.1.0.17147</vt:lpwstr>
  </property>
</Properties>
</file>