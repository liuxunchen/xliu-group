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handoutMasterIdLst>
    <p:handoutMasterId r:id="rId46"/>
  </p:handoutMasterIdLst>
  <p:sldIdLst>
    <p:sldId id="354" r:id="rId2"/>
    <p:sldId id="379" r:id="rId3"/>
    <p:sldId id="380" r:id="rId4"/>
    <p:sldId id="384" r:id="rId5"/>
    <p:sldId id="355" r:id="rId6"/>
    <p:sldId id="256" r:id="rId7"/>
    <p:sldId id="361" r:id="rId8"/>
    <p:sldId id="336" r:id="rId9"/>
    <p:sldId id="257" r:id="rId10"/>
    <p:sldId id="338" r:id="rId11"/>
    <p:sldId id="258" r:id="rId12"/>
    <p:sldId id="259" r:id="rId13"/>
    <p:sldId id="260" r:id="rId14"/>
    <p:sldId id="304" r:id="rId15"/>
    <p:sldId id="348" r:id="rId16"/>
    <p:sldId id="307" r:id="rId17"/>
    <p:sldId id="308" r:id="rId18"/>
    <p:sldId id="309" r:id="rId19"/>
    <p:sldId id="349" r:id="rId20"/>
    <p:sldId id="310" r:id="rId21"/>
    <p:sldId id="358" r:id="rId22"/>
    <p:sldId id="305" r:id="rId23"/>
    <p:sldId id="311" r:id="rId24"/>
    <p:sldId id="350" r:id="rId25"/>
    <p:sldId id="351" r:id="rId26"/>
    <p:sldId id="306" r:id="rId27"/>
    <p:sldId id="314" r:id="rId28"/>
    <p:sldId id="313" r:id="rId29"/>
    <p:sldId id="364" r:id="rId30"/>
    <p:sldId id="359" r:id="rId31"/>
    <p:sldId id="263" r:id="rId32"/>
    <p:sldId id="315" r:id="rId33"/>
    <p:sldId id="261" r:id="rId34"/>
    <p:sldId id="345" r:id="rId35"/>
    <p:sldId id="381" r:id="rId36"/>
    <p:sldId id="382" r:id="rId37"/>
    <p:sldId id="383" r:id="rId38"/>
    <p:sldId id="377" r:id="rId39"/>
    <p:sldId id="378" r:id="rId40"/>
    <p:sldId id="344" r:id="rId41"/>
    <p:sldId id="333" r:id="rId42"/>
    <p:sldId id="316" r:id="rId43"/>
    <p:sldId id="347" r:id="rId44"/>
  </p:sldIdLst>
  <p:sldSz cx="9144000" cy="5143500" type="screen16x9"/>
  <p:notesSz cx="6858000" cy="9144000"/>
  <p:custDataLst>
    <p:tags r:id="rId47"/>
  </p:custDataLst>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CCECFF"/>
    <a:srgbClr val="FFCCCC"/>
    <a:srgbClr val="CC99FF"/>
    <a:srgbClr val="FF3300"/>
    <a:srgbClr val="660066"/>
    <a:srgbClr val="6600C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2" d="100"/>
          <a:sy n="122" d="100"/>
        </p:scale>
        <p:origin x="76" y="1012"/>
      </p:cViewPr>
      <p:guideLst>
        <p:guide orient="horz" pos="1620"/>
        <p:guide pos="2880"/>
      </p:guideLst>
    </p:cSldViewPr>
  </p:slideViewPr>
  <p:notesTextViewPr>
    <p:cViewPr>
      <p:scale>
        <a:sx n="100" d="100"/>
        <a:sy n="100" d="100"/>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buFont typeface="Arial" panose="020B0604020202020204" pitchFamily="34" charset="0"/>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E57D42-6D8E-44DD-954E-6D3AC532D7B1}"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2025/12/17</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zh-CN" altLang="en-US" sz="1200" dirty="0">
                <a:ea typeface="宋体" panose="02010600030101010101" pitchFamily="2" charset="-122"/>
              </a:rPr>
              <a:t>‹#›</a:t>
            </a:fld>
            <a:endParaRPr lang="zh-CN" altLang="en-US" sz="1200" dirty="0">
              <a:ea typeface="宋体" panose="02010600030101010101" pitchFamily="2"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 typeface="Arial" panose="020B0604020202020204" pitchFamily="34" charset="0"/>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9396" name="Rectangle 4"/>
          <p:cNvSpPr>
            <a:spLocks noGrp="1" noRot="1" noChangeAspect="1"/>
          </p:cNvSpPr>
          <p:nvPr>
            <p:ph type="sldImg" idx="2"/>
          </p:nvPr>
        </p:nvSpPr>
        <p:spPr>
          <a:xfrm>
            <a:off x="381000" y="685800"/>
            <a:ext cx="6096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ctr"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ea typeface="宋体" panose="02010600030101010101" pitchFamily="2" charset="-122"/>
              </a:rPr>
              <a:t>‹#›</a:t>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ln/>
        </p:spPr>
        <p:txBody>
          <a:bodyPr wrap="square" lIns="91440" tIns="45720" rIns="91440" bIns="45720" anchor="ctr" anchorCtr="0"/>
          <a:lstStyle/>
          <a:p>
            <a:pPr lvl="0" eaLnBrk="1" hangingPunct="1"/>
            <a:endParaRPr lang="zh-CN" altLang="en-US" dirty="0">
              <a:ea typeface="宋体" panose="02010600030101010101" pitchFamily="2" charset="-122"/>
            </a:endParaRPr>
          </a:p>
        </p:txBody>
      </p:sp>
      <p:sp>
        <p:nvSpPr>
          <p:cNvPr id="614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ea typeface="宋体" panose="02010600030101010101" pitchFamily="2" charset="-122"/>
              </a:rPr>
              <a:t>6</a:t>
            </a:fld>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a:ln/>
        </p:spPr>
      </p:sp>
      <p:sp>
        <p:nvSpPr>
          <p:cNvPr id="62467" name="备注占位符 2"/>
          <p:cNvSpPr>
            <a:spLocks noGrp="1"/>
          </p:cNvSpPr>
          <p:nvPr>
            <p:ph type="body" idx="1"/>
          </p:nvPr>
        </p:nvSpPr>
        <p:spPr>
          <a:ln/>
        </p:spPr>
        <p:txBody>
          <a:bodyPr wrap="square" lIns="91440" tIns="45720" rIns="91440" bIns="45720" anchor="ctr" anchorCtr="0"/>
          <a:lstStyle/>
          <a:p>
            <a:pPr lvl="0"/>
            <a:endParaRPr lang="zh-CN" altLang="en-US" dirty="0">
              <a:ea typeface="宋体" panose="02010600030101010101" pitchFamily="2" charset="-122"/>
            </a:endParaRPr>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buChar char="•"/>
            </a:pPr>
            <a:fld id="{9A0DB2DC-4C9A-4742-B13C-FB6460FD3503}" type="slidenum">
              <a:rPr lang="zh-CN" altLang="en-US" dirty="0">
                <a:solidFill>
                  <a:srgbClr val="000000"/>
                </a:solidFill>
                <a:ea typeface="宋体" panose="02010600030101010101" pitchFamily="2" charset="-122"/>
              </a:rPr>
              <a:t>29</a:t>
            </a:fld>
            <a:endParaRPr lang="zh-CN" altLang="en-US" dirty="0">
              <a:solidFill>
                <a:srgbClr val="000000"/>
              </a:solidFill>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6"/>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页脚占位符 2"/>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页脚占位符 4"/>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页脚占位符 3"/>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页脚占位符 1"/>
          <p:cNvSpPr>
            <a:spLocks noGrp="1"/>
          </p:cNvSpPr>
          <p:nvPr>
            <p:ph type="ftr"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9" name="Rectangle 5"/>
          <p:cNvSpPr>
            <a:spLocks noGrp="1" noChangeArrowheads="1"/>
          </p:cNvSpPr>
          <p:nvPr>
            <p:ph type="ftr" sz="quarter" idx="3"/>
          </p:nvPr>
        </p:nvSpPr>
        <p:spPr bwMode="auto">
          <a:xfrm>
            <a:off x="1981200" y="4914900"/>
            <a:ext cx="5562600" cy="228600"/>
          </a:xfrm>
          <a:prstGeom prst="rect">
            <a:avLst/>
          </a:prstGeom>
          <a:noFill/>
          <a:ln w="9525">
            <a:noFill/>
            <a:miter lim="800000"/>
          </a:ln>
          <a:effectLst/>
        </p:spPr>
        <p:txBody>
          <a:bodyPr vert="horz" wrap="square" lIns="91440" tIns="45720" rIns="91440" bIns="45720" numCol="1" anchor="t" anchorCtr="0" compatLnSpc="1"/>
          <a:lstStyle>
            <a:lvl1pPr algn="ctr">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63000" y="4972050"/>
            <a:ext cx="381000" cy="171450"/>
          </a:xfrm>
          <a:prstGeom prst="rect">
            <a:avLst/>
          </a:prstGeom>
          <a:noFill/>
          <a:ln w="9525">
            <a:noFill/>
            <a:miter lim="800000"/>
          </a:ln>
          <a:effectLst/>
        </p:spPr>
        <p:txBody>
          <a:bodyPr vert="horz" wrap="square" lIns="91440" tIns="45720" rIns="91440" bIns="45720" numCol="1" anchor="t" anchorCtr="0" compatLnSpc="1"/>
          <a:lstStyle>
            <a:lvl1pPr algn="r">
              <a:defRPr sz="1200">
                <a:ea typeface="宋体" panose="02010600030101010101" pitchFamily="2" charset="-122"/>
              </a:defRPr>
            </a:lvl1p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pic>
        <p:nvPicPr>
          <p:cNvPr id="1028" name="Picture 13" descr="58010-12032116122190"/>
          <p:cNvPicPr>
            <a:picLocks noChangeAspect="1"/>
          </p:cNvPicPr>
          <p:nvPr userDrawn="1"/>
        </p:nvPicPr>
        <p:blipFill>
          <a:blip r:embed="rId14"/>
          <a:stretch>
            <a:fillRect/>
          </a:stretch>
        </p:blipFill>
        <p:spPr>
          <a:xfrm>
            <a:off x="0" y="3759200"/>
            <a:ext cx="1231900" cy="13843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dir="r"/>
  </p:transition>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20204" pitchFamily="34" charset="0"/>
        </a:defRPr>
      </a:lvl2pPr>
      <a:lvl3pPr algn="l" rtl="0" eaLnBrk="0" fontAlgn="base" hangingPunct="0">
        <a:spcBef>
          <a:spcPct val="0"/>
        </a:spcBef>
        <a:spcAft>
          <a:spcPct val="0"/>
        </a:spcAft>
        <a:defRPr sz="4400">
          <a:solidFill>
            <a:schemeClr val="tx2"/>
          </a:solidFill>
          <a:latin typeface="Arial" panose="020B0604020202020204" pitchFamily="34" charset="0"/>
        </a:defRPr>
      </a:lvl3pPr>
      <a:lvl4pPr algn="l" rtl="0" eaLnBrk="0" fontAlgn="base" hangingPunct="0">
        <a:spcBef>
          <a:spcPct val="0"/>
        </a:spcBef>
        <a:spcAft>
          <a:spcPct val="0"/>
        </a:spcAft>
        <a:defRPr sz="4400">
          <a:solidFill>
            <a:schemeClr val="tx2"/>
          </a:solidFill>
          <a:latin typeface="Arial" panose="020B0604020202020204" pitchFamily="34" charset="0"/>
        </a:defRPr>
      </a:lvl4pPr>
      <a:lvl5pPr algn="l" rtl="0" eaLnBrk="0" fontAlgn="base" hangingPunct="0">
        <a:spcBef>
          <a:spcPct val="0"/>
        </a:spcBef>
        <a:spcAft>
          <a:spcPct val="0"/>
        </a:spcAft>
        <a:defRPr sz="4400">
          <a:solidFill>
            <a:schemeClr val="tx2"/>
          </a:solidFill>
          <a:latin typeface="Arial" panose="020B0604020202020204" pitchFamily="34" charset="0"/>
        </a:defRPr>
      </a:lvl5pPr>
      <a:lvl6pPr marL="457200" algn="l" rtl="0" fontAlgn="base">
        <a:spcBef>
          <a:spcPct val="0"/>
        </a:spcBef>
        <a:spcAft>
          <a:spcPct val="0"/>
        </a:spcAft>
        <a:defRPr sz="4400">
          <a:solidFill>
            <a:schemeClr val="tx2"/>
          </a:solidFill>
          <a:latin typeface="Arial" panose="020B0604020202020204" pitchFamily="34" charset="0"/>
        </a:defRPr>
      </a:lvl6pPr>
      <a:lvl7pPr marL="914400" algn="l" rtl="0" fontAlgn="base">
        <a:spcBef>
          <a:spcPct val="0"/>
        </a:spcBef>
        <a:spcAft>
          <a:spcPct val="0"/>
        </a:spcAft>
        <a:defRPr sz="4400">
          <a:solidFill>
            <a:schemeClr val="tx2"/>
          </a:solidFill>
          <a:latin typeface="Arial" panose="020B0604020202020204" pitchFamily="34" charset="0"/>
        </a:defRPr>
      </a:lvl7pPr>
      <a:lvl8pPr marL="1371600" algn="l" rtl="0" fontAlgn="base">
        <a:spcBef>
          <a:spcPct val="0"/>
        </a:spcBef>
        <a:spcAft>
          <a:spcPct val="0"/>
        </a:spcAft>
        <a:defRPr sz="4400">
          <a:solidFill>
            <a:schemeClr val="tx2"/>
          </a:solidFill>
          <a:latin typeface="Arial" panose="020B0604020202020204" pitchFamily="34" charset="0"/>
        </a:defRPr>
      </a:lvl8pPr>
      <a:lvl9pPr marL="1828800" algn="l"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12298;&#25105;&#20204;&#38656;&#35201;&#21270;&#23398;&#12299;.mp4"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31532;1&#20010;&#36229;&#38142;&#25509;%20%20&#21270;&#23398;&#30340;&#21457;&#23637;&#31616;&#21490;.doc"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31532;2&#20010;&#36229;&#38142;&#25509;%20%20%20&#36817;&#20195;&#21270;&#23398;&#20043;&#29238;&#27874;&#20041;&#32819;.docx"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22.jpe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hyperlink" Target="&#31532;7&#20010;&#36229;&#38142;&#25509;%20%20&#36208;&#21521;&#26410;&#26469;%20%20%20.flv"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img.redocn.com/sheji/20160818/lvseqingxinkaixuejihuanyingxintongxueyingxinhaibaosheji_6957529.jpg"/>
          <p:cNvPicPr>
            <a:picLocks noChangeAspect="1"/>
          </p:cNvPicPr>
          <p:nvPr/>
        </p:nvPicPr>
        <p:blipFill>
          <a:blip r:embed="rId2"/>
          <a:srcRect l="2049" t="16821" r="1624" b="31133"/>
          <a:stretch>
            <a:fillRect/>
          </a:stretch>
        </p:blipFill>
        <p:spPr>
          <a:xfrm>
            <a:off x="4763" y="-7937"/>
            <a:ext cx="9144000" cy="5143500"/>
          </a:xfrm>
          <a:prstGeom prst="rect">
            <a:avLst/>
          </a:prstGeom>
          <a:noFill/>
          <a:ln w="9525">
            <a:noFill/>
          </a:ln>
        </p:spPr>
      </p:pic>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F11D7DB-7422-85A0-8EBF-912CD552504D}"/>
              </a:ext>
            </a:extLst>
          </p:cNvPr>
          <p:cNvPicPr>
            <a:picLocks noChangeAspect="1"/>
          </p:cNvPicPr>
          <p:nvPr/>
        </p:nvPicPr>
        <p:blipFill>
          <a:blip r:embed="rId2"/>
          <a:stretch>
            <a:fillRect/>
          </a:stretch>
        </p:blipFill>
        <p:spPr>
          <a:xfrm>
            <a:off x="1943708" y="3255826"/>
            <a:ext cx="5725324" cy="1362265"/>
          </a:xfrm>
          <a:prstGeom prst="rect">
            <a:avLst/>
          </a:prstGeom>
        </p:spPr>
      </p:pic>
      <p:sp>
        <p:nvSpPr>
          <p:cNvPr id="6" name="文本框 5">
            <a:extLst>
              <a:ext uri="{FF2B5EF4-FFF2-40B4-BE49-F238E27FC236}">
                <a16:creationId xmlns:a16="http://schemas.microsoft.com/office/drawing/2014/main" id="{CED05418-81DA-EC57-0643-933DE4415C4A}"/>
              </a:ext>
            </a:extLst>
          </p:cNvPr>
          <p:cNvSpPr txBox="1"/>
          <p:nvPr/>
        </p:nvSpPr>
        <p:spPr>
          <a:xfrm>
            <a:off x="1295636" y="447514"/>
            <a:ext cx="4612160" cy="2000548"/>
          </a:xfrm>
          <a:prstGeom prst="rect">
            <a:avLst/>
          </a:prstGeom>
          <a:noFill/>
        </p:spPr>
        <p:txBody>
          <a:bodyPr wrap="none" rtlCol="0">
            <a:spAutoFit/>
          </a:bodyPr>
          <a:lstStyle/>
          <a:p>
            <a:r>
              <a:rPr lang="zh-CN" altLang="en-US" sz="4800" dirty="0"/>
              <a:t>工程化学</a:t>
            </a:r>
            <a:endParaRPr lang="en-US" altLang="zh-CN" sz="4800" dirty="0"/>
          </a:p>
          <a:p>
            <a:endParaRPr lang="en-US" altLang="zh-CN" sz="4800" dirty="0"/>
          </a:p>
          <a:p>
            <a:r>
              <a:rPr lang="zh-CN" altLang="en-US" sz="2800" dirty="0"/>
              <a:t>周三下午</a:t>
            </a:r>
            <a:r>
              <a:rPr lang="en-US" altLang="zh-CN" sz="2800" dirty="0"/>
              <a:t> 2pm-4pm J14-313</a:t>
            </a:r>
            <a:endParaRPr lang="zh-CN" altLang="en-US" sz="2800" dirty="0"/>
          </a:p>
        </p:txBody>
      </p:sp>
      <p:sp>
        <p:nvSpPr>
          <p:cNvPr id="7" name="文本框 6">
            <a:extLst>
              <a:ext uri="{FF2B5EF4-FFF2-40B4-BE49-F238E27FC236}">
                <a16:creationId xmlns:a16="http://schemas.microsoft.com/office/drawing/2014/main" id="{21EA18D1-83EE-ADA4-01E2-E850C75A216E}"/>
              </a:ext>
            </a:extLst>
          </p:cNvPr>
          <p:cNvSpPr txBox="1"/>
          <p:nvPr/>
        </p:nvSpPr>
        <p:spPr>
          <a:xfrm>
            <a:off x="1306785" y="2751770"/>
            <a:ext cx="941283" cy="369332"/>
          </a:xfrm>
          <a:prstGeom prst="rect">
            <a:avLst/>
          </a:prstGeom>
          <a:noFill/>
        </p:spPr>
        <p:txBody>
          <a:bodyPr wrap="none" rtlCol="0">
            <a:spAutoFit/>
          </a:bodyPr>
          <a:lstStyle/>
          <a:p>
            <a:r>
              <a:rPr lang="zh-CN" altLang="en-US" dirty="0"/>
              <a:t>刘训臣 </a:t>
            </a:r>
          </a:p>
        </p:txBody>
      </p:sp>
    </p:spTree>
    <p:extLst>
      <p:ext uri="{BB962C8B-B14F-4D97-AF65-F5344CB8AC3E}">
        <p14:creationId xmlns:p14="http://schemas.microsoft.com/office/powerpoint/2010/main" val="3477882236"/>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04E27BE-8EC1-5B8F-9C49-1EFB84BF1F32}"/>
              </a:ext>
            </a:extLst>
          </p:cNvPr>
          <p:cNvSpPr txBox="1"/>
          <p:nvPr/>
        </p:nvSpPr>
        <p:spPr>
          <a:xfrm>
            <a:off x="1763688" y="-520"/>
            <a:ext cx="5508612" cy="1903085"/>
          </a:xfrm>
          <a:prstGeom prst="rect">
            <a:avLst/>
          </a:prstGeom>
          <a:noFill/>
        </p:spPr>
        <p:txBody>
          <a:bodyPr wrap="square" rtlCol="0">
            <a:spAutoFit/>
          </a:bodyPr>
          <a:lstStyle/>
          <a:p>
            <a:pPr>
              <a:lnSpc>
                <a:spcPct val="150000"/>
              </a:lnSpc>
              <a:spcBef>
                <a:spcPts val="1200"/>
              </a:spcBef>
              <a:spcAft>
                <a:spcPts val="1200"/>
              </a:spcAft>
            </a:pPr>
            <a:r>
              <a:rPr lang="en-US" altLang="zh-CN" dirty="0"/>
              <a:t>6</a:t>
            </a:r>
            <a:r>
              <a:rPr lang="zh-CN" altLang="en-US" dirty="0"/>
              <a:t>周</a:t>
            </a:r>
            <a:r>
              <a:rPr lang="en-US" altLang="zh-CN" dirty="0"/>
              <a:t>12</a:t>
            </a:r>
            <a:r>
              <a:rPr lang="zh-CN" altLang="en-US" dirty="0"/>
              <a:t>次课时安排：</a:t>
            </a:r>
            <a:endParaRPr lang="en-US" altLang="zh-CN" dirty="0"/>
          </a:p>
          <a:p>
            <a:pPr>
              <a:lnSpc>
                <a:spcPct val="150000"/>
              </a:lnSpc>
              <a:spcBef>
                <a:spcPts val="1200"/>
              </a:spcBef>
              <a:spcAft>
                <a:spcPts val="1200"/>
              </a:spcAft>
            </a:pPr>
            <a:endParaRPr lang="en-US" altLang="zh-CN" dirty="0"/>
          </a:p>
          <a:p>
            <a:pPr>
              <a:lnSpc>
                <a:spcPct val="150000"/>
              </a:lnSpc>
              <a:spcBef>
                <a:spcPts val="1200"/>
              </a:spcBef>
              <a:spcAft>
                <a:spcPts val="1200"/>
              </a:spcAft>
              <a:buFont typeface="Arial" panose="020B0604020202020204" pitchFamily="34" charset="0"/>
              <a:buChar char="•"/>
            </a:pPr>
            <a:endParaRPr lang="zh-CN" altLang="en-US" dirty="0"/>
          </a:p>
        </p:txBody>
      </p:sp>
      <p:graphicFrame>
        <p:nvGraphicFramePr>
          <p:cNvPr id="5" name="表格 4">
            <a:extLst>
              <a:ext uri="{FF2B5EF4-FFF2-40B4-BE49-F238E27FC236}">
                <a16:creationId xmlns:a16="http://schemas.microsoft.com/office/drawing/2014/main" id="{9D5E01A9-286A-CE75-CA47-96A0E5EBE854}"/>
              </a:ext>
            </a:extLst>
          </p:cNvPr>
          <p:cNvGraphicFramePr>
            <a:graphicFrameLocks noGrp="1"/>
          </p:cNvGraphicFramePr>
          <p:nvPr>
            <p:extLst>
              <p:ext uri="{D42A27DB-BD31-4B8C-83A1-F6EECF244321}">
                <p14:modId xmlns:p14="http://schemas.microsoft.com/office/powerpoint/2010/main" val="2518388174"/>
              </p:ext>
            </p:extLst>
          </p:nvPr>
        </p:nvGraphicFramePr>
        <p:xfrm>
          <a:off x="1583668" y="735546"/>
          <a:ext cx="6336705" cy="3780421"/>
        </p:xfrm>
        <a:graphic>
          <a:graphicData uri="http://schemas.openxmlformats.org/drawingml/2006/table">
            <a:tbl>
              <a:tblPr firstRow="1" firstCol="1" bandRow="1">
                <a:tableStyleId>{5C22544A-7EE6-4342-B048-85BDC9FD1C3A}</a:tableStyleId>
              </a:tblPr>
              <a:tblGrid>
                <a:gridCol w="1239033">
                  <a:extLst>
                    <a:ext uri="{9D8B030D-6E8A-4147-A177-3AD203B41FA5}">
                      <a16:colId xmlns:a16="http://schemas.microsoft.com/office/drawing/2014/main" val="4269692465"/>
                    </a:ext>
                  </a:extLst>
                </a:gridCol>
                <a:gridCol w="4406785">
                  <a:extLst>
                    <a:ext uri="{9D8B030D-6E8A-4147-A177-3AD203B41FA5}">
                      <a16:colId xmlns:a16="http://schemas.microsoft.com/office/drawing/2014/main" val="2363624040"/>
                    </a:ext>
                  </a:extLst>
                </a:gridCol>
                <a:gridCol w="177520">
                  <a:extLst>
                    <a:ext uri="{9D8B030D-6E8A-4147-A177-3AD203B41FA5}">
                      <a16:colId xmlns:a16="http://schemas.microsoft.com/office/drawing/2014/main" val="1575842702"/>
                    </a:ext>
                  </a:extLst>
                </a:gridCol>
                <a:gridCol w="177520">
                  <a:extLst>
                    <a:ext uri="{9D8B030D-6E8A-4147-A177-3AD203B41FA5}">
                      <a16:colId xmlns:a16="http://schemas.microsoft.com/office/drawing/2014/main" val="3991710282"/>
                    </a:ext>
                  </a:extLst>
                </a:gridCol>
                <a:gridCol w="335847">
                  <a:extLst>
                    <a:ext uri="{9D8B030D-6E8A-4147-A177-3AD203B41FA5}">
                      <a16:colId xmlns:a16="http://schemas.microsoft.com/office/drawing/2014/main" val="3649383642"/>
                    </a:ext>
                  </a:extLst>
                </a:gridCol>
              </a:tblGrid>
              <a:tr h="505794">
                <a:tc>
                  <a:txBody>
                    <a:bodyPr/>
                    <a:lstStyle/>
                    <a:p>
                      <a:pPr algn="just">
                        <a:lnSpc>
                          <a:spcPct val="125000"/>
                        </a:lnSpc>
                      </a:pPr>
                      <a:r>
                        <a:rPr lang="zh-CN" sz="2000">
                          <a:effectLst/>
                          <a:latin typeface="+mn-ea"/>
                          <a:ea typeface="+mn-ea"/>
                        </a:rPr>
                        <a:t>第一章</a:t>
                      </a:r>
                    </a:p>
                  </a:txBody>
                  <a:tcPr marL="68580" marR="68580" marT="0" marB="0" anchor="ctr"/>
                </a:tc>
                <a:tc>
                  <a:txBody>
                    <a:bodyPr/>
                    <a:lstStyle/>
                    <a:p>
                      <a:pPr algn="just">
                        <a:lnSpc>
                          <a:spcPct val="125000"/>
                        </a:lnSpc>
                      </a:pPr>
                      <a:r>
                        <a:rPr lang="zh-CN" sz="2000">
                          <a:effectLst/>
                          <a:latin typeface="+mn-ea"/>
                          <a:ea typeface="+mn-ea"/>
                        </a:rPr>
                        <a:t>绪论</a:t>
                      </a:r>
                    </a:p>
                  </a:txBody>
                  <a:tcPr marL="68580" marR="68580" marT="0" marB="0"/>
                </a:tc>
                <a:tc gridSpan="2">
                  <a:txBody>
                    <a:bodyPr/>
                    <a:lstStyle/>
                    <a:p>
                      <a:pPr algn="ctr">
                        <a:lnSpc>
                          <a:spcPct val="125000"/>
                        </a:lnSpc>
                      </a:pPr>
                      <a:r>
                        <a:rPr lang="en-US" sz="2000">
                          <a:effectLst/>
                          <a:latin typeface="+mn-ea"/>
                          <a:ea typeface="+mn-ea"/>
                        </a:rPr>
                        <a:t>1</a:t>
                      </a:r>
                      <a:endParaRPr lang="zh-CN" sz="2000">
                        <a:effectLst/>
                        <a:latin typeface="+mn-ea"/>
                        <a:ea typeface="+mn-ea"/>
                      </a:endParaRPr>
                    </a:p>
                  </a:txBody>
                  <a:tcPr marL="68580" marR="68580" marT="0" marB="0"/>
                </a:tc>
                <a:tc hMerge="1">
                  <a:txBody>
                    <a:bodyPr/>
                    <a:lstStyle/>
                    <a:p>
                      <a:endParaRPr lang="zh-CN" altLang="en-US"/>
                    </a:p>
                  </a:txBody>
                  <a:tcPr/>
                </a:tc>
                <a:tc>
                  <a:txBody>
                    <a:bodyPr/>
                    <a:lstStyle/>
                    <a:p>
                      <a:pPr algn="just"/>
                      <a:r>
                        <a:rPr lang="zh-CN" sz="2000" kern="100">
                          <a:effectLst/>
                          <a:latin typeface="+mn-ea"/>
                          <a:ea typeface="+mn-ea"/>
                        </a:rPr>
                        <a:t> </a:t>
                      </a:r>
                    </a:p>
                  </a:txBody>
                  <a:tcPr marL="0" marR="0" marT="0" marB="0" anchor="ctr"/>
                </a:tc>
                <a:extLst>
                  <a:ext uri="{0D108BD9-81ED-4DB2-BD59-A6C34878D82A}">
                    <a16:rowId xmlns:a16="http://schemas.microsoft.com/office/drawing/2014/main" val="3986475601"/>
                  </a:ext>
                </a:extLst>
              </a:tr>
              <a:tr h="505794">
                <a:tc>
                  <a:txBody>
                    <a:bodyPr/>
                    <a:lstStyle/>
                    <a:p>
                      <a:pPr algn="just">
                        <a:lnSpc>
                          <a:spcPct val="125000"/>
                        </a:lnSpc>
                      </a:pPr>
                      <a:r>
                        <a:rPr lang="zh-CN" sz="2000">
                          <a:effectLst/>
                          <a:latin typeface="+mn-ea"/>
                          <a:ea typeface="+mn-ea"/>
                        </a:rPr>
                        <a:t>第二章</a:t>
                      </a:r>
                    </a:p>
                  </a:txBody>
                  <a:tcPr marL="68580" marR="68580" marT="0" marB="0" anchor="ctr"/>
                </a:tc>
                <a:tc>
                  <a:txBody>
                    <a:bodyPr/>
                    <a:lstStyle/>
                    <a:p>
                      <a:pPr algn="just">
                        <a:lnSpc>
                          <a:spcPct val="125000"/>
                        </a:lnSpc>
                      </a:pPr>
                      <a:r>
                        <a:rPr lang="zh-CN" sz="2000">
                          <a:effectLst/>
                          <a:latin typeface="+mn-ea"/>
                          <a:ea typeface="+mn-ea"/>
                        </a:rPr>
                        <a:t>化学反应的基本规律</a:t>
                      </a:r>
                    </a:p>
                  </a:txBody>
                  <a:tcPr marL="68580" marR="68580" marT="0" marB="0"/>
                </a:tc>
                <a:tc gridSpan="2">
                  <a:txBody>
                    <a:bodyPr/>
                    <a:lstStyle/>
                    <a:p>
                      <a:pPr algn="ctr">
                        <a:lnSpc>
                          <a:spcPct val="125000"/>
                        </a:lnSpc>
                      </a:pPr>
                      <a:r>
                        <a:rPr lang="en-US" sz="2000" dirty="0">
                          <a:effectLst/>
                          <a:latin typeface="+mn-ea"/>
                          <a:ea typeface="+mn-ea"/>
                        </a:rPr>
                        <a:t>6</a:t>
                      </a:r>
                      <a:endParaRPr lang="zh-CN" sz="2000" dirty="0">
                        <a:effectLst/>
                        <a:latin typeface="+mn-ea"/>
                        <a:ea typeface="+mn-ea"/>
                      </a:endParaRPr>
                    </a:p>
                  </a:txBody>
                  <a:tcPr marL="68580" marR="68580" marT="0" marB="0"/>
                </a:tc>
                <a:tc hMerge="1">
                  <a:txBody>
                    <a:bodyPr/>
                    <a:lstStyle/>
                    <a:p>
                      <a:endParaRPr lang="zh-CN" altLang="en-US"/>
                    </a:p>
                  </a:txBody>
                  <a:tcPr/>
                </a:tc>
                <a:tc>
                  <a:txBody>
                    <a:bodyPr/>
                    <a:lstStyle/>
                    <a:p>
                      <a:pPr algn="just"/>
                      <a:r>
                        <a:rPr lang="zh-CN" sz="2000" kern="100">
                          <a:effectLst/>
                          <a:latin typeface="+mn-ea"/>
                          <a:ea typeface="+mn-ea"/>
                        </a:rPr>
                        <a:t> </a:t>
                      </a:r>
                    </a:p>
                  </a:txBody>
                  <a:tcPr marL="0" marR="0" marT="0" marB="0" anchor="ctr"/>
                </a:tc>
                <a:extLst>
                  <a:ext uri="{0D108BD9-81ED-4DB2-BD59-A6C34878D82A}">
                    <a16:rowId xmlns:a16="http://schemas.microsoft.com/office/drawing/2014/main" val="1149617312"/>
                  </a:ext>
                </a:extLst>
              </a:tr>
              <a:tr h="505794">
                <a:tc>
                  <a:txBody>
                    <a:bodyPr/>
                    <a:lstStyle/>
                    <a:p>
                      <a:pPr algn="just">
                        <a:lnSpc>
                          <a:spcPct val="125000"/>
                        </a:lnSpc>
                      </a:pPr>
                      <a:r>
                        <a:rPr lang="zh-CN" sz="2000">
                          <a:effectLst/>
                          <a:latin typeface="+mn-ea"/>
                          <a:ea typeface="+mn-ea"/>
                        </a:rPr>
                        <a:t>第三章</a:t>
                      </a:r>
                    </a:p>
                  </a:txBody>
                  <a:tcPr marL="68580" marR="68580" marT="0" marB="0"/>
                </a:tc>
                <a:tc>
                  <a:txBody>
                    <a:bodyPr/>
                    <a:lstStyle/>
                    <a:p>
                      <a:pPr algn="just">
                        <a:lnSpc>
                          <a:spcPct val="125000"/>
                        </a:lnSpc>
                      </a:pPr>
                      <a:r>
                        <a:rPr lang="zh-CN" sz="2000" dirty="0">
                          <a:effectLst/>
                          <a:latin typeface="+mn-ea"/>
                          <a:ea typeface="+mn-ea"/>
                        </a:rPr>
                        <a:t>溶液中的化学平衡</a:t>
                      </a:r>
                    </a:p>
                  </a:txBody>
                  <a:tcPr marL="68580" marR="68580" marT="0" marB="0"/>
                </a:tc>
                <a:tc gridSpan="2">
                  <a:txBody>
                    <a:bodyPr/>
                    <a:lstStyle/>
                    <a:p>
                      <a:pPr algn="ctr">
                        <a:lnSpc>
                          <a:spcPct val="125000"/>
                        </a:lnSpc>
                      </a:pPr>
                      <a:r>
                        <a:rPr lang="en-US" sz="2000" dirty="0">
                          <a:effectLst/>
                          <a:latin typeface="+mn-ea"/>
                          <a:ea typeface="+mn-ea"/>
                        </a:rPr>
                        <a:t>5</a:t>
                      </a:r>
                      <a:endParaRPr lang="zh-CN" sz="2000" dirty="0">
                        <a:effectLst/>
                        <a:latin typeface="+mn-ea"/>
                        <a:ea typeface="+mn-ea"/>
                      </a:endParaRPr>
                    </a:p>
                  </a:txBody>
                  <a:tcPr marL="68580" marR="68580" marT="0" marB="0"/>
                </a:tc>
                <a:tc hMerge="1">
                  <a:txBody>
                    <a:bodyPr/>
                    <a:lstStyle/>
                    <a:p>
                      <a:endParaRPr lang="zh-CN" altLang="en-US"/>
                    </a:p>
                  </a:txBody>
                  <a:tcPr/>
                </a:tc>
                <a:tc>
                  <a:txBody>
                    <a:bodyPr/>
                    <a:lstStyle/>
                    <a:p>
                      <a:pPr algn="just"/>
                      <a:r>
                        <a:rPr lang="zh-CN" sz="2000" kern="100">
                          <a:effectLst/>
                          <a:latin typeface="+mn-ea"/>
                          <a:ea typeface="+mn-ea"/>
                        </a:rPr>
                        <a:t> </a:t>
                      </a:r>
                    </a:p>
                  </a:txBody>
                  <a:tcPr marL="0" marR="0" marT="0" marB="0" anchor="ctr"/>
                </a:tc>
                <a:extLst>
                  <a:ext uri="{0D108BD9-81ED-4DB2-BD59-A6C34878D82A}">
                    <a16:rowId xmlns:a16="http://schemas.microsoft.com/office/drawing/2014/main" val="3961151062"/>
                  </a:ext>
                </a:extLst>
              </a:tr>
              <a:tr h="505794">
                <a:tc>
                  <a:txBody>
                    <a:bodyPr/>
                    <a:lstStyle/>
                    <a:p>
                      <a:pPr algn="just">
                        <a:lnSpc>
                          <a:spcPct val="125000"/>
                        </a:lnSpc>
                      </a:pPr>
                      <a:r>
                        <a:rPr lang="zh-CN" sz="2000">
                          <a:effectLst/>
                          <a:latin typeface="+mn-ea"/>
                          <a:ea typeface="+mn-ea"/>
                        </a:rPr>
                        <a:t>第四章</a:t>
                      </a:r>
                    </a:p>
                  </a:txBody>
                  <a:tcPr marL="68580" marR="68580" marT="0" marB="0"/>
                </a:tc>
                <a:tc>
                  <a:txBody>
                    <a:bodyPr/>
                    <a:lstStyle/>
                    <a:p>
                      <a:pPr algn="just">
                        <a:lnSpc>
                          <a:spcPct val="125000"/>
                        </a:lnSpc>
                      </a:pPr>
                      <a:r>
                        <a:rPr lang="zh-CN" sz="2000" dirty="0">
                          <a:effectLst/>
                          <a:latin typeface="+mn-ea"/>
                          <a:ea typeface="+mn-ea"/>
                        </a:rPr>
                        <a:t>氧化还原反应</a:t>
                      </a:r>
                    </a:p>
                  </a:txBody>
                  <a:tcPr marL="68580" marR="68580" marT="0" marB="0"/>
                </a:tc>
                <a:tc gridSpan="2">
                  <a:txBody>
                    <a:bodyPr/>
                    <a:lstStyle/>
                    <a:p>
                      <a:pPr algn="ctr">
                        <a:lnSpc>
                          <a:spcPct val="125000"/>
                        </a:lnSpc>
                      </a:pPr>
                      <a:r>
                        <a:rPr lang="en-US" sz="2000" dirty="0">
                          <a:effectLst/>
                          <a:latin typeface="+mn-ea"/>
                          <a:ea typeface="+mn-ea"/>
                        </a:rPr>
                        <a:t>6</a:t>
                      </a:r>
                      <a:endParaRPr lang="zh-CN" sz="2000" dirty="0">
                        <a:effectLst/>
                        <a:latin typeface="+mn-ea"/>
                        <a:ea typeface="+mn-ea"/>
                      </a:endParaRPr>
                    </a:p>
                  </a:txBody>
                  <a:tcPr marL="68580" marR="68580" marT="0" marB="0"/>
                </a:tc>
                <a:tc hMerge="1">
                  <a:txBody>
                    <a:bodyPr/>
                    <a:lstStyle/>
                    <a:p>
                      <a:endParaRPr lang="zh-CN" altLang="en-US"/>
                    </a:p>
                  </a:txBody>
                  <a:tcPr/>
                </a:tc>
                <a:tc>
                  <a:txBody>
                    <a:bodyPr/>
                    <a:lstStyle/>
                    <a:p>
                      <a:pPr algn="just"/>
                      <a:r>
                        <a:rPr lang="zh-CN" sz="2000" kern="100" dirty="0">
                          <a:effectLst/>
                          <a:latin typeface="+mn-ea"/>
                          <a:ea typeface="+mn-ea"/>
                        </a:rPr>
                        <a:t> </a:t>
                      </a:r>
                    </a:p>
                  </a:txBody>
                  <a:tcPr marL="0" marR="0" marT="0" marB="0" anchor="ctr"/>
                </a:tc>
                <a:extLst>
                  <a:ext uri="{0D108BD9-81ED-4DB2-BD59-A6C34878D82A}">
                    <a16:rowId xmlns:a16="http://schemas.microsoft.com/office/drawing/2014/main" val="3880442228"/>
                  </a:ext>
                </a:extLst>
              </a:tr>
              <a:tr h="636474">
                <a:tc>
                  <a:txBody>
                    <a:bodyPr/>
                    <a:lstStyle/>
                    <a:p>
                      <a:pPr algn="just">
                        <a:lnSpc>
                          <a:spcPct val="125000"/>
                        </a:lnSpc>
                      </a:pPr>
                      <a:r>
                        <a:rPr lang="zh-CN" sz="2000">
                          <a:effectLst/>
                          <a:latin typeface="+mn-ea"/>
                          <a:ea typeface="+mn-ea"/>
                        </a:rPr>
                        <a:t>第五章</a:t>
                      </a:r>
                    </a:p>
                  </a:txBody>
                  <a:tcPr marL="68580" marR="68580" marT="0" marB="0"/>
                </a:tc>
                <a:tc>
                  <a:txBody>
                    <a:bodyPr/>
                    <a:lstStyle/>
                    <a:p>
                      <a:pPr algn="just">
                        <a:lnSpc>
                          <a:spcPct val="125000"/>
                        </a:lnSpc>
                      </a:pPr>
                      <a:r>
                        <a:rPr lang="zh-CN" sz="2000">
                          <a:effectLst/>
                          <a:latin typeface="+mn-ea"/>
                          <a:ea typeface="+mn-ea"/>
                        </a:rPr>
                        <a:t>物质结构基础</a:t>
                      </a:r>
                    </a:p>
                  </a:txBody>
                  <a:tcPr marL="68580" marR="68580" marT="0" marB="0"/>
                </a:tc>
                <a:tc gridSpan="2">
                  <a:txBody>
                    <a:bodyPr/>
                    <a:lstStyle/>
                    <a:p>
                      <a:pPr algn="ctr">
                        <a:lnSpc>
                          <a:spcPct val="125000"/>
                        </a:lnSpc>
                      </a:pPr>
                      <a:r>
                        <a:rPr lang="en-US" sz="2000" kern="100" dirty="0">
                          <a:effectLst/>
                          <a:latin typeface="+mn-ea"/>
                          <a:ea typeface="+mn-ea"/>
                        </a:rPr>
                        <a:t>4</a:t>
                      </a:r>
                      <a:endParaRPr lang="zh-CN" sz="2000" dirty="0">
                        <a:effectLst/>
                        <a:latin typeface="+mn-ea"/>
                        <a:ea typeface="+mn-ea"/>
                      </a:endParaRPr>
                    </a:p>
                  </a:txBody>
                  <a:tcPr marL="68580" marR="68580" marT="0" marB="0"/>
                </a:tc>
                <a:tc hMerge="1">
                  <a:txBody>
                    <a:bodyPr/>
                    <a:lstStyle/>
                    <a:p>
                      <a:endParaRPr lang="zh-CN" altLang="en-US"/>
                    </a:p>
                  </a:txBody>
                  <a:tcPr/>
                </a:tc>
                <a:tc>
                  <a:txBody>
                    <a:bodyPr/>
                    <a:lstStyle/>
                    <a:p>
                      <a:pPr algn="just"/>
                      <a:r>
                        <a:rPr lang="zh-CN" sz="2000" kern="100">
                          <a:effectLst/>
                          <a:latin typeface="+mn-ea"/>
                          <a:ea typeface="+mn-ea"/>
                        </a:rPr>
                        <a:t> </a:t>
                      </a:r>
                    </a:p>
                  </a:txBody>
                  <a:tcPr marL="0" marR="0" marT="0" marB="0" anchor="ctr"/>
                </a:tc>
                <a:extLst>
                  <a:ext uri="{0D108BD9-81ED-4DB2-BD59-A6C34878D82A}">
                    <a16:rowId xmlns:a16="http://schemas.microsoft.com/office/drawing/2014/main" val="926419228"/>
                  </a:ext>
                </a:extLst>
              </a:tr>
              <a:tr h="636474">
                <a:tc>
                  <a:txBody>
                    <a:bodyPr/>
                    <a:lstStyle/>
                    <a:p>
                      <a:pPr algn="just">
                        <a:lnSpc>
                          <a:spcPct val="125000"/>
                        </a:lnSpc>
                      </a:pPr>
                      <a:r>
                        <a:rPr lang="zh-CN" sz="2000">
                          <a:effectLst/>
                          <a:latin typeface="+mn-ea"/>
                          <a:ea typeface="+mn-ea"/>
                        </a:rPr>
                        <a:t>第六章</a:t>
                      </a:r>
                    </a:p>
                  </a:txBody>
                  <a:tcPr marL="68580" marR="68580" marT="0" marB="0"/>
                </a:tc>
                <a:tc>
                  <a:txBody>
                    <a:bodyPr/>
                    <a:lstStyle/>
                    <a:p>
                      <a:pPr algn="just">
                        <a:lnSpc>
                          <a:spcPct val="125000"/>
                        </a:lnSpc>
                      </a:pPr>
                      <a:r>
                        <a:rPr lang="zh-CN" sz="2000">
                          <a:effectLst/>
                          <a:latin typeface="+mn-ea"/>
                          <a:ea typeface="+mn-ea"/>
                        </a:rPr>
                        <a:t>化学与材料</a:t>
                      </a:r>
                    </a:p>
                  </a:txBody>
                  <a:tcPr marL="68580" marR="68580" marT="0" marB="0"/>
                </a:tc>
                <a:tc gridSpan="2">
                  <a:txBody>
                    <a:bodyPr/>
                    <a:lstStyle/>
                    <a:p>
                      <a:pPr algn="ctr">
                        <a:lnSpc>
                          <a:spcPct val="125000"/>
                        </a:lnSpc>
                      </a:pPr>
                      <a:r>
                        <a:rPr lang="en-US" sz="2000" kern="100" dirty="0">
                          <a:effectLst/>
                          <a:latin typeface="+mn-ea"/>
                          <a:ea typeface="+mn-ea"/>
                        </a:rPr>
                        <a:t>2</a:t>
                      </a:r>
                      <a:endParaRPr lang="zh-CN" sz="2000" dirty="0">
                        <a:effectLst/>
                        <a:latin typeface="+mn-ea"/>
                        <a:ea typeface="+mn-ea"/>
                      </a:endParaRPr>
                    </a:p>
                  </a:txBody>
                  <a:tcPr marL="68580" marR="68580" marT="0" marB="0"/>
                </a:tc>
                <a:tc hMerge="1">
                  <a:txBody>
                    <a:bodyPr/>
                    <a:lstStyle/>
                    <a:p>
                      <a:endParaRPr lang="zh-CN" altLang="en-US"/>
                    </a:p>
                  </a:txBody>
                  <a:tcPr/>
                </a:tc>
                <a:tc>
                  <a:txBody>
                    <a:bodyPr/>
                    <a:lstStyle/>
                    <a:p>
                      <a:pPr algn="just"/>
                      <a:r>
                        <a:rPr lang="zh-CN" sz="2000" kern="100">
                          <a:effectLst/>
                          <a:latin typeface="+mn-ea"/>
                          <a:ea typeface="+mn-ea"/>
                        </a:rPr>
                        <a:t> </a:t>
                      </a:r>
                    </a:p>
                  </a:txBody>
                  <a:tcPr marL="0" marR="0" marT="0" marB="0" anchor="ctr"/>
                </a:tc>
                <a:extLst>
                  <a:ext uri="{0D108BD9-81ED-4DB2-BD59-A6C34878D82A}">
                    <a16:rowId xmlns:a16="http://schemas.microsoft.com/office/drawing/2014/main" val="440580146"/>
                  </a:ext>
                </a:extLst>
              </a:tr>
              <a:tr h="484297">
                <a:tc gridSpan="3">
                  <a:txBody>
                    <a:bodyPr/>
                    <a:lstStyle/>
                    <a:p>
                      <a:pPr algn="ctr">
                        <a:lnSpc>
                          <a:spcPct val="125000"/>
                        </a:lnSpc>
                      </a:pPr>
                      <a:r>
                        <a:rPr lang="zh-CN" sz="2000">
                          <a:effectLst/>
                          <a:latin typeface="+mn-ea"/>
                          <a:ea typeface="+mn-ea"/>
                        </a:rPr>
                        <a:t>合计</a:t>
                      </a:r>
                    </a:p>
                  </a:txBody>
                  <a:tcPr marL="68580" marR="68580" marT="0" marB="0" anchor="ctr"/>
                </a:tc>
                <a:tc hMerge="1">
                  <a:txBody>
                    <a:bodyPr/>
                    <a:lstStyle/>
                    <a:p>
                      <a:endParaRPr lang="zh-CN" altLang="en-US"/>
                    </a:p>
                  </a:txBody>
                  <a:tcPr/>
                </a:tc>
                <a:tc hMerge="1">
                  <a:txBody>
                    <a:bodyPr/>
                    <a:lstStyle/>
                    <a:p>
                      <a:endParaRPr lang="zh-CN" altLang="en-US"/>
                    </a:p>
                  </a:txBody>
                  <a:tcPr/>
                </a:tc>
                <a:tc gridSpan="2">
                  <a:txBody>
                    <a:bodyPr/>
                    <a:lstStyle/>
                    <a:p>
                      <a:pPr algn="ctr">
                        <a:lnSpc>
                          <a:spcPct val="125000"/>
                        </a:lnSpc>
                      </a:pPr>
                      <a:r>
                        <a:rPr lang="en-US" sz="2000" kern="100" dirty="0">
                          <a:effectLst/>
                          <a:latin typeface="+mn-ea"/>
                          <a:ea typeface="+mn-ea"/>
                        </a:rPr>
                        <a:t>24</a:t>
                      </a:r>
                      <a:endParaRPr lang="zh-CN" sz="2000" dirty="0">
                        <a:effectLst/>
                        <a:latin typeface="+mn-ea"/>
                        <a:ea typeface="+mn-ea"/>
                      </a:endParaRPr>
                    </a:p>
                  </a:txBody>
                  <a:tcPr marL="68580" marR="68580" marT="0" marB="0" anchor="ctr"/>
                </a:tc>
                <a:tc hMerge="1">
                  <a:txBody>
                    <a:bodyPr/>
                    <a:lstStyle/>
                    <a:p>
                      <a:endParaRPr lang="zh-CN" altLang="en-US"/>
                    </a:p>
                  </a:txBody>
                  <a:tcPr/>
                </a:tc>
                <a:extLst>
                  <a:ext uri="{0D108BD9-81ED-4DB2-BD59-A6C34878D82A}">
                    <a16:rowId xmlns:a16="http://schemas.microsoft.com/office/drawing/2014/main" val="569363558"/>
                  </a:ext>
                </a:extLst>
              </a:tr>
            </a:tbl>
          </a:graphicData>
        </a:graphic>
      </p:graphicFrame>
    </p:spTree>
    <p:extLst>
      <p:ext uri="{BB962C8B-B14F-4D97-AF65-F5344CB8AC3E}">
        <p14:creationId xmlns:p14="http://schemas.microsoft.com/office/powerpoint/2010/main" val="3611945479"/>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3B89694C-B072-71D8-7C56-880F9C215319}"/>
              </a:ext>
            </a:extLst>
          </p:cNvPr>
          <p:cNvGraphicFramePr>
            <a:graphicFrameLocks noGrp="1"/>
          </p:cNvGraphicFramePr>
          <p:nvPr>
            <p:extLst>
              <p:ext uri="{D42A27DB-BD31-4B8C-83A1-F6EECF244321}">
                <p14:modId xmlns:p14="http://schemas.microsoft.com/office/powerpoint/2010/main" val="2661478802"/>
              </p:ext>
            </p:extLst>
          </p:nvPr>
        </p:nvGraphicFramePr>
        <p:xfrm>
          <a:off x="0" y="13178"/>
          <a:ext cx="8604956" cy="3591120"/>
        </p:xfrm>
        <a:graphic>
          <a:graphicData uri="http://schemas.openxmlformats.org/drawingml/2006/table">
            <a:tbl>
              <a:tblPr firstRow="1" firstCol="1" bandRow="1">
                <a:tableStyleId>{5C22544A-7EE6-4342-B048-85BDC9FD1C3A}</a:tableStyleId>
              </a:tblPr>
              <a:tblGrid>
                <a:gridCol w="1332148">
                  <a:extLst>
                    <a:ext uri="{9D8B030D-6E8A-4147-A177-3AD203B41FA5}">
                      <a16:colId xmlns:a16="http://schemas.microsoft.com/office/drawing/2014/main" val="1946406985"/>
                    </a:ext>
                  </a:extLst>
                </a:gridCol>
                <a:gridCol w="2304256">
                  <a:extLst>
                    <a:ext uri="{9D8B030D-6E8A-4147-A177-3AD203B41FA5}">
                      <a16:colId xmlns:a16="http://schemas.microsoft.com/office/drawing/2014/main" val="1554750818"/>
                    </a:ext>
                  </a:extLst>
                </a:gridCol>
                <a:gridCol w="2124236">
                  <a:extLst>
                    <a:ext uri="{9D8B030D-6E8A-4147-A177-3AD203B41FA5}">
                      <a16:colId xmlns:a16="http://schemas.microsoft.com/office/drawing/2014/main" val="1940242064"/>
                    </a:ext>
                  </a:extLst>
                </a:gridCol>
                <a:gridCol w="1800200">
                  <a:extLst>
                    <a:ext uri="{9D8B030D-6E8A-4147-A177-3AD203B41FA5}">
                      <a16:colId xmlns:a16="http://schemas.microsoft.com/office/drawing/2014/main" val="68391413"/>
                    </a:ext>
                  </a:extLst>
                </a:gridCol>
                <a:gridCol w="1044116">
                  <a:extLst>
                    <a:ext uri="{9D8B030D-6E8A-4147-A177-3AD203B41FA5}">
                      <a16:colId xmlns:a16="http://schemas.microsoft.com/office/drawing/2014/main" val="330989842"/>
                    </a:ext>
                  </a:extLst>
                </a:gridCol>
              </a:tblGrid>
              <a:tr h="76835">
                <a:tc rowSpan="2">
                  <a:txBody>
                    <a:bodyPr/>
                    <a:lstStyle/>
                    <a:p>
                      <a:pPr algn="ctr"/>
                      <a:r>
                        <a:rPr lang="zh-CN" sz="1400" kern="100">
                          <a:effectLst/>
                          <a:latin typeface="+mn-ea"/>
                          <a:ea typeface="+mn-ea"/>
                        </a:rPr>
                        <a:t>成绩构成</a:t>
                      </a:r>
                    </a:p>
                  </a:txBody>
                  <a:tcPr marL="68580" marR="68580" marT="0" marB="0" anchor="ctr"/>
                </a:tc>
                <a:tc rowSpan="2">
                  <a:txBody>
                    <a:bodyPr/>
                    <a:lstStyle/>
                    <a:p>
                      <a:pPr algn="ctr"/>
                      <a:r>
                        <a:rPr lang="zh-CN" sz="1400" kern="100">
                          <a:effectLst/>
                          <a:latin typeface="+mn-ea"/>
                          <a:ea typeface="+mn-ea"/>
                        </a:rPr>
                        <a:t>评价环节</a:t>
                      </a:r>
                    </a:p>
                  </a:txBody>
                  <a:tcPr marL="68580" marR="68580" marT="0" marB="0" anchor="ctr"/>
                </a:tc>
                <a:tc rowSpan="2">
                  <a:txBody>
                    <a:bodyPr/>
                    <a:lstStyle/>
                    <a:p>
                      <a:pPr algn="ctr"/>
                      <a:r>
                        <a:rPr lang="zh-CN" sz="1400" kern="100">
                          <a:effectLst/>
                          <a:latin typeface="+mn-ea"/>
                          <a:ea typeface="+mn-ea"/>
                        </a:rPr>
                        <a:t>所占分值</a:t>
                      </a:r>
                      <a:r>
                        <a:rPr lang="en-US" sz="1400" kern="100">
                          <a:effectLst/>
                          <a:latin typeface="+mn-ea"/>
                          <a:ea typeface="+mn-ea"/>
                        </a:rPr>
                        <a:t>(</a:t>
                      </a:r>
                      <a:r>
                        <a:rPr lang="zh-CN" sz="1400" kern="100">
                          <a:effectLst/>
                          <a:latin typeface="+mn-ea"/>
                          <a:ea typeface="+mn-ea"/>
                        </a:rPr>
                        <a:t>百分制</a:t>
                      </a:r>
                      <a:r>
                        <a:rPr lang="en-US" sz="1400" kern="100">
                          <a:effectLst/>
                          <a:latin typeface="+mn-ea"/>
                          <a:ea typeface="+mn-ea"/>
                        </a:rPr>
                        <a:t>)</a:t>
                      </a:r>
                      <a:endParaRPr lang="zh-CN" sz="1400" kern="100">
                        <a:effectLst/>
                        <a:latin typeface="+mn-ea"/>
                        <a:ea typeface="+mn-ea"/>
                      </a:endParaRPr>
                    </a:p>
                  </a:txBody>
                  <a:tcPr marL="68580" marR="68580" marT="0" marB="0" anchor="ctr"/>
                </a:tc>
                <a:tc gridSpan="2">
                  <a:txBody>
                    <a:bodyPr/>
                    <a:lstStyle/>
                    <a:p>
                      <a:pPr algn="ctr"/>
                      <a:r>
                        <a:rPr lang="zh-CN" sz="1400" kern="100">
                          <a:effectLst/>
                          <a:latin typeface="+mn-ea"/>
                          <a:ea typeface="+mn-ea"/>
                        </a:rPr>
                        <a:t>对应课程目标及占比</a:t>
                      </a:r>
                    </a:p>
                  </a:txBody>
                  <a:tcPr marL="68580" marR="68580" marT="0" marB="0"/>
                </a:tc>
                <a:tc hMerge="1">
                  <a:txBody>
                    <a:bodyPr/>
                    <a:lstStyle/>
                    <a:p>
                      <a:endParaRPr lang="zh-CN" altLang="en-US"/>
                    </a:p>
                  </a:txBody>
                  <a:tcPr/>
                </a:tc>
                <a:extLst>
                  <a:ext uri="{0D108BD9-81ED-4DB2-BD59-A6C34878D82A}">
                    <a16:rowId xmlns:a16="http://schemas.microsoft.com/office/drawing/2014/main" val="2575403155"/>
                  </a:ext>
                </a:extLst>
              </a:tr>
              <a:tr h="7683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r>
                        <a:rPr lang="zh-CN" sz="1400" kern="100">
                          <a:effectLst/>
                          <a:latin typeface="+mn-ea"/>
                          <a:ea typeface="+mn-ea"/>
                        </a:rPr>
                        <a:t>课程目标</a:t>
                      </a:r>
                    </a:p>
                  </a:txBody>
                  <a:tcPr marL="68580" marR="68580" marT="0" marB="0"/>
                </a:tc>
                <a:tc>
                  <a:txBody>
                    <a:bodyPr/>
                    <a:lstStyle/>
                    <a:p>
                      <a:pPr algn="ctr"/>
                      <a:r>
                        <a:rPr lang="zh-CN" sz="1400" kern="100">
                          <a:effectLst/>
                          <a:latin typeface="+mn-ea"/>
                          <a:ea typeface="+mn-ea"/>
                        </a:rPr>
                        <a:t>占比</a:t>
                      </a:r>
                    </a:p>
                  </a:txBody>
                  <a:tcPr marL="68580" marR="68580" marT="0" marB="0"/>
                </a:tc>
                <a:extLst>
                  <a:ext uri="{0D108BD9-81ED-4DB2-BD59-A6C34878D82A}">
                    <a16:rowId xmlns:a16="http://schemas.microsoft.com/office/drawing/2014/main" val="4199166705"/>
                  </a:ext>
                </a:extLst>
              </a:tr>
              <a:tr h="75565">
                <a:tc rowSpan="9">
                  <a:txBody>
                    <a:bodyPr/>
                    <a:lstStyle/>
                    <a:p>
                      <a:pPr algn="ctr"/>
                      <a:r>
                        <a:rPr lang="zh-CN" sz="1400" kern="100">
                          <a:effectLst/>
                          <a:latin typeface="+mn-ea"/>
                          <a:ea typeface="+mn-ea"/>
                        </a:rPr>
                        <a:t>平时成绩（</a:t>
                      </a:r>
                      <a:r>
                        <a:rPr lang="en-US" sz="1400" kern="100">
                          <a:effectLst/>
                          <a:latin typeface="+mn-ea"/>
                          <a:ea typeface="+mn-ea"/>
                        </a:rPr>
                        <a:t>40%</a:t>
                      </a:r>
                      <a:r>
                        <a:rPr lang="zh-CN" sz="1400" kern="100">
                          <a:effectLst/>
                          <a:latin typeface="+mn-ea"/>
                          <a:ea typeface="+mn-ea"/>
                        </a:rPr>
                        <a:t>）</a:t>
                      </a:r>
                    </a:p>
                  </a:txBody>
                  <a:tcPr marL="68580" marR="68580" marT="0" marB="0" anchor="ctr"/>
                </a:tc>
                <a:tc rowSpan="3">
                  <a:txBody>
                    <a:bodyPr/>
                    <a:lstStyle/>
                    <a:p>
                      <a:pPr algn="ctr"/>
                      <a:r>
                        <a:rPr lang="zh-CN" sz="1400" kern="100">
                          <a:effectLst/>
                          <a:latin typeface="+mn-ea"/>
                          <a:ea typeface="+mn-ea"/>
                        </a:rPr>
                        <a:t>作业</a:t>
                      </a:r>
                    </a:p>
                  </a:txBody>
                  <a:tcPr marL="68580" marR="68580" marT="0" marB="0" anchor="ctr"/>
                </a:tc>
                <a:tc rowSpan="3">
                  <a:txBody>
                    <a:bodyPr/>
                    <a:lstStyle/>
                    <a:p>
                      <a:pPr algn="ctr"/>
                      <a:r>
                        <a:rPr lang="en-US" sz="1400" kern="100">
                          <a:effectLst/>
                          <a:latin typeface="+mn-ea"/>
                          <a:ea typeface="+mn-ea"/>
                        </a:rPr>
                        <a:t>60%</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1</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30%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1114023200"/>
                  </a:ext>
                </a:extLst>
              </a:tr>
              <a:tr h="7556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50000"/>
                        </a:lnSpc>
                      </a:pPr>
                      <a:r>
                        <a:rPr lang="en-US" sz="1400" kern="100">
                          <a:effectLst/>
                          <a:latin typeface="+mn-ea"/>
                          <a:ea typeface="+mn-ea"/>
                        </a:rPr>
                        <a:t>2</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30%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658448592"/>
                  </a:ext>
                </a:extLst>
              </a:tr>
              <a:tr h="7556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50000"/>
                        </a:lnSpc>
                      </a:pPr>
                      <a:r>
                        <a:rPr lang="en-US" sz="1400" kern="100">
                          <a:effectLst/>
                          <a:latin typeface="+mn-ea"/>
                          <a:ea typeface="+mn-ea"/>
                        </a:rPr>
                        <a:t>3</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20%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509325265"/>
                  </a:ext>
                </a:extLst>
              </a:tr>
              <a:tr h="75565">
                <a:tc vMerge="1">
                  <a:txBody>
                    <a:bodyPr/>
                    <a:lstStyle/>
                    <a:p>
                      <a:endParaRPr lang="zh-CN" altLang="en-US"/>
                    </a:p>
                  </a:txBody>
                  <a:tcPr/>
                </a:tc>
                <a:tc rowSpan="3">
                  <a:txBody>
                    <a:bodyPr/>
                    <a:lstStyle/>
                    <a:p>
                      <a:pPr algn="ctr"/>
                      <a:r>
                        <a:rPr lang="zh-CN" sz="1400" kern="100">
                          <a:effectLst/>
                          <a:latin typeface="+mn-ea"/>
                          <a:ea typeface="+mn-ea"/>
                        </a:rPr>
                        <a:t>课堂小测验</a:t>
                      </a:r>
                    </a:p>
                  </a:txBody>
                  <a:tcPr marL="68580" marR="68580" marT="0" marB="0" anchor="ctr"/>
                </a:tc>
                <a:tc rowSpan="3">
                  <a:txBody>
                    <a:bodyPr/>
                    <a:lstStyle/>
                    <a:p>
                      <a:pPr algn="ctr"/>
                      <a:r>
                        <a:rPr lang="en-US" sz="1400" kern="100">
                          <a:effectLst/>
                          <a:latin typeface="+mn-ea"/>
                          <a:ea typeface="+mn-ea"/>
                        </a:rPr>
                        <a:t>20%</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1</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20%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3925448196"/>
                  </a:ext>
                </a:extLst>
              </a:tr>
              <a:tr h="7556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50000"/>
                        </a:lnSpc>
                      </a:pPr>
                      <a:r>
                        <a:rPr lang="en-US" sz="1400" kern="100">
                          <a:effectLst/>
                          <a:latin typeface="+mn-ea"/>
                          <a:ea typeface="+mn-ea"/>
                        </a:rPr>
                        <a:t>2</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20%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1670630289"/>
                  </a:ext>
                </a:extLst>
              </a:tr>
              <a:tr h="7556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50000"/>
                        </a:lnSpc>
                      </a:pPr>
                      <a:r>
                        <a:rPr lang="en-US" sz="1400" kern="100">
                          <a:effectLst/>
                          <a:latin typeface="+mn-ea"/>
                          <a:ea typeface="+mn-ea"/>
                        </a:rPr>
                        <a:t>3</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10%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1728513944"/>
                  </a:ext>
                </a:extLst>
              </a:tr>
              <a:tr h="224155">
                <a:tc vMerge="1">
                  <a:txBody>
                    <a:bodyPr/>
                    <a:lstStyle/>
                    <a:p>
                      <a:endParaRPr lang="zh-CN" altLang="en-US"/>
                    </a:p>
                  </a:txBody>
                  <a:tcPr/>
                </a:tc>
                <a:tc rowSpan="3">
                  <a:txBody>
                    <a:bodyPr/>
                    <a:lstStyle/>
                    <a:p>
                      <a:pPr algn="ctr"/>
                      <a:r>
                        <a:rPr lang="zh-CN" sz="1400" kern="100">
                          <a:effectLst/>
                          <a:latin typeface="+mn-ea"/>
                          <a:ea typeface="+mn-ea"/>
                        </a:rPr>
                        <a:t>课堂表现</a:t>
                      </a:r>
                    </a:p>
                  </a:txBody>
                  <a:tcPr marL="68580" marR="68580" marT="0" marB="0" anchor="ctr"/>
                </a:tc>
                <a:tc rowSpan="3">
                  <a:txBody>
                    <a:bodyPr/>
                    <a:lstStyle/>
                    <a:p>
                      <a:pPr algn="ctr"/>
                      <a:r>
                        <a:rPr lang="en-US" sz="1400" kern="100">
                          <a:effectLst/>
                          <a:latin typeface="+mn-ea"/>
                          <a:ea typeface="+mn-ea"/>
                        </a:rPr>
                        <a:t>20%</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1</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10%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2333064673"/>
                  </a:ext>
                </a:extLst>
              </a:tr>
              <a:tr h="26225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50000"/>
                        </a:lnSpc>
                      </a:pPr>
                      <a:r>
                        <a:rPr lang="en-US" sz="1400" kern="100">
                          <a:effectLst/>
                          <a:latin typeface="+mn-ea"/>
                          <a:ea typeface="+mn-ea"/>
                        </a:rPr>
                        <a:t>2</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20%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3974022270"/>
                  </a:ext>
                </a:extLst>
              </a:tr>
              <a:tr h="26225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50000"/>
                        </a:lnSpc>
                      </a:pPr>
                      <a:r>
                        <a:rPr lang="en-US" sz="1400" kern="100">
                          <a:effectLst/>
                          <a:latin typeface="+mn-ea"/>
                          <a:ea typeface="+mn-ea"/>
                        </a:rPr>
                        <a:t>3</a:t>
                      </a:r>
                      <a:endParaRPr lang="zh-CN" sz="1400" kern="100">
                        <a:effectLst/>
                        <a:latin typeface="+mn-ea"/>
                        <a:ea typeface="+mn-ea"/>
                      </a:endParaRPr>
                    </a:p>
                  </a:txBody>
                  <a:tcPr marL="68580" marR="68580" marT="0" marB="0" anchor="ctr"/>
                </a:tc>
                <a:tc>
                  <a:txBody>
                    <a:bodyPr/>
                    <a:lstStyle/>
                    <a:p>
                      <a:pPr algn="ctr">
                        <a:lnSpc>
                          <a:spcPct val="150000"/>
                        </a:lnSpc>
                      </a:pPr>
                      <a:r>
                        <a:rPr lang="en-US" sz="1400" kern="100">
                          <a:effectLst/>
                          <a:latin typeface="+mn-ea"/>
                          <a:ea typeface="+mn-ea"/>
                        </a:rPr>
                        <a:t>40%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1186856593"/>
                  </a:ext>
                </a:extLst>
              </a:tr>
              <a:tr h="52070">
                <a:tc rowSpan="3">
                  <a:txBody>
                    <a:bodyPr/>
                    <a:lstStyle/>
                    <a:p>
                      <a:pPr algn="ctr"/>
                      <a:r>
                        <a:rPr lang="zh-CN" sz="1400" kern="100">
                          <a:effectLst/>
                          <a:latin typeface="+mn-ea"/>
                          <a:ea typeface="+mn-ea"/>
                        </a:rPr>
                        <a:t>考试（</a:t>
                      </a:r>
                      <a:r>
                        <a:rPr lang="en-US" sz="1400" kern="100">
                          <a:effectLst/>
                          <a:latin typeface="+mn-ea"/>
                          <a:ea typeface="+mn-ea"/>
                        </a:rPr>
                        <a:t>60%</a:t>
                      </a:r>
                      <a:r>
                        <a:rPr lang="zh-CN" sz="1400" kern="100">
                          <a:effectLst/>
                          <a:latin typeface="+mn-ea"/>
                          <a:ea typeface="+mn-ea"/>
                        </a:rPr>
                        <a:t>）</a:t>
                      </a:r>
                    </a:p>
                  </a:txBody>
                  <a:tcPr marL="68580" marR="68580" marT="0" marB="0" anchor="ctr"/>
                </a:tc>
                <a:tc rowSpan="3">
                  <a:txBody>
                    <a:bodyPr/>
                    <a:lstStyle/>
                    <a:p>
                      <a:pPr algn="ctr"/>
                      <a:r>
                        <a:rPr lang="zh-CN" sz="1400" kern="100">
                          <a:effectLst/>
                          <a:latin typeface="+mn-ea"/>
                          <a:ea typeface="+mn-ea"/>
                        </a:rPr>
                        <a:t>笔试</a:t>
                      </a:r>
                    </a:p>
                  </a:txBody>
                  <a:tcPr marL="68580" marR="68580" marT="0" marB="0" anchor="ctr"/>
                </a:tc>
                <a:tc rowSpan="3">
                  <a:txBody>
                    <a:bodyPr/>
                    <a:lstStyle/>
                    <a:p>
                      <a:pPr algn="ctr"/>
                      <a:r>
                        <a:rPr lang="en-US" sz="1400" kern="100">
                          <a:effectLst/>
                          <a:latin typeface="+mn-ea"/>
                          <a:ea typeface="+mn-ea"/>
                        </a:rPr>
                        <a:t>100%</a:t>
                      </a:r>
                      <a:endParaRPr lang="zh-CN" sz="1400" kern="100">
                        <a:effectLst/>
                        <a:latin typeface="+mn-ea"/>
                        <a:ea typeface="+mn-ea"/>
                      </a:endParaRPr>
                    </a:p>
                  </a:txBody>
                  <a:tcPr marL="68580" marR="68580" marT="0" marB="0" anchor="ctr"/>
                </a:tc>
                <a:tc>
                  <a:txBody>
                    <a:bodyPr/>
                    <a:lstStyle/>
                    <a:p>
                      <a:pPr algn="ctr"/>
                      <a:r>
                        <a:rPr lang="en-US" sz="1400" kern="100">
                          <a:effectLst/>
                          <a:latin typeface="+mn-ea"/>
                          <a:ea typeface="+mn-ea"/>
                        </a:rPr>
                        <a:t>1</a:t>
                      </a:r>
                      <a:endParaRPr lang="zh-CN" sz="1400" kern="100">
                        <a:effectLst/>
                        <a:latin typeface="+mn-ea"/>
                        <a:ea typeface="+mn-ea"/>
                      </a:endParaRPr>
                    </a:p>
                  </a:txBody>
                  <a:tcPr marL="68580" marR="68580" marT="0" marB="0" anchor="ctr"/>
                </a:tc>
                <a:tc>
                  <a:txBody>
                    <a:bodyPr/>
                    <a:lstStyle/>
                    <a:p>
                      <a:pPr algn="ctr"/>
                      <a:r>
                        <a:rPr lang="en-US" sz="1400" kern="100">
                          <a:effectLst/>
                          <a:latin typeface="+mn-ea"/>
                          <a:ea typeface="+mn-ea"/>
                        </a:rPr>
                        <a:t>40%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2122262250"/>
                  </a:ext>
                </a:extLst>
              </a:tr>
              <a:tr h="5207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r>
                        <a:rPr lang="en-US" sz="1400" kern="100">
                          <a:effectLst/>
                          <a:latin typeface="+mn-ea"/>
                          <a:ea typeface="+mn-ea"/>
                        </a:rPr>
                        <a:t>2</a:t>
                      </a:r>
                      <a:endParaRPr lang="zh-CN" sz="1400" kern="100">
                        <a:effectLst/>
                        <a:latin typeface="+mn-ea"/>
                        <a:ea typeface="+mn-ea"/>
                      </a:endParaRPr>
                    </a:p>
                  </a:txBody>
                  <a:tcPr marL="68580" marR="68580" marT="0" marB="0" anchor="ctr"/>
                </a:tc>
                <a:tc>
                  <a:txBody>
                    <a:bodyPr/>
                    <a:lstStyle/>
                    <a:p>
                      <a:pPr algn="ctr"/>
                      <a:r>
                        <a:rPr lang="en-US" sz="1400" kern="100">
                          <a:effectLst/>
                          <a:latin typeface="+mn-ea"/>
                          <a:ea typeface="+mn-ea"/>
                        </a:rPr>
                        <a:t>30%</a:t>
                      </a:r>
                      <a:endParaRPr lang="zh-CN" sz="1400" kern="100">
                        <a:effectLst/>
                        <a:latin typeface="+mn-ea"/>
                        <a:ea typeface="+mn-ea"/>
                      </a:endParaRPr>
                    </a:p>
                  </a:txBody>
                  <a:tcPr marL="68580" marR="68580" marT="0" marB="0" anchor="ctr"/>
                </a:tc>
                <a:extLst>
                  <a:ext uri="{0D108BD9-81ED-4DB2-BD59-A6C34878D82A}">
                    <a16:rowId xmlns:a16="http://schemas.microsoft.com/office/drawing/2014/main" val="1140054385"/>
                  </a:ext>
                </a:extLst>
              </a:tr>
              <a:tr h="5207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r>
                        <a:rPr lang="en-US" sz="1400" kern="100">
                          <a:effectLst/>
                          <a:latin typeface="+mn-ea"/>
                          <a:ea typeface="+mn-ea"/>
                        </a:rPr>
                        <a:t>3</a:t>
                      </a:r>
                      <a:endParaRPr lang="zh-CN" sz="1400" kern="100">
                        <a:effectLst/>
                        <a:latin typeface="+mn-ea"/>
                        <a:ea typeface="+mn-ea"/>
                      </a:endParaRPr>
                    </a:p>
                  </a:txBody>
                  <a:tcPr marL="68580" marR="68580" marT="0" marB="0" anchor="ctr"/>
                </a:tc>
                <a:tc>
                  <a:txBody>
                    <a:bodyPr/>
                    <a:lstStyle/>
                    <a:p>
                      <a:pPr algn="ctr"/>
                      <a:r>
                        <a:rPr lang="en-US" sz="1400" kern="100" dirty="0">
                          <a:effectLst/>
                          <a:latin typeface="+mn-ea"/>
                          <a:ea typeface="+mn-ea"/>
                        </a:rPr>
                        <a:t>20%</a:t>
                      </a:r>
                      <a:endParaRPr lang="zh-CN" sz="1400" kern="100" dirty="0">
                        <a:effectLst/>
                        <a:latin typeface="+mn-ea"/>
                        <a:ea typeface="+mn-ea"/>
                      </a:endParaRPr>
                    </a:p>
                  </a:txBody>
                  <a:tcPr marL="68580" marR="68580" marT="0" marB="0" anchor="ctr"/>
                </a:tc>
                <a:extLst>
                  <a:ext uri="{0D108BD9-81ED-4DB2-BD59-A6C34878D82A}">
                    <a16:rowId xmlns:a16="http://schemas.microsoft.com/office/drawing/2014/main" val="3371021844"/>
                  </a:ext>
                </a:extLst>
              </a:tr>
            </a:tbl>
          </a:graphicData>
        </a:graphic>
      </p:graphicFrame>
      <p:sp>
        <p:nvSpPr>
          <p:cNvPr id="6" name="文本框 5">
            <a:extLst>
              <a:ext uri="{FF2B5EF4-FFF2-40B4-BE49-F238E27FC236}">
                <a16:creationId xmlns:a16="http://schemas.microsoft.com/office/drawing/2014/main" id="{3BF28A75-8587-93C7-4EE5-CE0ED89BE1FE}"/>
              </a:ext>
            </a:extLst>
          </p:cNvPr>
          <p:cNvSpPr txBox="1"/>
          <p:nvPr/>
        </p:nvSpPr>
        <p:spPr>
          <a:xfrm>
            <a:off x="1259632" y="3687874"/>
            <a:ext cx="7452828" cy="1292085"/>
          </a:xfrm>
          <a:prstGeom prst="rect">
            <a:avLst/>
          </a:prstGeom>
          <a:noFill/>
        </p:spPr>
        <p:txBody>
          <a:bodyPr wrap="square">
            <a:spAutoFit/>
          </a:bodyPr>
          <a:lstStyle/>
          <a:p>
            <a:pPr indent="304800" algn="just">
              <a:lnSpc>
                <a:spcPct val="125000"/>
              </a:lnSpc>
            </a:pPr>
            <a:r>
              <a:rPr lang="zh-CN" altLang="zh-CN" sz="1600" kern="100" dirty="0">
                <a:effectLst/>
                <a:latin typeface="Calibri" panose="020F0502020204030204" pitchFamily="34" charset="0"/>
                <a:ea typeface="宋体" panose="02010600030101010101" pitchFamily="2" charset="-122"/>
              </a:rPr>
              <a:t>课程成绩考核包括平时考核和期末考核，平时考核成绩占总成绩的</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40%</a:t>
            </a:r>
            <a:r>
              <a:rPr lang="zh-CN" altLang="zh-CN" sz="1600" kern="100" dirty="0">
                <a:effectLst/>
                <a:latin typeface="Calibri" panose="020F0502020204030204" pitchFamily="34" charset="0"/>
                <a:ea typeface="宋体" panose="02010600030101010101" pitchFamily="2" charset="-122"/>
              </a:rPr>
              <a:t>，期末考核成绩占总成绩的</a:t>
            </a:r>
            <a:r>
              <a:rPr lang="en-US" altLang="zh-CN" sz="1600" kern="100" dirty="0">
                <a:effectLst/>
                <a:latin typeface="Calibri" panose="020F0502020204030204" pitchFamily="34" charset="0"/>
                <a:ea typeface="宋体" panose="02010600030101010101" pitchFamily="2" charset="-122"/>
                <a:cs typeface="Times New Roman" panose="02020603050405020304" pitchFamily="18" charset="0"/>
              </a:rPr>
              <a:t>60%</a:t>
            </a:r>
            <a:r>
              <a:rPr lang="zh-CN" altLang="zh-CN" sz="1600" kern="100" dirty="0">
                <a:effectLst/>
                <a:latin typeface="Calibri" panose="020F0502020204030204" pitchFamily="34" charset="0"/>
                <a:ea typeface="宋体" panose="02010600030101010101" pitchFamily="2" charset="-122"/>
              </a:rPr>
              <a:t>。平时考核包括课堂表现与小测验、课后作业等。课堂表现主要考核学生课堂讨论、回答问题、学习总结等；课后作业主要考核学生对每一知识点的复习、理解和运用；期末考核采取闭卷考试形式。</a:t>
            </a:r>
            <a:endParaRPr lang="zh-CN" altLang="zh-CN" sz="16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720985"/>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3">
            <a:hlinkClick r:id="rId2" action="ppaction://hlinkfile"/>
          </p:cNvPr>
          <p:cNvPicPr>
            <a:picLocks noChangeAspect="1"/>
          </p:cNvPicPr>
          <p:nvPr/>
        </p:nvPicPr>
        <p:blipFill>
          <a:blip r:embed="rId3"/>
          <a:stretch>
            <a:fillRect/>
          </a:stretch>
        </p:blipFill>
        <p:spPr>
          <a:xfrm>
            <a:off x="1511300" y="987425"/>
            <a:ext cx="6607175" cy="2339975"/>
          </a:xfrm>
          <a:prstGeom prst="rect">
            <a:avLst/>
          </a:prstGeom>
          <a:noFill/>
          <a:ln w="9525">
            <a:noFill/>
          </a:ln>
        </p:spPr>
      </p:pic>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WordArt 3"/>
          <p:cNvSpPr>
            <a:spLocks noChangeArrowheads="1" noChangeShapeType="1"/>
          </p:cNvSpPr>
          <p:nvPr/>
        </p:nvSpPr>
        <p:spPr bwMode="auto">
          <a:xfrm>
            <a:off x="2855913" y="1777603"/>
            <a:ext cx="3821112" cy="985838"/>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600" b="1" i="0" u="none" strike="noStrike" kern="10" cap="none" spc="0" normalizeH="0" baseline="0" noProof="0" dirty="0">
                <a:ln w="19050">
                  <a:solidFill>
                    <a:srgbClr val="99CCFF"/>
                  </a:solidFill>
                  <a:round/>
                </a:ln>
                <a:solidFill>
                  <a:schemeClr val="tx1"/>
                </a:solidFill>
                <a:effectLst>
                  <a:outerShdw dist="35921" dir="2700000" algn="ctr" rotWithShape="0">
                    <a:srgbClr val="990000"/>
                  </a:outerShdw>
                </a:effectLst>
                <a:uLnTx/>
                <a:uFillTx/>
                <a:latin typeface="宋体" panose="02010600030101010101" pitchFamily="2" charset="-122"/>
                <a:ea typeface="宋体" panose="02010600030101010101" pitchFamily="2" charset="-122"/>
                <a:cs typeface="+mn-cs"/>
              </a:rPr>
              <a:t>第</a:t>
            </a:r>
            <a:r>
              <a:rPr kumimoji="0" lang="en-US" altLang="zh-CN" sz="3600" b="1" i="0" u="none" strike="noStrike" kern="10" cap="none" spc="0" normalizeH="0" baseline="0" noProof="0" dirty="0">
                <a:ln w="19050">
                  <a:solidFill>
                    <a:srgbClr val="99CCFF"/>
                  </a:solidFill>
                  <a:round/>
                </a:ln>
                <a:solidFill>
                  <a:schemeClr val="tx1"/>
                </a:solidFill>
                <a:effectLst>
                  <a:outerShdw dist="35921" dir="2700000" algn="ctr" rotWithShape="0">
                    <a:srgbClr val="990000"/>
                  </a:outerShdw>
                </a:effectLst>
                <a:uLnTx/>
                <a:uFillTx/>
                <a:latin typeface="宋体" panose="02010600030101010101" pitchFamily="2" charset="-122"/>
                <a:ea typeface="宋体" panose="02010600030101010101" pitchFamily="2" charset="-122"/>
                <a:cs typeface="+mn-cs"/>
              </a:rPr>
              <a:t>1</a:t>
            </a:r>
            <a:r>
              <a:rPr kumimoji="0" lang="zh-CN" altLang="en-US" sz="3600" b="1" i="0" u="none" strike="noStrike" kern="10" cap="none" spc="0" normalizeH="0" baseline="0" noProof="0" dirty="0">
                <a:ln w="19050">
                  <a:solidFill>
                    <a:srgbClr val="99CCFF"/>
                  </a:solidFill>
                  <a:round/>
                </a:ln>
                <a:solidFill>
                  <a:schemeClr val="tx1"/>
                </a:solidFill>
                <a:effectLst>
                  <a:outerShdw dist="35921" dir="2700000" algn="ctr" rotWithShape="0">
                    <a:srgbClr val="990000"/>
                  </a:outerShdw>
                </a:effectLst>
                <a:uLnTx/>
                <a:uFillTx/>
                <a:latin typeface="宋体" panose="02010600030101010101" pitchFamily="2" charset="-122"/>
                <a:ea typeface="宋体" panose="02010600030101010101" pitchFamily="2" charset="-122"/>
                <a:cs typeface="+mn-cs"/>
              </a:rPr>
              <a:t>章   绪 论</a:t>
            </a:r>
          </a:p>
        </p:txBody>
      </p:sp>
      <p:pic>
        <p:nvPicPr>
          <p:cNvPr id="7171" name="Picture 7" descr="http://www.taopic.com/uploads/allimg/120405/10015-12040500223083.jpg"/>
          <p:cNvPicPr>
            <a:picLocks noChangeAspect="1" noChangeArrowheads="1"/>
          </p:cNvPicPr>
          <p:nvPr/>
        </p:nvPicPr>
        <p:blipFill>
          <a:blip r:embed="rId3"/>
          <a:srcRect/>
          <a:stretch>
            <a:fillRect/>
          </a:stretch>
        </p:blipFill>
        <p:spPr bwMode="auto">
          <a:xfrm>
            <a:off x="0" y="3651250"/>
            <a:ext cx="2576513" cy="14493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10" name="矩形: 圆角 5"/>
          <p:cNvSpPr/>
          <p:nvPr/>
        </p:nvSpPr>
        <p:spPr>
          <a:xfrm>
            <a:off x="547688" y="334963"/>
            <a:ext cx="8226425" cy="4292600"/>
          </a:xfrm>
          <a:prstGeom prst="roundRect">
            <a:avLst>
              <a:gd name="adj" fmla="val 6667"/>
            </a:avLst>
          </a:prstGeom>
          <a:solidFill>
            <a:srgbClr val="CCECFF"/>
          </a:solidFill>
          <a:ln>
            <a:solidFill>
              <a:srgbClr val="0000CC"/>
            </a:solidFill>
          </a:ln>
        </p:spPr>
        <p:style>
          <a:lnRef idx="2">
            <a:schemeClr val="accent1"/>
          </a:lnRef>
          <a:fillRef idx="1">
            <a:schemeClr val="lt1"/>
          </a:fillRef>
          <a:effectRef idx="0">
            <a:schemeClr val="accent1"/>
          </a:effectRef>
          <a:fontRef idx="minor">
            <a:schemeClr val="dk1"/>
          </a:fontRef>
        </p:style>
        <p:txBody>
          <a:bodyPr lIns="65023" tIns="32511" rIns="65023" bIns="32511"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Calibri" panose="020F0502020204030204" pitchFamily="34" charset="0"/>
            </a:endParaRPr>
          </a:p>
        </p:txBody>
      </p:sp>
      <p:pic>
        <p:nvPicPr>
          <p:cNvPr id="19459" name="图片 21"/>
          <p:cNvPicPr>
            <a:picLocks noChangeAspect="1"/>
          </p:cNvPicPr>
          <p:nvPr/>
        </p:nvPicPr>
        <p:blipFill>
          <a:blip r:embed="rId2"/>
          <a:srcRect l="20045" t="9402" r="26262" b="9460"/>
          <a:stretch>
            <a:fillRect/>
          </a:stretch>
        </p:blipFill>
        <p:spPr>
          <a:xfrm>
            <a:off x="7948613" y="4005263"/>
            <a:ext cx="1085850" cy="1158875"/>
          </a:xfrm>
          <a:prstGeom prst="rect">
            <a:avLst/>
          </a:prstGeom>
          <a:noFill/>
          <a:ln w="9525">
            <a:noFill/>
          </a:ln>
        </p:spPr>
      </p:pic>
      <p:graphicFrame>
        <p:nvGraphicFramePr>
          <p:cNvPr id="19" name="Group 6"/>
          <p:cNvGraphicFramePr>
            <a:graphicFrameLocks noGrp="1"/>
          </p:cNvGraphicFramePr>
          <p:nvPr/>
        </p:nvGraphicFramePr>
        <p:xfrm>
          <a:off x="1204913" y="971550"/>
          <a:ext cx="6757987" cy="3298826"/>
        </p:xfrm>
        <a:graphic>
          <a:graphicData uri="http://schemas.openxmlformats.org/drawingml/2006/table">
            <a:tbl>
              <a:tblPr/>
              <a:tblGrid>
                <a:gridCol w="1571815">
                  <a:extLst>
                    <a:ext uri="{9D8B030D-6E8A-4147-A177-3AD203B41FA5}">
                      <a16:colId xmlns:a16="http://schemas.microsoft.com/office/drawing/2014/main" val="20000"/>
                    </a:ext>
                  </a:extLst>
                </a:gridCol>
                <a:gridCol w="2577826">
                  <a:extLst>
                    <a:ext uri="{9D8B030D-6E8A-4147-A177-3AD203B41FA5}">
                      <a16:colId xmlns:a16="http://schemas.microsoft.com/office/drawing/2014/main" val="20001"/>
                    </a:ext>
                  </a:extLst>
                </a:gridCol>
                <a:gridCol w="2608346">
                  <a:extLst>
                    <a:ext uri="{9D8B030D-6E8A-4147-A177-3AD203B41FA5}">
                      <a16:colId xmlns:a16="http://schemas.microsoft.com/office/drawing/2014/main" val="20002"/>
                    </a:ext>
                  </a:extLst>
                </a:gridCol>
              </a:tblGrid>
              <a:tr h="68772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知识</a:t>
                      </a:r>
                      <a:endParaRPr kumimoji="0" lang="en-US" altLang="zh-CN" sz="17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要点</a:t>
                      </a:r>
                    </a:p>
                  </a:txBody>
                  <a:tcPr marL="91424" marR="91424" marT="34307" marB="3430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掌握程度</a:t>
                      </a:r>
                    </a:p>
                  </a:txBody>
                  <a:tcPr marL="91424" marR="91424" marT="34307" marB="343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rPr>
                        <a:t>相关知识</a:t>
                      </a:r>
                    </a:p>
                  </a:txBody>
                  <a:tcPr marL="91424" marR="91424" marT="34307" marB="3430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0"/>
                  </a:ext>
                </a:extLst>
              </a:tr>
              <a:tr h="87073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化学的</a:t>
                      </a: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研究对象</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及发展简史</a:t>
                      </a:r>
                    </a:p>
                  </a:txBody>
                  <a:tcPr marL="91424" marR="91424" marT="34307" marB="3430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掌握化学的研究对象，了解化学的发展简史</a:t>
                      </a:r>
                    </a:p>
                  </a:txBody>
                  <a:tcPr marL="91424" marR="91424" marT="34307" marB="343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能量守恒定律、</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燃素学说、燃烧学说、道尔顿原子论、分子等</a:t>
                      </a:r>
                    </a:p>
                  </a:txBody>
                  <a:tcPr marL="91424" marR="91424" marT="34307" marB="3430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7018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化学的学科</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分支及作用</a:t>
                      </a:r>
                    </a:p>
                  </a:txBody>
                  <a:tcPr marL="91424" marR="91424" marT="34307" marB="3430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    掌握化学的学科分支，了解化学的作用</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及未来化学的展望</a:t>
                      </a:r>
                    </a:p>
                  </a:txBody>
                  <a:tcPr marL="91424" marR="91424" marT="34307" marB="343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无机化学、有机化学、</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材料化学、分析化学、物理化学等</a:t>
                      </a:r>
                    </a:p>
                  </a:txBody>
                  <a:tcPr marL="91424" marR="91424" marT="34307" marB="3430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018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本课程的</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教学目的及</a:t>
                      </a:r>
                      <a:endParaRPr kumimoji="0" lang="en-US" altLang="zh-CN"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学习方法建议</a:t>
                      </a:r>
                    </a:p>
                  </a:txBody>
                  <a:tcPr marL="91424" marR="91424" marT="34307" marB="3430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掌握本课程的教学目的，清楚学习方法</a:t>
                      </a:r>
                    </a:p>
                  </a:txBody>
                  <a:tcPr marL="91424" marR="91424" marT="34307" marB="3430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7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化学导论</a:t>
                      </a:r>
                    </a:p>
                  </a:txBody>
                  <a:tcPr marL="91424" marR="91424" marT="34307" marB="3430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9482" name="文本框 3"/>
          <p:cNvSpPr txBox="1"/>
          <p:nvPr/>
        </p:nvSpPr>
        <p:spPr>
          <a:xfrm>
            <a:off x="3403600" y="471488"/>
            <a:ext cx="3165475" cy="415925"/>
          </a:xfrm>
          <a:prstGeom prst="rect">
            <a:avLst/>
          </a:prstGeom>
          <a:noFill/>
          <a:ln w="9525">
            <a:noFill/>
          </a:ln>
        </p:spPr>
        <p:txBody>
          <a:bodyPr lIns="65023" tIns="32511" rIns="65023" bIns="32511">
            <a:spAutoFit/>
          </a:bodyPr>
          <a:lstStyle/>
          <a:p>
            <a:r>
              <a:rPr lang="zh-CN" altLang="en-US" sz="2300" b="1" dirty="0">
                <a:solidFill>
                  <a:srgbClr val="3B5C94"/>
                </a:solidFill>
                <a:latin typeface="Arial" panose="020B0604020202020204" pitchFamily="34" charset="0"/>
                <a:ea typeface="微软雅黑" panose="020B0503020204020204" pitchFamily="34" charset="-122"/>
                <a:sym typeface="+mn-ea"/>
              </a:rPr>
              <a:t>   学习要点</a:t>
            </a:r>
            <a:endParaRPr lang="zh-CN" altLang="en-US" sz="2300" b="1" dirty="0">
              <a:latin typeface="Arial" panose="020B0604020202020204" pitchFamily="34" charset="0"/>
              <a:ea typeface="微软雅黑" panose="020B0503020204020204" pitchFamily="34" charset="-122"/>
            </a:endParaRPr>
          </a:p>
        </p:txBody>
      </p:sp>
    </p:spTree>
  </p:cSld>
  <p:clrMapOvr>
    <a:masterClrMapping/>
  </p:clrMapOvr>
  <p:transition spd="slow">
    <p:check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p:nvPr/>
        </p:nvGrpSpPr>
        <p:grpSpPr>
          <a:xfrm>
            <a:off x="2016125" y="517525"/>
            <a:ext cx="5113338" cy="639763"/>
            <a:chOff x="0" y="0"/>
            <a:chExt cx="2858" cy="537"/>
          </a:xfrm>
        </p:grpSpPr>
        <p:sp>
          <p:nvSpPr>
            <p:cNvPr id="20487" name="AutoShape 3"/>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0488" name="Rectangle 4"/>
            <p:cNvSpPr/>
            <p:nvPr/>
          </p:nvSpPr>
          <p:spPr>
            <a:xfrm>
              <a:off x="680" y="46"/>
              <a:ext cx="1577" cy="491"/>
            </a:xfrm>
            <a:prstGeom prst="rect">
              <a:avLst/>
            </a:prstGeom>
            <a:noFill/>
            <a:ln w="9525">
              <a:noFill/>
            </a:ln>
          </p:spPr>
          <p:txBody>
            <a:bodyPr>
              <a:spAutoFit/>
            </a:bodyPr>
            <a:lstStyle/>
            <a:p>
              <a:r>
                <a:rPr lang="zh-CN" altLang="en-US" sz="3200" b="1" dirty="0">
                  <a:solidFill>
                    <a:schemeClr val="bg1"/>
                  </a:solidFill>
                  <a:latin typeface="Arial" panose="020B0604020202020204" pitchFamily="34" charset="0"/>
                  <a:ea typeface="楷体_GB2312" panose="02010609030101010101" pitchFamily="49" charset="-122"/>
                </a:rPr>
                <a:t>本章主要内容</a:t>
              </a:r>
            </a:p>
          </p:txBody>
        </p:sp>
      </p:grpSp>
      <p:sp>
        <p:nvSpPr>
          <p:cNvPr id="20483" name="Rectangle 5"/>
          <p:cNvSpPr/>
          <p:nvPr/>
        </p:nvSpPr>
        <p:spPr>
          <a:xfrm>
            <a:off x="1322388" y="1609725"/>
            <a:ext cx="5761037" cy="447675"/>
          </a:xfrm>
          <a:prstGeom prst="rect">
            <a:avLst/>
          </a:prstGeom>
          <a:noFill/>
          <a:ln w="9525">
            <a:noFill/>
          </a:ln>
        </p:spPr>
        <p:txBody>
          <a:bodyPr tIns="76176" bIns="0" anchor="ctr" anchorCtr="0">
            <a:spAutoFit/>
          </a:bodyPr>
          <a:lstStyle/>
          <a:p>
            <a:r>
              <a:rPr lang="en-US" altLang="zh-CN" sz="2400" b="1" dirty="0">
                <a:latin typeface="Times New Roman" panose="02020603050405020304" pitchFamily="18" charset="0"/>
                <a:ea typeface="宋体" panose="02010600030101010101" pitchFamily="2" charset="-122"/>
              </a:rPr>
              <a:t>1.1  </a:t>
            </a:r>
            <a:r>
              <a:rPr lang="zh-CN" altLang="en-US" sz="2400" b="1" dirty="0">
                <a:latin typeface="Arial" panose="020B0604020202020204" pitchFamily="34" charset="0"/>
                <a:ea typeface="宋体" panose="02010600030101010101" pitchFamily="2" charset="-122"/>
              </a:rPr>
              <a:t>化学的研究对象及其发展简史</a:t>
            </a:r>
          </a:p>
        </p:txBody>
      </p:sp>
      <p:sp>
        <p:nvSpPr>
          <p:cNvPr id="20484" name="Rectangle 6"/>
          <p:cNvSpPr/>
          <p:nvPr/>
        </p:nvSpPr>
        <p:spPr>
          <a:xfrm>
            <a:off x="1285875" y="2212975"/>
            <a:ext cx="6769100" cy="446088"/>
          </a:xfrm>
          <a:prstGeom prst="rect">
            <a:avLst/>
          </a:prstGeom>
          <a:noFill/>
          <a:ln w="9525">
            <a:noFill/>
          </a:ln>
        </p:spPr>
        <p:txBody>
          <a:bodyPr tIns="76176" bIns="0" anchor="ctr" anchorCtr="0">
            <a:spAutoFit/>
          </a:bodyPr>
          <a:lstStyle/>
          <a:p>
            <a:r>
              <a:rPr lang="en-US" altLang="zh-CN" sz="2400" b="1" dirty="0">
                <a:latin typeface="Times New Roman" panose="02020603050405020304" pitchFamily="18" charset="0"/>
                <a:ea typeface="宋体" panose="02010600030101010101" pitchFamily="2" charset="-122"/>
              </a:rPr>
              <a:t>1.2   </a:t>
            </a:r>
            <a:r>
              <a:rPr lang="zh-CN" altLang="en-US" sz="2400" b="1" dirty="0">
                <a:latin typeface="Times New Roman" panose="02020603050405020304" pitchFamily="18" charset="0"/>
                <a:ea typeface="宋体" panose="02010600030101010101" pitchFamily="2" charset="-122"/>
              </a:rPr>
              <a:t>化学的学科分支及其在社会发展中的作用</a:t>
            </a:r>
          </a:p>
        </p:txBody>
      </p:sp>
      <p:sp>
        <p:nvSpPr>
          <p:cNvPr id="20485" name="Rectangle 7"/>
          <p:cNvSpPr/>
          <p:nvPr/>
        </p:nvSpPr>
        <p:spPr>
          <a:xfrm>
            <a:off x="1285875" y="2843213"/>
            <a:ext cx="6337300" cy="446087"/>
          </a:xfrm>
          <a:prstGeom prst="rect">
            <a:avLst/>
          </a:prstGeom>
          <a:noFill/>
          <a:ln w="9525">
            <a:noFill/>
          </a:ln>
        </p:spPr>
        <p:txBody>
          <a:bodyPr tIns="76176" bIns="0" anchor="ctr" anchorCtr="0">
            <a:spAutoFit/>
          </a:bodyPr>
          <a:lstStyle/>
          <a:p>
            <a:r>
              <a:rPr lang="en-US" altLang="zh-CN" sz="2400" b="1" dirty="0">
                <a:latin typeface="Times New Roman" panose="02020603050405020304" pitchFamily="18" charset="0"/>
                <a:ea typeface="宋体" panose="02010600030101010101" pitchFamily="2" charset="-122"/>
              </a:rPr>
              <a:t>1.3  </a:t>
            </a:r>
            <a:r>
              <a:rPr lang="zh-CN" altLang="en-US" sz="2400" b="1" dirty="0">
                <a:latin typeface="Times New Roman" panose="02020603050405020304" pitchFamily="18" charset="0"/>
                <a:ea typeface="宋体" panose="02010600030101010101" pitchFamily="2" charset="-122"/>
              </a:rPr>
              <a:t>物理量的表示方法</a:t>
            </a:r>
          </a:p>
        </p:txBody>
      </p:sp>
      <p:sp>
        <p:nvSpPr>
          <p:cNvPr id="20486" name="Rectangle 8"/>
          <p:cNvSpPr/>
          <p:nvPr/>
        </p:nvSpPr>
        <p:spPr>
          <a:xfrm>
            <a:off x="1285875" y="3503613"/>
            <a:ext cx="5329238" cy="460375"/>
          </a:xfrm>
          <a:prstGeom prst="rect">
            <a:avLst/>
          </a:prstGeom>
          <a:noFill/>
          <a:ln w="9525">
            <a:noFill/>
          </a:ln>
        </p:spPr>
        <p:txBody>
          <a:bodyPr>
            <a:spAutoFit/>
          </a:bodyPr>
          <a:lstStyle/>
          <a:p>
            <a:r>
              <a:rPr lang="en-US" altLang="zh-CN" sz="2400" b="1" dirty="0">
                <a:latin typeface="Times New Roman" panose="02020603050405020304" pitchFamily="18" charset="0"/>
                <a:ea typeface="宋体" panose="02010600030101010101" pitchFamily="2" charset="-122"/>
              </a:rPr>
              <a:t>1.4  </a:t>
            </a:r>
            <a:r>
              <a:rPr lang="zh-CN" altLang="en-US" sz="2400" b="1" dirty="0">
                <a:latin typeface="Times New Roman" panose="02020603050405020304" pitchFamily="18" charset="0"/>
                <a:ea typeface="宋体" panose="02010600030101010101" pitchFamily="2" charset="-122"/>
              </a:rPr>
              <a:t>工程化学的教学目的和学习方法</a:t>
            </a:r>
          </a:p>
        </p:txBody>
      </p:sp>
    </p:spTree>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0" y="303610"/>
            <a:ext cx="9144000" cy="540544"/>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§1</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.1  </a:t>
            </a:r>
            <a:r>
              <a:rPr kumimoji="0" lang="zh-CN" altLang="en-US"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化学的研究对象及其发展简史</a:t>
            </a:r>
          </a:p>
        </p:txBody>
      </p:sp>
      <p:sp>
        <p:nvSpPr>
          <p:cNvPr id="7171" name="Rectangle 3"/>
          <p:cNvSpPr/>
          <p:nvPr/>
        </p:nvSpPr>
        <p:spPr>
          <a:xfrm>
            <a:off x="0" y="987425"/>
            <a:ext cx="3635375" cy="523875"/>
          </a:xfrm>
          <a:prstGeom prst="rect">
            <a:avLst/>
          </a:prstGeom>
          <a:solidFill>
            <a:srgbClr val="FFCC00"/>
          </a:solidFill>
          <a:ln w="19050" cap="flat" cmpd="sng">
            <a:solidFill>
              <a:srgbClr val="0000FF"/>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1.</a:t>
            </a:r>
            <a:r>
              <a:rPr lang="zh-CN" altLang="en-US" sz="2800" b="1" dirty="0">
                <a:solidFill>
                  <a:schemeClr val="tx2"/>
                </a:solidFill>
                <a:latin typeface="楷体_GB2312" panose="02010609030101010101" pitchFamily="49" charset="-122"/>
                <a:ea typeface="楷体_GB2312" panose="02010609030101010101" pitchFamily="49" charset="-122"/>
              </a:rPr>
              <a:t>化学的研究对象</a:t>
            </a:r>
          </a:p>
        </p:txBody>
      </p:sp>
      <p:sp>
        <p:nvSpPr>
          <p:cNvPr id="7172" name="Rectangle 4"/>
          <p:cNvSpPr/>
          <p:nvPr/>
        </p:nvSpPr>
        <p:spPr>
          <a:xfrm>
            <a:off x="468313" y="1624013"/>
            <a:ext cx="8567737" cy="2862262"/>
          </a:xfrm>
          <a:prstGeom prst="rect">
            <a:avLst/>
          </a:prstGeom>
          <a:noFill/>
          <a:ln w="9525">
            <a:noFill/>
          </a:ln>
        </p:spPr>
        <p:txBody>
          <a:bodyPr anchor="ctr" anchorCtr="0">
            <a:spAutoFit/>
          </a:bodyPr>
          <a:lstStyle/>
          <a:p>
            <a:pPr indent="333375">
              <a:lnSpc>
                <a:spcPct val="125000"/>
              </a:lnSpc>
            </a:pPr>
            <a:r>
              <a:rPr lang="zh-CN" altLang="en-US" sz="2400" b="1" dirty="0">
                <a:latin typeface="Arial" panose="020B0604020202020204" pitchFamily="34" charset="0"/>
                <a:ea typeface="宋体" panose="02010600030101010101" pitchFamily="2" charset="-122"/>
              </a:rPr>
              <a:t>   化学是研究物质变化的科学。世界是物质的，物质有</a:t>
            </a:r>
            <a:r>
              <a:rPr lang="zh-CN" altLang="en-US" sz="2400" b="1" dirty="0">
                <a:solidFill>
                  <a:srgbClr val="660066"/>
                </a:solidFill>
                <a:latin typeface="微软雅黑" panose="020B0503020204020204" pitchFamily="34" charset="-122"/>
                <a:ea typeface="微软雅黑" panose="020B0503020204020204" pitchFamily="34" charset="-122"/>
              </a:rPr>
              <a:t>实物</a:t>
            </a:r>
            <a:r>
              <a:rPr lang="zh-CN" altLang="en-US" sz="2400" b="1" dirty="0">
                <a:latin typeface="Arial" panose="020B0604020202020204" pitchFamily="34" charset="0"/>
                <a:ea typeface="宋体" panose="02010600030101010101" pitchFamily="2" charset="-122"/>
              </a:rPr>
              <a:t>和</a:t>
            </a:r>
            <a:r>
              <a:rPr lang="zh-CN" altLang="en-US" sz="2400" b="1" dirty="0">
                <a:solidFill>
                  <a:srgbClr val="660066"/>
                </a:solidFill>
                <a:latin typeface="微软雅黑" panose="020B0503020204020204" pitchFamily="34" charset="-122"/>
                <a:ea typeface="微软雅黑" panose="020B0503020204020204" pitchFamily="34" charset="-122"/>
              </a:rPr>
              <a:t>场</a:t>
            </a:r>
            <a:r>
              <a:rPr lang="zh-CN" altLang="en-US" sz="2400" b="1" dirty="0">
                <a:latin typeface="Arial" panose="020B0604020202020204" pitchFamily="34" charset="0"/>
                <a:ea typeface="宋体" panose="02010600030101010101" pitchFamily="2" charset="-122"/>
              </a:rPr>
              <a:t>两种基本形态。</a:t>
            </a:r>
            <a:endParaRPr lang="en-US" altLang="zh-CN" sz="2400" b="1" dirty="0">
              <a:latin typeface="Arial" panose="020B0604020202020204" pitchFamily="34" charset="0"/>
              <a:ea typeface="宋体" panose="02010600030101010101" pitchFamily="2" charset="-122"/>
            </a:endParaRPr>
          </a:p>
          <a:p>
            <a:pPr indent="333375">
              <a:lnSpc>
                <a:spcPct val="125000"/>
              </a:lnSpc>
            </a:pPr>
            <a:r>
              <a:rPr lang="zh-CN" altLang="en-US" sz="2400" b="1" dirty="0">
                <a:latin typeface="Arial" panose="020B0604020202020204" pitchFamily="34" charset="0"/>
                <a:ea typeface="宋体" panose="02010600030101010101" pitchFamily="2" charset="-122"/>
              </a:rPr>
              <a:t>前者具有静止的质量，是化学研究的对象。场是只有运动质量而没有静止质量的物质，如引力场、电磁场等。</a:t>
            </a:r>
          </a:p>
          <a:p>
            <a:pPr indent="333375">
              <a:lnSpc>
                <a:spcPct val="125000"/>
              </a:lnSpc>
            </a:pPr>
            <a:r>
              <a:rPr lang="zh-CN" altLang="en-US" sz="2400" b="1" dirty="0">
                <a:latin typeface="Arial" panose="020B0604020202020204" pitchFamily="34" charset="0"/>
                <a:ea typeface="宋体" panose="02010600030101010101" pitchFamily="2" charset="-122"/>
              </a:rPr>
              <a:t>    </a:t>
            </a:r>
            <a:r>
              <a:rPr lang="zh-CN" altLang="en-US" sz="2400" b="1" dirty="0">
                <a:solidFill>
                  <a:srgbClr val="660066"/>
                </a:solidFill>
                <a:latin typeface="微软雅黑" panose="020B0503020204020204" pitchFamily="34" charset="-122"/>
                <a:ea typeface="微软雅黑" panose="020B0503020204020204" pitchFamily="34" charset="-122"/>
              </a:rPr>
              <a:t>化学变化的主要特征</a:t>
            </a:r>
            <a:endParaRPr lang="en-US" altLang="zh-CN" sz="2400" b="1" dirty="0">
              <a:solidFill>
                <a:srgbClr val="660066"/>
              </a:solidFill>
              <a:latin typeface="微软雅黑" panose="020B0503020204020204" pitchFamily="34" charset="-122"/>
              <a:ea typeface="微软雅黑" panose="020B0503020204020204" pitchFamily="34" charset="-122"/>
            </a:endParaRPr>
          </a:p>
          <a:p>
            <a:pPr indent="333375">
              <a:lnSpc>
                <a:spcPct val="125000"/>
              </a:lnSpc>
            </a:pPr>
            <a:r>
              <a:rPr lang="en-US" altLang="zh-CN" sz="2400" b="1" dirty="0">
                <a:solidFill>
                  <a:srgbClr val="6600CC"/>
                </a:solidFill>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在原子核不变的前提下生成了新的物质。</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41" presetClass="entr" presetSubtype="0" fill="hold" grpId="0" nodeType="clickEffect">
                                  <p:stCondLst>
                                    <p:cond delay="0"/>
                                  </p:stCondLst>
                                  <p:iterate type="lt">
                                    <p:tmPct val="10000"/>
                                  </p:iterate>
                                  <p:childTnLst>
                                    <p:set>
                                      <p:cBhvr>
                                        <p:cTn id="15" dur="1" fill="hold">
                                          <p:stCondLst>
                                            <p:cond delay="0"/>
                                          </p:stCondLst>
                                        </p:cTn>
                                        <p:tgtEl>
                                          <p:spTgt spid="7171"/>
                                        </p:tgtEl>
                                        <p:attrNameLst>
                                          <p:attrName>style.visibility</p:attrName>
                                        </p:attrNameLst>
                                      </p:cBhvr>
                                      <p:to>
                                        <p:strVal val="visible"/>
                                      </p:to>
                                    </p:set>
                                    <p:anim calcmode="lin" valueType="num">
                                      <p:cBhvr>
                                        <p:cTn id="16" dur="500" fill="hold"/>
                                        <p:tgtEl>
                                          <p:spTgt spid="7171"/>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7171"/>
                                        </p:tgtEl>
                                        <p:attrNameLst>
                                          <p:attrName>ppt_y</p:attrName>
                                        </p:attrNameLst>
                                      </p:cBhvr>
                                      <p:tavLst>
                                        <p:tav tm="0">
                                          <p:val>
                                            <p:strVal val="#ppt_y"/>
                                          </p:val>
                                        </p:tav>
                                        <p:tav tm="100000">
                                          <p:val>
                                            <p:strVal val="#ppt_y"/>
                                          </p:val>
                                        </p:tav>
                                      </p:tavLst>
                                    </p:anim>
                                    <p:anim calcmode="lin" valueType="num">
                                      <p:cBhvr>
                                        <p:cTn id="18" dur="500" fill="hold"/>
                                        <p:tgtEl>
                                          <p:spTgt spid="7171"/>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7171"/>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7171"/>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172">
                                            <p:txEl>
                                              <p:pRg st="0" end="0"/>
                                            </p:txEl>
                                          </p:spTgt>
                                        </p:tgtEl>
                                        <p:attrNameLst>
                                          <p:attrName>style.visibility</p:attrName>
                                        </p:attrNameLst>
                                      </p:cBhvr>
                                      <p:to>
                                        <p:strVal val="visible"/>
                                      </p:to>
                                    </p:set>
                                    <p:animEffect transition="in" filter="box(in)">
                                      <p:cBhvr>
                                        <p:cTn id="25" dur="500"/>
                                        <p:tgtEl>
                                          <p:spTgt spid="717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7172">
                                            <p:txEl>
                                              <p:pRg st="1" end="1"/>
                                            </p:txEl>
                                          </p:spTgt>
                                        </p:tgtEl>
                                        <p:attrNameLst>
                                          <p:attrName>style.visibility</p:attrName>
                                        </p:attrNameLst>
                                      </p:cBhvr>
                                      <p:to>
                                        <p:strVal val="visible"/>
                                      </p:to>
                                    </p:set>
                                    <p:animEffect transition="in" filter="box(in)">
                                      <p:cBhvr>
                                        <p:cTn id="30" dur="500"/>
                                        <p:tgtEl>
                                          <p:spTgt spid="717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7172">
                                            <p:txEl>
                                              <p:pRg st="2" end="2"/>
                                            </p:txEl>
                                          </p:spTgt>
                                        </p:tgtEl>
                                        <p:attrNameLst>
                                          <p:attrName>style.visibility</p:attrName>
                                        </p:attrNameLst>
                                      </p:cBhvr>
                                      <p:to>
                                        <p:strVal val="visible"/>
                                      </p:to>
                                    </p:set>
                                    <p:animEffect transition="in" filter="box(in)">
                                      <p:cBhvr>
                                        <p:cTn id="35" dur="500"/>
                                        <p:tgtEl>
                                          <p:spTgt spid="7172">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7172">
                                            <p:txEl>
                                              <p:pRg st="3" end="3"/>
                                            </p:txEl>
                                          </p:spTgt>
                                        </p:tgtEl>
                                        <p:attrNameLst>
                                          <p:attrName>style.visibility</p:attrName>
                                        </p:attrNameLst>
                                      </p:cBhvr>
                                      <p:to>
                                        <p:strVal val="visible"/>
                                      </p:to>
                                    </p:set>
                                    <p:animEffect transition="in" filter="box(in)">
                                      <p:cBhvr>
                                        <p:cTn id="40" dur="500"/>
                                        <p:tgtEl>
                                          <p:spTgt spid="71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nimBg="1"/>
      <p:bldP spid="717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p:nvPr/>
        </p:nvSpPr>
        <p:spPr>
          <a:xfrm>
            <a:off x="395288" y="476940"/>
            <a:ext cx="8280400" cy="966996"/>
          </a:xfrm>
          <a:prstGeom prst="rect">
            <a:avLst/>
          </a:prstGeom>
          <a:noFill/>
          <a:ln w="9525">
            <a:noFill/>
          </a:ln>
        </p:spPr>
        <p:txBody>
          <a:bodyPr anchor="ctr" anchorCtr="0">
            <a:spAutoFit/>
          </a:bodyPr>
          <a:lstStyle/>
          <a:p>
            <a:pPr indent="333375">
              <a:lnSpc>
                <a:spcPct val="125000"/>
              </a:lnSpc>
            </a:pPr>
            <a:r>
              <a:rPr lang="zh-CN" altLang="en-US" sz="2400" b="1" dirty="0">
                <a:latin typeface="Arial" panose="020B0604020202020204" pitchFamily="34" charset="0"/>
                <a:ea typeface="宋体" panose="02010600030101010101" pitchFamily="2" charset="-122"/>
              </a:rPr>
              <a:t>   化学是物质科学的基础学科之一，是一门</a:t>
            </a:r>
            <a:r>
              <a:rPr lang="zh-CN" altLang="en-US" sz="2400" b="1" dirty="0">
                <a:solidFill>
                  <a:srgbClr val="FF0000"/>
                </a:solidFill>
                <a:latin typeface="Arial" panose="020B0604020202020204" pitchFamily="34" charset="0"/>
                <a:ea typeface="宋体" panose="02010600030101010101" pitchFamily="2" charset="-122"/>
              </a:rPr>
              <a:t>中心</a:t>
            </a:r>
            <a:r>
              <a:rPr lang="zh-CN" altLang="en-US" sz="2400" b="1" dirty="0">
                <a:latin typeface="Arial" panose="020B0604020202020204" pitchFamily="34" charset="0"/>
                <a:ea typeface="宋体" panose="02010600030101010101" pitchFamily="2" charset="-122"/>
              </a:rPr>
              <a:t>的、实用的、创造性的科学。</a:t>
            </a:r>
          </a:p>
        </p:txBody>
      </p:sp>
      <p:pic>
        <p:nvPicPr>
          <p:cNvPr id="8195" name="Picture 3" descr="image013"/>
          <p:cNvPicPr>
            <a:picLocks noChangeAspect="1"/>
          </p:cNvPicPr>
          <p:nvPr/>
        </p:nvPicPr>
        <p:blipFill>
          <a:blip r:embed="rId2"/>
          <a:srcRect r="3233" b="4646"/>
          <a:stretch>
            <a:fillRect/>
          </a:stretch>
        </p:blipFill>
        <p:spPr>
          <a:xfrm>
            <a:off x="1724025" y="1531938"/>
            <a:ext cx="5365750" cy="2833687"/>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box(in)">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checkerboard(across)">
                                      <p:cBhvr>
                                        <p:cTn id="12"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p:nvPr/>
        </p:nvSpPr>
        <p:spPr>
          <a:xfrm>
            <a:off x="0" y="950913"/>
            <a:ext cx="3348038" cy="523875"/>
          </a:xfrm>
          <a:prstGeom prst="rect">
            <a:avLst/>
          </a:prstGeom>
          <a:solidFill>
            <a:srgbClr val="FF9900"/>
          </a:solidFill>
          <a:ln w="19050" cap="flat" cmpd="sng">
            <a:solidFill>
              <a:srgbClr val="FF3300"/>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2.</a:t>
            </a:r>
            <a:r>
              <a:rPr lang="zh-CN" altLang="en-US" sz="2800" b="1" dirty="0">
                <a:solidFill>
                  <a:schemeClr val="tx2"/>
                </a:solidFill>
                <a:latin typeface="楷体_GB2312" panose="02010609030101010101" pitchFamily="49" charset="-122"/>
                <a:ea typeface="楷体_GB2312" panose="02010609030101010101" pitchFamily="49" charset="-122"/>
              </a:rPr>
              <a:t>化学发展</a:t>
            </a:r>
            <a:r>
              <a:rPr lang="zh-CN" altLang="en-US" sz="2800" b="1" dirty="0">
                <a:latin typeface="楷体_GB2312" panose="02010609030101010101" pitchFamily="49" charset="-122"/>
                <a:ea typeface="楷体_GB2312" panose="02010609030101010101" pitchFamily="49" charset="-122"/>
                <a:hlinkClick r:id="rId2" action="ppaction://hlinkfile"/>
              </a:rPr>
              <a:t>简史</a:t>
            </a:r>
            <a:endParaRPr lang="zh-CN" altLang="en-US" sz="2800" b="1" dirty="0">
              <a:latin typeface="楷体_GB2312" panose="02010609030101010101" pitchFamily="49" charset="-122"/>
              <a:ea typeface="楷体_GB2312" panose="02010609030101010101" pitchFamily="49" charset="-122"/>
            </a:endParaRPr>
          </a:p>
        </p:txBody>
      </p:sp>
      <p:sp>
        <p:nvSpPr>
          <p:cNvPr id="9219" name="Rectangle 3"/>
          <p:cNvSpPr/>
          <p:nvPr/>
        </p:nvSpPr>
        <p:spPr>
          <a:xfrm>
            <a:off x="863600" y="1738313"/>
            <a:ext cx="8064500" cy="2862262"/>
          </a:xfrm>
          <a:prstGeom prst="rect">
            <a:avLst/>
          </a:prstGeom>
          <a:noFill/>
          <a:ln w="9525">
            <a:noFill/>
          </a:ln>
        </p:spPr>
        <p:txBody>
          <a:bodyPr>
            <a:spAutoFit/>
          </a:bodyPr>
          <a:lstStyle/>
          <a:p>
            <a:pPr>
              <a:lnSpc>
                <a:spcPct val="125000"/>
              </a:lnSpc>
            </a:pPr>
            <a:r>
              <a:rPr lang="zh-CN" altLang="en-US" sz="2400" b="1" dirty="0">
                <a:latin typeface="Arial" panose="020B0604020202020204" pitchFamily="34" charset="0"/>
                <a:ea typeface="宋体" panose="02010600030101010101" pitchFamily="2" charset="-122"/>
              </a:rPr>
              <a:t>      原始人类从用火之时开始，由野蛮进入文明，同时也开始了用化学方法认识和改造天然物质。火─燃烧就是一种化学现象。掌握了火以后，人类开始熟食；学会了制陶、冶铜、炼铁；又懂得了酿造、染色等等。这些由天然物质加工改造而成的制品，成为古代文明的标志。在这些生产实践的基础上，萌发了古代化学知识。</a:t>
            </a:r>
          </a:p>
        </p:txBody>
      </p:sp>
      <p:pic>
        <p:nvPicPr>
          <p:cNvPr id="23556" name="Picture 4" descr="u=3788129750,3381722719&amp;fm=23&amp;gp=0"/>
          <p:cNvPicPr>
            <a:picLocks noChangeAspect="1"/>
          </p:cNvPicPr>
          <p:nvPr/>
        </p:nvPicPr>
        <p:blipFill>
          <a:blip r:embed="rId3"/>
          <a:stretch>
            <a:fillRect/>
          </a:stretch>
        </p:blipFill>
        <p:spPr>
          <a:xfrm>
            <a:off x="5832475" y="136525"/>
            <a:ext cx="3006725" cy="1504950"/>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9218"/>
                                        </p:tgtEl>
                                        <p:attrNameLst>
                                          <p:attrName>style.visibility</p:attrName>
                                        </p:attrNameLst>
                                      </p:cBhvr>
                                      <p:to>
                                        <p:strVal val="visible"/>
                                      </p:to>
                                    </p:set>
                                    <p:anim calcmode="lin" valueType="num">
                                      <p:cBhvr>
                                        <p:cTn id="7" dur="500" fill="hold"/>
                                        <p:tgtEl>
                                          <p:spTgt spid="921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9218"/>
                                        </p:tgtEl>
                                        <p:attrNameLst>
                                          <p:attrName>ppt_y</p:attrName>
                                        </p:attrNameLst>
                                      </p:cBhvr>
                                      <p:tavLst>
                                        <p:tav tm="0">
                                          <p:val>
                                            <p:strVal val="#ppt_y"/>
                                          </p:val>
                                        </p:tav>
                                        <p:tav tm="100000">
                                          <p:val>
                                            <p:strVal val="#ppt_y"/>
                                          </p:val>
                                        </p:tav>
                                      </p:tavLst>
                                    </p:anim>
                                    <p:anim calcmode="lin" valueType="num">
                                      <p:cBhvr>
                                        <p:cTn id="9" dur="500" fill="hold"/>
                                        <p:tgtEl>
                                          <p:spTgt spid="921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921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9218"/>
                                        </p:tgtEl>
                                      </p:cBhvr>
                                    </p:animEffect>
                                  </p:childTnLst>
                                </p:cTn>
                              </p:par>
                            </p:childTnLst>
                          </p:cTn>
                        </p:par>
                      </p:childTnLst>
                    </p:cTn>
                  </p:par>
                  <p:par>
                    <p:cTn id="12" fill="hold">
                      <p:stCondLst>
                        <p:cond delay="indefinite"/>
                      </p:stCondLst>
                      <p:childTnLst>
                        <p:par>
                          <p:cTn id="13" fill="hold">
                            <p:stCondLst>
                              <p:cond delay="0"/>
                            </p:stCondLst>
                            <p:childTnLst>
                              <p:par>
                                <p:cTn id="14" presetID="8" presetClass="entr" presetSubtype="16" fill="hold" grpId="0" nodeType="clickEffect">
                                  <p:stCondLst>
                                    <p:cond delay="0"/>
                                  </p:stCondLst>
                                  <p:childTnLst>
                                    <p:set>
                                      <p:cBhvr>
                                        <p:cTn id="15" dur="1" fill="hold">
                                          <p:stCondLst>
                                            <p:cond delay="0"/>
                                          </p:stCondLst>
                                        </p:cTn>
                                        <p:tgtEl>
                                          <p:spTgt spid="9219"/>
                                        </p:tgtEl>
                                        <p:attrNameLst>
                                          <p:attrName>style.visibility</p:attrName>
                                        </p:attrNameLst>
                                      </p:cBhvr>
                                      <p:to>
                                        <p:strVal val="visible"/>
                                      </p:to>
                                    </p:set>
                                    <p:animEffect transition="in" filter="diamond(in)">
                                      <p:cBhvr>
                                        <p:cTn id="16" dur="1000"/>
                                        <p:tgtEl>
                                          <p:spTgt spid="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92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p:nvPr/>
        </p:nvSpPr>
        <p:spPr>
          <a:xfrm>
            <a:off x="395288" y="303213"/>
            <a:ext cx="8496300" cy="4413250"/>
          </a:xfrm>
          <a:prstGeom prst="rect">
            <a:avLst/>
          </a:prstGeom>
          <a:noFill/>
          <a:ln w="9525">
            <a:noFill/>
          </a:ln>
        </p:spPr>
        <p:txBody>
          <a:bodyPr>
            <a:spAutoFit/>
          </a:bodyPr>
          <a:lstStyle/>
          <a:p>
            <a:pPr>
              <a:lnSpc>
                <a:spcPct val="130000"/>
              </a:lnSpc>
            </a:pPr>
            <a:r>
              <a:rPr lang="zh-CN" altLang="en-US" sz="2400" b="1" dirty="0">
                <a:latin typeface="Times New Roman" panose="02020603050405020304" pitchFamily="18" charset="0"/>
                <a:ea typeface="宋体" panose="02010600030101010101" pitchFamily="2" charset="-122"/>
              </a:rPr>
              <a:t>       在古代和中古时代，中国、希腊、印度和西欧各国都兴起、盛行过炼金术和炼丹术。深信物质能转化，试图在炼丹炉中合成金银或修炼长生不老之药。</a:t>
            </a:r>
          </a:p>
          <a:p>
            <a:pPr>
              <a:lnSpc>
                <a:spcPct val="130000"/>
              </a:lnSpc>
            </a:pPr>
            <a:r>
              <a:rPr lang="zh-CN" altLang="en-US" sz="2400" b="1" dirty="0">
                <a:latin typeface="Times New Roman" panose="02020603050405020304" pitchFamily="18" charset="0"/>
                <a:ea typeface="宋体" panose="02010600030101010101" pitchFamily="2" charset="-122"/>
              </a:rPr>
              <a:t>        为此设计了各种器皿，如升华器、蒸馏器、研钵等，也创造了各种实验方法，如研磨、混合、溶解、结晶、灼烧、熔融、升华、密封等。</a:t>
            </a:r>
          </a:p>
          <a:p>
            <a:pPr>
              <a:lnSpc>
                <a:spcPct val="130000"/>
              </a:lnSpc>
            </a:pPr>
            <a:r>
              <a:rPr lang="zh-CN" altLang="en-US" sz="2400" b="1" dirty="0">
                <a:latin typeface="Times New Roman" panose="02020603050405020304" pitchFamily="18" charset="0"/>
                <a:ea typeface="宋体" panose="02010600030101010101" pitchFamily="2" charset="-122"/>
              </a:rPr>
              <a:t>         这些都为近代化学的产生奠定了基础，许多器具和方法经过改造后仍然在今天的化学实验室中沿用。</a:t>
            </a:r>
          </a:p>
          <a:p>
            <a:pPr>
              <a:lnSpc>
                <a:spcPct val="130000"/>
              </a:lnSpc>
            </a:pPr>
            <a:r>
              <a:rPr lang="zh-CN" altLang="en-US" sz="2400" b="1" dirty="0">
                <a:latin typeface="Times New Roman" panose="02020603050405020304" pitchFamily="18" charset="0"/>
                <a:ea typeface="宋体" panose="02010600030101010101" pitchFamily="2" charset="-122"/>
              </a:rPr>
              <a:t>         公元</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世纪，阿拉伯各国中炼金术甚至就是化学的代名词。</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diamond(in)">
                                      <p:cBhvr>
                                        <p:cTn id="7" dur="2000"/>
                                        <p:tgtEl>
                                          <p:spTgt spid="102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0242">
                                            <p:txEl>
                                              <p:pRg st="1" end="1"/>
                                            </p:txEl>
                                          </p:spTgt>
                                        </p:tgtEl>
                                        <p:attrNameLst>
                                          <p:attrName>style.visibility</p:attrName>
                                        </p:attrNameLst>
                                      </p:cBhvr>
                                      <p:to>
                                        <p:strVal val="visible"/>
                                      </p:to>
                                    </p:set>
                                    <p:animEffect transition="in" filter="diamond(in)">
                                      <p:cBhvr>
                                        <p:cTn id="12" dur="2000"/>
                                        <p:tgtEl>
                                          <p:spTgt spid="102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10242">
                                            <p:txEl>
                                              <p:pRg st="2" end="2"/>
                                            </p:txEl>
                                          </p:spTgt>
                                        </p:tgtEl>
                                        <p:attrNameLst>
                                          <p:attrName>style.visibility</p:attrName>
                                        </p:attrNameLst>
                                      </p:cBhvr>
                                      <p:to>
                                        <p:strVal val="visible"/>
                                      </p:to>
                                    </p:set>
                                    <p:animEffect transition="in" filter="diamond(in)">
                                      <p:cBhvr>
                                        <p:cTn id="17" dur="2000"/>
                                        <p:tgtEl>
                                          <p:spTgt spid="1024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0242">
                                            <p:txEl>
                                              <p:pRg st="3" end="3"/>
                                            </p:txEl>
                                          </p:spTgt>
                                        </p:tgtEl>
                                        <p:attrNameLst>
                                          <p:attrName>style.visibility</p:attrName>
                                        </p:attrNameLst>
                                      </p:cBhvr>
                                      <p:to>
                                        <p:strVal val="visible"/>
                                      </p:to>
                                    </p:set>
                                    <p:animEffect transition="in" filter="diamond(in)">
                                      <p:cBhvr>
                                        <p:cTn id="22" dur="2000"/>
                                        <p:tgtEl>
                                          <p:spTgt spid="1024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p:nvPr/>
        </p:nvSpPr>
        <p:spPr>
          <a:xfrm>
            <a:off x="358775" y="36513"/>
            <a:ext cx="8389938" cy="4013200"/>
          </a:xfrm>
          <a:prstGeom prst="rect">
            <a:avLst/>
          </a:prstGeom>
          <a:noFill/>
          <a:ln w="9525">
            <a:noFill/>
          </a:ln>
        </p:spPr>
        <p:txBody>
          <a:bodyPr anchor="ctr" anchorCtr="0">
            <a:spAutoFit/>
          </a:bodyPr>
          <a:lstStyle/>
          <a:p>
            <a:pPr>
              <a:lnSpc>
                <a:spcPct val="130000"/>
              </a:lnSpc>
            </a:pPr>
            <a:r>
              <a:rPr lang="zh-CN" altLang="en-US" sz="2400" b="1" dirty="0">
                <a:latin typeface="Arial" panose="020B0604020202020204" pitchFamily="34"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15</a:t>
            </a:r>
            <a:r>
              <a:rPr lang="zh-CN" altLang="en-US" sz="2400" b="1" dirty="0">
                <a:latin typeface="Times New Roman" panose="02020603050405020304" pitchFamily="18" charset="0"/>
                <a:ea typeface="宋体" panose="02010600030101010101" pitchFamily="2" charset="-122"/>
              </a:rPr>
              <a:t>世纪，随着欧洲工业革命的胜利，生产力得到了飞速的发展，英国科学家</a:t>
            </a:r>
            <a:r>
              <a:rPr lang="zh-CN" altLang="en-US" sz="2800" b="1" dirty="0">
                <a:solidFill>
                  <a:srgbClr val="FF3300"/>
                </a:solidFill>
                <a:latin typeface="Times New Roman" panose="02020603050405020304" pitchFamily="18" charset="0"/>
                <a:ea typeface="宋体" panose="02010600030101010101" pitchFamily="2" charset="-122"/>
                <a:hlinkClick r:id="rId2" action="ppaction://hlinkfile"/>
              </a:rPr>
              <a:t>波义耳</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1627-1691</a:t>
            </a:r>
            <a:r>
              <a:rPr lang="zh-CN" altLang="en-US" sz="2400" b="1" dirty="0">
                <a:latin typeface="Times New Roman" panose="02020603050405020304" pitchFamily="18" charset="0"/>
                <a:ea typeface="宋体" panose="02010600030101010101" pitchFamily="2" charset="-122"/>
              </a:rPr>
              <a:t>）用机械论方法研究化学，提出各种物质的微粒都是由基本粒子构成的，通过基本粒子的重新排列组合，可以生成新的物质。</a:t>
            </a:r>
          </a:p>
          <a:p>
            <a:pPr>
              <a:lnSpc>
                <a:spcPct val="130000"/>
              </a:lnSpc>
            </a:pPr>
            <a:r>
              <a:rPr lang="zh-CN" altLang="en-US" sz="2400" b="1" dirty="0">
                <a:latin typeface="Times New Roman" panose="02020603050405020304" pitchFamily="18" charset="0"/>
                <a:ea typeface="宋体" panose="02010600030101010101" pitchFamily="2" charset="-122"/>
              </a:rPr>
              <a:t>      全盘接受波义耳化学思想的只有</a:t>
            </a:r>
            <a:r>
              <a:rPr lang="zh-CN" altLang="en-US" sz="2400" b="1" dirty="0">
                <a:solidFill>
                  <a:srgbClr val="FF3300"/>
                </a:solidFill>
                <a:latin typeface="Times New Roman" panose="02020603050405020304" pitchFamily="18" charset="0"/>
                <a:ea typeface="宋体" panose="02010600030101010101" pitchFamily="2" charset="-122"/>
              </a:rPr>
              <a:t>牛顿</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1642-1727</a:t>
            </a:r>
            <a:r>
              <a:rPr lang="zh-CN" altLang="en-US" sz="2400" b="1" dirty="0">
                <a:latin typeface="Times New Roman" panose="02020603050405020304" pitchFamily="18" charset="0"/>
                <a:ea typeface="宋体" panose="02010600030101010101" pitchFamily="2" charset="-122"/>
              </a:rPr>
              <a:t>）。波义耳还对燃烧现象的本质进行了探讨，认为火是由一种实实在在的、具有质量的火微粒所构成。</a:t>
            </a:r>
          </a:p>
          <a:p>
            <a:pPr>
              <a:lnSpc>
                <a:spcPct val="130000"/>
              </a:lnSpc>
            </a:pPr>
            <a:r>
              <a:rPr lang="zh-CN" altLang="en-US" sz="2400" b="1" dirty="0">
                <a:latin typeface="Times New Roman" panose="02020603050405020304" pitchFamily="18" charset="0"/>
                <a:ea typeface="宋体" panose="02010600030101010101" pitchFamily="2" charset="-122"/>
              </a:rPr>
              <a:t>        恩格斯曾指出“</a:t>
            </a:r>
            <a:r>
              <a:rPr lang="zh-CN" altLang="en-US" sz="2400" b="1" dirty="0">
                <a:solidFill>
                  <a:srgbClr val="6600CC"/>
                </a:solidFill>
                <a:latin typeface="Times New Roman" panose="02020603050405020304" pitchFamily="18" charset="0"/>
                <a:ea typeface="宋体" panose="02010600030101010101" pitchFamily="2" charset="-122"/>
              </a:rPr>
              <a:t>波义耳把化学确立为科学</a:t>
            </a:r>
            <a:r>
              <a:rPr lang="zh-CN" altLang="en-US" sz="2400" b="1" dirty="0">
                <a:latin typeface="Times New Roman" panose="02020603050405020304" pitchFamily="18" charset="0"/>
                <a:ea typeface="宋体" panose="02010600030101010101" pitchFamily="2" charset="-122"/>
              </a:rPr>
              <a:t>”。</a:t>
            </a:r>
          </a:p>
        </p:txBody>
      </p:sp>
      <p:pic>
        <p:nvPicPr>
          <p:cNvPr id="25603" name="Picture 3" descr="U4007P2T1D4272376F13DT20100604113142"/>
          <p:cNvPicPr>
            <a:picLocks noChangeAspect="1"/>
          </p:cNvPicPr>
          <p:nvPr/>
        </p:nvPicPr>
        <p:blipFill>
          <a:blip r:embed="rId3"/>
          <a:srcRect r="1913" b="18741"/>
          <a:stretch>
            <a:fillRect/>
          </a:stretch>
        </p:blipFill>
        <p:spPr>
          <a:xfrm>
            <a:off x="7092950" y="2954338"/>
            <a:ext cx="1944688" cy="2189162"/>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Effect transition="in" filter="box(in)">
                                      <p:cBhvr>
                                        <p:cTn id="7" dur="500"/>
                                        <p:tgtEl>
                                          <p:spTgt spid="112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66">
                                            <p:txEl>
                                              <p:pRg st="1" end="1"/>
                                            </p:txEl>
                                          </p:spTgt>
                                        </p:tgtEl>
                                        <p:attrNameLst>
                                          <p:attrName>style.visibility</p:attrName>
                                        </p:attrNameLst>
                                      </p:cBhvr>
                                      <p:to>
                                        <p:strVal val="visible"/>
                                      </p:to>
                                    </p:set>
                                    <p:animEffect transition="in" filter="box(in)">
                                      <p:cBhvr>
                                        <p:cTn id="12" dur="500"/>
                                        <p:tgtEl>
                                          <p:spTgt spid="1126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1266">
                                            <p:txEl>
                                              <p:pRg st="2" end="2"/>
                                            </p:txEl>
                                          </p:spTgt>
                                        </p:tgtEl>
                                        <p:attrNameLst>
                                          <p:attrName>style.visibility</p:attrName>
                                        </p:attrNameLst>
                                      </p:cBhvr>
                                      <p:to>
                                        <p:strVal val="visible"/>
                                      </p:to>
                                    </p:set>
                                    <p:animEffect transition="in" filter="box(in)">
                                      <p:cBhvr>
                                        <p:cTn id="17" dur="500"/>
                                        <p:tgtEl>
                                          <p:spTgt spid="112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idx="1"/>
          </p:nvPr>
        </p:nvSpPr>
        <p:spPr>
          <a:xfrm>
            <a:off x="71438" y="157163"/>
            <a:ext cx="9144000" cy="2895600"/>
          </a:xfrm>
          <a:noFill/>
          <a:ln>
            <a:noFill/>
          </a:ln>
        </p:spPr>
        <p:txBody>
          <a:bodyPr/>
          <a:lstStyle/>
          <a:p>
            <a:pPr eaLnBrk="1" hangingPunct="1">
              <a:lnSpc>
                <a:spcPct val="130000"/>
              </a:lnSpc>
              <a:spcBef>
                <a:spcPct val="0"/>
              </a:spcBef>
            </a:pPr>
            <a:r>
              <a:rPr lang="zh-CN" altLang="en-US" sz="1800" b="1" dirty="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1703</a:t>
            </a:r>
            <a:r>
              <a:rPr lang="zh-CN" altLang="en-US" sz="2400" b="1" dirty="0">
                <a:latin typeface="Times New Roman" panose="02020603050405020304" pitchFamily="18" charset="0"/>
                <a:ea typeface="宋体" panose="02010600030101010101" pitchFamily="2" charset="-122"/>
              </a:rPr>
              <a:t>年，德国哈雷大学的教授</a:t>
            </a:r>
            <a:r>
              <a:rPr lang="zh-CN" altLang="en-US" sz="2400" b="1" dirty="0">
                <a:solidFill>
                  <a:srgbClr val="FF3300"/>
                </a:solidFill>
                <a:latin typeface="Times New Roman" panose="02020603050405020304" pitchFamily="18" charset="0"/>
                <a:ea typeface="宋体" panose="02010600030101010101" pitchFamily="2" charset="-122"/>
              </a:rPr>
              <a:t>施塔尔</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1660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1734</a:t>
            </a:r>
            <a:r>
              <a:rPr lang="zh-CN" altLang="en-US" sz="2400" b="1" dirty="0">
                <a:latin typeface="Times New Roman" panose="02020603050405020304" pitchFamily="18" charset="0"/>
                <a:ea typeface="宋体" panose="02010600030101010101" pitchFamily="2" charset="-122"/>
              </a:rPr>
              <a:t>），提出了一个解释燃烧现象甚至整个化学的完整、系统的学说。他认为物质燃烧是因为其含有“</a:t>
            </a:r>
            <a:r>
              <a:rPr lang="zh-CN" altLang="en-US" sz="2400" b="1" dirty="0">
                <a:solidFill>
                  <a:srgbClr val="6600CC"/>
                </a:solidFill>
                <a:latin typeface="Times New Roman" panose="02020603050405020304" pitchFamily="18" charset="0"/>
                <a:ea typeface="宋体" panose="02010600030101010101" pitchFamily="2" charset="-122"/>
              </a:rPr>
              <a:t>燃素</a:t>
            </a:r>
            <a:r>
              <a:rPr lang="zh-CN" altLang="en-US" sz="2400" b="1" dirty="0">
                <a:latin typeface="Times New Roman" panose="02020603050405020304" pitchFamily="18" charset="0"/>
                <a:ea typeface="宋体" panose="02010600030101010101" pitchFamily="2" charset="-122"/>
              </a:rPr>
              <a:t>”，例如：石头、黄金不含燃素，所以不可能燃烧。</a:t>
            </a:r>
          </a:p>
          <a:p>
            <a:pPr eaLnBrk="1" hangingPunct="1">
              <a:lnSpc>
                <a:spcPct val="130000"/>
              </a:lnSpc>
              <a:spcBef>
                <a:spcPct val="0"/>
              </a:spcBef>
            </a:pPr>
            <a:r>
              <a:rPr lang="zh-CN" altLang="en-US" sz="2400" b="1" dirty="0">
                <a:latin typeface="Times New Roman" panose="02020603050405020304" pitchFamily="18" charset="0"/>
                <a:ea typeface="宋体" panose="02010600030101010101" pitchFamily="2" charset="-122"/>
              </a:rPr>
              <a:t>       按照他的学说，一切化学变化，乃至物质的化学性质、颜色、气味的改变都可以归结为物体</a:t>
            </a:r>
            <a:r>
              <a:rPr lang="zh-CN" altLang="en-US" sz="2400" b="1" dirty="0">
                <a:solidFill>
                  <a:srgbClr val="6600CC"/>
                </a:solidFill>
                <a:latin typeface="Times New Roman" panose="02020603050405020304" pitchFamily="18" charset="0"/>
                <a:ea typeface="宋体" panose="02010600030101010101" pitchFamily="2" charset="-122"/>
              </a:rPr>
              <a:t>释放燃素</a:t>
            </a:r>
            <a:r>
              <a:rPr lang="zh-CN" altLang="en-US" sz="2400" b="1" dirty="0">
                <a:latin typeface="Times New Roman" panose="02020603050405020304" pitchFamily="18" charset="0"/>
                <a:ea typeface="宋体" panose="02010600030101010101" pitchFamily="2" charset="-122"/>
              </a:rPr>
              <a:t>或</a:t>
            </a:r>
            <a:r>
              <a:rPr lang="zh-CN" altLang="en-US" sz="2400" b="1" dirty="0">
                <a:solidFill>
                  <a:srgbClr val="6600CC"/>
                </a:solidFill>
                <a:latin typeface="Times New Roman" panose="02020603050405020304" pitchFamily="18" charset="0"/>
                <a:ea typeface="宋体" panose="02010600030101010101" pitchFamily="2" charset="-122"/>
              </a:rPr>
              <a:t>吸收燃素</a:t>
            </a:r>
            <a:r>
              <a:rPr lang="zh-CN" altLang="en-US" sz="2400" b="1" dirty="0">
                <a:latin typeface="Times New Roman" panose="02020603050405020304" pitchFamily="18" charset="0"/>
                <a:ea typeface="宋体" panose="02010600030101010101" pitchFamily="2" charset="-122"/>
              </a:rPr>
              <a:t>的过程。</a:t>
            </a:r>
          </a:p>
        </p:txBody>
      </p:sp>
      <p:pic>
        <p:nvPicPr>
          <p:cNvPr id="26627" name="Picture 3" descr="01000000000000119081638304841_s"/>
          <p:cNvPicPr>
            <a:picLocks noChangeAspect="1"/>
          </p:cNvPicPr>
          <p:nvPr/>
        </p:nvPicPr>
        <p:blipFill>
          <a:blip r:embed="rId2"/>
          <a:stretch>
            <a:fillRect/>
          </a:stretch>
        </p:blipFill>
        <p:spPr>
          <a:xfrm>
            <a:off x="3276600" y="3052763"/>
            <a:ext cx="2190750" cy="2106612"/>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wedge">
                                      <p:cBhvr>
                                        <p:cTn id="7" dur="2000"/>
                                        <p:tgtEl>
                                          <p:spTgt spid="12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2290">
                                            <p:txEl>
                                              <p:pRg st="1" end="1"/>
                                            </p:txEl>
                                          </p:spTgt>
                                        </p:tgtEl>
                                        <p:attrNameLst>
                                          <p:attrName>style.visibility</p:attrName>
                                        </p:attrNameLst>
                                      </p:cBhvr>
                                      <p:to>
                                        <p:strVal val="visible"/>
                                      </p:to>
                                    </p:set>
                                    <p:animEffect transition="in" filter="wedge">
                                      <p:cBhvr>
                                        <p:cTn id="12" dur="2000"/>
                                        <p:tgtEl>
                                          <p:spTgt spid="122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p:nvPr/>
        </p:nvSpPr>
        <p:spPr>
          <a:xfrm>
            <a:off x="395288" y="573088"/>
            <a:ext cx="8280400" cy="809625"/>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在当时，燃素学说所不能自圆其说是：</a:t>
            </a:r>
          </a:p>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金属煅烧后增重的事实。</a:t>
            </a:r>
          </a:p>
        </p:txBody>
      </p:sp>
      <p:sp>
        <p:nvSpPr>
          <p:cNvPr id="13315" name="Rectangle 3"/>
          <p:cNvSpPr>
            <a:spLocks noGrp="1"/>
          </p:cNvSpPr>
          <p:nvPr>
            <p:ph idx="1"/>
          </p:nvPr>
        </p:nvSpPr>
        <p:spPr>
          <a:xfrm>
            <a:off x="190500" y="1558925"/>
            <a:ext cx="8748713" cy="1890713"/>
          </a:xfrm>
          <a:noFill/>
          <a:ln>
            <a:noFill/>
          </a:ln>
        </p:spPr>
        <p:txBody>
          <a:bodyPr/>
          <a:lstStyle/>
          <a:p>
            <a:pPr eaLnBrk="1" hangingPunct="1">
              <a:lnSpc>
                <a:spcPct val="130000"/>
              </a:lnSpc>
            </a:pPr>
            <a:r>
              <a:rPr lang="zh-CN" altLang="en-US" sz="2400"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在</a:t>
            </a:r>
            <a:r>
              <a:rPr lang="en-US" altLang="zh-CN" sz="2400" b="1" dirty="0">
                <a:latin typeface="Times New Roman" panose="02020603050405020304" pitchFamily="18" charset="0"/>
                <a:ea typeface="宋体" panose="02010600030101010101" pitchFamily="2" charset="-122"/>
              </a:rPr>
              <a:t>18</a:t>
            </a:r>
            <a:r>
              <a:rPr lang="zh-CN" altLang="en-US" sz="2400" b="1" dirty="0">
                <a:latin typeface="Times New Roman" panose="02020603050405020304" pitchFamily="18" charset="0"/>
                <a:ea typeface="宋体" panose="02010600030101010101" pitchFamily="2" charset="-122"/>
              </a:rPr>
              <a:t>世纪中期，尽管燃素说统治了整个化学领域，然而一直有些科学家持怀疑和批判的态度。其中，对燃烧作用做了全面周密的研究，令人信服地抨击了燃素学说的错误，建立起燃烧的</a:t>
            </a:r>
            <a:r>
              <a:rPr lang="zh-CN" altLang="en-US" sz="2400" b="1" dirty="0">
                <a:solidFill>
                  <a:srgbClr val="6600CC"/>
                </a:solidFill>
                <a:latin typeface="Times New Roman" panose="02020603050405020304" pitchFamily="18" charset="0"/>
                <a:ea typeface="宋体" panose="02010600030101010101" pitchFamily="2" charset="-122"/>
              </a:rPr>
              <a:t>氧化学说</a:t>
            </a:r>
            <a:r>
              <a:rPr lang="zh-CN" altLang="en-US" sz="2400" b="1" dirty="0">
                <a:latin typeface="Times New Roman" panose="02020603050405020304" pitchFamily="18" charset="0"/>
                <a:ea typeface="宋体" panose="02010600030101010101" pitchFamily="2" charset="-122"/>
              </a:rPr>
              <a:t>的人则是杰出的法国化学大师</a:t>
            </a:r>
            <a:r>
              <a:rPr lang="zh-CN" altLang="en-US" sz="2400" b="1" dirty="0">
                <a:solidFill>
                  <a:srgbClr val="FF3300"/>
                </a:solidFill>
                <a:latin typeface="Times New Roman" panose="02020603050405020304" pitchFamily="18" charset="0"/>
                <a:ea typeface="宋体" panose="02010600030101010101" pitchFamily="2" charset="-122"/>
              </a:rPr>
              <a:t>拉瓦锡</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Antoine Laurent Lavoisier</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1743</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1794</a:t>
            </a:r>
            <a:r>
              <a:rPr lang="zh-CN" altLang="en-US" sz="2400" b="1" dirty="0">
                <a:latin typeface="Times New Roman" panose="02020603050405020304" pitchFamily="18" charset="0"/>
                <a:ea typeface="宋体" panose="02010600030101010101" pitchFamily="2" charset="-122"/>
              </a:rPr>
              <a:t>）</a:t>
            </a:r>
            <a:r>
              <a:rPr lang="zh-CN" altLang="en-US" sz="2400" b="1" dirty="0">
                <a:ea typeface="宋体" panose="02010600030101010101" pitchFamily="2" charset="-122"/>
              </a:rPr>
              <a:t>。</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wedge">
                                      <p:cBhvr>
                                        <p:cTn id="7" dur="2000"/>
                                        <p:tgtEl>
                                          <p:spTgt spid="133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3314">
                                            <p:txEl>
                                              <p:pRg st="1" end="1"/>
                                            </p:txEl>
                                          </p:spTgt>
                                        </p:tgtEl>
                                        <p:attrNameLst>
                                          <p:attrName>style.visibility</p:attrName>
                                        </p:attrNameLst>
                                      </p:cBhvr>
                                      <p:to>
                                        <p:strVal val="visible"/>
                                      </p:to>
                                    </p:set>
                                    <p:animEffect transition="in" filter="wedge">
                                      <p:cBhvr>
                                        <p:cTn id="12" dur="2000"/>
                                        <p:tgtEl>
                                          <p:spTgt spid="133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3315">
                                            <p:txEl>
                                              <p:pRg st="0" end="0"/>
                                            </p:txEl>
                                          </p:spTgt>
                                        </p:tgtEl>
                                        <p:attrNameLst>
                                          <p:attrName>style.visibility</p:attrName>
                                        </p:attrNameLst>
                                      </p:cBhvr>
                                      <p:to>
                                        <p:strVal val="visible"/>
                                      </p:to>
                                    </p:set>
                                    <p:animEffect transition="in" filter="wedge">
                                      <p:cBhvr>
                                        <p:cTn id="17" dur="2000"/>
                                        <p:tgtEl>
                                          <p:spTgt spid="133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uild="p"/>
      <p:bldP spid="1331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p:nvPr/>
        </p:nvSpPr>
        <p:spPr>
          <a:xfrm>
            <a:off x="271463" y="411163"/>
            <a:ext cx="8748712" cy="1727200"/>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Arial" panose="020B0604020202020204" pitchFamily="34" charset="0"/>
                <a:ea typeface="宋体" panose="02010600030101010101" pitchFamily="2" charset="-122"/>
              </a:rPr>
              <a:t>       </a:t>
            </a:r>
            <a:r>
              <a:rPr lang="zh-CN" altLang="en-US" sz="2800" b="1" dirty="0">
                <a:solidFill>
                  <a:srgbClr val="FF3300"/>
                </a:solidFill>
                <a:latin typeface="Times New Roman" panose="02020603050405020304" pitchFamily="18" charset="0"/>
                <a:ea typeface="宋体" panose="02010600030101010101" pitchFamily="2" charset="-122"/>
              </a:rPr>
              <a:t>拉瓦锡</a:t>
            </a:r>
            <a:r>
              <a:rPr lang="zh-CN" altLang="en-US" sz="2400" b="1" dirty="0">
                <a:latin typeface="Times New Roman" panose="02020603050405020304" pitchFamily="18" charset="0"/>
                <a:ea typeface="宋体" panose="02010600030101010101" pitchFamily="2" charset="-122"/>
              </a:rPr>
              <a:t>工作的突出特点是注重定量研究，善于发挥天平在化学研究中的作用。</a:t>
            </a:r>
          </a:p>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拉瓦锡在他的实验和论述中，自觉地遵循质量守恒定律，并且又以严格的实验证明了这一定律的含义，被后人又称为“定量化学之父”。</a:t>
            </a:r>
          </a:p>
        </p:txBody>
      </p:sp>
      <p:pic>
        <p:nvPicPr>
          <p:cNvPr id="28675" name="Picture 3" descr="lawaxi"/>
          <p:cNvPicPr>
            <a:picLocks noChangeAspect="1"/>
          </p:cNvPicPr>
          <p:nvPr/>
        </p:nvPicPr>
        <p:blipFill>
          <a:blip r:embed="rId2"/>
          <a:stretch>
            <a:fillRect/>
          </a:stretch>
        </p:blipFill>
        <p:spPr>
          <a:xfrm>
            <a:off x="3586163" y="2708275"/>
            <a:ext cx="2117725" cy="220662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transition="in" filter="wedge">
                                      <p:cBhvr>
                                        <p:cTn id="7" dur="2000"/>
                                        <p:tgtEl>
                                          <p:spTgt spid="14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4338">
                                            <p:txEl>
                                              <p:pRg st="1" end="1"/>
                                            </p:txEl>
                                          </p:spTgt>
                                        </p:tgtEl>
                                        <p:attrNameLst>
                                          <p:attrName>style.visibility</p:attrName>
                                        </p:attrNameLst>
                                      </p:cBhvr>
                                      <p:to>
                                        <p:strVal val="visible"/>
                                      </p:to>
                                    </p:set>
                                    <p:animEffect transition="in" filter="wedge">
                                      <p:cBhvr>
                                        <p:cTn id="12" dur="2000"/>
                                        <p:tgtEl>
                                          <p:spTgt spid="143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idx="1"/>
          </p:nvPr>
        </p:nvSpPr>
        <p:spPr>
          <a:xfrm>
            <a:off x="358775" y="268288"/>
            <a:ext cx="8677275" cy="3024187"/>
          </a:xfrm>
          <a:noFill/>
          <a:ln>
            <a:noFill/>
          </a:ln>
        </p:spPr>
        <p:txBody>
          <a:bodyPr/>
          <a:lstStyle/>
          <a:p>
            <a:pPr eaLnBrk="1" hangingPunct="1">
              <a:lnSpc>
                <a:spcPct val="130000"/>
              </a:lnSpc>
            </a:pPr>
            <a:r>
              <a:rPr lang="zh-CN" altLang="en-US" sz="2400" b="1" dirty="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拉瓦锡制取了所谓的“纯粹空气”</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氧气，发现这种气体不仅有助于燃烧，而且有助于呼吸。拉瓦锡的燃烧理论走向完善的关键一步是他通过实验辨明了</a:t>
            </a:r>
            <a:r>
              <a:rPr lang="zh-CN" altLang="en-US" sz="2400" b="1" dirty="0">
                <a:solidFill>
                  <a:srgbClr val="6600CC"/>
                </a:solidFill>
                <a:latin typeface="Times New Roman" panose="02020603050405020304" pitchFamily="18" charset="0"/>
                <a:ea typeface="宋体" panose="02010600030101010101" pitchFamily="2" charset="-122"/>
              </a:rPr>
              <a:t>水的组成</a:t>
            </a:r>
            <a:r>
              <a:rPr lang="zh-CN" altLang="en-US" sz="2400" b="1" dirty="0">
                <a:latin typeface="Times New Roman" panose="02020603050405020304" pitchFamily="18" charset="0"/>
                <a:ea typeface="宋体" panose="02010600030101010101" pitchFamily="2" charset="-122"/>
              </a:rPr>
              <a:t>，结束了自古以来普遍认为水是元素的错误见解。</a:t>
            </a:r>
          </a:p>
          <a:p>
            <a:pPr eaLnBrk="1" hangingPunct="1">
              <a:lnSpc>
                <a:spcPct val="130000"/>
              </a:lnSpc>
            </a:pPr>
            <a:r>
              <a:rPr lang="zh-CN" altLang="en-US" sz="2400" b="1" dirty="0">
                <a:latin typeface="Times New Roman" panose="02020603050405020304" pitchFamily="18" charset="0"/>
                <a:ea typeface="宋体" panose="02010600030101010101" pitchFamily="2" charset="-122"/>
              </a:rPr>
              <a:t>         至此，统治了人们</a:t>
            </a:r>
            <a:r>
              <a:rPr lang="en-US" altLang="zh-CN" sz="2400" b="1" dirty="0">
                <a:latin typeface="Times New Roman" panose="02020603050405020304" pitchFamily="18" charset="0"/>
                <a:ea typeface="宋体" panose="02010600030101010101" pitchFamily="2" charset="-122"/>
              </a:rPr>
              <a:t>100</a:t>
            </a:r>
            <a:r>
              <a:rPr lang="zh-CN" altLang="en-US" sz="2400" b="1" dirty="0">
                <a:latin typeface="Times New Roman" panose="02020603050405020304" pitchFamily="18" charset="0"/>
                <a:ea typeface="宋体" panose="02010600030101010101" pitchFamily="2" charset="-122"/>
              </a:rPr>
              <a:t>多年的燃素学说被彻底摧毁了，取而代之的是以</a:t>
            </a:r>
            <a:r>
              <a:rPr lang="zh-CN" altLang="en-US" sz="2400" b="1" dirty="0">
                <a:solidFill>
                  <a:srgbClr val="6600CC"/>
                </a:solidFill>
                <a:latin typeface="Times New Roman" panose="02020603050405020304" pitchFamily="18" charset="0"/>
                <a:ea typeface="宋体" panose="02010600030101010101" pitchFamily="2" charset="-122"/>
              </a:rPr>
              <a:t>氧</a:t>
            </a:r>
            <a:r>
              <a:rPr lang="zh-CN" altLang="en-US" sz="2400" b="1" dirty="0">
                <a:latin typeface="Times New Roman" panose="02020603050405020304" pitchFamily="18" charset="0"/>
                <a:ea typeface="宋体" panose="02010600030101010101" pitchFamily="2" charset="-122"/>
              </a:rPr>
              <a:t>为核心的燃烧学说。拉瓦锡是近代化学元素学说的奠定者，从此，化学学科进入了一个蓬勃发展的新纪元。</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wedge">
                                      <p:cBhvr>
                                        <p:cTn id="7" dur="2000"/>
                                        <p:tgtEl>
                                          <p:spTgt spid="153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5362">
                                            <p:txEl>
                                              <p:pRg st="1" end="1"/>
                                            </p:txEl>
                                          </p:spTgt>
                                        </p:tgtEl>
                                        <p:attrNameLst>
                                          <p:attrName>style.visibility</p:attrName>
                                        </p:attrNameLst>
                                      </p:cBhvr>
                                      <p:to>
                                        <p:strVal val="visible"/>
                                      </p:to>
                                    </p:set>
                                    <p:animEffect transition="in" filter="wedge">
                                      <p:cBhvr>
                                        <p:cTn id="12" dur="2000"/>
                                        <p:tgtEl>
                                          <p:spTgt spid="153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idx="1"/>
          </p:nvPr>
        </p:nvSpPr>
        <p:spPr>
          <a:xfrm>
            <a:off x="0" y="195263"/>
            <a:ext cx="9144000" cy="1998662"/>
          </a:xfrm>
          <a:noFill/>
          <a:ln>
            <a:noFill/>
          </a:ln>
        </p:spPr>
        <p:txBody>
          <a:bodyPr/>
          <a:lstStyle/>
          <a:p>
            <a:pPr eaLnBrk="1" hangingPunct="1">
              <a:lnSpc>
                <a:spcPct val="130000"/>
              </a:lnSpc>
            </a:pPr>
            <a:r>
              <a:rPr lang="zh-CN" altLang="en-US" sz="1600" b="1" dirty="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19</a:t>
            </a:r>
            <a:r>
              <a:rPr lang="zh-CN" altLang="en-US" sz="2400" b="1" dirty="0">
                <a:latin typeface="Times New Roman" panose="02020603050405020304" pitchFamily="18" charset="0"/>
                <a:ea typeface="宋体" panose="02010600030101010101" pitchFamily="2" charset="-122"/>
              </a:rPr>
              <a:t>世纪的化学出现了非常繁荣的局面。首先，</a:t>
            </a:r>
            <a:r>
              <a:rPr lang="en-US" altLang="zh-CN" sz="2400" b="1" dirty="0">
                <a:latin typeface="Times New Roman" panose="02020603050405020304" pitchFamily="18" charset="0"/>
                <a:ea typeface="宋体" panose="02010600030101010101" pitchFamily="2" charset="-122"/>
              </a:rPr>
              <a:t>1803</a:t>
            </a:r>
            <a:r>
              <a:rPr lang="zh-CN" altLang="en-US" sz="2400" b="1" dirty="0">
                <a:latin typeface="Times New Roman" panose="02020603050405020304" pitchFamily="18" charset="0"/>
                <a:ea typeface="宋体" panose="02010600030101010101" pitchFamily="2" charset="-122"/>
              </a:rPr>
              <a:t>年，</a:t>
            </a:r>
            <a:endParaRPr lang="en-US" altLang="zh-CN" sz="2400" b="1" dirty="0">
              <a:latin typeface="Times New Roman" panose="02020603050405020304" pitchFamily="18" charset="0"/>
              <a:ea typeface="宋体" panose="02010600030101010101" pitchFamily="2" charset="-122"/>
            </a:endParaRPr>
          </a:p>
          <a:p>
            <a:pPr eaLnBrk="1" hangingPunct="1">
              <a:lnSpc>
                <a:spcPct val="130000"/>
              </a:lnSpc>
              <a:buNone/>
            </a:pPr>
            <a:r>
              <a:rPr lang="en-US" altLang="zh-CN" sz="2400" b="1" dirty="0">
                <a:solidFill>
                  <a:srgbClr val="FF3300"/>
                </a:solidFill>
                <a:latin typeface="Times New Roman" panose="02020603050405020304" pitchFamily="18" charset="0"/>
                <a:ea typeface="宋体" panose="02010600030101010101" pitchFamily="2" charset="-122"/>
              </a:rPr>
              <a:t>   </a:t>
            </a:r>
            <a:r>
              <a:rPr lang="zh-CN" altLang="en-US" sz="2800" b="1" dirty="0">
                <a:solidFill>
                  <a:srgbClr val="FF3300"/>
                </a:solidFill>
                <a:latin typeface="Times New Roman" panose="02020603050405020304" pitchFamily="18" charset="0"/>
                <a:ea typeface="宋体" panose="02010600030101010101" pitchFamily="2" charset="-122"/>
              </a:rPr>
              <a:t>道尔顿</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1766</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1844</a:t>
            </a:r>
            <a:r>
              <a:rPr lang="zh-CN" altLang="en-US" sz="2400" b="1" dirty="0">
                <a:latin typeface="Times New Roman" panose="02020603050405020304" pitchFamily="18" charset="0"/>
                <a:ea typeface="宋体" panose="02010600030101010101" pitchFamily="2" charset="-122"/>
              </a:rPr>
              <a:t>）提出了</a:t>
            </a:r>
            <a:r>
              <a:rPr lang="zh-CN" altLang="en-US" sz="2400" b="1" dirty="0">
                <a:solidFill>
                  <a:srgbClr val="6600CC"/>
                </a:solidFill>
                <a:latin typeface="Times New Roman" panose="02020603050405020304" pitchFamily="18" charset="0"/>
                <a:ea typeface="宋体" panose="02010600030101010101" pitchFamily="2" charset="-122"/>
              </a:rPr>
              <a:t>原子学说</a:t>
            </a:r>
            <a:r>
              <a:rPr lang="zh-CN" altLang="en-US" sz="2400" b="1" dirty="0">
                <a:latin typeface="Times New Roman" panose="02020603050405020304" pitchFamily="18" charset="0"/>
                <a:ea typeface="宋体" panose="02010600030101010101" pitchFamily="2" charset="-122"/>
              </a:rPr>
              <a:t>。</a:t>
            </a:r>
          </a:p>
          <a:p>
            <a:pPr eaLnBrk="1" hangingPunct="1">
              <a:lnSpc>
                <a:spcPct val="130000"/>
              </a:lnSpc>
            </a:pPr>
            <a:r>
              <a:rPr lang="zh-CN" altLang="en-US" sz="2400" b="1" dirty="0">
                <a:latin typeface="Times New Roman" panose="02020603050405020304" pitchFamily="18" charset="0"/>
                <a:ea typeface="宋体" panose="02010600030101010101" pitchFamily="2" charset="-122"/>
              </a:rPr>
              <a:t>         道尔顿原子学说在化学的发展历史上具有划时代的意义，它从根本上阐明了质量不灭定律的内在含义，把元素学说与原子学说有机地统一起来。</a:t>
            </a:r>
            <a:endParaRPr lang="zh-CN" altLang="en-US" sz="2400" b="1" dirty="0">
              <a:ea typeface="宋体" panose="02010600030101010101" pitchFamily="2" charset="-122"/>
            </a:endParaRPr>
          </a:p>
        </p:txBody>
      </p:sp>
      <p:pic>
        <p:nvPicPr>
          <p:cNvPr id="30723" name="Picture 3" descr="20070905183037213"/>
          <p:cNvPicPr>
            <a:picLocks noChangeAspect="1"/>
          </p:cNvPicPr>
          <p:nvPr/>
        </p:nvPicPr>
        <p:blipFill>
          <a:blip r:embed="rId2"/>
          <a:stretch>
            <a:fillRect/>
          </a:stretch>
        </p:blipFill>
        <p:spPr>
          <a:xfrm>
            <a:off x="3995738" y="2751138"/>
            <a:ext cx="2214562" cy="218122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animEffect transition="in" filter="wedge">
                                      <p:cBhvr>
                                        <p:cTn id="7" dur="2000"/>
                                        <p:tgtEl>
                                          <p:spTgt spid="163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6386">
                                            <p:txEl>
                                              <p:pRg st="1" end="1"/>
                                            </p:txEl>
                                          </p:spTgt>
                                        </p:tgtEl>
                                        <p:attrNameLst>
                                          <p:attrName>style.visibility</p:attrName>
                                        </p:attrNameLst>
                                      </p:cBhvr>
                                      <p:to>
                                        <p:strVal val="visible"/>
                                      </p:to>
                                    </p:set>
                                    <p:animEffect transition="in" filter="wedge">
                                      <p:cBhvr>
                                        <p:cTn id="12" dur="2000"/>
                                        <p:tgtEl>
                                          <p:spTgt spid="163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6386">
                                            <p:txEl>
                                              <p:pRg st="2" end="2"/>
                                            </p:txEl>
                                          </p:spTgt>
                                        </p:tgtEl>
                                        <p:attrNameLst>
                                          <p:attrName>style.visibility</p:attrName>
                                        </p:attrNameLst>
                                      </p:cBhvr>
                                      <p:to>
                                        <p:strVal val="visible"/>
                                      </p:to>
                                    </p:set>
                                    <p:animEffect transition="in" filter="wedge">
                                      <p:cBhvr>
                                        <p:cTn id="17" dur="2000"/>
                                        <p:tgtEl>
                                          <p:spTgt spid="163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p:nvPr/>
        </p:nvSpPr>
        <p:spPr>
          <a:xfrm>
            <a:off x="0" y="87313"/>
            <a:ext cx="9109075" cy="2970212"/>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道尔顿的学说不能解释复杂原子，在解释</a:t>
            </a:r>
            <a:r>
              <a:rPr lang="zh-CN" altLang="en-US" sz="2400" b="1" dirty="0">
                <a:solidFill>
                  <a:srgbClr val="FF3300"/>
                </a:solidFill>
                <a:latin typeface="Times New Roman" panose="02020603050405020304" pitchFamily="18" charset="0"/>
                <a:ea typeface="宋体" panose="02010600030101010101" pitchFamily="2" charset="-122"/>
              </a:rPr>
              <a:t>盖</a:t>
            </a:r>
            <a:r>
              <a:rPr lang="en-US" altLang="zh-CN" sz="2400" b="1" dirty="0">
                <a:solidFill>
                  <a:srgbClr val="FF3300"/>
                </a:solidFill>
                <a:latin typeface="Times New Roman" panose="02020603050405020304" pitchFamily="18" charset="0"/>
                <a:ea typeface="宋体" panose="02010600030101010101" pitchFamily="2" charset="-122"/>
              </a:rPr>
              <a:t>•</a:t>
            </a:r>
            <a:r>
              <a:rPr lang="zh-CN" altLang="en-US" sz="2400" b="1" dirty="0">
                <a:solidFill>
                  <a:srgbClr val="FF3300"/>
                </a:solidFill>
                <a:latin typeface="Times New Roman" panose="02020603050405020304" pitchFamily="18" charset="0"/>
                <a:ea typeface="宋体" panose="02010600030101010101" pitchFamily="2" charset="-122"/>
              </a:rPr>
              <a:t>吕萨克</a:t>
            </a:r>
            <a:r>
              <a:rPr lang="zh-CN" altLang="en-US" sz="2400" b="1" dirty="0">
                <a:latin typeface="Times New Roman" panose="02020603050405020304" pitchFamily="18" charset="0"/>
                <a:ea typeface="宋体" panose="02010600030101010101" pitchFamily="2" charset="-122"/>
              </a:rPr>
              <a:t>的气体反应体积定律时遇到了困难。</a:t>
            </a:r>
          </a:p>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这两者之间的矛盾引起了意大利物理学家</a:t>
            </a:r>
            <a:r>
              <a:rPr lang="zh-CN" altLang="en-US" sz="2400" b="1" dirty="0">
                <a:solidFill>
                  <a:srgbClr val="FF3300"/>
                </a:solidFill>
                <a:latin typeface="Times New Roman" panose="02020603050405020304" pitchFamily="18" charset="0"/>
                <a:ea typeface="宋体" panose="02010600030101010101" pitchFamily="2" charset="-122"/>
              </a:rPr>
              <a:t>阿伏伽德罗</a:t>
            </a:r>
            <a:r>
              <a:rPr lang="zh-CN" altLang="en-US" sz="2400" b="1" dirty="0">
                <a:latin typeface="Times New Roman" panose="02020603050405020304" pitchFamily="18" charset="0"/>
                <a:ea typeface="宋体" panose="02010600030101010101" pitchFamily="2" charset="-122"/>
              </a:rPr>
              <a:t>的深思。于是，他提出一个新的观点</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分子。对化合物而言，分子就是道尔顿所谓的“复杂原子”，对单质而言，是由几个相同的原子结合而成。这样，对盖</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吕萨克的气体反应体积定律就有了合理的解释。</a:t>
            </a:r>
            <a:r>
              <a:rPr lang="zh-CN" altLang="en-US" sz="2400" b="1" dirty="0">
                <a:latin typeface="Arial" panose="020B0604020202020204" pitchFamily="34" charset="0"/>
                <a:ea typeface="宋体" panose="02010600030101010101" pitchFamily="2" charset="-122"/>
              </a:rPr>
              <a:t>从此化学进入了现代化学时期。</a:t>
            </a:r>
          </a:p>
        </p:txBody>
      </p:sp>
      <p:pic>
        <p:nvPicPr>
          <p:cNvPr id="31747" name="Picture 4"/>
          <p:cNvPicPr>
            <a:picLocks noChangeAspect="1"/>
          </p:cNvPicPr>
          <p:nvPr/>
        </p:nvPicPr>
        <p:blipFill>
          <a:blip r:embed="rId2"/>
          <a:stretch>
            <a:fillRect/>
          </a:stretch>
        </p:blipFill>
        <p:spPr>
          <a:xfrm>
            <a:off x="6084888" y="3184525"/>
            <a:ext cx="1908175" cy="1771650"/>
          </a:xfrm>
          <a:prstGeom prst="rect">
            <a:avLst/>
          </a:prstGeom>
          <a:noFill/>
          <a:ln w="9525">
            <a:noFill/>
          </a:ln>
        </p:spPr>
      </p:pic>
      <p:pic>
        <p:nvPicPr>
          <p:cNvPr id="31748" name="Picture 5"/>
          <p:cNvPicPr>
            <a:picLocks noChangeAspect="1"/>
          </p:cNvPicPr>
          <p:nvPr/>
        </p:nvPicPr>
        <p:blipFill>
          <a:blip r:embed="rId3"/>
          <a:stretch>
            <a:fillRect/>
          </a:stretch>
        </p:blipFill>
        <p:spPr>
          <a:xfrm>
            <a:off x="2087563" y="3640138"/>
            <a:ext cx="2628900" cy="1316037"/>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wedge">
                                      <p:cBhvr>
                                        <p:cTn id="7" dur="2000"/>
                                        <p:tgtEl>
                                          <p:spTgt spid="17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7410">
                                            <p:txEl>
                                              <p:pRg st="1" end="1"/>
                                            </p:txEl>
                                          </p:spTgt>
                                        </p:tgtEl>
                                        <p:attrNameLst>
                                          <p:attrName>style.visibility</p:attrName>
                                        </p:attrNameLst>
                                      </p:cBhvr>
                                      <p:to>
                                        <p:strVal val="visible"/>
                                      </p:to>
                                    </p:set>
                                    <p:animEffect transition="in" filter="wedge">
                                      <p:cBhvr>
                                        <p:cTn id="12" dur="2000"/>
                                        <p:tgtEl>
                                          <p:spTgt spid="174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p:nvPr/>
        </p:nvSpPr>
        <p:spPr>
          <a:xfrm>
            <a:off x="0" y="1816100"/>
            <a:ext cx="8893175" cy="1457325"/>
          </a:xfrm>
          <a:prstGeom prst="rect">
            <a:avLst/>
          </a:prstGeom>
          <a:noFill/>
          <a:ln w="9525">
            <a:noFill/>
          </a:ln>
        </p:spPr>
        <p:txBody>
          <a:bodyPr/>
          <a:lstStyle/>
          <a:p>
            <a:pPr marL="342900" indent="-342900">
              <a:lnSpc>
                <a:spcPct val="125000"/>
              </a:lnSpc>
              <a:spcBef>
                <a:spcPct val="20000"/>
              </a:spcBef>
              <a:buFontTx/>
              <a:buChar char="•"/>
            </a:pPr>
            <a:r>
              <a:rPr lang="zh-CN" altLang="en-US" sz="2400" b="1" dirty="0">
                <a:latin typeface="Times New Roman" panose="02020603050405020304" pitchFamily="18" charset="0"/>
                <a:ea typeface="宋体" panose="02010600030101010101" pitchFamily="2" charset="-122"/>
              </a:rPr>
              <a:t>         今天的化学己经达到了由描述到推理，由定性到定量，由宏观到微观，由静态到动态的发展过程，形成了一个完整的化学体系。化学的研究对象和研究目的越来越明细，传统的化学大致分为四大分支学科，即化学的二级学科。</a:t>
            </a:r>
          </a:p>
        </p:txBody>
      </p:sp>
      <p:sp>
        <p:nvSpPr>
          <p:cNvPr id="18436" name="Rectangle 4"/>
          <p:cNvSpPr>
            <a:spLocks noChangeArrowheads="1"/>
          </p:cNvSpPr>
          <p:nvPr/>
        </p:nvSpPr>
        <p:spPr bwMode="auto">
          <a:xfrm>
            <a:off x="0" y="357187"/>
            <a:ext cx="9144000" cy="540545"/>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§1</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.2</a:t>
            </a: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 </a:t>
            </a:r>
            <a:r>
              <a:rPr kumimoji="0" lang="zh-CN" altLang="en-US"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化学的学科分支及其在社会发展中的作用</a:t>
            </a:r>
          </a:p>
        </p:txBody>
      </p:sp>
      <p:sp>
        <p:nvSpPr>
          <p:cNvPr id="18437" name="Rectangle 5"/>
          <p:cNvSpPr/>
          <p:nvPr/>
        </p:nvSpPr>
        <p:spPr>
          <a:xfrm>
            <a:off x="0" y="1262063"/>
            <a:ext cx="3563938" cy="522287"/>
          </a:xfrm>
          <a:prstGeom prst="rect">
            <a:avLst/>
          </a:prstGeom>
          <a:solidFill>
            <a:srgbClr val="FF9900"/>
          </a:solidFill>
          <a:ln w="19050" cap="flat" cmpd="sng">
            <a:solidFill>
              <a:srgbClr val="008000"/>
            </a:solidFill>
            <a:prstDash val="solid"/>
            <a:miter/>
            <a:headEnd type="none" w="med" len="med"/>
            <a:tailEnd type="none" w="med" len="med"/>
          </a:ln>
        </p:spPr>
        <p:txBody>
          <a:bodyPr>
            <a:spAutoFit/>
          </a:bodyPr>
          <a:lstStyle/>
          <a:p>
            <a:pPr>
              <a:spcBef>
                <a:spcPct val="20000"/>
              </a:spcBef>
            </a:pPr>
            <a:r>
              <a:rPr lang="en-US" altLang="zh-CN" sz="2800" b="1" dirty="0">
                <a:latin typeface="楷体_GB2312" panose="02010609030101010101" pitchFamily="49" charset="-122"/>
                <a:ea typeface="楷体_GB2312" panose="02010609030101010101" pitchFamily="49" charset="-122"/>
              </a:rPr>
              <a:t>1.  </a:t>
            </a:r>
            <a:r>
              <a:rPr lang="zh-CN" altLang="en-US" sz="2800" b="1" dirty="0">
                <a:latin typeface="楷体_GB2312" panose="02010609030101010101" pitchFamily="49" charset="-122"/>
                <a:ea typeface="楷体_GB2312" panose="02010609030101010101" pitchFamily="49" charset="-122"/>
              </a:rPr>
              <a:t>化学的学科分支</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8437"/>
                                        </p:tgtEl>
                                        <p:attrNameLst>
                                          <p:attrName>style.visibility</p:attrName>
                                        </p:attrNameLst>
                                      </p:cBhvr>
                                      <p:to>
                                        <p:strVal val="visible"/>
                                      </p:to>
                                    </p:set>
                                    <p:anim calcmode="lin" valueType="num">
                                      <p:cBhvr>
                                        <p:cTn id="7" dur="500" fill="hold"/>
                                        <p:tgtEl>
                                          <p:spTgt spid="1843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8437"/>
                                        </p:tgtEl>
                                        <p:attrNameLst>
                                          <p:attrName>ppt_y</p:attrName>
                                        </p:attrNameLst>
                                      </p:cBhvr>
                                      <p:tavLst>
                                        <p:tav tm="0">
                                          <p:val>
                                            <p:strVal val="#ppt_y"/>
                                          </p:val>
                                        </p:tav>
                                        <p:tav tm="100000">
                                          <p:val>
                                            <p:strVal val="#ppt_y"/>
                                          </p:val>
                                        </p:tav>
                                      </p:tavLst>
                                    </p:anim>
                                    <p:anim calcmode="lin" valueType="num">
                                      <p:cBhvr>
                                        <p:cTn id="9" dur="500" fill="hold"/>
                                        <p:tgtEl>
                                          <p:spTgt spid="1843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843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8437"/>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grpId="0" nodeType="clickEffect">
                                  <p:stCondLst>
                                    <p:cond delay="0"/>
                                  </p:stCondLst>
                                  <p:childTnLst>
                                    <p:set>
                                      <p:cBhvr>
                                        <p:cTn id="15" dur="1" fill="hold">
                                          <p:stCondLst>
                                            <p:cond delay="0"/>
                                          </p:stCondLst>
                                        </p:cTn>
                                        <p:tgtEl>
                                          <p:spTgt spid="18434">
                                            <p:txEl>
                                              <p:pRg st="0" end="0"/>
                                            </p:txEl>
                                          </p:spTgt>
                                        </p:tgtEl>
                                        <p:attrNameLst>
                                          <p:attrName>style.visibility</p:attrName>
                                        </p:attrNameLst>
                                      </p:cBhvr>
                                      <p:to>
                                        <p:strVal val="visible"/>
                                      </p:to>
                                    </p:set>
                                    <p:animEffect transition="in" filter="wedge">
                                      <p:cBhvr>
                                        <p:cTn id="16" dur="2000"/>
                                        <p:tgtEl>
                                          <p:spTgt spid="184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P spid="184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p:nvPr/>
        </p:nvSpPr>
        <p:spPr>
          <a:xfrm>
            <a:off x="0" y="195263"/>
            <a:ext cx="8820150" cy="2268537"/>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a:t>
            </a:r>
            <a:r>
              <a:rPr lang="zh-CN" altLang="en-US" sz="3200" b="1" u="sng" dirty="0">
                <a:solidFill>
                  <a:srgbClr val="0000CC"/>
                </a:solidFill>
                <a:latin typeface="Times New Roman" panose="02020603050405020304" pitchFamily="18" charset="0"/>
                <a:ea typeface="宋体" panose="02010600030101010101" pitchFamily="2" charset="-122"/>
              </a:rPr>
              <a:t>无机化学</a:t>
            </a:r>
            <a:r>
              <a:rPr lang="zh-CN" altLang="en-US" sz="2400" b="1" dirty="0">
                <a:latin typeface="Times New Roman" panose="02020603050405020304" pitchFamily="18" charset="0"/>
                <a:ea typeface="宋体" panose="02010600030101010101" pitchFamily="2" charset="-122"/>
              </a:rPr>
              <a:t>以</a:t>
            </a:r>
            <a:r>
              <a:rPr lang="en-US" altLang="zh-CN" sz="2400" b="1" dirty="0">
                <a:latin typeface="Times New Roman" panose="02020603050405020304" pitchFamily="18" charset="0"/>
                <a:ea typeface="宋体" panose="02010600030101010101" pitchFamily="2" charset="-122"/>
              </a:rPr>
              <a:t>1870</a:t>
            </a:r>
            <a:r>
              <a:rPr lang="zh-CN" altLang="en-US" sz="2400" b="1" dirty="0">
                <a:latin typeface="Times New Roman" panose="02020603050405020304" pitchFamily="18" charset="0"/>
                <a:ea typeface="宋体" panose="02010600030101010101" pitchFamily="2" charset="-122"/>
              </a:rPr>
              <a:t>年</a:t>
            </a:r>
            <a:r>
              <a:rPr lang="zh-CN" altLang="en-US" sz="2400" b="1" dirty="0">
                <a:solidFill>
                  <a:srgbClr val="FF3300"/>
                </a:solidFill>
                <a:latin typeface="Times New Roman" panose="02020603050405020304" pitchFamily="18" charset="0"/>
                <a:ea typeface="宋体" panose="02010600030101010101" pitchFamily="2" charset="-122"/>
              </a:rPr>
              <a:t>门捷列夫</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1834~1907</a:t>
            </a:r>
            <a:r>
              <a:rPr lang="zh-CN" altLang="en-US" sz="2400" b="1" dirty="0">
                <a:latin typeface="Times New Roman" panose="02020603050405020304" pitchFamily="18" charset="0"/>
                <a:ea typeface="宋体" panose="02010600030101010101" pitchFamily="2" charset="-122"/>
              </a:rPr>
              <a:t>）发现周期律、   公布周期表为标志。</a:t>
            </a:r>
            <a:r>
              <a:rPr lang="en-US" altLang="zh-CN" sz="2400" b="1" dirty="0">
                <a:latin typeface="Times New Roman" panose="02020603050405020304" pitchFamily="18" charset="0"/>
                <a:ea typeface="宋体" panose="02010600030101010101" pitchFamily="2" charset="-122"/>
              </a:rPr>
              <a:t>18-19</a:t>
            </a:r>
            <a:r>
              <a:rPr lang="zh-CN" altLang="en-US" sz="2400" b="1" dirty="0">
                <a:latin typeface="Times New Roman" panose="02020603050405020304" pitchFamily="18" charset="0"/>
                <a:ea typeface="宋体" panose="02010600030101010101" pitchFamily="2" charset="-122"/>
              </a:rPr>
              <a:t>世纪，随着生产和科学水平的提高，平均每两年半就有一个新元素被发现，到</a:t>
            </a:r>
            <a:r>
              <a:rPr lang="en-US" altLang="zh-CN" sz="2400" b="1" dirty="0">
                <a:latin typeface="Times New Roman" panose="02020603050405020304" pitchFamily="18" charset="0"/>
                <a:ea typeface="宋体" panose="02010600030101010101" pitchFamily="2" charset="-122"/>
              </a:rPr>
              <a:t>1869</a:t>
            </a:r>
            <a:r>
              <a:rPr lang="zh-CN" altLang="en-US" sz="2400" b="1" dirty="0">
                <a:latin typeface="Times New Roman" panose="02020603050405020304" pitchFamily="18" charset="0"/>
                <a:ea typeface="宋体" panose="02010600030101010101" pitchFamily="2" charset="-122"/>
              </a:rPr>
              <a:t>年已有</a:t>
            </a:r>
            <a:r>
              <a:rPr lang="en-US" altLang="zh-CN" sz="2400" b="1" dirty="0">
                <a:latin typeface="Times New Roman" panose="02020603050405020304" pitchFamily="18" charset="0"/>
                <a:ea typeface="宋体" panose="02010600030101010101" pitchFamily="2" charset="-122"/>
              </a:rPr>
              <a:t>63</a:t>
            </a:r>
            <a:r>
              <a:rPr lang="zh-CN" altLang="en-US" sz="2400" b="1" dirty="0">
                <a:latin typeface="Times New Roman" panose="02020603050405020304" pitchFamily="18" charset="0"/>
                <a:ea typeface="宋体" panose="02010600030101010101" pitchFamily="2" charset="-122"/>
              </a:rPr>
              <a:t>种元  素为科学家所认识。同时，人们对元素的化合价和原子量的确定也有了统一的认识。</a:t>
            </a:r>
          </a:p>
        </p:txBody>
      </p:sp>
      <p:pic>
        <p:nvPicPr>
          <p:cNvPr id="58370" name="Picture 2" descr="http://5b0988e595225.cdn.sohucs.com/images/20200226/fe848c758b7b4dc38cc5893b4772eaa1.jpeg"/>
          <p:cNvPicPr>
            <a:picLocks noChangeAspect="1" noChangeArrowheads="1"/>
          </p:cNvPicPr>
          <p:nvPr/>
        </p:nvPicPr>
        <p:blipFill>
          <a:blip r:embed="rId2"/>
          <a:srcRect/>
          <a:stretch>
            <a:fillRect/>
          </a:stretch>
        </p:blipFill>
        <p:spPr bwMode="auto">
          <a:xfrm>
            <a:off x="3816350" y="2479675"/>
            <a:ext cx="2779713" cy="24479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edge">
                                      <p:cBhvr>
                                        <p:cTn id="7" dur="20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idx="1"/>
          </p:nvPr>
        </p:nvSpPr>
        <p:spPr>
          <a:xfrm>
            <a:off x="287338" y="268288"/>
            <a:ext cx="8748712" cy="1889125"/>
          </a:xfrm>
          <a:noFill/>
          <a:ln>
            <a:noFill/>
          </a:ln>
        </p:spPr>
        <p:txBody>
          <a:bodyPr/>
          <a:lstStyle/>
          <a:p>
            <a:pPr eaLnBrk="1" hangingPunct="1">
              <a:lnSpc>
                <a:spcPct val="130000"/>
              </a:lnSpc>
            </a:pPr>
            <a:r>
              <a:rPr lang="zh-CN" altLang="en-US" sz="2400" b="1" dirty="0">
                <a:latin typeface="Times New Roman" panose="02020603050405020304" pitchFamily="18" charset="0"/>
                <a:ea typeface="宋体" panose="02010600030101010101" pitchFamily="2" charset="-122"/>
              </a:rPr>
              <a:t>        进入</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世纪以后，在无机化学方面有了更多重大的发明和发现，如工业规模合成氨，氨氧化法生产硝酸，并研究出工业生产无机酸、盐类、肥料和无机高聚物以及其他物质的新方法，发现了复合氢化物并进行了深入的研究，制备了若干新化合物。</a:t>
            </a:r>
          </a:p>
        </p:txBody>
      </p:sp>
      <p:sp>
        <p:nvSpPr>
          <p:cNvPr id="19459" name="Rectangle 3"/>
          <p:cNvSpPr/>
          <p:nvPr/>
        </p:nvSpPr>
        <p:spPr>
          <a:xfrm>
            <a:off x="792163" y="2824163"/>
            <a:ext cx="8208962" cy="1835150"/>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随着量子化学的引入，大量元素无机化合物的发现，无机化学开始了一个新的蓬勃发展的阶段，现代无机化学在合成新材料、超导体、配合物催化剂、核化学等领域正在发挥着越来越重要的作用。</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wedge">
                                      <p:cBhvr>
                                        <p:cTn id="7" dur="20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9459">
                                            <p:txEl>
                                              <p:pRg st="0" end="0"/>
                                            </p:txEl>
                                          </p:spTgt>
                                        </p:tgtEl>
                                        <p:attrNameLst>
                                          <p:attrName>style.visibility</p:attrName>
                                        </p:attrNameLst>
                                      </p:cBhvr>
                                      <p:to>
                                        <p:strVal val="visible"/>
                                      </p:to>
                                    </p:set>
                                    <p:animEffect transition="in" filter="wedge">
                                      <p:cBhvr>
                                        <p:cTn id="12" dur="2000"/>
                                        <p:tgtEl>
                                          <p:spTgt spid="194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uild="p"/>
      <p:bldP spid="1945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idx="1"/>
          </p:nvPr>
        </p:nvSpPr>
        <p:spPr>
          <a:xfrm>
            <a:off x="215900" y="484188"/>
            <a:ext cx="8748713" cy="1889125"/>
          </a:xfrm>
          <a:noFill/>
          <a:ln>
            <a:noFill/>
          </a:ln>
        </p:spPr>
        <p:txBody>
          <a:bodyPr/>
          <a:lstStyle/>
          <a:p>
            <a:pPr marL="90805" indent="360045" defTabSz="914400" eaLnBrk="1" hangingPunct="1">
              <a:lnSpc>
                <a:spcPct val="130000"/>
              </a:lnSpc>
              <a:buNone/>
              <a:tabLst>
                <a:tab pos="180975" algn="l"/>
                <a:tab pos="450850" algn="l"/>
              </a:tabLst>
            </a:pPr>
            <a:r>
              <a:rPr lang="zh-CN" altLang="en-US" sz="2400" b="1" u="sng" dirty="0">
                <a:solidFill>
                  <a:srgbClr val="0000CC"/>
                </a:solidFill>
                <a:latin typeface="Times New Roman" panose="02020603050405020304" pitchFamily="18" charset="0"/>
                <a:ea typeface="宋体" panose="02010600030101010101" pitchFamily="2" charset="-122"/>
              </a:rPr>
              <a:t>     有机化学</a:t>
            </a:r>
            <a:r>
              <a:rPr lang="zh-CN" altLang="en-US" sz="2400" b="1" dirty="0">
                <a:latin typeface="Times New Roman" panose="02020603050405020304" pitchFamily="18" charset="0"/>
                <a:ea typeface="宋体" panose="02010600030101010101" pitchFamily="2" charset="-122"/>
              </a:rPr>
              <a:t>的结构理论形成于</a:t>
            </a:r>
            <a:r>
              <a:rPr lang="en-US" altLang="zh-CN" sz="2400" b="1" dirty="0">
                <a:latin typeface="Times New Roman" panose="02020603050405020304" pitchFamily="18" charset="0"/>
                <a:ea typeface="宋体" panose="02010600030101010101" pitchFamily="2" charset="-122"/>
              </a:rPr>
              <a:t>19</a:t>
            </a:r>
            <a:r>
              <a:rPr lang="zh-CN" altLang="en-US" sz="2400" b="1" dirty="0">
                <a:latin typeface="Times New Roman" panose="02020603050405020304" pitchFamily="18" charset="0"/>
                <a:ea typeface="宋体" panose="02010600030101010101" pitchFamily="2" charset="-122"/>
              </a:rPr>
              <a:t>世纪下半叶。</a:t>
            </a:r>
            <a:r>
              <a:rPr lang="en-US" altLang="zh-CN" sz="2400" b="1" dirty="0">
                <a:latin typeface="Times New Roman" panose="02020603050405020304" pitchFamily="18" charset="0"/>
                <a:ea typeface="宋体" panose="02010600030101010101" pitchFamily="2" charset="-122"/>
              </a:rPr>
              <a:t>1861</a:t>
            </a:r>
            <a:r>
              <a:rPr lang="zh-CN" altLang="en-US" sz="2400" b="1" dirty="0">
                <a:latin typeface="Times New Roman" panose="02020603050405020304" pitchFamily="18" charset="0"/>
                <a:ea typeface="宋体" panose="02010600030101010101" pitchFamily="2" charset="-122"/>
              </a:rPr>
              <a:t>年德国化学家</a:t>
            </a:r>
            <a:r>
              <a:rPr lang="zh-CN" altLang="en-US" sz="2400" b="1" dirty="0">
                <a:solidFill>
                  <a:srgbClr val="FF3300"/>
                </a:solidFill>
                <a:latin typeface="Times New Roman" panose="02020603050405020304" pitchFamily="18" charset="0"/>
                <a:ea typeface="宋体" panose="02010600030101010101" pitchFamily="2" charset="-122"/>
              </a:rPr>
              <a:t>凯库勒</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F.A. Kekule</a:t>
            </a:r>
            <a:r>
              <a:rPr lang="zh-CN" altLang="en-US" sz="2400" b="1" dirty="0">
                <a:latin typeface="Times New Roman" panose="02020603050405020304" pitchFamily="18" charset="0"/>
                <a:ea typeface="宋体" panose="02010600030101010101" pitchFamily="2" charset="-122"/>
              </a:rPr>
              <a:t>）提出碳的四价概念及</a:t>
            </a:r>
            <a:r>
              <a:rPr lang="en-US" altLang="zh-CN" sz="2400" b="1" dirty="0">
                <a:latin typeface="Times New Roman" panose="02020603050405020304" pitchFamily="18" charset="0"/>
                <a:ea typeface="宋体" panose="02010600030101010101" pitchFamily="2" charset="-122"/>
              </a:rPr>
              <a:t>1874</a:t>
            </a:r>
            <a:r>
              <a:rPr lang="zh-CN" altLang="en-US" sz="2400" b="1" dirty="0">
                <a:latin typeface="Times New Roman" panose="02020603050405020304" pitchFamily="18" charset="0"/>
                <a:ea typeface="宋体" panose="02010600030101010101" pitchFamily="2" charset="-122"/>
              </a:rPr>
              <a:t>年荷兰化学家</a:t>
            </a:r>
            <a:r>
              <a:rPr lang="zh-CN" altLang="en-US" sz="2400" b="1" dirty="0">
                <a:solidFill>
                  <a:srgbClr val="FF3300"/>
                </a:solidFill>
                <a:latin typeface="Times New Roman" panose="02020603050405020304" pitchFamily="18" charset="0"/>
                <a:ea typeface="宋体" panose="02010600030101010101" pitchFamily="2" charset="-122"/>
              </a:rPr>
              <a:t>范特霍夫</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J.H. van't Hoff</a:t>
            </a:r>
            <a:r>
              <a:rPr lang="zh-CN" altLang="en-US" sz="2400" b="1" dirty="0">
                <a:latin typeface="Times New Roman" panose="02020603050405020304" pitchFamily="18" charset="0"/>
                <a:ea typeface="宋体" panose="02010600030101010101" pitchFamily="2" charset="-122"/>
              </a:rPr>
              <a:t>）和法国化学家</a:t>
            </a:r>
            <a:r>
              <a:rPr lang="zh-CN" altLang="en-US" sz="2400" b="1" dirty="0">
                <a:solidFill>
                  <a:srgbClr val="FF3300"/>
                </a:solidFill>
                <a:latin typeface="Times New Roman" panose="02020603050405020304" pitchFamily="18" charset="0"/>
                <a:ea typeface="宋体" panose="02010600030101010101" pitchFamily="2" charset="-122"/>
              </a:rPr>
              <a:t>勒贝尔</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Le bel</a:t>
            </a:r>
            <a:r>
              <a:rPr lang="zh-CN" altLang="en-US" sz="2400" b="1" dirty="0">
                <a:latin typeface="Times New Roman" panose="02020603050405020304" pitchFamily="18" charset="0"/>
                <a:ea typeface="宋体" panose="02010600030101010101" pitchFamily="2" charset="-122"/>
              </a:rPr>
              <a:t>）的四面体学说，至今仍是有机化学最基本的概念之一。</a:t>
            </a:r>
          </a:p>
        </p:txBody>
      </p:sp>
      <p:grpSp>
        <p:nvGrpSpPr>
          <p:cNvPr id="2" name="Group 3"/>
          <p:cNvGrpSpPr>
            <a:grpSpLocks noChangeAspect="1"/>
          </p:cNvGrpSpPr>
          <p:nvPr/>
        </p:nvGrpSpPr>
        <p:grpSpPr>
          <a:xfrm>
            <a:off x="1476375" y="2716213"/>
            <a:ext cx="7067550" cy="2143125"/>
            <a:chOff x="0" y="0"/>
            <a:chExt cx="4452" cy="1800"/>
          </a:xfrm>
        </p:grpSpPr>
        <p:pic>
          <p:nvPicPr>
            <p:cNvPr id="35844" name="Picture 4" descr="f35ea00939a929736a60fb07"/>
            <p:cNvPicPr>
              <a:picLocks noChangeAspect="1"/>
            </p:cNvPicPr>
            <p:nvPr/>
          </p:nvPicPr>
          <p:blipFill>
            <a:blip r:embed="rId2"/>
            <a:stretch>
              <a:fillRect/>
            </a:stretch>
          </p:blipFill>
          <p:spPr>
            <a:xfrm>
              <a:off x="0" y="0"/>
              <a:ext cx="1200" cy="1800"/>
            </a:xfrm>
            <a:prstGeom prst="rect">
              <a:avLst/>
            </a:prstGeom>
            <a:noFill/>
            <a:ln w="9525">
              <a:noFill/>
            </a:ln>
          </p:spPr>
        </p:pic>
        <p:pic>
          <p:nvPicPr>
            <p:cNvPr id="35845" name="Picture 5" descr="6398ecd39c8e56cca9ec9a93"/>
            <p:cNvPicPr>
              <a:picLocks noChangeAspect="1"/>
            </p:cNvPicPr>
            <p:nvPr/>
          </p:nvPicPr>
          <p:blipFill>
            <a:blip r:embed="rId3"/>
            <a:stretch>
              <a:fillRect/>
            </a:stretch>
          </p:blipFill>
          <p:spPr>
            <a:xfrm>
              <a:off x="1633" y="45"/>
              <a:ext cx="1128" cy="1452"/>
            </a:xfrm>
            <a:prstGeom prst="rect">
              <a:avLst/>
            </a:prstGeom>
            <a:noFill/>
            <a:ln w="9525">
              <a:noFill/>
            </a:ln>
          </p:spPr>
        </p:pic>
        <p:pic>
          <p:nvPicPr>
            <p:cNvPr id="35846" name="Picture 6" descr="0b3a1c08c5845ac262d986a1"/>
            <p:cNvPicPr>
              <a:picLocks noChangeAspect="1"/>
            </p:cNvPicPr>
            <p:nvPr/>
          </p:nvPicPr>
          <p:blipFill>
            <a:blip r:embed="rId4"/>
            <a:stretch>
              <a:fillRect/>
            </a:stretch>
          </p:blipFill>
          <p:spPr>
            <a:xfrm>
              <a:off x="3220" y="0"/>
              <a:ext cx="1232" cy="1543"/>
            </a:xfrm>
            <a:prstGeom prst="rect">
              <a:avLst/>
            </a:prstGeom>
            <a:noFill/>
            <a:ln w="9525">
              <a:noFill/>
            </a:ln>
          </p:spPr>
        </p:pic>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0482">
                                            <p:txEl>
                                              <p:pRg st="0" end="0"/>
                                            </p:txEl>
                                          </p:spTgt>
                                        </p:tgtEl>
                                        <p:attrNameLst>
                                          <p:attrName>style.visibility</p:attrName>
                                        </p:attrNameLst>
                                      </p:cBhvr>
                                      <p:to>
                                        <p:strVal val="visible"/>
                                      </p:to>
                                    </p:set>
                                    <p:animEffect transition="in" filter="wedge">
                                      <p:cBhvr>
                                        <p:cTn id="7" dur="2000"/>
                                        <p:tgtEl>
                                          <p:spTgt spid="204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p:nvPr/>
        </p:nvSpPr>
        <p:spPr>
          <a:xfrm>
            <a:off x="395288" y="555625"/>
            <a:ext cx="8497887" cy="2484438"/>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新兴有机合成化学工业的开发，尤以染料与制药工业最为突出。</a:t>
            </a:r>
          </a:p>
          <a:p>
            <a:pPr marL="342900" indent="-342900">
              <a:lnSpc>
                <a:spcPct val="130000"/>
              </a:lnSpc>
              <a:spcBef>
                <a:spcPct val="20000"/>
              </a:spcBef>
              <a:buFontTx/>
              <a:buChar char="•"/>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世纪以来，有机化学领域达到了前所未有的繁荣，世界上每年大约合成近百个新化合物，其中</a:t>
            </a:r>
            <a:r>
              <a:rPr lang="en-US" altLang="zh-CN" sz="2400" b="1" dirty="0">
                <a:latin typeface="Times New Roman" panose="02020603050405020304" pitchFamily="18" charset="0"/>
                <a:ea typeface="宋体" panose="02010600030101010101" pitchFamily="2" charset="-122"/>
              </a:rPr>
              <a:t>70</a:t>
            </a:r>
            <a:r>
              <a:rPr lang="zh-CN" altLang="en-US" sz="2400" b="1" dirty="0">
                <a:latin typeface="Times New Roman" panose="02020603050405020304" pitchFamily="18" charset="0"/>
                <a:ea typeface="宋体" panose="02010600030101010101" pitchFamily="2" charset="-122"/>
              </a:rPr>
              <a:t>％以上是有机化合物，有机化学正朝着高选择性合成、天然复杂有机物的合成与分离、有机金属化合物的研究开发等领域不断推进。</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edge">
                                      <p:cBhvr>
                                        <p:cTn id="7" dur="2000"/>
                                        <p:tgtEl>
                                          <p:spTgt spid="21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transition="in" filter="wedge">
                                      <p:cBhvr>
                                        <p:cTn id="12" dur="2000"/>
                                        <p:tgtEl>
                                          <p:spTgt spid="2150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p:nvPr/>
        </p:nvSpPr>
        <p:spPr>
          <a:xfrm>
            <a:off x="273050" y="303213"/>
            <a:ext cx="8677275" cy="3025775"/>
          </a:xfrm>
          <a:prstGeom prst="rect">
            <a:avLst/>
          </a:prstGeom>
          <a:noFill/>
          <a:ln w="9525">
            <a:noFill/>
          </a:ln>
        </p:spPr>
        <p:txBody>
          <a:bodyPr/>
          <a:lstStyle/>
          <a:p>
            <a:pPr marL="342900" indent="-342900">
              <a:lnSpc>
                <a:spcPct val="125000"/>
              </a:lnSpc>
              <a:spcBef>
                <a:spcPct val="20000"/>
              </a:spcBef>
              <a:buFontTx/>
              <a:buChar char="•"/>
            </a:pPr>
            <a:r>
              <a:rPr lang="zh-CN" altLang="en-US" sz="2400" b="1" dirty="0">
                <a:latin typeface="Times New Roman" panose="02020603050405020304" pitchFamily="18" charset="0"/>
                <a:ea typeface="宋体" panose="02010600030101010101" pitchFamily="2" charset="-122"/>
              </a:rPr>
              <a:t>      </a:t>
            </a:r>
            <a:r>
              <a:rPr lang="zh-CN" altLang="en-US" sz="3200" b="1" u="sng" dirty="0">
                <a:solidFill>
                  <a:srgbClr val="0000CC"/>
                </a:solidFill>
                <a:latin typeface="Times New Roman" panose="02020603050405020304" pitchFamily="18" charset="0"/>
                <a:ea typeface="宋体" panose="02010600030101010101" pitchFamily="2" charset="-122"/>
              </a:rPr>
              <a:t>分析化学</a:t>
            </a:r>
            <a:r>
              <a:rPr lang="zh-CN" altLang="en-US" sz="2400" b="1" dirty="0">
                <a:latin typeface="Times New Roman" panose="02020603050405020304" pitchFamily="18" charset="0"/>
                <a:ea typeface="宋体" panose="02010600030101010101" pitchFamily="2" charset="-122"/>
              </a:rPr>
              <a:t>分支形成最早，随着工业生产、科学研究对分析灵敏度的要求越来越高，仪器分析技术应运而生了。</a:t>
            </a:r>
          </a:p>
          <a:p>
            <a:pPr marL="342900" indent="-342900">
              <a:lnSpc>
                <a:spcPct val="125000"/>
              </a:lnSpc>
              <a:spcBef>
                <a:spcPct val="20000"/>
              </a:spcBef>
              <a:buFontTx/>
              <a:buChar char="•"/>
            </a:pPr>
            <a:r>
              <a:rPr lang="zh-CN" altLang="en-US" sz="2400" b="1" dirty="0">
                <a:latin typeface="Times New Roman" panose="02020603050405020304" pitchFamily="18" charset="0"/>
                <a:ea typeface="宋体" panose="02010600030101010101" pitchFamily="2" charset="-122"/>
              </a:rPr>
              <a:t>      它主要包括：吸光光度法、发射光谱法、放射分析法等现代化的分析技术。仪器分析法超越了经典分析方法的局限，根据被检测组分的某种光学的、电学的、放射线的特性，灵敏度可以达到很高的水平。如对运动员的兴奋剂监测，尿样中某些药物浓度即使低到</a:t>
            </a:r>
            <a:r>
              <a:rPr lang="en-US" altLang="zh-CN" sz="2400" b="1" dirty="0">
                <a:latin typeface="Times New Roman" panose="02020603050405020304" pitchFamily="18" charset="0"/>
                <a:ea typeface="宋体" panose="02010600030101010101" pitchFamily="2" charset="-122"/>
              </a:rPr>
              <a:t>10-13g•mL</a:t>
            </a:r>
            <a:r>
              <a:rPr lang="en-US" altLang="zh-CN" sz="2400" b="1" baseline="30000"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时，也难躲避分析化学家们的锐利眼睛。</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Effect transition="in" filter="barn(inHorizontal)">
                                      <p:cBhvr>
                                        <p:cTn id="7" dur="500"/>
                                        <p:tgtEl>
                                          <p:spTgt spid="22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2530">
                                            <p:txEl>
                                              <p:pRg st="1" end="1"/>
                                            </p:txEl>
                                          </p:spTgt>
                                        </p:tgtEl>
                                        <p:attrNameLst>
                                          <p:attrName>style.visibility</p:attrName>
                                        </p:attrNameLst>
                                      </p:cBhvr>
                                      <p:to>
                                        <p:strVal val="visible"/>
                                      </p:to>
                                    </p:set>
                                    <p:animEffect transition="in" filter="barn(inHorizontal)">
                                      <p:cBhvr>
                                        <p:cTn id="12" dur="500"/>
                                        <p:tgtEl>
                                          <p:spTgt spid="22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idx="1"/>
          </p:nvPr>
        </p:nvSpPr>
        <p:spPr>
          <a:xfrm>
            <a:off x="358775" y="411163"/>
            <a:ext cx="8569325" cy="1727200"/>
          </a:xfrm>
          <a:noFill/>
          <a:ln>
            <a:noFill/>
          </a:ln>
        </p:spPr>
        <p:txBody>
          <a:bodyPr/>
          <a:lstStyle/>
          <a:p>
            <a:pPr eaLnBrk="1" hangingPunct="1">
              <a:lnSpc>
                <a:spcPct val="125000"/>
              </a:lnSpc>
            </a:pPr>
            <a:r>
              <a:rPr lang="zh-CN" altLang="en-US" dirty="0">
                <a:ea typeface="宋体" panose="02010600030101010101" pitchFamily="2" charset="-122"/>
              </a:rPr>
              <a:t>    </a:t>
            </a:r>
            <a:r>
              <a:rPr lang="zh-CN" altLang="en-US" sz="2400" b="1" dirty="0">
                <a:ea typeface="宋体" panose="02010600030101010101" pitchFamily="2" charset="-122"/>
              </a:rPr>
              <a:t>目前分析化学正处于第三次变革，它不再只限于测定物质组成和含量，而要对物质的状态、结构、微区，薄层和表面的组成与结构以及化学行为和生物活性等作出瞬时追踪，无损和在线监测等分析及过程控制，甚至要求直接观察到原子和分子的形态与排列。</a:t>
            </a:r>
          </a:p>
        </p:txBody>
      </p:sp>
      <p:pic>
        <p:nvPicPr>
          <p:cNvPr id="38915" name="Picture 3"/>
          <p:cNvPicPr>
            <a:picLocks noChangeAspect="1"/>
          </p:cNvPicPr>
          <p:nvPr/>
        </p:nvPicPr>
        <p:blipFill>
          <a:blip r:embed="rId2"/>
          <a:stretch>
            <a:fillRect/>
          </a:stretch>
        </p:blipFill>
        <p:spPr>
          <a:xfrm>
            <a:off x="4773613" y="2679700"/>
            <a:ext cx="3384550" cy="2347913"/>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 calcmode="lin" valueType="num">
                                      <p:cBhvr>
                                        <p:cTn id="7" dur="500" fill="hold"/>
                                        <p:tgtEl>
                                          <p:spTgt spid="23554">
                                            <p:txEl>
                                              <p:pRg st="0" end="0"/>
                                            </p:txEl>
                                          </p:spTgt>
                                        </p:tgtEl>
                                        <p:attrNameLst>
                                          <p:attrName>ppt_w</p:attrName>
                                        </p:attrNameLst>
                                      </p:cBhvr>
                                      <p:tavLst>
                                        <p:tav tm="0">
                                          <p:val>
                                            <p:strVal val="#ppt_w*2.5"/>
                                          </p:val>
                                        </p:tav>
                                        <p:tav tm="100000">
                                          <p:val>
                                            <p:strVal val="#ppt_w"/>
                                          </p:val>
                                        </p:tav>
                                      </p:tavLst>
                                    </p:anim>
                                    <p:anim calcmode="lin" valueType="num">
                                      <p:cBhvr>
                                        <p:cTn id="8" dur="500" fill="hold"/>
                                        <p:tgtEl>
                                          <p:spTgt spid="23554">
                                            <p:txEl>
                                              <p:pRg st="0" end="0"/>
                                            </p:txEl>
                                          </p:spTgt>
                                        </p:tgtEl>
                                        <p:attrNameLst>
                                          <p:attrName>ppt_h</p:attrName>
                                        </p:attrNameLst>
                                      </p:cBhvr>
                                      <p:tavLst>
                                        <p:tav tm="0">
                                          <p:val>
                                            <p:strVal val="#ppt_h*0.01"/>
                                          </p:val>
                                        </p:tav>
                                        <p:tav tm="100000">
                                          <p:val>
                                            <p:strVal val="#ppt_h"/>
                                          </p:val>
                                        </p:tav>
                                      </p:tavLst>
                                    </p:anim>
                                    <p:anim calcmode="lin" valueType="num">
                                      <p:cBhvr>
                                        <p:cTn id="9" dur="500" fill="hold"/>
                                        <p:tgtEl>
                                          <p:spTgt spid="23554">
                                            <p:txEl>
                                              <p:pRg st="0" end="0"/>
                                            </p:txEl>
                                          </p:spTgt>
                                        </p:tgtEl>
                                        <p:attrNameLst>
                                          <p:attrName>ppt_x</p:attrName>
                                        </p:attrNameLst>
                                      </p:cBhvr>
                                      <p:tavLst>
                                        <p:tav tm="0">
                                          <p:val>
                                            <p:strVal val="#ppt_x"/>
                                          </p:val>
                                        </p:tav>
                                        <p:tav tm="100000">
                                          <p:val>
                                            <p:strVal val="#ppt_x"/>
                                          </p:val>
                                        </p:tav>
                                      </p:tavLst>
                                    </p:anim>
                                    <p:anim calcmode="lin" valueType="num">
                                      <p:cBhvr>
                                        <p:cTn id="10" dur="500" fill="hold"/>
                                        <p:tgtEl>
                                          <p:spTgt spid="23554">
                                            <p:txEl>
                                              <p:pRg st="0" end="0"/>
                                            </p:txEl>
                                          </p:spTgt>
                                        </p:tgtEl>
                                        <p:attrNameLst>
                                          <p:attrName>ppt_y</p:attrName>
                                        </p:attrNameLst>
                                      </p:cBhvr>
                                      <p:tavLst>
                                        <p:tav tm="0">
                                          <p:val>
                                            <p:strVal val="#ppt_h+1"/>
                                          </p:val>
                                        </p:tav>
                                        <p:tav tm="100000">
                                          <p:val>
                                            <p:strVal val="#ppt_y"/>
                                          </p:val>
                                        </p:tav>
                                      </p:tavLst>
                                    </p:anim>
                                    <p:animEffect transition="in" filter="fade">
                                      <p:cBhvr>
                                        <p:cTn id="11" dur="500"/>
                                        <p:tgtEl>
                                          <p:spTgt spid="235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idx="1"/>
          </p:nvPr>
        </p:nvSpPr>
        <p:spPr>
          <a:xfrm>
            <a:off x="250825" y="303213"/>
            <a:ext cx="8748713" cy="1296987"/>
          </a:xfrm>
          <a:noFill/>
          <a:ln>
            <a:noFill/>
          </a:ln>
        </p:spPr>
        <p:txBody>
          <a:bodyPr/>
          <a:lstStyle/>
          <a:p>
            <a:pPr marL="90805" indent="360045" defTabSz="914400" eaLnBrk="1" hangingPunct="1">
              <a:lnSpc>
                <a:spcPct val="130000"/>
              </a:lnSpc>
              <a:buNone/>
              <a:tabLst>
                <a:tab pos="180975" algn="l"/>
                <a:tab pos="450850" algn="l"/>
              </a:tabLst>
            </a:pPr>
            <a:r>
              <a:rPr lang="zh-CN" altLang="en-US" b="1" u="sng" dirty="0">
                <a:solidFill>
                  <a:srgbClr val="0000CC"/>
                </a:solidFill>
                <a:ea typeface="宋体" panose="02010600030101010101" pitchFamily="2" charset="-122"/>
              </a:rPr>
              <a:t>  物理化学</a:t>
            </a:r>
            <a:r>
              <a:rPr lang="zh-CN" altLang="en-US" sz="2400" b="1" dirty="0">
                <a:ea typeface="宋体" panose="02010600030101010101" pitchFamily="2" charset="-122"/>
              </a:rPr>
              <a:t>是从化学变化与物理变化的联系入手，研究化学反应的方向和限度、化学反应的速率和机理以及物质的微观结构与宏观性质间的关系等科学，它是化学学科的</a:t>
            </a:r>
            <a:r>
              <a:rPr lang="zh-CN" altLang="en-US" sz="2400" b="1" dirty="0">
                <a:solidFill>
                  <a:srgbClr val="FF3300"/>
                </a:solidFill>
                <a:ea typeface="宋体" panose="02010600030101010101" pitchFamily="2" charset="-122"/>
              </a:rPr>
              <a:t>理论核心</a:t>
            </a:r>
            <a:r>
              <a:rPr lang="zh-CN" altLang="en-US" sz="2400" b="1" dirty="0">
                <a:ea typeface="宋体" panose="02010600030101010101" pitchFamily="2" charset="-122"/>
              </a:rPr>
              <a:t>。</a:t>
            </a:r>
          </a:p>
        </p:txBody>
      </p:sp>
      <p:sp>
        <p:nvSpPr>
          <p:cNvPr id="24579" name="Rectangle 3"/>
          <p:cNvSpPr/>
          <p:nvPr/>
        </p:nvSpPr>
        <p:spPr>
          <a:xfrm>
            <a:off x="179388" y="1978025"/>
            <a:ext cx="8748712" cy="2052638"/>
          </a:xfrm>
          <a:prstGeom prst="rect">
            <a:avLst/>
          </a:prstGeom>
          <a:noFill/>
          <a:ln w="9525">
            <a:noFill/>
          </a:ln>
        </p:spPr>
        <p:txBody>
          <a:bodyPr/>
          <a:lstStyle/>
          <a:p>
            <a:pPr marL="342900" indent="-342900">
              <a:lnSpc>
                <a:spcPct val="130000"/>
              </a:lnSpc>
              <a:spcBef>
                <a:spcPct val="20000"/>
              </a:spcBef>
              <a:buFontTx/>
              <a:buChar char="•"/>
            </a:pPr>
            <a:r>
              <a:rPr lang="zh-CN" altLang="en-US" sz="2400" b="1" dirty="0">
                <a:latin typeface="Arial" panose="020B0604020202020204" pitchFamily="34" charset="0"/>
                <a:ea typeface="宋体" panose="02010600030101010101" pitchFamily="2" charset="-122"/>
              </a:rPr>
              <a:t>      在研究各类物质的性质和变化规律的过程中，化学逐渐发展成为若干分支学科，但在探索和处理具体课题时，这些分支学科又相互联系、相互渗透。</a:t>
            </a:r>
            <a:r>
              <a:rPr lang="zh-CN" altLang="en-US" sz="2400" b="1" dirty="0">
                <a:solidFill>
                  <a:srgbClr val="0000CC"/>
                </a:solidFill>
                <a:latin typeface="Arial" panose="020B0604020202020204" pitchFamily="34" charset="0"/>
                <a:ea typeface="宋体" panose="02010600030101010101" pitchFamily="2" charset="-122"/>
              </a:rPr>
              <a:t>无机物或有机物</a:t>
            </a:r>
            <a:r>
              <a:rPr lang="zh-CN" altLang="en-US" sz="2400" b="1" dirty="0">
                <a:latin typeface="Arial" panose="020B0604020202020204" pitchFamily="34" charset="0"/>
                <a:ea typeface="宋体" panose="02010600030101010101" pitchFamily="2" charset="-122"/>
              </a:rPr>
              <a:t>的合成总是研究（或生产）的起点，在进行过程中必定要靠</a:t>
            </a:r>
            <a:r>
              <a:rPr lang="zh-CN" altLang="en-US" sz="2400" b="1" dirty="0">
                <a:solidFill>
                  <a:srgbClr val="0000CC"/>
                </a:solidFill>
                <a:latin typeface="Arial" panose="020B0604020202020204" pitchFamily="34" charset="0"/>
                <a:ea typeface="宋体" panose="02010600030101010101" pitchFamily="2" charset="-122"/>
              </a:rPr>
              <a:t>分析化学</a:t>
            </a:r>
            <a:r>
              <a:rPr lang="zh-CN" altLang="en-US" sz="2400" b="1" dirty="0">
                <a:latin typeface="Arial" panose="020B0604020202020204" pitchFamily="34" charset="0"/>
                <a:ea typeface="宋体" panose="02010600030101010101" pitchFamily="2" charset="-122"/>
              </a:rPr>
              <a:t>的测定结果来指示合成工作中原料、中间体、产物的组成和结构，这一切当然都离不开</a:t>
            </a:r>
            <a:r>
              <a:rPr lang="zh-CN" altLang="en-US" sz="2400" b="1" dirty="0">
                <a:solidFill>
                  <a:srgbClr val="0000CC"/>
                </a:solidFill>
                <a:latin typeface="Arial" panose="020B0604020202020204" pitchFamily="34" charset="0"/>
                <a:ea typeface="宋体" panose="02010600030101010101" pitchFamily="2" charset="-122"/>
              </a:rPr>
              <a:t>物理化学</a:t>
            </a:r>
            <a:r>
              <a:rPr lang="zh-CN" altLang="en-US" sz="2400" b="1" dirty="0">
                <a:latin typeface="Arial" panose="020B0604020202020204" pitchFamily="34" charset="0"/>
                <a:ea typeface="宋体" panose="02010600030101010101" pitchFamily="2" charset="-122"/>
              </a:rPr>
              <a:t>的理论指导。</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Effect transition="in" filter="wedge">
                                      <p:cBhvr>
                                        <p:cTn id="7" dur="2000"/>
                                        <p:tgtEl>
                                          <p:spTgt spid="245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24579">
                                            <p:txEl>
                                              <p:pRg st="0" end="0"/>
                                            </p:txEl>
                                          </p:spTgt>
                                        </p:tgtEl>
                                        <p:attrNameLst>
                                          <p:attrName>style.visibility</p:attrName>
                                        </p:attrNameLst>
                                      </p:cBhvr>
                                      <p:to>
                                        <p:strVal val="visible"/>
                                      </p:to>
                                    </p:set>
                                    <p:animEffect transition="in" filter="wedge">
                                      <p:cBhvr>
                                        <p:cTn id="12" dur="2000"/>
                                        <p:tgtEl>
                                          <p:spTgt spid="245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uild="p"/>
      <p:bldP spid="2457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idx="1"/>
          </p:nvPr>
        </p:nvSpPr>
        <p:spPr>
          <a:xfrm>
            <a:off x="323850" y="303213"/>
            <a:ext cx="8208963" cy="2376487"/>
          </a:xfrm>
          <a:noFill/>
          <a:ln>
            <a:noFill/>
          </a:ln>
        </p:spPr>
        <p:txBody>
          <a:bodyPr/>
          <a:lstStyle/>
          <a:p>
            <a:pPr eaLnBrk="1" hangingPunct="1">
              <a:lnSpc>
                <a:spcPct val="13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20</a:t>
            </a:r>
            <a:r>
              <a:rPr lang="zh-CN" altLang="en-US" sz="2400" b="1" dirty="0">
                <a:latin typeface="Times New Roman" panose="02020603050405020304" pitchFamily="18" charset="0"/>
                <a:ea typeface="宋体" panose="02010600030101010101" pitchFamily="2" charset="-122"/>
              </a:rPr>
              <a:t>年代以后，由于世界经济的高速发展、化学键的电子理论和量子力学的诞生、电子技术和计算机等技术的兴起，化学研究在理论上和实验技术上都获得了飞跃发展。。</a:t>
            </a:r>
          </a:p>
        </p:txBody>
      </p:sp>
      <p:pic>
        <p:nvPicPr>
          <p:cNvPr id="25603" name="Picture 3" descr="image013"/>
          <p:cNvPicPr>
            <a:picLocks noChangeAspect="1"/>
          </p:cNvPicPr>
          <p:nvPr/>
        </p:nvPicPr>
        <p:blipFill>
          <a:blip r:embed="rId2"/>
          <a:stretch>
            <a:fillRect/>
          </a:stretch>
        </p:blipFill>
        <p:spPr>
          <a:xfrm>
            <a:off x="2735263" y="1958975"/>
            <a:ext cx="4567237" cy="2449513"/>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animEffect transition="in" filter="wedge">
                                      <p:cBhvr>
                                        <p:cTn id="7" dur="2000"/>
                                        <p:tgtEl>
                                          <p:spTgt spid="25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603"/>
                                        </p:tgtEl>
                                        <p:attrNameLst>
                                          <p:attrName>style.visibility</p:attrName>
                                        </p:attrNameLst>
                                      </p:cBhvr>
                                      <p:to>
                                        <p:strVal val="visible"/>
                                      </p:to>
                                    </p:set>
                                    <p:animEffect transition="in" filter="checkerboard(across)">
                                      <p:cBhvr>
                                        <p:cTn id="12" dur="5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4"/>
          <p:cNvSpPr>
            <a:spLocks noChangeArrowheads="1"/>
          </p:cNvSpPr>
          <p:nvPr/>
        </p:nvSpPr>
        <p:spPr bwMode="auto">
          <a:xfrm>
            <a:off x="250825" y="920750"/>
            <a:ext cx="87503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1636" tIns="40818" rIns="81636" bIns="40818" anchor="ctr">
            <a:spAutoFit/>
          </a:bodyPr>
          <a:lstStyle>
            <a:lvl1pPr indent="29718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29718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化学是一门古老的学科，随着科学技术的发展，化学变得愈来愈重要。</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29718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衣</a:t>
            </a: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衣服印染、合成纤维等。</a:t>
            </a:r>
          </a:p>
          <a:p>
            <a:pPr marL="716280" marR="0" lvl="0" indent="-41910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食</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：粮袋子、菜篮子，化肥和农药的生产，食品添加剂，如甜味剂、防腐      剂、调味剂，食品加工制造方法等。</a:t>
            </a:r>
          </a:p>
          <a:p>
            <a:pPr marL="0" marR="0" lvl="0" indent="29718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住</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：现代建筑所用的水泥、石灰、油漆、玻璃和塑料等材料都是化工产品。</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29718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行</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：代步的各种现代交通工具，需要汽油、柴油作动力，各种汽油添加剂、</a:t>
            </a:r>
            <a:endPar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0" marR="0" lvl="0" indent="297180" algn="l" defTabSz="914400" rtl="0" eaLnBrk="1" fontAlgn="base" latinLnBrk="0" hangingPunct="1">
              <a:lnSpc>
                <a:spcPct val="15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防冻剂、润滑剂等。</a:t>
            </a:r>
            <a:endPar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pic>
        <p:nvPicPr>
          <p:cNvPr id="41987" name="Picture 2"/>
          <p:cNvPicPr>
            <a:picLocks noChangeAspect="1"/>
          </p:cNvPicPr>
          <p:nvPr/>
        </p:nvPicPr>
        <p:blipFill>
          <a:blip r:embed="rId4"/>
          <a:stretch>
            <a:fillRect/>
          </a:stretch>
        </p:blipFill>
        <p:spPr>
          <a:xfrm>
            <a:off x="7796213" y="4097338"/>
            <a:ext cx="679450" cy="692150"/>
          </a:xfrm>
          <a:prstGeom prst="rect">
            <a:avLst/>
          </a:prstGeom>
          <a:noFill/>
          <a:ln w="9525">
            <a:noFill/>
          </a:ln>
        </p:spPr>
      </p:pic>
      <p:pic>
        <p:nvPicPr>
          <p:cNvPr id="41988" name="Picture 2" descr="http://www.huihuarensheng.com/uploads/allimg/160801/09153361K-0.jpg"/>
          <p:cNvPicPr>
            <a:picLocks noChangeAspect="1"/>
          </p:cNvPicPr>
          <p:nvPr/>
        </p:nvPicPr>
        <p:blipFill>
          <a:blip r:embed="rId5"/>
          <a:srcRect l="19760" t="20683" r="19551" b="23445"/>
          <a:stretch>
            <a:fillRect/>
          </a:stretch>
        </p:blipFill>
        <p:spPr>
          <a:xfrm>
            <a:off x="4975225" y="4244975"/>
            <a:ext cx="1377950" cy="785813"/>
          </a:xfrm>
          <a:prstGeom prst="rect">
            <a:avLst/>
          </a:prstGeom>
          <a:noFill/>
          <a:ln w="9525">
            <a:noFill/>
          </a:ln>
        </p:spPr>
      </p:pic>
      <p:sp>
        <p:nvSpPr>
          <p:cNvPr id="7" name="Rectangle 4"/>
          <p:cNvSpPr/>
          <p:nvPr/>
        </p:nvSpPr>
        <p:spPr>
          <a:xfrm>
            <a:off x="15875" y="266700"/>
            <a:ext cx="5508625" cy="522288"/>
          </a:xfrm>
          <a:prstGeom prst="rect">
            <a:avLst/>
          </a:prstGeom>
          <a:solidFill>
            <a:srgbClr val="FF9900"/>
          </a:solidFill>
          <a:ln w="19050" cap="flat" cmpd="sng">
            <a:solidFill>
              <a:srgbClr val="008000"/>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a:t>
            </a:r>
            <a:r>
              <a:rPr lang="en-US" altLang="zh-CN" sz="2800" b="1" dirty="0">
                <a:latin typeface="楷体_GB2312" panose="02010609030101010101" pitchFamily="49" charset="-122"/>
                <a:ea typeface="楷体_GB2312" panose="02010609030101010101" pitchFamily="49" charset="-122"/>
              </a:rPr>
              <a:t>2.</a:t>
            </a:r>
            <a:r>
              <a:rPr lang="zh-CN" altLang="en-US" sz="2800" b="1" dirty="0">
                <a:latin typeface="楷体_GB2312" panose="02010609030101010101" pitchFamily="49" charset="-122"/>
                <a:ea typeface="楷体_GB2312" panose="02010609030101010101" pitchFamily="49" charset="-122"/>
              </a:rPr>
              <a:t>化学在社会发展中的的作用</a:t>
            </a:r>
          </a:p>
        </p:txBody>
      </p:sp>
    </p:spTree>
    <p:custDataLst>
      <p:tags r:id="rId1"/>
    </p:custData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wipe(up)">
                                      <p:cBhvr>
                                        <p:cTn id="16" dur="500"/>
                                        <p:tgtEl>
                                          <p:spTgt spid="2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4">
                                            <p:txEl>
                                              <p:pRg st="1" end="1"/>
                                            </p:txEl>
                                          </p:spTgt>
                                        </p:tgtEl>
                                        <p:attrNameLst>
                                          <p:attrName>style.visibility</p:attrName>
                                        </p:attrNameLst>
                                      </p:cBhvr>
                                      <p:to>
                                        <p:strVal val="visible"/>
                                      </p:to>
                                    </p:set>
                                    <p:animEffect transition="in" filter="wipe(up)">
                                      <p:cBhvr>
                                        <p:cTn id="21" dur="500"/>
                                        <p:tgtEl>
                                          <p:spTgt spid="2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4">
                                            <p:txEl>
                                              <p:pRg st="2" end="2"/>
                                            </p:txEl>
                                          </p:spTgt>
                                        </p:tgtEl>
                                        <p:attrNameLst>
                                          <p:attrName>style.visibility</p:attrName>
                                        </p:attrNameLst>
                                      </p:cBhvr>
                                      <p:to>
                                        <p:strVal val="visible"/>
                                      </p:to>
                                    </p:set>
                                    <p:animEffect transition="in" filter="wipe(up)">
                                      <p:cBhvr>
                                        <p:cTn id="26" dur="500"/>
                                        <p:tgtEl>
                                          <p:spTgt spid="24">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4">
                                            <p:txEl>
                                              <p:pRg st="3" end="3"/>
                                            </p:txEl>
                                          </p:spTgt>
                                        </p:tgtEl>
                                        <p:attrNameLst>
                                          <p:attrName>style.visibility</p:attrName>
                                        </p:attrNameLst>
                                      </p:cBhvr>
                                      <p:to>
                                        <p:strVal val="visible"/>
                                      </p:to>
                                    </p:set>
                                    <p:animEffect transition="in" filter="wipe(up)">
                                      <p:cBhvr>
                                        <p:cTn id="31" dur="500"/>
                                        <p:tgtEl>
                                          <p:spTgt spid="24">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4">
                                            <p:txEl>
                                              <p:pRg st="4" end="4"/>
                                            </p:txEl>
                                          </p:spTgt>
                                        </p:tgtEl>
                                        <p:attrNameLst>
                                          <p:attrName>style.visibility</p:attrName>
                                        </p:attrNameLst>
                                      </p:cBhvr>
                                      <p:to>
                                        <p:strVal val="visible"/>
                                      </p:to>
                                    </p:set>
                                    <p:animEffect transition="in" filter="wipe(up)">
                                      <p:cBhvr>
                                        <p:cTn id="36" dur="500"/>
                                        <p:tgtEl>
                                          <p:spTgt spid="24">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4">
                                            <p:txEl>
                                              <p:pRg st="5" end="5"/>
                                            </p:txEl>
                                          </p:spTgt>
                                        </p:tgtEl>
                                        <p:attrNameLst>
                                          <p:attrName>style.visibility</p:attrName>
                                        </p:attrNameLst>
                                      </p:cBhvr>
                                      <p:to>
                                        <p:strVal val="visible"/>
                                      </p:to>
                                    </p:set>
                                    <p:animEffect transition="in" filter="wipe(up)">
                                      <p:cBhvr>
                                        <p:cTn id="41" dur="500"/>
                                        <p:tgtEl>
                                          <p:spTgt spid="2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10" name="矩形: 圆角 5"/>
          <p:cNvSpPr/>
          <p:nvPr/>
        </p:nvSpPr>
        <p:spPr>
          <a:xfrm>
            <a:off x="547688" y="334963"/>
            <a:ext cx="8226425" cy="4292600"/>
          </a:xfrm>
          <a:prstGeom prst="roundRect">
            <a:avLst>
              <a:gd name="adj" fmla="val 6667"/>
            </a:avLst>
          </a:prstGeom>
          <a:solidFill>
            <a:srgbClr val="CCECFF"/>
          </a:solidFill>
        </p:spPr>
        <p:style>
          <a:lnRef idx="2">
            <a:schemeClr val="accent1"/>
          </a:lnRef>
          <a:fillRef idx="1">
            <a:schemeClr val="lt1"/>
          </a:fillRef>
          <a:effectRef idx="0">
            <a:schemeClr val="accent1"/>
          </a:effectRef>
          <a:fontRef idx="minor">
            <a:schemeClr val="dk1"/>
          </a:fontRef>
        </p:style>
        <p:txBody>
          <a:bodyPr lIns="65023" tIns="32511" rIns="65023" bIns="32511"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Calibri" panose="020F0502020204030204" pitchFamily="34" charset="0"/>
            </a:endParaRPr>
          </a:p>
        </p:txBody>
      </p:sp>
      <p:pic>
        <p:nvPicPr>
          <p:cNvPr id="43011" name="图片 21"/>
          <p:cNvPicPr>
            <a:picLocks noChangeAspect="1"/>
          </p:cNvPicPr>
          <p:nvPr/>
        </p:nvPicPr>
        <p:blipFill>
          <a:blip r:embed="rId2"/>
          <a:srcRect l="20045" t="9402" r="26262" b="9460"/>
          <a:stretch>
            <a:fillRect/>
          </a:stretch>
        </p:blipFill>
        <p:spPr>
          <a:xfrm>
            <a:off x="7948613" y="4005263"/>
            <a:ext cx="1085850" cy="1158875"/>
          </a:xfrm>
          <a:prstGeom prst="rect">
            <a:avLst/>
          </a:prstGeom>
          <a:noFill/>
          <a:ln w="9525">
            <a:noFill/>
          </a:ln>
        </p:spPr>
      </p:pic>
      <p:sp>
        <p:nvSpPr>
          <p:cNvPr id="43012" name="矩形 12"/>
          <p:cNvSpPr/>
          <p:nvPr/>
        </p:nvSpPr>
        <p:spPr>
          <a:xfrm>
            <a:off x="758825" y="523875"/>
            <a:ext cx="7732713" cy="1219200"/>
          </a:xfrm>
          <a:prstGeom prst="rect">
            <a:avLst/>
          </a:prstGeom>
          <a:noFill/>
          <a:ln w="9525">
            <a:noFill/>
          </a:ln>
        </p:spPr>
        <p:txBody>
          <a:bodyPr lIns="65023" tIns="32511" rIns="65023" bIns="32511">
            <a:spAutoFit/>
          </a:bodyPr>
          <a:lstStyle/>
          <a:p>
            <a:pPr indent="297180">
              <a:lnSpc>
                <a:spcPct val="125000"/>
              </a:lnSpc>
            </a:pPr>
            <a:r>
              <a:rPr lang="zh-CN" altLang="en-US" sz="2000" b="1" dirty="0">
                <a:latin typeface="微软雅黑" panose="020B0503020204020204" pitchFamily="34" charset="-122"/>
                <a:ea typeface="微软雅黑" panose="020B0503020204020204" pitchFamily="34" charset="-122"/>
              </a:rPr>
              <a:t>药品、洗涤剂、化妆品等生活必需品大都是化学制剂；油、防冻剂也是化工产品；导弹的生产，人造卫星的发射都需要很多具有特殊性能的化学品，如高能燃料、高能电池、光敏胶片等。</a:t>
            </a:r>
          </a:p>
        </p:txBody>
      </p:sp>
      <p:sp>
        <p:nvSpPr>
          <p:cNvPr id="15" name="Rectangle 2"/>
          <p:cNvSpPr/>
          <p:nvPr/>
        </p:nvSpPr>
        <p:spPr>
          <a:xfrm>
            <a:off x="684213" y="1671638"/>
            <a:ext cx="8089900" cy="1236662"/>
          </a:xfrm>
          <a:prstGeom prst="rect">
            <a:avLst/>
          </a:prstGeom>
          <a:noFill/>
          <a:ln w="9525">
            <a:noFill/>
          </a:ln>
        </p:spPr>
        <p:txBody>
          <a:bodyPr lIns="81636" tIns="40818" rIns="81636" bIns="40818">
            <a:spAutoFit/>
          </a:bodyPr>
          <a:lstStyle/>
          <a:p>
            <a:pPr>
              <a:lnSpc>
                <a:spcPct val="125000"/>
              </a:lnSpc>
            </a:pPr>
            <a:r>
              <a:rPr lang="zh-CN" altLang="en-US" sz="2000" b="1" dirty="0">
                <a:latin typeface="Times New Roman" panose="02020603050405020304" pitchFamily="18" charset="0"/>
                <a:ea typeface="宋体" panose="02010600030101010101" pitchFamily="2" charset="-122"/>
              </a:rPr>
              <a:t>        </a:t>
            </a:r>
            <a:r>
              <a:rPr lang="zh-CN" altLang="en-US" sz="2000" b="1" dirty="0">
                <a:latin typeface="微软雅黑" panose="020B0503020204020204" pitchFamily="34" charset="-122"/>
                <a:ea typeface="微软雅黑" panose="020B0503020204020204" pitchFamily="34" charset="-122"/>
              </a:rPr>
              <a:t>总之，</a:t>
            </a:r>
            <a:r>
              <a:rPr lang="zh-CN" altLang="en-US" sz="2000" b="1" dirty="0">
                <a:solidFill>
                  <a:srgbClr val="FF0000"/>
                </a:solidFill>
                <a:latin typeface="微软雅黑" panose="020B0503020204020204" pitchFamily="34" charset="-122"/>
                <a:ea typeface="微软雅黑" panose="020B0503020204020204" pitchFamily="34" charset="-122"/>
              </a:rPr>
              <a:t>化学已渗透到了国民经济的各个领域，</a:t>
            </a:r>
            <a:r>
              <a:rPr lang="zh-CN" altLang="en-US" sz="2000" b="1" dirty="0">
                <a:latin typeface="微软雅黑" panose="020B0503020204020204" pitchFamily="34" charset="-122"/>
                <a:ea typeface="微软雅黑" panose="020B0503020204020204" pitchFamily="34" charset="-122"/>
              </a:rPr>
              <a:t>它是一门重要的基础科学，也是一门应用性很强的实用科学，是现代科学的一个重要分支。化学教育的普及是社会发展的需要，是提高公民文化素质的需要。</a:t>
            </a:r>
          </a:p>
        </p:txBody>
      </p:sp>
      <p:pic>
        <p:nvPicPr>
          <p:cNvPr id="16" name="Picture 5"/>
          <p:cNvPicPr>
            <a:picLocks noChangeAspect="1" noChangeArrowheads="1"/>
          </p:cNvPicPr>
          <p:nvPr/>
        </p:nvPicPr>
        <p:blipFill>
          <a:blip r:embed="rId3"/>
          <a:srcRect/>
          <a:stretch>
            <a:fillRect/>
          </a:stretch>
        </p:blipFill>
        <p:spPr bwMode="auto">
          <a:xfrm>
            <a:off x="3729038" y="3100388"/>
            <a:ext cx="1998663" cy="13335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6"/>
          <p:cNvPicPr>
            <a:picLocks noChangeAspect="1" noChangeArrowheads="1"/>
          </p:cNvPicPr>
          <p:nvPr/>
        </p:nvPicPr>
        <p:blipFill>
          <a:blip r:embed="rId4"/>
          <a:srcRect/>
          <a:stretch>
            <a:fillRect/>
          </a:stretch>
        </p:blipFill>
        <p:spPr bwMode="auto">
          <a:xfrm>
            <a:off x="6045200" y="3108325"/>
            <a:ext cx="2066925" cy="1371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2"/>
          <p:cNvPicPr>
            <a:picLocks noChangeAspect="1" noChangeArrowheads="1"/>
          </p:cNvPicPr>
          <p:nvPr/>
        </p:nvPicPr>
        <p:blipFill>
          <a:blip r:embed="rId5"/>
          <a:srcRect/>
          <a:stretch>
            <a:fillRect/>
          </a:stretch>
        </p:blipFill>
        <p:spPr bwMode="auto">
          <a:xfrm>
            <a:off x="1117600" y="3108325"/>
            <a:ext cx="2347913" cy="13192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p:nvPr/>
        </p:nvSpPr>
        <p:spPr>
          <a:xfrm>
            <a:off x="395288" y="593725"/>
            <a:ext cx="8351837" cy="3194050"/>
          </a:xfrm>
          <a:prstGeom prst="rect">
            <a:avLst/>
          </a:prstGeom>
          <a:noFill/>
          <a:ln w="9525">
            <a:noFill/>
          </a:ln>
        </p:spPr>
        <p:txBody>
          <a:bodyPr anchor="ctr" anchorCtr="0">
            <a:spAutoFit/>
          </a:bodyPr>
          <a:lstStyle/>
          <a:p>
            <a:pPr>
              <a:lnSpc>
                <a:spcPct val="120000"/>
              </a:lnSpc>
            </a:pPr>
            <a:r>
              <a:rPr lang="zh-CN" altLang="en-US" sz="2400" b="1" dirty="0">
                <a:latin typeface="Times New Roman" panose="02020603050405020304" pitchFamily="18" charset="0"/>
                <a:ea typeface="宋体" panose="02010600030101010101" pitchFamily="2" charset="-122"/>
              </a:rPr>
              <a:t>        未来化学在人类生存、生存质量和安全方面将以新的思路、观念和方式发挥核心科学的作用。化学学科已走出纯化学，进入大科学。</a:t>
            </a:r>
          </a:p>
          <a:p>
            <a:pPr>
              <a:lnSpc>
                <a:spcPct val="120000"/>
              </a:lnSpc>
            </a:pPr>
            <a:r>
              <a:rPr lang="zh-CN" altLang="en-US" sz="2400" b="1" dirty="0">
                <a:latin typeface="Times New Roman" panose="02020603050405020304" pitchFamily="18" charset="0"/>
                <a:ea typeface="宋体" panose="02010600030101010101" pitchFamily="2" charset="-122"/>
              </a:rPr>
              <a:t>        从生命科学、材料科学、环境科学、能源科学乃至当今的信息科学都对化学提出了诸多挑战，要求化学有新的发展，去解决现今面临的诸如复杂体系、极端条件、微观和非平衡态等等的新问题。</a:t>
            </a:r>
          </a:p>
        </p:txBody>
      </p:sp>
      <p:sp>
        <p:nvSpPr>
          <p:cNvPr id="31747" name="Rectangle 3"/>
          <p:cNvSpPr/>
          <p:nvPr/>
        </p:nvSpPr>
        <p:spPr>
          <a:xfrm>
            <a:off x="14288" y="95250"/>
            <a:ext cx="3348037" cy="523875"/>
          </a:xfrm>
          <a:prstGeom prst="rect">
            <a:avLst/>
          </a:prstGeom>
          <a:solidFill>
            <a:srgbClr val="FF9900"/>
          </a:solidFill>
          <a:ln w="19050" cap="flat" cmpd="sng">
            <a:solidFill>
              <a:srgbClr val="008000"/>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3.</a:t>
            </a:r>
            <a:r>
              <a:rPr lang="zh-CN" altLang="en-US" sz="2800" b="1" dirty="0">
                <a:latin typeface="楷体_GB2312" panose="02010609030101010101" pitchFamily="49" charset="-122"/>
                <a:ea typeface="楷体_GB2312" panose="02010609030101010101" pitchFamily="49" charset="-122"/>
                <a:hlinkClick r:id="rId2" action="ppaction://hlinkfile"/>
              </a:rPr>
              <a:t>未来化学展望</a:t>
            </a:r>
            <a:endParaRPr lang="zh-CN" altLang="en-US" sz="2800" b="1" dirty="0">
              <a:latin typeface="楷体_GB2312" panose="02010609030101010101" pitchFamily="49" charset="-122"/>
              <a:ea typeface="楷体_GB2312" panose="02010609030101010101" pitchFamily="49" charset="-122"/>
            </a:endParaRPr>
          </a:p>
        </p:txBody>
      </p:sp>
      <p:sp>
        <p:nvSpPr>
          <p:cNvPr id="31748" name="Rectangle 4"/>
          <p:cNvSpPr/>
          <p:nvPr/>
        </p:nvSpPr>
        <p:spPr>
          <a:xfrm>
            <a:off x="719138" y="3579813"/>
            <a:ext cx="8351837" cy="1016000"/>
          </a:xfrm>
          <a:prstGeom prst="rect">
            <a:avLst/>
          </a:prstGeom>
          <a:noFill/>
          <a:ln w="9525">
            <a:noFill/>
          </a:ln>
        </p:spPr>
        <p:txBody>
          <a:bodyPr anchor="ctr" anchorCtr="0">
            <a:spAutoFit/>
          </a:bodyPr>
          <a:lstStyle/>
          <a:p>
            <a:pPr>
              <a:lnSpc>
                <a:spcPct val="125000"/>
              </a:lnSpc>
            </a:pPr>
            <a:r>
              <a:rPr lang="zh-CN" altLang="en-US" sz="2400" b="1" dirty="0">
                <a:latin typeface="Arial" panose="020B0604020202020204" pitchFamily="34" charset="0"/>
                <a:ea typeface="宋体" panose="02010600030101010101" pitchFamily="2" charset="-122"/>
              </a:rPr>
              <a:t>      现在及今后的一段时期，化学发展的主要方向可以</a:t>
            </a:r>
            <a:endParaRPr lang="en-US" altLang="zh-CN" sz="2400" b="1" dirty="0">
              <a:latin typeface="Arial" panose="020B0604020202020204" pitchFamily="34" charset="0"/>
              <a:ea typeface="宋体" panose="02010600030101010101" pitchFamily="2" charset="-122"/>
            </a:endParaRPr>
          </a:p>
          <a:p>
            <a:pPr>
              <a:lnSpc>
                <a:spcPct val="125000"/>
              </a:lnSpc>
            </a:pPr>
            <a:r>
              <a:rPr lang="en-US" altLang="zh-CN" sz="2400" b="1" dirty="0">
                <a:latin typeface="Arial" panose="020B0604020202020204" pitchFamily="34" charset="0"/>
                <a:ea typeface="宋体" panose="02010600030101010101" pitchFamily="2" charset="-122"/>
              </a:rPr>
              <a:t>      </a:t>
            </a:r>
            <a:r>
              <a:rPr lang="zh-CN" altLang="en-US" sz="2400" b="1" dirty="0">
                <a:latin typeface="Arial" panose="020B0604020202020204" pitchFamily="34" charset="0"/>
                <a:ea typeface="宋体" panose="02010600030101010101" pitchFamily="2" charset="-122"/>
              </a:rPr>
              <a:t>归纳为三个方面：</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1747"/>
                                        </p:tgtEl>
                                        <p:attrNameLst>
                                          <p:attrName>style.visibility</p:attrName>
                                        </p:attrNameLst>
                                      </p:cBhvr>
                                      <p:to>
                                        <p:strVal val="visible"/>
                                      </p:to>
                                    </p:set>
                                    <p:anim calcmode="lin" valueType="num">
                                      <p:cBhvr>
                                        <p:cTn id="7" dur="500" fill="hold"/>
                                        <p:tgtEl>
                                          <p:spTgt spid="3174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747"/>
                                        </p:tgtEl>
                                        <p:attrNameLst>
                                          <p:attrName>ppt_y</p:attrName>
                                        </p:attrNameLst>
                                      </p:cBhvr>
                                      <p:tavLst>
                                        <p:tav tm="0">
                                          <p:val>
                                            <p:strVal val="#ppt_y"/>
                                          </p:val>
                                        </p:tav>
                                        <p:tav tm="100000">
                                          <p:val>
                                            <p:strVal val="#ppt_y"/>
                                          </p:val>
                                        </p:tav>
                                      </p:tavLst>
                                    </p:anim>
                                    <p:anim calcmode="lin" valueType="num">
                                      <p:cBhvr>
                                        <p:cTn id="9" dur="500" fill="hold"/>
                                        <p:tgtEl>
                                          <p:spTgt spid="3174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74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747"/>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31746">
                                            <p:txEl>
                                              <p:pRg st="0" end="0"/>
                                            </p:txEl>
                                          </p:spTgt>
                                        </p:tgtEl>
                                        <p:attrNameLst>
                                          <p:attrName>style.visibility</p:attrName>
                                        </p:attrNameLst>
                                      </p:cBhvr>
                                      <p:to>
                                        <p:strVal val="visible"/>
                                      </p:to>
                                    </p:set>
                                    <p:animEffect transition="in" filter="checkerboard(across)">
                                      <p:cBhvr>
                                        <p:cTn id="16" dur="500"/>
                                        <p:tgtEl>
                                          <p:spTgt spid="31746">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1746">
                                            <p:txEl>
                                              <p:pRg st="1" end="1"/>
                                            </p:txEl>
                                          </p:spTgt>
                                        </p:tgtEl>
                                        <p:attrNameLst>
                                          <p:attrName>style.visibility</p:attrName>
                                        </p:attrNameLst>
                                      </p:cBhvr>
                                      <p:to>
                                        <p:strVal val="visible"/>
                                      </p:to>
                                    </p:set>
                                    <p:animEffect transition="in" filter="checkerboard(across)">
                                      <p:cBhvr>
                                        <p:cTn id="21" dur="500"/>
                                        <p:tgtEl>
                                          <p:spTgt spid="3174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31748"/>
                                        </p:tgtEl>
                                        <p:attrNameLst>
                                          <p:attrName>style.visibility</p:attrName>
                                        </p:attrNameLst>
                                      </p:cBhvr>
                                      <p:to>
                                        <p:strVal val="visible"/>
                                      </p:to>
                                    </p:set>
                                    <p:animEffect transition="in" filter="checkerboard(across)">
                                      <p:cBhvr>
                                        <p:cTn id="26" dur="500"/>
                                        <p:tgtEl>
                                          <p:spTgt spid="3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uild="p"/>
      <p:bldP spid="31747" grpId="0" animBg="1"/>
      <p:bldP spid="317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p:nvPr/>
        </p:nvSpPr>
        <p:spPr>
          <a:xfrm>
            <a:off x="323850" y="1701800"/>
            <a:ext cx="8496300" cy="1365250"/>
          </a:xfrm>
          <a:prstGeom prst="rect">
            <a:avLst/>
          </a:prstGeom>
          <a:noFill/>
          <a:ln w="9525">
            <a:noFill/>
          </a:ln>
        </p:spPr>
        <p:txBody>
          <a:bodyPr anchor="ctr" anchorCtr="0">
            <a:spAutoFit/>
          </a:bodyPr>
          <a:lstStyle/>
          <a:p>
            <a:pPr>
              <a:lnSpc>
                <a:spcPct val="130000"/>
              </a:lnSpc>
            </a:pPr>
            <a:r>
              <a:rPr lang="en-US" altLang="zh-CN" sz="2200" b="1" dirty="0">
                <a:latin typeface="Times New Roman" panose="02020603050405020304" pitchFamily="18" charset="0"/>
                <a:ea typeface="宋体" panose="02010600030101010101" pitchFamily="2" charset="-122"/>
              </a:rPr>
              <a:t>      2</a:t>
            </a:r>
            <a:r>
              <a:rPr lang="zh-CN" altLang="en-US" sz="2200" b="1" dirty="0">
                <a:latin typeface="Times New Roman" panose="02020603050405020304" pitchFamily="18" charset="0"/>
                <a:ea typeface="宋体" panose="02010600030101010101" pitchFamily="2" charset="-122"/>
              </a:rPr>
              <a:t>．化学与生物学相互渗透进入一个高潮阶段，光合作用、酶的化学模拟及生物膜的模拟将有重大进展，</a:t>
            </a:r>
            <a:r>
              <a:rPr lang="zh-CN" altLang="en-US" sz="2200" b="1" dirty="0">
                <a:solidFill>
                  <a:srgbClr val="6600CC"/>
                </a:solidFill>
                <a:latin typeface="Times New Roman" panose="02020603050405020304" pitchFamily="18" charset="0"/>
                <a:ea typeface="宋体" panose="02010600030101010101" pitchFamily="2" charset="-122"/>
              </a:rPr>
              <a:t>人工合成新的生命</a:t>
            </a:r>
            <a:r>
              <a:rPr lang="zh-CN" altLang="en-US" sz="2200" b="1" dirty="0">
                <a:latin typeface="Times New Roman" panose="02020603050405020304" pitchFamily="18" charset="0"/>
                <a:ea typeface="宋体" panose="02010600030101010101" pitchFamily="2" charset="-122"/>
              </a:rPr>
              <a:t>成为可能。</a:t>
            </a:r>
          </a:p>
        </p:txBody>
      </p:sp>
      <p:sp>
        <p:nvSpPr>
          <p:cNvPr id="32771" name="Rectangle 3"/>
          <p:cNvSpPr/>
          <p:nvPr/>
        </p:nvSpPr>
        <p:spPr>
          <a:xfrm>
            <a:off x="323850" y="404813"/>
            <a:ext cx="8496300" cy="1365250"/>
          </a:xfrm>
          <a:prstGeom prst="rect">
            <a:avLst/>
          </a:prstGeom>
          <a:noFill/>
          <a:ln w="9525">
            <a:noFill/>
          </a:ln>
        </p:spPr>
        <p:txBody>
          <a:bodyPr anchor="ctr" anchorCtr="0">
            <a:spAutoFit/>
          </a:bodyPr>
          <a:lstStyle/>
          <a:p>
            <a:pPr>
              <a:lnSpc>
                <a:spcPct val="130000"/>
              </a:lnSpc>
            </a:pPr>
            <a:r>
              <a:rPr lang="en-US" altLang="zh-CN" sz="2200" b="1" dirty="0">
                <a:latin typeface="Times New Roman" panose="02020603050405020304" pitchFamily="18" charset="0"/>
                <a:ea typeface="宋体" panose="02010600030101010101" pitchFamily="2" charset="-122"/>
              </a:rPr>
              <a:t>      1</a:t>
            </a:r>
            <a:r>
              <a:rPr lang="zh-CN" altLang="en-US" sz="2200" b="1" dirty="0">
                <a:latin typeface="Times New Roman" panose="02020603050405020304" pitchFamily="18" charset="0"/>
                <a:ea typeface="宋体" panose="02010600030101010101" pitchFamily="2" charset="-122"/>
              </a:rPr>
              <a:t>．更加深入地研究化学反应理论，经过电子计算机的运算，设计出</a:t>
            </a:r>
            <a:r>
              <a:rPr lang="zh-CN" altLang="en-US" sz="2200" b="1" dirty="0">
                <a:solidFill>
                  <a:srgbClr val="6600CC"/>
                </a:solidFill>
                <a:latin typeface="Times New Roman" panose="02020603050405020304" pitchFamily="18" charset="0"/>
                <a:ea typeface="宋体" panose="02010600030101010101" pitchFamily="2" charset="-122"/>
              </a:rPr>
              <a:t>具有指定结构和性能的化合物</a:t>
            </a:r>
            <a:r>
              <a:rPr lang="zh-CN" altLang="en-US" sz="2200" b="1" dirty="0">
                <a:latin typeface="Times New Roman" panose="02020603050405020304" pitchFamily="18" charset="0"/>
                <a:ea typeface="宋体" panose="02010600030101010101" pitchFamily="2" charset="-122"/>
              </a:rPr>
              <a:t>，如催化剂、高分子等复杂材料，达到人们向往已久的分子工程水平。</a:t>
            </a:r>
          </a:p>
        </p:txBody>
      </p:sp>
      <p:sp>
        <p:nvSpPr>
          <p:cNvPr id="32772" name="Rectangle 4"/>
          <p:cNvSpPr/>
          <p:nvPr/>
        </p:nvSpPr>
        <p:spPr>
          <a:xfrm>
            <a:off x="468313" y="2979738"/>
            <a:ext cx="8496300" cy="1365250"/>
          </a:xfrm>
          <a:prstGeom prst="rect">
            <a:avLst/>
          </a:prstGeom>
          <a:noFill/>
          <a:ln w="9525">
            <a:noFill/>
          </a:ln>
        </p:spPr>
        <p:txBody>
          <a:bodyPr anchor="ctr" anchorCtr="0">
            <a:spAutoFit/>
          </a:bodyPr>
          <a:lstStyle/>
          <a:p>
            <a:pPr>
              <a:lnSpc>
                <a:spcPct val="130000"/>
              </a:lnSpc>
            </a:pPr>
            <a:r>
              <a:rPr lang="en-US" altLang="zh-CN" sz="2200" b="1" dirty="0">
                <a:latin typeface="Times New Roman" panose="02020603050405020304" pitchFamily="18" charset="0"/>
                <a:ea typeface="宋体" panose="02010600030101010101" pitchFamily="2" charset="-122"/>
              </a:rPr>
              <a:t>      3</a:t>
            </a:r>
            <a:r>
              <a:rPr lang="zh-CN" altLang="en-US" sz="2200" b="1" dirty="0">
                <a:latin typeface="Times New Roman" panose="02020603050405020304" pitchFamily="18" charset="0"/>
                <a:ea typeface="宋体" panose="02010600030101010101" pitchFamily="2" charset="-122"/>
              </a:rPr>
              <a:t>．太阳能的化学利用以及一些新概念、新技术的采用，有可能使</a:t>
            </a:r>
            <a:r>
              <a:rPr lang="zh-CN" altLang="en-US" sz="2200" b="1" dirty="0">
                <a:solidFill>
                  <a:srgbClr val="6600CC"/>
                </a:solidFill>
                <a:latin typeface="Times New Roman" panose="02020603050405020304" pitchFamily="18" charset="0"/>
                <a:ea typeface="宋体" panose="02010600030101010101" pitchFamily="2" charset="-122"/>
              </a:rPr>
              <a:t>催化过程和化工分离</a:t>
            </a:r>
            <a:r>
              <a:rPr lang="zh-CN" altLang="en-US" sz="2200" b="1" dirty="0">
                <a:latin typeface="Times New Roman" panose="02020603050405020304" pitchFamily="18" charset="0"/>
                <a:ea typeface="宋体" panose="02010600030101010101" pitchFamily="2" charset="-122"/>
              </a:rPr>
              <a:t>出现一些革命性的突破，这些突破将会改变人们的生活方式并给人们带来幸福。</a:t>
            </a:r>
          </a:p>
        </p:txBody>
      </p:sp>
      <p:pic>
        <p:nvPicPr>
          <p:cNvPr id="48133" name="Picture 5"/>
          <p:cNvPicPr>
            <a:picLocks noChangeAspect="1"/>
          </p:cNvPicPr>
          <p:nvPr/>
        </p:nvPicPr>
        <p:blipFill>
          <a:blip r:embed="rId2"/>
          <a:stretch>
            <a:fillRect/>
          </a:stretch>
        </p:blipFill>
        <p:spPr>
          <a:xfrm>
            <a:off x="7451725" y="4084638"/>
            <a:ext cx="831850" cy="84772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checkerboard(across)">
                                      <p:cBhvr>
                                        <p:cTn id="7" dur="500"/>
                                        <p:tgtEl>
                                          <p:spTgt spid="3277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2770"/>
                                        </p:tgtEl>
                                        <p:attrNameLst>
                                          <p:attrName>style.visibility</p:attrName>
                                        </p:attrNameLst>
                                      </p:cBhvr>
                                      <p:to>
                                        <p:strVal val="visible"/>
                                      </p:to>
                                    </p:set>
                                    <p:animEffect transition="in" filter="checkerboard(across)">
                                      <p:cBhvr>
                                        <p:cTn id="12" dur="500"/>
                                        <p:tgtEl>
                                          <p:spTgt spid="3277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2772"/>
                                        </p:tgtEl>
                                        <p:attrNameLst>
                                          <p:attrName>style.visibility</p:attrName>
                                        </p:attrNameLst>
                                      </p:cBhvr>
                                      <p:to>
                                        <p:strVal val="visible"/>
                                      </p:to>
                                    </p:set>
                                    <p:animEffect transition="in" filter="checkerboard(across)">
                                      <p:cBhvr>
                                        <p:cTn id="17" dur="500"/>
                                        <p:tgtEl>
                                          <p:spTgt spid="32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p:bldP spid="3277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idx="1"/>
          </p:nvPr>
        </p:nvSpPr>
        <p:spPr>
          <a:xfrm>
            <a:off x="179388" y="844550"/>
            <a:ext cx="8713787" cy="3455988"/>
          </a:xfrm>
          <a:noFill/>
          <a:ln>
            <a:noFill/>
          </a:ln>
        </p:spPr>
        <p:txBody>
          <a:bodyPr/>
          <a:lstStyle/>
          <a:p>
            <a:pPr eaLnBrk="1" hangingPunct="1">
              <a:lnSpc>
                <a:spcPct val="130000"/>
              </a:lnSpc>
            </a:pPr>
            <a:r>
              <a:rPr lang="zh-CN" altLang="en-US" sz="2400" b="1" dirty="0">
                <a:ea typeface="宋体" panose="02010600030101010101" pitchFamily="2" charset="-122"/>
              </a:rPr>
              <a:t>       </a:t>
            </a:r>
            <a:r>
              <a:rPr lang="zh-CN" altLang="en-US" sz="2200" b="1" i="1" u="sng" dirty="0">
                <a:solidFill>
                  <a:srgbClr val="0000CC"/>
                </a:solidFill>
                <a:latin typeface="Times New Roman" panose="02020603050405020304" pitchFamily="18" charset="0"/>
                <a:ea typeface="宋体" panose="02010600030101010101" pitchFamily="2" charset="-122"/>
              </a:rPr>
              <a:t>物理量</a:t>
            </a:r>
            <a:r>
              <a:rPr lang="zh-CN" altLang="en-US" sz="2200" b="1" dirty="0">
                <a:latin typeface="Times New Roman" panose="02020603050405020304" pitchFamily="18" charset="0"/>
                <a:ea typeface="宋体" panose="02010600030101010101" pitchFamily="2" charset="-122"/>
              </a:rPr>
              <a:t>简称为量，相互之间存在确定关系的一组物理量称为一种</a:t>
            </a:r>
            <a:r>
              <a:rPr lang="zh-CN" altLang="en-US" sz="2200" b="1" dirty="0">
                <a:solidFill>
                  <a:srgbClr val="0000CC"/>
                </a:solidFill>
                <a:latin typeface="Times New Roman" panose="02020603050405020304" pitchFamily="18" charset="0"/>
                <a:ea typeface="宋体" panose="02010600030101010101" pitchFamily="2" charset="-122"/>
              </a:rPr>
              <a:t>量制</a:t>
            </a:r>
            <a:r>
              <a:rPr lang="zh-CN" altLang="en-US" sz="2200" b="1" dirty="0">
                <a:latin typeface="Times New Roman" panose="02020603050405020304" pitchFamily="18" charset="0"/>
                <a:ea typeface="宋体" panose="02010600030101010101" pitchFamily="2" charset="-122"/>
              </a:rPr>
              <a:t>。在函数关系上彼此独立的物理量称为</a:t>
            </a:r>
            <a:r>
              <a:rPr lang="zh-CN" altLang="en-US" sz="2200" b="1" dirty="0">
                <a:solidFill>
                  <a:srgbClr val="0000CC"/>
                </a:solidFill>
                <a:latin typeface="Times New Roman" panose="02020603050405020304" pitchFamily="18" charset="0"/>
                <a:ea typeface="宋体" panose="02010600030101010101" pitchFamily="2" charset="-122"/>
              </a:rPr>
              <a:t>量制的基本量</a:t>
            </a:r>
            <a:r>
              <a:rPr lang="zh-CN" altLang="en-US" sz="2200" b="1" dirty="0">
                <a:latin typeface="Times New Roman" panose="02020603050405020304" pitchFamily="18" charset="0"/>
                <a:ea typeface="宋体" panose="02010600030101010101" pitchFamily="2" charset="-122"/>
              </a:rPr>
              <a:t>，由基本量的函数定义的量称为</a:t>
            </a:r>
            <a:r>
              <a:rPr lang="zh-CN" altLang="en-US" sz="2200" b="1" dirty="0">
                <a:solidFill>
                  <a:srgbClr val="0000CC"/>
                </a:solidFill>
                <a:latin typeface="Times New Roman" panose="02020603050405020304" pitchFamily="18" charset="0"/>
                <a:ea typeface="宋体" panose="02010600030101010101" pitchFamily="2" charset="-122"/>
              </a:rPr>
              <a:t>导出量</a:t>
            </a:r>
            <a:r>
              <a:rPr lang="zh-CN" altLang="en-US" sz="2200" b="1" dirty="0">
                <a:latin typeface="Times New Roman" panose="02020603050405020304" pitchFamily="18" charset="0"/>
                <a:ea typeface="宋体" panose="02010600030101010101" pitchFamily="2" charset="-122"/>
              </a:rPr>
              <a:t>。实际使用的有多种量制，如国际单位制、工程量制、英制等。国际单位制是</a:t>
            </a:r>
            <a:r>
              <a:rPr lang="en-US" altLang="zh-CN" sz="2200" b="1" dirty="0">
                <a:latin typeface="Times New Roman" panose="02020603050405020304" pitchFamily="18" charset="0"/>
                <a:ea typeface="宋体" panose="02010600030101010101" pitchFamily="2" charset="-122"/>
              </a:rPr>
              <a:t>1960</a:t>
            </a:r>
            <a:r>
              <a:rPr lang="zh-CN" altLang="en-US" sz="2200" b="1" dirty="0">
                <a:latin typeface="Times New Roman" panose="02020603050405020304" pitchFamily="18" charset="0"/>
                <a:ea typeface="宋体" panose="02010600030101010101" pitchFamily="2" charset="-122"/>
              </a:rPr>
              <a:t>年第十一届国际计量大会通过的一种单位制，是世界上最先进、科学和实用的单位制，其国际代号为</a:t>
            </a:r>
            <a:r>
              <a:rPr lang="en-US" altLang="zh-CN" sz="2200" b="1" dirty="0">
                <a:latin typeface="Times New Roman" panose="02020603050405020304" pitchFamily="18" charset="0"/>
                <a:ea typeface="宋体" panose="02010600030101010101" pitchFamily="2" charset="-122"/>
              </a:rPr>
              <a:t>SI</a:t>
            </a:r>
            <a:r>
              <a:rPr lang="zh-CN" altLang="en-US" sz="2200" b="1" dirty="0">
                <a:latin typeface="Times New Roman" panose="02020603050405020304" pitchFamily="18" charset="0"/>
                <a:ea typeface="宋体" panose="02010600030101010101" pitchFamily="2" charset="-122"/>
              </a:rPr>
              <a:t>。国际单位制由</a:t>
            </a:r>
            <a:r>
              <a:rPr lang="en-US" altLang="zh-CN" sz="2200" b="1" dirty="0">
                <a:latin typeface="Times New Roman" panose="02020603050405020304" pitchFamily="18" charset="0"/>
                <a:ea typeface="宋体" panose="02010600030101010101" pitchFamily="2" charset="-122"/>
              </a:rPr>
              <a:t>7</a:t>
            </a:r>
            <a:r>
              <a:rPr lang="zh-CN" altLang="en-US" sz="2200" b="1" dirty="0">
                <a:latin typeface="Times New Roman" panose="02020603050405020304" pitchFamily="18" charset="0"/>
                <a:ea typeface="宋体" panose="02010600030101010101" pitchFamily="2" charset="-122"/>
              </a:rPr>
              <a:t>个基本单位、</a:t>
            </a:r>
            <a:r>
              <a:rPr lang="en-US" altLang="zh-CN" sz="2200" b="1" dirty="0">
                <a:latin typeface="Times New Roman" panose="02020603050405020304" pitchFamily="18" charset="0"/>
                <a:ea typeface="宋体" panose="02010600030101010101" pitchFamily="2" charset="-122"/>
              </a:rPr>
              <a:t>2</a:t>
            </a:r>
            <a:r>
              <a:rPr lang="zh-CN" altLang="en-US" sz="2200" b="1" dirty="0">
                <a:latin typeface="Times New Roman" panose="02020603050405020304" pitchFamily="18" charset="0"/>
                <a:ea typeface="宋体" panose="02010600030101010101" pitchFamily="2" charset="-122"/>
              </a:rPr>
              <a:t>个辅助单位和</a:t>
            </a:r>
            <a:r>
              <a:rPr lang="en-US" altLang="zh-CN" sz="2200" b="1" dirty="0">
                <a:latin typeface="Times New Roman" panose="02020603050405020304" pitchFamily="18" charset="0"/>
                <a:ea typeface="宋体" panose="02010600030101010101" pitchFamily="2" charset="-122"/>
              </a:rPr>
              <a:t>10</a:t>
            </a:r>
            <a:r>
              <a:rPr lang="zh-CN" altLang="en-US" sz="2200" b="1" dirty="0">
                <a:latin typeface="Times New Roman" panose="02020603050405020304" pitchFamily="18" charset="0"/>
                <a:ea typeface="宋体" panose="02010600030101010101" pitchFamily="2" charset="-122"/>
              </a:rPr>
              <a:t>个具有专门名称的导出单位所组成。</a:t>
            </a:r>
          </a:p>
          <a:p>
            <a:pPr eaLnBrk="1" hangingPunct="1">
              <a:lnSpc>
                <a:spcPct val="130000"/>
              </a:lnSpc>
            </a:pPr>
            <a:r>
              <a:rPr lang="zh-CN" altLang="en-US" sz="2200" b="1" dirty="0">
                <a:latin typeface="Times New Roman" panose="02020603050405020304" pitchFamily="18" charset="0"/>
                <a:ea typeface="宋体" panose="02010600030101010101" pitchFamily="2" charset="-122"/>
              </a:rPr>
              <a:t>           </a:t>
            </a:r>
            <a:r>
              <a:rPr lang="en-US" altLang="zh-CN" sz="2200" b="1" dirty="0">
                <a:latin typeface="Times New Roman" panose="02020603050405020304" pitchFamily="18" charset="0"/>
                <a:ea typeface="宋体" panose="02010600030101010101" pitchFamily="2" charset="-122"/>
              </a:rPr>
              <a:t>7</a:t>
            </a:r>
            <a:r>
              <a:rPr lang="zh-CN" altLang="en-US" sz="2200" b="1" dirty="0">
                <a:latin typeface="Times New Roman" panose="02020603050405020304" pitchFamily="18" charset="0"/>
                <a:ea typeface="宋体" panose="02010600030101010101" pitchFamily="2" charset="-122"/>
              </a:rPr>
              <a:t>个基本单位如表所示，单位间彼此独立，有严格的定义</a:t>
            </a:r>
            <a:r>
              <a:rPr lang="zh-CN" altLang="en-US" sz="2400" b="1" dirty="0">
                <a:ea typeface="宋体" panose="02010600030101010101" pitchFamily="2" charset="-122"/>
              </a:rPr>
              <a:t>。</a:t>
            </a:r>
          </a:p>
        </p:txBody>
      </p:sp>
      <p:sp>
        <p:nvSpPr>
          <p:cNvPr id="33795" name="Rectangle 3"/>
          <p:cNvSpPr>
            <a:spLocks noChangeArrowheads="1"/>
          </p:cNvSpPr>
          <p:nvPr/>
        </p:nvSpPr>
        <p:spPr bwMode="auto">
          <a:xfrm>
            <a:off x="0" y="303610"/>
            <a:ext cx="9144000" cy="540544"/>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§1</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.3  </a:t>
            </a:r>
            <a:r>
              <a:rPr kumimoji="0" lang="zh-CN" altLang="en-US"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物理量的表示方法</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Effect transition="in" filter="wedge">
                                      <p:cBhvr>
                                        <p:cTn id="7" dur="2000"/>
                                        <p:tgtEl>
                                          <p:spTgt spid="337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33794">
                                            <p:txEl>
                                              <p:pRg st="1" end="1"/>
                                            </p:txEl>
                                          </p:spTgt>
                                        </p:tgtEl>
                                        <p:attrNameLst>
                                          <p:attrName>style.visibility</p:attrName>
                                        </p:attrNameLst>
                                      </p:cBhvr>
                                      <p:to>
                                        <p:strVal val="visible"/>
                                      </p:to>
                                    </p:set>
                                    <p:animEffect transition="in" filter="wedge">
                                      <p:cBhvr>
                                        <p:cTn id="12" dur="2000"/>
                                        <p:tgtEl>
                                          <p:spTgt spid="337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Group 2"/>
          <p:cNvGraphicFramePr>
            <a:graphicFrameLocks noGrp="1"/>
          </p:cNvGraphicFramePr>
          <p:nvPr/>
        </p:nvGraphicFramePr>
        <p:xfrm>
          <a:off x="1116013" y="87313"/>
          <a:ext cx="8027987" cy="5083174"/>
        </p:xfrm>
        <a:graphic>
          <a:graphicData uri="http://schemas.openxmlformats.org/drawingml/2006/table">
            <a:tbl>
              <a:tblPr/>
              <a:tblGrid>
                <a:gridCol w="1152070">
                  <a:extLst>
                    <a:ext uri="{9D8B030D-6E8A-4147-A177-3AD203B41FA5}">
                      <a16:colId xmlns:a16="http://schemas.microsoft.com/office/drawing/2014/main" val="20000"/>
                    </a:ext>
                  </a:extLst>
                </a:gridCol>
                <a:gridCol w="828051">
                  <a:extLst>
                    <a:ext uri="{9D8B030D-6E8A-4147-A177-3AD203B41FA5}">
                      <a16:colId xmlns:a16="http://schemas.microsoft.com/office/drawing/2014/main" val="20001"/>
                    </a:ext>
                  </a:extLst>
                </a:gridCol>
                <a:gridCol w="900056">
                  <a:extLst>
                    <a:ext uri="{9D8B030D-6E8A-4147-A177-3AD203B41FA5}">
                      <a16:colId xmlns:a16="http://schemas.microsoft.com/office/drawing/2014/main" val="20002"/>
                    </a:ext>
                  </a:extLst>
                </a:gridCol>
                <a:gridCol w="5147810">
                  <a:extLst>
                    <a:ext uri="{9D8B030D-6E8A-4147-A177-3AD203B41FA5}">
                      <a16:colId xmlns:a16="http://schemas.microsoft.com/office/drawing/2014/main" val="20003"/>
                    </a:ext>
                  </a:extLst>
                </a:gridCol>
              </a:tblGrid>
              <a:tr h="61731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物理量</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名 称</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国际</a:t>
                      </a: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符号</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定  义</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726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长度</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米</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光在真空中</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1/299 792 458s</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时间间隔内所经过路径的长度</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269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质量</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千克</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kg</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等于保存在巴黎国际计量局的铂铱合金的千克原器的质量</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527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时间</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秒</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铯</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-133</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原子的基态两个超精细能级之间跃迁所对应辐射的</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9 192 631 770</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个周期的持续时间</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9667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电流</a:t>
                      </a: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强度</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安</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培</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真空中，使两根相距</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lm</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极细且无限长的圆直导线间产生在每米长度上为</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2×l0</a:t>
                      </a:r>
                      <a:r>
                        <a:rPr kumimoji="0" lang="en-US" altLang="zh-CN" sz="1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-7</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牛顿力时，所对应的每根导线中通过的等量恒定电流</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7269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热力学温度</a:t>
                      </a:r>
                      <a:endPar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开</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尔文</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K</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水三相点热力学温度的</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1/273.15</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97726">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光强度</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坎</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德拉</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cd</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一光源在给定方向上的发光强度，该光源发出频率为</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540×10</a:t>
                      </a:r>
                      <a:r>
                        <a:rPr kumimoji="0" lang="en-US" altLang="zh-CN" sz="1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12</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Hz</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的单色辐射，且在此方向上的辐射强度为</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1/683W/</a:t>
                      </a:r>
                      <a:r>
                        <a:rPr kumimoji="0" lang="en-US" altLang="zh-CN" sz="14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sr</a:t>
                      </a:r>
                      <a:endParaRPr kumimoji="0" lang="en-US" altLang="zh-CN"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7809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物质的量</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摩</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尔</a:t>
                      </a: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mol</a:t>
                      </a:r>
                      <a:endPar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一系统的物质的量，该系统中所包含的结构粒子数与</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0.0l2kg</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碳</a:t>
                      </a: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a:t>
                      </a: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的原子数目相等；在使用摩尔时，结构粒子应予指明，可以是原子、分子、离子、电子或是这些粒子的特定组合体</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2" marB="3430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F930A29-709F-A018-32C2-C004AD7F8189}"/>
              </a:ext>
            </a:extLst>
          </p:cNvPr>
          <p:cNvPicPr>
            <a:picLocks noChangeAspect="1"/>
          </p:cNvPicPr>
          <p:nvPr/>
        </p:nvPicPr>
        <p:blipFill>
          <a:blip r:embed="rId2"/>
          <a:stretch>
            <a:fillRect/>
          </a:stretch>
        </p:blipFill>
        <p:spPr>
          <a:xfrm>
            <a:off x="1873379" y="0"/>
            <a:ext cx="5397242" cy="5143500"/>
          </a:xfrm>
          <a:prstGeom prst="rect">
            <a:avLst/>
          </a:prstGeom>
        </p:spPr>
      </p:pic>
    </p:spTree>
    <p:extLst>
      <p:ext uri="{BB962C8B-B14F-4D97-AF65-F5344CB8AC3E}">
        <p14:creationId xmlns:p14="http://schemas.microsoft.com/office/powerpoint/2010/main" val="2687345889"/>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AE06540-D51A-74EA-F36D-965D618322A8}"/>
              </a:ext>
            </a:extLst>
          </p:cNvPr>
          <p:cNvPicPr>
            <a:picLocks noChangeAspect="1"/>
          </p:cNvPicPr>
          <p:nvPr/>
        </p:nvPicPr>
        <p:blipFill>
          <a:blip r:embed="rId2"/>
          <a:stretch>
            <a:fillRect/>
          </a:stretch>
        </p:blipFill>
        <p:spPr>
          <a:xfrm>
            <a:off x="2444920" y="0"/>
            <a:ext cx="4254160" cy="5143500"/>
          </a:xfrm>
          <a:prstGeom prst="rect">
            <a:avLst/>
          </a:prstGeom>
        </p:spPr>
      </p:pic>
    </p:spTree>
    <p:extLst>
      <p:ext uri="{BB962C8B-B14F-4D97-AF65-F5344CB8AC3E}">
        <p14:creationId xmlns:p14="http://schemas.microsoft.com/office/powerpoint/2010/main" val="1268676183"/>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04463E0-B40E-6F70-B9AA-FD63FC3E2280}"/>
              </a:ext>
            </a:extLst>
          </p:cNvPr>
          <p:cNvPicPr>
            <a:picLocks noChangeAspect="1"/>
          </p:cNvPicPr>
          <p:nvPr/>
        </p:nvPicPr>
        <p:blipFill>
          <a:blip r:embed="rId2"/>
          <a:stretch>
            <a:fillRect/>
          </a:stretch>
        </p:blipFill>
        <p:spPr>
          <a:xfrm>
            <a:off x="2901492" y="0"/>
            <a:ext cx="3341016" cy="5143500"/>
          </a:xfrm>
          <a:prstGeom prst="rect">
            <a:avLst/>
          </a:prstGeom>
        </p:spPr>
      </p:pic>
    </p:spTree>
    <p:extLst>
      <p:ext uri="{BB962C8B-B14F-4D97-AF65-F5344CB8AC3E}">
        <p14:creationId xmlns:p14="http://schemas.microsoft.com/office/powerpoint/2010/main" val="343601202"/>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idx="1"/>
          </p:nvPr>
        </p:nvSpPr>
        <p:spPr bwMode="auto">
          <a:xfrm>
            <a:off x="179388" y="1671638"/>
            <a:ext cx="8569325" cy="1908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indent="0">
              <a:lnSpc>
                <a:spcPct val="130000"/>
              </a:lnSpc>
              <a:spcBef>
                <a:spcPct val="0"/>
              </a:spcBef>
              <a:buNone/>
            </a:pPr>
            <a:r>
              <a:rPr lang="en-US" altLang="zh-CN" sz="22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工程化学是</a:t>
            </a:r>
            <a:r>
              <a:rPr lang="zh-CN" altLang="en-US" sz="2400" b="1" dirty="0">
                <a:latin typeface="Times New Roman" panose="02020603050405020304" pitchFamily="18" charset="0"/>
                <a:cs typeface="Times New Roman" panose="02020603050405020304" pitchFamily="18" charset="0"/>
              </a:rPr>
              <a:t>高等院校</a:t>
            </a:r>
            <a:r>
              <a:rPr lang="zh-CN" altLang="zh-CN" sz="2400" b="1" dirty="0">
                <a:latin typeface="Times New Roman" panose="02020603050405020304" pitchFamily="18" charset="0"/>
                <a:cs typeface="Times New Roman" panose="02020603050405020304" pitchFamily="18" charset="0"/>
              </a:rPr>
              <a:t>土木、车辆、机械、能源等专业的重要基础课程。</a:t>
            </a:r>
            <a:r>
              <a:rPr lang="zh-CN" altLang="en-US" sz="2400" b="1" dirty="0">
                <a:latin typeface="Times New Roman" panose="02020603050405020304" pitchFamily="18" charset="0"/>
                <a:cs typeface="Times New Roman" panose="02020603050405020304" pitchFamily="18" charset="0"/>
              </a:rPr>
              <a:t>积极</a:t>
            </a:r>
            <a:r>
              <a:rPr lang="zh-CN" altLang="zh-CN" sz="2400" b="1" dirty="0">
                <a:latin typeface="Times New Roman" panose="02020603050405020304" pitchFamily="18" charset="0"/>
                <a:cs typeface="Times New Roman" panose="02020603050405020304" pitchFamily="18" charset="0"/>
              </a:rPr>
              <a:t>服务</a:t>
            </a:r>
            <a:r>
              <a:rPr lang="zh-CN" altLang="en-US" sz="2400" b="1" dirty="0">
                <a:latin typeface="Times New Roman" panose="02020603050405020304" pitchFamily="18" charset="0"/>
                <a:cs typeface="Times New Roman" panose="02020603050405020304" pitchFamily="18" charset="0"/>
              </a:rPr>
              <a:t>于</a:t>
            </a:r>
            <a:r>
              <a:rPr lang="zh-CN" altLang="zh-CN" sz="2400" b="1" dirty="0">
                <a:latin typeface="Times New Roman" panose="02020603050405020304" pitchFamily="18" charset="0"/>
                <a:cs typeface="Times New Roman" panose="02020603050405020304" pitchFamily="18" charset="0"/>
              </a:rPr>
              <a:t>国家</a:t>
            </a:r>
            <a:r>
              <a:rPr lang="en-US" altLang="zh-CN" sz="2400" b="1" dirty="0">
                <a:latin typeface="Times New Roman" panose="02020603050405020304" pitchFamily="18" charset="0"/>
                <a:cs typeface="Times New Roman" panose="02020603050405020304" pitchFamily="18" charset="0"/>
              </a:rPr>
              <a:t>“</a:t>
            </a:r>
            <a:r>
              <a:rPr lang="zh-CN" altLang="zh-CN" sz="2400" b="1" dirty="0">
                <a:latin typeface="Times New Roman" panose="02020603050405020304" pitchFamily="18" charset="0"/>
                <a:cs typeface="Times New Roman" panose="02020603050405020304" pitchFamily="18" charset="0"/>
              </a:rPr>
              <a:t>新工科</a:t>
            </a:r>
            <a:r>
              <a:rPr lang="en-US" altLang="zh-CN" sz="2400" b="1" dirty="0">
                <a:latin typeface="Times New Roman" panose="02020603050405020304" pitchFamily="18" charset="0"/>
                <a:cs typeface="Times New Roman" panose="02020603050405020304" pitchFamily="18" charset="0"/>
              </a:rPr>
              <a:t>”</a:t>
            </a:r>
            <a:r>
              <a:rPr lang="zh-CN" altLang="zh-CN" sz="2400" b="1" dirty="0">
                <a:latin typeface="Times New Roman" panose="02020603050405020304" pitchFamily="18" charset="0"/>
                <a:cs typeface="Times New Roman" panose="02020603050405020304" pitchFamily="18" charset="0"/>
              </a:rPr>
              <a:t>建设、工程教育认证与相应行业需求</a:t>
            </a:r>
            <a:r>
              <a:rPr lang="zh-CN" altLang="en-US" sz="2400" b="1" dirty="0">
                <a:latin typeface="Times New Roman" panose="02020603050405020304" pitchFamily="18" charset="0"/>
                <a:cs typeface="Times New Roman" panose="02020603050405020304" pitchFamily="18" charset="0"/>
              </a:rPr>
              <a:t>及学</a:t>
            </a:r>
            <a:r>
              <a:rPr lang="zh-CN" altLang="zh-CN" sz="2400" b="1" dirty="0">
                <a:latin typeface="Times New Roman" panose="02020603050405020304" pitchFamily="18" charset="0"/>
                <a:cs typeface="Times New Roman" panose="02020603050405020304" pitchFamily="18" charset="0"/>
              </a:rPr>
              <a:t>校</a:t>
            </a:r>
            <a:r>
              <a:rPr lang="en-US" altLang="zh-CN" sz="2400" b="1" dirty="0">
                <a:latin typeface="Times New Roman" panose="02020603050405020304" pitchFamily="18" charset="0"/>
                <a:cs typeface="Times New Roman" panose="02020603050405020304" pitchFamily="18" charset="0"/>
              </a:rPr>
              <a:t>“</a:t>
            </a:r>
            <a:r>
              <a:rPr lang="zh-CN" altLang="zh-CN" sz="2400" b="1" dirty="0">
                <a:latin typeface="Times New Roman" panose="02020603050405020304" pitchFamily="18" charset="0"/>
                <a:cs typeface="Times New Roman" panose="02020603050405020304" pitchFamily="18" charset="0"/>
              </a:rPr>
              <a:t>地方性、应用型</a:t>
            </a:r>
            <a:r>
              <a:rPr lang="en-US" altLang="zh-CN" sz="2400" b="1" dirty="0">
                <a:latin typeface="Times New Roman" panose="02020603050405020304" pitchFamily="18" charset="0"/>
                <a:cs typeface="Times New Roman" panose="02020603050405020304" pitchFamily="18" charset="0"/>
              </a:rPr>
              <a:t>”</a:t>
            </a:r>
            <a:r>
              <a:rPr lang="zh-CN" altLang="zh-CN" sz="2400" b="1" dirty="0">
                <a:latin typeface="Times New Roman" panose="02020603050405020304" pitchFamily="18" charset="0"/>
                <a:cs typeface="Times New Roman" panose="02020603050405020304" pitchFamily="18" charset="0"/>
              </a:rPr>
              <a:t>的办学定位与人才培养方案。</a:t>
            </a:r>
          </a:p>
          <a:p>
            <a:pPr marL="0" indent="0">
              <a:lnSpc>
                <a:spcPct val="130000"/>
              </a:lnSpc>
              <a:spcBef>
                <a:spcPct val="0"/>
              </a:spcBef>
            </a:pPr>
            <a:r>
              <a:rPr lang="en-US" altLang="zh-CN" sz="2400" dirty="0">
                <a:solidFill>
                  <a:srgbClr val="C00000"/>
                </a:solidFill>
                <a:latin typeface="微软雅黑" panose="020B0503020204020204" pitchFamily="34" charset="-122"/>
                <a:ea typeface="微软雅黑" panose="020B0503020204020204" pitchFamily="34" charset="-122"/>
              </a:rPr>
              <a:t>        </a:t>
            </a:r>
            <a:r>
              <a:rPr lang="zh-CN" altLang="zh-CN" sz="2800" b="1" dirty="0">
                <a:solidFill>
                  <a:srgbClr val="C00000"/>
                </a:solidFill>
                <a:latin typeface="微软雅黑" panose="020B0503020204020204" pitchFamily="34" charset="-122"/>
                <a:ea typeface="微软雅黑" panose="020B0503020204020204" pitchFamily="34" charset="-122"/>
              </a:rPr>
              <a:t>课程总目标</a:t>
            </a:r>
            <a:r>
              <a:rPr lang="zh-CN" altLang="zh-CN" sz="2400" b="1" dirty="0">
                <a:latin typeface="Times New Roman" panose="02020603050405020304" pitchFamily="18" charset="0"/>
                <a:cs typeface="Times New Roman" panose="02020603050405020304" pitchFamily="18" charset="0"/>
              </a:rPr>
              <a:t>：立德树人，</a:t>
            </a:r>
            <a:endParaRPr lang="en-US" altLang="zh-CN" sz="2400" b="1" dirty="0">
              <a:latin typeface="Times New Roman" panose="02020603050405020304" pitchFamily="18" charset="0"/>
              <a:cs typeface="Times New Roman" panose="02020603050405020304" pitchFamily="18" charset="0"/>
            </a:endParaRPr>
          </a:p>
          <a:p>
            <a:pPr marL="0" indent="0">
              <a:lnSpc>
                <a:spcPct val="130000"/>
              </a:lnSpc>
              <a:spcBef>
                <a:spcPct val="0"/>
              </a:spcBef>
            </a:pPr>
            <a:r>
              <a:rPr lang="en-US" altLang="zh-CN" sz="2400" b="1" dirty="0">
                <a:latin typeface="Times New Roman" panose="02020603050405020304" pitchFamily="18" charset="0"/>
                <a:cs typeface="Times New Roman" panose="02020603050405020304" pitchFamily="18" charset="0"/>
              </a:rPr>
              <a:t>                                    </a:t>
            </a:r>
            <a:r>
              <a:rPr lang="zh-CN" altLang="zh-CN" sz="2400" b="1" dirty="0">
                <a:latin typeface="Times New Roman" panose="02020603050405020304" pitchFamily="18" charset="0"/>
                <a:cs typeface="Times New Roman" panose="02020603050405020304" pitchFamily="18" charset="0"/>
              </a:rPr>
              <a:t>促进知识、能力、素质的有机融合。</a:t>
            </a:r>
            <a:endParaRPr lang="zh-CN" altLang="zh-CN" sz="2400" b="1" dirty="0">
              <a:latin typeface="Times New Roman" panose="02020603050405020304" pitchFamily="18" charset="0"/>
              <a:ea typeface="Times New Roman" panose="02020603050405020304" pitchFamily="18" charset="0"/>
            </a:endParaRPr>
          </a:p>
        </p:txBody>
      </p:sp>
      <p:sp>
        <p:nvSpPr>
          <p:cNvPr id="35843" name="Rectangle 3"/>
          <p:cNvSpPr>
            <a:spLocks noChangeArrowheads="1"/>
          </p:cNvSpPr>
          <p:nvPr/>
        </p:nvSpPr>
        <p:spPr bwMode="auto">
          <a:xfrm>
            <a:off x="-15416" y="231490"/>
            <a:ext cx="9144000" cy="540544"/>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chemeClr val="bg1"/>
                </a:solidFill>
                <a:effectLst/>
                <a:uLnTx/>
                <a:uFillTx/>
                <a:latin typeface="楷体_GB2312" panose="02010609030101010101" pitchFamily="49" charset="-122"/>
                <a:ea typeface="楷体_GB2312" panose="02010609030101010101" pitchFamily="49" charset="-122"/>
                <a:cs typeface="+mn-cs"/>
              </a:rPr>
              <a:t>§1</a:t>
            </a:r>
            <a:r>
              <a:rPr kumimoji="0" lang="en-US" altLang="zh-CN" sz="3200" b="1" i="0" u="none" strike="noStrike" kern="1200" cap="none" spc="0" normalizeH="0" baseline="0" noProof="0" dirty="0">
                <a:ln>
                  <a:noFill/>
                </a:ln>
                <a:solidFill>
                  <a:schemeClr val="bg1"/>
                </a:solidFill>
                <a:effectLst/>
                <a:uLnTx/>
                <a:uFillTx/>
                <a:latin typeface="Times New Roman" panose="02020603050405020304" pitchFamily="18" charset="0"/>
                <a:ea typeface="楷体_GB2312" panose="02010609030101010101" pitchFamily="49" charset="-122"/>
                <a:cs typeface="+mn-cs"/>
              </a:rPr>
              <a:t>.4</a:t>
            </a:r>
            <a:r>
              <a:rPr kumimoji="0" lang="en-US" altLang="zh-CN" sz="3200" b="1" i="0" u="none" strike="noStrike" kern="1200" cap="none" spc="0" normalizeH="0" baseline="0" noProof="0" dirty="0">
                <a:ln>
                  <a:noFill/>
                </a:ln>
                <a:solidFill>
                  <a:schemeClr val="bg1"/>
                </a:solidFill>
                <a:effectLst/>
                <a:uLnTx/>
                <a:uFillTx/>
                <a:latin typeface="楷体_GB2312" panose="02010609030101010101" pitchFamily="49" charset="-122"/>
                <a:ea typeface="楷体_GB2312" panose="02010609030101010101" pitchFamily="49" charset="-122"/>
                <a:cs typeface="+mn-cs"/>
              </a:rPr>
              <a:t> </a:t>
            </a:r>
            <a:r>
              <a:rPr kumimoji="0" lang="zh-CN" altLang="en-US" sz="3200" b="1" i="0" u="none" strike="noStrike" kern="1200" cap="none" spc="0" normalizeH="0" baseline="0" noProof="0" dirty="0">
                <a:ln>
                  <a:noFill/>
                </a:ln>
                <a:solidFill>
                  <a:schemeClr val="bg1"/>
                </a:solidFill>
                <a:effectLst/>
                <a:uLnTx/>
                <a:uFillTx/>
                <a:latin typeface="楷体_GB2312" panose="02010609030101010101" pitchFamily="49" charset="-122"/>
                <a:ea typeface="楷体_GB2312" panose="02010609030101010101" pitchFamily="49" charset="-122"/>
                <a:cs typeface="+mn-cs"/>
              </a:rPr>
              <a:t>工程化学的课程目标和学习方法</a:t>
            </a:r>
          </a:p>
        </p:txBody>
      </p:sp>
      <p:sp>
        <p:nvSpPr>
          <p:cNvPr id="35844" name="Rectangle 4"/>
          <p:cNvSpPr/>
          <p:nvPr/>
        </p:nvSpPr>
        <p:spPr>
          <a:xfrm>
            <a:off x="-7937" y="950913"/>
            <a:ext cx="4211637" cy="523875"/>
          </a:xfrm>
          <a:prstGeom prst="rect">
            <a:avLst/>
          </a:prstGeom>
          <a:solidFill>
            <a:srgbClr val="FF9900"/>
          </a:solidFill>
          <a:ln w="19050" cap="flat" cmpd="sng">
            <a:solidFill>
              <a:srgbClr val="008000"/>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1.</a:t>
            </a:r>
            <a:r>
              <a:rPr lang="zh-CN" altLang="en-US" sz="2800" b="1" dirty="0">
                <a:solidFill>
                  <a:schemeClr val="tx2"/>
                </a:solidFill>
                <a:latin typeface="楷体_GB2312" panose="02010609030101010101" pitchFamily="49" charset="-122"/>
                <a:ea typeface="楷体_GB2312" panose="02010609030101010101" pitchFamily="49" charset="-122"/>
              </a:rPr>
              <a:t>工程</a:t>
            </a:r>
            <a:r>
              <a:rPr lang="zh-CN" altLang="en-US" sz="2800" b="1" dirty="0">
                <a:latin typeface="楷体_GB2312" panose="02010609030101010101" pitchFamily="49" charset="-122"/>
                <a:ea typeface="楷体_GB2312" panose="02010609030101010101" pitchFamily="49" charset="-122"/>
              </a:rPr>
              <a:t>化学的课程目标</a:t>
            </a:r>
          </a:p>
        </p:txBody>
      </p:sp>
      <p:sp>
        <p:nvSpPr>
          <p:cNvPr id="51207" name="矩形 1"/>
          <p:cNvSpPr/>
          <p:nvPr/>
        </p:nvSpPr>
        <p:spPr>
          <a:xfrm>
            <a:off x="2286000" y="-244475"/>
            <a:ext cx="4572000" cy="369888"/>
          </a:xfrm>
          <a:prstGeom prst="rect">
            <a:avLst/>
          </a:prstGeom>
          <a:noFill/>
          <a:ln w="9525">
            <a:noFill/>
          </a:ln>
        </p:spPr>
        <p:txBody>
          <a:bodyPr>
            <a:spAutoFit/>
          </a:bodyPr>
          <a:lstStyle/>
          <a:p>
            <a:endParaRPr lang="zh-CN" altLang="en-US" dirty="0">
              <a:latin typeface="Arial" panose="020B0604020202020204" pitchFamily="34" charset="0"/>
            </a:endParaRPr>
          </a:p>
        </p:txBody>
      </p:sp>
      <p:pic>
        <p:nvPicPr>
          <p:cNvPr id="51208" name="Picture 2"/>
          <p:cNvPicPr>
            <a:picLocks noChangeAspect="1"/>
          </p:cNvPicPr>
          <p:nvPr/>
        </p:nvPicPr>
        <p:blipFill>
          <a:blip r:embed="rId2"/>
          <a:stretch>
            <a:fillRect/>
          </a:stretch>
        </p:blipFill>
        <p:spPr>
          <a:xfrm>
            <a:off x="8101013" y="4659313"/>
            <a:ext cx="896937" cy="38417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5844"/>
                                        </p:tgtEl>
                                        <p:attrNameLst>
                                          <p:attrName>style.visibility</p:attrName>
                                        </p:attrNameLst>
                                      </p:cBhvr>
                                      <p:to>
                                        <p:strVal val="visible"/>
                                      </p:to>
                                    </p:set>
                                    <p:anim calcmode="lin" valueType="num">
                                      <p:cBhvr>
                                        <p:cTn id="7" dur="500" fill="hold"/>
                                        <p:tgtEl>
                                          <p:spTgt spid="3584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5844"/>
                                        </p:tgtEl>
                                        <p:attrNameLst>
                                          <p:attrName>ppt_y</p:attrName>
                                        </p:attrNameLst>
                                      </p:cBhvr>
                                      <p:tavLst>
                                        <p:tav tm="0">
                                          <p:val>
                                            <p:strVal val="#ppt_y"/>
                                          </p:val>
                                        </p:tav>
                                        <p:tav tm="100000">
                                          <p:val>
                                            <p:strVal val="#ppt_y"/>
                                          </p:val>
                                        </p:tav>
                                      </p:tavLst>
                                    </p:anim>
                                    <p:anim calcmode="lin" valueType="num">
                                      <p:cBhvr>
                                        <p:cTn id="9" dur="500" fill="hold"/>
                                        <p:tgtEl>
                                          <p:spTgt spid="3584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584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P spid="3584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idx="1"/>
          </p:nvPr>
        </p:nvSpPr>
        <p:spPr>
          <a:xfrm>
            <a:off x="-73025" y="125413"/>
            <a:ext cx="9217025" cy="3563937"/>
          </a:xfrm>
          <a:noFill/>
          <a:ln>
            <a:noFill/>
          </a:ln>
        </p:spPr>
        <p:txBody>
          <a:bodyPr/>
          <a:lstStyle/>
          <a:p>
            <a:pPr>
              <a:lnSpc>
                <a:spcPct val="130000"/>
              </a:lnSpc>
              <a:spcBef>
                <a:spcPct val="0"/>
              </a:spcBef>
            </a:pPr>
            <a:r>
              <a:rPr lang="zh-CN" altLang="zh-CN" sz="2400" b="1" dirty="0">
                <a:solidFill>
                  <a:srgbClr val="C00000"/>
                </a:solidFill>
                <a:latin typeface="微软雅黑" panose="020B0503020204020204" pitchFamily="34" charset="-122"/>
                <a:ea typeface="微软雅黑" panose="020B0503020204020204" pitchFamily="34" charset="-122"/>
              </a:rPr>
              <a:t>课程教学目标</a:t>
            </a:r>
            <a:endParaRPr lang="en-US" altLang="zh-CN" sz="2400" b="1" dirty="0">
              <a:solidFill>
                <a:srgbClr val="C00000"/>
              </a:solidFill>
              <a:latin typeface="微软雅黑" panose="020B0503020204020204" pitchFamily="34" charset="-122"/>
              <a:ea typeface="微软雅黑" panose="020B0503020204020204" pitchFamily="34" charset="-122"/>
            </a:endParaRPr>
          </a:p>
          <a:p>
            <a:pPr>
              <a:lnSpc>
                <a:spcPct val="130000"/>
              </a:lnSpc>
              <a:spcBef>
                <a:spcPct val="0"/>
              </a:spcBef>
            </a:pPr>
            <a:r>
              <a:rPr lang="en-US" altLang="zh-CN" sz="2200" b="1" dirty="0">
                <a:solidFill>
                  <a:srgbClr val="C00000"/>
                </a:solidFill>
                <a:latin typeface="微软雅黑" panose="020B0503020204020204" pitchFamily="34" charset="-122"/>
                <a:ea typeface="微软雅黑" panose="020B0503020204020204" pitchFamily="34" charset="-122"/>
              </a:rPr>
              <a:t>     </a:t>
            </a:r>
            <a:r>
              <a:rPr lang="zh-CN" altLang="zh-CN" sz="2200" b="1" dirty="0">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1</a:t>
            </a:r>
            <a:r>
              <a:rPr lang="zh-CN" altLang="zh-CN" sz="2200" b="1" dirty="0">
                <a:latin typeface="Times New Roman" panose="02020603050405020304" pitchFamily="18" charset="0"/>
                <a:cs typeface="Times New Roman" panose="02020603050405020304" pitchFamily="18" charset="0"/>
              </a:rPr>
              <a:t>）培养学生掌握化学热力学、溶液的化学平衡、</a:t>
            </a:r>
            <a:r>
              <a:rPr lang="en-US" altLang="zh-CN" sz="2200" b="1" dirty="0">
                <a:latin typeface="Times New Roman" panose="02020603050405020304" pitchFamily="18" charset="0"/>
                <a:cs typeface="Times New Roman" panose="02020603050405020304" pitchFamily="18" charset="0"/>
              </a:rPr>
              <a:t> </a:t>
            </a:r>
            <a:r>
              <a:rPr lang="zh-CN" altLang="zh-CN" sz="2200" b="1" dirty="0">
                <a:latin typeface="Times New Roman" panose="02020603050405020304" pitchFamily="18" charset="0"/>
                <a:cs typeface="Times New Roman" panose="02020603050405020304" pitchFamily="18" charset="0"/>
              </a:rPr>
              <a:t>电化学等化学基础知识、理论和部分难点内容，具有应用化学知识，分析、解决道路桥梁、交通运输、机械加工、材料保护等相关领域复杂工程问题的综合能力和高级思维。</a:t>
            </a:r>
            <a:r>
              <a:rPr lang="en-US" altLang="zh-CN" sz="2200" b="1" dirty="0">
                <a:latin typeface="Times New Roman" panose="02020603050405020304" pitchFamily="18" charset="0"/>
                <a:cs typeface="Times New Roman" panose="02020603050405020304" pitchFamily="18" charset="0"/>
              </a:rPr>
              <a:t> </a:t>
            </a:r>
          </a:p>
          <a:p>
            <a:pPr>
              <a:lnSpc>
                <a:spcPct val="130000"/>
              </a:lnSpc>
              <a:spcBef>
                <a:spcPct val="0"/>
              </a:spcBef>
            </a:pPr>
            <a:r>
              <a:rPr lang="en-US" altLang="zh-CN" sz="2200" b="1" dirty="0">
                <a:latin typeface="Times New Roman" panose="02020603050405020304" pitchFamily="18" charset="0"/>
                <a:cs typeface="Times New Roman" panose="02020603050405020304" pitchFamily="18" charset="0"/>
              </a:rPr>
              <a:t>       </a:t>
            </a:r>
            <a:r>
              <a:rPr lang="zh-CN" altLang="zh-CN" sz="2200" b="1" dirty="0">
                <a:latin typeface="Times New Roman" panose="02020603050405020304" pitchFamily="18" charset="0"/>
                <a:cs typeface="Times New Roman" panose="02020603050405020304" pitchFamily="18" charset="0"/>
              </a:rPr>
              <a:t>（</a:t>
            </a:r>
            <a:r>
              <a:rPr lang="en-US" altLang="zh-CN" sz="2200" b="1" dirty="0">
                <a:latin typeface="Times New Roman" panose="02020603050405020304" pitchFamily="18" charset="0"/>
                <a:cs typeface="Times New Roman" panose="02020603050405020304" pitchFamily="18" charset="0"/>
              </a:rPr>
              <a:t>2</a:t>
            </a:r>
            <a:r>
              <a:rPr lang="zh-CN" altLang="zh-CN" sz="2200" b="1" dirty="0">
                <a:latin typeface="Times New Roman" panose="02020603050405020304" pitchFamily="18" charset="0"/>
                <a:cs typeface="Times New Roman" panose="02020603050405020304" pitchFamily="18" charset="0"/>
              </a:rPr>
              <a:t>）培养学生运用化学知识思考环境污染、能源危机等社会热点论题，理解和评价专业工程实践对环境、能源的影响，促进社会可持</a:t>
            </a:r>
            <a:r>
              <a:rPr lang="en-US" altLang="zh-CN" sz="2200" b="1" dirty="0">
                <a:latin typeface="Times New Roman" panose="02020603050405020304" pitchFamily="18" charset="0"/>
                <a:cs typeface="Times New Roman" panose="02020603050405020304" pitchFamily="18" charset="0"/>
              </a:rPr>
              <a:t>                 </a:t>
            </a:r>
            <a:r>
              <a:rPr lang="zh-CN" altLang="zh-CN" sz="2200" b="1" dirty="0">
                <a:latin typeface="Times New Roman" panose="02020603050405020304" pitchFamily="18" charset="0"/>
                <a:cs typeface="Times New Roman" panose="02020603050405020304" pitchFamily="18" charset="0"/>
              </a:rPr>
              <a:t>续发展。</a:t>
            </a:r>
            <a:endParaRPr lang="zh-CN" altLang="en-US" sz="2200" b="1" dirty="0">
              <a:latin typeface="Times New Roman" panose="02020603050405020304" pitchFamily="18" charset="0"/>
              <a:ea typeface="Times New Roman" panose="02020603050405020304" pitchFamily="18" charset="0"/>
            </a:endParaRPr>
          </a:p>
        </p:txBody>
      </p:sp>
      <p:sp>
        <p:nvSpPr>
          <p:cNvPr id="52227" name="矩形 1"/>
          <p:cNvSpPr/>
          <p:nvPr/>
        </p:nvSpPr>
        <p:spPr>
          <a:xfrm>
            <a:off x="2286000" y="-244475"/>
            <a:ext cx="4572000" cy="369888"/>
          </a:xfrm>
          <a:prstGeom prst="rect">
            <a:avLst/>
          </a:prstGeom>
          <a:noFill/>
          <a:ln w="9525">
            <a:noFill/>
          </a:ln>
        </p:spPr>
        <p:txBody>
          <a:bodyPr>
            <a:spAutoFit/>
          </a:bodyPr>
          <a:lstStyle/>
          <a:p>
            <a:endParaRPr lang="zh-CN" altLang="en-US" dirty="0">
              <a:latin typeface="Arial" panose="020B0604020202020204" pitchFamily="34" charset="0"/>
            </a:endParaRPr>
          </a:p>
        </p:txBody>
      </p:sp>
      <p:pic>
        <p:nvPicPr>
          <p:cNvPr id="73730" name="Picture 2"/>
          <p:cNvPicPr>
            <a:picLocks noChangeAspect="1" noChangeArrowheads="1"/>
          </p:cNvPicPr>
          <p:nvPr/>
        </p:nvPicPr>
        <p:blipFill>
          <a:blip r:embed="rId2"/>
          <a:srcRect/>
          <a:stretch>
            <a:fillRect/>
          </a:stretch>
        </p:blipFill>
        <p:spPr bwMode="auto">
          <a:xfrm>
            <a:off x="6516688" y="3576638"/>
            <a:ext cx="2411413" cy="15636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3732" name="Picture 4"/>
          <p:cNvPicPr>
            <a:picLocks noChangeAspect="1" noChangeArrowheads="1"/>
          </p:cNvPicPr>
          <p:nvPr/>
        </p:nvPicPr>
        <p:blipFill>
          <a:blip r:embed="rId3"/>
          <a:srcRect/>
          <a:stretch>
            <a:fillRect/>
          </a:stretch>
        </p:blipFill>
        <p:spPr bwMode="auto">
          <a:xfrm>
            <a:off x="1727200" y="3244850"/>
            <a:ext cx="4429125" cy="189071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wedge">
                                      <p:cBhvr>
                                        <p:cTn id="7" dur="2000"/>
                                        <p:tgtEl>
                                          <p:spTgt spid="3584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35842">
                                            <p:txEl>
                                              <p:pRg st="1" end="1"/>
                                            </p:txEl>
                                          </p:spTgt>
                                        </p:tgtEl>
                                        <p:attrNameLst>
                                          <p:attrName>style.visibility</p:attrName>
                                        </p:attrNameLst>
                                      </p:cBhvr>
                                      <p:to>
                                        <p:strVal val="visible"/>
                                      </p:to>
                                    </p:set>
                                    <p:animEffect transition="in" filter="wedge">
                                      <p:cBhvr>
                                        <p:cTn id="12" dur="2000"/>
                                        <p:tgtEl>
                                          <p:spTgt spid="3584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35842">
                                            <p:txEl>
                                              <p:pRg st="2" end="2"/>
                                            </p:txEl>
                                          </p:spTgt>
                                        </p:tgtEl>
                                        <p:attrNameLst>
                                          <p:attrName>style.visibility</p:attrName>
                                        </p:attrNameLst>
                                      </p:cBhvr>
                                      <p:to>
                                        <p:strVal val="visible"/>
                                      </p:to>
                                    </p:set>
                                    <p:animEffect transition="in" filter="wedge">
                                      <p:cBhvr>
                                        <p:cTn id="17" dur="2000"/>
                                        <p:tgtEl>
                                          <p:spTgt spid="358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3"/>
          <p:cNvSpPr/>
          <p:nvPr/>
        </p:nvSpPr>
        <p:spPr>
          <a:xfrm>
            <a:off x="293688" y="303213"/>
            <a:ext cx="8353425" cy="2373312"/>
          </a:xfrm>
          <a:prstGeom prst="rect">
            <a:avLst/>
          </a:prstGeom>
          <a:noFill/>
          <a:ln w="9525">
            <a:noFill/>
          </a:ln>
        </p:spPr>
        <p:txBody>
          <a:bodyPr>
            <a:spAutoFit/>
          </a:bodyPr>
          <a:lstStyle/>
          <a:p>
            <a:pPr>
              <a:spcAft>
                <a:spcPts val="600"/>
              </a:spcAft>
              <a:buNone/>
            </a:pPr>
            <a:r>
              <a:rPr lang="zh-CN" altLang="en-US" sz="2800" b="1" dirty="0">
                <a:solidFill>
                  <a:srgbClr val="C00000"/>
                </a:solidFill>
                <a:latin typeface="微软雅黑" panose="020B0503020204020204" pitchFamily="34" charset="-122"/>
                <a:ea typeface="微软雅黑" panose="020B0503020204020204" pitchFamily="34" charset="-122"/>
              </a:rPr>
              <a:t>课程的思政目标</a:t>
            </a:r>
            <a:endParaRPr lang="en-US" altLang="zh-CN" sz="2800" b="1" dirty="0">
              <a:solidFill>
                <a:srgbClr val="C00000"/>
              </a:solidFill>
              <a:latin typeface="微软雅黑" panose="020B0503020204020204" pitchFamily="34" charset="-122"/>
              <a:ea typeface="微软雅黑" panose="020B0503020204020204" pitchFamily="34" charset="-122"/>
            </a:endParaRPr>
          </a:p>
          <a:p>
            <a:pPr>
              <a:lnSpc>
                <a:spcPct val="120000"/>
              </a:lnSpc>
              <a:buNone/>
            </a:pPr>
            <a:r>
              <a:rPr lang="en-US" altLang="zh-CN" sz="2000" b="1" dirty="0">
                <a:latin typeface="Arial" panose="020B0604020202020204" pitchFamily="34" charset="0"/>
              </a:rPr>
              <a:t>     </a:t>
            </a:r>
            <a:r>
              <a:rPr lang="zh-CN" altLang="zh-CN" sz="2400" b="1" dirty="0">
                <a:latin typeface="Arial" panose="020B0604020202020204" pitchFamily="34" charset="0"/>
              </a:rPr>
              <a:t>以课程教学为载体，结合学生的思维特点和课程的教学内容，实现</a:t>
            </a:r>
            <a:r>
              <a:rPr lang="en-US" altLang="zh-CN" sz="2400" b="1" dirty="0">
                <a:latin typeface="Arial" panose="020B0604020202020204" pitchFamily="34" charset="0"/>
              </a:rPr>
              <a:t>“</a:t>
            </a:r>
            <a:r>
              <a:rPr lang="zh-CN" altLang="zh-CN" sz="2400" b="1" dirty="0">
                <a:latin typeface="Arial" panose="020B0604020202020204" pitchFamily="34" charset="0"/>
              </a:rPr>
              <a:t>专业知识</a:t>
            </a:r>
            <a:r>
              <a:rPr lang="en-US" altLang="zh-CN" sz="2400" b="1" dirty="0">
                <a:latin typeface="Arial" panose="020B0604020202020204" pitchFamily="34" charset="0"/>
              </a:rPr>
              <a:t>”</a:t>
            </a:r>
            <a:r>
              <a:rPr lang="zh-CN" altLang="zh-CN" sz="2400" b="1" dirty="0">
                <a:latin typeface="Arial" panose="020B0604020202020204" pitchFamily="34" charset="0"/>
              </a:rPr>
              <a:t>与</a:t>
            </a:r>
            <a:r>
              <a:rPr lang="en-US" altLang="zh-CN" sz="2400" b="1" dirty="0">
                <a:latin typeface="Arial" panose="020B0604020202020204" pitchFamily="34" charset="0"/>
              </a:rPr>
              <a:t>“</a:t>
            </a:r>
            <a:r>
              <a:rPr lang="zh-CN" altLang="zh-CN" sz="2400" b="1" dirty="0">
                <a:latin typeface="Arial" panose="020B0604020202020204" pitchFamily="34" charset="0"/>
              </a:rPr>
              <a:t>课程思政</a:t>
            </a:r>
            <a:r>
              <a:rPr lang="en-US" altLang="zh-CN" sz="2400" b="1" dirty="0">
                <a:latin typeface="Arial" panose="020B0604020202020204" pitchFamily="34" charset="0"/>
              </a:rPr>
              <a:t>”</a:t>
            </a:r>
            <a:r>
              <a:rPr lang="zh-CN" altLang="zh-CN" sz="2400" b="1" dirty="0">
                <a:latin typeface="Arial" panose="020B0604020202020204" pitchFamily="34" charset="0"/>
              </a:rPr>
              <a:t>有机结合。培养学生尊重社会价值，恪守工程伦理，树立家国情怀，建立正确的世界观、价值观、人生观，促进学生全面发展</a:t>
            </a:r>
            <a:r>
              <a:rPr lang="zh-CN" altLang="en-US" sz="2400" b="1" dirty="0">
                <a:latin typeface="Arial" panose="020B0604020202020204" pitchFamily="34" charset="0"/>
              </a:rPr>
              <a:t>。</a:t>
            </a:r>
          </a:p>
        </p:txBody>
      </p:sp>
      <p:pic>
        <p:nvPicPr>
          <p:cNvPr id="39944" name="Picture 8"/>
          <p:cNvPicPr>
            <a:picLocks noChangeAspect="1" noChangeArrowheads="1"/>
          </p:cNvPicPr>
          <p:nvPr/>
        </p:nvPicPr>
        <p:blipFill>
          <a:blip r:embed="rId2"/>
          <a:srcRect/>
          <a:stretch>
            <a:fillRect/>
          </a:stretch>
        </p:blipFill>
        <p:spPr bwMode="auto">
          <a:xfrm>
            <a:off x="7938" y="2981325"/>
            <a:ext cx="3722688" cy="21542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945" name="Picture 9"/>
          <p:cNvPicPr>
            <a:picLocks noChangeAspect="1" noChangeArrowheads="1"/>
          </p:cNvPicPr>
          <p:nvPr/>
        </p:nvPicPr>
        <p:blipFill>
          <a:blip r:embed="rId3"/>
          <a:srcRect/>
          <a:stretch>
            <a:fillRect/>
          </a:stretch>
        </p:blipFill>
        <p:spPr bwMode="auto">
          <a:xfrm>
            <a:off x="5508625" y="2967038"/>
            <a:ext cx="3419475" cy="20447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0" y="879475"/>
            <a:ext cx="2017713" cy="323850"/>
          </a:xfrm>
          <a:noFill/>
          <a:ln>
            <a:noFill/>
          </a:ln>
        </p:spPr>
        <p:txBody>
          <a:bodyPr/>
          <a:lstStyle/>
          <a:p>
            <a:pPr eaLnBrk="1" hangingPunct="1"/>
            <a:r>
              <a:rPr lang="zh-CN" altLang="en-US" sz="2800" b="1" dirty="0">
                <a:solidFill>
                  <a:srgbClr val="0000FF"/>
                </a:solidFill>
                <a:latin typeface="楷体_GB2312" panose="02010609030101010101" pitchFamily="49" charset="-122"/>
                <a:ea typeface="楷体_GB2312" panose="02010609030101010101" pitchFamily="49" charset="-122"/>
              </a:rPr>
              <a:t>课程性质</a:t>
            </a:r>
          </a:p>
        </p:txBody>
      </p:sp>
      <p:sp>
        <p:nvSpPr>
          <p:cNvPr id="36867" name="Rectangle 3"/>
          <p:cNvSpPr>
            <a:spLocks noGrp="1"/>
          </p:cNvSpPr>
          <p:nvPr>
            <p:ph idx="1"/>
          </p:nvPr>
        </p:nvSpPr>
        <p:spPr>
          <a:xfrm>
            <a:off x="468313" y="1671638"/>
            <a:ext cx="8135937" cy="539750"/>
          </a:xfrm>
          <a:solidFill>
            <a:srgbClr val="CCFFCC"/>
          </a:solidFill>
          <a:ln>
            <a:solidFill>
              <a:srgbClr val="6600CC"/>
            </a:solidFill>
            <a:miter/>
          </a:ln>
        </p:spPr>
        <p:txBody>
          <a:bodyPr/>
          <a:lstStyle/>
          <a:p>
            <a:pPr algn="just" eaLnBrk="1" hangingPunct="1">
              <a:lnSpc>
                <a:spcPct val="150000"/>
              </a:lnSpc>
              <a:buNone/>
            </a:pPr>
            <a:r>
              <a:rPr lang="zh-CN" altLang="en-US" sz="2400" b="1" dirty="0">
                <a:ea typeface="宋体" panose="02010600030101010101" pitchFamily="2" charset="-122"/>
              </a:rPr>
              <a:t>工程课程，对化学作一整体的阐述和讨论，“化学导论”</a:t>
            </a:r>
            <a:r>
              <a:rPr lang="zh-CN" altLang="en-US" sz="2400" dirty="0">
                <a:ea typeface="宋体" panose="02010600030101010101" pitchFamily="2" charset="-122"/>
              </a:rPr>
              <a:t> </a:t>
            </a:r>
          </a:p>
        </p:txBody>
      </p:sp>
      <p:sp>
        <p:nvSpPr>
          <p:cNvPr id="36868" name="Text Box 4"/>
          <p:cNvSpPr txBox="1"/>
          <p:nvPr/>
        </p:nvSpPr>
        <p:spPr>
          <a:xfrm>
            <a:off x="755650" y="2319338"/>
            <a:ext cx="8316913" cy="2386012"/>
          </a:xfrm>
          <a:prstGeom prst="rect">
            <a:avLst/>
          </a:prstGeom>
          <a:noFill/>
          <a:ln w="9525">
            <a:noFill/>
          </a:ln>
        </p:spPr>
        <p:txBody>
          <a:bodyPr>
            <a:spAutoFit/>
          </a:bodyPr>
          <a:lstStyle/>
          <a:p>
            <a:pPr algn="just">
              <a:spcBef>
                <a:spcPct val="50000"/>
              </a:spcBef>
            </a:pPr>
            <a:r>
              <a:rPr lang="zh-CN" altLang="en-US" sz="2800" b="1" dirty="0">
                <a:solidFill>
                  <a:srgbClr val="0000FF"/>
                </a:solidFill>
                <a:latin typeface="Times New Roman" panose="02020603050405020304" pitchFamily="18" charset="0"/>
                <a:ea typeface="楷体_GB2312" panose="02010609030101010101" pitchFamily="49" charset="-122"/>
              </a:rPr>
              <a:t>课程特点：</a:t>
            </a:r>
          </a:p>
          <a:p>
            <a:pPr algn="just">
              <a:lnSpc>
                <a:spcPct val="125000"/>
              </a:lnSpc>
              <a:spcBef>
                <a:spcPct val="50000"/>
              </a:spcBef>
            </a:pPr>
            <a:r>
              <a:rPr lang="zh-CN" altLang="en-US" sz="2200" b="1" dirty="0">
                <a:latin typeface="Times New Roman" panose="02020603050405020304" pitchFamily="18" charset="0"/>
                <a:ea typeface="宋体" panose="02010600030101010101" pitchFamily="2" charset="-122"/>
              </a:rPr>
              <a:t>       1）简明概括学学科的一般原理、基本规律和研究方法</a:t>
            </a:r>
          </a:p>
          <a:p>
            <a:pPr>
              <a:lnSpc>
                <a:spcPct val="125000"/>
              </a:lnSpc>
            </a:pPr>
            <a:r>
              <a:rPr lang="zh-CN" altLang="en-US" sz="2200" b="1" dirty="0">
                <a:latin typeface="Times New Roman" panose="02020603050405020304" pitchFamily="18" charset="0"/>
                <a:ea typeface="宋体" panose="02010600030101010101" pitchFamily="2" charset="-122"/>
              </a:rPr>
              <a:t>       2）用化学的观点分析、认识工程技术中的化学问题， 化学</a:t>
            </a:r>
            <a:endParaRPr lang="en-US" altLang="zh-CN" sz="2200" b="1" dirty="0">
              <a:latin typeface="Times New Roman" panose="02020603050405020304" pitchFamily="18" charset="0"/>
              <a:ea typeface="宋体" panose="02010600030101010101" pitchFamily="2" charset="-122"/>
            </a:endParaRPr>
          </a:p>
          <a:p>
            <a:pPr>
              <a:lnSpc>
                <a:spcPct val="125000"/>
              </a:lnSpc>
            </a:pPr>
            <a:r>
              <a:rPr lang="en-US" altLang="zh-CN" sz="2200" b="1" dirty="0">
                <a:latin typeface="Times New Roman" panose="02020603050405020304" pitchFamily="18" charset="0"/>
                <a:ea typeface="宋体" panose="02010600030101010101" pitchFamily="2" charset="-122"/>
              </a:rPr>
              <a:t>  </a:t>
            </a:r>
            <a:r>
              <a:rPr lang="zh-CN" altLang="en-US" sz="2200" b="1" dirty="0">
                <a:latin typeface="Times New Roman" panose="02020603050405020304" pitchFamily="18" charset="0"/>
                <a:ea typeface="宋体" panose="02010600030101010101" pitchFamily="2" charset="-122"/>
              </a:rPr>
              <a:t>   与工程技术间的桥梁作用。 </a:t>
            </a:r>
            <a:endParaRPr lang="en-US" altLang="zh-CN" sz="2200" b="1" dirty="0">
              <a:latin typeface="Times New Roman" panose="02020603050405020304" pitchFamily="18" charset="0"/>
              <a:ea typeface="宋体" panose="02010600030101010101" pitchFamily="2" charset="-122"/>
            </a:endParaRPr>
          </a:p>
          <a:p>
            <a:pPr>
              <a:lnSpc>
                <a:spcPct val="125000"/>
              </a:lnSpc>
            </a:pPr>
            <a:r>
              <a:rPr lang="en-US" altLang="zh-CN" sz="2200" b="1" dirty="0">
                <a:latin typeface="Times New Roman" panose="02020603050405020304" pitchFamily="18" charset="0"/>
                <a:ea typeface="宋体" panose="02010600030101010101" pitchFamily="2" charset="-122"/>
              </a:rPr>
              <a:t>      3)   </a:t>
            </a:r>
            <a:r>
              <a:rPr lang="zh-CN" altLang="en-US" sz="2200" b="1" dirty="0">
                <a:latin typeface="Times New Roman" panose="02020603050405020304" pitchFamily="18" charset="0"/>
                <a:ea typeface="宋体" panose="02010600030101010101" pitchFamily="2" charset="-122"/>
              </a:rPr>
              <a:t>专业知识与思政教育的有机融合</a:t>
            </a:r>
            <a:endParaRPr lang="en-US" altLang="zh-CN" sz="2200" b="1" dirty="0">
              <a:latin typeface="Times New Roman" panose="02020603050405020304" pitchFamily="18" charset="0"/>
              <a:ea typeface="宋体" panose="02010600030101010101" pitchFamily="2" charset="-122"/>
            </a:endParaRPr>
          </a:p>
        </p:txBody>
      </p:sp>
      <p:sp>
        <p:nvSpPr>
          <p:cNvPr id="54277" name="Rectangle 5"/>
          <p:cNvSpPr/>
          <p:nvPr/>
        </p:nvSpPr>
        <p:spPr>
          <a:xfrm>
            <a:off x="0" y="231775"/>
            <a:ext cx="5580063" cy="522288"/>
          </a:xfrm>
          <a:prstGeom prst="rect">
            <a:avLst/>
          </a:prstGeom>
          <a:solidFill>
            <a:srgbClr val="FF9900"/>
          </a:solidFill>
          <a:ln w="19050" cap="flat" cmpd="sng">
            <a:solidFill>
              <a:srgbClr val="008000"/>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2.</a:t>
            </a:r>
            <a:r>
              <a:rPr lang="zh-CN" altLang="en-US" sz="2800" b="1" dirty="0">
                <a:solidFill>
                  <a:schemeClr val="tx2"/>
                </a:solidFill>
                <a:latin typeface="楷体_GB2312" panose="02010609030101010101" pitchFamily="49" charset="-122"/>
                <a:ea typeface="楷体_GB2312" panose="02010609030101010101" pitchFamily="49" charset="-122"/>
              </a:rPr>
              <a:t>工程</a:t>
            </a:r>
            <a:r>
              <a:rPr lang="zh-CN" altLang="en-US" sz="2800" b="1" dirty="0">
                <a:latin typeface="楷体_GB2312" panose="02010609030101010101" pitchFamily="49" charset="-122"/>
                <a:ea typeface="楷体_GB2312" panose="02010609030101010101" pitchFamily="49" charset="-122"/>
              </a:rPr>
              <a:t>化学的课程特点</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867">
                                            <p:bg/>
                                          </p:spTgt>
                                        </p:tgtEl>
                                        <p:attrNameLst>
                                          <p:attrName>style.visibility</p:attrName>
                                        </p:attrNameLst>
                                      </p:cBhvr>
                                      <p:to>
                                        <p:strVal val="visible"/>
                                      </p:to>
                                    </p:set>
                                    <p:animEffect transition="in" filter="wipe(left)">
                                      <p:cBhvr>
                                        <p:cTn id="12" dur="500"/>
                                        <p:tgtEl>
                                          <p:spTgt spid="36867">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867">
                                            <p:txEl>
                                              <p:pRg st="0" end="0"/>
                                            </p:txEl>
                                          </p:spTgt>
                                        </p:tgtEl>
                                        <p:attrNameLst>
                                          <p:attrName>style.visibility</p:attrName>
                                        </p:attrNameLst>
                                      </p:cBhvr>
                                      <p:to>
                                        <p:strVal val="visible"/>
                                      </p:to>
                                    </p:set>
                                    <p:animEffect transition="in" filter="wipe(left)">
                                      <p:cBhvr>
                                        <p:cTn id="17" dur="500"/>
                                        <p:tgtEl>
                                          <p:spTgt spid="368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868"/>
                                        </p:tgtEl>
                                        <p:attrNameLst>
                                          <p:attrName>style.visibility</p:attrName>
                                        </p:attrNameLst>
                                      </p:cBhvr>
                                      <p:to>
                                        <p:strVal val="visible"/>
                                      </p:to>
                                    </p:set>
                                    <p:animEffect transition="in" filter="wipe(left)">
                                      <p:cBhvr>
                                        <p:cTn id="22"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build="p" animBg="1"/>
      <p:bldP spid="3686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p:cNvSpPr txBox="1"/>
          <p:nvPr/>
        </p:nvSpPr>
        <p:spPr>
          <a:xfrm>
            <a:off x="20638" y="415925"/>
            <a:ext cx="8934450" cy="2862263"/>
          </a:xfrm>
          <a:prstGeom prst="rect">
            <a:avLst/>
          </a:prstGeom>
          <a:noFill/>
          <a:ln w="9525">
            <a:noFill/>
          </a:ln>
        </p:spPr>
        <p:txBody>
          <a:bodyPr>
            <a:spAutoFit/>
          </a:bodyPr>
          <a:lstStyle/>
          <a:p>
            <a:pPr>
              <a:lnSpc>
                <a:spcPct val="125000"/>
              </a:lnSpc>
              <a:buNone/>
            </a:pPr>
            <a:r>
              <a:rPr lang="zh-CN" altLang="en-US" sz="2400" b="1" dirty="0">
                <a:latin typeface="Times New Roman" panose="02020603050405020304" pitchFamily="18" charset="0"/>
                <a:ea typeface="宋体" panose="02010600030101010101" pitchFamily="2" charset="-122"/>
              </a:rPr>
              <a:t>     1）通过科学发展史、科学家等介绍，提高学生的家国情怀、   责任担当，树立正确的世界观、人生观、价值观。</a:t>
            </a:r>
            <a:endParaRPr lang="en-US" altLang="zh-CN" sz="2400" b="1" dirty="0">
              <a:latin typeface="Times New Roman" panose="02020603050405020304" pitchFamily="18" charset="0"/>
              <a:ea typeface="宋体" panose="02010600030101010101" pitchFamily="2" charset="-122"/>
            </a:endParaRPr>
          </a:p>
          <a:p>
            <a:pPr>
              <a:lnSpc>
                <a:spcPct val="125000"/>
              </a:lnSpc>
              <a:buNone/>
            </a:pPr>
            <a:r>
              <a:rPr lang="en-US" altLang="zh-CN" sz="2400" b="1" dirty="0">
                <a:latin typeface="Times New Roman" panose="02020603050405020304" pitchFamily="18" charset="0"/>
                <a:ea typeface="宋体" panose="02010600030101010101" pitchFamily="2" charset="-122"/>
              </a:rPr>
              <a:t>     2</a:t>
            </a:r>
            <a:r>
              <a:rPr lang="zh-CN" altLang="en-US" sz="2400" b="1" dirty="0">
                <a:latin typeface="Times New Roman" panose="02020603050405020304" pitchFamily="18" charset="0"/>
                <a:ea typeface="宋体" panose="02010600030101010101" pitchFamily="2" charset="-122"/>
              </a:rPr>
              <a:t>）使学生了解近代化学的基本理论，掌握必要的化学基本知识和基本技能。</a:t>
            </a:r>
            <a:endParaRPr lang="en-US" altLang="zh-CN" sz="2400" b="1" dirty="0">
              <a:latin typeface="Times New Roman" panose="02020603050405020304" pitchFamily="18" charset="0"/>
              <a:ea typeface="宋体" panose="02010600030101010101" pitchFamily="2" charset="-122"/>
            </a:endParaRPr>
          </a:p>
          <a:p>
            <a:pPr>
              <a:lnSpc>
                <a:spcPct val="125000"/>
              </a:lnSpc>
              <a:buNone/>
            </a:pPr>
            <a:r>
              <a:rPr lang="en-US" altLang="zh-CN" sz="2400" b="1" dirty="0">
                <a:latin typeface="Times New Roman" panose="02020603050405020304" pitchFamily="18" charset="0"/>
                <a:ea typeface="宋体" panose="02010600030101010101" pitchFamily="2" charset="-122"/>
              </a:rPr>
              <a:t>    3</a:t>
            </a:r>
            <a:r>
              <a:rPr lang="zh-CN" altLang="en-US" sz="2400" b="1" dirty="0">
                <a:latin typeface="Times New Roman" panose="02020603050405020304" pitchFamily="18" charset="0"/>
                <a:ea typeface="宋体" panose="02010600030101010101" pitchFamily="2" charset="-122"/>
              </a:rPr>
              <a:t>）了解化学在工程技术上的应用，能运用化学的观点来理解相关学科中涉及化学的有关问题。 </a:t>
            </a:r>
            <a:r>
              <a:rPr lang="en-US" altLang="zh-CN" sz="2400" b="1" dirty="0">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55299" name="Rectangle 4"/>
          <p:cNvSpPr/>
          <p:nvPr/>
        </p:nvSpPr>
        <p:spPr>
          <a:xfrm>
            <a:off x="142875" y="30163"/>
            <a:ext cx="2376488" cy="523875"/>
          </a:xfrm>
          <a:prstGeom prst="rect">
            <a:avLst/>
          </a:prstGeom>
          <a:noFill/>
          <a:ln w="9525">
            <a:noFill/>
          </a:ln>
        </p:spPr>
        <p:txBody>
          <a:bodyPr>
            <a:spAutoFit/>
          </a:bodyPr>
          <a:lstStyle/>
          <a:p>
            <a:r>
              <a:rPr lang="zh-CN" altLang="en-US" sz="2800" b="1" dirty="0">
                <a:solidFill>
                  <a:srgbClr val="0000FF"/>
                </a:solidFill>
                <a:latin typeface="Times New Roman" panose="02020603050405020304" pitchFamily="18" charset="0"/>
                <a:ea typeface="楷体_GB2312" panose="02010609030101010101" pitchFamily="49" charset="-122"/>
              </a:rPr>
              <a:t>课程的任务</a:t>
            </a:r>
            <a:r>
              <a:rPr lang="zh-CN" altLang="en-US" sz="1100" dirty="0">
                <a:latin typeface="Times New Roman" panose="02020603050405020304" pitchFamily="18" charset="0"/>
                <a:ea typeface="宋体" panose="02010600030101010101" pitchFamily="2" charset="-122"/>
              </a:rPr>
              <a:t> </a:t>
            </a:r>
            <a:r>
              <a:rPr lang="zh-CN" altLang="en-US" sz="1100" dirty="0">
                <a:solidFill>
                  <a:srgbClr val="0000FF"/>
                </a:solidFill>
                <a:latin typeface="Times New Roman" panose="02020603050405020304" pitchFamily="18" charset="0"/>
                <a:ea typeface="宋体" panose="02010600030101010101" pitchFamily="2" charset="-122"/>
              </a:rPr>
              <a:t>：</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37893" name="Rectangle 5"/>
          <p:cNvSpPr/>
          <p:nvPr/>
        </p:nvSpPr>
        <p:spPr>
          <a:xfrm>
            <a:off x="1222375" y="3884613"/>
            <a:ext cx="3671888" cy="508000"/>
          </a:xfrm>
          <a:prstGeom prst="rect">
            <a:avLst/>
          </a:prstGeom>
          <a:noFill/>
          <a:ln w="9525">
            <a:noFill/>
          </a:ln>
        </p:spPr>
        <p:txBody>
          <a:bodyPr anchor="ctr" anchorCtr="0">
            <a:spAutoFit/>
          </a:bodyPr>
          <a:lstStyle/>
          <a:p>
            <a:pPr>
              <a:lnSpc>
                <a:spcPct val="125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）理论与实践相结合      </a:t>
            </a:r>
          </a:p>
        </p:txBody>
      </p:sp>
      <p:sp>
        <p:nvSpPr>
          <p:cNvPr id="37894" name="Rectangle 6"/>
          <p:cNvSpPr/>
          <p:nvPr/>
        </p:nvSpPr>
        <p:spPr>
          <a:xfrm>
            <a:off x="4805363" y="3784600"/>
            <a:ext cx="4608512" cy="554038"/>
          </a:xfrm>
          <a:prstGeom prst="rect">
            <a:avLst/>
          </a:prstGeom>
          <a:noFill/>
          <a:ln w="9525">
            <a:noFill/>
          </a:ln>
        </p:spPr>
        <p:txBody>
          <a:bodyPr anchor="ctr" anchorCtr="0">
            <a:spAutoFit/>
          </a:bodyPr>
          <a:lstStyle/>
          <a:p>
            <a:pPr>
              <a:lnSpc>
                <a:spcPct val="125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r>
              <a:rPr lang="zh-CN" altLang="en-US" sz="2400" b="1" dirty="0">
                <a:latin typeface="Arial" panose="020B0604020202020204" pitchFamily="34" charset="0"/>
                <a:ea typeface="宋体" panose="02010600030101010101" pitchFamily="2" charset="-122"/>
              </a:rPr>
              <a:t>经线与纬线相结合</a:t>
            </a:r>
          </a:p>
        </p:txBody>
      </p:sp>
      <p:sp>
        <p:nvSpPr>
          <p:cNvPr id="37895" name="Rectangle 7"/>
          <p:cNvSpPr/>
          <p:nvPr/>
        </p:nvSpPr>
        <p:spPr>
          <a:xfrm>
            <a:off x="1222375" y="4338638"/>
            <a:ext cx="3671888" cy="554037"/>
          </a:xfrm>
          <a:prstGeom prst="rect">
            <a:avLst/>
          </a:prstGeom>
          <a:noFill/>
          <a:ln w="9525">
            <a:noFill/>
          </a:ln>
        </p:spPr>
        <p:txBody>
          <a:bodyPr anchor="ctr" anchorCtr="0">
            <a:spAutoFit/>
          </a:bodyPr>
          <a:lstStyle/>
          <a:p>
            <a:pPr>
              <a:lnSpc>
                <a:spcPct val="125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）精讲与介绍相结合</a:t>
            </a:r>
          </a:p>
        </p:txBody>
      </p:sp>
      <p:sp>
        <p:nvSpPr>
          <p:cNvPr id="37896" name="Rectangle 8"/>
          <p:cNvSpPr/>
          <p:nvPr/>
        </p:nvSpPr>
        <p:spPr>
          <a:xfrm>
            <a:off x="4811713" y="4338638"/>
            <a:ext cx="3960812" cy="554037"/>
          </a:xfrm>
          <a:prstGeom prst="rect">
            <a:avLst/>
          </a:prstGeom>
          <a:noFill/>
          <a:ln w="9525">
            <a:noFill/>
          </a:ln>
        </p:spPr>
        <p:txBody>
          <a:bodyPr anchor="ctr" anchorCtr="0">
            <a:spAutoFit/>
          </a:bodyPr>
          <a:lstStyle/>
          <a:p>
            <a:pPr>
              <a:lnSpc>
                <a:spcPct val="125000"/>
              </a:lnSpc>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）不断拓展不断更新</a:t>
            </a:r>
            <a:r>
              <a:rPr lang="zh-CN" altLang="en-US" dirty="0">
                <a:latin typeface="Arial" panose="020B0604020202020204" pitchFamily="34" charset="0"/>
                <a:ea typeface="宋体" panose="02010600030101010101" pitchFamily="2" charset="-122"/>
              </a:rPr>
              <a:t> </a:t>
            </a:r>
          </a:p>
        </p:txBody>
      </p:sp>
      <p:sp>
        <p:nvSpPr>
          <p:cNvPr id="37897" name="Rectangle 9"/>
          <p:cNvSpPr/>
          <p:nvPr/>
        </p:nvSpPr>
        <p:spPr>
          <a:xfrm>
            <a:off x="863600" y="3311525"/>
            <a:ext cx="4211638" cy="522288"/>
          </a:xfrm>
          <a:prstGeom prst="rect">
            <a:avLst/>
          </a:prstGeom>
          <a:solidFill>
            <a:srgbClr val="FF9900"/>
          </a:solidFill>
          <a:ln w="19050" cap="flat" cmpd="sng">
            <a:solidFill>
              <a:srgbClr val="008000"/>
            </a:solidFill>
            <a:prstDash val="solid"/>
            <a:miter/>
            <a:headEnd type="none" w="med" len="med"/>
            <a:tailEnd type="none" w="med" len="med"/>
          </a:ln>
        </p:spPr>
        <p:txBody>
          <a:bodyPr>
            <a:spAutoFit/>
          </a:bodyPr>
          <a:lstStyle/>
          <a:p>
            <a:pPr>
              <a:spcBef>
                <a:spcPct val="20000"/>
              </a:spcBef>
            </a:pPr>
            <a:r>
              <a:rPr lang="en-US" altLang="zh-CN" sz="2800" b="1" dirty="0">
                <a:solidFill>
                  <a:schemeClr val="tx2"/>
                </a:solidFill>
                <a:latin typeface="楷体_GB2312" panose="02010609030101010101" pitchFamily="49" charset="-122"/>
                <a:ea typeface="楷体_GB2312" panose="02010609030101010101" pitchFamily="49" charset="-122"/>
              </a:rPr>
              <a:t>  3.</a:t>
            </a:r>
            <a:r>
              <a:rPr lang="zh-CN" altLang="en-US" sz="2800" b="1" dirty="0">
                <a:solidFill>
                  <a:schemeClr val="tx2"/>
                </a:solidFill>
                <a:latin typeface="楷体_GB2312" panose="02010609030101010101" pitchFamily="49" charset="-122"/>
                <a:ea typeface="楷体_GB2312" panose="02010609030101010101" pitchFamily="49" charset="-122"/>
              </a:rPr>
              <a:t>工程</a:t>
            </a:r>
            <a:r>
              <a:rPr lang="zh-CN" altLang="en-US" sz="2800" b="1" dirty="0">
                <a:latin typeface="楷体_GB2312" panose="02010609030101010101" pitchFamily="49" charset="-122"/>
                <a:ea typeface="楷体_GB2312" panose="02010609030101010101" pitchFamily="49" charset="-122"/>
              </a:rPr>
              <a:t>化学的学习方法</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wipe(left)">
                                      <p:cBhvr>
                                        <p:cTn id="7" dur="500"/>
                                        <p:tgtEl>
                                          <p:spTgt spid="37891"/>
                                        </p:tgtEl>
                                      </p:cBhvr>
                                    </p:animEffect>
                                  </p:childTnLst>
                                </p:cTn>
                              </p:par>
                            </p:childTnLst>
                          </p:cTn>
                        </p:par>
                      </p:childTnLst>
                    </p:cTn>
                  </p:par>
                  <p:par>
                    <p:cTn id="8" fill="hold">
                      <p:stCondLst>
                        <p:cond delay="indefinite"/>
                      </p:stCondLst>
                      <p:childTnLst>
                        <p:par>
                          <p:cTn id="9" fill="hold">
                            <p:stCondLst>
                              <p:cond delay="0"/>
                            </p:stCondLst>
                            <p:childTnLst>
                              <p:par>
                                <p:cTn id="10" presetID="41" presetClass="entr" presetSubtype="0" fill="hold" grpId="0" nodeType="clickEffect">
                                  <p:stCondLst>
                                    <p:cond delay="0"/>
                                  </p:stCondLst>
                                  <p:iterate type="lt">
                                    <p:tmPct val="10000"/>
                                  </p:iterate>
                                  <p:childTnLst>
                                    <p:set>
                                      <p:cBhvr>
                                        <p:cTn id="11" dur="1" fill="hold">
                                          <p:stCondLst>
                                            <p:cond delay="0"/>
                                          </p:stCondLst>
                                        </p:cTn>
                                        <p:tgtEl>
                                          <p:spTgt spid="37897"/>
                                        </p:tgtEl>
                                        <p:attrNameLst>
                                          <p:attrName>style.visibility</p:attrName>
                                        </p:attrNameLst>
                                      </p:cBhvr>
                                      <p:to>
                                        <p:strVal val="visible"/>
                                      </p:to>
                                    </p:set>
                                    <p:anim calcmode="lin" valueType="num">
                                      <p:cBhvr>
                                        <p:cTn id="12" dur="500" fill="hold"/>
                                        <p:tgtEl>
                                          <p:spTgt spid="37897"/>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37897"/>
                                        </p:tgtEl>
                                        <p:attrNameLst>
                                          <p:attrName>ppt_y</p:attrName>
                                        </p:attrNameLst>
                                      </p:cBhvr>
                                      <p:tavLst>
                                        <p:tav tm="0">
                                          <p:val>
                                            <p:strVal val="#ppt_y"/>
                                          </p:val>
                                        </p:tav>
                                        <p:tav tm="100000">
                                          <p:val>
                                            <p:strVal val="#ppt_y"/>
                                          </p:val>
                                        </p:tav>
                                      </p:tavLst>
                                    </p:anim>
                                    <p:anim calcmode="lin" valueType="num">
                                      <p:cBhvr>
                                        <p:cTn id="14" dur="500" fill="hold"/>
                                        <p:tgtEl>
                                          <p:spTgt spid="37897"/>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37897"/>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37897"/>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37893"/>
                                        </p:tgtEl>
                                        <p:attrNameLst>
                                          <p:attrName>style.visibility</p:attrName>
                                        </p:attrNameLst>
                                      </p:cBhvr>
                                      <p:to>
                                        <p:strVal val="visible"/>
                                      </p:to>
                                    </p:set>
                                    <p:animEffect transition="in" filter="diamond(in)">
                                      <p:cBhvr>
                                        <p:cTn id="21" dur="1000"/>
                                        <p:tgtEl>
                                          <p:spTgt spid="37893"/>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grpId="0" nodeType="clickEffect">
                                  <p:stCondLst>
                                    <p:cond delay="0"/>
                                  </p:stCondLst>
                                  <p:childTnLst>
                                    <p:set>
                                      <p:cBhvr>
                                        <p:cTn id="25" dur="1" fill="hold">
                                          <p:stCondLst>
                                            <p:cond delay="0"/>
                                          </p:stCondLst>
                                        </p:cTn>
                                        <p:tgtEl>
                                          <p:spTgt spid="37894"/>
                                        </p:tgtEl>
                                        <p:attrNameLst>
                                          <p:attrName>style.visibility</p:attrName>
                                        </p:attrNameLst>
                                      </p:cBhvr>
                                      <p:to>
                                        <p:strVal val="visible"/>
                                      </p:to>
                                    </p:set>
                                    <p:animEffect transition="in" filter="box(in)">
                                      <p:cBhvr>
                                        <p:cTn id="26" dur="500"/>
                                        <p:tgtEl>
                                          <p:spTgt spid="37894"/>
                                        </p:tgtEl>
                                      </p:cBhvr>
                                    </p:animEffect>
                                  </p:childTnLst>
                                </p:cTn>
                              </p:par>
                            </p:childTnLst>
                          </p:cTn>
                        </p:par>
                      </p:childTnLst>
                    </p:cTn>
                  </p:par>
                  <p:par>
                    <p:cTn id="27" fill="hold">
                      <p:stCondLst>
                        <p:cond delay="indefinite"/>
                      </p:stCondLst>
                      <p:childTnLst>
                        <p:par>
                          <p:cTn id="28" fill="hold">
                            <p:stCondLst>
                              <p:cond delay="0"/>
                            </p:stCondLst>
                            <p:childTnLst>
                              <p:par>
                                <p:cTn id="29" presetID="13" presetClass="entr" presetSubtype="16" fill="hold" grpId="0" nodeType="clickEffect">
                                  <p:stCondLst>
                                    <p:cond delay="0"/>
                                  </p:stCondLst>
                                  <p:childTnLst>
                                    <p:set>
                                      <p:cBhvr>
                                        <p:cTn id="30" dur="1" fill="hold">
                                          <p:stCondLst>
                                            <p:cond delay="0"/>
                                          </p:stCondLst>
                                        </p:cTn>
                                        <p:tgtEl>
                                          <p:spTgt spid="37895"/>
                                        </p:tgtEl>
                                        <p:attrNameLst>
                                          <p:attrName>style.visibility</p:attrName>
                                        </p:attrNameLst>
                                      </p:cBhvr>
                                      <p:to>
                                        <p:strVal val="visible"/>
                                      </p:to>
                                    </p:set>
                                    <p:animEffect transition="in" filter="plus(in)">
                                      <p:cBhvr>
                                        <p:cTn id="31" dur="2000"/>
                                        <p:tgtEl>
                                          <p:spTgt spid="37895"/>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grpId="0" nodeType="clickEffect">
                                  <p:stCondLst>
                                    <p:cond delay="0"/>
                                  </p:stCondLst>
                                  <p:childTnLst>
                                    <p:set>
                                      <p:cBhvr>
                                        <p:cTn id="35" dur="1" fill="hold">
                                          <p:stCondLst>
                                            <p:cond delay="0"/>
                                          </p:stCondLst>
                                        </p:cTn>
                                        <p:tgtEl>
                                          <p:spTgt spid="37896"/>
                                        </p:tgtEl>
                                        <p:attrNameLst>
                                          <p:attrName>style.visibility</p:attrName>
                                        </p:attrNameLst>
                                      </p:cBhvr>
                                      <p:to>
                                        <p:strVal val="visible"/>
                                      </p:to>
                                    </p:set>
                                    <p:animEffect transition="in" filter="strips(downRight)">
                                      <p:cBhvr>
                                        <p:cTn id="36" dur="500"/>
                                        <p:tgtEl>
                                          <p:spTgt spid="37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3" grpId="0"/>
      <p:bldP spid="37894" grpId="0"/>
      <p:bldP spid="37895" grpId="0"/>
      <p:bldP spid="37896" grpId="0"/>
      <p:bldP spid="3789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u=1804693073,903815105&amp;fm=24&amp;gp=0"/>
          <p:cNvPicPr>
            <a:picLocks noChangeAspect="1"/>
          </p:cNvPicPr>
          <p:nvPr/>
        </p:nvPicPr>
        <p:blipFill>
          <a:blip r:embed="rId2"/>
          <a:stretch>
            <a:fillRect/>
          </a:stretch>
        </p:blipFill>
        <p:spPr>
          <a:xfrm>
            <a:off x="0" y="0"/>
            <a:ext cx="9144000" cy="5145088"/>
          </a:xfrm>
          <a:prstGeom prst="rect">
            <a:avLst/>
          </a:prstGeom>
          <a:noFill/>
          <a:ln w="9525">
            <a:noFill/>
          </a:ln>
        </p:spPr>
      </p:pic>
      <p:sp>
        <p:nvSpPr>
          <p:cNvPr id="58371" name="WordArt 3"/>
          <p:cNvSpPr/>
          <p:nvPr/>
        </p:nvSpPr>
        <p:spPr>
          <a:xfrm>
            <a:off x="6156325" y="3868738"/>
            <a:ext cx="2519363" cy="1079500"/>
          </a:xfrm>
          <a:prstGeom prst="rect">
            <a:avLst/>
          </a:prstGeom>
        </p:spPr>
        <p:txBody>
          <a:bodyPr wrap="none" fromWordArt="1">
            <a:prstTxWarp prst="textDeflate">
              <a:avLst>
                <a:gd name="adj" fmla="val 26227"/>
              </a:avLst>
            </a:prstTxWarp>
            <a:normAutofit/>
          </a:bodyPr>
          <a:lstStyle/>
          <a:p>
            <a:pPr algn="ctr" eaLnBrk="0" hangingPunct="0"/>
            <a:r>
              <a:rPr lang="zh-CN" altLang="en-US" sz="4000" b="1">
                <a:ln w="9525" cap="flat" cmpd="sng">
                  <a:solidFill>
                    <a:srgbClr val="000000"/>
                  </a:solidFill>
                  <a:prstDash val="solid"/>
                  <a:headEnd type="none" w="med" len="med"/>
                  <a:tailEnd type="none" w="med" len="med"/>
                </a:ln>
                <a:solidFill>
                  <a:srgbClr val="000000"/>
                </a:solidFill>
                <a:latin typeface="Times New Roman" panose="02020603050405020304" pitchFamily="18" charset="0"/>
                <a:ea typeface="Times New Roman" panose="02020603050405020304" pitchFamily="18" charset="0"/>
              </a:rPr>
              <a:t>The End</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diamond(in)">
                                      <p:cBhvr>
                                        <p:cTn id="7" dur="500"/>
                                        <p:tgtEl>
                                          <p:spTgt spid="58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BlOWVlMGNkMmFjNDM3NzgyN2FmN2M1NGNjNDBmZTYifQ=="/>
</p:tagLst>
</file>

<file path=ppt/tags/tag2.xml><?xml version="1.0" encoding="utf-8"?>
<p:tagLst xmlns:a="http://schemas.openxmlformats.org/drawingml/2006/main" xmlns:r="http://schemas.openxmlformats.org/officeDocument/2006/relationships" xmlns:p="http://schemas.openxmlformats.org/presentationml/2006/main">
  <p:tag name="MH" val="20161022204519"/>
  <p:tag name="MH_LIBRARY" val="GRAPHIC"/>
</p:tagLst>
</file>

<file path=ppt/theme/theme1.xml><?xml version="1.0" encoding="utf-8"?>
<a:theme xmlns:a="http://schemas.openxmlformats.org/drawingml/2006/main" name="枫叶PPT模板">
  <a:themeElements>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枫叶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枫叶PPT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枫叶PPT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枫叶PPT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枫叶PPT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枫叶PPT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枫叶PPT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枫叶PPT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枫叶PPT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枫叶PPT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枫叶PPT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枫叶PPT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Template>
  <TotalTime>29</TotalTime>
  <Words>3382</Words>
  <Application>Microsoft Office PowerPoint</Application>
  <PresentationFormat>全屏显示(16:9)</PresentationFormat>
  <Paragraphs>231</Paragraphs>
  <Slides>43</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43</vt:i4>
      </vt:variant>
    </vt:vector>
  </HeadingPairs>
  <TitlesOfParts>
    <vt:vector size="50" baseType="lpstr">
      <vt:lpstr>楷体_GB2312</vt:lpstr>
      <vt:lpstr>宋体</vt:lpstr>
      <vt:lpstr>微软雅黑</vt:lpstr>
      <vt:lpstr>Arial</vt:lpstr>
      <vt:lpstr>Calibri</vt:lpstr>
      <vt:lpstr>Times New Roman</vt:lpstr>
      <vt:lpstr>枫叶PPT模板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课程性质</vt:lpstr>
      <vt:lpstr>PowerPoint 演示文稿</vt:lpstr>
      <vt:lpstr>PowerPoint 演示文稿</vt:lpstr>
    </vt:vector>
  </TitlesOfParts>
  <Company>020701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Autumn  2008 - 3</dc:title>
  <dc:creator>suhui</dc:creator>
  <cp:lastModifiedBy>训臣 刘</cp:lastModifiedBy>
  <cp:revision>184</cp:revision>
  <dcterms:created xsi:type="dcterms:W3CDTF">2010-01-15T14:02:54Z</dcterms:created>
  <dcterms:modified xsi:type="dcterms:W3CDTF">2025-12-17T02:12:01Z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41D100618A8B4C14B32B5C84801B4D4F_12</vt:lpwstr>
  </property>
</Properties>
</file>