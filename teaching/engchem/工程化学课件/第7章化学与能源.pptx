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70" r:id="rId3"/>
    <p:sldId id="371" r:id="rId5"/>
    <p:sldId id="372" r:id="rId6"/>
    <p:sldId id="373" r:id="rId7"/>
    <p:sldId id="374" r:id="rId8"/>
    <p:sldId id="375" r:id="rId9"/>
    <p:sldId id="376" r:id="rId10"/>
    <p:sldId id="301" r:id="rId11"/>
    <p:sldId id="263" r:id="rId12"/>
    <p:sldId id="317" r:id="rId13"/>
    <p:sldId id="316" r:id="rId14"/>
    <p:sldId id="318" r:id="rId15"/>
    <p:sldId id="319" r:id="rId16"/>
    <p:sldId id="266" r:id="rId17"/>
    <p:sldId id="267" r:id="rId18"/>
    <p:sldId id="383" r:id="rId19"/>
    <p:sldId id="276" r:id="rId20"/>
    <p:sldId id="277" r:id="rId21"/>
    <p:sldId id="278" r:id="rId22"/>
    <p:sldId id="307" r:id="rId23"/>
    <p:sldId id="304" r:id="rId24"/>
    <p:sldId id="270" r:id="rId25"/>
    <p:sldId id="288" r:id="rId26"/>
    <p:sldId id="289" r:id="rId27"/>
    <p:sldId id="321" r:id="rId28"/>
    <p:sldId id="377" r:id="rId29"/>
    <p:sldId id="310" r:id="rId30"/>
    <p:sldId id="286" r:id="rId31"/>
    <p:sldId id="378" r:id="rId32"/>
    <p:sldId id="287" r:id="rId33"/>
    <p:sldId id="320" r:id="rId34"/>
    <p:sldId id="322" r:id="rId35"/>
    <p:sldId id="323" r:id="rId36"/>
    <p:sldId id="379" r:id="rId37"/>
    <p:sldId id="324" r:id="rId38"/>
    <p:sldId id="380" r:id="rId39"/>
    <p:sldId id="382" r:id="rId40"/>
  </p:sldIdLst>
  <p:sldSz cx="9144000" cy="5143500"/>
  <p:notesSz cx="6858000" cy="9144000"/>
  <p:custDataLst>
    <p:tags r:id="rId44"/>
  </p:custDataLst>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12" userDrawn="1">
          <p15:clr>
            <a:srgbClr val="A4A3A4"/>
          </p15:clr>
        </p15:guide>
        <p15:guide id="2" pos="29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FF3300"/>
    <a:srgbClr val="FFFF00"/>
    <a:srgbClr val="006600"/>
    <a:srgbClr val="00FF00"/>
    <a:srgbClr val="CC0000"/>
    <a:srgbClr val="0000FF"/>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40"/>
    <p:restoredTop sz="94581"/>
  </p:normalViewPr>
  <p:slideViewPr>
    <p:cSldViewPr showGuides="1">
      <p:cViewPr varScale="1">
        <p:scale>
          <a:sx n="101" d="100"/>
          <a:sy n="101" d="100"/>
        </p:scale>
        <p:origin x="-360" y="-82"/>
      </p:cViewPr>
      <p:guideLst>
        <p:guide orient="horz" pos="1612"/>
        <p:guide pos="2909"/>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70" d="100"/>
        <a:sy n="170" d="100"/>
      </p:scale>
      <p:origin x="0" y="821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gs" Target="tags/tag1.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noProof="1"/>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7BFA191-0F26-4D32-B774-A18CD590F7C4}" type="datetimeFigureOut">
              <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3012"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5125" name="备注占位符 4"/>
          <p:cNvSpPr>
            <a:spLocks noGrp="1" noChangeArrowheads="1"/>
          </p:cNvSpPr>
          <p:nvPr>
            <p:ph type="body" sz="quarter" idx="4294967295"/>
          </p:nvPr>
        </p:nvSpPr>
        <p:spPr bwMode="auto">
          <a:xfrm>
            <a:off x="685800" y="4400550"/>
            <a:ext cx="5486400" cy="3600450"/>
          </a:xfrm>
          <a:prstGeom prst="rect">
            <a:avLst/>
          </a:prstGeom>
          <a:noFill/>
          <a:ln w="9525">
            <a:noFill/>
            <a:miter lim="800000"/>
          </a:ln>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p>
            <a:pPr lvl="0" algn="r" eaLnBrk="1" hangingPunct="1">
              <a:buNone/>
            </a:pPr>
            <a:fld id="{9A0DB2DC-4C9A-4742-B13C-FB6460FD3503}" type="slidenum">
              <a:rPr lang="zh-CN" altLang="en-US" sz="1200" dirty="0"/>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幻灯片图像占位符 1"/>
          <p:cNvSpPr>
            <a:spLocks noGrp="1" noRot="1" noChangeAspect="1" noTextEdit="1"/>
          </p:cNvSpPr>
          <p:nvPr>
            <p:ph type="sldImg"/>
          </p:nvPr>
        </p:nvSpPr>
        <p:spPr>
          <a:ln>
            <a:miter lim="800000"/>
          </a:ln>
        </p:spPr>
      </p:sp>
      <p:sp>
        <p:nvSpPr>
          <p:cNvPr id="44035" name="备注占位符 2"/>
          <p:cNvSpPr>
            <a:spLocks noGrp="1"/>
          </p:cNvSpPr>
          <p:nvPr>
            <p:ph type="body"/>
          </p:nvPr>
        </p:nvSpPr>
        <p:spPr>
          <a:ln/>
        </p:spPr>
        <p:txBody>
          <a:bodyPr wrap="square" lIns="91440" tIns="45720" rIns="91440" bIns="45720" anchor="ctr" anchorCtr="0"/>
          <a:p>
            <a:pPr lvl="0" eaLnBrk="1" hangingPunct="1"/>
            <a:endParaRPr lang="zh-CN" altLang="en-US" dirty="0"/>
          </a:p>
        </p:txBody>
      </p:sp>
      <p:sp>
        <p:nvSpPr>
          <p:cNvPr id="44036"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幻灯片图像占位符 1"/>
          <p:cNvSpPr>
            <a:spLocks noGrp="1" noRot="1" noChangeAspect="1" noTextEdit="1"/>
          </p:cNvSpPr>
          <p:nvPr>
            <p:ph type="sldImg"/>
          </p:nvPr>
        </p:nvSpPr>
        <p:spPr>
          <a:ln/>
        </p:spPr>
      </p:sp>
      <p:sp>
        <p:nvSpPr>
          <p:cNvPr id="45059" name="备注占位符 2"/>
          <p:cNvSpPr>
            <a:spLocks noGrp="1"/>
          </p:cNvSpPr>
          <p:nvPr>
            <p:ph type="body" idx="1"/>
          </p:nvPr>
        </p:nvSpPr>
        <p:spPr>
          <a:ln/>
        </p:spPr>
        <p:txBody>
          <a:bodyPr wrap="square" lIns="91440" tIns="45720" rIns="91440" bIns="45720" anchor="t" anchorCtr="0"/>
          <a:p>
            <a:pPr lvl="0"/>
            <a:endParaRPr lang="zh-CN" altLang="en-US" dirty="0"/>
          </a:p>
        </p:txBody>
      </p:sp>
      <p:sp>
        <p:nvSpPr>
          <p:cNvPr id="4506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p>
            <a:pPr lvl="0" algn="r" eaLnBrk="1" hangingPunct="1">
              <a:buNone/>
            </a:pPr>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200151"/>
            <a:ext cx="8229600" cy="3394472"/>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endParaRPr lang="zh-CN" altLang="en-US" noProof="1" smtClean="0"/>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7" name="页脚占位符 6"/>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smtClean="0"/>
              <a:t>单击此处编辑母版标题样式</a:t>
            </a:r>
            <a:endParaRPr lang="zh-CN" altLang="en-US" noProof="1"/>
          </a:p>
        </p:txBody>
      </p:sp>
      <p:sp>
        <p:nvSpPr>
          <p:cNvPr id="3" name="页脚占位符 2"/>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灯片编号占位符 2"/>
          <p:cNvSpPr>
            <a:spLocks noGrp="1"/>
          </p:cNvSpPr>
          <p:nvPr>
            <p:ph type="sldNum" sz="quarter" idx="11"/>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endParaRPr lang="zh-CN" altLang="en-US" noProof="1" smtClean="0"/>
          </a:p>
        </p:txBody>
      </p:sp>
      <p:sp>
        <p:nvSpPr>
          <p:cNvPr id="5" name="页脚占位符 4"/>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200151"/>
            <a:ext cx="8229600" cy="3394472"/>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页脚占位符 3"/>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1"/>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文本">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a:xfrm>
            <a:off x="457200" y="205979"/>
            <a:ext cx="6019800" cy="4388644"/>
          </a:xfrm>
          <a:prstGeom prst="rect">
            <a:avLst/>
          </a:prstGeo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2" name="页脚占位符 1"/>
          <p:cNvSpPr>
            <a:spLocks noGrp="1"/>
          </p:cNvSpPr>
          <p:nvPr>
            <p:ph type="ftr" sz="quarter"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1"/>
          </p:nvPr>
        </p:nvSpPr>
        <p:spPr/>
        <p:txBody>
          <a:bodyPr/>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ransition spd="slow">
    <p:wipe dir="r"/>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5" name="Rectangle 7"/>
          <p:cNvSpPr>
            <a:spLocks noChangeArrowheads="1"/>
          </p:cNvSpPr>
          <p:nvPr/>
        </p:nvSpPr>
        <p:spPr bwMode="auto">
          <a:xfrm>
            <a:off x="7816850" y="4775200"/>
            <a:ext cx="1114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smtClean="0">
                <a:ln>
                  <a:noFill/>
                </a:ln>
                <a:solidFill>
                  <a:srgbClr val="0066FF"/>
                </a:solidFill>
                <a:effectLst/>
                <a:uLnTx/>
                <a:uFillTx/>
                <a:latin typeface="隶书" panose="02010509060101010101" pitchFamily="49" charset="-122"/>
                <a:ea typeface="隶书" panose="02010509060101010101" pitchFamily="49" charset="-122"/>
                <a:cs typeface="+mn-cs"/>
              </a:rPr>
              <a:t>工程化学</a:t>
            </a:r>
            <a:endParaRPr kumimoji="0" lang="zh-CN" altLang="en-US" sz="1800" b="1" i="0" u="none" strike="noStrike" kern="1200" cap="none" spc="0" normalizeH="0" baseline="0" noProof="0" smtClean="0">
              <a:ln>
                <a:noFill/>
              </a:ln>
              <a:solidFill>
                <a:srgbClr val="0066FF"/>
              </a:solidFill>
              <a:effectLst/>
              <a:uLnTx/>
              <a:uFillTx/>
              <a:latin typeface="隶书" panose="02010509060101010101" pitchFamily="49" charset="-122"/>
              <a:ea typeface="隶书" panose="02010509060101010101" pitchFamily="49" charset="-122"/>
              <a:cs typeface="+mn-cs"/>
            </a:endParaRPr>
          </a:p>
        </p:txBody>
      </p:sp>
      <p:pic>
        <p:nvPicPr>
          <p:cNvPr id="2051" name="Picture 9" descr="4845745_195740786734_2"/>
          <p:cNvPicPr>
            <a:picLocks noChangeAspect="1"/>
          </p:cNvPicPr>
          <p:nvPr/>
        </p:nvPicPr>
        <p:blipFill>
          <a:blip r:embed="rId3"/>
          <a:srcRect l="44130" t="27773" r="1364" b="3661"/>
          <a:stretch>
            <a:fillRect/>
          </a:stretch>
        </p:blipFill>
        <p:spPr>
          <a:xfrm>
            <a:off x="7639050" y="4256088"/>
            <a:ext cx="1504950" cy="887412"/>
          </a:xfrm>
          <a:prstGeom prst="rect">
            <a:avLst/>
          </a:prstGeom>
          <a:noFill/>
          <a:ln w="9525">
            <a:noFill/>
          </a:ln>
        </p:spPr>
      </p:pic>
      <p:pic>
        <p:nvPicPr>
          <p:cNvPr id="2052" name="Picture 13" descr="58010-12032116122190"/>
          <p:cNvPicPr>
            <a:picLocks noChangeAspect="1"/>
          </p:cNvPicPr>
          <p:nvPr/>
        </p:nvPicPr>
        <p:blipFill>
          <a:blip r:embed="rId4"/>
          <a:stretch>
            <a:fillRect/>
          </a:stretch>
        </p:blipFill>
        <p:spPr>
          <a:xfrm>
            <a:off x="0" y="3759200"/>
            <a:ext cx="1231900" cy="1384300"/>
          </a:xfrm>
          <a:prstGeom prst="rect">
            <a:avLst/>
          </a:prstGeom>
          <a:noFill/>
          <a:ln w="9525">
            <a:noFill/>
          </a:ln>
        </p:spPr>
      </p:pic>
      <p:sp>
        <p:nvSpPr>
          <p:cNvPr id="2" name="标题 1"/>
          <p:cNvSpPr>
            <a:spLocks noGrp="1"/>
          </p:cNvSpPr>
          <p:nvPr>
            <p:ph type="title"/>
          </p:nvPr>
        </p:nvSpPr>
        <p:spPr>
          <a:xfrm>
            <a:off x="838200" y="273844"/>
            <a:ext cx="10515600" cy="994172"/>
          </a:xfrm>
        </p:spPr>
        <p:txBody>
          <a:bodyPr/>
          <a:lstStyle/>
          <a:p>
            <a:r>
              <a:rPr lang="zh-CN" altLang="en-US" noProof="1" smtClean="0"/>
              <a:t>单击此处编辑母版标题样式</a:t>
            </a:r>
            <a:endParaRPr lang="zh-CN" altLang="en-US" noProof="1"/>
          </a:p>
        </p:txBody>
      </p:sp>
      <p:sp>
        <p:nvSpPr>
          <p:cNvPr id="8" name="日期占位符 2"/>
          <p:cNvSpPr>
            <a:spLocks noGrp="1"/>
          </p:cNvSpPr>
          <p:nvPr>
            <p:ph type="dt" sz="half" idx="2"/>
          </p:nvPr>
        </p:nvSpPr>
        <p:spPr>
          <a:xfrm>
            <a:off x="838200" y="4767263"/>
            <a:ext cx="2743200" cy="274638"/>
          </a:xfrm>
        </p:spPr>
        <p:txBody>
          <a:bodyPr/>
          <a:lstStyle>
            <a:lvl1pPr>
              <a:defRPr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C06F2A6-0605-4740-AF6A-A26A791D56EF}" type="datetimeFigureOut">
              <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1981200" y="4914900"/>
            <a:ext cx="5562600" cy="2286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灯片编号占位符 4"/>
          <p:cNvSpPr>
            <a:spLocks noGrp="1"/>
          </p:cNvSpPr>
          <p:nvPr>
            <p:ph type="sldNum" sz="quarter" idx="4"/>
          </p:nvPr>
        </p:nvSpPr>
        <p:spPr bwMode="auto">
          <a:xfrm>
            <a:off x="8763000" y="4972050"/>
            <a:ext cx="381000" cy="17145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zh-CN" altLang="en-US" dirty="0"/>
            </a:fld>
            <a:endParaRPr lang="zh-CN" altLang="en-US" dirty="0"/>
          </a:p>
        </p:txBody>
      </p:sp>
    </p:spTree>
  </p:cSld>
  <p:clrMapOvr>
    <a:masterClrMapping/>
  </p:clrMapOvr>
  <p:transition spd="slow">
    <p:wipe dir="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1_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5" name="Rectangle 7"/>
          <p:cNvSpPr>
            <a:spLocks noChangeArrowheads="1"/>
          </p:cNvSpPr>
          <p:nvPr/>
        </p:nvSpPr>
        <p:spPr bwMode="auto">
          <a:xfrm>
            <a:off x="7816850" y="4775200"/>
            <a:ext cx="1114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smtClean="0">
                <a:ln>
                  <a:noFill/>
                </a:ln>
                <a:solidFill>
                  <a:srgbClr val="0066FF"/>
                </a:solidFill>
                <a:effectLst/>
                <a:uLnTx/>
                <a:uFillTx/>
                <a:latin typeface="隶书" panose="02010509060101010101" pitchFamily="49" charset="-122"/>
                <a:ea typeface="隶书" panose="02010509060101010101" pitchFamily="49" charset="-122"/>
                <a:cs typeface="+mn-cs"/>
              </a:rPr>
              <a:t>工程化学</a:t>
            </a:r>
            <a:endParaRPr kumimoji="0" lang="zh-CN" altLang="en-US" sz="1800" b="1" i="0" u="none" strike="noStrike" kern="1200" cap="none" spc="0" normalizeH="0" baseline="0" noProof="0" smtClean="0">
              <a:ln>
                <a:noFill/>
              </a:ln>
              <a:solidFill>
                <a:srgbClr val="0066FF"/>
              </a:solidFill>
              <a:effectLst/>
              <a:uLnTx/>
              <a:uFillTx/>
              <a:latin typeface="隶书" panose="02010509060101010101" pitchFamily="49" charset="-122"/>
              <a:ea typeface="隶书" panose="02010509060101010101" pitchFamily="49" charset="-122"/>
              <a:cs typeface="+mn-cs"/>
            </a:endParaRPr>
          </a:p>
        </p:txBody>
      </p:sp>
      <p:sp>
        <p:nvSpPr>
          <p:cNvPr id="2" name="标题 1"/>
          <p:cNvSpPr>
            <a:spLocks noGrp="1"/>
          </p:cNvSpPr>
          <p:nvPr>
            <p:ph type="title"/>
          </p:nvPr>
        </p:nvSpPr>
        <p:spPr>
          <a:xfrm>
            <a:off x="838200" y="273844"/>
            <a:ext cx="10515600" cy="994172"/>
          </a:xfrm>
        </p:spPr>
        <p:txBody>
          <a:bodyPr/>
          <a:lstStyle/>
          <a:p>
            <a:r>
              <a:rPr lang="zh-CN" altLang="en-US" noProof="1" smtClean="0"/>
              <a:t>单击此处编辑母版标题样式</a:t>
            </a:r>
            <a:endParaRPr lang="zh-CN" altLang="en-US" noProof="1"/>
          </a:p>
        </p:txBody>
      </p:sp>
      <p:sp>
        <p:nvSpPr>
          <p:cNvPr id="6" name="日期占位符 2"/>
          <p:cNvSpPr>
            <a:spLocks noGrp="1"/>
          </p:cNvSpPr>
          <p:nvPr>
            <p:ph type="dt" sz="half" idx="2"/>
          </p:nvPr>
        </p:nvSpPr>
        <p:spPr>
          <a:xfrm>
            <a:off x="838200" y="4767263"/>
            <a:ext cx="2743200" cy="274638"/>
          </a:xfrm>
        </p:spPr>
        <p:txBody>
          <a:bodyPr/>
          <a:lstStyle>
            <a:lvl1pPr>
              <a:defRPr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805DB69-CB11-485F-B431-8C0EE8906068}" type="datetimeFigureOut">
              <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页脚占位符 3"/>
          <p:cNvSpPr>
            <a:spLocks noGrp="1"/>
          </p:cNvSpPr>
          <p:nvPr>
            <p:ph type="ftr" sz="quarter" idx="3"/>
          </p:nvPr>
        </p:nvSpPr>
        <p:spPr bwMode="auto">
          <a:xfrm>
            <a:off x="1981200" y="4914900"/>
            <a:ext cx="5562600" cy="2286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4"/>
          <p:cNvSpPr>
            <a:spLocks noGrp="1"/>
          </p:cNvSpPr>
          <p:nvPr>
            <p:ph type="sldNum" sz="quarter" idx="4"/>
          </p:nvPr>
        </p:nvSpPr>
        <p:spPr bwMode="auto">
          <a:xfrm>
            <a:off x="8763000" y="4972050"/>
            <a:ext cx="381000" cy="17145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zh-CN" altLang="en-US" dirty="0"/>
            </a:fld>
            <a:endParaRPr lang="zh-CN" altLang="en-US" dirty="0"/>
          </a:p>
        </p:txBody>
      </p:sp>
    </p:spTree>
  </p:cSld>
  <p:clrMapOvr>
    <a:masterClrMapping/>
  </p:clrMapOvr>
  <p:transition spd="slow">
    <p:wipe dir="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2_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5" name="Rectangle 7"/>
          <p:cNvSpPr>
            <a:spLocks noChangeArrowheads="1"/>
          </p:cNvSpPr>
          <p:nvPr/>
        </p:nvSpPr>
        <p:spPr bwMode="auto">
          <a:xfrm>
            <a:off x="7816850" y="4775200"/>
            <a:ext cx="11144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smtClean="0">
                <a:ln>
                  <a:noFill/>
                </a:ln>
                <a:solidFill>
                  <a:srgbClr val="0066FF"/>
                </a:solidFill>
                <a:effectLst/>
                <a:uLnTx/>
                <a:uFillTx/>
                <a:latin typeface="隶书" panose="02010509060101010101" pitchFamily="49" charset="-122"/>
                <a:ea typeface="隶书" panose="02010509060101010101" pitchFamily="49" charset="-122"/>
                <a:cs typeface="+mn-cs"/>
              </a:rPr>
              <a:t>工程化学</a:t>
            </a:r>
            <a:endParaRPr kumimoji="0" lang="zh-CN" altLang="en-US" sz="1800" b="1" i="0" u="none" strike="noStrike" kern="1200" cap="none" spc="0" normalizeH="0" baseline="0" noProof="0" smtClean="0">
              <a:ln>
                <a:noFill/>
              </a:ln>
              <a:solidFill>
                <a:srgbClr val="0066FF"/>
              </a:solidFill>
              <a:effectLst/>
              <a:uLnTx/>
              <a:uFillTx/>
              <a:latin typeface="隶书" panose="02010509060101010101" pitchFamily="49" charset="-122"/>
              <a:ea typeface="隶书" panose="02010509060101010101" pitchFamily="49" charset="-122"/>
              <a:cs typeface="+mn-cs"/>
            </a:endParaRPr>
          </a:p>
        </p:txBody>
      </p:sp>
      <p:pic>
        <p:nvPicPr>
          <p:cNvPr id="4099" name="Picture 9" descr="4845745_195740786734_2"/>
          <p:cNvPicPr>
            <a:picLocks noChangeAspect="1"/>
          </p:cNvPicPr>
          <p:nvPr/>
        </p:nvPicPr>
        <p:blipFill>
          <a:blip r:embed="rId3"/>
          <a:srcRect l="44130" t="27773" r="1364" b="3661"/>
          <a:stretch>
            <a:fillRect/>
          </a:stretch>
        </p:blipFill>
        <p:spPr>
          <a:xfrm>
            <a:off x="7639050" y="4256088"/>
            <a:ext cx="1504950" cy="887412"/>
          </a:xfrm>
          <a:prstGeom prst="rect">
            <a:avLst/>
          </a:prstGeom>
          <a:noFill/>
          <a:ln w="9525">
            <a:noFill/>
          </a:ln>
        </p:spPr>
      </p:pic>
      <p:pic>
        <p:nvPicPr>
          <p:cNvPr id="4100" name="Picture 13" descr="58010-12032116122190"/>
          <p:cNvPicPr>
            <a:picLocks noChangeAspect="1"/>
          </p:cNvPicPr>
          <p:nvPr/>
        </p:nvPicPr>
        <p:blipFill>
          <a:blip r:embed="rId4"/>
          <a:stretch>
            <a:fillRect/>
          </a:stretch>
        </p:blipFill>
        <p:spPr>
          <a:xfrm>
            <a:off x="0" y="3759200"/>
            <a:ext cx="1231900" cy="1384300"/>
          </a:xfrm>
          <a:prstGeom prst="rect">
            <a:avLst/>
          </a:prstGeom>
          <a:noFill/>
          <a:ln w="9525">
            <a:noFill/>
          </a:ln>
        </p:spPr>
      </p:pic>
      <p:sp>
        <p:nvSpPr>
          <p:cNvPr id="2" name="标题 1"/>
          <p:cNvSpPr>
            <a:spLocks noGrp="1"/>
          </p:cNvSpPr>
          <p:nvPr>
            <p:ph type="title"/>
          </p:nvPr>
        </p:nvSpPr>
        <p:spPr>
          <a:xfrm>
            <a:off x="838200" y="273844"/>
            <a:ext cx="10515600" cy="994172"/>
          </a:xfrm>
        </p:spPr>
        <p:txBody>
          <a:bodyPr/>
          <a:lstStyle/>
          <a:p>
            <a:r>
              <a:rPr lang="zh-CN" altLang="en-US" noProof="1" smtClean="0"/>
              <a:t>单击此处编辑母版标题样式</a:t>
            </a:r>
            <a:endParaRPr lang="zh-CN" altLang="en-US" noProof="1"/>
          </a:p>
        </p:txBody>
      </p:sp>
      <p:sp>
        <p:nvSpPr>
          <p:cNvPr id="8" name="日期占位符 2"/>
          <p:cNvSpPr>
            <a:spLocks noGrp="1"/>
          </p:cNvSpPr>
          <p:nvPr>
            <p:ph type="dt" sz="half" idx="2"/>
          </p:nvPr>
        </p:nvSpPr>
        <p:spPr>
          <a:xfrm>
            <a:off x="838200" y="4767263"/>
            <a:ext cx="2743200" cy="274638"/>
          </a:xfrm>
        </p:spPr>
        <p:txBody>
          <a:bodyPr/>
          <a:lstStyle>
            <a:lvl1pPr>
              <a:defRPr noProof="1"/>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38BC8C3-88F7-40B9-B934-7A0418E04464}" type="datetimeFigureOut">
              <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zh-CN" altLang="en-US" sz="24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1981200" y="4914900"/>
            <a:ext cx="5562600" cy="2286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 name="灯片编号占位符 4"/>
          <p:cNvSpPr>
            <a:spLocks noGrp="1"/>
          </p:cNvSpPr>
          <p:nvPr>
            <p:ph type="sldNum" sz="quarter" idx="4"/>
          </p:nvPr>
        </p:nvSpPr>
        <p:spPr bwMode="auto">
          <a:xfrm>
            <a:off x="8763000" y="4972050"/>
            <a:ext cx="381000" cy="171450"/>
          </a:xfrm>
          <a:prstGeom prst="rect">
            <a:avLst/>
          </a:prstGeom>
          <a:ln>
            <a:miter lim="800000"/>
          </a:ln>
        </p:spPr>
        <p:txBody>
          <a:bodyPr vert="horz" wrap="square" lIns="91440" tIns="45720" rIns="91440" bIns="45720" numCol="1" anchor="t" anchorCtr="0" compatLnSpc="1"/>
          <a:p>
            <a:pPr algn="r">
              <a:buNone/>
            </a:pPr>
            <a:fld id="{9A0DB2DC-4C9A-4742-B13C-FB6460FD3503}" type="slidenum">
              <a:rPr lang="zh-CN" altLang="en-US" dirty="0"/>
            </a:fld>
            <a:endParaRPr lang="zh-CN" altLang="en-US" dirty="0"/>
          </a:p>
        </p:txBody>
      </p:sp>
    </p:spTree>
  </p:cSld>
  <p:clrMapOvr>
    <a:masterClrMapping/>
  </p:clrMapOvr>
  <p:transition spd="slow">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D:/&#35768;&#32769;&#24072;/&#32534;&#20070;/&#25945;&#26448;&#31532;&#20108;&#29256;/&#24037;&#31243;&#21270;&#23398;/&#31532;&#20108;&#29256; ppt/2-9/&#24037;&#31243;&#21270;&#23398;&#35838;&#20214;/&#24037;&#31243;&#21270;&#23398;-&#31532;7,8,9&#31456;/&#31532;&#19971;&#31456;&#21270;&#23398;&#19982;&#33021;&#28304;/http:/www.taopic.com/uploads/allimg/110322/9116-11032220325644.jpg" TargetMode="External"/><Relationship Id="rId16" Type="http://schemas.openxmlformats.org/officeDocument/2006/relationships/image" Target="../media/image4.jpeg"/><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5"/>
          <a:stretch>
            <a:fillRect/>
          </a:stretch>
        </a:blipFill>
        <a:effectLst/>
      </p:bgPr>
    </p:bg>
    <p:spTree>
      <p:nvGrpSpPr>
        <p:cNvPr id="1" name=""/>
        <p:cNvGrpSpPr/>
        <p:nvPr/>
      </p:nvGrpSpPr>
      <p:grpSpPr/>
      <p:sp>
        <p:nvSpPr>
          <p:cNvPr id="1029" name="Rectangle 5"/>
          <p:cNvSpPr>
            <a:spLocks noGrp="1" noChangeArrowheads="1"/>
          </p:cNvSpPr>
          <p:nvPr>
            <p:ph type="ftr" sz="quarter" idx="3"/>
          </p:nvPr>
        </p:nvSpPr>
        <p:spPr bwMode="auto">
          <a:xfrm>
            <a:off x="1981200" y="4914900"/>
            <a:ext cx="5562600" cy="228600"/>
          </a:xfrm>
          <a:prstGeom prst="rect">
            <a:avLst/>
          </a:prstGeom>
          <a:noFill/>
          <a:ln w="9525">
            <a:noFill/>
            <a:miter lim="800000"/>
          </a:ln>
          <a:effectLst/>
        </p:spPr>
        <p:txBody>
          <a:bodyPr vert="horz" wrap="square" lIns="91440" tIns="45720" rIns="91440" bIns="45720" numCol="1" anchor="t" anchorCtr="0" compatLnSpc="1"/>
          <a:lstStyle>
            <a:lvl1pPr algn="ctr">
              <a:defRPr sz="1200" noProof="1">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8763000" y="4972050"/>
            <a:ext cx="381000" cy="17145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lvl="0" eaLnBrk="1" hangingPunct="1">
              <a:buNone/>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pic>
        <p:nvPicPr>
          <p:cNvPr id="1028" name="图片 166916" descr="F:/2018/工程化学/http:/www.taopic.com/uploads/allimg/110322/9116-11032220325644.jpg"/>
          <p:cNvPicPr>
            <a:picLocks noChangeAspect="1"/>
          </p:cNvPicPr>
          <p:nvPr userDrawn="1"/>
        </p:nvPicPr>
        <p:blipFill>
          <a:blip r:embed="rId16" r:link="rId17"/>
          <a:srcRect l="8864" t="3387" r="6709" b="6480"/>
          <a:stretch>
            <a:fillRect/>
          </a:stretch>
        </p:blipFill>
        <p:spPr>
          <a:xfrm>
            <a:off x="0" y="4260850"/>
            <a:ext cx="1657350" cy="88265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dir="r"/>
  </p:transition>
  <p:timing>
    <p:tnLst>
      <p:par>
        <p:cTn id="1" dur="indefinite" restart="never" nodeType="tmRoot"/>
      </p:par>
    </p:tnLst>
  </p:timing>
  <p:hf sldNum="0"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panose="020B0604020202020204" pitchFamily="34" charset="0"/>
        </a:defRPr>
      </a:lvl2pPr>
      <a:lvl3pPr algn="l" rtl="0" eaLnBrk="0" fontAlgn="base" hangingPunct="0">
        <a:spcBef>
          <a:spcPct val="0"/>
        </a:spcBef>
        <a:spcAft>
          <a:spcPct val="0"/>
        </a:spcAft>
        <a:defRPr sz="4400">
          <a:solidFill>
            <a:schemeClr val="tx2"/>
          </a:solidFill>
          <a:latin typeface="Arial" panose="020B0604020202020204" pitchFamily="34" charset="0"/>
        </a:defRPr>
      </a:lvl3pPr>
      <a:lvl4pPr algn="l" rtl="0" eaLnBrk="0" fontAlgn="base" hangingPunct="0">
        <a:spcBef>
          <a:spcPct val="0"/>
        </a:spcBef>
        <a:spcAft>
          <a:spcPct val="0"/>
        </a:spcAft>
        <a:defRPr sz="4400">
          <a:solidFill>
            <a:schemeClr val="tx2"/>
          </a:solidFill>
          <a:latin typeface="Arial" panose="020B0604020202020204" pitchFamily="34" charset="0"/>
        </a:defRPr>
      </a:lvl4pPr>
      <a:lvl5pPr algn="l" rtl="0" eaLnBrk="0" fontAlgn="base" hangingPunct="0">
        <a:spcBef>
          <a:spcPct val="0"/>
        </a:spcBef>
        <a:spcAft>
          <a:spcPct val="0"/>
        </a:spcAft>
        <a:defRPr sz="4400">
          <a:solidFill>
            <a:schemeClr val="tx2"/>
          </a:solidFill>
          <a:latin typeface="Arial" panose="020B0604020202020204" pitchFamily="34" charset="0"/>
        </a:defRPr>
      </a:lvl5pPr>
      <a:lvl6pPr marL="457200" algn="l" rtl="0" fontAlgn="base">
        <a:spcBef>
          <a:spcPct val="0"/>
        </a:spcBef>
        <a:spcAft>
          <a:spcPct val="0"/>
        </a:spcAft>
        <a:defRPr sz="4400">
          <a:solidFill>
            <a:schemeClr val="tx2"/>
          </a:solidFill>
          <a:latin typeface="Arial" panose="020B0604020202020204" pitchFamily="34" charset="0"/>
        </a:defRPr>
      </a:lvl6pPr>
      <a:lvl7pPr marL="914400" algn="l" rtl="0" fontAlgn="base">
        <a:spcBef>
          <a:spcPct val="0"/>
        </a:spcBef>
        <a:spcAft>
          <a:spcPct val="0"/>
        </a:spcAft>
        <a:defRPr sz="4400">
          <a:solidFill>
            <a:schemeClr val="tx2"/>
          </a:solidFill>
          <a:latin typeface="Arial" panose="020B0604020202020204" pitchFamily="34" charset="0"/>
        </a:defRPr>
      </a:lvl7pPr>
      <a:lvl8pPr marL="1371600" algn="l" rtl="0" fontAlgn="base">
        <a:spcBef>
          <a:spcPct val="0"/>
        </a:spcBef>
        <a:spcAft>
          <a:spcPct val="0"/>
        </a:spcAft>
        <a:defRPr sz="4400">
          <a:solidFill>
            <a:schemeClr val="tx2"/>
          </a:solidFill>
          <a:latin typeface="Arial" panose="020B0604020202020204" pitchFamily="34" charset="0"/>
        </a:defRPr>
      </a:lvl8pPr>
      <a:lvl9pPr marL="1828800" algn="l"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6.jpeg"/><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31532;&#19968;&#20010;&#36229;&#38142;&#25509;-%20&#23547;&#25214;&#21487;&#29123;&#20912;.mp4" TargetMode="External"/><Relationship Id="rId1" Type="http://schemas.openxmlformats.org/officeDocument/2006/relationships/hyperlink" Target="&#31532;&#20108;&#20010;&#36229;&#38142;&#25509;-&#33021;&#28304;&#19982;&#31038;&#20250;&#36827;&#27493;.doc" TargetMode="External"/></Relationships>
</file>

<file path=ppt/slides/_rels/slide5.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8.emf"/><Relationship Id="rId3" Type="http://schemas.openxmlformats.org/officeDocument/2006/relationships/oleObject" Target="../embeddings/oleObject2.bin"/><Relationship Id="rId2" Type="http://schemas.openxmlformats.org/officeDocument/2006/relationships/image" Target="../media/image7.e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31532;&#22235;&#20010;&#36229;&#38142;&#25509;-&#37325;&#36820;&#21361;&#26426;&#29616;&#22330;&#65306;&#24778;&#29190;&#20999;&#23572;&#35834;&#36125;&#21033;.flv" TargetMode="External"/><Relationship Id="rId2" Type="http://schemas.openxmlformats.org/officeDocument/2006/relationships/image" Target="../media/image14.png"/><Relationship Id="rId1" Type="http://schemas.openxmlformats.org/officeDocument/2006/relationships/hyperlink" Target="&#31532;&#19977;&#20010;&#36229;&#38142;&#25509;-&#26680;&#33021;&#23433;&#20840;&#21527;&#65311;.flv" TargetMode="Externa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16.jpe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png"/><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jpeg"/><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31532;&#20116;&#20010;&#36229;&#38142;&#25509;-&#20805;&#30005;&#26032;&#27861;.mp4" TargetMode="External"/><Relationship Id="rId2" Type="http://schemas.openxmlformats.org/officeDocument/2006/relationships/image" Target="D:/&#35768;&#32769;&#24072;/&#32534;&#20070;/&#25945;&#26448;&#31532;&#20108;&#29256;/&#24037;&#31243;&#21270;&#23398;/&#31532;&#20108;&#29256; ppt/2-9/&#24037;&#31243;&#21270;&#23398;&#35838;&#20214;/&#24037;&#31243;&#21270;&#23398;-&#31532;7,8,9&#31456;/&#31532;&#19971;&#31456;&#21270;&#23398;&#19982;&#33021;&#28304;/http:/www.taopic.com/uploads/allimg/110322/9116-11032220325644.jpg" TargetMode="External"/><Relationship Id="rId1" Type="http://schemas.openxmlformats.org/officeDocument/2006/relationships/image" Target="../media/image23.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jpeg"/><Relationship Id="rId1"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D:/&#35768;&#32769;&#24072;/&#32534;&#20070;/&#25945;&#26448;&#31532;&#20108;&#29256;/&#24037;&#31243;&#21270;&#23398;/&#31532;&#20108;&#29256; ppt/2-9/&#24037;&#31243;&#21270;&#23398;&#35838;&#20214;/&#24037;&#31243;&#21270;&#23398;-&#31532;7,8,9&#31456;/&#31532;&#19971;&#31456;&#21270;&#23398;&#19982;&#33021;&#28304;/http:/www.cceec.com.cn/uploads/100920/16-100920103Q63G.jpg" TargetMode="External"/><Relationship Id="rId1" Type="http://schemas.openxmlformats.org/officeDocument/2006/relationships/image" Target="../media/image26.jpe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D:/&#35768;&#32769;&#24072;/&#32534;&#20070;/&#25945;&#26448;&#31532;&#20108;&#29256;/&#24037;&#31243;&#21270;&#23398;/&#31532;&#20108;&#29256; ppt/2-9/&#24037;&#31243;&#21270;&#23398;&#35838;&#20214;/&#24037;&#31243;&#21270;&#23398;-&#31532;7,8,9&#31456;/&#31532;&#19971;&#31456;&#21270;&#23398;&#19982;&#33021;&#28304;/http:/zynews.com/images/2009-07/16/xin_5607061611238971434021.jpg" TargetMode="External"/><Relationship Id="rId1" Type="http://schemas.openxmlformats.org/officeDocument/2006/relationships/image" Target="../media/image27.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D:/&#35768;&#32769;&#24072;/&#32534;&#20070;/&#25945;&#26448;&#31532;&#20108;&#29256;/&#24037;&#31243;&#21270;&#23398;/&#31532;&#20108;&#29256; ppt/2-9/&#24037;&#31243;&#21270;&#23398;&#35838;&#20214;/&#24037;&#31243;&#21270;&#23398;-&#31532;7,8,9&#31456;/&#31532;&#19971;&#31456;&#21270;&#23398;&#19982;&#33021;&#28304;/http:/zynews.com/images/2009-07/16/xin_5607061611238971434021.jpg" TargetMode="External"/><Relationship Id="rId1" Type="http://schemas.openxmlformats.org/officeDocument/2006/relationships/image" Target="../media/image27.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31532;&#20845;&#20010;&#36229;&#38142;&#25509;-&#25506;&#32034;&#39057;&#36947;.&#26410;&#26469;&#33021;&#28304;.Discovery.Channel.Powering.the.Future.E01.Chi_Eng.HDTVrip.720X396-YYeTs&#20154;&#20154;&#24433;&#35270;.rmvb"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png"/><Relationship Id="rId1" Type="http://schemas.openxmlformats.org/officeDocument/2006/relationships/image" Target="../media/image28.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pic>
        <p:nvPicPr>
          <p:cNvPr id="5122" name="Picture 5" descr="wKhQsFO8302EZiQUAAAAANrU9rs751"/>
          <p:cNvPicPr>
            <a:picLocks noChangeAspect="1"/>
          </p:cNvPicPr>
          <p:nvPr/>
        </p:nvPicPr>
        <p:blipFill>
          <a:blip r:embed="rId2"/>
          <a:stretch>
            <a:fillRect/>
          </a:stretch>
        </p:blipFill>
        <p:spPr>
          <a:xfrm>
            <a:off x="0" y="3375025"/>
            <a:ext cx="2357438" cy="1768475"/>
          </a:xfrm>
          <a:prstGeom prst="rect">
            <a:avLst/>
          </a:prstGeom>
          <a:noFill/>
          <a:ln w="9525">
            <a:noFill/>
          </a:ln>
        </p:spPr>
      </p:pic>
      <p:sp>
        <p:nvSpPr>
          <p:cNvPr id="4" name="WordArt 7"/>
          <p:cNvSpPr>
            <a:spLocks noChangeArrowheads="1" noChangeShapeType="1" noTextEdit="1"/>
          </p:cNvSpPr>
          <p:nvPr/>
        </p:nvSpPr>
        <p:spPr bwMode="auto">
          <a:xfrm>
            <a:off x="2285984" y="1393022"/>
            <a:ext cx="5072098" cy="1500199"/>
          </a:xfrm>
          <a:prstGeom prst="rect">
            <a:avLst/>
          </a:prstGeom>
        </p:spPr>
        <p:txBody>
          <a:bodyPr wrap="none" numCol="1" fromWordArt="1">
            <a:prstTxWarp prst="textDeflate">
              <a:avLst>
                <a:gd name="adj" fmla="val 26227"/>
              </a:avLst>
            </a:prstTxWarp>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4000" b="1" i="0" u="none" strike="noStrike" kern="10" cap="none" spc="0" normalizeH="0" baseline="0" noProof="0" dirty="0">
                <a:ln w="9525">
                  <a:solidFill>
                    <a:srgbClr val="000000"/>
                  </a:solidFill>
                  <a:round/>
                </a:ln>
                <a:solidFill>
                  <a:srgbClr val="800080"/>
                </a:solidFill>
                <a:effectLst/>
                <a:uLnTx/>
                <a:uFillTx/>
                <a:latin typeface="楷体_GB2312" panose="02010609030101010101" pitchFamily="49" charset="-122"/>
                <a:ea typeface="楷体_GB2312" panose="02010609030101010101" pitchFamily="49" charset="-122"/>
                <a:cs typeface="+mn-cs"/>
              </a:rPr>
              <a:t>第</a:t>
            </a:r>
            <a:r>
              <a:rPr kumimoji="0" lang="en-US" altLang="zh-CN" sz="4000" b="1" i="0" u="none" strike="noStrike" kern="10" cap="none" spc="0" normalizeH="0" baseline="0" noProof="0" dirty="0">
                <a:ln w="9525">
                  <a:solidFill>
                    <a:srgbClr val="000000"/>
                  </a:solidFill>
                  <a:round/>
                </a:ln>
                <a:solidFill>
                  <a:srgbClr val="800080"/>
                </a:solidFill>
                <a:effectLst/>
                <a:uLnTx/>
                <a:uFillTx/>
                <a:latin typeface="楷体_GB2312" panose="02010609030101010101" pitchFamily="49" charset="-122"/>
                <a:ea typeface="楷体_GB2312" panose="02010609030101010101" pitchFamily="49" charset="-122"/>
                <a:cs typeface="+mn-cs"/>
              </a:rPr>
              <a:t>7</a:t>
            </a:r>
            <a:r>
              <a:rPr kumimoji="0" lang="zh-CN" altLang="en-US" sz="4000" b="1" i="0" u="none" strike="noStrike" kern="10" cap="none" spc="0" normalizeH="0" baseline="0" noProof="0" dirty="0">
                <a:ln w="9525">
                  <a:solidFill>
                    <a:srgbClr val="000000"/>
                  </a:solidFill>
                  <a:round/>
                </a:ln>
                <a:solidFill>
                  <a:srgbClr val="800080"/>
                </a:solidFill>
                <a:effectLst/>
                <a:uLnTx/>
                <a:uFillTx/>
                <a:latin typeface="楷体_GB2312" panose="02010609030101010101" pitchFamily="49" charset="-122"/>
                <a:ea typeface="楷体_GB2312" panose="02010609030101010101" pitchFamily="49" charset="-122"/>
                <a:cs typeface="+mn-cs"/>
              </a:rPr>
              <a:t>章  化学与能源</a:t>
            </a:r>
            <a:endParaRPr kumimoji="0" lang="zh-CN" altLang="en-US" sz="4000" b="1" i="0" u="none" strike="noStrike" kern="10" cap="none" spc="0" normalizeH="0" baseline="0" noProof="0" dirty="0">
              <a:ln w="9525">
                <a:solidFill>
                  <a:srgbClr val="000000"/>
                </a:solidFill>
                <a:round/>
              </a:ln>
              <a:solidFill>
                <a:srgbClr val="800080"/>
              </a:solidFill>
              <a:effectLst/>
              <a:uLnTx/>
              <a:uFillTx/>
              <a:latin typeface="楷体_GB2312" panose="02010609030101010101" pitchFamily="49" charset="-122"/>
              <a:ea typeface="楷体_GB2312" panose="02010609030101010101" pitchFamily="49" charset="-122"/>
              <a:cs typeface="+mn-cs"/>
            </a:endParaRPr>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146" name="Group 3"/>
          <p:cNvGrpSpPr/>
          <p:nvPr/>
        </p:nvGrpSpPr>
        <p:grpSpPr>
          <a:xfrm>
            <a:off x="2198688" y="407988"/>
            <a:ext cx="4752975" cy="639762"/>
            <a:chOff x="0" y="0"/>
            <a:chExt cx="2858" cy="537"/>
          </a:xfrm>
        </p:grpSpPr>
        <p:sp>
          <p:nvSpPr>
            <p:cNvPr id="6163" name="AutoShape 4"/>
            <p:cNvSpPr/>
            <p:nvPr/>
          </p:nvSpPr>
          <p:spPr>
            <a:xfrm>
              <a:off x="0" y="0"/>
              <a:ext cx="2858" cy="499"/>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6164" name="Rectangle 5"/>
            <p:cNvSpPr/>
            <p:nvPr/>
          </p:nvSpPr>
          <p:spPr>
            <a:xfrm>
              <a:off x="680" y="46"/>
              <a:ext cx="1597" cy="491"/>
            </a:xfrm>
            <a:prstGeom prst="rect">
              <a:avLst/>
            </a:prstGeom>
            <a:noFill/>
            <a:ln w="9525">
              <a:noFill/>
            </a:ln>
          </p:spPr>
          <p:txBody>
            <a:bodyPr wrap="none">
              <a:spAutoFit/>
            </a:bodyPr>
            <a:p>
              <a:r>
                <a:rPr lang="zh-CN" altLang="en-US" sz="3200" b="1" dirty="0">
                  <a:solidFill>
                    <a:schemeClr val="bg1"/>
                  </a:solidFill>
                  <a:latin typeface="Arial" panose="020B0604020202020204" pitchFamily="34" charset="0"/>
                  <a:ea typeface="楷体_GB2312" panose="02010609030101010101" pitchFamily="49" charset="-122"/>
                </a:rPr>
                <a:t>本章学习要点</a:t>
              </a:r>
              <a:endParaRPr lang="zh-CN" altLang="en-US" sz="3200" b="1" dirty="0">
                <a:solidFill>
                  <a:schemeClr val="bg1"/>
                </a:solidFill>
                <a:latin typeface="Arial" panose="020B0604020202020204" pitchFamily="34" charset="0"/>
                <a:ea typeface="楷体_GB2312" panose="02010609030101010101" pitchFamily="49" charset="-122"/>
              </a:endParaRPr>
            </a:p>
          </p:txBody>
        </p:sp>
      </p:grpSp>
      <p:graphicFrame>
        <p:nvGraphicFramePr>
          <p:cNvPr id="2" name="表格 1"/>
          <p:cNvGraphicFramePr/>
          <p:nvPr/>
        </p:nvGraphicFramePr>
        <p:xfrm>
          <a:off x="671513" y="1300163"/>
          <a:ext cx="7800975" cy="2057400"/>
        </p:xfrm>
        <a:graphic>
          <a:graphicData uri="http://schemas.openxmlformats.org/drawingml/2006/table">
            <a:tbl>
              <a:tblPr firstRow="1" bandRow="1">
                <a:tableStyleId>{5940675A-B579-460E-94D1-54222C63F5DA}</a:tableStyleId>
              </a:tblPr>
              <a:tblGrid>
                <a:gridCol w="1320800"/>
                <a:gridCol w="2947035"/>
                <a:gridCol w="3533140"/>
              </a:tblGrid>
              <a:tr h="685800">
                <a:tc>
                  <a:txBody>
                    <a:bodyPr/>
                    <a:lstStyle/>
                    <a:p>
                      <a:pPr indent="0" algn="ctr">
                        <a:buNone/>
                      </a:pPr>
                      <a:r>
                        <a:rPr lang="en-US" sz="1500" b="1" dirty="0" err="1">
                          <a:latin typeface="宋体" panose="02010600030101010101" pitchFamily="2" charset="-122"/>
                          <a:ea typeface="宋体" panose="02010600030101010101" pitchFamily="2" charset="-122"/>
                          <a:cs typeface="宋体" panose="02010600030101010101" pitchFamily="2" charset="-122"/>
                        </a:rPr>
                        <a:t>知识要点</a:t>
                      </a:r>
                      <a:endParaRPr lang="en-US" altLang="en-US" sz="1500" b="1"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a:noFill/>
                    </a:lnL>
                    <a:lnR w="12700"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500" b="1">
                          <a:latin typeface="宋体" panose="02010600030101010101" pitchFamily="2" charset="-122"/>
                          <a:ea typeface="宋体" panose="02010600030101010101" pitchFamily="2" charset="-122"/>
                          <a:cs typeface="宋体" panose="02010600030101010101" pitchFamily="2" charset="-122"/>
                        </a:rPr>
                        <a:t>掌握程度</a:t>
                      </a:r>
                      <a:endParaRPr lang="en-US" altLang="en-US" sz="15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9050" cap="flat" cmpd="sng">
                      <a:solidFill>
                        <a:srgbClr val="08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500" b="1">
                          <a:latin typeface="宋体" panose="02010600030101010101" pitchFamily="2" charset="-122"/>
                          <a:ea typeface="宋体" panose="02010600030101010101" pitchFamily="2" charset="-122"/>
                          <a:cs typeface="宋体" panose="02010600030101010101" pitchFamily="2" charset="-122"/>
                        </a:rPr>
                        <a:t>相关知识</a:t>
                      </a:r>
                      <a:endParaRPr lang="en-US" altLang="en-US" sz="15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00000"/>
                      </a:solidFill>
                      <a:prstDash val="solid"/>
                      <a:headEnd type="none" w="med" len="med"/>
                      <a:tailEnd type="none" w="med" len="med"/>
                    </a:lnL>
                    <a:lnR cap="flat">
                      <a:noFill/>
                    </a:lnR>
                    <a:lnT w="19050" cap="flat" cmpd="sng">
                      <a:solidFill>
                        <a:srgbClr val="08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85800">
                <a:tc>
                  <a:txBody>
                    <a:bodyPr/>
                    <a:lstStyle/>
                    <a:p>
                      <a:pPr indent="0" algn="ctr">
                        <a:buNone/>
                      </a:pPr>
                      <a:r>
                        <a:rPr lang="en-US" sz="1500" b="1">
                          <a:latin typeface="宋体" panose="02010600030101010101" pitchFamily="2" charset="-122"/>
                          <a:ea typeface="宋体" panose="02010600030101010101" pitchFamily="2" charset="-122"/>
                          <a:cs typeface="宋体" panose="02010600030101010101" pitchFamily="2" charset="-122"/>
                        </a:rPr>
                        <a:t>常规能源</a:t>
                      </a:r>
                      <a:endParaRPr lang="en-US" altLang="en-US" sz="15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500" b="1">
                          <a:latin typeface="宋体" panose="02010600030101010101" pitchFamily="2" charset="-122"/>
                          <a:ea typeface="宋体" panose="02010600030101010101" pitchFamily="2" charset="-122"/>
                          <a:cs typeface="宋体" panose="02010600030101010101" pitchFamily="2" charset="-122"/>
                        </a:rPr>
                        <a:t>熟悉常规能源的概念、用途及炼制的常用方法。</a:t>
                      </a:r>
                      <a:endParaRPr lang="en-US" altLang="en-US" sz="15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500" b="1">
                          <a:latin typeface="宋体" panose="02010600030101010101" pitchFamily="2" charset="-122"/>
                          <a:ea typeface="宋体" panose="02010600030101010101" pitchFamily="2" charset="-122"/>
                          <a:cs typeface="宋体" panose="02010600030101010101" pitchFamily="2" charset="-122"/>
                        </a:rPr>
                        <a:t>煤、石油、天然气</a:t>
                      </a:r>
                      <a:endParaRPr lang="en-US" altLang="en-US" sz="15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685800">
                <a:tc>
                  <a:txBody>
                    <a:bodyPr/>
                    <a:lstStyle/>
                    <a:p>
                      <a:pPr indent="0" algn="ctr">
                        <a:buNone/>
                      </a:pPr>
                      <a:r>
                        <a:rPr lang="en-US" sz="1500" b="1">
                          <a:latin typeface="宋体" panose="02010600030101010101" pitchFamily="2" charset="-122"/>
                          <a:ea typeface="宋体" panose="02010600030101010101" pitchFamily="2" charset="-122"/>
                          <a:cs typeface="宋体" panose="02010600030101010101" pitchFamily="2" charset="-122"/>
                        </a:rPr>
                        <a:t>新型能源</a:t>
                      </a:r>
                      <a:endParaRPr lang="en-US" altLang="en-US" sz="15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a:noFill/>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500" b="1" dirty="0" err="1">
                          <a:latin typeface="宋体" panose="02010600030101010101" pitchFamily="2" charset="-122"/>
                          <a:ea typeface="宋体" panose="02010600030101010101" pitchFamily="2" charset="-122"/>
                          <a:cs typeface="宋体" panose="02010600030101010101" pitchFamily="2" charset="-122"/>
                        </a:rPr>
                        <a:t>了解新型能源的概念、种类、开发利用等</a:t>
                      </a:r>
                      <a:r>
                        <a:rPr lang="en-US" sz="1500" b="1" dirty="0">
                          <a:latin typeface="宋体" panose="02010600030101010101" pitchFamily="2" charset="-122"/>
                          <a:ea typeface="宋体" panose="02010600030101010101" pitchFamily="2" charset="-122"/>
                          <a:cs typeface="宋体" panose="02010600030101010101" pitchFamily="2" charset="-122"/>
                        </a:rPr>
                        <a:t>。</a:t>
                      </a:r>
                      <a:endParaRPr lang="en-US" altLang="en-US" sz="1500" b="1"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sz="1500" b="1">
                          <a:latin typeface="宋体" panose="02010600030101010101" pitchFamily="2" charset="-122"/>
                          <a:ea typeface="宋体" panose="02010600030101010101" pitchFamily="2" charset="-122"/>
                          <a:cs typeface="宋体" panose="02010600030101010101" pitchFamily="2" charset="-122"/>
                        </a:rPr>
                        <a:t>核能、太阳能、氢能、生物质能、绿色电池、风能、地热能、海洋能及其他新型能源</a:t>
                      </a:r>
                      <a:endParaRPr lang="en-US" altLang="en-US" sz="15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00000"/>
                      </a:solidFill>
                      <a:prstDash val="solid"/>
                      <a:headEnd type="none" w="med" len="med"/>
                      <a:tailEnd type="none" w="med" len="med"/>
                    </a:lnL>
                    <a:lnR cap="flat">
                      <a:noFill/>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170" name="Group 2"/>
          <p:cNvGrpSpPr/>
          <p:nvPr/>
        </p:nvGrpSpPr>
        <p:grpSpPr>
          <a:xfrm>
            <a:off x="2016125" y="517525"/>
            <a:ext cx="5113338" cy="639763"/>
            <a:chOff x="0" y="0"/>
            <a:chExt cx="2858" cy="537"/>
          </a:xfrm>
        </p:grpSpPr>
        <p:sp>
          <p:nvSpPr>
            <p:cNvPr id="7173" name="AutoShape 3"/>
            <p:cNvSpPr/>
            <p:nvPr/>
          </p:nvSpPr>
          <p:spPr>
            <a:xfrm>
              <a:off x="0" y="0"/>
              <a:ext cx="2858" cy="499"/>
            </a:xfrm>
            <a:prstGeom prst="roundRect">
              <a:avLst>
                <a:gd name="adj" fmla="val 16667"/>
              </a:avLst>
            </a:prstGeom>
            <a:gradFill rotWithShape="1">
              <a:gsLst>
                <a:gs pos="0">
                  <a:srgbClr val="000000"/>
                </a:gs>
                <a:gs pos="50000">
                  <a:srgbClr val="6600CC"/>
                </a:gs>
                <a:gs pos="100000">
                  <a:srgbClr val="000000"/>
                </a:gs>
              </a:gsLst>
              <a:lin ang="5400000" scaled="1"/>
              <a:tileRect/>
            </a:gradFill>
            <a:ln w="22225" cap="flat" cmpd="sng">
              <a:solidFill>
                <a:srgbClr val="FFFF00"/>
              </a:solidFill>
              <a:prstDash val="solid"/>
              <a:headEnd type="none" w="med" len="med"/>
              <a:tailEnd type="none" w="med" len="med"/>
            </a:ln>
          </p:spPr>
          <p:txBody>
            <a:bodyPr wrap="none" anchor="ctr" anchorCtr="0"/>
            <a:p>
              <a:endParaRPr lang="zh-CN" altLang="en-US" dirty="0">
                <a:latin typeface="Arial" panose="020B0604020202020204" pitchFamily="34" charset="0"/>
              </a:endParaRPr>
            </a:p>
          </p:txBody>
        </p:sp>
        <p:sp>
          <p:nvSpPr>
            <p:cNvPr id="7174" name="Rectangle 4"/>
            <p:cNvSpPr/>
            <p:nvPr/>
          </p:nvSpPr>
          <p:spPr>
            <a:xfrm>
              <a:off x="680" y="46"/>
              <a:ext cx="1577" cy="491"/>
            </a:xfrm>
            <a:prstGeom prst="rect">
              <a:avLst/>
            </a:prstGeom>
            <a:noFill/>
            <a:ln w="9525">
              <a:noFill/>
            </a:ln>
          </p:spPr>
          <p:txBody>
            <a:bodyPr>
              <a:spAutoFit/>
            </a:bodyPr>
            <a:p>
              <a:r>
                <a:rPr lang="zh-CN" altLang="en-US" sz="3200" b="1" dirty="0">
                  <a:solidFill>
                    <a:schemeClr val="bg1"/>
                  </a:solidFill>
                  <a:latin typeface="Arial" panose="020B0604020202020204" pitchFamily="34" charset="0"/>
                  <a:ea typeface="楷体_GB2312" panose="02010609030101010101" pitchFamily="49" charset="-122"/>
                </a:rPr>
                <a:t>本章主要内容</a:t>
              </a:r>
              <a:endParaRPr lang="zh-CN" altLang="en-US" sz="3200" b="1" dirty="0">
                <a:solidFill>
                  <a:schemeClr val="bg1"/>
                </a:solidFill>
                <a:latin typeface="Arial" panose="020B0604020202020204" pitchFamily="34" charset="0"/>
                <a:ea typeface="楷体_GB2312" panose="02010609030101010101" pitchFamily="49" charset="-122"/>
              </a:endParaRPr>
            </a:p>
          </p:txBody>
        </p:sp>
      </p:grpSp>
      <p:sp>
        <p:nvSpPr>
          <p:cNvPr id="7171" name="Rectangle 5"/>
          <p:cNvSpPr/>
          <p:nvPr/>
        </p:nvSpPr>
        <p:spPr>
          <a:xfrm>
            <a:off x="1322388" y="1609725"/>
            <a:ext cx="5761037" cy="447675"/>
          </a:xfrm>
          <a:prstGeom prst="rect">
            <a:avLst/>
          </a:prstGeom>
          <a:noFill/>
          <a:ln w="9525">
            <a:noFill/>
          </a:ln>
        </p:spPr>
        <p:txBody>
          <a:bodyPr tIns="76176" bIns="0" anchor="ctr" anchorCtr="0">
            <a:spAutoFit/>
          </a:bodyPr>
          <a:p>
            <a:r>
              <a:rPr lang="en-US" altLang="zh-CN" b="1" dirty="0">
                <a:latin typeface="Times New Roman" panose="02020603050405020304" pitchFamily="18" charset="0"/>
              </a:rPr>
              <a:t>7.1  </a:t>
            </a:r>
            <a:r>
              <a:rPr lang="zh-CN" altLang="en-US" b="1" dirty="0">
                <a:latin typeface="Times New Roman" panose="02020603050405020304" pitchFamily="18" charset="0"/>
              </a:rPr>
              <a:t>常规能源</a:t>
            </a:r>
            <a:endParaRPr lang="zh-CN" altLang="en-US" b="1" dirty="0">
              <a:latin typeface="Arial" panose="020B0604020202020204" pitchFamily="34" charset="0"/>
            </a:endParaRPr>
          </a:p>
        </p:txBody>
      </p:sp>
      <p:sp>
        <p:nvSpPr>
          <p:cNvPr id="7172" name="Rectangle 6"/>
          <p:cNvSpPr/>
          <p:nvPr/>
        </p:nvSpPr>
        <p:spPr>
          <a:xfrm>
            <a:off x="1285875" y="2212975"/>
            <a:ext cx="6769100" cy="446088"/>
          </a:xfrm>
          <a:prstGeom prst="rect">
            <a:avLst/>
          </a:prstGeom>
          <a:noFill/>
          <a:ln w="9525">
            <a:noFill/>
          </a:ln>
        </p:spPr>
        <p:txBody>
          <a:bodyPr tIns="76176" bIns="0" anchor="ctr" anchorCtr="0">
            <a:spAutoFit/>
          </a:bodyPr>
          <a:p>
            <a:r>
              <a:rPr lang="en-US" altLang="zh-CN" b="1" dirty="0">
                <a:latin typeface="Times New Roman" panose="02020603050405020304" pitchFamily="18" charset="0"/>
              </a:rPr>
              <a:t>7.2   </a:t>
            </a:r>
            <a:r>
              <a:rPr lang="zh-CN" altLang="en-US" b="1" dirty="0">
                <a:latin typeface="Times New Roman" panose="02020603050405020304" pitchFamily="18" charset="0"/>
              </a:rPr>
              <a:t>新能源</a:t>
            </a:r>
            <a:endParaRPr lang="zh-CN" altLang="en-US" b="1" dirty="0">
              <a:latin typeface="Times New Roman" panose="02020603050405020304" pitchFamily="18" charset="0"/>
            </a:endParaRPr>
          </a:p>
        </p:txBody>
      </p:sp>
    </p:spTree>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nvSpPr>
        <p:spPr>
          <a:xfrm>
            <a:off x="685800" y="468154"/>
            <a:ext cx="7772400" cy="857250"/>
          </a:xfrm>
          <a:prstGeom prst="rect">
            <a:avLst/>
          </a:prstGeom>
          <a:noFill/>
          <a:ln w="9525">
            <a:noFill/>
          </a:ln>
        </p:spPr>
        <p:txBody>
          <a:bodyPr anchor="ctr"/>
          <a:lst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800" b="1" i="0" u="none" strike="noStrike" kern="1200" cap="none" spc="0" normalizeH="0" baseline="0" noProof="1">
                <a:ln>
                  <a:noFill/>
                </a:ln>
                <a:solidFill>
                  <a:schemeClr val="tx1"/>
                </a:solidFill>
                <a:effectLst/>
                <a:uLnTx/>
                <a:uFillTx/>
                <a:latin typeface="+mj-lt"/>
                <a:ea typeface="+mj-ea"/>
                <a:cs typeface="+mj-cs"/>
                <a:sym typeface="+mn-ea"/>
              </a:rPr>
              <a:t>回顾人类的发展历史可以发现</a:t>
            </a:r>
            <a:r>
              <a:rPr kumimoji="0" lang="en-US" altLang="zh-CN" sz="2800" b="1" i="0" u="none" strike="noStrike" kern="1200" cap="none" spc="0" normalizeH="0" baseline="0" noProof="1">
                <a:ln>
                  <a:noFill/>
                </a:ln>
                <a:solidFill>
                  <a:schemeClr val="tx1"/>
                </a:solidFill>
                <a:effectLst/>
                <a:uLnTx/>
                <a:uFillTx/>
                <a:latin typeface="+mj-lt"/>
                <a:ea typeface="+mj-ea"/>
                <a:cs typeface="+mj-cs"/>
                <a:sym typeface="+mn-ea"/>
              </a:rPr>
              <a:t>                           </a:t>
            </a:r>
            <a:r>
              <a:rPr kumimoji="0" lang="zh-CN" altLang="en-US" sz="2800" b="1" i="0" u="none" strike="noStrike" kern="1200" cap="none" spc="0" normalizeH="0" baseline="0" noProof="1">
                <a:ln>
                  <a:noFill/>
                </a:ln>
                <a:solidFill>
                  <a:schemeClr val="tx1"/>
                </a:solidFill>
                <a:effectLst/>
                <a:uLnTx/>
                <a:uFillTx/>
                <a:latin typeface="+mj-lt"/>
                <a:ea typeface="+mj-ea"/>
                <a:cs typeface="+mj-cs"/>
                <a:sym typeface="+mn-ea"/>
              </a:rPr>
              <a:t>能源与人类社会发展之间的</a:t>
            </a:r>
            <a:r>
              <a:rPr kumimoji="0" lang="zh-CN" altLang="en-US" sz="2800" b="1" i="0" u="none" strike="noStrike" kern="1200" cap="none" spc="0" normalizeH="0" baseline="0" noProof="1">
                <a:ln w="10160">
                  <a:solidFill>
                    <a:srgbClr val="FF0000"/>
                  </a:solidFill>
                  <a:prstDash val="solid"/>
                </a:ln>
                <a:solidFill>
                  <a:srgbClr val="FF0000"/>
                </a:solidFill>
                <a:effectLst>
                  <a:outerShdw blurRad="38100" dist="22860" dir="5400000" algn="tl" rotWithShape="0">
                    <a:srgbClr val="000000">
                      <a:alpha val="30000"/>
                    </a:srgbClr>
                  </a:outerShdw>
                </a:effectLst>
                <a:uLnTx/>
                <a:uFillTx/>
                <a:latin typeface="+mj-lt"/>
                <a:ea typeface="+mj-ea"/>
                <a:cs typeface="+mj-cs"/>
                <a:sym typeface="+mn-ea"/>
                <a:hlinkClick r:id="rId1" action="ppaction://hlinkfile"/>
              </a:rPr>
              <a:t>密切关系</a:t>
            </a:r>
            <a:br>
              <a:rPr kumimoji="0" lang="zh-CN" altLang="en-US" sz="3600" b="1" i="0" u="none" strike="noStrike" kern="1200" cap="none" spc="0" normalizeH="0" baseline="0" noProof="0" dirty="0">
                <a:ln>
                  <a:noFill/>
                </a:ln>
                <a:solidFill>
                  <a:schemeClr val="tx2"/>
                </a:solidFill>
                <a:effectLst/>
                <a:uLnTx/>
                <a:uFillTx/>
                <a:latin typeface="+mj-lt"/>
                <a:ea typeface="+mj-ea"/>
                <a:cs typeface="+mj-cs"/>
              </a:rPr>
            </a:br>
            <a:endParaRPr kumimoji="0" lang="zh-CN" altLang="en-US" sz="3600" b="1" i="0" u="none" strike="noStrike" kern="1200" cap="none" spc="0" normalizeH="0" baseline="0" noProof="1">
              <a:ln>
                <a:noFill/>
              </a:ln>
              <a:solidFill>
                <a:schemeClr val="tx2"/>
              </a:solidFill>
              <a:effectLst/>
              <a:uLnTx/>
              <a:uFillTx/>
              <a:latin typeface="+mj-lt"/>
              <a:ea typeface="+mj-ea"/>
              <a:cs typeface="+mj-cs"/>
            </a:endParaRPr>
          </a:p>
        </p:txBody>
      </p:sp>
      <p:sp>
        <p:nvSpPr>
          <p:cNvPr id="3" name="内容占位符 2"/>
          <p:cNvSpPr>
            <a:spLocks noGrp="1"/>
          </p:cNvSpPr>
          <p:nvPr/>
        </p:nvSpPr>
        <p:spPr>
          <a:xfrm>
            <a:off x="611188" y="1329929"/>
            <a:ext cx="7965078" cy="3162986"/>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近150年来能源的使用情况为：木质能源→煤→石油(含各种成品)→天然气。</a:t>
            </a:r>
            <a:endParaRPr kumimoji="0" lang="zh-CN" altLang="en-US" sz="2000" b="1"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近代和现代世界能源发展与利用的趋势是三种能源不断发展和逐渐替代。</a:t>
            </a:r>
            <a:endParaRPr kumimoji="0" lang="zh-CN" altLang="en-US" sz="2000" b="1"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随着社会的进步和经济的发展，能源的消耗正在以惊人的速度增加，能源供需之间将会出现越来越尖锐的矛盾。</a:t>
            </a:r>
            <a:endParaRPr kumimoji="0" lang="zh-CN" altLang="en-US" sz="2000" b="1" i="0" u="none" strike="noStrike" kern="1200" cap="none" spc="0" normalizeH="0" baseline="0" noProof="1">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未来新能源包括</a:t>
            </a:r>
            <a:r>
              <a:rPr kumimoji="0" lang="zh-CN" altLang="en-US" sz="2000" b="1" i="0" u="none" strike="noStrike" kern="1200" cap="none" spc="0" normalizeH="0" baseline="0" noProof="1">
                <a:ln>
                  <a:solidFill>
                    <a:srgbClr val="FF0000"/>
                  </a:solidFill>
                </a:ln>
                <a:solidFill>
                  <a:schemeClr val="tx1"/>
                </a:solidFill>
                <a:effectLst/>
                <a:uLnTx/>
                <a:uFillTx/>
                <a:latin typeface="+mn-lt"/>
                <a:ea typeface="+mn-ea"/>
                <a:cs typeface="+mn-cs"/>
                <a:hlinkClick r:id="rId2" action="ppaction://hlinkfile"/>
              </a:rPr>
              <a:t>可燃冰</a:t>
            </a:r>
            <a:r>
              <a:rPr kumimoji="0" lang="zh-CN" altLang="en-US" sz="2000" b="1" i="0" u="none" strike="noStrike" kern="1200" cap="none" spc="0" normalizeH="0" baseline="0" noProof="1">
                <a:ln>
                  <a:noFill/>
                </a:ln>
                <a:solidFill>
                  <a:schemeClr val="tx1"/>
                </a:solidFill>
                <a:effectLst/>
                <a:uLnTx/>
                <a:uFillTx/>
                <a:latin typeface="+mn-lt"/>
                <a:ea typeface="+mn-ea"/>
                <a:cs typeface="+mn-cs"/>
              </a:rPr>
              <a:t>、波能、煤层气、微生物等，它们的共同特点是资源丰富，没有污染。</a:t>
            </a:r>
            <a:endParaRPr kumimoji="0" lang="zh-CN" altLang="en-US" sz="2000" b="1"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ChangeArrowheads="1"/>
          </p:cNvSpPr>
          <p:nvPr/>
        </p:nvSpPr>
        <p:spPr bwMode="auto">
          <a:xfrm>
            <a:off x="-20789" y="141480"/>
            <a:ext cx="9144000" cy="540544"/>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a:ln>
                  <a:noFill/>
                </a:ln>
                <a:solidFill>
                  <a:schemeClr val="bg1"/>
                </a:solidFill>
                <a:effectLst/>
                <a:uLnTx/>
                <a:uFillTx/>
                <a:latin typeface="楷体_GB2312" panose="02010609030101010101" pitchFamily="49" charset="-122"/>
                <a:ea typeface="楷体_GB2312" panose="02010609030101010101" pitchFamily="49" charset="-122"/>
                <a:cs typeface="+mn-cs"/>
              </a:rPr>
              <a:t>§7</a:t>
            </a:r>
            <a:r>
              <a:rPr kumimoji="0" lang="en-US" altLang="zh-CN" sz="3200" b="1" i="0" u="none" strike="noStrike" kern="1200" cap="none" spc="0" normalizeH="0" baseline="0" noProof="0">
                <a:ln>
                  <a:noFill/>
                </a:ln>
                <a:solidFill>
                  <a:schemeClr val="bg1"/>
                </a:solidFill>
                <a:effectLst/>
                <a:uLnTx/>
                <a:uFillTx/>
                <a:latin typeface="Times New Roman" panose="02020603050405020304" pitchFamily="18" charset="0"/>
                <a:ea typeface="楷体_GB2312" panose="02010609030101010101" pitchFamily="49" charset="-122"/>
                <a:cs typeface="+mn-cs"/>
              </a:rPr>
              <a:t>.1  </a:t>
            </a:r>
            <a:r>
              <a:rPr kumimoji="0" lang="zh-CN" altLang="en-US" sz="3200" b="1" i="0" u="none" strike="noStrike" kern="1200" cap="none" spc="0" normalizeH="0" baseline="0" noProof="1">
                <a:ln>
                  <a:noFill/>
                </a:ln>
                <a:solidFill>
                  <a:schemeClr val="bg1"/>
                </a:solidFill>
                <a:effectLst/>
                <a:uLnTx/>
                <a:uFillTx/>
                <a:latin typeface="Times New Roman" panose="02020603050405020304" pitchFamily="18" charset="0"/>
                <a:ea typeface="宋体" panose="02010600030101010101" pitchFamily="2" charset="-122"/>
                <a:cs typeface="+mn-cs"/>
                <a:sym typeface="+mn-ea"/>
              </a:rPr>
              <a:t>常规能源</a:t>
            </a:r>
            <a:endParaRPr kumimoji="0" lang="zh-CN" altLang="en-US" sz="3200" b="1" i="0" u="none" strike="noStrike" kern="1200" cap="none" spc="0" normalizeH="0" baseline="0" noProof="0" dirty="0">
              <a:ln>
                <a:noFill/>
              </a:ln>
              <a:solidFill>
                <a:schemeClr val="bg1"/>
              </a:solidFill>
              <a:effectLst/>
              <a:uLnTx/>
              <a:uFillTx/>
              <a:latin typeface="Times New Roman" panose="02020603050405020304" pitchFamily="18" charset="0"/>
              <a:ea typeface="宋体" panose="02010600030101010101" pitchFamily="2" charset="-122"/>
              <a:cs typeface="+mn-cs"/>
              <a:sym typeface="+mn-ea"/>
            </a:endParaRPr>
          </a:p>
        </p:txBody>
      </p:sp>
      <p:sp>
        <p:nvSpPr>
          <p:cNvPr id="7171" name="Rectangle 3"/>
          <p:cNvSpPr/>
          <p:nvPr/>
        </p:nvSpPr>
        <p:spPr>
          <a:xfrm>
            <a:off x="107950" y="736600"/>
            <a:ext cx="5483225" cy="522288"/>
          </a:xfrm>
          <a:prstGeom prst="rect">
            <a:avLst/>
          </a:prstGeom>
          <a:solidFill>
            <a:srgbClr val="FFCC00"/>
          </a:solidFill>
          <a:ln w="19050" cap="flat" cmpd="sng">
            <a:solidFill>
              <a:srgbClr val="0000FF"/>
            </a:solidFill>
            <a:prstDash val="solid"/>
            <a:miter/>
            <a:headEnd type="none" w="med" len="med"/>
            <a:tailEnd type="none" w="med" len="med"/>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800" b="1" i="0" u="none" strike="noStrike" kern="1200" cap="none" spc="0" normalizeH="0" baseline="0" noProof="1">
                <a:ln>
                  <a:noFill/>
                </a:ln>
                <a:solidFill>
                  <a:schemeClr val="tx2"/>
                </a:solidFill>
                <a:effectLst/>
                <a:uLnTx/>
                <a:uFillTx/>
                <a:latin typeface="楷体_GB2312" panose="02010609030101010101" pitchFamily="49" charset="-122"/>
                <a:ea typeface="楷体_GB2312" panose="02010609030101010101" pitchFamily="49" charset="-122"/>
                <a:cs typeface="+mn-cs"/>
              </a:rPr>
              <a:t>  </a:t>
            </a:r>
            <a:r>
              <a:rPr kumimoji="0" lang="en-US" altLang="zh-CN"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sym typeface="+mn-ea"/>
              </a:rPr>
              <a:t>7.1.1 </a:t>
            </a:r>
            <a:r>
              <a:rPr kumimoji="0" lang="zh-CN" altLang="en-US"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sym typeface="+mn-ea"/>
              </a:rPr>
              <a:t>煤炭及其综合利用</a:t>
            </a:r>
            <a:endParaRPr kumimoji="0" lang="zh-CN" altLang="en-US" sz="2800" b="1" i="0" u="none" strike="noStrike" kern="1200" cap="none" spc="0" normalizeH="0" baseline="0" noProof="1">
              <a:ln>
                <a:noFill/>
              </a:ln>
              <a:solidFill>
                <a:schemeClr val="tx2"/>
              </a:solidFill>
              <a:effectLst/>
              <a:uLnTx/>
              <a:uFillTx/>
              <a:latin typeface="楷体_GB2312" panose="02010609030101010101" pitchFamily="49" charset="-122"/>
              <a:ea typeface="楷体_GB2312" panose="02010609030101010101" pitchFamily="49" charset="-122"/>
              <a:cs typeface="+mn-cs"/>
            </a:endParaRPr>
          </a:p>
        </p:txBody>
      </p:sp>
      <p:graphicFrame>
        <p:nvGraphicFramePr>
          <p:cNvPr id="4" name="内容占位符 3"/>
          <p:cNvGraphicFramePr>
            <a:graphicFrameLocks noGrp="1"/>
          </p:cNvGraphicFramePr>
          <p:nvPr>
            <p:ph idx="1"/>
          </p:nvPr>
        </p:nvGraphicFramePr>
        <p:xfrm>
          <a:off x="749300" y="1839913"/>
          <a:ext cx="5265738" cy="1143000"/>
        </p:xfrm>
        <a:graphic>
          <a:graphicData uri="http://schemas.openxmlformats.org/presentationml/2006/ole">
            <mc:AlternateContent xmlns:mc="http://schemas.openxmlformats.org/markup-compatibility/2006">
              <mc:Choice xmlns:v="urn:schemas-microsoft-com:vml" Requires="v">
                <p:oleObj spid="_x0000_s3076" name="" r:id="rId1" imgW="7385050" imgH="1501775" progId="Word.Document.8">
                  <p:embed/>
                </p:oleObj>
              </mc:Choice>
              <mc:Fallback>
                <p:oleObj name="" r:id="rId1" imgW="7385050" imgH="1501775" progId="Word.Document.8">
                  <p:embed/>
                  <p:pic>
                    <p:nvPicPr>
                      <p:cNvPr id="0" name="图片 3075"/>
                      <p:cNvPicPr/>
                      <p:nvPr/>
                    </p:nvPicPr>
                    <p:blipFill>
                      <a:blip r:embed="rId2"/>
                      <a:stretch>
                        <a:fillRect/>
                      </a:stretch>
                    </p:blipFill>
                    <p:spPr>
                      <a:xfrm>
                        <a:off x="749300" y="1839913"/>
                        <a:ext cx="5265738" cy="1143000"/>
                      </a:xfrm>
                      <a:prstGeom prst="rect">
                        <a:avLst/>
                      </a:prstGeom>
                      <a:noFill/>
                      <a:ln w="38100">
                        <a:noFill/>
                        <a:miter/>
                      </a:ln>
                    </p:spPr>
                  </p:pic>
                </p:oleObj>
              </mc:Fallback>
            </mc:AlternateContent>
          </a:graphicData>
        </a:graphic>
      </p:graphicFrame>
      <p:sp>
        <p:nvSpPr>
          <p:cNvPr id="6" name="文本框 5"/>
          <p:cNvSpPr txBox="1"/>
          <p:nvPr/>
        </p:nvSpPr>
        <p:spPr>
          <a:xfrm>
            <a:off x="376238" y="1347788"/>
            <a:ext cx="5638800" cy="460375"/>
          </a:xfrm>
          <a:prstGeom prst="rect">
            <a:avLst/>
          </a:prstGeom>
          <a:noFill/>
          <a:ln w="9525">
            <a:noFill/>
          </a:ln>
        </p:spPr>
        <p:txBody>
          <a:bodyPr>
            <a:spAutoFit/>
          </a:bodyPr>
          <a:p>
            <a:pPr algn="just"/>
            <a:r>
              <a:rPr lang="en-US" altLang="zh-CN" b="1" dirty="0">
                <a:latin typeface="Times New Roman" panose="02020603050405020304" pitchFamily="18" charset="0"/>
              </a:rPr>
              <a:t>1. </a:t>
            </a:r>
            <a:r>
              <a:rPr lang="zh-CN" altLang="en-US" b="1" dirty="0">
                <a:latin typeface="Times New Roman" panose="02020603050405020304" pitchFamily="18" charset="0"/>
              </a:rPr>
              <a:t>煤的种类及主要成分</a:t>
            </a:r>
            <a:endParaRPr lang="zh-CN" altLang="en-US" b="1" dirty="0">
              <a:latin typeface="Times New Roman" panose="02020603050405020304" pitchFamily="18" charset="0"/>
            </a:endParaRPr>
          </a:p>
        </p:txBody>
      </p:sp>
      <p:sp>
        <p:nvSpPr>
          <p:cNvPr id="7" name="文本框 6"/>
          <p:cNvSpPr txBox="1"/>
          <p:nvPr/>
        </p:nvSpPr>
        <p:spPr>
          <a:xfrm>
            <a:off x="1123950" y="2392363"/>
            <a:ext cx="3657600" cy="461962"/>
          </a:xfrm>
          <a:prstGeom prst="rect">
            <a:avLst/>
          </a:prstGeom>
          <a:noFill/>
          <a:ln w="9525">
            <a:noFill/>
          </a:ln>
        </p:spPr>
        <p:txBody>
          <a:bodyPr>
            <a:spAutoFit/>
          </a:bodyPr>
          <a:p>
            <a:pPr algn="just"/>
            <a:r>
              <a:rPr lang="en-US" altLang="zh-CN" b="1" dirty="0">
                <a:latin typeface="Times New Roman" panose="02020603050405020304" pitchFamily="18" charset="0"/>
              </a:rPr>
              <a:t> </a:t>
            </a:r>
            <a:r>
              <a:rPr lang="zh-CN" altLang="en-US" b="1" dirty="0">
                <a:latin typeface="Times New Roman" panose="02020603050405020304" pitchFamily="18" charset="0"/>
              </a:rPr>
              <a:t>煤的化学组成</a:t>
            </a:r>
            <a:endParaRPr lang="zh-CN" altLang="en-US" b="1" dirty="0">
              <a:latin typeface="Times New Roman" panose="02020603050405020304" pitchFamily="18" charset="0"/>
            </a:endParaRPr>
          </a:p>
        </p:txBody>
      </p:sp>
      <p:graphicFrame>
        <p:nvGraphicFramePr>
          <p:cNvPr id="8" name="对象 7"/>
          <p:cNvGraphicFramePr/>
          <p:nvPr/>
        </p:nvGraphicFramePr>
        <p:xfrm>
          <a:off x="611188" y="2854325"/>
          <a:ext cx="5254625" cy="1243013"/>
        </p:xfrm>
        <a:graphic>
          <a:graphicData uri="http://schemas.openxmlformats.org/presentationml/2006/ole">
            <mc:AlternateContent xmlns:mc="http://schemas.openxmlformats.org/markup-compatibility/2006">
              <mc:Choice xmlns:v="urn:schemas-microsoft-com:vml" Requires="v">
                <p:oleObj spid="_x0000_s3077" name="" r:id="rId3" imgW="6739890" imgH="1451610" progId="Word.Document.8">
                  <p:embed/>
                </p:oleObj>
              </mc:Choice>
              <mc:Fallback>
                <p:oleObj name="" r:id="rId3" imgW="6739890" imgH="1451610" progId="Word.Document.8">
                  <p:embed/>
                  <p:pic>
                    <p:nvPicPr>
                      <p:cNvPr id="0" name="图片 3076"/>
                      <p:cNvPicPr/>
                      <p:nvPr/>
                    </p:nvPicPr>
                    <p:blipFill>
                      <a:blip r:embed="rId4"/>
                      <a:stretch>
                        <a:fillRect/>
                      </a:stretch>
                    </p:blipFill>
                    <p:spPr>
                      <a:xfrm>
                        <a:off x="611188" y="2854325"/>
                        <a:ext cx="5254625" cy="1243013"/>
                      </a:xfrm>
                      <a:prstGeom prst="rect">
                        <a:avLst/>
                      </a:prstGeom>
                      <a:noFill/>
                      <a:ln w="38100">
                        <a:noFill/>
                        <a:miter/>
                      </a:ln>
                    </p:spPr>
                  </p:pic>
                </p:oleObj>
              </mc:Fallback>
            </mc:AlternateContent>
          </a:graphicData>
        </a:graphic>
      </p:graphicFrame>
      <p:sp>
        <p:nvSpPr>
          <p:cNvPr id="10" name="文本框 9"/>
          <p:cNvSpPr txBox="1"/>
          <p:nvPr/>
        </p:nvSpPr>
        <p:spPr>
          <a:xfrm>
            <a:off x="519430" y="3543300"/>
            <a:ext cx="8199755" cy="1614170"/>
          </a:xfrm>
          <a:prstGeom prst="rect">
            <a:avLst/>
          </a:prstGeom>
          <a:noFill/>
          <a:ln w="9525">
            <a:noFill/>
          </a:ln>
        </p:spPr>
        <p:txBody>
          <a:bodyPr wrap="square">
            <a:spAutoFit/>
          </a:bodyPr>
          <a:p>
            <a:pPr algn="just">
              <a:lnSpc>
                <a:spcPct val="110000"/>
              </a:lnSpc>
            </a:pPr>
            <a:r>
              <a:rPr lang="en-US" altLang="zh-CN" sz="1800" b="1" dirty="0">
                <a:latin typeface="Times New Roman" panose="02020603050405020304" pitchFamily="18" charset="0"/>
              </a:rPr>
              <a:t>C</a:t>
            </a:r>
            <a:r>
              <a:rPr lang="zh-CN" altLang="en-US" sz="1800" b="1" dirty="0">
                <a:latin typeface="Times New Roman" panose="02020603050405020304" pitchFamily="18" charset="0"/>
              </a:rPr>
              <a:t>：主要可燃成分，</a:t>
            </a:r>
            <a:endParaRPr lang="zh-CN" altLang="en-US" sz="1800" b="1" dirty="0">
              <a:latin typeface="Times New Roman" panose="02020603050405020304" pitchFamily="18" charset="0"/>
            </a:endParaRPr>
          </a:p>
          <a:p>
            <a:pPr algn="just">
              <a:lnSpc>
                <a:spcPct val="110000"/>
              </a:lnSpc>
            </a:pPr>
            <a:r>
              <a:rPr lang="zh-CN" altLang="en-US" sz="1800" b="1" dirty="0">
                <a:latin typeface="Times New Roman" panose="02020603050405020304" pitchFamily="18" charset="0"/>
              </a:rPr>
              <a:t>       </a:t>
            </a:r>
            <a:r>
              <a:rPr lang="en-US" altLang="zh-CN" sz="1800" b="1" dirty="0">
                <a:latin typeface="Times New Roman" panose="02020603050405020304" pitchFamily="18" charset="0"/>
              </a:rPr>
              <a:t>C (s) + O</a:t>
            </a:r>
            <a:r>
              <a:rPr lang="en-US" altLang="zh-CN" sz="1800" b="1" baseline="-25000" dirty="0">
                <a:latin typeface="Times New Roman" panose="02020603050405020304" pitchFamily="18" charset="0"/>
              </a:rPr>
              <a:t>2</a:t>
            </a:r>
            <a:r>
              <a:rPr lang="en-US" altLang="zh-CN" sz="1800" b="1" dirty="0">
                <a:latin typeface="Times New Roman" panose="02020603050405020304" pitchFamily="18" charset="0"/>
              </a:rPr>
              <a:t> (g) = CO</a:t>
            </a:r>
            <a:r>
              <a:rPr lang="en-US" altLang="zh-CN" sz="1800" b="1" baseline="-25000" dirty="0">
                <a:latin typeface="Times New Roman" panose="02020603050405020304" pitchFamily="18" charset="0"/>
              </a:rPr>
              <a:t>2</a:t>
            </a:r>
            <a:r>
              <a:rPr lang="en-US" altLang="zh-CN" sz="1800" b="1" dirty="0">
                <a:latin typeface="Times New Roman" panose="02020603050405020304" pitchFamily="18" charset="0"/>
              </a:rPr>
              <a:t> (g)      </a:t>
            </a:r>
            <a:endParaRPr lang="en-US" altLang="zh-CN" sz="1800" b="1" dirty="0">
              <a:latin typeface="Times New Roman" panose="02020603050405020304" pitchFamily="18" charset="0"/>
            </a:endParaRPr>
          </a:p>
          <a:p>
            <a:pPr algn="just">
              <a:lnSpc>
                <a:spcPct val="110000"/>
              </a:lnSpc>
            </a:pPr>
            <a:r>
              <a:rPr lang="en-US" altLang="zh-CN" sz="1800" b="1" dirty="0">
                <a:latin typeface="Times New Roman" panose="02020603050405020304" pitchFamily="18" charset="0"/>
              </a:rPr>
              <a:t>         △</a:t>
            </a:r>
            <a:r>
              <a:rPr lang="en-US" altLang="zh-CN" sz="1800" b="1" baseline="-25000" dirty="0">
                <a:latin typeface="Times New Roman" panose="02020603050405020304" pitchFamily="18" charset="0"/>
              </a:rPr>
              <a:t>r</a:t>
            </a:r>
            <a:r>
              <a:rPr lang="en-US" altLang="zh-CN" sz="1800" b="1" dirty="0">
                <a:latin typeface="Times New Roman" panose="02020603050405020304" pitchFamily="18" charset="0"/>
              </a:rPr>
              <a:t>H</a:t>
            </a:r>
            <a:r>
              <a:rPr lang="en-US" altLang="zh-CN" sz="1800" b="1" baseline="-25000" dirty="0">
                <a:latin typeface="Times New Roman" panose="02020603050405020304" pitchFamily="18" charset="0"/>
              </a:rPr>
              <a:t>m</a:t>
            </a:r>
            <a:r>
              <a:rPr lang="en-US" altLang="zh-CN" sz="1800" b="1" baseline="30000" dirty="0">
                <a:latin typeface="Lucida Sans Unicode" panose="020B0602030504020204" pitchFamily="34" charset="0"/>
              </a:rPr>
              <a:t>θ</a:t>
            </a:r>
            <a:r>
              <a:rPr lang="en-US" altLang="zh-CN" sz="1800" b="1" dirty="0">
                <a:latin typeface="Lucida Sans Unicode" panose="020B0602030504020204" pitchFamily="34" charset="0"/>
              </a:rPr>
              <a:t>(</a:t>
            </a:r>
            <a:r>
              <a:rPr lang="en-US" altLang="zh-CN" sz="1800" b="1" dirty="0">
                <a:latin typeface="宋体" panose="02010600030101010101" pitchFamily="2" charset="-122"/>
              </a:rPr>
              <a:t>298.15k</a:t>
            </a:r>
            <a:r>
              <a:rPr lang="en-US" altLang="zh-CN" sz="1800" b="1" dirty="0">
                <a:latin typeface="Lucida Sans Unicode" panose="020B0602030504020204" pitchFamily="34" charset="0"/>
              </a:rPr>
              <a:t>)= </a:t>
            </a:r>
            <a:r>
              <a:rPr lang="en-US" altLang="zh-CN" sz="1800" b="1" dirty="0">
                <a:latin typeface="宋体" panose="02010600030101010101" pitchFamily="2" charset="-122"/>
              </a:rPr>
              <a:t>-393.5</a:t>
            </a:r>
            <a:r>
              <a:rPr lang="en-US" altLang="zh-CN" sz="1800" b="1" dirty="0">
                <a:latin typeface="Times New Roman" panose="02020603050405020304" pitchFamily="18" charset="0"/>
              </a:rPr>
              <a:t> kj·mol</a:t>
            </a:r>
            <a:r>
              <a:rPr lang="en-US" altLang="zh-CN" sz="1800" b="1" baseline="30000" dirty="0">
                <a:latin typeface="Times New Roman" panose="02020603050405020304" pitchFamily="18" charset="0"/>
              </a:rPr>
              <a:t>-1</a:t>
            </a:r>
            <a:endParaRPr lang="en-US" altLang="zh-CN" sz="1800" b="1" baseline="30000" dirty="0">
              <a:latin typeface="Times New Roman" panose="02020603050405020304" pitchFamily="18" charset="0"/>
            </a:endParaRPr>
          </a:p>
          <a:p>
            <a:pPr algn="just">
              <a:lnSpc>
                <a:spcPct val="110000"/>
              </a:lnSpc>
            </a:pPr>
            <a:r>
              <a:rPr lang="en-US" altLang="zh-CN" sz="1800" b="1" dirty="0">
                <a:latin typeface="Times New Roman" panose="02020603050405020304" pitchFamily="18" charset="0"/>
              </a:rPr>
              <a:t>H</a:t>
            </a:r>
            <a:r>
              <a:rPr lang="zh-CN" altLang="en-US" sz="1800" b="1" dirty="0">
                <a:latin typeface="Times New Roman" panose="02020603050405020304" pitchFamily="18" charset="0"/>
              </a:rPr>
              <a:t>：      主要可燃元素   有效氢</a:t>
            </a:r>
            <a:r>
              <a:rPr lang="en-US" altLang="zh-CN" sz="1800" b="1" dirty="0">
                <a:latin typeface="Times New Roman" panose="02020603050405020304" pitchFamily="18" charset="0"/>
              </a:rPr>
              <a:t>——</a:t>
            </a:r>
            <a:r>
              <a:rPr lang="zh-CN" altLang="en-US" sz="1800" b="1" dirty="0">
                <a:latin typeface="Times New Roman" panose="02020603050405020304" pitchFamily="18" charset="0"/>
              </a:rPr>
              <a:t>与</a:t>
            </a:r>
            <a:r>
              <a:rPr lang="en-US" altLang="zh-CN" sz="1800" b="1" dirty="0">
                <a:latin typeface="Times New Roman" panose="02020603050405020304" pitchFamily="18" charset="0"/>
              </a:rPr>
              <a:t>C  S  P</a:t>
            </a:r>
            <a:r>
              <a:rPr lang="zh-CN" altLang="en-US" sz="1800" b="1" dirty="0">
                <a:latin typeface="Times New Roman" panose="02020603050405020304" pitchFamily="18" charset="0"/>
              </a:rPr>
              <a:t>结合，可燃烧化合氢</a:t>
            </a:r>
            <a:r>
              <a:rPr lang="en-US" altLang="zh-CN" sz="1800" b="1" dirty="0">
                <a:latin typeface="Times New Roman" panose="02020603050405020304" pitchFamily="18" charset="0"/>
              </a:rPr>
              <a:t>——</a:t>
            </a:r>
            <a:r>
              <a:rPr lang="zh-CN" altLang="en-US" sz="1800" b="1" dirty="0">
                <a:latin typeface="Times New Roman" panose="02020603050405020304" pitchFamily="18" charset="0"/>
              </a:rPr>
              <a:t>与</a:t>
            </a:r>
            <a:r>
              <a:rPr lang="en-US" altLang="zh-CN" sz="1800" b="1" dirty="0">
                <a:latin typeface="Times New Roman" panose="02020603050405020304" pitchFamily="18" charset="0"/>
              </a:rPr>
              <a:t>O </a:t>
            </a:r>
            <a:r>
              <a:rPr lang="zh-CN" altLang="en-US" sz="1800" b="1" dirty="0">
                <a:latin typeface="Times New Roman" panose="02020603050405020304" pitchFamily="18" charset="0"/>
              </a:rPr>
              <a:t>结合，</a:t>
            </a:r>
            <a:r>
              <a:rPr lang="en-US" altLang="zh-CN" sz="1800" b="1" dirty="0">
                <a:latin typeface="Times New Roman" panose="02020603050405020304" pitchFamily="18" charset="0"/>
              </a:rPr>
              <a:t>   </a:t>
            </a:r>
            <a:r>
              <a:rPr lang="zh-CN" altLang="en-US" sz="1800" b="1" dirty="0">
                <a:latin typeface="Times New Roman" panose="02020603050405020304" pitchFamily="18" charset="0"/>
              </a:rPr>
              <a:t>不能燃烧</a:t>
            </a:r>
            <a:r>
              <a:rPr lang="en-US" altLang="zh-CN" sz="1800" b="1" dirty="0">
                <a:latin typeface="Times New Roman" panose="02020603050405020304" pitchFamily="18" charset="0"/>
              </a:rPr>
              <a:t>O , S,  N</a:t>
            </a:r>
            <a:r>
              <a:rPr lang="zh-CN" altLang="en-US" sz="1800" b="1" dirty="0">
                <a:latin typeface="Times New Roman" panose="02020603050405020304" pitchFamily="18" charset="0"/>
              </a:rPr>
              <a:t>等：有害成分</a:t>
            </a:r>
            <a:endParaRPr lang="zh-CN" altLang="en-US" b="1" dirty="0">
              <a:latin typeface="Times New Roman" panose="02020603050405020304" pitchFamily="18"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170"/>
                                        </p:tgtEl>
                                        <p:attrNameLst>
                                          <p:attrName>ppt_y</p:attrName>
                                        </p:attrNameLst>
                                      </p:cBhvr>
                                      <p:tavLst>
                                        <p:tav tm="0">
                                          <p:val>
                                            <p:strVal val="#ppt_y"/>
                                          </p:val>
                                        </p:tav>
                                        <p:tav tm="100000">
                                          <p:val>
                                            <p:strVal val="#ppt_y"/>
                                          </p:val>
                                        </p:tav>
                                      </p:tavLst>
                                    </p:anim>
                                    <p:anim calcmode="lin" valueType="num">
                                      <p:cBhvr>
                                        <p:cTn id="9" dur="500" fill="hold"/>
                                        <p:tgtEl>
                                          <p:spTgt spid="717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17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170"/>
                                        </p:tgtEl>
                                      </p:cBhvr>
                                    </p:animEffect>
                                  </p:childTnLst>
                                </p:cTn>
                              </p:par>
                            </p:childTnLst>
                          </p:cTn>
                        </p:par>
                      </p:childTnLst>
                    </p:cTn>
                  </p:par>
                  <p:par>
                    <p:cTn id="12" fill="hold">
                      <p:stCondLst>
                        <p:cond delay="indefinite"/>
                      </p:stCondLst>
                      <p:childTnLst>
                        <p:par>
                          <p:cTn id="13" fill="hold">
                            <p:stCondLst>
                              <p:cond delay="0"/>
                            </p:stCondLst>
                            <p:childTnLst>
                              <p:par>
                                <p:cTn id="14" presetID="41" presetClass="entr" presetSubtype="0" fill="hold" grpId="0" nodeType="clickEffect">
                                  <p:stCondLst>
                                    <p:cond delay="0"/>
                                  </p:stCondLst>
                                  <p:iterate type="lt">
                                    <p:tmPct val="10000"/>
                                  </p:iterate>
                                  <p:childTnLst>
                                    <p:set>
                                      <p:cBhvr>
                                        <p:cTn id="15" dur="1" fill="hold">
                                          <p:stCondLst>
                                            <p:cond delay="0"/>
                                          </p:stCondLst>
                                        </p:cTn>
                                        <p:tgtEl>
                                          <p:spTgt spid="7171"/>
                                        </p:tgtEl>
                                        <p:attrNameLst>
                                          <p:attrName>style.visibility</p:attrName>
                                        </p:attrNameLst>
                                      </p:cBhvr>
                                      <p:to>
                                        <p:strVal val="visible"/>
                                      </p:to>
                                    </p:set>
                                    <p:anim calcmode="lin" valueType="num">
                                      <p:cBhvr>
                                        <p:cTn id="16" dur="500" fill="hold"/>
                                        <p:tgtEl>
                                          <p:spTgt spid="7171"/>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7171"/>
                                        </p:tgtEl>
                                        <p:attrNameLst>
                                          <p:attrName>ppt_y</p:attrName>
                                        </p:attrNameLst>
                                      </p:cBhvr>
                                      <p:tavLst>
                                        <p:tav tm="0">
                                          <p:val>
                                            <p:strVal val="#ppt_y"/>
                                          </p:val>
                                        </p:tav>
                                        <p:tav tm="100000">
                                          <p:val>
                                            <p:strVal val="#ppt_y"/>
                                          </p:val>
                                        </p:tav>
                                      </p:tavLst>
                                    </p:anim>
                                    <p:anim calcmode="lin" valueType="num">
                                      <p:cBhvr>
                                        <p:cTn id="18" dur="500" fill="hold"/>
                                        <p:tgtEl>
                                          <p:spTgt spid="7171"/>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7171"/>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7171"/>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5"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blinds(vertical)">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32"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ox(out)">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5"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blinds(vertical)">
                                      <p:cBhvr>
                                        <p:cTn id="35" dur="500"/>
                                        <p:tgtEl>
                                          <p:spTgt spid="7"/>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32"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box(out)">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5" fill="hold" grpId="0" nodeType="clickEffect">
                                  <p:stCondLst>
                                    <p:cond delay="0"/>
                                  </p:stCondLst>
                                  <p:childTnLst>
                                    <p:set>
                                      <p:cBhvr>
                                        <p:cTn id="44" dur="1" fill="hold">
                                          <p:stCondLst>
                                            <p:cond delay="0"/>
                                          </p:stCondLst>
                                        </p:cTn>
                                        <p:tgtEl>
                                          <p:spTgt spid="10">
                                            <p:txEl>
                                              <p:charRg st="0" end="10"/>
                                            </p:txEl>
                                          </p:spTgt>
                                        </p:tgtEl>
                                        <p:attrNameLst>
                                          <p:attrName>style.visibility</p:attrName>
                                        </p:attrNameLst>
                                      </p:cBhvr>
                                      <p:to>
                                        <p:strVal val="visible"/>
                                      </p:to>
                                    </p:set>
                                    <p:animEffect transition="in" filter="blinds(vertical)">
                                      <p:cBhvr>
                                        <p:cTn id="45" dur="500"/>
                                        <p:tgtEl>
                                          <p:spTgt spid="10">
                                            <p:txEl>
                                              <p:charRg st="0" end="1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5" fill="hold" grpId="0" nodeType="clickEffect">
                                  <p:stCondLst>
                                    <p:cond delay="0"/>
                                  </p:stCondLst>
                                  <p:childTnLst>
                                    <p:set>
                                      <p:cBhvr>
                                        <p:cTn id="49" dur="1" fill="hold">
                                          <p:stCondLst>
                                            <p:cond delay="0"/>
                                          </p:stCondLst>
                                        </p:cTn>
                                        <p:tgtEl>
                                          <p:spTgt spid="10">
                                            <p:txEl>
                                              <p:charRg st="10" end="48"/>
                                            </p:txEl>
                                          </p:spTgt>
                                        </p:tgtEl>
                                        <p:attrNameLst>
                                          <p:attrName>style.visibility</p:attrName>
                                        </p:attrNameLst>
                                      </p:cBhvr>
                                      <p:to>
                                        <p:strVal val="visible"/>
                                      </p:to>
                                    </p:set>
                                    <p:animEffect transition="in" filter="blinds(vertical)">
                                      <p:cBhvr>
                                        <p:cTn id="50" dur="500"/>
                                        <p:tgtEl>
                                          <p:spTgt spid="10">
                                            <p:txEl>
                                              <p:charRg st="10" end="4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5" fill="hold" grpId="0" nodeType="clickEffect">
                                  <p:stCondLst>
                                    <p:cond delay="0"/>
                                  </p:stCondLst>
                                  <p:childTnLst>
                                    <p:set>
                                      <p:cBhvr>
                                        <p:cTn id="54" dur="1" fill="hold">
                                          <p:stCondLst>
                                            <p:cond delay="0"/>
                                          </p:stCondLst>
                                        </p:cTn>
                                        <p:tgtEl>
                                          <p:spTgt spid="10">
                                            <p:txEl>
                                              <p:charRg st="48" end="89"/>
                                            </p:txEl>
                                          </p:spTgt>
                                        </p:tgtEl>
                                        <p:attrNameLst>
                                          <p:attrName>style.visibility</p:attrName>
                                        </p:attrNameLst>
                                      </p:cBhvr>
                                      <p:to>
                                        <p:strVal val="visible"/>
                                      </p:to>
                                    </p:set>
                                    <p:animEffect transition="in" filter="blinds(vertical)">
                                      <p:cBhvr>
                                        <p:cTn id="55" dur="500"/>
                                        <p:tgtEl>
                                          <p:spTgt spid="10">
                                            <p:txEl>
                                              <p:charRg st="48" end="89"/>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5" fill="hold" grpId="0" nodeType="clickEffect">
                                  <p:stCondLst>
                                    <p:cond delay="0"/>
                                  </p:stCondLst>
                                  <p:childTnLst>
                                    <p:set>
                                      <p:cBhvr>
                                        <p:cTn id="59" dur="1" fill="hold">
                                          <p:stCondLst>
                                            <p:cond delay="0"/>
                                          </p:stCondLst>
                                        </p:cTn>
                                        <p:tgtEl>
                                          <p:spTgt spid="10">
                                            <p:txEl>
                                              <p:charRg st="89" end="126"/>
                                            </p:txEl>
                                          </p:spTgt>
                                        </p:tgtEl>
                                        <p:attrNameLst>
                                          <p:attrName>style.visibility</p:attrName>
                                        </p:attrNameLst>
                                      </p:cBhvr>
                                      <p:to>
                                        <p:strVal val="visible"/>
                                      </p:to>
                                    </p:set>
                                    <p:animEffect transition="in" filter="blinds(vertical)">
                                      <p:cBhvr>
                                        <p:cTn id="60" dur="500"/>
                                        <p:tgtEl>
                                          <p:spTgt spid="10">
                                            <p:txEl>
                                              <p:charRg st="89" end="12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ldLvl="0" animBg="1"/>
      <p:bldP spid="6" grpId="0"/>
      <p:bldP spid="7" grpId="0"/>
      <p:bldP spid="10"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59749" name="图片 159748"/>
          <p:cNvPicPr>
            <a:picLocks noChangeAspect="1"/>
          </p:cNvPicPr>
          <p:nvPr/>
        </p:nvPicPr>
        <p:blipFill>
          <a:blip r:embed="rId1"/>
          <a:stretch>
            <a:fillRect/>
          </a:stretch>
        </p:blipFill>
        <p:spPr>
          <a:xfrm>
            <a:off x="4829175" y="2740025"/>
            <a:ext cx="4356100" cy="2378075"/>
          </a:xfrm>
          <a:prstGeom prst="rect">
            <a:avLst/>
          </a:prstGeom>
          <a:noFill/>
          <a:ln w="9525">
            <a:noFill/>
          </a:ln>
        </p:spPr>
      </p:pic>
      <p:sp>
        <p:nvSpPr>
          <p:cNvPr id="10243" name="标题 159745"/>
          <p:cNvSpPr>
            <a:spLocks noGrp="1"/>
          </p:cNvSpPr>
          <p:nvPr/>
        </p:nvSpPr>
        <p:spPr>
          <a:xfrm>
            <a:off x="685800" y="457200"/>
            <a:ext cx="4343400" cy="628650"/>
          </a:xfrm>
          <a:prstGeom prst="rect">
            <a:avLst/>
          </a:prstGeom>
          <a:noFill/>
          <a:ln w="9525">
            <a:noFill/>
          </a:ln>
        </p:spPr>
        <p:txBody>
          <a:bodyPr anchor="ctr" anchorCtr="0"/>
          <a:p>
            <a:r>
              <a:rPr lang="zh-CN" altLang="en-US" sz="3600" b="1" dirty="0">
                <a:solidFill>
                  <a:srgbClr val="C00000"/>
                </a:solidFill>
                <a:latin typeface="Arial" panose="020B0604020202020204" pitchFamily="34" charset="0"/>
              </a:rPr>
              <a:t>（</a:t>
            </a:r>
            <a:r>
              <a:rPr lang="en-US" altLang="zh-CN" sz="3600" b="1" dirty="0">
                <a:solidFill>
                  <a:srgbClr val="C00000"/>
                </a:solidFill>
                <a:latin typeface="Arial" panose="020B0604020202020204" pitchFamily="34" charset="0"/>
              </a:rPr>
              <a:t>1</a:t>
            </a:r>
            <a:r>
              <a:rPr lang="zh-CN" altLang="en-US" sz="3600" b="1" dirty="0">
                <a:solidFill>
                  <a:srgbClr val="C00000"/>
                </a:solidFill>
                <a:latin typeface="Arial" panose="020B0604020202020204" pitchFamily="34" charset="0"/>
              </a:rPr>
              <a:t>）煤的焦化</a:t>
            </a:r>
            <a:endParaRPr lang="zh-CN" altLang="en-US" sz="3600" b="1" dirty="0">
              <a:solidFill>
                <a:srgbClr val="C00000"/>
              </a:solidFill>
              <a:latin typeface="Arial" panose="020B0604020202020204" pitchFamily="34" charset="0"/>
            </a:endParaRPr>
          </a:p>
        </p:txBody>
      </p:sp>
      <p:sp>
        <p:nvSpPr>
          <p:cNvPr id="159747" name="内容占位符 159746"/>
          <p:cNvSpPr>
            <a:spLocks noGrp="1"/>
          </p:cNvSpPr>
          <p:nvPr/>
        </p:nvSpPr>
        <p:spPr>
          <a:xfrm>
            <a:off x="381000" y="1257300"/>
            <a:ext cx="8467725" cy="2057400"/>
          </a:xfrm>
          <a:prstGeom prst="rect">
            <a:avLst/>
          </a:prstGeom>
          <a:noFill/>
          <a:ln w="9525">
            <a:noFill/>
          </a:ln>
        </p:spPr>
        <p:txBody>
          <a:bodyPr/>
          <a:p>
            <a:pPr marL="342900" indent="-342900" algn="just">
              <a:lnSpc>
                <a:spcPct val="140000"/>
              </a:lnSpc>
            </a:pPr>
            <a:r>
              <a:rPr lang="zh-CN" altLang="en-US" sz="2800" b="1" dirty="0">
                <a:latin typeface="Arial" panose="020B0604020202020204" pitchFamily="34" charset="0"/>
              </a:rPr>
              <a:t>炼焦：将煤隔绝空气加强热，使它分解的过程叫做煤 </a:t>
            </a:r>
            <a:endParaRPr lang="zh-CN" altLang="en-US" sz="2800" b="1" dirty="0">
              <a:latin typeface="Arial" panose="020B0604020202020204" pitchFamily="34" charset="0"/>
            </a:endParaRPr>
          </a:p>
          <a:p>
            <a:pPr marL="342900" indent="-342900" algn="just">
              <a:lnSpc>
                <a:spcPct val="140000"/>
              </a:lnSpc>
            </a:pPr>
            <a:r>
              <a:rPr lang="zh-CN" altLang="en-US" sz="2800" b="1" dirty="0">
                <a:latin typeface="Arial" panose="020B0604020202020204" pitchFamily="34" charset="0"/>
              </a:rPr>
              <a:t>           的焦化的干馏</a:t>
            </a:r>
            <a:r>
              <a:rPr lang="zh-CN" altLang="en-US" sz="2800" dirty="0">
                <a:latin typeface="Arial" panose="020B0604020202020204" pitchFamily="34" charset="0"/>
              </a:rPr>
              <a:t>。</a:t>
            </a:r>
            <a:endParaRPr lang="zh-CN" altLang="en-US" sz="2800" dirty="0">
              <a:latin typeface="Arial" panose="020B0604020202020204" pitchFamily="34" charset="0"/>
            </a:endParaRPr>
          </a:p>
          <a:p>
            <a:pPr marL="342900" indent="-342900" algn="just">
              <a:lnSpc>
                <a:spcPct val="140000"/>
              </a:lnSpc>
            </a:pPr>
            <a:r>
              <a:rPr lang="zh-CN" altLang="en-US" b="1" dirty="0">
                <a:latin typeface="Arial" panose="020B0604020202020204" pitchFamily="34" charset="0"/>
              </a:rPr>
              <a:t>煤经过干馏能得到：。</a:t>
            </a:r>
            <a:r>
              <a:rPr lang="zh-CN" altLang="en-US" dirty="0">
                <a:latin typeface="Arial" panose="020B0604020202020204" pitchFamily="34" charset="0"/>
              </a:rPr>
              <a:t> </a:t>
            </a:r>
            <a:endParaRPr lang="zh-CN" altLang="en-US" b="1" dirty="0">
              <a:solidFill>
                <a:srgbClr val="FFFF00"/>
              </a:solidFill>
              <a:latin typeface="Arial" panose="020B0604020202020204" pitchFamily="34" charset="0"/>
            </a:endParaRPr>
          </a:p>
          <a:p>
            <a:pPr marL="342900" indent="-342900" algn="just">
              <a:lnSpc>
                <a:spcPct val="140000"/>
              </a:lnSpc>
            </a:pPr>
            <a:r>
              <a:rPr lang="zh-CN" altLang="en-US" b="1" dirty="0">
                <a:solidFill>
                  <a:srgbClr val="FFFF00"/>
                </a:solidFill>
                <a:latin typeface="Arial" panose="020B0604020202020204" pitchFamily="34" charset="0"/>
              </a:rPr>
              <a:t>           </a:t>
            </a:r>
            <a:r>
              <a:rPr lang="en-US" altLang="zh-CN" b="1" dirty="0">
                <a:latin typeface="Arial" panose="020B0604020202020204" pitchFamily="34" charset="0"/>
              </a:rPr>
              <a:t>①</a:t>
            </a:r>
            <a:r>
              <a:rPr lang="zh-CN" altLang="en-US" b="1" dirty="0">
                <a:latin typeface="Arial" panose="020B0604020202020204" pitchFamily="34" charset="0"/>
              </a:rPr>
              <a:t>固体的焦炭</a:t>
            </a:r>
            <a:r>
              <a:rPr lang="zh-CN" altLang="en-US" b="1" dirty="0">
                <a:solidFill>
                  <a:srgbClr val="FFFF00"/>
                </a:solidFill>
                <a:latin typeface="Arial" panose="020B0604020202020204" pitchFamily="34" charset="0"/>
              </a:rPr>
              <a:t>          </a:t>
            </a:r>
            <a:endParaRPr lang="zh-CN" altLang="en-US" b="1" dirty="0">
              <a:solidFill>
                <a:srgbClr val="FFFF00"/>
              </a:solidFill>
              <a:latin typeface="Arial" panose="020B0604020202020204" pitchFamily="34" charset="0"/>
            </a:endParaRPr>
          </a:p>
          <a:p>
            <a:pPr marL="342900" indent="-342900" algn="just">
              <a:lnSpc>
                <a:spcPct val="140000"/>
              </a:lnSpc>
            </a:pPr>
            <a:r>
              <a:rPr lang="zh-CN" altLang="en-US" b="1" dirty="0">
                <a:solidFill>
                  <a:srgbClr val="FFFF00"/>
                </a:solidFill>
                <a:latin typeface="Arial" panose="020B0604020202020204" pitchFamily="34" charset="0"/>
              </a:rPr>
              <a:t>        </a:t>
            </a:r>
            <a:r>
              <a:rPr lang="zh-CN" altLang="en-US" b="1" dirty="0">
                <a:latin typeface="Arial" panose="020B0604020202020204" pitchFamily="34" charset="0"/>
              </a:rPr>
              <a:t>   </a:t>
            </a:r>
            <a:r>
              <a:rPr lang="en-US" altLang="zh-CN" b="1" dirty="0">
                <a:latin typeface="Arial" panose="020B0604020202020204" pitchFamily="34" charset="0"/>
              </a:rPr>
              <a:t>②</a:t>
            </a:r>
            <a:r>
              <a:rPr lang="zh-CN" altLang="en-US" b="1" dirty="0">
                <a:latin typeface="Arial" panose="020B0604020202020204" pitchFamily="34" charset="0"/>
              </a:rPr>
              <a:t>液态的煤焦油</a:t>
            </a:r>
            <a:endParaRPr lang="zh-CN" altLang="en-US" b="1" dirty="0">
              <a:latin typeface="Arial" panose="020B0604020202020204" pitchFamily="34" charset="0"/>
            </a:endParaRPr>
          </a:p>
          <a:p>
            <a:pPr marL="342900" indent="-342900" algn="just">
              <a:lnSpc>
                <a:spcPct val="140000"/>
              </a:lnSpc>
            </a:pPr>
            <a:r>
              <a:rPr lang="zh-CN" altLang="en-US" b="1" dirty="0">
                <a:solidFill>
                  <a:srgbClr val="FFFF00"/>
                </a:solidFill>
                <a:latin typeface="Arial" panose="020B0604020202020204" pitchFamily="34" charset="0"/>
              </a:rPr>
              <a:t>          </a:t>
            </a:r>
            <a:r>
              <a:rPr lang="zh-CN" altLang="en-US" b="1" dirty="0">
                <a:latin typeface="Arial" panose="020B0604020202020204" pitchFamily="34" charset="0"/>
              </a:rPr>
              <a:t> </a:t>
            </a:r>
            <a:r>
              <a:rPr lang="en-US" altLang="en-US" sz="2000" b="1" dirty="0">
                <a:latin typeface="Arial" panose="020B0604020202020204" pitchFamily="34" charset="0"/>
              </a:rPr>
              <a:t>③</a:t>
            </a:r>
            <a:r>
              <a:rPr lang="zh-CN" altLang="en-US" b="1" dirty="0">
                <a:latin typeface="Arial" panose="020B0604020202020204" pitchFamily="34" charset="0"/>
              </a:rPr>
              <a:t>气态的焦炉气</a:t>
            </a:r>
            <a:endParaRPr lang="zh-CN" altLang="en-US" b="1" dirty="0">
              <a:latin typeface="Arial" panose="020B0604020202020204" pitchFamily="34"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59749"/>
                                        </p:tgtEl>
                                        <p:attrNameLst>
                                          <p:attrName>style.visibility</p:attrName>
                                        </p:attrNameLst>
                                      </p:cBhvr>
                                      <p:to>
                                        <p:strVal val="visible"/>
                                      </p:to>
                                    </p:set>
                                    <p:animEffect transition="in" filter="box(out)">
                                      <p:cBhvr>
                                        <p:cTn id="7" dur="500"/>
                                        <p:tgtEl>
                                          <p:spTgt spid="15974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9747">
                                            <p:txEl>
                                              <p:charRg st="0" end="25"/>
                                            </p:txEl>
                                          </p:spTgt>
                                        </p:tgtEl>
                                        <p:attrNameLst>
                                          <p:attrName>style.visibility</p:attrName>
                                        </p:attrNameLst>
                                      </p:cBhvr>
                                      <p:to>
                                        <p:strVal val="visible"/>
                                      </p:to>
                                    </p:set>
                                    <p:animEffect transition="in" filter="blinds(horizontal)">
                                      <p:cBhvr>
                                        <p:cTn id="12" dur="500"/>
                                        <p:tgtEl>
                                          <p:spTgt spid="159747">
                                            <p:txEl>
                                              <p:charRg st="0" end="2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9747">
                                            <p:txEl>
                                              <p:charRg st="25" end="44"/>
                                            </p:txEl>
                                          </p:spTgt>
                                        </p:tgtEl>
                                        <p:attrNameLst>
                                          <p:attrName>style.visibility</p:attrName>
                                        </p:attrNameLst>
                                      </p:cBhvr>
                                      <p:to>
                                        <p:strVal val="visible"/>
                                      </p:to>
                                    </p:set>
                                    <p:animEffect transition="in" filter="blinds(horizontal)">
                                      <p:cBhvr>
                                        <p:cTn id="17" dur="500"/>
                                        <p:tgtEl>
                                          <p:spTgt spid="159747">
                                            <p:txEl>
                                              <p:charRg st="25" end="4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59747">
                                            <p:txEl>
                                              <p:charRg st="44" end="56"/>
                                            </p:txEl>
                                          </p:spTgt>
                                        </p:tgtEl>
                                        <p:attrNameLst>
                                          <p:attrName>style.visibility</p:attrName>
                                        </p:attrNameLst>
                                      </p:cBhvr>
                                      <p:to>
                                        <p:strVal val="visible"/>
                                      </p:to>
                                    </p:set>
                                    <p:animEffect transition="in" filter="blinds(horizontal)">
                                      <p:cBhvr>
                                        <p:cTn id="22" dur="500"/>
                                        <p:tgtEl>
                                          <p:spTgt spid="159747">
                                            <p:txEl>
                                              <p:charRg st="44" end="5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59747">
                                            <p:txEl>
                                              <p:charRg st="56" end="84"/>
                                            </p:txEl>
                                          </p:spTgt>
                                        </p:tgtEl>
                                        <p:attrNameLst>
                                          <p:attrName>style.visibility</p:attrName>
                                        </p:attrNameLst>
                                      </p:cBhvr>
                                      <p:to>
                                        <p:strVal val="visible"/>
                                      </p:to>
                                    </p:set>
                                    <p:animEffect transition="in" filter="blinds(horizontal)">
                                      <p:cBhvr>
                                        <p:cTn id="27" dur="500"/>
                                        <p:tgtEl>
                                          <p:spTgt spid="159747">
                                            <p:txEl>
                                              <p:charRg st="56" end="8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59747">
                                            <p:txEl>
                                              <p:charRg st="84" end="103"/>
                                            </p:txEl>
                                          </p:spTgt>
                                        </p:tgtEl>
                                        <p:attrNameLst>
                                          <p:attrName>style.visibility</p:attrName>
                                        </p:attrNameLst>
                                      </p:cBhvr>
                                      <p:to>
                                        <p:strVal val="visible"/>
                                      </p:to>
                                    </p:set>
                                    <p:animEffect transition="in" filter="blinds(horizontal)">
                                      <p:cBhvr>
                                        <p:cTn id="32" dur="500"/>
                                        <p:tgtEl>
                                          <p:spTgt spid="159747">
                                            <p:txEl>
                                              <p:charRg st="84" end="10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59747">
                                            <p:txEl>
                                              <p:charRg st="103" end="122"/>
                                            </p:txEl>
                                          </p:spTgt>
                                        </p:tgtEl>
                                        <p:attrNameLst>
                                          <p:attrName>style.visibility</p:attrName>
                                        </p:attrNameLst>
                                      </p:cBhvr>
                                      <p:to>
                                        <p:strVal val="visible"/>
                                      </p:to>
                                    </p:set>
                                    <p:animEffect transition="in" filter="blinds(horizontal)">
                                      <p:cBhvr>
                                        <p:cTn id="37" dur="500"/>
                                        <p:tgtEl>
                                          <p:spTgt spid="159747">
                                            <p:txEl>
                                              <p:charRg st="103" end="1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33" name="图片 9232" descr="煤气化"/>
          <p:cNvPicPr>
            <a:picLocks noChangeAspect="1"/>
          </p:cNvPicPr>
          <p:nvPr/>
        </p:nvPicPr>
        <p:blipFill>
          <a:blip r:embed="rId1"/>
          <a:srcRect r="1758" b="1250"/>
          <a:stretch>
            <a:fillRect/>
          </a:stretch>
        </p:blipFill>
        <p:spPr>
          <a:xfrm>
            <a:off x="6005513" y="3292475"/>
            <a:ext cx="3138487" cy="1855788"/>
          </a:xfrm>
          <a:prstGeom prst="rect">
            <a:avLst/>
          </a:prstGeom>
          <a:noFill/>
          <a:ln w="9525">
            <a:noFill/>
          </a:ln>
        </p:spPr>
      </p:pic>
      <p:sp>
        <p:nvSpPr>
          <p:cNvPr id="11267" name="标题 9217"/>
          <p:cNvSpPr>
            <a:spLocks noGrp="1"/>
          </p:cNvSpPr>
          <p:nvPr/>
        </p:nvSpPr>
        <p:spPr>
          <a:xfrm>
            <a:off x="330200" y="84138"/>
            <a:ext cx="7772400" cy="296862"/>
          </a:xfrm>
          <a:prstGeom prst="rect">
            <a:avLst/>
          </a:prstGeom>
          <a:noFill/>
          <a:ln w="9525">
            <a:noFill/>
          </a:ln>
        </p:spPr>
        <p:txBody>
          <a:bodyPr anchor="ctr" anchorCtr="0"/>
          <a:p>
            <a:pPr algn="just"/>
            <a:r>
              <a:rPr lang="en-US" altLang="zh-CN" sz="2000" dirty="0">
                <a:solidFill>
                  <a:schemeClr val="tx2"/>
                </a:solidFill>
                <a:latin typeface="Arial" panose="020B0604020202020204" pitchFamily="34" charset="0"/>
              </a:rPr>
              <a:t>                       </a:t>
            </a:r>
            <a:endParaRPr lang="en-US" altLang="zh-CN" sz="4400" dirty="0">
              <a:solidFill>
                <a:schemeClr val="tx2"/>
              </a:solidFill>
              <a:latin typeface="Arial" panose="020B0604020202020204" pitchFamily="34" charset="0"/>
            </a:endParaRPr>
          </a:p>
        </p:txBody>
      </p:sp>
      <p:sp>
        <p:nvSpPr>
          <p:cNvPr id="11268" name="文本占位符 9218"/>
          <p:cNvSpPr>
            <a:spLocks noGrp="1"/>
          </p:cNvSpPr>
          <p:nvPr/>
        </p:nvSpPr>
        <p:spPr>
          <a:xfrm>
            <a:off x="254000" y="381000"/>
            <a:ext cx="3581400" cy="457200"/>
          </a:xfrm>
          <a:prstGeom prst="rect">
            <a:avLst/>
          </a:prstGeom>
          <a:noFill/>
          <a:ln w="9525">
            <a:noFill/>
          </a:ln>
        </p:spPr>
        <p:txBody>
          <a:bodyPr/>
          <a:p>
            <a:pPr marL="342900" indent="-342900" algn="just">
              <a:spcBef>
                <a:spcPct val="20000"/>
              </a:spcBef>
            </a:pPr>
            <a:r>
              <a:rPr lang="zh-CN" altLang="en-US" sz="3200" b="1" dirty="0">
                <a:solidFill>
                  <a:srgbClr val="C00000"/>
                </a:solidFill>
                <a:latin typeface="Arial" panose="020B0604020202020204" pitchFamily="34" charset="0"/>
              </a:rPr>
              <a:t>（</a:t>
            </a:r>
            <a:r>
              <a:rPr lang="en-US" altLang="zh-CN" sz="3200" b="1" dirty="0">
                <a:solidFill>
                  <a:srgbClr val="C00000"/>
                </a:solidFill>
                <a:latin typeface="Arial" panose="020B0604020202020204" pitchFamily="34" charset="0"/>
              </a:rPr>
              <a:t>2</a:t>
            </a:r>
            <a:r>
              <a:rPr lang="zh-CN" altLang="en-US" sz="3200" b="1" dirty="0">
                <a:solidFill>
                  <a:srgbClr val="C00000"/>
                </a:solidFill>
                <a:latin typeface="Arial" panose="020B0604020202020204" pitchFamily="34" charset="0"/>
              </a:rPr>
              <a:t>）  煤的气化</a:t>
            </a:r>
            <a:endParaRPr lang="zh-CN" altLang="en-US" sz="3200" b="1" dirty="0">
              <a:solidFill>
                <a:srgbClr val="C00000"/>
              </a:solidFill>
              <a:latin typeface="Arial" panose="020B0604020202020204" pitchFamily="34" charset="0"/>
            </a:endParaRPr>
          </a:p>
        </p:txBody>
      </p:sp>
      <p:sp>
        <p:nvSpPr>
          <p:cNvPr id="11269" name="矩形 9225"/>
          <p:cNvSpPr/>
          <p:nvPr/>
        </p:nvSpPr>
        <p:spPr>
          <a:xfrm>
            <a:off x="1092200" y="38100"/>
            <a:ext cx="2581275" cy="246063"/>
          </a:xfrm>
          <a:prstGeom prst="rect">
            <a:avLst/>
          </a:prstGeom>
          <a:noFill/>
          <a:ln w="9525">
            <a:noFill/>
          </a:ln>
        </p:spPr>
        <p:txBody>
          <a:bodyPr>
            <a:spAutoFit/>
          </a:bodyPr>
          <a:p>
            <a:pPr algn="ctr"/>
            <a:r>
              <a:rPr lang="en-US" altLang="zh-CN" sz="1000" dirty="0">
                <a:latin typeface="Times New Roman" panose="02020603050405020304" pitchFamily="18" charset="0"/>
              </a:rPr>
              <a:t>  </a:t>
            </a:r>
            <a:endParaRPr lang="en-US" altLang="zh-CN" sz="1000" dirty="0">
              <a:latin typeface="Times New Roman" panose="02020603050405020304" pitchFamily="18" charset="0"/>
            </a:endParaRPr>
          </a:p>
        </p:txBody>
      </p:sp>
      <p:grpSp>
        <p:nvGrpSpPr>
          <p:cNvPr id="2" name="组合 9231"/>
          <p:cNvGrpSpPr/>
          <p:nvPr/>
        </p:nvGrpSpPr>
        <p:grpSpPr>
          <a:xfrm>
            <a:off x="558800" y="1041400"/>
            <a:ext cx="6324600" cy="800100"/>
            <a:chOff x="384" y="816"/>
            <a:chExt cx="3984" cy="672"/>
          </a:xfrm>
        </p:grpSpPr>
        <p:sp>
          <p:nvSpPr>
            <p:cNvPr id="11275" name="直接连接符 9219"/>
            <p:cNvSpPr/>
            <p:nvPr/>
          </p:nvSpPr>
          <p:spPr>
            <a:xfrm>
              <a:off x="1008" y="1104"/>
              <a:ext cx="1440" cy="0"/>
            </a:xfrm>
            <a:prstGeom prst="line">
              <a:avLst/>
            </a:prstGeom>
            <a:ln w="9525" cap="flat" cmpd="sng">
              <a:solidFill>
                <a:srgbClr val="FF3300"/>
              </a:solidFill>
              <a:prstDash val="solid"/>
              <a:headEnd type="none" w="med" len="med"/>
              <a:tailEnd type="triangle" w="med" len="med"/>
            </a:ln>
          </p:spPr>
        </p:sp>
        <p:sp>
          <p:nvSpPr>
            <p:cNvPr id="11276" name="文本框 9220"/>
            <p:cNvSpPr txBox="1"/>
            <p:nvPr/>
          </p:nvSpPr>
          <p:spPr>
            <a:xfrm>
              <a:off x="1104" y="816"/>
              <a:ext cx="1344" cy="336"/>
            </a:xfrm>
            <a:prstGeom prst="rect">
              <a:avLst/>
            </a:prstGeom>
            <a:noFill/>
            <a:ln w="9525">
              <a:noFill/>
            </a:ln>
          </p:spPr>
          <p:txBody>
            <a:bodyPr>
              <a:spAutoFit/>
            </a:bodyPr>
            <a:p>
              <a:pPr algn="just"/>
              <a:r>
                <a:rPr lang="en-US" altLang="zh-CN" sz="2000" b="1" dirty="0">
                  <a:latin typeface="Times New Roman" panose="02020603050405020304" pitchFamily="18" charset="0"/>
                </a:rPr>
                <a:t>H</a:t>
              </a:r>
              <a:r>
                <a:rPr lang="en-US" altLang="zh-CN" sz="2000" b="1" baseline="-25000" dirty="0">
                  <a:latin typeface="Times New Roman" panose="02020603050405020304" pitchFamily="18" charset="0"/>
                </a:rPr>
                <a:t>2</a:t>
              </a:r>
              <a:r>
                <a:rPr lang="en-US" altLang="zh-CN" sz="2000" b="1" dirty="0">
                  <a:latin typeface="Times New Roman" panose="02020603050405020304" pitchFamily="18" charset="0"/>
                </a:rPr>
                <a:t>O(g),O</a:t>
              </a:r>
              <a:r>
                <a:rPr lang="en-US" altLang="zh-CN" sz="2000" b="1" baseline="-25000" dirty="0">
                  <a:latin typeface="Times New Roman" panose="02020603050405020304" pitchFamily="18" charset="0"/>
                </a:rPr>
                <a:t>2 </a:t>
              </a:r>
              <a:r>
                <a:rPr lang="zh-CN" altLang="en-US" sz="2000" b="1" dirty="0">
                  <a:latin typeface="Times New Roman" panose="02020603050405020304" pitchFamily="18" charset="0"/>
                </a:rPr>
                <a:t>气化剂 </a:t>
              </a:r>
              <a:endParaRPr lang="zh-CN" altLang="en-US" sz="2000" b="1" dirty="0">
                <a:latin typeface="Times New Roman" panose="02020603050405020304" pitchFamily="18" charset="0"/>
              </a:endParaRPr>
            </a:p>
          </p:txBody>
        </p:sp>
        <p:sp>
          <p:nvSpPr>
            <p:cNvPr id="11277" name="文本框 9221"/>
            <p:cNvSpPr txBox="1"/>
            <p:nvPr/>
          </p:nvSpPr>
          <p:spPr>
            <a:xfrm>
              <a:off x="1152" y="1152"/>
              <a:ext cx="1152" cy="336"/>
            </a:xfrm>
            <a:prstGeom prst="rect">
              <a:avLst/>
            </a:prstGeom>
            <a:noFill/>
            <a:ln w="9525">
              <a:noFill/>
            </a:ln>
          </p:spPr>
          <p:txBody>
            <a:bodyPr>
              <a:spAutoFit/>
            </a:bodyPr>
            <a:p>
              <a:pPr algn="ctr">
                <a:spcBef>
                  <a:spcPct val="50000"/>
                </a:spcBef>
              </a:pPr>
              <a:r>
                <a:rPr lang="zh-CN" altLang="en-US" sz="2000" b="1" dirty="0">
                  <a:latin typeface="Times New Roman" panose="02020603050405020304" pitchFamily="18" charset="0"/>
                </a:rPr>
                <a:t>高 温</a:t>
              </a:r>
              <a:endParaRPr lang="zh-CN" altLang="en-US" sz="2000" b="1" dirty="0">
                <a:latin typeface="Times New Roman" panose="02020603050405020304" pitchFamily="18" charset="0"/>
              </a:endParaRPr>
            </a:p>
          </p:txBody>
        </p:sp>
        <p:sp>
          <p:nvSpPr>
            <p:cNvPr id="11278" name="文本框 9227"/>
            <p:cNvSpPr txBox="1"/>
            <p:nvPr/>
          </p:nvSpPr>
          <p:spPr>
            <a:xfrm>
              <a:off x="2544" y="960"/>
              <a:ext cx="1824" cy="388"/>
            </a:xfrm>
            <a:prstGeom prst="rect">
              <a:avLst/>
            </a:prstGeom>
            <a:noFill/>
            <a:ln w="9525">
              <a:noFill/>
            </a:ln>
          </p:spPr>
          <p:txBody>
            <a:bodyPr>
              <a:spAutoFit/>
            </a:bodyPr>
            <a:p>
              <a:pPr>
                <a:spcBef>
                  <a:spcPct val="20000"/>
                </a:spcBef>
              </a:pPr>
              <a:r>
                <a:rPr lang="en-US" altLang="zh-CN" dirty="0">
                  <a:solidFill>
                    <a:srgbClr val="FFFF00"/>
                  </a:solidFill>
                  <a:latin typeface="Times New Roman" panose="02020603050405020304" pitchFamily="18" charset="0"/>
                </a:rPr>
                <a:t> </a:t>
              </a:r>
              <a:r>
                <a:rPr lang="en-US" altLang="zh-CN" dirty="0">
                  <a:latin typeface="Times New Roman" panose="02020603050405020304" pitchFamily="18" charset="0"/>
                </a:rPr>
                <a:t>  </a:t>
              </a:r>
              <a:r>
                <a:rPr lang="en-US" altLang="zh-CN" b="1" dirty="0">
                  <a:latin typeface="Times New Roman" panose="02020603050405020304" pitchFamily="18" charset="0"/>
                </a:rPr>
                <a:t>H</a:t>
              </a:r>
              <a:r>
                <a:rPr lang="en-US" altLang="zh-CN" b="1" baseline="-25000" dirty="0">
                  <a:latin typeface="Times New Roman" panose="02020603050405020304" pitchFamily="18" charset="0"/>
                </a:rPr>
                <a:t>2   </a:t>
              </a:r>
              <a:r>
                <a:rPr lang="en-US" altLang="zh-CN" b="1" dirty="0">
                  <a:latin typeface="Times New Roman" panose="02020603050405020304" pitchFamily="18" charset="0"/>
                </a:rPr>
                <a:t>CO   CH</a:t>
              </a:r>
              <a:r>
                <a:rPr lang="en-US" altLang="zh-CN" b="1" baseline="-25000" dirty="0">
                  <a:latin typeface="Times New Roman" panose="02020603050405020304" pitchFamily="18" charset="0"/>
                </a:rPr>
                <a:t>4</a:t>
              </a:r>
              <a:endParaRPr lang="en-US" altLang="zh-CN" b="1" baseline="-25000" dirty="0">
                <a:latin typeface="Times New Roman" panose="02020603050405020304" pitchFamily="18" charset="0"/>
              </a:endParaRPr>
            </a:p>
          </p:txBody>
        </p:sp>
        <p:sp>
          <p:nvSpPr>
            <p:cNvPr id="11279" name="文本框 9228"/>
            <p:cNvSpPr txBox="1"/>
            <p:nvPr/>
          </p:nvSpPr>
          <p:spPr>
            <a:xfrm>
              <a:off x="384" y="960"/>
              <a:ext cx="528" cy="388"/>
            </a:xfrm>
            <a:prstGeom prst="rect">
              <a:avLst/>
            </a:prstGeom>
            <a:noFill/>
            <a:ln w="9525">
              <a:noFill/>
            </a:ln>
          </p:spPr>
          <p:txBody>
            <a:bodyPr>
              <a:spAutoFit/>
            </a:bodyPr>
            <a:p>
              <a:pPr algn="ctr">
                <a:spcBef>
                  <a:spcPct val="50000"/>
                </a:spcBef>
              </a:pPr>
              <a:r>
                <a:rPr lang="en-US" altLang="zh-CN" b="1" dirty="0">
                  <a:latin typeface="Times New Roman" panose="02020603050405020304" pitchFamily="18" charset="0"/>
                </a:rPr>
                <a:t>C</a:t>
              </a:r>
              <a:endParaRPr lang="en-US" altLang="zh-CN" b="1" dirty="0">
                <a:latin typeface="Times New Roman" panose="02020603050405020304" pitchFamily="18" charset="0"/>
              </a:endParaRPr>
            </a:p>
          </p:txBody>
        </p:sp>
      </p:grpSp>
      <p:sp>
        <p:nvSpPr>
          <p:cNvPr id="9230" name="文本框 9229"/>
          <p:cNvSpPr txBox="1"/>
          <p:nvPr/>
        </p:nvSpPr>
        <p:spPr>
          <a:xfrm>
            <a:off x="177800" y="1887538"/>
            <a:ext cx="8382000" cy="3022600"/>
          </a:xfrm>
          <a:prstGeom prst="rect">
            <a:avLst/>
          </a:prstGeom>
          <a:noFill/>
          <a:ln w="9525">
            <a:noFill/>
          </a:ln>
        </p:spPr>
        <p:txBody>
          <a:bodyPr>
            <a:spAutoFit/>
          </a:bodyPr>
          <a:p>
            <a:pPr algn="just">
              <a:lnSpc>
                <a:spcPct val="140000"/>
              </a:lnSpc>
            </a:pPr>
            <a:r>
              <a:rPr lang="en-US" altLang="zh-CN" b="1" dirty="0">
                <a:solidFill>
                  <a:srgbClr val="FFFF00"/>
                </a:solidFill>
                <a:latin typeface="Times New Roman" panose="02020603050405020304" pitchFamily="18" charset="0"/>
              </a:rPr>
              <a:t> </a:t>
            </a:r>
            <a:r>
              <a:rPr lang="en-US" altLang="zh-CN" b="1" dirty="0">
                <a:latin typeface="Times New Roman" panose="02020603050405020304" pitchFamily="18" charset="0"/>
              </a:rPr>
              <a:t>1)  C + O</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 CO</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6)  CO + 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O = CO</a:t>
            </a:r>
            <a:r>
              <a:rPr lang="en-US" altLang="zh-CN" b="1" baseline="-25000" dirty="0">
                <a:latin typeface="Times New Roman" panose="02020603050405020304" pitchFamily="18" charset="0"/>
              </a:rPr>
              <a:t>2 </a:t>
            </a:r>
            <a:r>
              <a:rPr lang="en-US" altLang="zh-CN" b="1" dirty="0">
                <a:latin typeface="Times New Roman" panose="02020603050405020304" pitchFamily="18" charset="0"/>
              </a:rPr>
              <a:t>+ H</a:t>
            </a:r>
            <a:r>
              <a:rPr lang="en-US" altLang="zh-CN" b="1" baseline="-25000" dirty="0">
                <a:latin typeface="Times New Roman" panose="02020603050405020304" pitchFamily="18" charset="0"/>
              </a:rPr>
              <a:t>2</a:t>
            </a:r>
            <a:endParaRPr lang="en-US" altLang="zh-CN" b="1" dirty="0">
              <a:latin typeface="Times New Roman" panose="02020603050405020304" pitchFamily="18" charset="0"/>
            </a:endParaRPr>
          </a:p>
          <a:p>
            <a:pPr algn="just">
              <a:lnSpc>
                <a:spcPct val="140000"/>
              </a:lnSpc>
            </a:pPr>
            <a:r>
              <a:rPr lang="en-US" altLang="zh-CN" b="1" dirty="0">
                <a:latin typeface="Times New Roman" panose="02020603050405020304" pitchFamily="18" charset="0"/>
              </a:rPr>
              <a:t> 2)  C + 1/2 O</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 CO                        7)  C + 2H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 CH</a:t>
            </a:r>
            <a:r>
              <a:rPr lang="en-US" altLang="zh-CN" b="1" baseline="-25000" dirty="0">
                <a:latin typeface="Times New Roman" panose="02020603050405020304" pitchFamily="18" charset="0"/>
              </a:rPr>
              <a:t>4</a:t>
            </a:r>
            <a:endParaRPr lang="en-US" altLang="zh-CN" b="1" baseline="-25000" dirty="0">
              <a:latin typeface="Times New Roman" panose="02020603050405020304" pitchFamily="18" charset="0"/>
            </a:endParaRPr>
          </a:p>
          <a:p>
            <a:pPr algn="just">
              <a:lnSpc>
                <a:spcPct val="140000"/>
              </a:lnSpc>
            </a:pPr>
            <a:r>
              <a:rPr lang="en-US" altLang="zh-CN" b="1" dirty="0">
                <a:latin typeface="Times New Roman" panose="02020603050405020304" pitchFamily="18" charset="0"/>
              </a:rPr>
              <a:t> 3)  C + CO</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 2CO                         8) CO + 3H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a:t>
            </a:r>
            <a:r>
              <a:rPr lang="en-US" altLang="zh-CN" b="1" baseline="-25000" dirty="0">
                <a:latin typeface="Times New Roman" panose="02020603050405020304" pitchFamily="18" charset="0"/>
              </a:rPr>
              <a:t> </a:t>
            </a:r>
            <a:r>
              <a:rPr lang="en-US" altLang="zh-CN" b="1" dirty="0">
                <a:latin typeface="Times New Roman" panose="02020603050405020304" pitchFamily="18" charset="0"/>
              </a:rPr>
              <a:t>CH</a:t>
            </a:r>
            <a:r>
              <a:rPr lang="en-US" altLang="zh-CN" b="1" baseline="-25000" dirty="0">
                <a:latin typeface="Times New Roman" panose="02020603050405020304" pitchFamily="18" charset="0"/>
              </a:rPr>
              <a:t>4</a:t>
            </a:r>
            <a:r>
              <a:rPr lang="en-US" altLang="zh-CN" b="1" dirty="0">
                <a:latin typeface="Times New Roman" panose="02020603050405020304" pitchFamily="18" charset="0"/>
              </a:rPr>
              <a:t>+ 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O</a:t>
            </a:r>
            <a:endParaRPr lang="en-US" altLang="zh-CN" b="1" dirty="0">
              <a:latin typeface="Times New Roman" panose="02020603050405020304" pitchFamily="18" charset="0"/>
            </a:endParaRPr>
          </a:p>
          <a:p>
            <a:pPr algn="just">
              <a:lnSpc>
                <a:spcPct val="140000"/>
              </a:lnSpc>
            </a:pPr>
            <a:r>
              <a:rPr lang="en-US" altLang="zh-CN" b="1" dirty="0">
                <a:latin typeface="Times New Roman" panose="02020603050405020304" pitchFamily="18" charset="0"/>
              </a:rPr>
              <a:t> 4)  C + 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O = CO</a:t>
            </a:r>
            <a:r>
              <a:rPr lang="en-US" altLang="zh-CN" b="1" baseline="-25000" dirty="0">
                <a:latin typeface="Times New Roman" panose="02020603050405020304" pitchFamily="18" charset="0"/>
              </a:rPr>
              <a:t> </a:t>
            </a:r>
            <a:r>
              <a:rPr lang="en-US" altLang="zh-CN" b="1" dirty="0">
                <a:latin typeface="Times New Roman" panose="02020603050405020304" pitchFamily="18" charset="0"/>
              </a:rPr>
              <a:t>+ H</a:t>
            </a:r>
            <a:r>
              <a:rPr lang="en-US" altLang="zh-CN" b="1" baseline="-25000" dirty="0">
                <a:latin typeface="Times New Roman" panose="02020603050405020304" pitchFamily="18" charset="0"/>
              </a:rPr>
              <a:t>2      </a:t>
            </a:r>
            <a:r>
              <a:rPr lang="en-US" altLang="zh-CN" b="1" dirty="0">
                <a:latin typeface="Times New Roman" panose="02020603050405020304" pitchFamily="18" charset="0"/>
              </a:rPr>
              <a:t>               9) CO + 2H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a:t>
            </a:r>
            <a:r>
              <a:rPr lang="en-US" altLang="zh-CN" b="1" baseline="-25000" dirty="0">
                <a:latin typeface="Times New Roman" panose="02020603050405020304" pitchFamily="18" charset="0"/>
              </a:rPr>
              <a:t> </a:t>
            </a:r>
            <a:r>
              <a:rPr lang="en-US" altLang="zh-CN" b="1" dirty="0">
                <a:latin typeface="Times New Roman" panose="02020603050405020304" pitchFamily="18" charset="0"/>
              </a:rPr>
              <a:t>CH</a:t>
            </a:r>
            <a:r>
              <a:rPr lang="en-US" altLang="zh-CN" b="1" baseline="-25000" dirty="0">
                <a:latin typeface="Times New Roman" panose="02020603050405020304" pitchFamily="18" charset="0"/>
              </a:rPr>
              <a:t>4</a:t>
            </a:r>
            <a:endParaRPr lang="en-US" altLang="zh-CN" b="1" dirty="0">
              <a:latin typeface="Times New Roman" panose="02020603050405020304" pitchFamily="18" charset="0"/>
            </a:endParaRPr>
          </a:p>
          <a:p>
            <a:pPr algn="just">
              <a:lnSpc>
                <a:spcPct val="140000"/>
              </a:lnSpc>
            </a:pPr>
            <a:r>
              <a:rPr lang="en-US" altLang="zh-CN" b="1" dirty="0">
                <a:latin typeface="Times New Roman" panose="02020603050405020304" pitchFamily="18" charset="0"/>
              </a:rPr>
              <a:t> 5)  C + 2H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O = CO</a:t>
            </a:r>
            <a:r>
              <a:rPr lang="en-US" altLang="zh-CN" b="1" baseline="-25000" dirty="0">
                <a:latin typeface="Times New Roman" panose="02020603050405020304" pitchFamily="18" charset="0"/>
              </a:rPr>
              <a:t>2 </a:t>
            </a:r>
            <a:r>
              <a:rPr lang="en-US" altLang="zh-CN" b="1" dirty="0">
                <a:latin typeface="Times New Roman" panose="02020603050405020304" pitchFamily="18" charset="0"/>
              </a:rPr>
              <a:t>+ 2H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10) CO</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+ 4H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a:t>
            </a:r>
            <a:r>
              <a:rPr lang="en-US" altLang="zh-CN" b="1" baseline="-25000" dirty="0">
                <a:latin typeface="Times New Roman" panose="02020603050405020304" pitchFamily="18" charset="0"/>
              </a:rPr>
              <a:t> </a:t>
            </a:r>
            <a:r>
              <a:rPr lang="en-US" altLang="zh-CN" b="1" dirty="0">
                <a:latin typeface="Times New Roman" panose="02020603050405020304" pitchFamily="18" charset="0"/>
              </a:rPr>
              <a:t>CH</a:t>
            </a:r>
            <a:r>
              <a:rPr lang="en-US" altLang="zh-CN" b="1" baseline="-25000" dirty="0">
                <a:latin typeface="Times New Roman" panose="02020603050405020304" pitchFamily="18" charset="0"/>
              </a:rPr>
              <a:t>4</a:t>
            </a:r>
            <a:r>
              <a:rPr lang="en-US" altLang="zh-CN" b="1" dirty="0">
                <a:latin typeface="Times New Roman" panose="02020603050405020304" pitchFamily="18" charset="0"/>
              </a:rPr>
              <a:t>+ 2H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O</a:t>
            </a:r>
            <a:endParaRPr lang="en-US" altLang="zh-CN" b="1" dirty="0">
              <a:latin typeface="Times New Roman" panose="02020603050405020304" pitchFamily="18" charset="0"/>
            </a:endParaRPr>
          </a:p>
          <a:p>
            <a:pPr algn="just">
              <a:lnSpc>
                <a:spcPct val="140000"/>
              </a:lnSpc>
            </a:pPr>
            <a:endParaRPr lang="en-US" altLang="zh-CN" b="1" baseline="-25000" dirty="0">
              <a:latin typeface="Times New Roman" panose="02020603050405020304" pitchFamily="18" charset="0"/>
            </a:endParaRPr>
          </a:p>
        </p:txBody>
      </p:sp>
      <p:sp>
        <p:nvSpPr>
          <p:cNvPr id="9236" name="左大括号 9235"/>
          <p:cNvSpPr/>
          <p:nvPr/>
        </p:nvSpPr>
        <p:spPr>
          <a:xfrm>
            <a:off x="177800" y="2913063"/>
            <a:ext cx="152400" cy="514350"/>
          </a:xfrm>
          <a:prstGeom prst="leftBrace">
            <a:avLst>
              <a:gd name="adj1" fmla="val 37500"/>
              <a:gd name="adj2" fmla="val 58958"/>
            </a:avLst>
          </a:prstGeom>
          <a:noFill/>
          <a:ln w="28575" cap="flat" cmpd="sng">
            <a:solidFill>
              <a:srgbClr val="CC0000"/>
            </a:solidFill>
            <a:prstDash val="solid"/>
            <a:miter/>
            <a:headEnd type="none" w="med" len="med"/>
            <a:tailEnd type="none" w="med" len="med"/>
          </a:ln>
        </p:spPr>
        <p:txBody>
          <a:bodyPr wrap="none" anchor="ctr" anchorCtr="0"/>
          <a:p>
            <a:pPr algn="ctr"/>
            <a:endParaRPr lang="zh-CN" altLang="zh-CN" dirty="0">
              <a:solidFill>
                <a:srgbClr val="CC0000"/>
              </a:solidFill>
              <a:latin typeface="Times New Roman" panose="02020603050405020304" pitchFamily="18" charset="0"/>
            </a:endParaRPr>
          </a:p>
        </p:txBody>
      </p:sp>
      <p:sp>
        <p:nvSpPr>
          <p:cNvPr id="9237" name="直接连接符 9236"/>
          <p:cNvSpPr/>
          <p:nvPr/>
        </p:nvSpPr>
        <p:spPr>
          <a:xfrm>
            <a:off x="4899025" y="2643188"/>
            <a:ext cx="2514600" cy="0"/>
          </a:xfrm>
          <a:prstGeom prst="line">
            <a:avLst/>
          </a:prstGeom>
          <a:ln w="28575" cap="flat" cmpd="sng">
            <a:solidFill>
              <a:srgbClr val="CC0000"/>
            </a:solidFill>
            <a:prstDash val="solid"/>
            <a:miter/>
            <a:headEnd type="none" w="med" len="med"/>
            <a:tailEnd type="none" w="med" len="med"/>
          </a:ln>
        </p:spPr>
      </p:sp>
      <p:sp>
        <p:nvSpPr>
          <p:cNvPr id="9238" name="左大括号 9237"/>
          <p:cNvSpPr/>
          <p:nvPr/>
        </p:nvSpPr>
        <p:spPr>
          <a:xfrm>
            <a:off x="4364038" y="2913063"/>
            <a:ext cx="228600" cy="857250"/>
          </a:xfrm>
          <a:prstGeom prst="leftBrace">
            <a:avLst>
              <a:gd name="adj1" fmla="val 41545"/>
              <a:gd name="adj2" fmla="val 51250"/>
            </a:avLst>
          </a:prstGeom>
          <a:noFill/>
          <a:ln w="28575" cap="flat" cmpd="sng">
            <a:solidFill>
              <a:srgbClr val="CC0000"/>
            </a:solidFill>
            <a:prstDash val="solid"/>
            <a:miter/>
            <a:headEnd type="none" w="med" len="med"/>
            <a:tailEnd type="none" w="med" len="med"/>
          </a:ln>
        </p:spPr>
        <p:txBody>
          <a:bodyPr/>
          <a:p>
            <a:pPr algn="ctr"/>
            <a:endParaRPr lang="zh-CN" altLang="en-US" dirty="0">
              <a:latin typeface="Times New Roman" panose="02020603050405020304" pitchFamily="18"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9233"/>
                                        </p:tgtEl>
                                        <p:attrNameLst>
                                          <p:attrName>style.visibility</p:attrName>
                                        </p:attrNameLst>
                                      </p:cBhvr>
                                      <p:to>
                                        <p:strVal val="visible"/>
                                      </p:to>
                                    </p:set>
                                    <p:animEffect transition="in" filter="box(out)">
                                      <p:cBhvr>
                                        <p:cTn id="7" dur="500"/>
                                        <p:tgtEl>
                                          <p:spTgt spid="923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230"/>
                                        </p:tgtEl>
                                        <p:attrNameLst>
                                          <p:attrName>style.visibility</p:attrName>
                                        </p:attrNameLst>
                                      </p:cBhvr>
                                      <p:to>
                                        <p:strVal val="visible"/>
                                      </p:to>
                                    </p:set>
                                    <p:animEffect transition="in" filter="blinds(horizontal)">
                                      <p:cBhvr>
                                        <p:cTn id="17" dur="500"/>
                                        <p:tgtEl>
                                          <p:spTgt spid="923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9236"/>
                                        </p:tgtEl>
                                        <p:attrNameLst>
                                          <p:attrName>style.visibility</p:attrName>
                                        </p:attrNameLst>
                                      </p:cBhvr>
                                      <p:to>
                                        <p:strVal val="visible"/>
                                      </p:to>
                                    </p:set>
                                    <p:animEffect transition="in" filter="blinds(vertical)">
                                      <p:cBhvr>
                                        <p:cTn id="22" dur="500"/>
                                        <p:tgtEl>
                                          <p:spTgt spid="9236"/>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9237"/>
                                        </p:tgtEl>
                                        <p:attrNameLst>
                                          <p:attrName>style.visibility</p:attrName>
                                        </p:attrNameLst>
                                      </p:cBhvr>
                                      <p:to>
                                        <p:strVal val="visible"/>
                                      </p:to>
                                    </p:set>
                                    <p:animEffect transition="in" filter="blinds(horizontal)">
                                      <p:cBhvr>
                                        <p:cTn id="27" dur="500"/>
                                        <p:tgtEl>
                                          <p:spTgt spid="923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5" fill="hold" nodeType="clickEffect">
                                  <p:stCondLst>
                                    <p:cond delay="0"/>
                                  </p:stCondLst>
                                  <p:childTnLst>
                                    <p:set>
                                      <p:cBhvr>
                                        <p:cTn id="31" dur="1" fill="hold">
                                          <p:stCondLst>
                                            <p:cond delay="0"/>
                                          </p:stCondLst>
                                        </p:cTn>
                                        <p:tgtEl>
                                          <p:spTgt spid="9238"/>
                                        </p:tgtEl>
                                        <p:attrNameLst>
                                          <p:attrName>style.visibility</p:attrName>
                                        </p:attrNameLst>
                                      </p:cBhvr>
                                      <p:to>
                                        <p:strVal val="visible"/>
                                      </p:to>
                                    </p:set>
                                    <p:animEffect transition="in" filter="blinds(vertical)">
                                      <p:cBhvr>
                                        <p:cTn id="32" dur="500"/>
                                        <p:tgtEl>
                                          <p:spTgt spid="9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0" grpId="0"/>
      <p:bldP spid="9236"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标题 117761"/>
          <p:cNvSpPr>
            <a:spLocks noGrp="1"/>
          </p:cNvSpPr>
          <p:nvPr>
            <p:ph type="title"/>
          </p:nvPr>
        </p:nvSpPr>
        <p:spPr>
          <a:xfrm>
            <a:off x="457200" y="206375"/>
            <a:ext cx="8229600" cy="857250"/>
          </a:xfrm>
          <a:noFill/>
          <a:ln>
            <a:noFill/>
          </a:ln>
        </p:spPr>
        <p:txBody>
          <a:bodyPr anchor="ctr" anchorCtr="0"/>
          <a:p>
            <a:r>
              <a:rPr lang="zh-CN" altLang="en-US" sz="3200" b="1" dirty="0">
                <a:solidFill>
                  <a:srgbClr val="C00000"/>
                </a:solidFill>
                <a:ea typeface="宋体" panose="02010600030101010101" pitchFamily="2" charset="-122"/>
              </a:rPr>
              <a:t>（</a:t>
            </a:r>
            <a:r>
              <a:rPr lang="en-US" altLang="zh-CN" sz="3200" b="1" dirty="0">
                <a:solidFill>
                  <a:srgbClr val="C00000"/>
                </a:solidFill>
                <a:ea typeface="宋体" panose="02010600030101010101" pitchFamily="2" charset="-122"/>
              </a:rPr>
              <a:t>3</a:t>
            </a:r>
            <a:r>
              <a:rPr lang="zh-CN" altLang="en-US" sz="3200" b="1" dirty="0">
                <a:solidFill>
                  <a:srgbClr val="C00000"/>
                </a:solidFill>
                <a:ea typeface="宋体" panose="02010600030101010101" pitchFamily="2" charset="-122"/>
              </a:rPr>
              <a:t>）煤的液化</a:t>
            </a:r>
            <a:endParaRPr lang="zh-CN" altLang="en-US" sz="3200" b="1" dirty="0">
              <a:solidFill>
                <a:srgbClr val="C00000"/>
              </a:solidFill>
              <a:ea typeface="宋体" panose="02010600030101010101" pitchFamily="2" charset="-122"/>
            </a:endParaRPr>
          </a:p>
        </p:txBody>
      </p:sp>
      <p:sp>
        <p:nvSpPr>
          <p:cNvPr id="117763" name="内容占位符 117762"/>
          <p:cNvSpPr>
            <a:spLocks noGrp="1"/>
          </p:cNvSpPr>
          <p:nvPr>
            <p:ph idx="1"/>
          </p:nvPr>
        </p:nvSpPr>
        <p:spPr>
          <a:xfrm>
            <a:off x="457200" y="1200150"/>
            <a:ext cx="8229600" cy="3394075"/>
          </a:xfrm>
          <a:noFill/>
          <a:ln>
            <a:noFill/>
          </a:ln>
        </p:spPr>
        <p:txBody>
          <a:bodyPr/>
          <a:p>
            <a:pPr algn="just">
              <a:lnSpc>
                <a:spcPct val="140000"/>
              </a:lnSpc>
              <a:spcBef>
                <a:spcPct val="0"/>
              </a:spcBef>
              <a:buNone/>
            </a:pPr>
            <a:r>
              <a:rPr lang="zh-CN" altLang="en-US" sz="2400" b="1" dirty="0">
                <a:latin typeface="Times New Roman" panose="02020603050405020304" pitchFamily="18" charset="0"/>
                <a:ea typeface="宋体" panose="02010600030101010101" pitchFamily="2" charset="-122"/>
              </a:rPr>
              <a:t>煤与石油的区别：</a:t>
            </a:r>
            <a:endParaRPr lang="zh-CN" altLang="en-US" sz="2400" b="1" dirty="0">
              <a:latin typeface="Times New Roman" panose="02020603050405020304" pitchFamily="18" charset="0"/>
              <a:ea typeface="宋体" panose="02010600030101010101" pitchFamily="2" charset="-122"/>
            </a:endParaRPr>
          </a:p>
          <a:p>
            <a:pPr algn="just">
              <a:lnSpc>
                <a:spcPct val="140000"/>
              </a:lnSpc>
              <a:spcBef>
                <a:spcPct val="0"/>
              </a:spcBef>
              <a:buNone/>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① </a:t>
            </a:r>
            <a:r>
              <a:rPr lang="zh-CN" altLang="en-US" sz="2400" b="1" dirty="0">
                <a:latin typeface="Times New Roman" panose="02020603050405020304" pitchFamily="18" charset="0"/>
                <a:ea typeface="宋体" panose="02010600030101010101" pitchFamily="2" charset="-122"/>
              </a:rPr>
              <a:t>煤：     </a:t>
            </a:r>
            <a:r>
              <a:rPr lang="en-US" altLang="zh-CN" sz="2400" b="1" dirty="0">
                <a:latin typeface="Times New Roman" panose="02020603050405020304" pitchFamily="18" charset="0"/>
                <a:ea typeface="宋体" panose="02010600030101010101" pitchFamily="2" charset="-122"/>
              </a:rPr>
              <a:t>H : C = 0.4~0.8</a:t>
            </a:r>
            <a:endParaRPr lang="en-US" altLang="zh-CN" sz="2400" b="1" dirty="0">
              <a:latin typeface="Times New Roman" panose="02020603050405020304" pitchFamily="18" charset="0"/>
              <a:ea typeface="宋体" panose="02010600030101010101" pitchFamily="2" charset="-122"/>
            </a:endParaRPr>
          </a:p>
          <a:p>
            <a:pPr algn="just">
              <a:lnSpc>
                <a:spcPct val="140000"/>
              </a:lnSpc>
              <a:spcBef>
                <a:spcPct val="0"/>
              </a:spcBef>
              <a:buNone/>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石油：  </a:t>
            </a:r>
            <a:r>
              <a:rPr lang="en-US" altLang="zh-CN" sz="2400" b="1" dirty="0">
                <a:latin typeface="Times New Roman" panose="02020603050405020304" pitchFamily="18" charset="0"/>
                <a:ea typeface="宋体" panose="02010600030101010101" pitchFamily="2" charset="-122"/>
              </a:rPr>
              <a:t>H : C = 1.5~1.8</a:t>
            </a:r>
            <a:endParaRPr lang="en-US" altLang="zh-CN" sz="2400" b="1" dirty="0">
              <a:latin typeface="Times New Roman" panose="02020603050405020304" pitchFamily="18" charset="0"/>
              <a:ea typeface="宋体" panose="02010600030101010101" pitchFamily="2" charset="-122"/>
            </a:endParaRPr>
          </a:p>
          <a:p>
            <a:pPr algn="just">
              <a:lnSpc>
                <a:spcPct val="140000"/>
              </a:lnSpc>
              <a:spcBef>
                <a:spcPct val="0"/>
              </a:spcBef>
              <a:buNone/>
            </a:pPr>
            <a:r>
              <a:rPr lang="en-US" altLang="zh-CN" sz="2400" b="1" dirty="0">
                <a:latin typeface="Times New Roman" panose="02020603050405020304" pitchFamily="18" charset="0"/>
                <a:ea typeface="宋体" panose="02010600030101010101" pitchFamily="2" charset="-122"/>
              </a:rPr>
              <a:t>           ② </a:t>
            </a:r>
            <a:r>
              <a:rPr lang="zh-CN" altLang="en-US" sz="2400" b="1" dirty="0">
                <a:latin typeface="Times New Roman" panose="02020603050405020304" pitchFamily="18" charset="0"/>
                <a:ea typeface="宋体" panose="02010600030101010101" pitchFamily="2" charset="-122"/>
              </a:rPr>
              <a:t>煤分子量＞石油分子量</a:t>
            </a:r>
            <a:r>
              <a:rPr lang="en-US" altLang="zh-CN" sz="2400" b="1" dirty="0">
                <a:latin typeface="Times New Roman" panose="02020603050405020304" pitchFamily="18" charset="0"/>
                <a:ea typeface="宋体" panose="02010600030101010101" pitchFamily="2" charset="-122"/>
              </a:rPr>
              <a:t>10</a:t>
            </a:r>
            <a:r>
              <a:rPr lang="zh-CN" altLang="en-US" sz="2400" b="1" dirty="0">
                <a:ea typeface="宋体" panose="02010600030101010101" pitchFamily="2" charset="-122"/>
              </a:rPr>
              <a:t>倍</a:t>
            </a:r>
            <a:endParaRPr lang="zh-CN" altLang="en-US" sz="2400" b="1" dirty="0">
              <a:ea typeface="宋体" panose="02010600030101010101" pitchFamily="2" charset="-122"/>
            </a:endParaRPr>
          </a:p>
        </p:txBody>
      </p:sp>
      <p:sp>
        <p:nvSpPr>
          <p:cNvPr id="117764" name="文本框 117763"/>
          <p:cNvSpPr txBox="1"/>
          <p:nvPr/>
        </p:nvSpPr>
        <p:spPr>
          <a:xfrm>
            <a:off x="1835150" y="3522663"/>
            <a:ext cx="2667000" cy="1298575"/>
          </a:xfrm>
          <a:prstGeom prst="rect">
            <a:avLst/>
          </a:prstGeom>
          <a:solidFill>
            <a:srgbClr val="CCFFFF"/>
          </a:solidFill>
          <a:ln w="9525">
            <a:noFill/>
          </a:ln>
          <a:effectLst>
            <a:outerShdw dist="107763" dir="2699999" algn="ctr" rotWithShape="0">
              <a:schemeClr val="tx2"/>
            </a:outerShdw>
          </a:effectLst>
        </p:spPr>
        <p:txBody>
          <a:bodyPr>
            <a:spAutoFit/>
          </a:bodyPr>
          <a:p>
            <a:pPr algn="ctr">
              <a:lnSpc>
                <a:spcPct val="140000"/>
              </a:lnSpc>
            </a:pPr>
            <a:r>
              <a:rPr lang="zh-CN" altLang="en-US" sz="2800" b="1" dirty="0">
                <a:solidFill>
                  <a:schemeClr val="tx2"/>
                </a:solidFill>
                <a:latin typeface="Times New Roman" panose="02020603050405020304" pitchFamily="18" charset="0"/>
              </a:rPr>
              <a:t>直接液化法</a:t>
            </a:r>
            <a:endParaRPr lang="zh-CN" altLang="en-US" sz="2800" b="1" dirty="0">
              <a:solidFill>
                <a:schemeClr val="tx2"/>
              </a:solidFill>
              <a:latin typeface="Times New Roman" panose="02020603050405020304" pitchFamily="18" charset="0"/>
            </a:endParaRPr>
          </a:p>
          <a:p>
            <a:pPr algn="ctr">
              <a:lnSpc>
                <a:spcPct val="140000"/>
              </a:lnSpc>
            </a:pPr>
            <a:r>
              <a:rPr lang="zh-CN" altLang="en-US" sz="2800" b="1" dirty="0">
                <a:solidFill>
                  <a:schemeClr val="tx2"/>
                </a:solidFill>
                <a:latin typeface="Times New Roman" panose="02020603050405020304" pitchFamily="18" charset="0"/>
              </a:rPr>
              <a:t>间接液化法</a:t>
            </a:r>
            <a:endParaRPr lang="zh-CN" altLang="en-US" sz="2800" b="1" dirty="0">
              <a:solidFill>
                <a:schemeClr val="tx2"/>
              </a:solidFill>
              <a:latin typeface="Times New Roman" panose="02020603050405020304" pitchFamily="18" charset="0"/>
            </a:endParaRPr>
          </a:p>
        </p:txBody>
      </p:sp>
      <p:pic>
        <p:nvPicPr>
          <p:cNvPr id="117765" name="图片 117764"/>
          <p:cNvPicPr>
            <a:picLocks noChangeAspect="1"/>
          </p:cNvPicPr>
          <p:nvPr/>
        </p:nvPicPr>
        <p:blipFill>
          <a:blip r:embed="rId1"/>
          <a:stretch>
            <a:fillRect/>
          </a:stretch>
        </p:blipFill>
        <p:spPr>
          <a:xfrm>
            <a:off x="5724525" y="2500313"/>
            <a:ext cx="3276600" cy="1787525"/>
          </a:xfrm>
          <a:prstGeom prst="rect">
            <a:avLst/>
          </a:prstGeom>
          <a:noFill/>
          <a:ln w="9525">
            <a:noFill/>
          </a:ln>
        </p:spPr>
      </p:pic>
      <p:sp>
        <p:nvSpPr>
          <p:cNvPr id="117766" name="文本框 117765"/>
          <p:cNvSpPr txBox="1"/>
          <p:nvPr/>
        </p:nvSpPr>
        <p:spPr>
          <a:xfrm>
            <a:off x="5762625" y="4287838"/>
            <a:ext cx="3200400" cy="400050"/>
          </a:xfrm>
          <a:prstGeom prst="rect">
            <a:avLst/>
          </a:prstGeom>
          <a:solidFill>
            <a:srgbClr val="FFFFCC"/>
          </a:solidFill>
          <a:ln w="9525">
            <a:noFill/>
          </a:ln>
        </p:spPr>
        <p:txBody>
          <a:bodyPr>
            <a:spAutoFit/>
          </a:bodyPr>
          <a:p>
            <a:pPr algn="ctr">
              <a:spcBef>
                <a:spcPct val="50000"/>
              </a:spcBef>
            </a:pPr>
            <a:r>
              <a:rPr lang="zh-CN" altLang="en-US" sz="2000" b="1" dirty="0">
                <a:solidFill>
                  <a:srgbClr val="E90B45"/>
                </a:solidFill>
                <a:latin typeface="Times New Roman" panose="02020603050405020304" pitchFamily="18" charset="0"/>
              </a:rPr>
              <a:t>煤间接液化工厂</a:t>
            </a:r>
            <a:endParaRPr lang="zh-CN" altLang="en-US" b="1" dirty="0">
              <a:latin typeface="Times New Roman" panose="02020603050405020304" pitchFamily="18" charset="0"/>
            </a:endParaRPr>
          </a:p>
        </p:txBody>
      </p:sp>
      <p:pic>
        <p:nvPicPr>
          <p:cNvPr id="117767" name="图片 117766" descr="煤的地下气化"/>
          <p:cNvPicPr>
            <a:picLocks noChangeAspect="1"/>
          </p:cNvPicPr>
          <p:nvPr/>
        </p:nvPicPr>
        <p:blipFill>
          <a:blip r:embed="rId2"/>
          <a:stretch>
            <a:fillRect/>
          </a:stretch>
        </p:blipFill>
        <p:spPr>
          <a:xfrm>
            <a:off x="5435600" y="141288"/>
            <a:ext cx="3343275" cy="1662112"/>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7763">
                                            <p:txEl>
                                              <p:charRg st="0" end="9"/>
                                            </p:txEl>
                                          </p:spTgt>
                                        </p:tgtEl>
                                        <p:attrNameLst>
                                          <p:attrName>style.visibility</p:attrName>
                                        </p:attrNameLst>
                                      </p:cBhvr>
                                      <p:to>
                                        <p:strVal val="visible"/>
                                      </p:to>
                                    </p:set>
                                    <p:animEffect transition="in" filter="blinds(horizontal)">
                                      <p:cBhvr>
                                        <p:cTn id="7" dur="500"/>
                                        <p:tgtEl>
                                          <p:spTgt spid="117763">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7763">
                                            <p:txEl>
                                              <p:charRg st="9" end="45"/>
                                            </p:txEl>
                                          </p:spTgt>
                                        </p:tgtEl>
                                        <p:attrNameLst>
                                          <p:attrName>style.visibility</p:attrName>
                                        </p:attrNameLst>
                                      </p:cBhvr>
                                      <p:to>
                                        <p:strVal val="visible"/>
                                      </p:to>
                                    </p:set>
                                    <p:animEffect transition="in" filter="blinds(horizontal)">
                                      <p:cBhvr>
                                        <p:cTn id="12" dur="500"/>
                                        <p:tgtEl>
                                          <p:spTgt spid="117763">
                                            <p:txEl>
                                              <p:charRg st="9" end="4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7763">
                                            <p:txEl>
                                              <p:charRg st="45" end="81"/>
                                            </p:txEl>
                                          </p:spTgt>
                                        </p:tgtEl>
                                        <p:attrNameLst>
                                          <p:attrName>style.visibility</p:attrName>
                                        </p:attrNameLst>
                                      </p:cBhvr>
                                      <p:to>
                                        <p:strVal val="visible"/>
                                      </p:to>
                                    </p:set>
                                    <p:animEffect transition="in" filter="blinds(horizontal)">
                                      <p:cBhvr>
                                        <p:cTn id="17" dur="500"/>
                                        <p:tgtEl>
                                          <p:spTgt spid="117763">
                                            <p:txEl>
                                              <p:charRg st="45" end="8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7763">
                                            <p:txEl>
                                              <p:charRg st="81" end="108"/>
                                            </p:txEl>
                                          </p:spTgt>
                                        </p:tgtEl>
                                        <p:attrNameLst>
                                          <p:attrName>style.visibility</p:attrName>
                                        </p:attrNameLst>
                                      </p:cBhvr>
                                      <p:to>
                                        <p:strVal val="visible"/>
                                      </p:to>
                                    </p:set>
                                    <p:animEffect transition="in" filter="blinds(horizontal)">
                                      <p:cBhvr>
                                        <p:cTn id="22" dur="500"/>
                                        <p:tgtEl>
                                          <p:spTgt spid="117763">
                                            <p:txEl>
                                              <p:charRg st="81" end="10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7764"/>
                                        </p:tgtEl>
                                        <p:attrNameLst>
                                          <p:attrName>style.visibility</p:attrName>
                                        </p:attrNameLst>
                                      </p:cBhvr>
                                      <p:to>
                                        <p:strVal val="visible"/>
                                      </p:to>
                                    </p:set>
                                    <p:animEffect transition="in" filter="blinds(horizontal)">
                                      <p:cBhvr>
                                        <p:cTn id="27" dur="500"/>
                                        <p:tgtEl>
                                          <p:spTgt spid="117764"/>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117765"/>
                                        </p:tgtEl>
                                        <p:attrNameLst>
                                          <p:attrName>style.visibility</p:attrName>
                                        </p:attrNameLst>
                                      </p:cBhvr>
                                      <p:to>
                                        <p:strVal val="visible"/>
                                      </p:to>
                                    </p:set>
                                    <p:animEffect transition="in" filter="box(out)">
                                      <p:cBhvr>
                                        <p:cTn id="32" dur="500"/>
                                        <p:tgtEl>
                                          <p:spTgt spid="117765"/>
                                        </p:tgtEl>
                                      </p:cBhvr>
                                    </p:animEffect>
                                  </p:childTnLst>
                                </p:cTn>
                              </p:par>
                            </p:childTnLst>
                          </p:cTn>
                        </p:par>
                        <p:par>
                          <p:cTn id="33" fill="hold">
                            <p:stCondLst>
                              <p:cond delay="500"/>
                            </p:stCondLst>
                            <p:childTnLst>
                              <p:par>
                                <p:cTn id="34" presetID="9" presetClass="entr" presetSubtype="0" fill="hold" grpId="0" nodeType="afterEffect">
                                  <p:stCondLst>
                                    <p:cond delay="0"/>
                                  </p:stCondLst>
                                  <p:childTnLst>
                                    <p:set>
                                      <p:cBhvr>
                                        <p:cTn id="35" dur="1" fill="hold">
                                          <p:stCondLst>
                                            <p:cond delay="0"/>
                                          </p:stCondLst>
                                        </p:cTn>
                                        <p:tgtEl>
                                          <p:spTgt spid="117766"/>
                                        </p:tgtEl>
                                        <p:attrNameLst>
                                          <p:attrName>style.visibility</p:attrName>
                                        </p:attrNameLst>
                                      </p:cBhvr>
                                      <p:to>
                                        <p:strVal val="visible"/>
                                      </p:to>
                                    </p:set>
                                    <p:animEffect transition="in" filter="dissolve">
                                      <p:cBhvr>
                                        <p:cTn id="36" dur="500"/>
                                        <p:tgtEl>
                                          <p:spTgt spid="117766"/>
                                        </p:tgtEl>
                                      </p:cBhvr>
                                    </p:animEffect>
                                  </p:childTnLst>
                                </p:cTn>
                              </p:par>
                            </p:childTnLst>
                          </p:cTn>
                        </p:par>
                      </p:childTnLst>
                    </p:cTn>
                  </p:par>
                  <p:par>
                    <p:cTn id="37" fill="hold">
                      <p:stCondLst>
                        <p:cond delay="indefinite"/>
                      </p:stCondLst>
                      <p:childTnLst>
                        <p:par>
                          <p:cTn id="38" fill="hold">
                            <p:stCondLst>
                              <p:cond delay="0"/>
                            </p:stCondLst>
                            <p:childTnLst>
                              <p:par>
                                <p:cTn id="39" presetID="4" presetClass="entr" presetSubtype="32" fill="hold" nodeType="clickEffect">
                                  <p:stCondLst>
                                    <p:cond delay="0"/>
                                  </p:stCondLst>
                                  <p:childTnLst>
                                    <p:set>
                                      <p:cBhvr>
                                        <p:cTn id="40" dur="1" fill="hold">
                                          <p:stCondLst>
                                            <p:cond delay="0"/>
                                          </p:stCondLst>
                                        </p:cTn>
                                        <p:tgtEl>
                                          <p:spTgt spid="117767"/>
                                        </p:tgtEl>
                                        <p:attrNameLst>
                                          <p:attrName>style.visibility</p:attrName>
                                        </p:attrNameLst>
                                      </p:cBhvr>
                                      <p:to>
                                        <p:strVal val="visible"/>
                                      </p:to>
                                    </p:set>
                                    <p:animEffect transition="in" filter="box(out)">
                                      <p:cBhvr>
                                        <p:cTn id="41" dur="500"/>
                                        <p:tgtEl>
                                          <p:spTgt spid="117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build="p"/>
      <p:bldP spid="117764" grpId="0" animBg="1"/>
      <p:bldP spid="11776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3" name="内容占位符 10242"/>
          <p:cNvSpPr>
            <a:spLocks noGrp="1"/>
          </p:cNvSpPr>
          <p:nvPr>
            <p:ph idx="1"/>
          </p:nvPr>
        </p:nvSpPr>
        <p:spPr>
          <a:xfrm>
            <a:off x="457200" y="1211263"/>
            <a:ext cx="8229600" cy="3394075"/>
          </a:xfrm>
          <a:noFill/>
          <a:ln>
            <a:noFill/>
          </a:ln>
        </p:spPr>
        <p:txBody>
          <a:bodyPr/>
          <a:p>
            <a:pPr algn="just">
              <a:buNone/>
            </a:pPr>
            <a:r>
              <a:rPr lang="zh-CN" altLang="en-US" sz="2400" b="1" dirty="0">
                <a:ea typeface="宋体" panose="02010600030101010101" pitchFamily="2" charset="-122"/>
              </a:rPr>
              <a:t>石油的主要组成元素为   </a:t>
            </a:r>
            <a:endParaRPr lang="zh-CN" altLang="en-US" sz="2400" b="1" dirty="0">
              <a:ea typeface="宋体" panose="02010600030101010101" pitchFamily="2" charset="-122"/>
            </a:endParaRPr>
          </a:p>
          <a:p>
            <a:pPr algn="just">
              <a:buNone/>
            </a:pPr>
            <a:r>
              <a:rPr lang="zh-CN" altLang="en-US" sz="2400" b="1" dirty="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C              H               O                  N                S</a:t>
            </a:r>
            <a:endParaRPr lang="en-US" altLang="zh-CN" sz="2400" b="1" dirty="0">
              <a:latin typeface="Times New Roman" panose="02020603050405020304" pitchFamily="18" charset="0"/>
              <a:ea typeface="宋体" panose="02010600030101010101" pitchFamily="2" charset="-122"/>
            </a:endParaRPr>
          </a:p>
          <a:p>
            <a:pPr algn="just">
              <a:buNone/>
            </a:pPr>
            <a:r>
              <a:rPr lang="en-US" altLang="zh-CN" sz="2400" b="1" dirty="0">
                <a:latin typeface="Times New Roman" panose="02020603050405020304" pitchFamily="18" charset="0"/>
                <a:ea typeface="宋体" panose="02010600030101010101" pitchFamily="2" charset="-122"/>
              </a:rPr>
              <a:t>   83~87%   10~14%    0.05~25%    0.02~0.25%    0.05~8</a:t>
            </a:r>
            <a:endParaRPr lang="en-US" altLang="zh-CN" b="1" dirty="0">
              <a:latin typeface="Times New Roman" panose="02020603050405020304" pitchFamily="18" charset="0"/>
              <a:ea typeface="宋体" panose="02010600030101010101" pitchFamily="2" charset="-122"/>
            </a:endParaRPr>
          </a:p>
          <a:p>
            <a:pPr algn="just">
              <a:buNone/>
            </a:pPr>
            <a:endParaRPr lang="en-US" altLang="zh-CN" sz="2400" b="1" dirty="0">
              <a:ea typeface="宋体" panose="02010600030101010101" pitchFamily="2" charset="-122"/>
            </a:endParaRPr>
          </a:p>
        </p:txBody>
      </p:sp>
      <p:pic>
        <p:nvPicPr>
          <p:cNvPr id="13315" name="图片 10246"/>
          <p:cNvPicPr>
            <a:picLocks noChangeAspect="1"/>
          </p:cNvPicPr>
          <p:nvPr/>
        </p:nvPicPr>
        <p:blipFill>
          <a:blip r:embed="rId1"/>
          <a:stretch>
            <a:fillRect/>
          </a:stretch>
        </p:blipFill>
        <p:spPr>
          <a:xfrm>
            <a:off x="5930900" y="88900"/>
            <a:ext cx="2971800" cy="1577975"/>
          </a:xfrm>
          <a:prstGeom prst="rect">
            <a:avLst/>
          </a:prstGeom>
          <a:noFill/>
          <a:ln w="9525">
            <a:noFill/>
          </a:ln>
        </p:spPr>
      </p:pic>
      <p:sp>
        <p:nvSpPr>
          <p:cNvPr id="10248" name="文本框 10247"/>
          <p:cNvSpPr txBox="1"/>
          <p:nvPr/>
        </p:nvSpPr>
        <p:spPr>
          <a:xfrm>
            <a:off x="533400" y="2514600"/>
            <a:ext cx="7848600" cy="2344738"/>
          </a:xfrm>
          <a:prstGeom prst="rect">
            <a:avLst/>
          </a:prstGeom>
          <a:noFill/>
          <a:ln w="9525">
            <a:noFill/>
          </a:ln>
        </p:spPr>
        <p:txBody>
          <a:bodyPr>
            <a:spAutoFit/>
          </a:bodyPr>
          <a:p>
            <a:pPr algn="just">
              <a:spcBef>
                <a:spcPct val="20000"/>
              </a:spcBef>
            </a:pPr>
            <a:r>
              <a:rPr lang="zh-CN" altLang="en-US" b="1" dirty="0">
                <a:latin typeface="Times New Roman" panose="02020603050405020304" pitchFamily="18" charset="0"/>
              </a:rPr>
              <a:t>和煤相比各种石油产品：</a:t>
            </a:r>
            <a:endParaRPr lang="zh-CN" altLang="en-US" b="1" dirty="0">
              <a:latin typeface="Times New Roman" panose="02020603050405020304" pitchFamily="18" charset="0"/>
            </a:endParaRPr>
          </a:p>
          <a:p>
            <a:pPr algn="just">
              <a:spcBef>
                <a:spcPct val="20000"/>
              </a:spcBef>
            </a:pPr>
            <a:r>
              <a:rPr lang="zh-CN" altLang="en-US" b="1" dirty="0">
                <a:latin typeface="Times New Roman" panose="02020603050405020304" pitchFamily="18" charset="0"/>
              </a:rPr>
              <a:t>                （</a:t>
            </a:r>
            <a:r>
              <a:rPr lang="en-US" altLang="zh-CN" b="1" dirty="0">
                <a:latin typeface="Times New Roman" panose="02020603050405020304" pitchFamily="18" charset="0"/>
              </a:rPr>
              <a:t>1</a:t>
            </a:r>
            <a:r>
              <a:rPr lang="zh-CN" altLang="en-US" b="1" dirty="0">
                <a:latin typeface="Times New Roman" panose="02020603050405020304" pitchFamily="18" charset="0"/>
              </a:rPr>
              <a:t>）石油含氢量高，含氧量低。</a:t>
            </a:r>
            <a:endParaRPr lang="zh-CN" altLang="en-US" b="1" dirty="0">
              <a:latin typeface="Times New Roman" panose="02020603050405020304" pitchFamily="18" charset="0"/>
            </a:endParaRPr>
          </a:p>
          <a:p>
            <a:pPr lvl="2" algn="just" eaLnBrk="1" hangingPunct="1">
              <a:spcBef>
                <a:spcPct val="20000"/>
              </a:spcBef>
            </a:pPr>
            <a:r>
              <a:rPr lang="zh-CN" altLang="en-US" b="1" dirty="0">
                <a:latin typeface="Times New Roman" panose="02020603050405020304" pitchFamily="18" charset="0"/>
              </a:rPr>
              <a:t>    （</a:t>
            </a:r>
            <a:r>
              <a:rPr lang="en-US" altLang="zh-CN" b="1" dirty="0">
                <a:latin typeface="Times New Roman" panose="02020603050405020304" pitchFamily="18" charset="0"/>
              </a:rPr>
              <a:t>2</a:t>
            </a:r>
            <a:r>
              <a:rPr lang="zh-CN" altLang="en-US" b="1" dirty="0">
                <a:latin typeface="Times New Roman" panose="02020603050405020304" pitchFamily="18" charset="0"/>
              </a:rPr>
              <a:t>）石油中的碳氢化合物以直链烃为主</a:t>
            </a:r>
            <a:endParaRPr lang="zh-CN" altLang="en-US" b="1" dirty="0">
              <a:latin typeface="Times New Roman" panose="02020603050405020304" pitchFamily="18" charset="0"/>
            </a:endParaRPr>
          </a:p>
          <a:p>
            <a:pPr lvl="2" algn="just" eaLnBrk="1" hangingPunct="1">
              <a:spcBef>
                <a:spcPct val="20000"/>
              </a:spcBef>
            </a:pPr>
            <a:r>
              <a:rPr lang="zh-CN" altLang="en-US" b="1" dirty="0">
                <a:latin typeface="Times New Roman" panose="02020603050405020304" pitchFamily="18" charset="0"/>
              </a:rPr>
              <a:t>           煤中的碳氢化合物以芳烃为主</a:t>
            </a:r>
            <a:endParaRPr lang="zh-CN" altLang="en-US" b="1" dirty="0">
              <a:latin typeface="Times New Roman" panose="02020603050405020304" pitchFamily="18" charset="0"/>
            </a:endParaRPr>
          </a:p>
          <a:p>
            <a:pPr algn="ctr">
              <a:spcBef>
                <a:spcPct val="50000"/>
              </a:spcBef>
            </a:pPr>
            <a:endParaRPr lang="zh-CN" altLang="en-US" b="1" dirty="0">
              <a:latin typeface="Times New Roman" panose="02020603050405020304" pitchFamily="18" charset="0"/>
            </a:endParaRPr>
          </a:p>
        </p:txBody>
      </p:sp>
      <p:sp>
        <p:nvSpPr>
          <p:cNvPr id="10249" name="文本框 10248"/>
          <p:cNvSpPr txBox="1"/>
          <p:nvPr/>
        </p:nvSpPr>
        <p:spPr>
          <a:xfrm>
            <a:off x="2112963" y="2400300"/>
            <a:ext cx="2971800" cy="461963"/>
          </a:xfrm>
          <a:prstGeom prst="rect">
            <a:avLst/>
          </a:prstGeom>
          <a:noFill/>
          <a:ln w="9525">
            <a:noFill/>
          </a:ln>
        </p:spPr>
        <p:txBody>
          <a:bodyPr>
            <a:spAutoFit/>
          </a:bodyPr>
          <a:p>
            <a:pPr algn="ctr">
              <a:spcBef>
                <a:spcPct val="50000"/>
              </a:spcBef>
            </a:pPr>
            <a:endParaRPr lang="zh-CN" altLang="en-US" b="1" dirty="0">
              <a:latin typeface="Times New Roman" panose="02020603050405020304" pitchFamily="18" charset="0"/>
            </a:endParaRPr>
          </a:p>
        </p:txBody>
      </p:sp>
      <p:sp>
        <p:nvSpPr>
          <p:cNvPr id="7171" name="Rectangle 3"/>
          <p:cNvSpPr/>
          <p:nvPr/>
        </p:nvSpPr>
        <p:spPr>
          <a:xfrm>
            <a:off x="3175" y="411163"/>
            <a:ext cx="2925763" cy="523875"/>
          </a:xfrm>
          <a:prstGeom prst="rect">
            <a:avLst/>
          </a:prstGeom>
          <a:solidFill>
            <a:srgbClr val="FFCC00"/>
          </a:solidFill>
          <a:ln w="19050" cap="flat" cmpd="sng">
            <a:solidFill>
              <a:srgbClr val="0000FF"/>
            </a:solidFill>
            <a:prstDash val="solid"/>
            <a:miter/>
            <a:headEnd type="none" w="med" len="med"/>
            <a:tailEnd type="none" w="med" len="med"/>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800" b="1" i="0" u="none" strike="noStrike" kern="1200" cap="none" spc="0" normalizeH="0" baseline="0" noProof="1">
                <a:ln>
                  <a:noFill/>
                </a:ln>
                <a:solidFill>
                  <a:schemeClr val="tx2"/>
                </a:solidFill>
                <a:effectLst/>
                <a:uLnTx/>
                <a:uFillTx/>
                <a:latin typeface="楷体_GB2312" panose="02010609030101010101" pitchFamily="49" charset="-122"/>
                <a:ea typeface="楷体_GB2312" panose="02010609030101010101" pitchFamily="49" charset="-122"/>
                <a:cs typeface="+mn-cs"/>
              </a:rPr>
              <a:t>  </a:t>
            </a:r>
            <a:r>
              <a:rPr kumimoji="0" lang="en-US" altLang="zh-CN"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sym typeface="+mn-ea"/>
              </a:rPr>
              <a:t>7.1.2 </a:t>
            </a:r>
            <a:r>
              <a:rPr kumimoji="0" lang="zh-CN" altLang="en-US" sz="2800" b="1" i="0" u="none" strike="noStrike" kern="1200" cap="none" spc="0" normalizeH="0" baseline="0" noProof="1">
                <a:ln>
                  <a:noFill/>
                </a:ln>
                <a:solidFill>
                  <a:schemeClr val="tx1"/>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sym typeface="+mn-ea"/>
              </a:rPr>
              <a:t>石油</a:t>
            </a:r>
            <a:endParaRPr kumimoji="0" lang="zh-CN" altLang="en-US" sz="2800" b="1" i="0" u="none" strike="noStrike" kern="1200" cap="none" spc="0" normalizeH="0" baseline="0" noProof="1">
              <a:ln>
                <a:noFill/>
              </a:ln>
              <a:solidFill>
                <a:schemeClr val="tx2"/>
              </a:solidFill>
              <a:effectLst>
                <a:outerShdw blurRad="38100" dist="38100" dir="2700000">
                  <a:srgbClr val="C0C0C0"/>
                </a:outerShdw>
              </a:effectLst>
              <a:uLnTx/>
              <a:uFillTx/>
              <a:latin typeface="楷体_GB2312" panose="02010609030101010101" pitchFamily="49" charset="-122"/>
              <a:ea typeface="楷体_GB2312" panose="02010609030101010101" pitchFamily="49" charset="-122"/>
              <a:cs typeface="+mn-cs"/>
              <a:sym typeface="+mn-ea"/>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7171"/>
                                        </p:tgtEl>
                                        <p:attrNameLst>
                                          <p:attrName>style.visibility</p:attrName>
                                        </p:attrNameLst>
                                      </p:cBhvr>
                                      <p:to>
                                        <p:strVal val="visible"/>
                                      </p:to>
                                    </p:set>
                                    <p:anim calcmode="lin" valueType="num">
                                      <p:cBhvr>
                                        <p:cTn id="7" dur="500" fill="hold"/>
                                        <p:tgtEl>
                                          <p:spTgt spid="7171"/>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171"/>
                                        </p:tgtEl>
                                        <p:attrNameLst>
                                          <p:attrName>ppt_y</p:attrName>
                                        </p:attrNameLst>
                                      </p:cBhvr>
                                      <p:tavLst>
                                        <p:tav tm="0">
                                          <p:val>
                                            <p:strVal val="#ppt_y"/>
                                          </p:val>
                                        </p:tav>
                                        <p:tav tm="100000">
                                          <p:val>
                                            <p:strVal val="#ppt_y"/>
                                          </p:val>
                                        </p:tav>
                                      </p:tavLst>
                                    </p:anim>
                                    <p:anim calcmode="lin" valueType="num">
                                      <p:cBhvr>
                                        <p:cTn id="9" dur="500" fill="hold"/>
                                        <p:tgtEl>
                                          <p:spTgt spid="7171"/>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171"/>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171"/>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5" fill="hold" grpId="0" nodeType="clickEffect">
                                  <p:stCondLst>
                                    <p:cond delay="0"/>
                                  </p:stCondLst>
                                  <p:childTnLst>
                                    <p:set>
                                      <p:cBhvr>
                                        <p:cTn id="15" dur="1" fill="hold">
                                          <p:stCondLst>
                                            <p:cond delay="0"/>
                                          </p:stCondLst>
                                        </p:cTn>
                                        <p:tgtEl>
                                          <p:spTgt spid="10243"/>
                                        </p:tgtEl>
                                        <p:attrNameLst>
                                          <p:attrName>style.visibility</p:attrName>
                                        </p:attrNameLst>
                                      </p:cBhvr>
                                      <p:to>
                                        <p:strVal val="visible"/>
                                      </p:to>
                                    </p:set>
                                    <p:animEffect transition="in" filter="blinds(vertical)">
                                      <p:cBhvr>
                                        <p:cTn id="16" dur="500"/>
                                        <p:tgtEl>
                                          <p:spTgt spid="10243"/>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0248"/>
                                        </p:tgtEl>
                                        <p:attrNameLst>
                                          <p:attrName>style.visibility</p:attrName>
                                        </p:attrNameLst>
                                      </p:cBhvr>
                                      <p:to>
                                        <p:strVal val="visible"/>
                                      </p:to>
                                    </p:set>
                                    <p:animEffect transition="in" filter="blinds(horizontal)">
                                      <p:cBhvr>
                                        <p:cTn id="21" dur="500"/>
                                        <p:tgtEl>
                                          <p:spTgt spid="10248"/>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0249"/>
                                        </p:tgtEl>
                                        <p:attrNameLst>
                                          <p:attrName>style.visibility</p:attrName>
                                        </p:attrNameLst>
                                      </p:cBhvr>
                                      <p:to>
                                        <p:strVal val="visible"/>
                                      </p:to>
                                    </p:set>
                                    <p:animEffect transition="in" filter="blinds(horizontal)">
                                      <p:cBhvr>
                                        <p:cTn id="26" dur="500"/>
                                        <p:tgtEl>
                                          <p:spTgt spid="10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p:bldP spid="10248" grpId="0"/>
      <p:bldP spid="10249" grpId="0"/>
      <p:bldP spid="7171"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矩形 161795"/>
          <p:cNvSpPr/>
          <p:nvPr/>
        </p:nvSpPr>
        <p:spPr>
          <a:xfrm>
            <a:off x="474663" y="479425"/>
            <a:ext cx="3894137" cy="585788"/>
          </a:xfrm>
          <a:prstGeom prst="rect">
            <a:avLst/>
          </a:prstGeom>
          <a:noFill/>
          <a:ln w="9525">
            <a:noFill/>
          </a:ln>
        </p:spPr>
        <p:txBody>
          <a:bodyPr wrap="none" anchor="ctr" anchorCtr="0">
            <a:spAutoFit/>
          </a:bodyPr>
          <a:p>
            <a:r>
              <a:rPr lang="en-US" altLang="zh-CN" sz="3200" b="1" dirty="0">
                <a:solidFill>
                  <a:srgbClr val="FF0000"/>
                </a:solidFill>
                <a:latin typeface="宋体" panose="02010600030101010101" pitchFamily="2" charset="-122"/>
              </a:rPr>
              <a:t>1.</a:t>
            </a:r>
            <a:r>
              <a:rPr lang="zh-CN" altLang="en-US" sz="3200" b="1" dirty="0">
                <a:solidFill>
                  <a:srgbClr val="FF0000"/>
                </a:solidFill>
                <a:latin typeface="宋体" panose="02010600030101010101" pitchFamily="2" charset="-122"/>
              </a:rPr>
              <a:t>石油的性质和成分</a:t>
            </a:r>
            <a:endParaRPr lang="zh-CN" altLang="en-US" sz="3200" b="1" dirty="0">
              <a:solidFill>
                <a:srgbClr val="FF0000"/>
              </a:solidFill>
              <a:latin typeface="宋体" panose="02010600030101010101" pitchFamily="2" charset="-122"/>
            </a:endParaRPr>
          </a:p>
        </p:txBody>
      </p:sp>
      <p:sp>
        <p:nvSpPr>
          <p:cNvPr id="14339" name="矩形 161796"/>
          <p:cNvSpPr/>
          <p:nvPr/>
        </p:nvSpPr>
        <p:spPr>
          <a:xfrm>
            <a:off x="468313" y="1095375"/>
            <a:ext cx="8280400" cy="3027363"/>
          </a:xfrm>
          <a:prstGeom prst="rect">
            <a:avLst/>
          </a:prstGeom>
          <a:noFill/>
          <a:ln w="9525">
            <a:noFill/>
          </a:ln>
        </p:spPr>
        <p:txBody>
          <a:bodyPr anchor="ctr" anchorCtr="0">
            <a:spAutoFit/>
          </a:bodyPr>
          <a:p>
            <a:pPr>
              <a:lnSpc>
                <a:spcPct val="135000"/>
              </a:lnSpc>
            </a:pPr>
            <a:r>
              <a:rPr lang="zh-CN" altLang="en-US" b="1" dirty="0">
                <a:latin typeface="Times New Roman" panose="02020603050405020304" pitchFamily="18" charset="0"/>
              </a:rPr>
              <a:t>      黑褐色或深棕色的液体，常有绿色或蓝色荧光。它有特殊气味，比水轻，不溶于水。 </a:t>
            </a:r>
            <a:endParaRPr lang="zh-CN" altLang="en-US" b="1" dirty="0">
              <a:latin typeface="Times New Roman" panose="02020603050405020304" pitchFamily="18" charset="0"/>
            </a:endParaRPr>
          </a:p>
          <a:p>
            <a:pPr>
              <a:lnSpc>
                <a:spcPct val="135000"/>
              </a:lnSpc>
            </a:pPr>
            <a:r>
              <a:rPr lang="zh-CN" altLang="en-US" b="1" dirty="0">
                <a:latin typeface="Times New Roman" panose="02020603050405020304" pitchFamily="18" charset="0"/>
              </a:rPr>
              <a:t>     石油主要含碳和氢两种元素。两种元素的总含量平均为</a:t>
            </a:r>
            <a:r>
              <a:rPr lang="en-US" altLang="zh-CN" b="1" dirty="0">
                <a:latin typeface="Times New Roman" panose="02020603050405020304" pitchFamily="18" charset="0"/>
              </a:rPr>
              <a:t>97%</a:t>
            </a:r>
            <a:r>
              <a:rPr lang="zh-CN" altLang="en-US" b="1" dirty="0">
                <a:latin typeface="Times New Roman" panose="02020603050405020304" pitchFamily="18" charset="0"/>
              </a:rPr>
              <a:t>～</a:t>
            </a:r>
            <a:r>
              <a:rPr lang="en-US" altLang="zh-CN" b="1" dirty="0">
                <a:latin typeface="Times New Roman" panose="02020603050405020304" pitchFamily="18" charset="0"/>
              </a:rPr>
              <a:t>98%</a:t>
            </a:r>
            <a:r>
              <a:rPr lang="zh-CN" altLang="en-US" b="1" dirty="0">
                <a:latin typeface="Times New Roman" panose="02020603050405020304" pitchFamily="18" charset="0"/>
              </a:rPr>
              <a:t>，也有达到</a:t>
            </a:r>
            <a:r>
              <a:rPr lang="en-US" altLang="zh-CN" b="1" dirty="0">
                <a:latin typeface="Times New Roman" panose="02020603050405020304" pitchFamily="18" charset="0"/>
              </a:rPr>
              <a:t>99%</a:t>
            </a:r>
            <a:r>
              <a:rPr lang="zh-CN" altLang="en-US" b="1" dirty="0">
                <a:latin typeface="Times New Roman" panose="02020603050405020304" pitchFamily="18" charset="0"/>
              </a:rPr>
              <a:t>的；同时还含有少量的硫、氧、氮等。石油的组成复杂，是多种烷烃、环烷烃和芳香烃的混合物。 </a:t>
            </a:r>
            <a:endParaRPr lang="zh-CN" altLang="en-US" b="1" dirty="0">
              <a:latin typeface="Times New Roman" panose="02020603050405020304" pitchFamily="18" charset="0"/>
            </a:endParaRPr>
          </a:p>
        </p:txBody>
      </p:sp>
    </p:spTree>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文本占位符 160770"/>
          <p:cNvSpPr>
            <a:spLocks noGrp="1"/>
          </p:cNvSpPr>
          <p:nvPr>
            <p:ph type="body" sz="half" idx="4294967295"/>
          </p:nvPr>
        </p:nvSpPr>
        <p:spPr>
          <a:xfrm>
            <a:off x="0" y="519113"/>
            <a:ext cx="3810000" cy="3086100"/>
          </a:xfrm>
          <a:prstGeom prst="rect">
            <a:avLst/>
          </a:prstGeom>
          <a:noFill/>
          <a:ln w="9525">
            <a:noFill/>
          </a:ln>
        </p:spPr>
        <p:txBody>
          <a:bodyPr/>
          <a:lstStyle>
            <a:lvl1pPr lvl="0">
              <a:buClrTx/>
              <a:buSzTx/>
              <a:buFontTx/>
              <a:defRPr sz="2800"/>
            </a:lvl1pPr>
            <a:lvl2pPr lvl="1">
              <a:buClrTx/>
              <a:buSzTx/>
              <a:buFontTx/>
              <a:defRPr sz="2400"/>
            </a:lvl2pPr>
            <a:lvl3pPr lvl="2">
              <a:buClrTx/>
              <a:buSzTx/>
              <a:buFontTx/>
              <a:defRPr sz="2000"/>
            </a:lvl3pPr>
            <a:lvl4pPr lvl="3">
              <a:buClrTx/>
              <a:buSzTx/>
              <a:buFontTx/>
              <a:defRPr sz="1800"/>
            </a:lvl4pPr>
            <a:lvl5pPr lvl="4">
              <a:buClrTx/>
              <a:buSzTx/>
              <a:buFontTx/>
              <a:defRPr sz="1800"/>
            </a:lvl5pPr>
          </a:lstStyle>
          <a:p>
            <a:pPr lvl="0"/>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）石油的分馏</a:t>
            </a:r>
            <a:endParaRPr lang="zh-CN" altLang="en-US" b="1" dirty="0">
              <a:latin typeface="宋体" panose="02010600030101010101" pitchFamily="2" charset="-122"/>
              <a:ea typeface="宋体" panose="02010600030101010101" pitchFamily="2" charset="-122"/>
            </a:endParaRPr>
          </a:p>
        </p:txBody>
      </p:sp>
      <p:sp>
        <p:nvSpPr>
          <p:cNvPr id="15363" name="矩形 160771"/>
          <p:cNvSpPr/>
          <p:nvPr/>
        </p:nvSpPr>
        <p:spPr>
          <a:xfrm>
            <a:off x="500063" y="-73025"/>
            <a:ext cx="2865437" cy="584200"/>
          </a:xfrm>
          <a:prstGeom prst="rect">
            <a:avLst/>
          </a:prstGeom>
          <a:noFill/>
          <a:ln w="9525">
            <a:noFill/>
          </a:ln>
        </p:spPr>
        <p:txBody>
          <a:bodyPr wrap="none" anchor="ctr" anchorCtr="0">
            <a:spAutoFit/>
          </a:bodyPr>
          <a:p>
            <a:r>
              <a:rPr lang="en-US" altLang="zh-CN" sz="3200" b="1" dirty="0">
                <a:solidFill>
                  <a:srgbClr val="FF0000"/>
                </a:solidFill>
                <a:latin typeface="宋体" panose="02010600030101010101" pitchFamily="2" charset="-122"/>
              </a:rPr>
              <a:t>2.</a:t>
            </a:r>
            <a:r>
              <a:rPr lang="zh-CN" altLang="en-US" sz="3200" b="1" dirty="0">
                <a:solidFill>
                  <a:srgbClr val="FF0000"/>
                </a:solidFill>
                <a:latin typeface="宋体" panose="02010600030101010101" pitchFamily="2" charset="-122"/>
              </a:rPr>
              <a:t>石油的炼制 </a:t>
            </a:r>
            <a:endParaRPr lang="zh-CN" altLang="en-US" sz="3200" b="1" dirty="0">
              <a:solidFill>
                <a:srgbClr val="FF0000"/>
              </a:solidFill>
              <a:latin typeface="宋体" panose="02010600030101010101" pitchFamily="2" charset="-122"/>
            </a:endParaRPr>
          </a:p>
        </p:txBody>
      </p:sp>
      <p:graphicFrame>
        <p:nvGraphicFramePr>
          <p:cNvPr id="17479" name="Group 71"/>
          <p:cNvGraphicFramePr>
            <a:graphicFrameLocks noGrp="1"/>
          </p:cNvGraphicFramePr>
          <p:nvPr>
            <p:ph sz="half" idx="4294967295"/>
          </p:nvPr>
        </p:nvGraphicFramePr>
        <p:xfrm>
          <a:off x="250825" y="1006475"/>
          <a:ext cx="8893175" cy="3833813"/>
        </p:xfrm>
        <a:graphic>
          <a:graphicData uri="http://schemas.openxmlformats.org/drawingml/2006/table">
            <a:tbl>
              <a:tblPr/>
              <a:tblGrid>
                <a:gridCol w="1081088"/>
                <a:gridCol w="1152525"/>
                <a:gridCol w="2016125"/>
                <a:gridCol w="1655762"/>
                <a:gridCol w="2987675"/>
              </a:tblGrid>
              <a:tr h="519042">
                <a:tc grid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分馏产品</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h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分子所含碳原子数</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熔点范围</a:t>
                      </a:r>
                      <a:r>
                        <a:rPr kumimoji="0" lang="en-US" altLang="zh-CN"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endParaRPr kumimoji="0" lang="en-US" altLang="zh-CN"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用途</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51450">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气体</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石油气</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1</a:t>
                      </a:r>
                      <a:r>
                        <a:rPr kumimoji="0" lang="zh-CN" altLang="en-US"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&gt;35</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化工原料</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34519">
                <a:tc rowSpan="4">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轻油</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溶剂油</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5</a:t>
                      </a:r>
                      <a:r>
                        <a:rPr kumimoji="0" lang="zh-CN" altLang="en-US"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30</a:t>
                      </a:r>
                      <a:r>
                        <a:rPr kumimoji="0" lang="zh-CN" altLang="en-US"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180</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在油脂、橡胶、油漆生产中作溶剂</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11901">
                <a:tc v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汽油</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6</a:t>
                      </a:r>
                      <a:r>
                        <a:rPr kumimoji="0" lang="zh-CN" altLang="en-US"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10</a:t>
                      </a:r>
                      <a:endPar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&lt;220</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飞机、汽车及各种汽油机燃料</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11901">
                <a:tc v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煤油</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10</a:t>
                      </a:r>
                      <a:r>
                        <a:rPr kumimoji="0" lang="zh-CN" altLang="en-US"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16</a:t>
                      </a:r>
                      <a:endPar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180</a:t>
                      </a:r>
                      <a:r>
                        <a:rPr kumimoji="0" lang="zh-CN" altLang="en-US"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280</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液体燃料、工业洗涤剂</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34519">
                <a:tc v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柴油</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17</a:t>
                      </a:r>
                      <a:r>
                        <a:rPr kumimoji="0" lang="zh-CN" altLang="en-US"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18</a:t>
                      </a:r>
                      <a:endPar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280</a:t>
                      </a:r>
                      <a:r>
                        <a:rPr kumimoji="0" lang="zh-CN" altLang="en-US"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350</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重型汽车、军舰、轮船、坦克、拖拉机等各种柴油机燃料</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434519">
                <a:tc rowSpan="5">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重油</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9525"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润滑油</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2">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18</a:t>
                      </a:r>
                      <a:r>
                        <a:rPr kumimoji="0" lang="zh-CN" altLang="en-US"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30</a:t>
                      </a:r>
                      <a:endPar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4">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350</a:t>
                      </a:r>
                      <a:r>
                        <a:rPr kumimoji="0" lang="zh-CN" altLang="en-US"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500</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机械、纺织等工业用的各种润滑剂</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9525"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51450">
                <a:tc v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凡士林</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vMerge="1">
                  <a:tcPr/>
                </a:tc>
                <a:tc v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防锈剂、化妆品</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11901">
                <a:tc v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石蜡</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20</a:t>
                      </a:r>
                      <a:r>
                        <a:rPr kumimoji="0" lang="zh-CN" altLang="en-US"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30</a:t>
                      </a:r>
                      <a:endPar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v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制蜡纸、绝缘材料、肥皂</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311901">
                <a:tc v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沥青</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30</a:t>
                      </a:r>
                      <a:r>
                        <a:rPr kumimoji="0" lang="zh-CN" altLang="en-US" sz="12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rPr>
                        <a:t>～</a:t>
                      </a: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40</a:t>
                      </a:r>
                      <a:endPar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v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铺路、建筑材料、防腐材料</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r h="260712">
                <a:tc vMerge="1">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石油焦</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&gt; C</a:t>
                      </a:r>
                      <a:r>
                        <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rPr>
                        <a:t>40</a:t>
                      </a:r>
                      <a:endParaRPr kumimoji="0" lang="en-US" altLang="zh-CN" sz="1200" b="1" i="0" u="none" strike="noStrike" cap="none" normalizeH="0" baseline="-3000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&gt;500</a:t>
                      </a:r>
                      <a:endPar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制电极、生产</a:t>
                      </a:r>
                      <a:r>
                        <a:rPr kumimoji="0" lang="en-US" altLang="zh-CN"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SiC</a:t>
                      </a:r>
                      <a:r>
                        <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等</a:t>
                      </a:r>
                      <a:endParaRPr kumimoji="0" lang="zh-CN" altLang="en-US" sz="1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T="34285" marB="34285"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矩形 163843"/>
          <p:cNvSpPr/>
          <p:nvPr/>
        </p:nvSpPr>
        <p:spPr>
          <a:xfrm>
            <a:off x="684213" y="139700"/>
            <a:ext cx="7777162" cy="4311650"/>
          </a:xfrm>
          <a:prstGeom prst="rect">
            <a:avLst/>
          </a:prstGeom>
          <a:noFill/>
          <a:ln w="9525">
            <a:noFill/>
          </a:ln>
        </p:spPr>
        <p:txBody>
          <a:bodyPr anchor="ctr" anchorCtr="0">
            <a:spAutoFit/>
          </a:bodyPr>
          <a:p>
            <a:pPr>
              <a:lnSpc>
                <a:spcPct val="140000"/>
              </a:lnSpc>
            </a:pPr>
            <a:r>
              <a:rPr lang="en-US" altLang="zh-CN" b="1" dirty="0">
                <a:latin typeface="宋体" panose="02010600030101010101" pitchFamily="2" charset="-122"/>
              </a:rPr>
              <a:t>(</a:t>
            </a:r>
            <a:r>
              <a:rPr lang="en-US" altLang="zh-CN" b="1" dirty="0">
                <a:latin typeface="Times New Roman" panose="02020603050405020304" pitchFamily="18" charset="0"/>
              </a:rPr>
              <a:t>2</a:t>
            </a:r>
            <a:r>
              <a:rPr lang="en-US" altLang="zh-CN" b="1" dirty="0">
                <a:latin typeface="宋体" panose="02010600030101010101" pitchFamily="2" charset="-122"/>
              </a:rPr>
              <a:t>)</a:t>
            </a:r>
            <a:r>
              <a:rPr lang="zh-CN" altLang="en-US" b="1" dirty="0">
                <a:latin typeface="Times New Roman" panose="02020603050405020304" pitchFamily="18" charset="0"/>
              </a:rPr>
              <a:t>石油的裂化 </a:t>
            </a:r>
            <a:endParaRPr lang="zh-CN" altLang="en-US" b="1" dirty="0">
              <a:latin typeface="Times New Roman" panose="02020603050405020304" pitchFamily="18" charset="0"/>
            </a:endParaRPr>
          </a:p>
          <a:p>
            <a:pPr>
              <a:lnSpc>
                <a:spcPct val="140000"/>
              </a:lnSpc>
            </a:pPr>
            <a:r>
              <a:rPr lang="zh-CN" altLang="en-US" b="1" dirty="0">
                <a:latin typeface="Times New Roman" panose="02020603050405020304" pitchFamily="18" charset="0"/>
              </a:rPr>
              <a:t>裂化是在高温和隔绝空气加强热的条件下使碳链较长的重质油发生分解而成为碳原子数较少的轻质油的过程。裂化分成热裂化和催化裂化两种。 </a:t>
            </a:r>
            <a:endParaRPr lang="zh-CN" altLang="en-US" b="1" dirty="0">
              <a:latin typeface="Times New Roman" panose="02020603050405020304" pitchFamily="18" charset="0"/>
            </a:endParaRPr>
          </a:p>
          <a:p>
            <a:pPr>
              <a:lnSpc>
                <a:spcPct val="140000"/>
              </a:lnSpc>
            </a:pPr>
            <a:r>
              <a:rPr lang="en-US" altLang="zh-CN" b="1" dirty="0">
                <a:latin typeface="Times New Roman" panose="02020603050405020304" pitchFamily="18" charset="0"/>
              </a:rPr>
              <a:t>(3)</a:t>
            </a:r>
            <a:r>
              <a:rPr lang="zh-CN" altLang="en-US" b="1" dirty="0">
                <a:latin typeface="Times New Roman" panose="02020603050405020304" pitchFamily="18" charset="0"/>
              </a:rPr>
              <a:t>催化重整 </a:t>
            </a:r>
            <a:endParaRPr lang="zh-CN" altLang="en-US" b="1" dirty="0">
              <a:latin typeface="Times New Roman" panose="02020603050405020304" pitchFamily="18" charset="0"/>
            </a:endParaRPr>
          </a:p>
          <a:p>
            <a:pPr>
              <a:lnSpc>
                <a:spcPct val="140000"/>
              </a:lnSpc>
            </a:pPr>
            <a:r>
              <a:rPr lang="zh-CN" altLang="en-US" b="1" dirty="0">
                <a:latin typeface="Times New Roman" panose="02020603050405020304" pitchFamily="18" charset="0"/>
              </a:rPr>
              <a:t>将汽油通过催化剂，在一定的温度和压力下进行结构的重新调整，其直链烃转化为带支链的异构体。这样的过程称催化重整。</a:t>
            </a:r>
            <a:r>
              <a:rPr lang="zh-CN" altLang="en-US" sz="2800" b="1" dirty="0">
                <a:latin typeface="Times New Roman" panose="02020603050405020304" pitchFamily="18" charset="0"/>
              </a:rPr>
              <a:t> </a:t>
            </a:r>
            <a:endParaRPr lang="zh-CN" altLang="en-US" sz="2800" b="1" dirty="0">
              <a:latin typeface="Times New Roman" panose="02020603050405020304" pitchFamily="18" charset="0"/>
            </a:endParaRPr>
          </a:p>
        </p:txBody>
      </p:sp>
    </p:spTree>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文本占位符 164866"/>
          <p:cNvSpPr>
            <a:spLocks noGrp="1"/>
          </p:cNvSpPr>
          <p:nvPr>
            <p:ph idx="1"/>
          </p:nvPr>
        </p:nvSpPr>
        <p:spPr>
          <a:xfrm>
            <a:off x="457200" y="1200150"/>
            <a:ext cx="8229600" cy="3394075"/>
          </a:xfrm>
          <a:noFill/>
          <a:ln>
            <a:noFill/>
          </a:ln>
        </p:spPr>
        <p:txBody>
          <a:bodyPr/>
          <a:p>
            <a:r>
              <a:rPr lang="zh-CN" altLang="en-US" sz="2400" b="1" dirty="0">
                <a:latin typeface="宋体" panose="02010600030101010101" pitchFamily="2" charset="-122"/>
                <a:ea typeface="宋体" panose="02010600030101010101" pitchFamily="2" charset="-122"/>
              </a:rPr>
              <a:t>天然气的主要成分是甲烷，其含量可达</a:t>
            </a:r>
            <a:r>
              <a:rPr lang="en-US" altLang="zh-CN" sz="2400" b="1" dirty="0">
                <a:latin typeface="宋体" panose="02010600030101010101" pitchFamily="2" charset="-122"/>
                <a:ea typeface="宋体" panose="02010600030101010101" pitchFamily="2" charset="-122"/>
              </a:rPr>
              <a:t>80%</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90%</a:t>
            </a:r>
            <a:r>
              <a:rPr lang="zh-CN" altLang="en-US" sz="2400" b="1" dirty="0">
                <a:latin typeface="宋体" panose="02010600030101010101" pitchFamily="2" charset="-122"/>
                <a:ea typeface="宋体" panose="02010600030101010101" pitchFamily="2" charset="-122"/>
              </a:rPr>
              <a:t>，另外还含有少量的乙烷和丙烷。 </a:t>
            </a:r>
            <a:endParaRPr lang="zh-CN" altLang="en-US" sz="2400" b="1" dirty="0">
              <a:latin typeface="宋体" panose="02010600030101010101" pitchFamily="2" charset="-122"/>
              <a:ea typeface="宋体" panose="02010600030101010101" pitchFamily="2" charset="-122"/>
            </a:endParaRPr>
          </a:p>
          <a:p>
            <a:r>
              <a:rPr lang="zh-CN" altLang="en-US" sz="2400" b="1" dirty="0">
                <a:latin typeface="宋体" panose="02010600030101010101" pitchFamily="2" charset="-122"/>
                <a:ea typeface="宋体" panose="02010600030101010101" pitchFamily="2" charset="-122"/>
              </a:rPr>
              <a:t>天然气除了用作燃料外．也是制造炭黑、合成氨、甲醇等化工产品的重要原料。</a:t>
            </a:r>
            <a:r>
              <a:rPr lang="zh-CN" altLang="en-US" sz="2800" b="1" dirty="0">
                <a:latin typeface="宋体" panose="02010600030101010101" pitchFamily="2" charset="-122"/>
                <a:ea typeface="宋体" panose="02010600030101010101" pitchFamily="2" charset="-122"/>
              </a:rPr>
              <a:t> </a:t>
            </a:r>
            <a:endParaRPr lang="zh-CN" altLang="en-US" sz="2800" b="1" dirty="0">
              <a:latin typeface="宋体" panose="02010600030101010101" pitchFamily="2" charset="-122"/>
              <a:ea typeface="宋体" panose="02010600030101010101" pitchFamily="2" charset="-122"/>
            </a:endParaRPr>
          </a:p>
        </p:txBody>
      </p:sp>
      <p:sp>
        <p:nvSpPr>
          <p:cNvPr id="19458" name="Rectangle 3"/>
          <p:cNvSpPr>
            <a:spLocks noChangeArrowheads="1"/>
          </p:cNvSpPr>
          <p:nvPr/>
        </p:nvSpPr>
        <p:spPr bwMode="auto">
          <a:xfrm>
            <a:off x="3175" y="411163"/>
            <a:ext cx="3344863" cy="585788"/>
          </a:xfrm>
          <a:prstGeom prst="rect">
            <a:avLst/>
          </a:prstGeom>
          <a:solidFill>
            <a:srgbClr val="FFCC00"/>
          </a:solidFill>
          <a:ln w="19050">
            <a:solidFill>
              <a:srgbClr val="0000FF"/>
            </a:solidFill>
            <a:miter lim="800000"/>
          </a:ln>
        </p:spPr>
        <p:txBody>
          <a:bodyPr>
            <a:spAutoFit/>
          </a:body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defRPr/>
            </a:pPr>
            <a:r>
              <a:rPr kumimoji="0" lang="en-US" altLang="zh-CN" sz="2800" b="1" i="0" u="none" strike="noStrike" kern="1200" cap="none" spc="0" normalizeH="0" baseline="0" noProof="0">
                <a:ln>
                  <a:noFill/>
                </a:ln>
                <a:solidFill>
                  <a:schemeClr val="tx2"/>
                </a:solidFill>
                <a:effectLst/>
                <a:uLnTx/>
                <a:uFillTx/>
                <a:latin typeface="楷体_GB2312" panose="02010609030101010101" pitchFamily="49" charset="-122"/>
                <a:ea typeface="楷体_GB2312" panose="02010609030101010101" pitchFamily="49" charset="-122"/>
                <a:cs typeface="+mn-cs"/>
              </a:rPr>
              <a:t>  </a:t>
            </a:r>
            <a:r>
              <a:rPr kumimoji="0" lang="en-US" altLang="zh-CN" sz="32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7.1.3 </a:t>
            </a:r>
            <a:r>
              <a:rPr kumimoji="0" lang="zh-CN" altLang="en-US" sz="3200" b="1" i="0" u="none" strike="noStrike" kern="1200" cap="none" spc="0" normalizeH="0" baseline="0" noProof="0">
                <a:ln>
                  <a:noFill/>
                </a:ln>
                <a:solidFill>
                  <a:schemeClr val="tx1"/>
                </a:solidFill>
                <a:effectLst>
                  <a:outerShdw blurRad="38100" dist="38100" dir="2700000" algn="tl">
                    <a:srgbClr val="FFFFFF"/>
                  </a:outerShdw>
                </a:effectLst>
                <a:uLnTx/>
                <a:uFillTx/>
                <a:latin typeface="Times New Roman" panose="02020603050405020304" pitchFamily="18" charset="0"/>
                <a:ea typeface="宋体" panose="02010600030101010101" pitchFamily="2" charset="-122"/>
                <a:cs typeface="+mn-cs"/>
              </a:rPr>
              <a:t>天然气</a:t>
            </a:r>
            <a:endParaRPr kumimoji="0" lang="zh-CN" altLang="en-US" sz="3200" b="1" i="0" u="none" strike="noStrike" kern="1200" cap="none" spc="0" normalizeH="0" baseline="0" noProof="0">
              <a:ln>
                <a:noFill/>
              </a:ln>
              <a:solidFill>
                <a:schemeClr val="tx2"/>
              </a:solidFill>
              <a:effectLst>
                <a:outerShdw blurRad="38100" dist="38100" dir="2700000" algn="tl">
                  <a:srgbClr val="FFFFFF"/>
                </a:outerShdw>
              </a:effectLst>
              <a:uLnTx/>
              <a:uFillTx/>
              <a:latin typeface="楷体_GB2312" panose="02010609030101010101" pitchFamily="49" charset="-122"/>
              <a:ea typeface="楷体_GB2312" panose="02010609030101010101" pitchFamily="49" charset="-122"/>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19458"/>
                                        </p:tgtEl>
                                        <p:attrNameLst>
                                          <p:attrName>style.visibility</p:attrName>
                                        </p:attrNameLst>
                                      </p:cBhvr>
                                      <p:to>
                                        <p:strVal val="visible"/>
                                      </p:to>
                                    </p:set>
                                    <p:anim calcmode="lin" valueType="num">
                                      <p:cBhvr>
                                        <p:cTn id="7" dur="500" fill="hold"/>
                                        <p:tgtEl>
                                          <p:spTgt spid="19458"/>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19458"/>
                                        </p:tgtEl>
                                        <p:attrNameLst>
                                          <p:attrName>ppt_y</p:attrName>
                                        </p:attrNameLst>
                                      </p:cBhvr>
                                      <p:tavLst>
                                        <p:tav tm="0">
                                          <p:val>
                                            <p:strVal val="#ppt_y"/>
                                          </p:val>
                                        </p:tav>
                                        <p:tav tm="100000">
                                          <p:val>
                                            <p:strVal val="#ppt_y"/>
                                          </p:val>
                                        </p:tav>
                                      </p:tavLst>
                                    </p:anim>
                                    <p:anim calcmode="lin" valueType="num">
                                      <p:cBhvr>
                                        <p:cTn id="9" dur="500" fill="hold"/>
                                        <p:tgtEl>
                                          <p:spTgt spid="19458"/>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19458"/>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194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9" name="文本框 18438"/>
          <p:cNvSpPr txBox="1"/>
          <p:nvPr/>
        </p:nvSpPr>
        <p:spPr>
          <a:xfrm>
            <a:off x="144463" y="1589088"/>
            <a:ext cx="7467600" cy="769937"/>
          </a:xfrm>
          <a:prstGeom prst="rect">
            <a:avLst/>
          </a:prstGeom>
          <a:noFill/>
          <a:ln w="9525">
            <a:noFill/>
          </a:ln>
        </p:spPr>
        <p:txBody>
          <a:bodyPr>
            <a:spAutoFit/>
          </a:bodyPr>
          <a:p>
            <a:pPr lvl="2" algn="just" eaLnBrk="1" hangingPunct="1">
              <a:spcBef>
                <a:spcPct val="20000"/>
              </a:spcBef>
            </a:pPr>
            <a:r>
              <a:rPr lang="zh-CN" altLang="en-US" sz="2000" b="1" dirty="0">
                <a:latin typeface="Times New Roman" panose="02020603050405020304" pitchFamily="18" charset="0"/>
              </a:rPr>
              <a:t>原子核     质子（</a:t>
            </a:r>
            <a:r>
              <a:rPr lang="en-US" altLang="zh-CN" sz="2000" b="1" dirty="0">
                <a:latin typeface="Times New Roman" panose="02020603050405020304" pitchFamily="18" charset="0"/>
              </a:rPr>
              <a:t>p</a:t>
            </a:r>
            <a:r>
              <a:rPr lang="zh-CN" altLang="en-US" sz="2000" b="1" dirty="0">
                <a:latin typeface="Times New Roman" panose="02020603050405020304" pitchFamily="18" charset="0"/>
              </a:rPr>
              <a:t>）      质子和中子总称为核子</a:t>
            </a:r>
            <a:endParaRPr lang="zh-CN" altLang="en-US" sz="2000" b="1" dirty="0">
              <a:latin typeface="Times New Roman" panose="02020603050405020304" pitchFamily="18" charset="0"/>
            </a:endParaRPr>
          </a:p>
          <a:p>
            <a:pPr lvl="2" algn="just" eaLnBrk="1" hangingPunct="1">
              <a:spcBef>
                <a:spcPct val="20000"/>
              </a:spcBef>
            </a:pPr>
            <a:r>
              <a:rPr lang="zh-CN" altLang="en-US" sz="2000" b="1" dirty="0">
                <a:latin typeface="Times New Roman" panose="02020603050405020304" pitchFamily="18" charset="0"/>
              </a:rPr>
              <a:t>                 中子（</a:t>
            </a:r>
            <a:r>
              <a:rPr lang="en-US" altLang="zh-CN" sz="2000" b="1" dirty="0">
                <a:latin typeface="Times New Roman" panose="02020603050405020304" pitchFamily="18" charset="0"/>
              </a:rPr>
              <a:t>n</a:t>
            </a:r>
            <a:r>
              <a:rPr lang="zh-CN" altLang="en-US" sz="2000" b="1" dirty="0">
                <a:latin typeface="Times New Roman" panose="02020603050405020304" pitchFamily="18" charset="0"/>
              </a:rPr>
              <a:t>）</a:t>
            </a:r>
            <a:endParaRPr lang="zh-CN" altLang="en-US" sz="2000" b="1" dirty="0">
              <a:latin typeface="Times New Roman" panose="02020603050405020304" pitchFamily="18" charset="0"/>
            </a:endParaRPr>
          </a:p>
        </p:txBody>
      </p:sp>
      <p:sp>
        <p:nvSpPr>
          <p:cNvPr id="18440" name="文本框 18439"/>
          <p:cNvSpPr txBox="1"/>
          <p:nvPr/>
        </p:nvSpPr>
        <p:spPr>
          <a:xfrm>
            <a:off x="506413" y="2346325"/>
            <a:ext cx="7696200" cy="2062163"/>
          </a:xfrm>
          <a:prstGeom prst="rect">
            <a:avLst/>
          </a:prstGeom>
          <a:noFill/>
          <a:ln w="9525">
            <a:noFill/>
          </a:ln>
        </p:spPr>
        <p:txBody>
          <a:bodyPr>
            <a:spAutoFit/>
          </a:bodyPr>
          <a:p>
            <a:pPr lvl="2" algn="just" eaLnBrk="1" hangingPunct="1">
              <a:spcBef>
                <a:spcPct val="20000"/>
              </a:spcBef>
            </a:pPr>
            <a:r>
              <a:rPr lang="zh-CN" altLang="en-US" sz="2000" b="1" dirty="0">
                <a:latin typeface="Times New Roman" panose="02020603050405020304" pitchFamily="18" charset="0"/>
              </a:rPr>
              <a:t>核素（质子数和中子数都相同的一类元素）：</a:t>
            </a:r>
            <a:endParaRPr lang="zh-CN" altLang="en-US" sz="2000" b="1" dirty="0">
              <a:latin typeface="Times New Roman" panose="02020603050405020304" pitchFamily="18" charset="0"/>
            </a:endParaRPr>
          </a:p>
          <a:p>
            <a:pPr lvl="2" algn="just" eaLnBrk="1" hangingPunct="1">
              <a:spcBef>
                <a:spcPct val="20000"/>
              </a:spcBef>
            </a:pPr>
            <a:r>
              <a:rPr lang="en-US" altLang="zh-CN" sz="2000" b="1" baseline="30000" dirty="0">
                <a:latin typeface="Times New Roman" panose="02020603050405020304" pitchFamily="18" charset="0"/>
              </a:rPr>
              <a:t>A</a:t>
            </a:r>
            <a:r>
              <a:rPr lang="en-US" altLang="zh-CN" sz="2000" b="1" baseline="-25000" dirty="0">
                <a:latin typeface="Times New Roman" panose="02020603050405020304" pitchFamily="18" charset="0"/>
              </a:rPr>
              <a:t>Z</a:t>
            </a:r>
            <a:r>
              <a:rPr lang="en-US" altLang="zh-CN" sz="2000" b="1" dirty="0">
                <a:latin typeface="Times New Roman" panose="02020603050405020304" pitchFamily="18" charset="0"/>
              </a:rPr>
              <a:t>X        X——</a:t>
            </a:r>
            <a:r>
              <a:rPr lang="zh-CN" altLang="en-US" sz="2000" b="1" dirty="0">
                <a:latin typeface="Times New Roman" panose="02020603050405020304" pitchFamily="18" charset="0"/>
              </a:rPr>
              <a:t>元素符号</a:t>
            </a:r>
            <a:endParaRPr lang="zh-CN" altLang="en-US" sz="2000" b="1" dirty="0">
              <a:latin typeface="Times New Roman" panose="02020603050405020304" pitchFamily="18" charset="0"/>
            </a:endParaRPr>
          </a:p>
          <a:p>
            <a:pPr lvl="2" algn="just" eaLnBrk="1" hangingPunct="1">
              <a:spcBef>
                <a:spcPct val="20000"/>
              </a:spcBef>
            </a:pPr>
            <a:r>
              <a:rPr lang="zh-CN" altLang="en-US" sz="2000" b="1" dirty="0">
                <a:latin typeface="Times New Roman" panose="02020603050405020304" pitchFamily="18" charset="0"/>
              </a:rPr>
              <a:t>              </a:t>
            </a:r>
            <a:r>
              <a:rPr lang="en-US" altLang="zh-CN" sz="2000" b="1" dirty="0">
                <a:latin typeface="Times New Roman" panose="02020603050405020304" pitchFamily="18" charset="0"/>
              </a:rPr>
              <a:t>Z——</a:t>
            </a:r>
            <a:r>
              <a:rPr lang="zh-CN" altLang="en-US" sz="2000" b="1" dirty="0">
                <a:latin typeface="Times New Roman" panose="02020603050405020304" pitchFamily="18" charset="0"/>
              </a:rPr>
              <a:t>质子数，即原子序数</a:t>
            </a:r>
            <a:endParaRPr lang="zh-CN" altLang="en-US" sz="2000" b="1" dirty="0">
              <a:latin typeface="Times New Roman" panose="02020603050405020304" pitchFamily="18" charset="0"/>
            </a:endParaRPr>
          </a:p>
          <a:p>
            <a:pPr algn="just">
              <a:spcBef>
                <a:spcPct val="20000"/>
              </a:spcBef>
            </a:pPr>
            <a:r>
              <a:rPr lang="zh-CN" altLang="en-US" sz="2000" b="1" dirty="0">
                <a:latin typeface="Times New Roman" panose="02020603050405020304" pitchFamily="18" charset="0"/>
              </a:rPr>
              <a:t>                            </a:t>
            </a:r>
            <a:r>
              <a:rPr lang="en-US" altLang="zh-CN" sz="2000" b="1" dirty="0">
                <a:latin typeface="Times New Roman" panose="02020603050405020304" pitchFamily="18" charset="0"/>
              </a:rPr>
              <a:t>A——</a:t>
            </a:r>
            <a:r>
              <a:rPr lang="zh-CN" altLang="en-US" sz="2000" b="1" dirty="0">
                <a:latin typeface="Times New Roman" panose="02020603050405020304" pitchFamily="18" charset="0"/>
              </a:rPr>
              <a:t>核子总数，称为质量数</a:t>
            </a:r>
            <a:endParaRPr lang="zh-CN" altLang="en-US" sz="2000" b="1" dirty="0">
              <a:latin typeface="Times New Roman" panose="02020603050405020304" pitchFamily="18" charset="0"/>
            </a:endParaRPr>
          </a:p>
          <a:p>
            <a:pPr algn="ctr">
              <a:spcBef>
                <a:spcPct val="50000"/>
              </a:spcBef>
            </a:pPr>
            <a:endParaRPr lang="zh-CN" altLang="en-US" b="1" dirty="0">
              <a:latin typeface="Times New Roman" panose="02020603050405020304" pitchFamily="18" charset="0"/>
            </a:endParaRPr>
          </a:p>
        </p:txBody>
      </p:sp>
      <p:sp>
        <p:nvSpPr>
          <p:cNvPr id="18434" name="标题 18433"/>
          <p:cNvSpPr>
            <a:spLocks noGrp="1"/>
          </p:cNvSpPr>
          <p:nvPr>
            <p:ph type="title"/>
          </p:nvPr>
        </p:nvSpPr>
        <p:spPr>
          <a:xfrm>
            <a:off x="190500" y="684213"/>
            <a:ext cx="3124200" cy="484188"/>
          </a:xfrm>
          <a:solidFill>
            <a:srgbClr val="006600"/>
          </a:solidFill>
        </p:spPr>
        <p:txBody>
          <a:bodyPr vert="horz" wrap="square" lIns="91440" tIns="45720" rIns="91440" bIns="45720" numCol="1" anchor="ctr" anchorCtr="0" compatLnSpc="1"/>
          <a:lstStyle/>
          <a:p>
            <a:pPr marL="0" marR="0" lvl="0" indent="0" algn="just" defTabSz="914400" rtl="0" eaLnBrk="0" fontAlgn="base" latinLnBrk="0" hangingPunct="0">
              <a:lnSpc>
                <a:spcPct val="90000"/>
              </a:lnSpc>
              <a:spcBef>
                <a:spcPct val="0"/>
              </a:spcBef>
              <a:spcAft>
                <a:spcPct val="0"/>
              </a:spcAft>
              <a:buClrTx/>
              <a:buSzTx/>
              <a:buFontTx/>
              <a:buNone/>
              <a:defRPr/>
            </a:pPr>
            <a:r>
              <a:rPr kumimoji="0" lang="en-US" altLang="zh-CN" sz="3200" b="1" i="0" u="none" strike="noStrike" kern="0" cap="none" spc="0" normalizeH="0" baseline="0" noProof="0" smtClean="0">
                <a:ln>
                  <a:noFill/>
                </a:ln>
                <a:solidFill>
                  <a:srgbClr val="FF9900"/>
                </a:solidFill>
                <a:effectLst>
                  <a:outerShdw blurRad="38100" dist="38100" dir="2700000" algn="tl">
                    <a:srgbClr val="000000"/>
                  </a:outerShdw>
                </a:effectLst>
                <a:uLnTx/>
                <a:uFillTx/>
                <a:latin typeface="+mj-lt"/>
                <a:ea typeface="宋体" panose="02010600030101010101" pitchFamily="2" charset="-122"/>
                <a:cs typeface="+mj-cs"/>
              </a:rPr>
              <a:t>7.2.1    </a:t>
            </a:r>
            <a:r>
              <a:rPr kumimoji="0" lang="zh-CN" altLang="en-US" sz="3200" b="1" i="0" u="none" strike="noStrike" kern="0" cap="none" spc="0" normalizeH="0" baseline="0" noProof="0" smtClean="0">
                <a:ln>
                  <a:noFill/>
                </a:ln>
                <a:solidFill>
                  <a:srgbClr val="FF9900"/>
                </a:solidFill>
                <a:effectLst>
                  <a:outerShdw blurRad="38100" dist="38100" dir="2700000" algn="tl">
                    <a:srgbClr val="000000"/>
                  </a:outerShdw>
                </a:effectLst>
                <a:uLnTx/>
                <a:uFillTx/>
                <a:latin typeface="+mj-lt"/>
                <a:ea typeface="宋体" panose="02010600030101010101" pitchFamily="2" charset="-122"/>
                <a:cs typeface="+mj-cs"/>
              </a:rPr>
              <a:t>核能</a:t>
            </a:r>
            <a:endParaRPr kumimoji="0" lang="zh-CN" altLang="en-US" sz="3200" b="1" i="0" u="none" strike="noStrike" kern="0" cap="none" spc="0" normalizeH="0" baseline="0" noProof="0" smtClean="0">
              <a:ln>
                <a:noFill/>
              </a:ln>
              <a:solidFill>
                <a:srgbClr val="FF9900"/>
              </a:solidFill>
              <a:effectLst/>
              <a:uLnTx/>
              <a:uFillTx/>
              <a:latin typeface="+mj-lt"/>
              <a:ea typeface="宋体" panose="02010600030101010101" pitchFamily="2" charset="-122"/>
              <a:cs typeface="+mj-cs"/>
            </a:endParaRPr>
          </a:p>
        </p:txBody>
      </p:sp>
      <p:sp>
        <p:nvSpPr>
          <p:cNvPr id="18435" name="内容占位符 18434"/>
          <p:cNvSpPr>
            <a:spLocks noGrp="1"/>
          </p:cNvSpPr>
          <p:nvPr>
            <p:ph idx="1"/>
          </p:nvPr>
        </p:nvSpPr>
        <p:spPr>
          <a:xfrm>
            <a:off x="250825" y="1058863"/>
            <a:ext cx="5329238" cy="485775"/>
          </a:xfrm>
          <a:noFill/>
          <a:ln>
            <a:noFill/>
          </a:ln>
        </p:spPr>
        <p:txBody>
          <a:bodyPr/>
          <a:p>
            <a:pPr>
              <a:buNone/>
            </a:pPr>
            <a:r>
              <a:rPr lang="en-US" altLang="zh-CN" dirty="0">
                <a:ea typeface="宋体" panose="02010600030101010101" pitchFamily="2" charset="-122"/>
              </a:rPr>
              <a:t> </a:t>
            </a:r>
            <a:r>
              <a:rPr lang="en-US" altLang="zh-CN" dirty="0">
                <a:solidFill>
                  <a:srgbClr val="CC3300"/>
                </a:solidFill>
                <a:latin typeface="隶书" panose="02010509060101010101" pitchFamily="49" charset="-122"/>
                <a:ea typeface="隶书" panose="02010509060101010101" pitchFamily="49" charset="-122"/>
              </a:rPr>
              <a:t>1. </a:t>
            </a:r>
            <a:r>
              <a:rPr lang="zh-CN" altLang="en-US" dirty="0">
                <a:solidFill>
                  <a:srgbClr val="CC3300"/>
                </a:solidFill>
                <a:latin typeface="隶书" panose="02010509060101010101" pitchFamily="49" charset="-122"/>
                <a:ea typeface="隶书" panose="02010509060101010101" pitchFamily="49" charset="-122"/>
              </a:rPr>
              <a:t>原子核的组成和结合能</a:t>
            </a:r>
            <a:endParaRPr lang="zh-CN" altLang="en-US" sz="2400" dirty="0">
              <a:solidFill>
                <a:srgbClr val="CC3300"/>
              </a:solidFill>
              <a:ea typeface="宋体" panose="02010600030101010101" pitchFamily="2" charset="-122"/>
            </a:endParaRPr>
          </a:p>
          <a:p>
            <a:pPr algn="just">
              <a:buNone/>
            </a:pPr>
            <a:endParaRPr lang="zh-CN" altLang="en-US" sz="2400" dirty="0">
              <a:ea typeface="宋体" panose="02010600030101010101" pitchFamily="2" charset="-122"/>
            </a:endParaRPr>
          </a:p>
        </p:txBody>
      </p:sp>
      <p:sp>
        <p:nvSpPr>
          <p:cNvPr id="18436" name="左大括号 18435"/>
          <p:cNvSpPr/>
          <p:nvPr/>
        </p:nvSpPr>
        <p:spPr>
          <a:xfrm>
            <a:off x="2051050" y="1706563"/>
            <a:ext cx="76200" cy="342900"/>
          </a:xfrm>
          <a:prstGeom prst="leftBrace">
            <a:avLst>
              <a:gd name="adj1" fmla="val 50000"/>
              <a:gd name="adj2" fmla="val 50000"/>
            </a:avLst>
          </a:prstGeom>
          <a:noFill/>
          <a:ln w="9525" cap="flat" cmpd="sng">
            <a:solidFill>
              <a:srgbClr val="FF66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37" name="左大括号 18436"/>
          <p:cNvSpPr/>
          <p:nvPr/>
        </p:nvSpPr>
        <p:spPr>
          <a:xfrm>
            <a:off x="2216150" y="2733675"/>
            <a:ext cx="76200" cy="647700"/>
          </a:xfrm>
          <a:prstGeom prst="leftBrace">
            <a:avLst>
              <a:gd name="adj1" fmla="val 83071"/>
              <a:gd name="adj2" fmla="val 50000"/>
            </a:avLst>
          </a:prstGeom>
          <a:noFill/>
          <a:ln w="9525" cap="flat" cmpd="sng">
            <a:solidFill>
              <a:srgbClr val="FF66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18441" name="文本框 18440"/>
          <p:cNvSpPr txBox="1"/>
          <p:nvPr/>
        </p:nvSpPr>
        <p:spPr>
          <a:xfrm>
            <a:off x="811213" y="3473450"/>
            <a:ext cx="7696200" cy="400050"/>
          </a:xfrm>
          <a:prstGeom prst="rect">
            <a:avLst/>
          </a:prstGeom>
          <a:noFill/>
          <a:ln w="9525">
            <a:noFill/>
          </a:ln>
        </p:spPr>
        <p:txBody>
          <a:bodyPr>
            <a:spAutoFit/>
          </a:bodyPr>
          <a:p>
            <a:pPr algn="just">
              <a:spcBef>
                <a:spcPct val="20000"/>
              </a:spcBef>
            </a:pPr>
            <a:r>
              <a:rPr lang="zh-CN" altLang="en-US" sz="2000" b="1" dirty="0">
                <a:latin typeface="Times New Roman" panose="02020603050405020304" pitchFamily="18" charset="0"/>
              </a:rPr>
              <a:t>质量数（</a:t>
            </a:r>
            <a:r>
              <a:rPr lang="en-US" altLang="zh-CN" sz="2000" b="1" dirty="0">
                <a:latin typeface="Times New Roman" panose="02020603050405020304" pitchFamily="18" charset="0"/>
              </a:rPr>
              <a:t>A</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质子数（</a:t>
            </a:r>
            <a:r>
              <a:rPr lang="en-US" altLang="zh-CN" sz="2000" b="1" dirty="0">
                <a:latin typeface="Times New Roman" panose="02020603050405020304" pitchFamily="18" charset="0"/>
              </a:rPr>
              <a:t>Z</a:t>
            </a:r>
            <a:r>
              <a:rPr lang="zh-CN" altLang="en-US" sz="2000" b="1" dirty="0">
                <a:latin typeface="Times New Roman" panose="02020603050405020304" pitchFamily="18" charset="0"/>
              </a:rPr>
              <a:t>）</a:t>
            </a:r>
            <a:r>
              <a:rPr lang="en-US" altLang="zh-CN" sz="2000" b="1" dirty="0">
                <a:latin typeface="Times New Roman" panose="02020603050405020304" pitchFamily="18" charset="0"/>
              </a:rPr>
              <a:t>+ </a:t>
            </a:r>
            <a:r>
              <a:rPr lang="zh-CN" altLang="en-US" sz="2000" b="1" dirty="0">
                <a:latin typeface="Times New Roman" panose="02020603050405020304" pitchFamily="18" charset="0"/>
              </a:rPr>
              <a:t>中子数（</a:t>
            </a:r>
            <a:r>
              <a:rPr lang="en-US" altLang="zh-CN" sz="2000" b="1" dirty="0">
                <a:latin typeface="Times New Roman" panose="02020603050405020304" pitchFamily="18" charset="0"/>
              </a:rPr>
              <a:t>n</a:t>
            </a:r>
            <a:r>
              <a:rPr lang="zh-CN" altLang="en-US" sz="2000" b="1" dirty="0">
                <a:latin typeface="Times New Roman" panose="02020603050405020304" pitchFamily="18" charset="0"/>
              </a:rPr>
              <a:t>）</a:t>
            </a:r>
            <a:endParaRPr lang="zh-CN" altLang="en-US" sz="2000" b="1" dirty="0">
              <a:latin typeface="Times New Roman" panose="02020603050405020304" pitchFamily="18" charset="0"/>
            </a:endParaRPr>
          </a:p>
        </p:txBody>
      </p:sp>
      <p:sp>
        <p:nvSpPr>
          <p:cNvPr id="18442" name="文本框 18441"/>
          <p:cNvSpPr txBox="1"/>
          <p:nvPr/>
        </p:nvSpPr>
        <p:spPr>
          <a:xfrm>
            <a:off x="152400" y="3868738"/>
            <a:ext cx="7696200" cy="400050"/>
          </a:xfrm>
          <a:prstGeom prst="rect">
            <a:avLst/>
          </a:prstGeom>
          <a:noFill/>
          <a:ln w="9525">
            <a:noFill/>
          </a:ln>
        </p:spPr>
        <p:txBody>
          <a:bodyPr>
            <a:spAutoFit/>
          </a:bodyPr>
          <a:p>
            <a:pPr>
              <a:spcBef>
                <a:spcPct val="50000"/>
              </a:spcBef>
            </a:pPr>
            <a:r>
              <a:rPr lang="zh-CN" altLang="en-US" sz="2000" b="1" dirty="0">
                <a:latin typeface="Times New Roman" panose="02020603050405020304" pitchFamily="18" charset="0"/>
              </a:rPr>
              <a:t>同位数</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质子数相同而中子数不同的核素互为同位数</a:t>
            </a:r>
            <a:endParaRPr lang="zh-CN" altLang="en-US" sz="2000" b="1" dirty="0">
              <a:latin typeface="Times New Roman" panose="02020603050405020304" pitchFamily="18" charset="0"/>
            </a:endParaRPr>
          </a:p>
        </p:txBody>
      </p:sp>
      <p:sp>
        <p:nvSpPr>
          <p:cNvPr id="7170" name="Rectangle 2"/>
          <p:cNvSpPr>
            <a:spLocks noChangeArrowheads="1"/>
          </p:cNvSpPr>
          <p:nvPr/>
        </p:nvSpPr>
        <p:spPr bwMode="auto">
          <a:xfrm>
            <a:off x="87313" y="70247"/>
            <a:ext cx="9144000" cy="540544"/>
          </a:xfrm>
          <a:prstGeom prst="rect">
            <a:avLst/>
          </a:prstGeom>
          <a:gradFill rotWithShape="1">
            <a:gsLst>
              <a:gs pos="0">
                <a:srgbClr val="0000FF">
                  <a:gamma/>
                  <a:shade val="46275"/>
                  <a:invGamma/>
                </a:srgbClr>
              </a:gs>
              <a:gs pos="50000">
                <a:srgbClr val="0000FF">
                  <a:alpha val="98999"/>
                </a:srgbClr>
              </a:gs>
              <a:gs pos="100000">
                <a:srgbClr val="0000FF">
                  <a:gamma/>
                  <a:shade val="46275"/>
                  <a:invGamma/>
                </a:srgbClr>
              </a:gs>
            </a:gsLst>
            <a:lin ang="5400000" scaled="1"/>
          </a:gradFill>
          <a:ln w="9525">
            <a:noFill/>
            <a:miter lim="800000"/>
          </a:ln>
        </p:spPr>
        <p:txBody>
          <a:bodyPr anchor="ctr"/>
          <a:lstStyle/>
          <a:p>
            <a:pPr marL="0" marR="0" lvl="0" indent="0" algn="ctr" defTabSz="914400" rtl="0" eaLnBrk="1" fontAlgn="base" latinLnBrk="0" hangingPunct="1">
              <a:lnSpc>
                <a:spcPct val="115000"/>
              </a:lnSpc>
              <a:spcBef>
                <a:spcPct val="0"/>
              </a:spcBef>
              <a:spcAft>
                <a:spcPct val="0"/>
              </a:spcAft>
              <a:buClrTx/>
              <a:buSzTx/>
              <a:buFont typeface="Arial" panose="020B0604020202020204" pitchFamily="34" charset="0"/>
              <a:buNone/>
              <a:defRPr/>
            </a:pPr>
            <a:r>
              <a:rPr kumimoji="0" lang="en-US" altLang="zh-CN" sz="3600" b="1" i="0" u="none" strike="noStrike" kern="1200" cap="none" spc="0" normalizeH="0" baseline="0" noProof="0">
                <a:ln>
                  <a:noFill/>
                </a:ln>
                <a:solidFill>
                  <a:schemeClr val="bg1"/>
                </a:solidFill>
                <a:effectLst/>
                <a:uLnTx/>
                <a:uFillTx/>
                <a:latin typeface="楷体_GB2312" panose="02010609030101010101" pitchFamily="49" charset="-122"/>
                <a:ea typeface="楷体_GB2312" panose="02010609030101010101" pitchFamily="49" charset="-122"/>
                <a:cs typeface="+mn-cs"/>
              </a:rPr>
              <a:t>§7</a:t>
            </a:r>
            <a:r>
              <a:rPr kumimoji="0" lang="en-US" altLang="zh-CN" sz="3600" b="1" i="0" u="none" strike="noStrike" kern="1200" cap="none" spc="0" normalizeH="0" baseline="0" noProof="0">
                <a:ln>
                  <a:noFill/>
                </a:ln>
                <a:solidFill>
                  <a:schemeClr val="bg1"/>
                </a:solidFill>
                <a:effectLst/>
                <a:uLnTx/>
                <a:uFillTx/>
                <a:latin typeface="Times New Roman" panose="02020603050405020304" pitchFamily="18" charset="0"/>
                <a:ea typeface="楷体_GB2312" panose="02010609030101010101" pitchFamily="49" charset="-122"/>
                <a:cs typeface="+mn-cs"/>
              </a:rPr>
              <a:t>.2</a:t>
            </a:r>
            <a:r>
              <a:rPr kumimoji="0" lang="en-US" altLang="zh-CN" sz="3200" b="1" i="0" u="none" strike="noStrike" kern="1200" cap="none" spc="0" normalizeH="0" baseline="0" noProof="0">
                <a:ln>
                  <a:noFill/>
                </a:ln>
                <a:solidFill>
                  <a:schemeClr val="bg1"/>
                </a:solidFill>
                <a:effectLst/>
                <a:uLnTx/>
                <a:uFillTx/>
                <a:latin typeface="Times New Roman" panose="02020603050405020304" pitchFamily="18" charset="0"/>
                <a:ea typeface="楷体_GB2312" panose="02010609030101010101" pitchFamily="49" charset="-122"/>
                <a:cs typeface="+mn-cs"/>
              </a:rPr>
              <a:t>  </a:t>
            </a:r>
            <a:r>
              <a:rPr kumimoji="0" lang="zh-CN" altLang="en-US" sz="3600" b="1" i="0" u="none" strike="noStrike" kern="1200" cap="none" spc="0" normalizeH="0" baseline="0" noProof="0">
                <a:ln>
                  <a:noFill/>
                </a:ln>
                <a:solidFill>
                  <a:schemeClr val="bg1"/>
                </a:solidFill>
                <a:effectLst/>
                <a:uLnTx/>
                <a:uFillTx/>
                <a:latin typeface="Times New Roman" panose="02020603050405020304" pitchFamily="18" charset="0"/>
                <a:ea typeface="仿宋_GB2312" panose="02010609030101010101" pitchFamily="49" charset="-122"/>
                <a:cs typeface="+mn-cs"/>
              </a:rPr>
              <a:t>新能源</a:t>
            </a:r>
            <a:endParaRPr kumimoji="0" lang="zh-CN" altLang="en-US" sz="3600" b="1" i="0" u="none" strike="noStrike" kern="1200" cap="none" spc="0" normalizeH="0" baseline="0" noProof="0">
              <a:ln>
                <a:noFill/>
              </a:ln>
              <a:solidFill>
                <a:schemeClr val="bg1"/>
              </a:solidFill>
              <a:effectLst/>
              <a:uLnTx/>
              <a:uFillTx/>
              <a:latin typeface="Times New Roman" panose="02020603050405020304" pitchFamily="18" charset="0"/>
              <a:ea typeface="仿宋_GB2312" panose="02010609030101010101" pitchFamily="49" charset="-122"/>
              <a:cs typeface="+mn-cs"/>
            </a:endParaRPr>
          </a:p>
        </p:txBody>
      </p:sp>
      <p:pic>
        <p:nvPicPr>
          <p:cNvPr id="18445" name="Picture 14"/>
          <p:cNvPicPr>
            <a:picLocks noChangeAspect="1"/>
          </p:cNvPicPr>
          <p:nvPr/>
        </p:nvPicPr>
        <p:blipFill>
          <a:blip r:embed="rId1"/>
          <a:stretch>
            <a:fillRect/>
          </a:stretch>
        </p:blipFill>
        <p:spPr>
          <a:xfrm>
            <a:off x="6638925" y="611188"/>
            <a:ext cx="2430463" cy="4445000"/>
          </a:xfrm>
          <a:prstGeom prst="rect">
            <a:avLst/>
          </a:prstGeom>
          <a:noFill/>
          <a:ln w="9525">
            <a:noFill/>
          </a:ln>
        </p:spPr>
      </p:pic>
      <p:sp>
        <p:nvSpPr>
          <p:cNvPr id="13" name="Text Box 6"/>
          <p:cNvSpPr txBox="1"/>
          <p:nvPr/>
        </p:nvSpPr>
        <p:spPr>
          <a:xfrm>
            <a:off x="1116013" y="4241800"/>
            <a:ext cx="5726112" cy="862013"/>
          </a:xfrm>
          <a:prstGeom prst="rect">
            <a:avLst/>
          </a:prstGeom>
          <a:solidFill>
            <a:srgbClr val="66FFCC"/>
          </a:solidFill>
          <a:ln w="9525">
            <a:noFill/>
          </a:ln>
        </p:spPr>
        <p:txBody>
          <a:bodyPr>
            <a:spAutoFit/>
          </a:bodyPr>
          <a:p>
            <a:pPr lvl="2" algn="just" eaLnBrk="1" hangingPunct="1"/>
            <a:r>
              <a:rPr lang="zh-CN" altLang="en-US" sz="1600" b="1" dirty="0">
                <a:solidFill>
                  <a:srgbClr val="0000CC"/>
                </a:solidFill>
                <a:latin typeface="Times New Roman" panose="02020603050405020304" pitchFamily="18" charset="0"/>
              </a:rPr>
              <a:t>例： </a:t>
            </a:r>
            <a:r>
              <a:rPr lang="en-US" altLang="zh-CN" sz="1600" b="1" baseline="30000" dirty="0">
                <a:solidFill>
                  <a:srgbClr val="0000CC"/>
                </a:solidFill>
                <a:latin typeface="Times New Roman" panose="02020603050405020304" pitchFamily="18" charset="0"/>
              </a:rPr>
              <a:t>235</a:t>
            </a:r>
            <a:r>
              <a:rPr lang="en-US" altLang="zh-CN" sz="1600" b="1" baseline="-25000" dirty="0">
                <a:solidFill>
                  <a:srgbClr val="0000CC"/>
                </a:solidFill>
                <a:latin typeface="Times New Roman" panose="02020603050405020304" pitchFamily="18" charset="0"/>
              </a:rPr>
              <a:t>92</a:t>
            </a:r>
            <a:r>
              <a:rPr lang="en-US" altLang="zh-CN" sz="1600" b="1" dirty="0">
                <a:solidFill>
                  <a:srgbClr val="0000CC"/>
                </a:solidFill>
                <a:latin typeface="Times New Roman" panose="02020603050405020304" pitchFamily="18" charset="0"/>
              </a:rPr>
              <a:t>U         A = 235   Z = 92    n = 235-92 =143</a:t>
            </a:r>
            <a:endParaRPr lang="en-US" altLang="zh-CN" sz="1600" b="1" dirty="0">
              <a:solidFill>
                <a:srgbClr val="0000CC"/>
              </a:solidFill>
              <a:latin typeface="Times New Roman" panose="02020603050405020304" pitchFamily="18" charset="0"/>
            </a:endParaRPr>
          </a:p>
          <a:p>
            <a:pPr lvl="2" algn="just" eaLnBrk="1" hangingPunct="1"/>
            <a:r>
              <a:rPr lang="en-US" altLang="zh-CN" sz="1600" b="1" dirty="0">
                <a:solidFill>
                  <a:srgbClr val="0000CC"/>
                </a:solidFill>
                <a:latin typeface="Times New Roman" panose="02020603050405020304" pitchFamily="18" charset="0"/>
              </a:rPr>
              <a:t>        </a:t>
            </a:r>
            <a:r>
              <a:rPr lang="en-US" altLang="zh-CN" sz="1600" b="1" baseline="30000" dirty="0">
                <a:solidFill>
                  <a:srgbClr val="0000CC"/>
                </a:solidFill>
                <a:latin typeface="Times New Roman" panose="02020603050405020304" pitchFamily="18" charset="0"/>
              </a:rPr>
              <a:t>238</a:t>
            </a:r>
            <a:r>
              <a:rPr lang="en-US" altLang="zh-CN" sz="1600" b="1" baseline="-25000" dirty="0">
                <a:solidFill>
                  <a:srgbClr val="0000CC"/>
                </a:solidFill>
                <a:latin typeface="Times New Roman" panose="02020603050405020304" pitchFamily="18" charset="0"/>
              </a:rPr>
              <a:t>92</a:t>
            </a:r>
            <a:r>
              <a:rPr lang="en-US" altLang="zh-CN" sz="1600" b="1" dirty="0">
                <a:solidFill>
                  <a:srgbClr val="0000CC"/>
                </a:solidFill>
                <a:latin typeface="Times New Roman" panose="02020603050405020304" pitchFamily="18" charset="0"/>
              </a:rPr>
              <a:t>U          A = 238   Z = 92    n =238-92 = 14∴   </a:t>
            </a:r>
            <a:r>
              <a:rPr lang="en-US" altLang="zh-CN" sz="1600" b="1" baseline="30000" dirty="0">
                <a:solidFill>
                  <a:srgbClr val="0000CC"/>
                </a:solidFill>
                <a:latin typeface="Times New Roman" panose="02020603050405020304" pitchFamily="18" charset="0"/>
              </a:rPr>
              <a:t>235</a:t>
            </a:r>
            <a:r>
              <a:rPr lang="en-US" altLang="zh-CN" sz="1600" b="1" baseline="-25000" dirty="0">
                <a:solidFill>
                  <a:srgbClr val="0000CC"/>
                </a:solidFill>
                <a:latin typeface="Times New Roman" panose="02020603050405020304" pitchFamily="18" charset="0"/>
              </a:rPr>
              <a:t>92</a:t>
            </a:r>
            <a:r>
              <a:rPr lang="en-US" altLang="zh-CN" sz="1600" b="1" dirty="0">
                <a:solidFill>
                  <a:srgbClr val="0000CC"/>
                </a:solidFill>
                <a:latin typeface="Times New Roman" panose="02020603050405020304" pitchFamily="18" charset="0"/>
              </a:rPr>
              <a:t>U </a:t>
            </a:r>
            <a:r>
              <a:rPr lang="zh-CN" altLang="en-US" sz="1600" b="1" dirty="0">
                <a:solidFill>
                  <a:srgbClr val="0000CC"/>
                </a:solidFill>
                <a:latin typeface="Times New Roman" panose="02020603050405020304" pitchFamily="18" charset="0"/>
              </a:rPr>
              <a:t>和</a:t>
            </a:r>
            <a:r>
              <a:rPr lang="en-US" altLang="zh-CN" sz="1600" b="1" baseline="30000" dirty="0">
                <a:solidFill>
                  <a:srgbClr val="0000CC"/>
                </a:solidFill>
                <a:latin typeface="Times New Roman" panose="02020603050405020304" pitchFamily="18" charset="0"/>
              </a:rPr>
              <a:t>238</a:t>
            </a:r>
            <a:r>
              <a:rPr lang="en-US" altLang="zh-CN" sz="1600" b="1" baseline="-25000" dirty="0">
                <a:solidFill>
                  <a:srgbClr val="0000CC"/>
                </a:solidFill>
                <a:latin typeface="Times New Roman" panose="02020603050405020304" pitchFamily="18" charset="0"/>
              </a:rPr>
              <a:t>92</a:t>
            </a:r>
            <a:r>
              <a:rPr lang="en-US" altLang="zh-CN" sz="1600" b="1" dirty="0">
                <a:solidFill>
                  <a:srgbClr val="0000CC"/>
                </a:solidFill>
                <a:latin typeface="Times New Roman" panose="02020603050405020304" pitchFamily="18" charset="0"/>
              </a:rPr>
              <a:t>U </a:t>
            </a:r>
            <a:r>
              <a:rPr lang="zh-CN" altLang="en-US" sz="1600" b="1" dirty="0">
                <a:solidFill>
                  <a:srgbClr val="0000CC"/>
                </a:solidFill>
                <a:latin typeface="Times New Roman" panose="02020603050405020304" pitchFamily="18" charset="0"/>
              </a:rPr>
              <a:t>是两种不同的核素，且互为同位</a:t>
            </a:r>
            <a:r>
              <a:rPr lang="zh-CN" altLang="en-US" sz="1800" b="1" dirty="0">
                <a:solidFill>
                  <a:srgbClr val="0000CC"/>
                </a:solidFill>
                <a:latin typeface="Times New Roman" panose="02020603050405020304" pitchFamily="18" charset="0"/>
              </a:rPr>
              <a:t>素</a:t>
            </a:r>
            <a:endParaRPr lang="zh-CN" altLang="en-US" sz="1800" b="1" dirty="0">
              <a:solidFill>
                <a:srgbClr val="0000CC"/>
              </a:solidFill>
              <a:latin typeface="Times New Roman" panose="02020603050405020304" pitchFamily="18"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nodeType="clickEffect">
                                  <p:stCondLst>
                                    <p:cond delay="0"/>
                                  </p:stCondLst>
                                  <p:iterate type="lt">
                                    <p:tmPct val="10000"/>
                                  </p:iterate>
                                  <p:childTnLst>
                                    <p:set>
                                      <p:cBhvr>
                                        <p:cTn id="6" dur="1" fill="hold">
                                          <p:stCondLst>
                                            <p:cond delay="0"/>
                                          </p:stCondLst>
                                        </p:cTn>
                                        <p:tgtEl>
                                          <p:spTgt spid="7170"/>
                                        </p:tgtEl>
                                        <p:attrNameLst>
                                          <p:attrName>style.visibility</p:attrName>
                                        </p:attrNameLst>
                                      </p:cBhvr>
                                      <p:to>
                                        <p:strVal val="visible"/>
                                      </p:to>
                                    </p:set>
                                    <p:anim calcmode="lin" valueType="num">
                                      <p:cBhvr>
                                        <p:cTn id="7" dur="500" fill="hold"/>
                                        <p:tgtEl>
                                          <p:spTgt spid="7170"/>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7170"/>
                                        </p:tgtEl>
                                        <p:attrNameLst>
                                          <p:attrName>ppt_y</p:attrName>
                                        </p:attrNameLst>
                                      </p:cBhvr>
                                      <p:tavLst>
                                        <p:tav tm="0">
                                          <p:val>
                                            <p:strVal val="#ppt_y"/>
                                          </p:val>
                                        </p:tav>
                                        <p:tav tm="100000">
                                          <p:val>
                                            <p:strVal val="#ppt_y"/>
                                          </p:val>
                                        </p:tav>
                                      </p:tavLst>
                                    </p:anim>
                                    <p:anim calcmode="lin" valueType="num">
                                      <p:cBhvr>
                                        <p:cTn id="9" dur="500" fill="hold"/>
                                        <p:tgtEl>
                                          <p:spTgt spid="7170"/>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717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7170"/>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18434"/>
                                        </p:tgtEl>
                                        <p:attrNameLst>
                                          <p:attrName>style.visibility</p:attrName>
                                        </p:attrNameLst>
                                      </p:cBhvr>
                                      <p:to>
                                        <p:strVal val="visible"/>
                                      </p:to>
                                    </p:set>
                                    <p:animEffect transition="in" filter="checkerboard(across)">
                                      <p:cBhvr>
                                        <p:cTn id="16" dur="500"/>
                                        <p:tgtEl>
                                          <p:spTgt spid="18434"/>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5" fill="hold" nodeType="clickEffect">
                                  <p:stCondLst>
                                    <p:cond delay="0"/>
                                  </p:stCondLst>
                                  <p:childTnLst>
                                    <p:set>
                                      <p:cBhvr>
                                        <p:cTn id="20" dur="1" fill="hold">
                                          <p:stCondLst>
                                            <p:cond delay="0"/>
                                          </p:stCondLst>
                                        </p:cTn>
                                        <p:tgtEl>
                                          <p:spTgt spid="18435">
                                            <p:txEl>
                                              <p:charRg st="0" end="15"/>
                                            </p:txEl>
                                          </p:spTgt>
                                        </p:tgtEl>
                                        <p:attrNameLst>
                                          <p:attrName>style.visibility</p:attrName>
                                        </p:attrNameLst>
                                      </p:cBhvr>
                                      <p:to>
                                        <p:strVal val="visible"/>
                                      </p:to>
                                    </p:set>
                                    <p:animEffect transition="in" filter="blinds(vertical)">
                                      <p:cBhvr>
                                        <p:cTn id="21" dur="500"/>
                                        <p:tgtEl>
                                          <p:spTgt spid="18435">
                                            <p:txEl>
                                              <p:charRg st="0" end="1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8439"/>
                                        </p:tgtEl>
                                        <p:attrNameLst>
                                          <p:attrName>style.visibility</p:attrName>
                                        </p:attrNameLst>
                                      </p:cBhvr>
                                      <p:to>
                                        <p:strVal val="visible"/>
                                      </p:to>
                                    </p:set>
                                    <p:animEffect transition="in" filter="blinds(horizontal)">
                                      <p:cBhvr>
                                        <p:cTn id="26" dur="500"/>
                                        <p:tgtEl>
                                          <p:spTgt spid="18439"/>
                                        </p:tgtEl>
                                      </p:cBhvr>
                                    </p:animEffect>
                                  </p:childTnLst>
                                </p:cTn>
                              </p:par>
                            </p:childTnLst>
                          </p:cTn>
                        </p:par>
                        <p:par>
                          <p:cTn id="27" fill="hold">
                            <p:stCondLst>
                              <p:cond delay="500"/>
                            </p:stCondLst>
                            <p:childTnLst>
                              <p:par>
                                <p:cTn id="28" presetID="5" presetClass="entr" presetSubtype="5" fill="hold" nodeType="afterEffect">
                                  <p:stCondLst>
                                    <p:cond delay="0"/>
                                  </p:stCondLst>
                                  <p:childTnLst>
                                    <p:set>
                                      <p:cBhvr>
                                        <p:cTn id="29" dur="1" fill="hold">
                                          <p:stCondLst>
                                            <p:cond delay="0"/>
                                          </p:stCondLst>
                                        </p:cTn>
                                        <p:tgtEl>
                                          <p:spTgt spid="18436"/>
                                        </p:tgtEl>
                                        <p:attrNameLst>
                                          <p:attrName>style.visibility</p:attrName>
                                        </p:attrNameLst>
                                      </p:cBhvr>
                                      <p:to>
                                        <p:strVal val="visible"/>
                                      </p:to>
                                    </p:set>
                                    <p:animEffect transition="in" filter="checkerboard(down)">
                                      <p:cBhvr>
                                        <p:cTn id="30" dur="500"/>
                                        <p:tgtEl>
                                          <p:spTgt spid="1843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8440"/>
                                        </p:tgtEl>
                                        <p:attrNameLst>
                                          <p:attrName>style.visibility</p:attrName>
                                        </p:attrNameLst>
                                      </p:cBhvr>
                                      <p:to>
                                        <p:strVal val="visible"/>
                                      </p:to>
                                    </p:set>
                                    <p:animEffect transition="in" filter="blinds(horizontal)">
                                      <p:cBhvr>
                                        <p:cTn id="35" dur="500"/>
                                        <p:tgtEl>
                                          <p:spTgt spid="18440"/>
                                        </p:tgtEl>
                                      </p:cBhvr>
                                    </p:animEffect>
                                  </p:childTnLst>
                                </p:cTn>
                              </p:par>
                            </p:childTnLst>
                          </p:cTn>
                        </p:par>
                        <p:par>
                          <p:cTn id="36" fill="hold">
                            <p:stCondLst>
                              <p:cond delay="500"/>
                            </p:stCondLst>
                            <p:childTnLst>
                              <p:par>
                                <p:cTn id="37" presetID="5" presetClass="entr" presetSubtype="5" fill="hold" nodeType="afterEffect">
                                  <p:stCondLst>
                                    <p:cond delay="0"/>
                                  </p:stCondLst>
                                  <p:childTnLst>
                                    <p:set>
                                      <p:cBhvr>
                                        <p:cTn id="38" dur="1" fill="hold">
                                          <p:stCondLst>
                                            <p:cond delay="0"/>
                                          </p:stCondLst>
                                        </p:cTn>
                                        <p:tgtEl>
                                          <p:spTgt spid="18437"/>
                                        </p:tgtEl>
                                        <p:attrNameLst>
                                          <p:attrName>style.visibility</p:attrName>
                                        </p:attrNameLst>
                                      </p:cBhvr>
                                      <p:to>
                                        <p:strVal val="visible"/>
                                      </p:to>
                                    </p:set>
                                    <p:animEffect transition="in" filter="checkerboard(down)">
                                      <p:cBhvr>
                                        <p:cTn id="39" dur="500"/>
                                        <p:tgtEl>
                                          <p:spTgt spid="18437"/>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18441"/>
                                        </p:tgtEl>
                                        <p:attrNameLst>
                                          <p:attrName>style.visibility</p:attrName>
                                        </p:attrNameLst>
                                      </p:cBhvr>
                                      <p:to>
                                        <p:strVal val="visible"/>
                                      </p:to>
                                    </p:set>
                                    <p:animEffect transition="in" filter="blinds(horizontal)">
                                      <p:cBhvr>
                                        <p:cTn id="44" dur="500"/>
                                        <p:tgtEl>
                                          <p:spTgt spid="18441"/>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8442"/>
                                        </p:tgtEl>
                                        <p:attrNameLst>
                                          <p:attrName>style.visibility</p:attrName>
                                        </p:attrNameLst>
                                      </p:cBhvr>
                                      <p:to>
                                        <p:strVal val="visible"/>
                                      </p:to>
                                    </p:set>
                                    <p:animEffect transition="in" filter="blinds(horizontal)">
                                      <p:cBhvr>
                                        <p:cTn id="49" dur="500"/>
                                        <p:tgtEl>
                                          <p:spTgt spid="18442"/>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32"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box(out)">
                                      <p:cBhvr>
                                        <p:cTn id="5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p:bldP spid="18440" grpId="0"/>
      <p:bldP spid="18434" grpId="0" animBg="1"/>
      <p:bldP spid="18441" grpId="0"/>
      <p:bldP spid="18442" grpId="0"/>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标题 19457"/>
          <p:cNvSpPr>
            <a:spLocks noGrp="1"/>
          </p:cNvSpPr>
          <p:nvPr>
            <p:ph type="title"/>
          </p:nvPr>
        </p:nvSpPr>
        <p:spPr>
          <a:xfrm>
            <a:off x="179388" y="33338"/>
            <a:ext cx="8229600" cy="857250"/>
          </a:xfrm>
          <a:noFill/>
          <a:ln>
            <a:noFill/>
          </a:ln>
        </p:spPr>
        <p:txBody>
          <a:bodyPr anchor="ctr" anchorCtr="0"/>
          <a:p>
            <a:pPr algn="just">
              <a:lnSpc>
                <a:spcPct val="90000"/>
              </a:lnSpc>
            </a:pPr>
            <a:r>
              <a:rPr lang="en-US" altLang="zh-CN" dirty="0">
                <a:solidFill>
                  <a:schemeClr val="tx1"/>
                </a:solidFill>
                <a:ea typeface="宋体" panose="02010600030101010101" pitchFamily="2" charset="-122"/>
              </a:rPr>
              <a:t> </a:t>
            </a:r>
            <a:r>
              <a:rPr lang="zh-CN" altLang="en-US" sz="2400" b="1" dirty="0">
                <a:solidFill>
                  <a:schemeClr val="tx1"/>
                </a:solidFill>
                <a:ea typeface="宋体" panose="02010600030101010101" pitchFamily="2" charset="-122"/>
              </a:rPr>
              <a:t>核引力</a:t>
            </a:r>
            <a:r>
              <a:rPr lang="en-US" altLang="zh-CN" sz="2400" b="1" dirty="0">
                <a:solidFill>
                  <a:schemeClr val="tx1"/>
                </a:solidFill>
                <a:ea typeface="宋体" panose="02010600030101010101" pitchFamily="2" charset="-122"/>
              </a:rPr>
              <a:t>——</a:t>
            </a:r>
            <a:r>
              <a:rPr lang="zh-CN" altLang="en-US" sz="2400" b="1" dirty="0">
                <a:solidFill>
                  <a:schemeClr val="tx1"/>
                </a:solidFill>
                <a:ea typeface="宋体" panose="02010600030101010101" pitchFamily="2" charset="-122"/>
              </a:rPr>
              <a:t>原子核内部核子之间存在的一种很强的结合力</a:t>
            </a:r>
            <a:endParaRPr lang="zh-CN" altLang="en-US" sz="2400" b="1" dirty="0">
              <a:solidFill>
                <a:schemeClr val="tx1"/>
              </a:solidFill>
              <a:ea typeface="宋体" panose="02010600030101010101" pitchFamily="2" charset="-122"/>
            </a:endParaRPr>
          </a:p>
        </p:txBody>
      </p:sp>
      <p:sp>
        <p:nvSpPr>
          <p:cNvPr id="19459" name="内容占位符 19458"/>
          <p:cNvSpPr>
            <a:spLocks noGrp="1"/>
          </p:cNvSpPr>
          <p:nvPr>
            <p:ph idx="1"/>
          </p:nvPr>
        </p:nvSpPr>
        <p:spPr>
          <a:xfrm>
            <a:off x="107950" y="700088"/>
            <a:ext cx="9036050" cy="3394075"/>
          </a:xfrm>
          <a:noFill/>
          <a:ln>
            <a:noFill/>
          </a:ln>
        </p:spPr>
        <p:txBody>
          <a:bodyPr/>
          <a:p>
            <a:pPr algn="just">
              <a:buNone/>
            </a:pPr>
            <a:r>
              <a:rPr lang="zh-CN" altLang="en-US" sz="2400" b="1" dirty="0">
                <a:solidFill>
                  <a:srgbClr val="FF3300"/>
                </a:solidFill>
                <a:latin typeface="Times New Roman" panose="02020603050405020304" pitchFamily="18" charset="0"/>
                <a:ea typeface="宋体" panose="02010600030101010101" pitchFamily="2" charset="-122"/>
              </a:rPr>
              <a:t>原子核的结合能</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若干个核子结合成原子核时所释放的能量</a:t>
            </a:r>
            <a:endParaRPr lang="zh-CN" altLang="en-US" sz="2400" b="1" dirty="0">
              <a:latin typeface="Times New Roman" panose="02020603050405020304" pitchFamily="18" charset="0"/>
              <a:ea typeface="宋体" panose="02010600030101010101" pitchFamily="2" charset="-122"/>
            </a:endParaRPr>
          </a:p>
          <a:p>
            <a:pPr algn="just">
              <a:buNone/>
            </a:pPr>
            <a:r>
              <a:rPr lang="zh-CN" altLang="en-US" sz="2400" b="1" dirty="0">
                <a:latin typeface="Times New Roman" panose="02020603050405020304" pitchFamily="18" charset="0"/>
                <a:ea typeface="宋体" panose="02010600030101010101" pitchFamily="2" charset="-122"/>
              </a:rPr>
              <a:t> 结合能的计算：  质量亏损  </a:t>
            </a:r>
            <a:r>
              <a:rPr lang="en-US" altLang="zh-CN" sz="2400" b="1" dirty="0">
                <a:latin typeface="Times New Roman" panose="02020603050405020304" pitchFamily="18" charset="0"/>
                <a:ea typeface="宋体" panose="02010600030101010101" pitchFamily="2" charset="-122"/>
              </a:rPr>
              <a:t>△m = </a:t>
            </a:r>
            <a:r>
              <a:rPr lang="zh-CN" altLang="en-US" sz="2400" b="1" dirty="0">
                <a:latin typeface="Times New Roman" panose="02020603050405020304" pitchFamily="18" charset="0"/>
                <a:ea typeface="宋体" panose="02010600030101010101" pitchFamily="2" charset="-122"/>
              </a:rPr>
              <a:t>（中子质量</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质子质量）</a:t>
            </a: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核的质量</a:t>
            </a:r>
            <a:endParaRPr lang="zh-CN" altLang="en-US" sz="2400" b="1" dirty="0">
              <a:latin typeface="Times New Roman" panose="02020603050405020304" pitchFamily="18" charset="0"/>
              <a:ea typeface="宋体" panose="02010600030101010101" pitchFamily="2" charset="-122"/>
            </a:endParaRPr>
          </a:p>
          <a:p>
            <a:pPr lvl="2" algn="just">
              <a:buNone/>
            </a:pPr>
            <a:r>
              <a:rPr lang="en-US" altLang="zh-CN" b="1" dirty="0">
                <a:latin typeface="Times New Roman" panose="02020603050405020304" pitchFamily="18" charset="0"/>
                <a:ea typeface="宋体" panose="02010600030101010101" pitchFamily="2" charset="-122"/>
              </a:rPr>
              <a:t>∵       E = m·c</a:t>
            </a:r>
            <a:r>
              <a:rPr lang="en-US" altLang="zh-CN" b="1" baseline="30000" dirty="0">
                <a:latin typeface="Times New Roman" panose="02020603050405020304" pitchFamily="18" charset="0"/>
                <a:ea typeface="宋体" panose="02010600030101010101" pitchFamily="2" charset="-122"/>
              </a:rPr>
              <a:t>2                     </a:t>
            </a:r>
            <a:r>
              <a:rPr lang="en-US" altLang="zh-CN" b="1" dirty="0">
                <a:latin typeface="Times New Roman" panose="02020603050405020304" pitchFamily="18" charset="0"/>
                <a:ea typeface="宋体" panose="02010600030101010101" pitchFamily="2" charset="-122"/>
              </a:rPr>
              <a:t>c</a:t>
            </a:r>
            <a:r>
              <a:rPr lang="zh-CN" altLang="en-US" b="1" dirty="0">
                <a:latin typeface="Times New Roman" panose="02020603050405020304" pitchFamily="18" charset="0"/>
                <a:ea typeface="宋体" panose="02010600030101010101" pitchFamily="2" charset="-122"/>
              </a:rPr>
              <a:t>（光速）</a:t>
            </a:r>
            <a:r>
              <a:rPr lang="en-US" altLang="zh-CN" b="1" dirty="0">
                <a:latin typeface="Times New Roman" panose="02020603050405020304" pitchFamily="18" charset="0"/>
                <a:ea typeface="宋体" panose="02010600030101010101" pitchFamily="2" charset="-122"/>
              </a:rPr>
              <a:t>= 3×10</a:t>
            </a:r>
            <a:r>
              <a:rPr lang="en-US" altLang="zh-CN" b="1" baseline="30000" dirty="0">
                <a:latin typeface="Times New Roman" panose="02020603050405020304" pitchFamily="18" charset="0"/>
                <a:ea typeface="宋体" panose="02010600030101010101" pitchFamily="2" charset="-122"/>
              </a:rPr>
              <a:t>8</a:t>
            </a:r>
            <a:r>
              <a:rPr lang="en-US" altLang="zh-CN" b="1" dirty="0">
                <a:latin typeface="Times New Roman" panose="02020603050405020304" pitchFamily="18" charset="0"/>
                <a:ea typeface="宋体" panose="02010600030101010101" pitchFamily="2" charset="-122"/>
              </a:rPr>
              <a:t> m·s</a:t>
            </a:r>
            <a:r>
              <a:rPr lang="en-US" altLang="zh-CN" b="1" baseline="30000" dirty="0">
                <a:latin typeface="Times New Roman" panose="02020603050405020304" pitchFamily="18" charset="0"/>
                <a:ea typeface="宋体" panose="02010600030101010101" pitchFamily="2" charset="-122"/>
              </a:rPr>
              <a:t>-1</a:t>
            </a:r>
            <a:endParaRPr lang="en-US" altLang="zh-CN" b="1" baseline="30000" dirty="0">
              <a:latin typeface="Times New Roman" panose="02020603050405020304" pitchFamily="18" charset="0"/>
              <a:ea typeface="宋体" panose="02010600030101010101" pitchFamily="2" charset="-122"/>
            </a:endParaRPr>
          </a:p>
          <a:p>
            <a:pPr lvl="2" algn="just">
              <a:buNone/>
            </a:pPr>
            <a:r>
              <a:rPr lang="en-US" altLang="zh-CN" b="1" dirty="0">
                <a:latin typeface="Times New Roman" panose="02020603050405020304" pitchFamily="18" charset="0"/>
                <a:ea typeface="宋体" panose="02010600030101010101" pitchFamily="2" charset="-122"/>
              </a:rPr>
              <a:t> ∴  △E = △m·c</a:t>
            </a:r>
            <a:r>
              <a:rPr lang="en-US" altLang="zh-CN" b="1" baseline="30000" dirty="0">
                <a:latin typeface="Times New Roman" panose="02020603050405020304" pitchFamily="18" charset="0"/>
                <a:ea typeface="宋体" panose="02010600030101010101" pitchFamily="2" charset="-122"/>
              </a:rPr>
              <a:t>2</a:t>
            </a:r>
            <a:endParaRPr lang="en-US" altLang="zh-CN" b="1" baseline="30000" dirty="0">
              <a:latin typeface="Times New Roman" panose="02020603050405020304" pitchFamily="18" charset="0"/>
              <a:ea typeface="宋体" panose="02010600030101010101" pitchFamily="2" charset="-122"/>
            </a:endParaRPr>
          </a:p>
          <a:p>
            <a:pPr lvl="2" algn="just">
              <a:buNone/>
            </a:pPr>
            <a:endParaRPr lang="en-US" altLang="zh-CN" b="1" dirty="0">
              <a:latin typeface="Times New Roman" panose="02020603050405020304" pitchFamily="18" charset="0"/>
              <a:ea typeface="宋体" panose="02010600030101010101" pitchFamily="2" charset="-122"/>
            </a:endParaRPr>
          </a:p>
          <a:p>
            <a:pPr algn="just">
              <a:buNone/>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例：计算</a:t>
            </a:r>
            <a:r>
              <a:rPr lang="en-US" altLang="zh-CN" sz="2400" b="1" dirty="0">
                <a:latin typeface="Times New Roman" panose="02020603050405020304" pitchFamily="18" charset="0"/>
                <a:ea typeface="宋体" panose="02010600030101010101" pitchFamily="2" charset="-122"/>
              </a:rPr>
              <a:t>1mol</a:t>
            </a:r>
            <a:r>
              <a:rPr lang="zh-CN" altLang="en-US" sz="2400" b="1" dirty="0">
                <a:latin typeface="Times New Roman" panose="02020603050405020304" pitchFamily="18" charset="0"/>
                <a:ea typeface="宋体" panose="02010600030101010101" pitchFamily="2" charset="-122"/>
              </a:rPr>
              <a:t>质子和</a:t>
            </a:r>
            <a:r>
              <a:rPr lang="en-US" altLang="zh-CN" sz="2400" b="1" dirty="0">
                <a:latin typeface="Times New Roman" panose="02020603050405020304" pitchFamily="18" charset="0"/>
                <a:ea typeface="宋体" panose="02010600030101010101" pitchFamily="2" charset="-122"/>
              </a:rPr>
              <a:t>1mol</a:t>
            </a:r>
            <a:r>
              <a:rPr lang="zh-CN" altLang="en-US" sz="2400" b="1" dirty="0">
                <a:latin typeface="Times New Roman" panose="02020603050405020304" pitchFamily="18" charset="0"/>
                <a:ea typeface="宋体" panose="02010600030101010101" pitchFamily="2" charset="-122"/>
              </a:rPr>
              <a:t>中子结合成</a:t>
            </a:r>
            <a:r>
              <a:rPr lang="en-US" altLang="zh-CN" sz="2400" b="1" dirty="0">
                <a:latin typeface="Times New Roman" panose="02020603050405020304" pitchFamily="18" charset="0"/>
                <a:ea typeface="宋体" panose="02010600030101010101" pitchFamily="2" charset="-122"/>
              </a:rPr>
              <a:t>1mol</a:t>
            </a:r>
            <a:r>
              <a:rPr lang="zh-CN" altLang="en-US" sz="2400" b="1" dirty="0">
                <a:latin typeface="Times New Roman" panose="02020603050405020304" pitchFamily="18" charset="0"/>
                <a:ea typeface="宋体" panose="02010600030101010101" pitchFamily="2" charset="-122"/>
              </a:rPr>
              <a:t>氘核（</a:t>
            </a:r>
            <a:r>
              <a:rPr lang="en-US" altLang="zh-CN" sz="2400" b="1" baseline="30000" dirty="0">
                <a:latin typeface="Times New Roman" panose="02020603050405020304" pitchFamily="18" charset="0"/>
                <a:ea typeface="宋体" panose="02010600030101010101" pitchFamily="2" charset="-122"/>
              </a:rPr>
              <a:t>2</a:t>
            </a:r>
            <a:r>
              <a:rPr lang="en-US" altLang="zh-CN" sz="2400" b="1" baseline="-25000" dirty="0">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rPr>
              <a:t>H</a:t>
            </a:r>
            <a:r>
              <a:rPr lang="zh-CN" altLang="en-US" sz="2400" b="1" dirty="0">
                <a:latin typeface="Times New Roman" panose="02020603050405020304" pitchFamily="18" charset="0"/>
                <a:ea typeface="宋体" panose="02010600030101010101" pitchFamily="2" charset="-122"/>
              </a:rPr>
              <a:t>）时可释放出多少能量（结合能）</a:t>
            </a:r>
            <a:endParaRPr lang="zh-CN" altLang="en-US" sz="2400" b="1" dirty="0">
              <a:latin typeface="Times New Roman" panose="02020603050405020304" pitchFamily="18" charset="0"/>
              <a:ea typeface="宋体" panose="02010600030101010101" pitchFamily="2"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9459">
                                            <p:txEl>
                                              <p:charRg st="0" end="28"/>
                                            </p:txEl>
                                          </p:spTgt>
                                        </p:tgtEl>
                                        <p:attrNameLst>
                                          <p:attrName>style.visibility</p:attrName>
                                        </p:attrNameLst>
                                      </p:cBhvr>
                                      <p:to>
                                        <p:strVal val="visible"/>
                                      </p:to>
                                    </p:set>
                                    <p:animEffect transition="in" filter="blinds(vertical)">
                                      <p:cBhvr>
                                        <p:cTn id="7" dur="500"/>
                                        <p:tgtEl>
                                          <p:spTgt spid="19459">
                                            <p:txEl>
                                              <p:charRg st="0"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9459">
                                            <p:txEl>
                                              <p:charRg st="28" end="67"/>
                                            </p:txEl>
                                          </p:spTgt>
                                        </p:tgtEl>
                                        <p:attrNameLst>
                                          <p:attrName>style.visibility</p:attrName>
                                        </p:attrNameLst>
                                      </p:cBhvr>
                                      <p:to>
                                        <p:strVal val="visible"/>
                                      </p:to>
                                    </p:set>
                                    <p:animEffect transition="in" filter="blinds(vertical)">
                                      <p:cBhvr>
                                        <p:cTn id="12" dur="500"/>
                                        <p:tgtEl>
                                          <p:spTgt spid="19459">
                                            <p:txEl>
                                              <p:charRg st="28" end="6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9459">
                                            <p:txEl>
                                              <p:charRg st="67" end="123"/>
                                            </p:txEl>
                                          </p:spTgt>
                                        </p:tgtEl>
                                        <p:attrNameLst>
                                          <p:attrName>style.visibility</p:attrName>
                                        </p:attrNameLst>
                                      </p:cBhvr>
                                      <p:to>
                                        <p:strVal val="visible"/>
                                      </p:to>
                                    </p:set>
                                    <p:animEffect transition="in" filter="blinds(vertical)">
                                      <p:cBhvr>
                                        <p:cTn id="17" dur="500"/>
                                        <p:tgtEl>
                                          <p:spTgt spid="19459">
                                            <p:txEl>
                                              <p:charRg st="67" end="12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9459">
                                            <p:txEl>
                                              <p:charRg st="123" end="138"/>
                                            </p:txEl>
                                          </p:spTgt>
                                        </p:tgtEl>
                                        <p:attrNameLst>
                                          <p:attrName>style.visibility</p:attrName>
                                        </p:attrNameLst>
                                      </p:cBhvr>
                                      <p:to>
                                        <p:strVal val="visible"/>
                                      </p:to>
                                    </p:set>
                                    <p:animEffect transition="in" filter="blinds(vertical)">
                                      <p:cBhvr>
                                        <p:cTn id="22" dur="500"/>
                                        <p:tgtEl>
                                          <p:spTgt spid="19459">
                                            <p:txEl>
                                              <p:charRg st="123" end="13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grpId="0" nodeType="clickEffect">
                                  <p:stCondLst>
                                    <p:cond delay="0"/>
                                  </p:stCondLst>
                                  <p:childTnLst>
                                    <p:set>
                                      <p:cBhvr>
                                        <p:cTn id="26" dur="1" fill="hold">
                                          <p:stCondLst>
                                            <p:cond delay="0"/>
                                          </p:stCondLst>
                                        </p:cTn>
                                        <p:tgtEl>
                                          <p:spTgt spid="19459">
                                            <p:txEl>
                                              <p:charRg st="139" end="186"/>
                                            </p:txEl>
                                          </p:spTgt>
                                        </p:tgtEl>
                                        <p:attrNameLst>
                                          <p:attrName>style.visibility</p:attrName>
                                        </p:attrNameLst>
                                      </p:cBhvr>
                                      <p:to>
                                        <p:strVal val="visible"/>
                                      </p:to>
                                    </p:set>
                                    <p:animEffect transition="in" filter="blinds(vertical)">
                                      <p:cBhvr>
                                        <p:cTn id="27" dur="500"/>
                                        <p:tgtEl>
                                          <p:spTgt spid="19459">
                                            <p:txEl>
                                              <p:charRg st="139" end="18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ldLvl="3"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9" name="内容占位符 19458"/>
          <p:cNvSpPr>
            <a:spLocks noGrp="1"/>
          </p:cNvSpPr>
          <p:nvPr>
            <p:ph idx="1"/>
          </p:nvPr>
        </p:nvSpPr>
        <p:spPr>
          <a:xfrm>
            <a:off x="107950" y="700088"/>
            <a:ext cx="8928100" cy="1008062"/>
          </a:xfrm>
          <a:noFill/>
          <a:ln>
            <a:noFill/>
          </a:ln>
        </p:spPr>
        <p:txBody>
          <a:bodyPr/>
          <a:p>
            <a:pPr algn="just">
              <a:buNone/>
            </a:pPr>
            <a:r>
              <a:rPr lang="zh-CN" altLang="en-US" sz="2400" b="1" dirty="0">
                <a:latin typeface="Times New Roman" panose="02020603050405020304" pitchFamily="18" charset="0"/>
                <a:ea typeface="宋体" panose="02010600030101010101" pitchFamily="2" charset="-122"/>
              </a:rPr>
              <a:t>例：计算</a:t>
            </a:r>
            <a:r>
              <a:rPr lang="en-US" altLang="zh-CN" sz="2400" b="1" dirty="0">
                <a:latin typeface="Times New Roman" panose="02020603050405020304" pitchFamily="18" charset="0"/>
                <a:ea typeface="宋体" panose="02010600030101010101" pitchFamily="2" charset="-122"/>
              </a:rPr>
              <a:t>1mol</a:t>
            </a:r>
            <a:r>
              <a:rPr lang="zh-CN" altLang="en-US" sz="2400" b="1" dirty="0">
                <a:latin typeface="Times New Roman" panose="02020603050405020304" pitchFamily="18" charset="0"/>
                <a:ea typeface="宋体" panose="02010600030101010101" pitchFamily="2" charset="-122"/>
              </a:rPr>
              <a:t>质子和</a:t>
            </a:r>
            <a:r>
              <a:rPr lang="en-US" altLang="zh-CN" sz="2400" b="1" dirty="0">
                <a:latin typeface="Times New Roman" panose="02020603050405020304" pitchFamily="18" charset="0"/>
                <a:ea typeface="宋体" panose="02010600030101010101" pitchFamily="2" charset="-122"/>
              </a:rPr>
              <a:t>1mol</a:t>
            </a:r>
            <a:r>
              <a:rPr lang="zh-CN" altLang="en-US" sz="2400" b="1" dirty="0">
                <a:latin typeface="Times New Roman" panose="02020603050405020304" pitchFamily="18" charset="0"/>
                <a:ea typeface="宋体" panose="02010600030101010101" pitchFamily="2" charset="-122"/>
              </a:rPr>
              <a:t>中子结合成</a:t>
            </a:r>
            <a:r>
              <a:rPr lang="en-US" altLang="zh-CN" sz="2400" b="1" dirty="0">
                <a:latin typeface="Times New Roman" panose="02020603050405020304" pitchFamily="18" charset="0"/>
                <a:ea typeface="宋体" panose="02010600030101010101" pitchFamily="2" charset="-122"/>
              </a:rPr>
              <a:t>1mol</a:t>
            </a:r>
            <a:r>
              <a:rPr lang="zh-CN" altLang="en-US" sz="2400" b="1" dirty="0">
                <a:latin typeface="Times New Roman" panose="02020603050405020304" pitchFamily="18" charset="0"/>
                <a:ea typeface="宋体" panose="02010600030101010101" pitchFamily="2" charset="-122"/>
              </a:rPr>
              <a:t>氘核（</a:t>
            </a:r>
            <a:r>
              <a:rPr lang="en-US" altLang="zh-CN" sz="2400" b="1" baseline="30000" dirty="0">
                <a:latin typeface="Times New Roman" panose="02020603050405020304" pitchFamily="18" charset="0"/>
                <a:ea typeface="宋体" panose="02010600030101010101" pitchFamily="2" charset="-122"/>
              </a:rPr>
              <a:t>2</a:t>
            </a:r>
            <a:r>
              <a:rPr lang="en-US" altLang="zh-CN" sz="2400" b="1" baseline="-25000" dirty="0">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rPr>
              <a:t>H</a:t>
            </a:r>
            <a:r>
              <a:rPr lang="zh-CN" altLang="en-US" sz="2400" b="1" dirty="0">
                <a:latin typeface="Times New Roman" panose="02020603050405020304" pitchFamily="18" charset="0"/>
                <a:ea typeface="宋体" panose="02010600030101010101" pitchFamily="2" charset="-122"/>
              </a:rPr>
              <a:t>）时可释放出多少能量（结合能）</a:t>
            </a:r>
            <a:endParaRPr lang="zh-CN" altLang="en-US" sz="2400" b="1" dirty="0">
              <a:latin typeface="Times New Roman" panose="02020603050405020304" pitchFamily="18" charset="0"/>
              <a:ea typeface="宋体" panose="02010600030101010101" pitchFamily="2" charset="-122"/>
            </a:endParaRPr>
          </a:p>
        </p:txBody>
      </p:sp>
      <p:sp>
        <p:nvSpPr>
          <p:cNvPr id="19460" name="文本框 19459"/>
          <p:cNvSpPr txBox="1"/>
          <p:nvPr/>
        </p:nvSpPr>
        <p:spPr>
          <a:xfrm>
            <a:off x="539750" y="1492250"/>
            <a:ext cx="8001000" cy="2984500"/>
          </a:xfrm>
          <a:prstGeom prst="rect">
            <a:avLst/>
          </a:prstGeom>
          <a:noFill/>
          <a:ln w="9525">
            <a:noFill/>
          </a:ln>
        </p:spPr>
        <p:txBody>
          <a:bodyPr>
            <a:spAutoFit/>
          </a:bodyPr>
          <a:p>
            <a:pPr lvl="2" algn="just" eaLnBrk="1" hangingPunct="1">
              <a:spcBef>
                <a:spcPct val="20000"/>
              </a:spcBef>
            </a:pPr>
            <a:r>
              <a:rPr lang="zh-CN" altLang="en-US" sz="2000" b="1" dirty="0">
                <a:latin typeface="Times New Roman" panose="02020603050405020304" pitchFamily="18" charset="0"/>
              </a:rPr>
              <a:t>解：  </a:t>
            </a:r>
            <a:r>
              <a:rPr lang="en-US" altLang="zh-CN" sz="2000" b="1" dirty="0">
                <a:latin typeface="Times New Roman" panose="02020603050405020304" pitchFamily="18" charset="0"/>
              </a:rPr>
              <a:t>∵  1mol</a:t>
            </a:r>
            <a:r>
              <a:rPr lang="zh-CN" altLang="en-US" sz="2000" b="1" dirty="0">
                <a:latin typeface="Times New Roman" panose="02020603050405020304" pitchFamily="18" charset="0"/>
              </a:rPr>
              <a:t>质子    </a:t>
            </a:r>
            <a:r>
              <a:rPr lang="en-US" altLang="zh-CN" sz="2000" b="1" dirty="0">
                <a:latin typeface="Times New Roman" panose="02020603050405020304" pitchFamily="18" charset="0"/>
              </a:rPr>
              <a:t>m = 1.00728g</a:t>
            </a:r>
            <a:endParaRPr lang="en-US" altLang="zh-CN" sz="2000" b="1" dirty="0">
              <a:latin typeface="Times New Roman" panose="02020603050405020304" pitchFamily="18" charset="0"/>
            </a:endParaRPr>
          </a:p>
          <a:p>
            <a:pPr lvl="2" algn="just" eaLnBrk="1" hangingPunct="1">
              <a:spcBef>
                <a:spcPct val="20000"/>
              </a:spcBef>
            </a:pPr>
            <a:r>
              <a:rPr lang="en-US" altLang="zh-CN" sz="2000" b="1" dirty="0">
                <a:latin typeface="Times New Roman" panose="02020603050405020304" pitchFamily="18" charset="0"/>
              </a:rPr>
              <a:t>                 1mol</a:t>
            </a:r>
            <a:r>
              <a:rPr lang="zh-CN" altLang="en-US" sz="2000" b="1" dirty="0">
                <a:latin typeface="Times New Roman" panose="02020603050405020304" pitchFamily="18" charset="0"/>
              </a:rPr>
              <a:t>中子    </a:t>
            </a:r>
            <a:r>
              <a:rPr lang="en-US" altLang="zh-CN" sz="2000" b="1" dirty="0">
                <a:latin typeface="Times New Roman" panose="02020603050405020304" pitchFamily="18" charset="0"/>
              </a:rPr>
              <a:t>m = 1.00867g</a:t>
            </a:r>
            <a:endParaRPr lang="en-US" altLang="zh-CN" sz="2000" b="1" dirty="0">
              <a:latin typeface="Times New Roman" panose="02020603050405020304" pitchFamily="18" charset="0"/>
            </a:endParaRPr>
          </a:p>
          <a:p>
            <a:pPr lvl="2" algn="just" eaLnBrk="1" hangingPunct="1">
              <a:spcBef>
                <a:spcPct val="20000"/>
              </a:spcBef>
            </a:pPr>
            <a:r>
              <a:rPr lang="en-US" altLang="zh-CN" sz="2000" b="1" dirty="0">
                <a:latin typeface="Times New Roman" panose="02020603050405020304" pitchFamily="18" charset="0"/>
              </a:rPr>
              <a:t>                 1mol </a:t>
            </a:r>
            <a:r>
              <a:rPr lang="en-US" altLang="zh-CN" sz="2000" b="1" baseline="30000" dirty="0">
                <a:latin typeface="Times New Roman" panose="02020603050405020304" pitchFamily="18" charset="0"/>
              </a:rPr>
              <a:t>2</a:t>
            </a:r>
            <a:r>
              <a:rPr lang="en-US" altLang="zh-CN" sz="2000" b="1" baseline="-25000" dirty="0">
                <a:latin typeface="Times New Roman" panose="02020603050405020304" pitchFamily="18" charset="0"/>
              </a:rPr>
              <a:t>1</a:t>
            </a:r>
            <a:r>
              <a:rPr lang="en-US" altLang="zh-CN" sz="2000" b="1" dirty="0">
                <a:latin typeface="Times New Roman" panose="02020603050405020304" pitchFamily="18" charset="0"/>
              </a:rPr>
              <a:t>H      m =2.01355g</a:t>
            </a:r>
            <a:endParaRPr lang="en-US" altLang="zh-CN" sz="2000" b="1" dirty="0">
              <a:latin typeface="Times New Roman" panose="02020603050405020304" pitchFamily="18" charset="0"/>
            </a:endParaRPr>
          </a:p>
          <a:p>
            <a:pPr lvl="2" algn="just" eaLnBrk="1" hangingPunct="1">
              <a:spcBef>
                <a:spcPct val="20000"/>
              </a:spcBef>
            </a:pPr>
            <a:r>
              <a:rPr lang="en-US" altLang="zh-CN" sz="2000" b="1" dirty="0">
                <a:latin typeface="Times New Roman" panose="02020603050405020304" pitchFamily="18" charset="0"/>
              </a:rPr>
              <a:t>         ∴  △m = (1.00728g+1.00867g) – 2.01355g =0.00240g</a:t>
            </a:r>
            <a:endParaRPr lang="en-US" altLang="zh-CN" sz="2000" b="1" dirty="0">
              <a:latin typeface="Times New Roman" panose="02020603050405020304" pitchFamily="18" charset="0"/>
            </a:endParaRPr>
          </a:p>
          <a:p>
            <a:pPr lvl="2" algn="just" eaLnBrk="1" hangingPunct="1">
              <a:spcBef>
                <a:spcPct val="20000"/>
              </a:spcBef>
            </a:pPr>
            <a:r>
              <a:rPr lang="en-US" altLang="zh-CN" sz="2000" b="1" dirty="0">
                <a:latin typeface="Times New Roman" panose="02020603050405020304" pitchFamily="18" charset="0"/>
              </a:rPr>
              <a:t>                       =2.4×10</a:t>
            </a:r>
            <a:r>
              <a:rPr lang="en-US" altLang="zh-CN" sz="2000" b="1" baseline="30000" dirty="0">
                <a:latin typeface="Times New Roman" panose="02020603050405020304" pitchFamily="18" charset="0"/>
              </a:rPr>
              <a:t>-6</a:t>
            </a:r>
            <a:r>
              <a:rPr lang="en-US" altLang="zh-CN" sz="2000" b="1" dirty="0">
                <a:latin typeface="Times New Roman" panose="02020603050405020304" pitchFamily="18" charset="0"/>
              </a:rPr>
              <a:t>kg</a:t>
            </a:r>
            <a:endParaRPr lang="en-US" altLang="zh-CN" sz="2000" b="1" dirty="0">
              <a:latin typeface="Times New Roman" panose="02020603050405020304" pitchFamily="18" charset="0"/>
            </a:endParaRPr>
          </a:p>
          <a:p>
            <a:pPr lvl="2" algn="just" eaLnBrk="1" hangingPunct="1">
              <a:spcBef>
                <a:spcPct val="20000"/>
              </a:spcBef>
            </a:pPr>
            <a:r>
              <a:rPr lang="en-US" altLang="zh-CN" sz="2000" b="1" dirty="0">
                <a:latin typeface="Times New Roman" panose="02020603050405020304" pitchFamily="18" charset="0"/>
              </a:rPr>
              <a:t>                △E = △m·c</a:t>
            </a:r>
            <a:r>
              <a:rPr lang="en-US" altLang="zh-CN" sz="2000" b="1" baseline="30000" dirty="0">
                <a:latin typeface="Times New Roman" panose="02020603050405020304" pitchFamily="18" charset="0"/>
              </a:rPr>
              <a:t>2</a:t>
            </a:r>
            <a:endParaRPr lang="en-US" altLang="zh-CN" sz="2000" b="1" dirty="0">
              <a:latin typeface="Times New Roman" panose="02020603050405020304" pitchFamily="18" charset="0"/>
            </a:endParaRPr>
          </a:p>
          <a:p>
            <a:pPr lvl="2" algn="just" eaLnBrk="1" hangingPunct="1">
              <a:spcBef>
                <a:spcPct val="20000"/>
              </a:spcBef>
            </a:pPr>
            <a:r>
              <a:rPr lang="en-US" altLang="zh-CN" sz="2000" b="1" dirty="0">
                <a:latin typeface="Times New Roman" panose="02020603050405020304" pitchFamily="18" charset="0"/>
              </a:rPr>
              <a:t>                       = 2.4×10</a:t>
            </a:r>
            <a:r>
              <a:rPr lang="en-US" altLang="zh-CN" sz="2000" b="1" baseline="30000" dirty="0">
                <a:latin typeface="Times New Roman" panose="02020603050405020304" pitchFamily="18" charset="0"/>
              </a:rPr>
              <a:t>-6</a:t>
            </a:r>
            <a:r>
              <a:rPr lang="en-US" altLang="zh-CN" sz="2000" b="1" dirty="0">
                <a:latin typeface="Times New Roman" panose="02020603050405020304" pitchFamily="18" charset="0"/>
              </a:rPr>
              <a:t>kg×(3×10</a:t>
            </a:r>
            <a:r>
              <a:rPr lang="en-US" altLang="zh-CN" sz="2000" b="1" baseline="30000" dirty="0">
                <a:latin typeface="Times New Roman" panose="02020603050405020304" pitchFamily="18" charset="0"/>
              </a:rPr>
              <a:t>8</a:t>
            </a:r>
            <a:r>
              <a:rPr lang="en-US" altLang="zh-CN" sz="2000" b="1" dirty="0">
                <a:latin typeface="Times New Roman" panose="02020603050405020304" pitchFamily="18" charset="0"/>
              </a:rPr>
              <a:t> m·s</a:t>
            </a:r>
            <a:r>
              <a:rPr lang="en-US" altLang="zh-CN" sz="2000" b="1" baseline="30000" dirty="0">
                <a:latin typeface="Times New Roman" panose="02020603050405020304" pitchFamily="18" charset="0"/>
              </a:rPr>
              <a:t>-1</a:t>
            </a:r>
            <a:r>
              <a:rPr lang="en-US" altLang="zh-CN" sz="2000" b="1" dirty="0">
                <a:latin typeface="Times New Roman" panose="02020603050405020304" pitchFamily="18" charset="0"/>
              </a:rPr>
              <a:t>)</a:t>
            </a:r>
            <a:r>
              <a:rPr lang="en-US" altLang="zh-CN" sz="2000" b="1" baseline="30000" dirty="0">
                <a:latin typeface="Times New Roman" panose="02020603050405020304" pitchFamily="18" charset="0"/>
              </a:rPr>
              <a:t>2</a:t>
            </a:r>
            <a:endParaRPr lang="en-US" altLang="zh-CN" sz="2000" b="1" dirty="0">
              <a:latin typeface="Times New Roman" panose="02020603050405020304" pitchFamily="18" charset="0"/>
            </a:endParaRPr>
          </a:p>
          <a:p>
            <a:pPr lvl="2" algn="just" eaLnBrk="1" hangingPunct="1">
              <a:spcBef>
                <a:spcPct val="20000"/>
              </a:spcBef>
            </a:pPr>
            <a:r>
              <a:rPr lang="en-US" altLang="zh-CN" sz="2000" b="1" dirty="0">
                <a:latin typeface="Times New Roman" panose="02020603050405020304" pitchFamily="18" charset="0"/>
              </a:rPr>
              <a:t>                       =2.16×10</a:t>
            </a:r>
            <a:r>
              <a:rPr lang="en-US" altLang="zh-CN" sz="2000" b="1" baseline="30000" dirty="0">
                <a:latin typeface="Times New Roman" panose="02020603050405020304" pitchFamily="18" charset="0"/>
              </a:rPr>
              <a:t>8</a:t>
            </a:r>
            <a:r>
              <a:rPr lang="en-US" altLang="zh-CN" sz="2000" b="1" dirty="0">
                <a:latin typeface="Times New Roman" panose="02020603050405020304" pitchFamily="18" charset="0"/>
              </a:rPr>
              <a:t>kJ</a:t>
            </a:r>
            <a:endParaRPr lang="en-US" altLang="zh-CN" sz="2000" b="1" dirty="0">
              <a:latin typeface="Times New Roman" panose="02020603050405020304" pitchFamily="18"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9459">
                                            <p:txEl>
                                              <p:charRg st="0" end="46"/>
                                            </p:txEl>
                                          </p:spTgt>
                                        </p:tgtEl>
                                        <p:attrNameLst>
                                          <p:attrName>style.visibility</p:attrName>
                                        </p:attrNameLst>
                                      </p:cBhvr>
                                      <p:to>
                                        <p:strVal val="visible"/>
                                      </p:to>
                                    </p:set>
                                    <p:animEffect transition="in" filter="blinds(vertical)">
                                      <p:cBhvr>
                                        <p:cTn id="7" dur="500"/>
                                        <p:tgtEl>
                                          <p:spTgt spid="19459">
                                            <p:txEl>
                                              <p:charRg st="0" end="4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9460"/>
                                        </p:tgtEl>
                                        <p:attrNameLst>
                                          <p:attrName>style.visibility</p:attrName>
                                        </p:attrNameLst>
                                      </p:cBhvr>
                                      <p:to>
                                        <p:strVal val="visible"/>
                                      </p:to>
                                    </p:set>
                                    <p:animEffect transition="in" filter="blinds(vertical)">
                                      <p:cBhvr>
                                        <p:cTn id="12" dur="500"/>
                                        <p:tgtEl>
                                          <p:spTgt spid="19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ldLvl="3" build="p"/>
      <p:bldP spid="1946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标题 28673"/>
          <p:cNvSpPr>
            <a:spLocks noGrp="1"/>
          </p:cNvSpPr>
          <p:nvPr>
            <p:ph type="title"/>
          </p:nvPr>
        </p:nvSpPr>
        <p:spPr>
          <a:xfrm>
            <a:off x="457200" y="206375"/>
            <a:ext cx="8229600" cy="857250"/>
          </a:xfrm>
          <a:solidFill>
            <a:srgbClr val="FF9900"/>
          </a:solidFill>
          <a:ln>
            <a:noFill/>
          </a:ln>
          <a:effectLst>
            <a:outerShdw dist="107763" dir="18900000" algn="ctr" rotWithShape="0">
              <a:schemeClr val="tx1"/>
            </a:outerShdw>
          </a:effectLst>
        </p:spPr>
        <p:txBody>
          <a:bodyPr anchor="ctr" anchorCtr="0"/>
          <a:p>
            <a:r>
              <a:rPr lang="zh-CN" altLang="en-US" sz="2800" b="1" dirty="0">
                <a:solidFill>
                  <a:schemeClr val="tx1"/>
                </a:solidFill>
                <a:ea typeface="宋体" panose="02010600030101010101" pitchFamily="2" charset="-122"/>
              </a:rPr>
              <a:t>各原子核的每克结合能是不同的</a:t>
            </a:r>
            <a:endParaRPr lang="zh-CN" altLang="en-US" b="1" dirty="0">
              <a:solidFill>
                <a:schemeClr val="tx1"/>
              </a:solidFill>
              <a:ea typeface="宋体" panose="02010600030101010101" pitchFamily="2" charset="-122"/>
            </a:endParaRPr>
          </a:p>
        </p:txBody>
      </p:sp>
      <p:sp>
        <p:nvSpPr>
          <p:cNvPr id="28675" name="内容占位符 28674"/>
          <p:cNvSpPr>
            <a:spLocks noGrp="1"/>
          </p:cNvSpPr>
          <p:nvPr>
            <p:ph idx="1"/>
          </p:nvPr>
        </p:nvSpPr>
        <p:spPr>
          <a:xfrm>
            <a:off x="457200" y="1058863"/>
            <a:ext cx="8686800" cy="3395662"/>
          </a:xfrm>
          <a:noFill/>
          <a:ln>
            <a:noFill/>
          </a:ln>
        </p:spPr>
        <p:txBody>
          <a:bodyPr/>
          <a:p>
            <a:pPr lvl="2">
              <a:buNone/>
            </a:pPr>
            <a:endParaRPr lang="en-US" altLang="zh-CN" sz="2800" dirty="0">
              <a:solidFill>
                <a:srgbClr val="0000CC"/>
              </a:solidFill>
              <a:ea typeface="宋体" panose="02010600030101010101" pitchFamily="2" charset="-122"/>
            </a:endParaRPr>
          </a:p>
          <a:p>
            <a:pPr algn="just">
              <a:buNone/>
            </a:pPr>
            <a:r>
              <a:rPr lang="zh-CN" altLang="en-US" sz="2400" b="1" dirty="0">
                <a:solidFill>
                  <a:srgbClr val="C00000"/>
                </a:solidFill>
                <a:ea typeface="宋体" panose="02010600030101010101" pitchFamily="2" charset="-122"/>
              </a:rPr>
              <a:t>通常  核子数（质量数）小的原子核，每克结合能小</a:t>
            </a:r>
            <a:endParaRPr lang="zh-CN" altLang="en-US" sz="2400" b="1" dirty="0">
              <a:solidFill>
                <a:srgbClr val="C00000"/>
              </a:solidFill>
              <a:ea typeface="宋体" panose="02010600030101010101" pitchFamily="2" charset="-122"/>
            </a:endParaRPr>
          </a:p>
          <a:p>
            <a:pPr algn="just">
              <a:buNone/>
            </a:pPr>
            <a:r>
              <a:rPr lang="zh-CN" altLang="en-US" sz="2400" b="1" dirty="0">
                <a:solidFill>
                  <a:srgbClr val="C00000"/>
                </a:solidFill>
                <a:ea typeface="宋体" panose="02010600030101010101" pitchFamily="2" charset="-122"/>
              </a:rPr>
              <a:t>          核子数（质量数）中等程度的原子核，每克结合能最大</a:t>
            </a:r>
            <a:endParaRPr lang="zh-CN" altLang="en-US" sz="2400" b="1" dirty="0">
              <a:solidFill>
                <a:srgbClr val="C00000"/>
              </a:solidFill>
              <a:ea typeface="宋体" panose="02010600030101010101" pitchFamily="2" charset="-122"/>
            </a:endParaRPr>
          </a:p>
          <a:p>
            <a:pPr algn="just">
              <a:buNone/>
            </a:pPr>
            <a:r>
              <a:rPr lang="zh-CN" altLang="en-US" sz="2400" b="1" dirty="0">
                <a:solidFill>
                  <a:srgbClr val="C00000"/>
                </a:solidFill>
                <a:ea typeface="宋体" panose="02010600030101010101" pitchFamily="2" charset="-122"/>
              </a:rPr>
              <a:t>          核子数（质量数）大于</a:t>
            </a:r>
            <a:r>
              <a:rPr lang="en-US" altLang="zh-CN" sz="2400" b="1" dirty="0">
                <a:solidFill>
                  <a:srgbClr val="C00000"/>
                </a:solidFill>
                <a:ea typeface="宋体" panose="02010600030101010101" pitchFamily="2" charset="-122"/>
              </a:rPr>
              <a:t>200</a:t>
            </a:r>
            <a:r>
              <a:rPr lang="zh-CN" altLang="en-US" sz="2400" b="1" dirty="0">
                <a:solidFill>
                  <a:srgbClr val="C00000"/>
                </a:solidFill>
                <a:ea typeface="宋体" panose="02010600030101010101" pitchFamily="2" charset="-122"/>
              </a:rPr>
              <a:t>的原子核，每克结合能变小</a:t>
            </a:r>
            <a:endParaRPr lang="zh-CN" altLang="en-US" sz="2400" b="1" dirty="0">
              <a:solidFill>
                <a:srgbClr val="C00000"/>
              </a:solidFill>
              <a:ea typeface="宋体" panose="02010600030101010101" pitchFamily="2" charset="-122"/>
            </a:endParaRPr>
          </a:p>
        </p:txBody>
      </p:sp>
      <p:sp>
        <p:nvSpPr>
          <p:cNvPr id="28676" name="文本框 28675"/>
          <p:cNvSpPr txBox="1"/>
          <p:nvPr/>
        </p:nvSpPr>
        <p:spPr>
          <a:xfrm>
            <a:off x="228600" y="2514600"/>
            <a:ext cx="8686800" cy="2235200"/>
          </a:xfrm>
          <a:prstGeom prst="rect">
            <a:avLst/>
          </a:prstGeom>
          <a:solidFill>
            <a:srgbClr val="CCECFF"/>
          </a:solidFill>
          <a:ln w="9525">
            <a:noFill/>
          </a:ln>
          <a:effectLst>
            <a:outerShdw dist="107763" dir="2699999" algn="ctr" rotWithShape="0">
              <a:schemeClr val="tx2"/>
            </a:outerShdw>
          </a:effectLst>
        </p:spPr>
        <p:txBody>
          <a:bodyPr>
            <a:spAutoFit/>
          </a:bodyPr>
          <a:p>
            <a:pPr lvl="1" eaLnBrk="1" hangingPunct="1">
              <a:spcBef>
                <a:spcPct val="20000"/>
              </a:spcBef>
            </a:pPr>
            <a:r>
              <a:rPr lang="zh-CN" altLang="en-US" b="1" dirty="0">
                <a:latin typeface="Times New Roman" panose="02020603050405020304" pitchFamily="18" charset="0"/>
              </a:rPr>
              <a:t>核反应</a:t>
            </a:r>
            <a:r>
              <a:rPr lang="en-US" altLang="zh-CN" b="1" dirty="0">
                <a:latin typeface="Times New Roman" panose="02020603050405020304" pitchFamily="18" charset="0"/>
              </a:rPr>
              <a:t>——</a:t>
            </a:r>
            <a:r>
              <a:rPr lang="zh-CN" altLang="en-US" b="1" dirty="0">
                <a:latin typeface="Times New Roman" panose="02020603050405020304" pitchFamily="18" charset="0"/>
              </a:rPr>
              <a:t>使原子核转变成新原子核的过程</a:t>
            </a:r>
            <a:endParaRPr lang="zh-CN" altLang="en-US" b="1" dirty="0">
              <a:latin typeface="Times New Roman" panose="02020603050405020304" pitchFamily="18" charset="0"/>
            </a:endParaRPr>
          </a:p>
          <a:p>
            <a:pPr lvl="1" algn="just" eaLnBrk="1" hangingPunct="1">
              <a:spcBef>
                <a:spcPct val="20000"/>
              </a:spcBef>
            </a:pPr>
            <a:r>
              <a:rPr lang="zh-CN" altLang="en-US" b="1" dirty="0">
                <a:latin typeface="Times New Roman" panose="02020603050405020304" pitchFamily="18" charset="0"/>
              </a:rPr>
              <a:t>核裂变</a:t>
            </a:r>
            <a:r>
              <a:rPr lang="en-US" altLang="zh-CN" b="1" dirty="0">
                <a:latin typeface="Times New Roman" panose="02020603050405020304" pitchFamily="18" charset="0"/>
              </a:rPr>
              <a:t>——</a:t>
            </a:r>
            <a:r>
              <a:rPr lang="zh-CN" altLang="en-US" b="1" dirty="0">
                <a:latin typeface="Times New Roman" panose="02020603050405020304" pitchFamily="18" charset="0"/>
              </a:rPr>
              <a:t>让核子数大的原子核分裂，生成核子数中等程度    </a:t>
            </a:r>
            <a:endParaRPr lang="zh-CN" altLang="en-US" b="1" dirty="0">
              <a:latin typeface="Times New Roman" panose="02020603050405020304" pitchFamily="18" charset="0"/>
            </a:endParaRPr>
          </a:p>
          <a:p>
            <a:pPr lvl="1" algn="just" eaLnBrk="1" hangingPunct="1">
              <a:spcBef>
                <a:spcPct val="20000"/>
              </a:spcBef>
            </a:pPr>
            <a:r>
              <a:rPr lang="zh-CN" altLang="en-US" b="1" dirty="0">
                <a:latin typeface="Times New Roman" panose="02020603050405020304" pitchFamily="18" charset="0"/>
              </a:rPr>
              <a:t>                    的新原子核的过程</a:t>
            </a:r>
            <a:endParaRPr lang="zh-CN" altLang="en-US" b="1" dirty="0">
              <a:latin typeface="Times New Roman" panose="02020603050405020304" pitchFamily="18" charset="0"/>
            </a:endParaRPr>
          </a:p>
          <a:p>
            <a:pPr lvl="1" algn="just" eaLnBrk="1" hangingPunct="1">
              <a:spcBef>
                <a:spcPct val="20000"/>
              </a:spcBef>
            </a:pPr>
            <a:r>
              <a:rPr lang="zh-CN" altLang="en-US" b="1" dirty="0">
                <a:latin typeface="Times New Roman" panose="02020603050405020304" pitchFamily="18" charset="0"/>
              </a:rPr>
              <a:t>核聚变</a:t>
            </a:r>
            <a:r>
              <a:rPr lang="en-US" altLang="zh-CN" b="1" dirty="0">
                <a:latin typeface="Times New Roman" panose="02020603050405020304" pitchFamily="18" charset="0"/>
              </a:rPr>
              <a:t>——</a:t>
            </a:r>
            <a:r>
              <a:rPr lang="zh-CN" altLang="en-US" b="1" dirty="0">
                <a:latin typeface="Times New Roman" panose="02020603050405020304" pitchFamily="18" charset="0"/>
              </a:rPr>
              <a:t>让核子数很小的原子核聚合，生成核子数较大 </a:t>
            </a:r>
            <a:endParaRPr lang="zh-CN" altLang="en-US" b="1" dirty="0">
              <a:latin typeface="Times New Roman" panose="02020603050405020304" pitchFamily="18" charset="0"/>
            </a:endParaRPr>
          </a:p>
          <a:p>
            <a:pPr lvl="1" algn="just" eaLnBrk="1" hangingPunct="1">
              <a:spcBef>
                <a:spcPct val="20000"/>
              </a:spcBef>
            </a:pPr>
            <a:r>
              <a:rPr lang="zh-CN" altLang="en-US" b="1" dirty="0">
                <a:latin typeface="Times New Roman" panose="02020603050405020304" pitchFamily="18" charset="0"/>
              </a:rPr>
              <a:t>                    的新原子核的过程</a:t>
            </a:r>
            <a:endParaRPr lang="zh-CN" altLang="en-US" b="1" dirty="0">
              <a:latin typeface="Times New Roman" panose="02020603050405020304" pitchFamily="18"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blinds(vertical)">
                                      <p:cBhvr>
                                        <p:cTn id="7" dur="500"/>
                                        <p:tgtEl>
                                          <p:spTgt spid="2867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28676"/>
                                        </p:tgtEl>
                                        <p:attrNameLst>
                                          <p:attrName>style.visibility</p:attrName>
                                        </p:attrNameLst>
                                      </p:cBhvr>
                                      <p:to>
                                        <p:strVal val="visible"/>
                                      </p:to>
                                    </p:set>
                                    <p:animEffect transition="in" filter="blinds(vertical)">
                                      <p:cBhvr>
                                        <p:cTn id="12" dur="500"/>
                                        <p:tgtEl>
                                          <p:spTgt spid="286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p:bldP spid="2867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标题 29697"/>
          <p:cNvSpPr>
            <a:spLocks noGrp="1"/>
          </p:cNvSpPr>
          <p:nvPr>
            <p:ph type="title"/>
          </p:nvPr>
        </p:nvSpPr>
        <p:spPr>
          <a:xfrm>
            <a:off x="457200" y="206375"/>
            <a:ext cx="8229600" cy="857250"/>
          </a:xfrm>
          <a:noFill/>
          <a:ln>
            <a:noFill/>
          </a:ln>
        </p:spPr>
        <p:txBody>
          <a:bodyPr anchor="ctr" anchorCtr="0"/>
          <a:p>
            <a:pPr algn="just"/>
            <a:r>
              <a:rPr lang="en-US" altLang="zh-CN" sz="4000" dirty="0">
                <a:solidFill>
                  <a:srgbClr val="CC3300"/>
                </a:solidFill>
                <a:latin typeface="隶书" panose="02010509060101010101" pitchFamily="49" charset="-122"/>
                <a:ea typeface="隶书" panose="02010509060101010101" pitchFamily="49" charset="-122"/>
              </a:rPr>
              <a:t>2.</a:t>
            </a:r>
            <a:r>
              <a:rPr lang="zh-CN" altLang="en-US" sz="4000" dirty="0">
                <a:solidFill>
                  <a:srgbClr val="CC3300"/>
                </a:solidFill>
                <a:latin typeface="隶书" panose="02010509060101010101" pitchFamily="49" charset="-122"/>
                <a:ea typeface="隶书" panose="02010509060101010101" pitchFamily="49" charset="-122"/>
              </a:rPr>
              <a:t>核裂变</a:t>
            </a:r>
            <a:endParaRPr lang="zh-CN" altLang="en-US" sz="4000" dirty="0">
              <a:solidFill>
                <a:srgbClr val="CC3300"/>
              </a:solidFill>
              <a:latin typeface="隶书" panose="02010509060101010101" pitchFamily="49" charset="-122"/>
              <a:ea typeface="隶书" panose="02010509060101010101" pitchFamily="49" charset="-122"/>
            </a:endParaRPr>
          </a:p>
        </p:txBody>
      </p:sp>
      <p:sp>
        <p:nvSpPr>
          <p:cNvPr id="29699" name="内容占位符 29698"/>
          <p:cNvSpPr>
            <a:spLocks noGrp="1"/>
          </p:cNvSpPr>
          <p:nvPr>
            <p:ph idx="1"/>
          </p:nvPr>
        </p:nvSpPr>
        <p:spPr>
          <a:xfrm>
            <a:off x="457200" y="987425"/>
            <a:ext cx="8229600" cy="3394075"/>
          </a:xfrm>
          <a:noFill/>
          <a:ln>
            <a:noFill/>
          </a:ln>
        </p:spPr>
        <p:txBody>
          <a:bodyPr/>
          <a:p>
            <a:pPr algn="just">
              <a:buNone/>
            </a:pPr>
            <a:r>
              <a:rPr lang="zh-CN" altLang="en-US" sz="2400" b="1" dirty="0">
                <a:ea typeface="宋体" panose="02010600030101010101" pitchFamily="2" charset="-122"/>
              </a:rPr>
              <a:t>核裂变：是用中子（</a:t>
            </a:r>
            <a:r>
              <a:rPr lang="en-US" altLang="zh-CN" sz="2400" b="1" baseline="30000" dirty="0">
                <a:ea typeface="宋体" panose="02010600030101010101" pitchFamily="2" charset="-122"/>
              </a:rPr>
              <a:t>1</a:t>
            </a:r>
            <a:r>
              <a:rPr lang="en-US" altLang="zh-CN" sz="2400" b="1" baseline="-25000" dirty="0">
                <a:ea typeface="宋体" panose="02010600030101010101" pitchFamily="2" charset="-122"/>
              </a:rPr>
              <a:t>0</a:t>
            </a:r>
            <a:r>
              <a:rPr lang="en-US" altLang="zh-CN" sz="2400" b="1" dirty="0">
                <a:ea typeface="宋体" panose="02010600030101010101" pitchFamily="2" charset="-122"/>
              </a:rPr>
              <a:t>n</a:t>
            </a:r>
            <a:r>
              <a:rPr lang="zh-CN" altLang="en-US" sz="2400" b="1" dirty="0">
                <a:ea typeface="宋体" panose="02010600030101010101" pitchFamily="2" charset="-122"/>
              </a:rPr>
              <a:t>）轰击较重原子核使之分裂成较轻      </a:t>
            </a:r>
            <a:endParaRPr lang="zh-CN" altLang="en-US" sz="2400" b="1" dirty="0">
              <a:ea typeface="宋体" panose="02010600030101010101" pitchFamily="2" charset="-122"/>
            </a:endParaRPr>
          </a:p>
          <a:p>
            <a:pPr algn="just">
              <a:buNone/>
            </a:pPr>
            <a:r>
              <a:rPr lang="zh-CN" altLang="en-US" sz="2400" b="1" dirty="0">
                <a:ea typeface="宋体" panose="02010600030101010101" pitchFamily="2" charset="-122"/>
              </a:rPr>
              <a:t>                原子核的反应。</a:t>
            </a:r>
            <a:endParaRPr lang="zh-CN" altLang="en-US" sz="2400" b="1" dirty="0">
              <a:ea typeface="宋体" panose="02010600030101010101" pitchFamily="2" charset="-122"/>
            </a:endParaRPr>
          </a:p>
        </p:txBody>
      </p:sp>
      <p:sp>
        <p:nvSpPr>
          <p:cNvPr id="29700" name="左大括号 29699"/>
          <p:cNvSpPr/>
          <p:nvPr/>
        </p:nvSpPr>
        <p:spPr>
          <a:xfrm>
            <a:off x="3776663" y="2586038"/>
            <a:ext cx="152400" cy="800100"/>
          </a:xfrm>
          <a:prstGeom prst="leftBrace">
            <a:avLst>
              <a:gd name="adj1" fmla="val 58163"/>
              <a:gd name="adj2" fmla="val 50000"/>
            </a:avLst>
          </a:prstGeom>
          <a:noFill/>
          <a:ln w="9525" cap="flat" cmpd="sng">
            <a:solidFill>
              <a:srgbClr val="FF6600"/>
            </a:solidFill>
            <a:prstDash val="solid"/>
            <a:headEnd type="none" w="med" len="med"/>
            <a:tailEnd type="none" w="med" len="med"/>
          </a:ln>
        </p:spPr>
        <p:txBody>
          <a:bodyPr/>
          <a:p>
            <a:pPr algn="ctr"/>
            <a:endParaRPr lang="zh-CN" altLang="en-US" dirty="0">
              <a:latin typeface="Times New Roman" panose="02020603050405020304" pitchFamily="18" charset="0"/>
            </a:endParaRPr>
          </a:p>
        </p:txBody>
      </p:sp>
      <p:sp>
        <p:nvSpPr>
          <p:cNvPr id="29702" name="文本框 29701"/>
          <p:cNvSpPr txBox="1"/>
          <p:nvPr/>
        </p:nvSpPr>
        <p:spPr>
          <a:xfrm>
            <a:off x="0" y="3006725"/>
            <a:ext cx="3276600" cy="461963"/>
          </a:xfrm>
          <a:prstGeom prst="rect">
            <a:avLst/>
          </a:prstGeom>
          <a:noFill/>
          <a:ln w="9525">
            <a:noFill/>
          </a:ln>
        </p:spPr>
        <p:txBody>
          <a:bodyPr>
            <a:spAutoFit/>
          </a:bodyPr>
          <a:p>
            <a:pPr algn="ctr">
              <a:spcBef>
                <a:spcPct val="50000"/>
              </a:spcBef>
            </a:pPr>
            <a:r>
              <a:rPr lang="en-US" altLang="zh-CN" b="1" dirty="0">
                <a:solidFill>
                  <a:srgbClr val="0000FF"/>
                </a:solidFill>
                <a:latin typeface="Times New Roman" panose="02020603050405020304" pitchFamily="18" charset="0"/>
              </a:rPr>
              <a:t>U-235</a:t>
            </a:r>
            <a:r>
              <a:rPr lang="zh-CN" altLang="en-US" b="1" dirty="0">
                <a:solidFill>
                  <a:srgbClr val="0000FF"/>
                </a:solidFill>
                <a:latin typeface="Times New Roman" panose="02020603050405020304" pitchFamily="18" charset="0"/>
              </a:rPr>
              <a:t>裂变链式反应：</a:t>
            </a:r>
            <a:endParaRPr lang="zh-CN" altLang="en-US" sz="1800" b="1" dirty="0">
              <a:solidFill>
                <a:srgbClr val="0000FF"/>
              </a:solidFill>
              <a:latin typeface="Times New Roman" panose="02020603050405020304" pitchFamily="18" charset="0"/>
            </a:endParaRPr>
          </a:p>
        </p:txBody>
      </p:sp>
      <p:sp>
        <p:nvSpPr>
          <p:cNvPr id="29703" name="文本框 29702"/>
          <p:cNvSpPr txBox="1"/>
          <p:nvPr/>
        </p:nvSpPr>
        <p:spPr>
          <a:xfrm>
            <a:off x="1476375" y="3543300"/>
            <a:ext cx="6629400" cy="1200150"/>
          </a:xfrm>
          <a:prstGeom prst="rect">
            <a:avLst/>
          </a:prstGeom>
          <a:solidFill>
            <a:srgbClr val="FFFFCC"/>
          </a:solidFill>
          <a:ln w="9525">
            <a:noFill/>
          </a:ln>
        </p:spPr>
        <p:txBody>
          <a:bodyPr>
            <a:spAutoFit/>
          </a:bodyPr>
          <a:p>
            <a:pPr algn="just">
              <a:lnSpc>
                <a:spcPct val="120000"/>
              </a:lnSpc>
            </a:pPr>
            <a:r>
              <a:rPr lang="en-US" altLang="zh-CN" sz="2000" b="1" dirty="0">
                <a:latin typeface="Times New Roman" panose="02020603050405020304" pitchFamily="18" charset="0"/>
              </a:rPr>
              <a:t>1gU-235</a:t>
            </a:r>
            <a:r>
              <a:rPr lang="zh-CN" altLang="en-US" sz="2000" b="1" dirty="0">
                <a:latin typeface="Times New Roman" panose="02020603050405020304" pitchFamily="18" charset="0"/>
              </a:rPr>
              <a:t>可放出  </a:t>
            </a:r>
            <a:r>
              <a:rPr lang="en-US" altLang="zh-CN" sz="2000" b="1" dirty="0">
                <a:latin typeface="Times New Roman" panose="02020603050405020304" pitchFamily="18" charset="0"/>
              </a:rPr>
              <a:t>8×10</a:t>
            </a:r>
            <a:r>
              <a:rPr lang="en-US" altLang="zh-CN" sz="2000" b="1" baseline="30000" dirty="0">
                <a:latin typeface="Times New Roman" panose="02020603050405020304" pitchFamily="18" charset="0"/>
              </a:rPr>
              <a:t>7</a:t>
            </a:r>
            <a:r>
              <a:rPr lang="en-US" altLang="zh-CN" sz="2000" b="1" dirty="0">
                <a:latin typeface="Times New Roman" panose="02020603050405020304" pitchFamily="18" charset="0"/>
              </a:rPr>
              <a:t>kj</a:t>
            </a:r>
            <a:r>
              <a:rPr lang="zh-CN" altLang="en-US" sz="2000" b="1" dirty="0">
                <a:latin typeface="Times New Roman" panose="02020603050405020304" pitchFamily="18" charset="0"/>
              </a:rPr>
              <a:t>的能量</a:t>
            </a:r>
            <a:endParaRPr lang="zh-CN" altLang="en-US" sz="2000" b="1" dirty="0">
              <a:latin typeface="Times New Roman" panose="02020603050405020304" pitchFamily="18" charset="0"/>
            </a:endParaRPr>
          </a:p>
          <a:p>
            <a:pPr algn="just">
              <a:lnSpc>
                <a:spcPct val="120000"/>
              </a:lnSpc>
            </a:pPr>
            <a:r>
              <a:rPr lang="en-US" altLang="zh-CN" sz="2000" b="1" dirty="0">
                <a:latin typeface="Times New Roman" panose="02020603050405020304" pitchFamily="18" charset="0"/>
              </a:rPr>
              <a:t>1g</a:t>
            </a:r>
            <a:r>
              <a:rPr lang="zh-CN" altLang="en-US" sz="2000" b="1" dirty="0">
                <a:latin typeface="Times New Roman" panose="02020603050405020304" pitchFamily="18" charset="0"/>
              </a:rPr>
              <a:t>煤完全燃烧放出的热量为：</a:t>
            </a:r>
            <a:r>
              <a:rPr lang="en-US" altLang="zh-CN" sz="2000" b="1" dirty="0">
                <a:latin typeface="Times New Roman" panose="02020603050405020304" pitchFamily="18" charset="0"/>
              </a:rPr>
              <a:t>30kj</a:t>
            </a:r>
            <a:endParaRPr lang="en-US" altLang="zh-CN" sz="2000" b="1" dirty="0">
              <a:latin typeface="Times New Roman" panose="02020603050405020304" pitchFamily="18" charset="0"/>
            </a:endParaRPr>
          </a:p>
          <a:p>
            <a:pPr algn="just">
              <a:lnSpc>
                <a:spcPct val="120000"/>
              </a:lnSpc>
            </a:pPr>
            <a:r>
              <a:rPr lang="en-US" altLang="zh-CN" sz="2000" b="1" dirty="0">
                <a:latin typeface="Times New Roman" panose="02020603050405020304" pitchFamily="18" charset="0"/>
              </a:rPr>
              <a:t>1gU-235</a:t>
            </a:r>
            <a:r>
              <a:rPr lang="zh-CN" altLang="en-US" sz="2000" b="1" dirty="0">
                <a:latin typeface="Times New Roman" panose="02020603050405020304" pitchFamily="18" charset="0"/>
              </a:rPr>
              <a:t>产生的能量相当于</a:t>
            </a:r>
            <a:r>
              <a:rPr lang="en-US" altLang="zh-CN" sz="2000" b="1" dirty="0">
                <a:latin typeface="Times New Roman" panose="02020603050405020304" pitchFamily="18" charset="0"/>
              </a:rPr>
              <a:t>2.7×10</a:t>
            </a:r>
            <a:r>
              <a:rPr lang="en-US" altLang="zh-CN" sz="2000" b="1" baseline="30000" dirty="0">
                <a:latin typeface="Times New Roman" panose="02020603050405020304" pitchFamily="18" charset="0"/>
              </a:rPr>
              <a:t>6</a:t>
            </a:r>
            <a:r>
              <a:rPr lang="en-US" altLang="zh-CN" sz="2000" b="1" dirty="0">
                <a:latin typeface="Times New Roman" panose="02020603050405020304" pitchFamily="18" charset="0"/>
              </a:rPr>
              <a:t>g</a:t>
            </a:r>
            <a:r>
              <a:rPr lang="zh-CN" altLang="en-US" sz="2000" b="1" dirty="0">
                <a:latin typeface="Times New Roman" panose="02020603050405020304" pitchFamily="18" charset="0"/>
              </a:rPr>
              <a:t>煤燃烧产生的能量</a:t>
            </a:r>
            <a:endParaRPr lang="zh-CN" altLang="en-US" sz="2000" b="1" dirty="0">
              <a:latin typeface="Times New Roman" panose="02020603050405020304" pitchFamily="18" charset="0"/>
            </a:endParaRPr>
          </a:p>
        </p:txBody>
      </p:sp>
      <p:sp>
        <p:nvSpPr>
          <p:cNvPr id="29704" name="文本框 29703"/>
          <p:cNvSpPr txBox="1"/>
          <p:nvPr/>
        </p:nvSpPr>
        <p:spPr>
          <a:xfrm>
            <a:off x="392113" y="1792288"/>
            <a:ext cx="8077200" cy="461962"/>
          </a:xfrm>
          <a:prstGeom prst="rect">
            <a:avLst/>
          </a:prstGeom>
          <a:noFill/>
          <a:ln w="9525">
            <a:noFill/>
          </a:ln>
        </p:spPr>
        <p:txBody>
          <a:bodyPr>
            <a:spAutoFit/>
          </a:bodyPr>
          <a:p>
            <a:pPr algn="just">
              <a:spcBef>
                <a:spcPct val="20000"/>
              </a:spcBef>
            </a:pPr>
            <a:r>
              <a:rPr lang="zh-CN" altLang="en-US" b="1" dirty="0">
                <a:latin typeface="Times New Roman" panose="02020603050405020304" pitchFamily="18" charset="0"/>
              </a:rPr>
              <a:t>核裂变的核燃料：</a:t>
            </a:r>
            <a:r>
              <a:rPr lang="en-US" altLang="zh-CN" b="1" dirty="0">
                <a:latin typeface="Times New Roman" panose="02020603050405020304" pitchFamily="18" charset="0"/>
              </a:rPr>
              <a:t>U-235   U-233   Pu-239</a:t>
            </a:r>
            <a:endParaRPr lang="en-US" altLang="zh-CN" b="1" dirty="0">
              <a:latin typeface="Times New Roman" panose="02020603050405020304" pitchFamily="18" charset="0"/>
            </a:endParaRPr>
          </a:p>
        </p:txBody>
      </p:sp>
      <p:sp>
        <p:nvSpPr>
          <p:cNvPr id="29710" name="文本框 29709"/>
          <p:cNvSpPr txBox="1"/>
          <p:nvPr/>
        </p:nvSpPr>
        <p:spPr>
          <a:xfrm>
            <a:off x="476250" y="2195513"/>
            <a:ext cx="7924800" cy="1347787"/>
          </a:xfrm>
          <a:prstGeom prst="rect">
            <a:avLst/>
          </a:prstGeom>
          <a:noFill/>
          <a:ln w="9525">
            <a:noFill/>
          </a:ln>
        </p:spPr>
        <p:txBody>
          <a:bodyPr>
            <a:spAutoFit/>
          </a:bodyPr>
          <a:p>
            <a:pPr algn="just">
              <a:spcBef>
                <a:spcPct val="20000"/>
              </a:spcBef>
            </a:pPr>
            <a:r>
              <a:rPr lang="zh-CN" altLang="en-US" b="1" dirty="0">
                <a:latin typeface="Times New Roman" panose="02020603050405020304" pitchFamily="18" charset="0"/>
              </a:rPr>
              <a:t>例：                                     </a:t>
            </a:r>
            <a:r>
              <a:rPr lang="en-US" altLang="zh-CN" b="1" baseline="30000" dirty="0">
                <a:latin typeface="Times New Roman" panose="02020603050405020304" pitchFamily="18" charset="0"/>
              </a:rPr>
              <a:t>144</a:t>
            </a:r>
            <a:r>
              <a:rPr lang="en-US" altLang="zh-CN" b="1" baseline="-25000" dirty="0">
                <a:latin typeface="Times New Roman" panose="02020603050405020304" pitchFamily="18" charset="0"/>
              </a:rPr>
              <a:t>56</a:t>
            </a:r>
            <a:r>
              <a:rPr lang="en-US" altLang="zh-CN" b="1" dirty="0">
                <a:latin typeface="Times New Roman" panose="02020603050405020304" pitchFamily="18" charset="0"/>
              </a:rPr>
              <a:t>Ba + </a:t>
            </a:r>
            <a:r>
              <a:rPr lang="en-US" altLang="zh-CN" b="1" baseline="30000" dirty="0">
                <a:latin typeface="Times New Roman" panose="02020603050405020304" pitchFamily="18" charset="0"/>
              </a:rPr>
              <a:t>89</a:t>
            </a:r>
            <a:r>
              <a:rPr lang="en-US" altLang="zh-CN" b="1" baseline="-25000" dirty="0">
                <a:latin typeface="Times New Roman" panose="02020603050405020304" pitchFamily="18" charset="0"/>
              </a:rPr>
              <a:t>56</a:t>
            </a:r>
            <a:r>
              <a:rPr lang="en-US" altLang="zh-CN" b="1" dirty="0">
                <a:latin typeface="Times New Roman" panose="02020603050405020304" pitchFamily="18" charset="0"/>
              </a:rPr>
              <a:t>Kr +3</a:t>
            </a:r>
            <a:r>
              <a:rPr lang="en-US" altLang="zh-CN" b="1" baseline="30000" dirty="0">
                <a:latin typeface="Times New Roman" panose="02020603050405020304" pitchFamily="18" charset="0"/>
              </a:rPr>
              <a:t> 1</a:t>
            </a:r>
            <a:r>
              <a:rPr lang="en-US" altLang="zh-CN" b="1" baseline="-25000" dirty="0">
                <a:latin typeface="Times New Roman" panose="02020603050405020304" pitchFamily="18" charset="0"/>
              </a:rPr>
              <a:t>0</a:t>
            </a:r>
            <a:r>
              <a:rPr lang="en-US" altLang="zh-CN" b="1" dirty="0">
                <a:latin typeface="Times New Roman" panose="02020603050405020304" pitchFamily="18" charset="0"/>
              </a:rPr>
              <a:t>n</a:t>
            </a:r>
            <a:endParaRPr lang="en-US" altLang="zh-CN" b="1" dirty="0">
              <a:latin typeface="Times New Roman" panose="02020603050405020304" pitchFamily="18" charset="0"/>
            </a:endParaRPr>
          </a:p>
          <a:p>
            <a:pPr algn="just">
              <a:spcBef>
                <a:spcPct val="20000"/>
              </a:spcBef>
            </a:pPr>
            <a:r>
              <a:rPr lang="en-US" altLang="zh-CN" b="1" dirty="0">
                <a:latin typeface="Times New Roman" panose="02020603050405020304" pitchFamily="18" charset="0"/>
              </a:rPr>
              <a:t>              </a:t>
            </a:r>
            <a:r>
              <a:rPr lang="en-US" altLang="zh-CN" b="1" baseline="30000" dirty="0">
                <a:latin typeface="Times New Roman" panose="02020603050405020304" pitchFamily="18" charset="0"/>
              </a:rPr>
              <a:t>235</a:t>
            </a:r>
            <a:r>
              <a:rPr lang="en-US" altLang="zh-CN" b="1" baseline="-25000" dirty="0">
                <a:latin typeface="Times New Roman" panose="02020603050405020304" pitchFamily="18" charset="0"/>
              </a:rPr>
              <a:t>92</a:t>
            </a:r>
            <a:r>
              <a:rPr lang="en-US" altLang="zh-CN" b="1" dirty="0">
                <a:latin typeface="Times New Roman" panose="02020603050405020304" pitchFamily="18" charset="0"/>
              </a:rPr>
              <a:t>U + </a:t>
            </a:r>
            <a:r>
              <a:rPr lang="en-US" altLang="zh-CN" b="1" baseline="30000" dirty="0">
                <a:latin typeface="Times New Roman" panose="02020603050405020304" pitchFamily="18" charset="0"/>
              </a:rPr>
              <a:t>1</a:t>
            </a:r>
            <a:r>
              <a:rPr lang="en-US" altLang="zh-CN" b="1" baseline="-25000" dirty="0">
                <a:latin typeface="Times New Roman" panose="02020603050405020304" pitchFamily="18" charset="0"/>
              </a:rPr>
              <a:t>0</a:t>
            </a:r>
            <a:r>
              <a:rPr lang="en-US" altLang="zh-CN" b="1" dirty="0">
                <a:latin typeface="Times New Roman" panose="02020603050405020304" pitchFamily="18" charset="0"/>
              </a:rPr>
              <a:t>n →       </a:t>
            </a:r>
            <a:r>
              <a:rPr lang="en-US" altLang="zh-CN" b="1" baseline="30000" dirty="0">
                <a:latin typeface="Times New Roman" panose="02020603050405020304" pitchFamily="18" charset="0"/>
              </a:rPr>
              <a:t>140</a:t>
            </a:r>
            <a:r>
              <a:rPr lang="en-US" altLang="zh-CN" b="1" baseline="-25000" dirty="0">
                <a:latin typeface="Times New Roman" panose="02020603050405020304" pitchFamily="18" charset="0"/>
              </a:rPr>
              <a:t>54</a:t>
            </a:r>
            <a:r>
              <a:rPr lang="en-US" altLang="zh-CN" b="1" dirty="0">
                <a:latin typeface="Times New Roman" panose="02020603050405020304" pitchFamily="18" charset="0"/>
              </a:rPr>
              <a:t>Xe + </a:t>
            </a:r>
            <a:r>
              <a:rPr lang="en-US" altLang="zh-CN" b="1" baseline="30000" dirty="0">
                <a:latin typeface="Times New Roman" panose="02020603050405020304" pitchFamily="18" charset="0"/>
              </a:rPr>
              <a:t>94</a:t>
            </a:r>
            <a:r>
              <a:rPr lang="en-US" altLang="zh-CN" b="1" baseline="-25000" dirty="0">
                <a:latin typeface="Times New Roman" panose="02020603050405020304" pitchFamily="18" charset="0"/>
              </a:rPr>
              <a:t>38</a:t>
            </a:r>
            <a:r>
              <a:rPr lang="en-US" altLang="zh-CN" b="1" dirty="0">
                <a:latin typeface="Times New Roman" panose="02020603050405020304" pitchFamily="18" charset="0"/>
              </a:rPr>
              <a:t>Sr +2</a:t>
            </a:r>
            <a:r>
              <a:rPr lang="en-US" altLang="zh-CN" b="1" baseline="30000" dirty="0">
                <a:latin typeface="Times New Roman" panose="02020603050405020304" pitchFamily="18" charset="0"/>
              </a:rPr>
              <a:t> 1</a:t>
            </a:r>
            <a:r>
              <a:rPr lang="en-US" altLang="zh-CN" b="1" baseline="-25000" dirty="0">
                <a:latin typeface="Times New Roman" panose="02020603050405020304" pitchFamily="18" charset="0"/>
              </a:rPr>
              <a:t>0</a:t>
            </a:r>
            <a:r>
              <a:rPr lang="en-US" altLang="zh-CN" b="1" dirty="0">
                <a:latin typeface="Times New Roman" panose="02020603050405020304" pitchFamily="18" charset="0"/>
              </a:rPr>
              <a:t>n</a:t>
            </a:r>
            <a:endParaRPr lang="en-US" altLang="zh-CN" b="1" dirty="0">
              <a:latin typeface="Times New Roman" panose="02020603050405020304" pitchFamily="18" charset="0"/>
            </a:endParaRPr>
          </a:p>
          <a:p>
            <a:pPr algn="just">
              <a:spcBef>
                <a:spcPct val="20000"/>
              </a:spcBef>
            </a:pPr>
            <a:r>
              <a:rPr lang="en-US" altLang="zh-CN" b="1" dirty="0">
                <a:latin typeface="Times New Roman" panose="02020603050405020304" pitchFamily="18" charset="0"/>
              </a:rPr>
              <a:t>                                             </a:t>
            </a:r>
            <a:r>
              <a:rPr lang="en-US" altLang="zh-CN" b="1" baseline="30000" dirty="0">
                <a:latin typeface="Times New Roman" panose="02020603050405020304" pitchFamily="18" charset="0"/>
              </a:rPr>
              <a:t>133</a:t>
            </a:r>
            <a:r>
              <a:rPr lang="en-US" altLang="zh-CN" b="1" baseline="-25000" dirty="0">
                <a:latin typeface="Times New Roman" panose="02020603050405020304" pitchFamily="18" charset="0"/>
              </a:rPr>
              <a:t>51</a:t>
            </a:r>
            <a:r>
              <a:rPr lang="en-US" altLang="zh-CN" b="1" dirty="0">
                <a:latin typeface="Times New Roman" panose="02020603050405020304" pitchFamily="18" charset="0"/>
              </a:rPr>
              <a:t>Sb + </a:t>
            </a:r>
            <a:r>
              <a:rPr lang="en-US" altLang="zh-CN" b="1" baseline="30000" dirty="0">
                <a:latin typeface="Times New Roman" panose="02020603050405020304" pitchFamily="18" charset="0"/>
              </a:rPr>
              <a:t>99</a:t>
            </a:r>
            <a:r>
              <a:rPr lang="en-US" altLang="zh-CN" b="1" baseline="-25000" dirty="0">
                <a:latin typeface="Times New Roman" panose="02020603050405020304" pitchFamily="18" charset="0"/>
              </a:rPr>
              <a:t>41</a:t>
            </a:r>
            <a:r>
              <a:rPr lang="en-US" altLang="zh-CN" b="1" dirty="0">
                <a:latin typeface="Times New Roman" panose="02020603050405020304" pitchFamily="18" charset="0"/>
              </a:rPr>
              <a:t>Nb + 4</a:t>
            </a:r>
            <a:r>
              <a:rPr lang="en-US" altLang="zh-CN" b="1" baseline="30000" dirty="0">
                <a:latin typeface="Times New Roman" panose="02020603050405020304" pitchFamily="18" charset="0"/>
              </a:rPr>
              <a:t> 1</a:t>
            </a:r>
            <a:r>
              <a:rPr lang="en-US" altLang="zh-CN" b="1" baseline="-25000" dirty="0">
                <a:latin typeface="Times New Roman" panose="02020603050405020304" pitchFamily="18" charset="0"/>
              </a:rPr>
              <a:t>0</a:t>
            </a:r>
            <a:r>
              <a:rPr lang="en-US" altLang="zh-CN" b="1" dirty="0">
                <a:latin typeface="Times New Roman" panose="02020603050405020304" pitchFamily="18" charset="0"/>
              </a:rPr>
              <a:t>n</a:t>
            </a:r>
            <a:endParaRPr lang="en-US" altLang="zh-CN" b="1" dirty="0">
              <a:latin typeface="Times New Roman" panose="02020603050405020304" pitchFamily="18"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blinds(vertical)">
                                      <p:cBhvr>
                                        <p:cTn id="7" dur="500"/>
                                        <p:tgtEl>
                                          <p:spTgt spid="2969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9704"/>
                                        </p:tgtEl>
                                        <p:attrNameLst>
                                          <p:attrName>style.visibility</p:attrName>
                                        </p:attrNameLst>
                                      </p:cBhvr>
                                      <p:to>
                                        <p:strVal val="visible"/>
                                      </p:to>
                                    </p:set>
                                    <p:animEffect transition="in" filter="blinds(horizontal)">
                                      <p:cBhvr>
                                        <p:cTn id="12" dur="500"/>
                                        <p:tgtEl>
                                          <p:spTgt spid="2970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9710"/>
                                        </p:tgtEl>
                                        <p:attrNameLst>
                                          <p:attrName>style.visibility</p:attrName>
                                        </p:attrNameLst>
                                      </p:cBhvr>
                                      <p:to>
                                        <p:strVal val="visible"/>
                                      </p:to>
                                    </p:set>
                                    <p:animEffect transition="in" filter="blinds(horizontal)">
                                      <p:cBhvr>
                                        <p:cTn id="17" dur="500"/>
                                        <p:tgtEl>
                                          <p:spTgt spid="29710"/>
                                        </p:tgtEl>
                                      </p:cBhvr>
                                    </p:animEffect>
                                  </p:childTnLst>
                                </p:cTn>
                              </p:par>
                            </p:childTnLst>
                          </p:cTn>
                        </p:par>
                        <p:par>
                          <p:cTn id="18" fill="hold">
                            <p:stCondLst>
                              <p:cond delay="500"/>
                            </p:stCondLst>
                            <p:childTnLst>
                              <p:par>
                                <p:cTn id="19" presetID="5" presetClass="entr" presetSubtype="5" fill="hold" nodeType="afterEffect">
                                  <p:stCondLst>
                                    <p:cond delay="0"/>
                                  </p:stCondLst>
                                  <p:childTnLst>
                                    <p:set>
                                      <p:cBhvr>
                                        <p:cTn id="20" dur="1" fill="hold">
                                          <p:stCondLst>
                                            <p:cond delay="0"/>
                                          </p:stCondLst>
                                        </p:cTn>
                                        <p:tgtEl>
                                          <p:spTgt spid="29700"/>
                                        </p:tgtEl>
                                        <p:attrNameLst>
                                          <p:attrName>style.visibility</p:attrName>
                                        </p:attrNameLst>
                                      </p:cBhvr>
                                      <p:to>
                                        <p:strVal val="visible"/>
                                      </p:to>
                                    </p:set>
                                    <p:animEffect transition="in" filter="checkerboard(down)">
                                      <p:cBhvr>
                                        <p:cTn id="21" dur="500"/>
                                        <p:tgtEl>
                                          <p:spTgt spid="29700"/>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29702"/>
                                        </p:tgtEl>
                                        <p:attrNameLst>
                                          <p:attrName>style.visibility</p:attrName>
                                        </p:attrNameLst>
                                      </p:cBhvr>
                                      <p:to>
                                        <p:strVal val="visible"/>
                                      </p:to>
                                    </p:set>
                                    <p:animEffect transition="in" filter="dissolve">
                                      <p:cBhvr>
                                        <p:cTn id="26" dur="500"/>
                                        <p:tgtEl>
                                          <p:spTgt spid="29702"/>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37" fill="hold" grpId="0" nodeType="clickEffect">
                                  <p:stCondLst>
                                    <p:cond delay="0"/>
                                  </p:stCondLst>
                                  <p:childTnLst>
                                    <p:set>
                                      <p:cBhvr>
                                        <p:cTn id="30" dur="1" fill="hold">
                                          <p:stCondLst>
                                            <p:cond delay="0"/>
                                          </p:stCondLst>
                                        </p:cTn>
                                        <p:tgtEl>
                                          <p:spTgt spid="29703"/>
                                        </p:tgtEl>
                                        <p:attrNameLst>
                                          <p:attrName>style.visibility</p:attrName>
                                        </p:attrNameLst>
                                      </p:cBhvr>
                                      <p:to>
                                        <p:strVal val="visible"/>
                                      </p:to>
                                    </p:set>
                                    <p:animEffect transition="in" filter="barn(outVertical)">
                                      <p:cBhvr>
                                        <p:cTn id="31" dur="500"/>
                                        <p:tgtEl>
                                          <p:spTgt spid="297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P spid="29702" grpId="0"/>
      <p:bldP spid="29703" grpId="0" animBg="1"/>
      <p:bldP spid="29704" grpId="0"/>
      <p:bldP spid="297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1" name="内容占位符 32770"/>
          <p:cNvSpPr>
            <a:spLocks noGrp="1"/>
          </p:cNvSpPr>
          <p:nvPr>
            <p:ph idx="1"/>
          </p:nvPr>
        </p:nvSpPr>
        <p:spPr>
          <a:xfrm>
            <a:off x="395288" y="946150"/>
            <a:ext cx="8229600" cy="3395663"/>
          </a:xfrm>
          <a:noFill/>
          <a:ln>
            <a:noFill/>
          </a:ln>
        </p:spPr>
        <p:txBody>
          <a:bodyPr/>
          <a:p>
            <a:pPr algn="just">
              <a:buNone/>
            </a:pPr>
            <a:r>
              <a:rPr lang="en-US" altLang="zh-CN" sz="2800" b="1" dirty="0">
                <a:solidFill>
                  <a:srgbClr val="FFFF00"/>
                </a:solidFill>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核燃料</a:t>
            </a:r>
            <a:r>
              <a:rPr lang="en-US" altLang="zh-CN" sz="2400" b="1" dirty="0">
                <a:latin typeface="Times New Roman" panose="02020603050405020304" pitchFamily="18" charset="0"/>
                <a:ea typeface="宋体" panose="02010600030101010101" pitchFamily="2" charset="-122"/>
              </a:rPr>
              <a:t>——U-235</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Pu-239</a:t>
            </a:r>
            <a:endParaRPr lang="en-US" altLang="zh-CN" sz="2400" b="1" dirty="0">
              <a:latin typeface="Times New Roman" panose="02020603050405020304" pitchFamily="18" charset="0"/>
              <a:ea typeface="宋体" panose="02010600030101010101" pitchFamily="2" charset="-122"/>
            </a:endParaRPr>
          </a:p>
          <a:p>
            <a:pPr algn="just">
              <a:buNone/>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中子吸收剂（控制棒）：</a:t>
            </a:r>
            <a:r>
              <a:rPr lang="en-US" altLang="zh-CN" sz="2400" b="1" dirty="0">
                <a:latin typeface="Times New Roman" panose="02020603050405020304" pitchFamily="18" charset="0"/>
                <a:ea typeface="宋体" panose="02010600030101010101" pitchFamily="2" charset="-122"/>
              </a:rPr>
              <a:t>B  Cd  Hf    </a:t>
            </a:r>
            <a:r>
              <a:rPr lang="zh-CN" altLang="en-US" sz="2400" b="1" dirty="0">
                <a:latin typeface="Times New Roman" panose="02020603050405020304" pitchFamily="18" charset="0"/>
                <a:ea typeface="宋体" panose="02010600030101010101" pitchFamily="2" charset="-122"/>
              </a:rPr>
              <a:t>控制 </a:t>
            </a:r>
            <a:r>
              <a:rPr lang="en-US" altLang="zh-CN" sz="2400" b="1" dirty="0">
                <a:latin typeface="Times New Roman" panose="02020603050405020304" pitchFamily="18" charset="0"/>
                <a:ea typeface="宋体" panose="02010600030101010101" pitchFamily="2" charset="-122"/>
              </a:rPr>
              <a:t>n = 1</a:t>
            </a:r>
            <a:endParaRPr lang="en-US" altLang="zh-CN" sz="2400" b="1" dirty="0">
              <a:latin typeface="Times New Roman" panose="02020603050405020304" pitchFamily="18" charset="0"/>
              <a:ea typeface="宋体" panose="02010600030101010101" pitchFamily="2" charset="-122"/>
            </a:endParaRPr>
          </a:p>
          <a:p>
            <a:pPr algn="just">
              <a:buNone/>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中子慢化剂：使裂变产生的快中子减为慢中子</a:t>
            </a:r>
            <a:endParaRPr lang="zh-CN" altLang="en-US" sz="2400" b="1" dirty="0">
              <a:latin typeface="Times New Roman" panose="02020603050405020304" pitchFamily="18" charset="0"/>
              <a:ea typeface="宋体" panose="02010600030101010101" pitchFamily="2" charset="-122"/>
            </a:endParaRPr>
          </a:p>
        </p:txBody>
      </p:sp>
      <p:sp>
        <p:nvSpPr>
          <p:cNvPr id="23555" name="标题 32788"/>
          <p:cNvSpPr>
            <a:spLocks noGrp="1"/>
          </p:cNvSpPr>
          <p:nvPr>
            <p:ph type="title"/>
          </p:nvPr>
        </p:nvSpPr>
        <p:spPr>
          <a:xfrm>
            <a:off x="457200" y="206375"/>
            <a:ext cx="8229600" cy="857250"/>
          </a:xfrm>
          <a:noFill/>
          <a:ln>
            <a:noFill/>
          </a:ln>
        </p:spPr>
        <p:txBody>
          <a:bodyPr anchor="ctr" anchorCtr="0"/>
          <a:p>
            <a:r>
              <a:rPr lang="zh-CN" altLang="en-US" sz="3600" b="1" dirty="0">
                <a:solidFill>
                  <a:schemeClr val="tx1"/>
                </a:solidFill>
                <a:ea typeface="宋体" panose="02010600030101010101" pitchFamily="2" charset="-122"/>
              </a:rPr>
              <a:t>反应堆：</a:t>
            </a:r>
            <a:endParaRPr lang="zh-CN" altLang="en-US" sz="3600" b="1" dirty="0">
              <a:solidFill>
                <a:schemeClr val="tx1"/>
              </a:solidFill>
              <a:ea typeface="宋体" panose="02010600030101010101" pitchFamily="2" charset="-122"/>
            </a:endParaRPr>
          </a:p>
        </p:txBody>
      </p:sp>
      <p:grpSp>
        <p:nvGrpSpPr>
          <p:cNvPr id="2" name="组合 32791"/>
          <p:cNvGrpSpPr/>
          <p:nvPr/>
        </p:nvGrpSpPr>
        <p:grpSpPr>
          <a:xfrm>
            <a:off x="914400" y="2343150"/>
            <a:ext cx="6477000" cy="2171700"/>
            <a:chOff x="576" y="1968"/>
            <a:chExt cx="4080" cy="1824"/>
          </a:xfrm>
        </p:grpSpPr>
        <p:grpSp>
          <p:nvGrpSpPr>
            <p:cNvPr id="23557" name="组合 32790"/>
            <p:cNvGrpSpPr/>
            <p:nvPr/>
          </p:nvGrpSpPr>
          <p:grpSpPr>
            <a:xfrm>
              <a:off x="576" y="1968"/>
              <a:ext cx="4080" cy="1824"/>
              <a:chOff x="576" y="1968"/>
              <a:chExt cx="4080" cy="1824"/>
            </a:xfrm>
          </p:grpSpPr>
          <p:sp>
            <p:nvSpPr>
              <p:cNvPr id="23559" name="文本框 32776"/>
              <p:cNvSpPr txBox="1"/>
              <p:nvPr/>
            </p:nvSpPr>
            <p:spPr>
              <a:xfrm>
                <a:off x="3984" y="1968"/>
                <a:ext cx="672" cy="360"/>
              </a:xfrm>
              <a:prstGeom prst="rect">
                <a:avLst/>
              </a:prstGeom>
              <a:solidFill>
                <a:srgbClr val="CCCCFF"/>
              </a:solidFill>
              <a:ln w="9525" cap="flat" cmpd="sng">
                <a:solidFill>
                  <a:srgbClr val="000000"/>
                </a:solidFill>
                <a:prstDash val="solid"/>
                <a:miter/>
                <a:headEnd type="none" w="med" len="med"/>
                <a:tailEnd type="none" w="med" len="med"/>
              </a:ln>
            </p:spPr>
            <p:txBody>
              <a:bodyPr/>
              <a:p>
                <a:pPr algn="just"/>
                <a:r>
                  <a:rPr lang="zh-CN" altLang="en-US" sz="2000" b="1" dirty="0">
                    <a:solidFill>
                      <a:srgbClr val="E90B45"/>
                    </a:solidFill>
                    <a:latin typeface="Times New Roman" panose="02020603050405020304" pitchFamily="18" charset="0"/>
                  </a:rPr>
                  <a:t>压水堆</a:t>
                </a:r>
                <a:endParaRPr lang="zh-CN" altLang="en-US" sz="2000" b="1" dirty="0">
                  <a:solidFill>
                    <a:srgbClr val="E90B45"/>
                  </a:solidFill>
                  <a:latin typeface="Times New Roman" panose="02020603050405020304" pitchFamily="18" charset="0"/>
                </a:endParaRPr>
              </a:p>
              <a:p>
                <a:pPr algn="just"/>
                <a:endParaRPr lang="zh-CN" altLang="en-US" sz="2000" dirty="0">
                  <a:solidFill>
                    <a:srgbClr val="E90B45"/>
                  </a:solidFill>
                  <a:latin typeface="Times New Roman" panose="02020603050405020304" pitchFamily="18" charset="0"/>
                </a:endParaRPr>
              </a:p>
            </p:txBody>
          </p:sp>
          <p:sp>
            <p:nvSpPr>
              <p:cNvPr id="23560" name="文本框 32777"/>
              <p:cNvSpPr txBox="1"/>
              <p:nvPr/>
            </p:nvSpPr>
            <p:spPr>
              <a:xfrm>
                <a:off x="3984" y="2544"/>
                <a:ext cx="624" cy="360"/>
              </a:xfrm>
              <a:prstGeom prst="rect">
                <a:avLst/>
              </a:prstGeom>
              <a:solidFill>
                <a:srgbClr val="CCCCFF"/>
              </a:solidFill>
              <a:ln w="9525" cap="flat" cmpd="sng">
                <a:solidFill>
                  <a:srgbClr val="000000"/>
                </a:solidFill>
                <a:prstDash val="solid"/>
                <a:miter/>
                <a:headEnd type="none" w="med" len="med"/>
                <a:tailEnd type="none" w="med" len="med"/>
              </a:ln>
            </p:spPr>
            <p:txBody>
              <a:bodyPr/>
              <a:p>
                <a:pPr algn="just"/>
                <a:r>
                  <a:rPr lang="zh-CN" altLang="en-US" sz="2000" b="1" dirty="0">
                    <a:solidFill>
                      <a:srgbClr val="E90B45"/>
                    </a:solidFill>
                    <a:latin typeface="Times New Roman" panose="02020603050405020304" pitchFamily="18" charset="0"/>
                  </a:rPr>
                  <a:t>沸水堆</a:t>
                </a:r>
                <a:endParaRPr lang="zh-CN" altLang="en-US" sz="2000" b="1" dirty="0">
                  <a:solidFill>
                    <a:srgbClr val="E90B45"/>
                  </a:solidFill>
                  <a:latin typeface="Times New Roman" panose="02020603050405020304" pitchFamily="18" charset="0"/>
                </a:endParaRPr>
              </a:p>
            </p:txBody>
          </p:sp>
          <p:sp>
            <p:nvSpPr>
              <p:cNvPr id="23561" name="右箭头 32778"/>
              <p:cNvSpPr/>
              <p:nvPr/>
            </p:nvSpPr>
            <p:spPr>
              <a:xfrm rot="-1257047">
                <a:off x="3456" y="2256"/>
                <a:ext cx="432" cy="121"/>
              </a:xfrm>
              <a:prstGeom prst="rightArrow">
                <a:avLst>
                  <a:gd name="adj1" fmla="val 50000"/>
                  <a:gd name="adj2" fmla="val 89173"/>
                </a:avLst>
              </a:prstGeom>
              <a:solidFill>
                <a:srgbClr val="3366FF"/>
              </a:solidFill>
              <a:ln w="9525" cap="flat" cmpd="sng">
                <a:solidFill>
                  <a:srgbClr val="000000"/>
                </a:solidFill>
                <a:prstDash val="solid"/>
                <a:miter/>
                <a:headEnd type="none" w="med" len="med"/>
                <a:tailEnd type="none" w="med" len="med"/>
              </a:ln>
            </p:spPr>
            <p:txBody>
              <a:bodyPr/>
              <a:p>
                <a:pPr algn="ctr"/>
                <a:endParaRPr lang="zh-CN" altLang="en-US" dirty="0">
                  <a:latin typeface="Times New Roman" panose="02020603050405020304" pitchFamily="18" charset="0"/>
                </a:endParaRPr>
              </a:p>
            </p:txBody>
          </p:sp>
          <p:sp>
            <p:nvSpPr>
              <p:cNvPr id="23562" name="右箭头 32779"/>
              <p:cNvSpPr/>
              <p:nvPr/>
            </p:nvSpPr>
            <p:spPr>
              <a:xfrm rot="526297">
                <a:off x="3448" y="2546"/>
                <a:ext cx="483" cy="145"/>
              </a:xfrm>
              <a:prstGeom prst="rightArrow">
                <a:avLst>
                  <a:gd name="adj1" fmla="val 50000"/>
                  <a:gd name="adj2" fmla="val 83198"/>
                </a:avLst>
              </a:prstGeom>
              <a:solidFill>
                <a:srgbClr val="3366FF"/>
              </a:solidFill>
              <a:ln w="9525" cap="flat" cmpd="sng">
                <a:solidFill>
                  <a:srgbClr val="000000"/>
                </a:solidFill>
                <a:prstDash val="solid"/>
                <a:miter/>
                <a:headEnd type="none" w="med" len="med"/>
                <a:tailEnd type="none" w="med" len="med"/>
              </a:ln>
            </p:spPr>
            <p:txBody>
              <a:bodyPr/>
              <a:p>
                <a:pPr algn="ctr"/>
                <a:endParaRPr lang="zh-CN" altLang="en-US" dirty="0">
                  <a:latin typeface="Times New Roman" panose="02020603050405020304" pitchFamily="18" charset="0"/>
                </a:endParaRPr>
              </a:p>
            </p:txBody>
          </p:sp>
          <p:sp>
            <p:nvSpPr>
              <p:cNvPr id="23563" name="五角星 32780"/>
              <p:cNvSpPr/>
              <p:nvPr/>
            </p:nvSpPr>
            <p:spPr>
              <a:xfrm>
                <a:off x="4464" y="2160"/>
                <a:ext cx="126" cy="121"/>
              </a:xfrm>
              <a:custGeom>
                <a:avLst/>
                <a:gdLst>
                  <a:gd name="txL" fmla="*/ 0 w 126"/>
                  <a:gd name="txT" fmla="*/ 0 h 121"/>
                  <a:gd name="txR" fmla="*/ 126 w 126"/>
                  <a:gd name="txB" fmla="*/ 121 h 121"/>
                </a:gdLst>
                <a:ahLst/>
                <a:cxnLst>
                  <a:cxn ang="0">
                    <a:pos x="0" y="46"/>
                  </a:cxn>
                  <a:cxn ang="0">
                    <a:pos x="48" y="46"/>
                  </a:cxn>
                  <a:cxn ang="0">
                    <a:pos x="63" y="0"/>
                  </a:cxn>
                  <a:cxn ang="0">
                    <a:pos x="77" y="46"/>
                  </a:cxn>
                  <a:cxn ang="0">
                    <a:pos x="125" y="46"/>
                  </a:cxn>
                  <a:cxn ang="0">
                    <a:pos x="87" y="74"/>
                  </a:cxn>
                  <a:cxn ang="0">
                    <a:pos x="101" y="120"/>
                  </a:cxn>
                  <a:cxn ang="0">
                    <a:pos x="63" y="92"/>
                  </a:cxn>
                  <a:cxn ang="0">
                    <a:pos x="24" y="120"/>
                  </a:cxn>
                  <a:cxn ang="0">
                    <a:pos x="38" y="74"/>
                  </a:cxn>
                </a:cxnLst>
                <a:rect l="txL" t="txT" r="txR" b="txB"/>
                <a:pathLst>
                  <a:path w="126" h="121">
                    <a:moveTo>
                      <a:pt x="0" y="46"/>
                    </a:moveTo>
                    <a:lnTo>
                      <a:pt x="48" y="46"/>
                    </a:lnTo>
                    <a:lnTo>
                      <a:pt x="63" y="0"/>
                    </a:lnTo>
                    <a:lnTo>
                      <a:pt x="77" y="46"/>
                    </a:lnTo>
                    <a:lnTo>
                      <a:pt x="125" y="46"/>
                    </a:lnTo>
                    <a:lnTo>
                      <a:pt x="87" y="74"/>
                    </a:lnTo>
                    <a:lnTo>
                      <a:pt x="101" y="120"/>
                    </a:lnTo>
                    <a:lnTo>
                      <a:pt x="63" y="92"/>
                    </a:lnTo>
                    <a:lnTo>
                      <a:pt x="24" y="120"/>
                    </a:lnTo>
                    <a:lnTo>
                      <a:pt x="38" y="74"/>
                    </a:lnTo>
                    <a:lnTo>
                      <a:pt x="0" y="46"/>
                    </a:lnTo>
                    <a:close/>
                  </a:path>
                </a:pathLst>
              </a:custGeom>
              <a:solidFill>
                <a:srgbClr val="FF0000">
                  <a:alpha val="100000"/>
                </a:srgbClr>
              </a:solid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23564" name="圆角矩形标注 32783"/>
              <p:cNvSpPr/>
              <p:nvPr/>
            </p:nvSpPr>
            <p:spPr>
              <a:xfrm>
                <a:off x="576" y="2976"/>
                <a:ext cx="816" cy="384"/>
              </a:xfrm>
              <a:prstGeom prst="wedgeRoundRectCallout">
                <a:avLst>
                  <a:gd name="adj1" fmla="val 82968"/>
                  <a:gd name="adj2" fmla="val -50523"/>
                  <a:gd name="adj3" fmla="val 16667"/>
                </a:avLst>
              </a:prstGeom>
              <a:solidFill>
                <a:schemeClr val="accent1"/>
              </a:solidFill>
              <a:ln w="9525" cap="flat" cmpd="sng">
                <a:solidFill>
                  <a:schemeClr val="tx1"/>
                </a:solidFill>
                <a:prstDash val="solid"/>
                <a:miter/>
                <a:headEnd type="none" w="med" len="med"/>
                <a:tailEnd type="none" w="med" len="med"/>
              </a:ln>
            </p:spPr>
            <p:txBody>
              <a:bodyPr/>
              <a:p>
                <a:pPr algn="ctr"/>
                <a:r>
                  <a:rPr lang="zh-CN" altLang="en-US" b="1" dirty="0">
                    <a:latin typeface="Times New Roman" panose="02020603050405020304" pitchFamily="18" charset="0"/>
                  </a:rPr>
                  <a:t>重水堆</a:t>
                </a:r>
                <a:endParaRPr lang="zh-CN" altLang="en-US" b="1" dirty="0">
                  <a:latin typeface="Times New Roman" panose="02020603050405020304" pitchFamily="18" charset="0"/>
                </a:endParaRPr>
              </a:p>
            </p:txBody>
          </p:sp>
          <p:sp>
            <p:nvSpPr>
              <p:cNvPr id="23565" name="圆角矩形标注 32784"/>
              <p:cNvSpPr/>
              <p:nvPr/>
            </p:nvSpPr>
            <p:spPr>
              <a:xfrm>
                <a:off x="2784" y="3408"/>
                <a:ext cx="1056" cy="384"/>
              </a:xfrm>
              <a:prstGeom prst="wedgeRoundRectCallout">
                <a:avLst>
                  <a:gd name="adj1" fmla="val -60417"/>
                  <a:gd name="adj2" fmla="val -100259"/>
                  <a:gd name="adj3" fmla="val 16667"/>
                </a:avLst>
              </a:prstGeom>
              <a:solidFill>
                <a:schemeClr val="accent1"/>
              </a:solidFill>
              <a:ln w="9525" cap="flat" cmpd="sng">
                <a:solidFill>
                  <a:schemeClr val="tx1"/>
                </a:solidFill>
                <a:prstDash val="solid"/>
                <a:miter/>
                <a:headEnd type="none" w="med" len="med"/>
                <a:tailEnd type="none" w="med" len="med"/>
              </a:ln>
            </p:spPr>
            <p:txBody>
              <a:bodyPr/>
              <a:p>
                <a:pPr algn="ctr"/>
                <a:r>
                  <a:rPr lang="zh-CN" altLang="en-US" sz="2000" b="1" dirty="0">
                    <a:latin typeface="Times New Roman" panose="02020603050405020304" pitchFamily="18" charset="0"/>
                  </a:rPr>
                  <a:t>石墨冷气堆</a:t>
                </a:r>
                <a:endParaRPr lang="zh-CN" altLang="en-US" sz="2000" b="1" dirty="0">
                  <a:latin typeface="Times New Roman" panose="02020603050405020304" pitchFamily="18" charset="0"/>
                </a:endParaRPr>
              </a:p>
            </p:txBody>
          </p:sp>
          <p:sp>
            <p:nvSpPr>
              <p:cNvPr id="23566" name="圆角矩形标注 32786"/>
              <p:cNvSpPr/>
              <p:nvPr/>
            </p:nvSpPr>
            <p:spPr>
              <a:xfrm>
                <a:off x="2784" y="2352"/>
                <a:ext cx="672" cy="384"/>
              </a:xfrm>
              <a:prstGeom prst="wedgeRoundRectCallout">
                <a:avLst>
                  <a:gd name="adj1" fmla="val -65625"/>
                  <a:gd name="adj2" fmla="val 84634"/>
                  <a:gd name="adj3" fmla="val 16667"/>
                </a:avLst>
              </a:prstGeom>
              <a:solidFill>
                <a:schemeClr val="accent1"/>
              </a:solidFill>
              <a:ln w="9525" cap="flat" cmpd="sng">
                <a:solidFill>
                  <a:schemeClr val="tx1"/>
                </a:solidFill>
                <a:prstDash val="solid"/>
                <a:miter/>
                <a:headEnd type="none" w="med" len="med"/>
                <a:tailEnd type="none" w="med" len="med"/>
              </a:ln>
            </p:spPr>
            <p:txBody>
              <a:bodyPr/>
              <a:p>
                <a:pPr algn="ctr"/>
                <a:r>
                  <a:rPr lang="zh-CN" altLang="en-US" sz="2000" b="1" dirty="0">
                    <a:latin typeface="Times New Roman" panose="02020603050405020304" pitchFamily="18" charset="0"/>
                  </a:rPr>
                  <a:t>轻水堆</a:t>
                </a:r>
                <a:endParaRPr lang="zh-CN" altLang="en-US" sz="2000" b="1" dirty="0">
                  <a:latin typeface="Times New Roman" panose="02020603050405020304" pitchFamily="18" charset="0"/>
                </a:endParaRPr>
              </a:p>
            </p:txBody>
          </p:sp>
        </p:grpSp>
        <p:sp>
          <p:nvSpPr>
            <p:cNvPr id="23558" name="椭圆 32789"/>
            <p:cNvSpPr/>
            <p:nvPr/>
          </p:nvSpPr>
          <p:spPr>
            <a:xfrm>
              <a:off x="1584" y="2688"/>
              <a:ext cx="1296" cy="624"/>
            </a:xfrm>
            <a:prstGeom prst="ellipse">
              <a:avLst/>
            </a:prstGeom>
            <a:solidFill>
              <a:srgbClr val="FF9900"/>
            </a:solidFill>
            <a:ln w="9525" cap="flat" cmpd="sng">
              <a:solidFill>
                <a:schemeClr val="tx1"/>
              </a:solidFill>
              <a:prstDash val="solid"/>
              <a:headEnd type="none" w="med" len="med"/>
              <a:tailEnd type="none" w="med" len="med"/>
            </a:ln>
            <a:effectLst>
              <a:outerShdw dist="107763" dir="2699999" algn="ctr" rotWithShape="0">
                <a:schemeClr val="tx1"/>
              </a:outerShdw>
            </a:effectLst>
          </p:spPr>
          <p:txBody>
            <a:bodyPr wrap="none" anchor="ctr" anchorCtr="0"/>
            <a:p>
              <a:pPr algn="ctr"/>
              <a:r>
                <a:rPr lang="zh-CN" altLang="en-US" sz="2800" b="1" dirty="0">
                  <a:latin typeface="Times New Roman" panose="02020603050405020304" pitchFamily="18" charset="0"/>
                </a:rPr>
                <a:t>核反应堆</a:t>
              </a:r>
              <a:endParaRPr lang="zh-CN" altLang="en-US" sz="2800" b="1" dirty="0">
                <a:latin typeface="Times New Roman" panose="02020603050405020304" pitchFamily="18" charset="0"/>
              </a:endParaRPr>
            </a:p>
          </p:txBody>
        </p:sp>
      </p:gr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32771"/>
                                        </p:tgtEl>
                                        <p:attrNameLst>
                                          <p:attrName>style.visibility</p:attrName>
                                        </p:attrNameLst>
                                      </p:cBhvr>
                                      <p:to>
                                        <p:strVal val="visible"/>
                                      </p:to>
                                    </p:set>
                                    <p:animEffect transition="in" filter="blinds(vertical)">
                                      <p:cBhvr>
                                        <p:cTn id="7" dur="500"/>
                                        <p:tgtEl>
                                          <p:spTgt spid="3277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标题 123905"/>
          <p:cNvSpPr>
            <a:spLocks noGrp="1"/>
          </p:cNvSpPr>
          <p:nvPr>
            <p:ph type="title"/>
          </p:nvPr>
        </p:nvSpPr>
        <p:spPr>
          <a:xfrm>
            <a:off x="467544" y="411510"/>
            <a:ext cx="8229600" cy="857250"/>
          </a:xfrm>
          <a:noFill/>
          <a:ln>
            <a:noFill/>
          </a:ln>
          <a:effectLst/>
          <a:scene3d>
            <a:camera prst="orthographicFront"/>
            <a:lightRig rig="balanced" dir="t"/>
          </a:scene3d>
          <a:sp3d prstMaterial="plastic"/>
        </p:spPr>
        <p:txBody>
          <a:bodyPr anchor="ct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0" cap="none" spc="0" normalizeH="0" baseline="0" noProof="1">
                <a:ln>
                  <a:noFill/>
                </a:ln>
                <a:solidFill>
                  <a:schemeClr val="tx1"/>
                </a:solidFill>
                <a:effectLst/>
                <a:uLnTx/>
                <a:uFillTx/>
                <a:latin typeface="+mj-lt"/>
                <a:ea typeface="+mj-ea"/>
                <a:cs typeface="+mj-cs"/>
              </a:rPr>
              <a:t>核电站运行的两大问题：</a:t>
            </a:r>
            <a:r>
              <a:rPr kumimoji="0" lang="en-US" altLang="zh-CN" sz="2800" b="1" i="0" u="none" strike="noStrike" kern="0" cap="none" spc="0" normalizeH="0" baseline="0" noProof="1">
                <a:ln>
                  <a:noFill/>
                </a:ln>
                <a:solidFill>
                  <a:schemeClr val="tx1"/>
                </a:solidFill>
                <a:effectLst/>
                <a:uLnTx/>
                <a:uFillTx/>
                <a:latin typeface="+mj-lt"/>
                <a:ea typeface="+mj-ea"/>
                <a:cs typeface="+mj-cs"/>
              </a:rPr>
              <a:t>⑴</a:t>
            </a:r>
            <a:r>
              <a:rPr kumimoji="0" lang="zh-CN" altLang="en-US" sz="2800" b="1" i="0" u="none" strike="noStrike" kern="0" cap="none" spc="0" normalizeH="0" baseline="0" noProof="1">
                <a:ln>
                  <a:solidFill>
                    <a:srgbClr val="FF0000"/>
                  </a:solidFill>
                </a:ln>
                <a:solidFill>
                  <a:srgbClr val="FF0000"/>
                </a:solidFill>
                <a:effectLst/>
                <a:uLnTx/>
                <a:uFillTx/>
                <a:latin typeface="+mj-lt"/>
                <a:ea typeface="+mj-ea"/>
                <a:cs typeface="+mj-cs"/>
                <a:hlinkClick r:id="rId1" action="ppaction://hlinkfile"/>
              </a:rPr>
              <a:t>安全问题</a:t>
            </a:r>
            <a:endParaRPr kumimoji="0" lang="zh-CN" altLang="en-US" sz="2800" b="1" i="0" u="none" strike="noStrike" kern="0" cap="none" spc="0" normalizeH="0" baseline="0" noProof="1">
              <a:ln>
                <a:solidFill>
                  <a:srgbClr val="FF0000"/>
                </a:solidFill>
              </a:ln>
              <a:solidFill>
                <a:srgbClr val="FF0000"/>
              </a:solidFill>
              <a:effectLst/>
              <a:uLnTx/>
              <a:uFillTx/>
              <a:latin typeface="+mj-lt"/>
              <a:ea typeface="+mj-ea"/>
              <a:cs typeface="+mj-cs"/>
              <a:hlinkClick r:id="rId1" action="ppaction://hlinkfile"/>
            </a:endParaRPr>
          </a:p>
        </p:txBody>
      </p:sp>
      <p:pic>
        <p:nvPicPr>
          <p:cNvPr id="123908" name="图片 123907" descr="三里岛核电站"/>
          <p:cNvPicPr>
            <a:picLocks noChangeAspect="1"/>
          </p:cNvPicPr>
          <p:nvPr/>
        </p:nvPicPr>
        <p:blipFill>
          <a:blip r:embed="rId2"/>
          <a:stretch>
            <a:fillRect/>
          </a:stretch>
        </p:blipFill>
        <p:spPr>
          <a:xfrm>
            <a:off x="2268538" y="1563688"/>
            <a:ext cx="4406900" cy="2141537"/>
          </a:xfrm>
          <a:prstGeom prst="rect">
            <a:avLst/>
          </a:prstGeom>
          <a:noFill/>
          <a:ln w="9525">
            <a:noFill/>
          </a:ln>
        </p:spPr>
      </p:pic>
      <p:sp>
        <p:nvSpPr>
          <p:cNvPr id="2" name="文本框 1"/>
          <p:cNvSpPr txBox="1"/>
          <p:nvPr/>
        </p:nvSpPr>
        <p:spPr>
          <a:xfrm>
            <a:off x="2555776" y="4011910"/>
            <a:ext cx="4206601" cy="461665"/>
          </a:xfrm>
          <a:prstGeom prst="rect">
            <a:avLst/>
          </a:prstGeom>
          <a:noFill/>
        </p:spPr>
        <p:txBody>
          <a:bodyPr wrap="none">
            <a:spAutoFit/>
          </a:bodyPr>
          <a:lstStyle/>
          <a:p>
            <a:pPr marR="0" defTabSz="914400">
              <a:buClrTx/>
              <a:buSzTx/>
              <a:buFont typeface="Arial" panose="020B0604020202020204" pitchFamily="34" charset="0"/>
              <a:buNone/>
              <a:defRPr/>
            </a:pPr>
            <a:r>
              <a:rPr kumimoji="0" lang="zh-CN" altLang="zh-CN" b="1" kern="1200" cap="none" spc="0" normalizeH="0" baseline="0" noProof="1">
                <a:latin typeface="Times New Roman" panose="02020603050405020304" pitchFamily="18" charset="0"/>
                <a:ea typeface="宋体" panose="02010600030101010101" pitchFamily="2" charset="-122"/>
                <a:cs typeface="+mn-cs"/>
              </a:rPr>
              <a:t>核泄漏将给人类带来</a:t>
            </a:r>
            <a:r>
              <a:rPr kumimoji="0" lang="zh-CN" altLang="zh-CN" b="1" kern="1200" cap="none" spc="0" normalizeH="0" baseline="0" noProof="1">
                <a:ln>
                  <a:solidFill>
                    <a:srgbClr val="FF0000"/>
                  </a:solidFill>
                </a:ln>
                <a:solidFill>
                  <a:srgbClr val="FF0000"/>
                </a:solidFill>
                <a:latin typeface="Times New Roman" panose="02020603050405020304" pitchFamily="18" charset="0"/>
                <a:ea typeface="宋体" panose="02010600030101010101" pitchFamily="2" charset="-122"/>
                <a:cs typeface="+mn-cs"/>
                <a:hlinkClick r:id="rId3" action="ppaction://hlinkfile"/>
              </a:rPr>
              <a:t>巨大灾难</a:t>
            </a:r>
            <a:endParaRPr kumimoji="0" lang="zh-CN" altLang="zh-CN" b="1" kern="1200" cap="none" spc="0" normalizeH="0" baseline="0" noProof="1">
              <a:ln>
                <a:solidFill>
                  <a:srgbClr val="FF0000"/>
                </a:solidFill>
              </a:ln>
              <a:solidFill>
                <a:srgbClr val="FF0000"/>
              </a:solidFill>
              <a:latin typeface="Times New Roman" panose="02020603050405020304" pitchFamily="18" charset="0"/>
              <a:ea typeface="宋体" panose="02010600030101010101" pitchFamily="2" charset="-122"/>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23908"/>
                                        </p:tgtEl>
                                        <p:attrNameLst>
                                          <p:attrName>style.visibility</p:attrName>
                                        </p:attrNameLst>
                                      </p:cBhvr>
                                      <p:to>
                                        <p:strVal val="visible"/>
                                      </p:to>
                                    </p:set>
                                    <p:animEffect transition="in" filter="box(out)">
                                      <p:cBhvr>
                                        <p:cTn id="7" dur="500"/>
                                        <p:tgtEl>
                                          <p:spTgt spid="123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0836" name="图片 120835" descr="核废料处理系统"/>
          <p:cNvPicPr>
            <a:picLocks noChangeAspect="1"/>
          </p:cNvPicPr>
          <p:nvPr/>
        </p:nvPicPr>
        <p:blipFill>
          <a:blip r:embed="rId1"/>
          <a:stretch>
            <a:fillRect/>
          </a:stretch>
        </p:blipFill>
        <p:spPr>
          <a:xfrm>
            <a:off x="611188" y="681038"/>
            <a:ext cx="7634287" cy="3960812"/>
          </a:xfrm>
          <a:prstGeom prst="rect">
            <a:avLst/>
          </a:prstGeom>
          <a:noFill/>
          <a:ln w="9525">
            <a:noFill/>
          </a:ln>
        </p:spPr>
      </p:pic>
      <p:sp>
        <p:nvSpPr>
          <p:cNvPr id="25603" name="标题 120837"/>
          <p:cNvSpPr>
            <a:spLocks noGrp="1"/>
          </p:cNvSpPr>
          <p:nvPr>
            <p:ph type="title"/>
          </p:nvPr>
        </p:nvSpPr>
        <p:spPr>
          <a:xfrm>
            <a:off x="360363" y="69850"/>
            <a:ext cx="8229600" cy="857250"/>
          </a:xfrm>
          <a:noFill/>
          <a:ln>
            <a:noFill/>
          </a:ln>
        </p:spPr>
        <p:txBody>
          <a:bodyPr anchor="ctr" anchorCtr="0"/>
          <a:p>
            <a:pPr algn="just"/>
            <a:r>
              <a:rPr lang="en-US" altLang="zh-CN" sz="2400" b="1" dirty="0">
                <a:solidFill>
                  <a:schemeClr val="tx1"/>
                </a:solidFill>
                <a:ea typeface="宋体" panose="02010600030101010101" pitchFamily="2" charset="-122"/>
              </a:rPr>
              <a:t>⑵</a:t>
            </a:r>
            <a:r>
              <a:rPr lang="zh-CN" altLang="en-US" sz="2400" b="1" dirty="0">
                <a:solidFill>
                  <a:schemeClr val="tx1"/>
                </a:solidFill>
                <a:ea typeface="宋体" panose="02010600030101010101" pitchFamily="2" charset="-122"/>
              </a:rPr>
              <a:t>核废料的处理问题</a:t>
            </a:r>
            <a:endParaRPr lang="zh-CN" altLang="en-US" sz="2400" b="1" dirty="0">
              <a:solidFill>
                <a:schemeClr val="tx1"/>
              </a:solidFill>
              <a:ea typeface="宋体" panose="02010600030101010101" pitchFamily="2"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20836"/>
                                        </p:tgtEl>
                                        <p:attrNameLst>
                                          <p:attrName>style.visibility</p:attrName>
                                        </p:attrNameLst>
                                      </p:cBhvr>
                                      <p:to>
                                        <p:strVal val="visible"/>
                                      </p:to>
                                    </p:set>
                                    <p:animEffect transition="in" filter="box(out)">
                                      <p:cBhvr>
                                        <p:cTn id="7" dur="500"/>
                                        <p:tgtEl>
                                          <p:spTgt spid="1208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7" name="文本框 22536"/>
          <p:cNvSpPr txBox="1"/>
          <p:nvPr/>
        </p:nvSpPr>
        <p:spPr>
          <a:xfrm>
            <a:off x="468313" y="1492250"/>
            <a:ext cx="7543800" cy="904875"/>
          </a:xfrm>
          <a:prstGeom prst="rect">
            <a:avLst/>
          </a:prstGeom>
          <a:noFill/>
          <a:ln w="9525">
            <a:noFill/>
          </a:ln>
        </p:spPr>
        <p:txBody>
          <a:bodyPr>
            <a:spAutoFit/>
          </a:bodyPr>
          <a:p>
            <a:pPr>
              <a:spcBef>
                <a:spcPct val="20000"/>
              </a:spcBef>
            </a:pPr>
            <a:r>
              <a:rPr lang="zh-CN" altLang="en-US" b="1" dirty="0">
                <a:latin typeface="Times New Roman" panose="02020603050405020304" pitchFamily="18" charset="0"/>
              </a:rPr>
              <a:t>例：  </a:t>
            </a:r>
            <a:r>
              <a:rPr lang="en-US" altLang="zh-CN" b="1" baseline="30000" dirty="0">
                <a:latin typeface="Times New Roman" panose="02020603050405020304" pitchFamily="18" charset="0"/>
              </a:rPr>
              <a:t>2</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H  +  </a:t>
            </a:r>
            <a:r>
              <a:rPr lang="en-US" altLang="zh-CN" b="1" baseline="30000" dirty="0">
                <a:latin typeface="Times New Roman" panose="02020603050405020304" pitchFamily="18" charset="0"/>
              </a:rPr>
              <a:t>2</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H →  </a:t>
            </a:r>
            <a:r>
              <a:rPr lang="en-US" altLang="zh-CN" b="1" baseline="30000" dirty="0">
                <a:latin typeface="Times New Roman" panose="02020603050405020304" pitchFamily="18" charset="0"/>
              </a:rPr>
              <a:t>4</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He</a:t>
            </a:r>
            <a:endParaRPr lang="en-US" altLang="zh-CN" b="1" dirty="0">
              <a:latin typeface="Times New Roman" panose="02020603050405020304" pitchFamily="18" charset="0"/>
            </a:endParaRPr>
          </a:p>
          <a:p>
            <a:pPr>
              <a:spcBef>
                <a:spcPct val="20000"/>
              </a:spcBef>
            </a:pPr>
            <a:r>
              <a:rPr lang="en-US" altLang="zh-CN" b="1" dirty="0">
                <a:latin typeface="Times New Roman" panose="02020603050405020304" pitchFamily="18" charset="0"/>
              </a:rPr>
              <a:t>   1g</a:t>
            </a:r>
            <a:r>
              <a:rPr lang="zh-CN" altLang="en-US" b="1" dirty="0">
                <a:latin typeface="Times New Roman" panose="02020603050405020304" pitchFamily="18" charset="0"/>
              </a:rPr>
              <a:t>氘聚变时放出的能量为：</a:t>
            </a:r>
            <a:r>
              <a:rPr lang="en-US" altLang="zh-CN" b="1" dirty="0">
                <a:latin typeface="Times New Roman" panose="02020603050405020304" pitchFamily="18" charset="0"/>
              </a:rPr>
              <a:t>5.8×10 </a:t>
            </a:r>
            <a:r>
              <a:rPr lang="en-US" altLang="zh-CN" b="1" baseline="30000" dirty="0">
                <a:latin typeface="Times New Roman" panose="02020603050405020304" pitchFamily="18" charset="0"/>
              </a:rPr>
              <a:t>8 </a:t>
            </a:r>
            <a:r>
              <a:rPr lang="en-US" altLang="zh-CN" b="1" dirty="0">
                <a:latin typeface="Times New Roman" panose="02020603050405020304" pitchFamily="18" charset="0"/>
              </a:rPr>
              <a:t>kj</a:t>
            </a:r>
            <a:endParaRPr lang="en-US" altLang="zh-CN" b="1" dirty="0">
              <a:latin typeface="Times New Roman" panose="02020603050405020304" pitchFamily="18" charset="0"/>
            </a:endParaRPr>
          </a:p>
        </p:txBody>
      </p:sp>
      <p:sp>
        <p:nvSpPr>
          <p:cNvPr id="26627" name="标题 22529"/>
          <p:cNvSpPr>
            <a:spLocks noGrp="1"/>
          </p:cNvSpPr>
          <p:nvPr>
            <p:ph type="title"/>
          </p:nvPr>
        </p:nvSpPr>
        <p:spPr>
          <a:xfrm>
            <a:off x="323850" y="195263"/>
            <a:ext cx="7204075" cy="627062"/>
          </a:xfrm>
          <a:prstGeom prst="rect">
            <a:avLst/>
          </a:prstGeom>
          <a:noFill/>
          <a:ln>
            <a:noFill/>
          </a:ln>
        </p:spPr>
        <p:txBody>
          <a:bodyPr anchor="ctr" anchorCtr="0"/>
          <a:p>
            <a:pPr algn="just">
              <a:lnSpc>
                <a:spcPct val="90000"/>
              </a:lnSpc>
            </a:pPr>
            <a:r>
              <a:rPr lang="en-US" altLang="zh-CN" sz="2800" dirty="0">
                <a:solidFill>
                  <a:srgbClr val="CC3300"/>
                </a:solidFill>
                <a:latin typeface="隶书" panose="02010509060101010101" pitchFamily="49" charset="-122"/>
                <a:ea typeface="隶书" panose="02010509060101010101" pitchFamily="49" charset="-122"/>
              </a:rPr>
              <a:t>3.</a:t>
            </a:r>
            <a:r>
              <a:rPr lang="zh-CN" altLang="en-US" sz="2800" dirty="0">
                <a:solidFill>
                  <a:srgbClr val="CC3300"/>
                </a:solidFill>
                <a:latin typeface="隶书" panose="02010509060101010101" pitchFamily="49" charset="-122"/>
                <a:ea typeface="隶书" panose="02010509060101010101" pitchFamily="49" charset="-122"/>
              </a:rPr>
              <a:t>核聚变</a:t>
            </a:r>
            <a:endParaRPr lang="zh-CN" altLang="en-US" sz="2800" dirty="0">
              <a:solidFill>
                <a:srgbClr val="CC3300"/>
              </a:solidFill>
              <a:latin typeface="隶书" panose="02010509060101010101" pitchFamily="49" charset="-122"/>
              <a:ea typeface="隶书" panose="02010509060101010101" pitchFamily="49" charset="-122"/>
            </a:endParaRPr>
          </a:p>
        </p:txBody>
      </p:sp>
      <p:sp>
        <p:nvSpPr>
          <p:cNvPr id="2" name="文本占位符 22531"/>
          <p:cNvSpPr>
            <a:spLocks noGrp="1"/>
          </p:cNvSpPr>
          <p:nvPr>
            <p:ph type="body" idx="4294967295"/>
          </p:nvPr>
        </p:nvSpPr>
        <p:spPr>
          <a:xfrm>
            <a:off x="-19050" y="735013"/>
            <a:ext cx="9163050" cy="628650"/>
          </a:xfrm>
          <a:prstGeom prst="rect">
            <a:avLst/>
          </a:prstGeom>
          <a:noFill/>
          <a:ln w="9525">
            <a:noFill/>
          </a:ln>
        </p:spPr>
        <p:txBody>
          <a:bodyPr/>
          <a:p>
            <a:pPr algn="just">
              <a:lnSpc>
                <a:spcPct val="90000"/>
              </a:lnSpc>
              <a:buNone/>
            </a:pPr>
            <a:r>
              <a:rPr lang="en-US" altLang="zh-CN" sz="3600" dirty="0">
                <a:solidFill>
                  <a:srgbClr val="0000CC"/>
                </a:solidFill>
                <a:ea typeface="宋体" panose="02010600030101010101" pitchFamily="2" charset="-122"/>
              </a:rPr>
              <a:t>    </a:t>
            </a:r>
            <a:r>
              <a:rPr lang="zh-CN" altLang="en-US" sz="2400" b="1" dirty="0">
                <a:ea typeface="宋体" panose="02010600030101010101" pitchFamily="2" charset="-122"/>
              </a:rPr>
              <a:t>核聚变：由很轻的原子核在极高的温度下合并成一个较重的原子核的反应</a:t>
            </a:r>
            <a:endParaRPr lang="zh-CN" altLang="en-US" sz="2400" b="1" dirty="0">
              <a:ea typeface="宋体" panose="02010600030101010101" pitchFamily="2" charset="-122"/>
            </a:endParaRPr>
          </a:p>
        </p:txBody>
      </p:sp>
      <p:sp>
        <p:nvSpPr>
          <p:cNvPr id="22534" name="文本框 22533"/>
          <p:cNvSpPr txBox="1"/>
          <p:nvPr/>
        </p:nvSpPr>
        <p:spPr>
          <a:xfrm>
            <a:off x="7315200" y="4846638"/>
            <a:ext cx="1828800" cy="400050"/>
          </a:xfrm>
          <a:prstGeom prst="rect">
            <a:avLst/>
          </a:prstGeom>
          <a:solidFill>
            <a:srgbClr val="CCFFFF"/>
          </a:solidFill>
          <a:ln w="9525">
            <a:noFill/>
          </a:ln>
        </p:spPr>
        <p:txBody>
          <a:bodyPr>
            <a:spAutoFit/>
          </a:bodyPr>
          <a:p>
            <a:pPr>
              <a:spcBef>
                <a:spcPct val="50000"/>
              </a:spcBef>
            </a:pPr>
            <a:r>
              <a:rPr lang="zh-CN" altLang="en-US" sz="2000" dirty="0">
                <a:latin typeface="Times New Roman" panose="02020603050405020304" pitchFamily="18" charset="0"/>
              </a:rPr>
              <a:t>中国环流一号</a:t>
            </a:r>
            <a:endParaRPr lang="zh-CN" altLang="en-US" sz="2000" dirty="0">
              <a:latin typeface="Times New Roman" panose="02020603050405020304" pitchFamily="18" charset="0"/>
            </a:endParaRPr>
          </a:p>
        </p:txBody>
      </p:sp>
      <p:sp>
        <p:nvSpPr>
          <p:cNvPr id="22535" name="文本框 22534"/>
          <p:cNvSpPr txBox="1"/>
          <p:nvPr/>
        </p:nvSpPr>
        <p:spPr>
          <a:xfrm>
            <a:off x="323850" y="2193925"/>
            <a:ext cx="4987925" cy="2492375"/>
          </a:xfrm>
          <a:prstGeom prst="rect">
            <a:avLst/>
          </a:prstGeom>
          <a:noFill/>
          <a:ln w="9525">
            <a:noFill/>
          </a:ln>
        </p:spPr>
        <p:txBody>
          <a:bodyPr>
            <a:spAutoFit/>
          </a:bodyPr>
          <a:p>
            <a:pPr algn="just">
              <a:spcBef>
                <a:spcPct val="20000"/>
              </a:spcBef>
            </a:pPr>
            <a:r>
              <a:rPr lang="zh-CN" altLang="en-US" b="1" dirty="0">
                <a:solidFill>
                  <a:srgbClr val="0000FF"/>
                </a:solidFill>
                <a:latin typeface="Times New Roman" panose="02020603050405020304" pitchFamily="18" charset="0"/>
              </a:rPr>
              <a:t>核聚变的优点</a:t>
            </a:r>
            <a:r>
              <a:rPr lang="zh-CN" altLang="en-US" b="1" dirty="0">
                <a:solidFill>
                  <a:schemeClr val="bg1"/>
                </a:solidFill>
                <a:latin typeface="Times New Roman" panose="02020603050405020304" pitchFamily="18" charset="0"/>
              </a:rPr>
              <a:t>：</a:t>
            </a:r>
            <a:endParaRPr lang="zh-CN" altLang="en-US" b="1" dirty="0">
              <a:solidFill>
                <a:srgbClr val="FFFF00"/>
              </a:solidFill>
              <a:latin typeface="Times New Roman" panose="02020603050405020304" pitchFamily="18" charset="0"/>
            </a:endParaRPr>
          </a:p>
          <a:p>
            <a:pPr lvl="1" algn="just" eaLnBrk="1" hangingPunct="1">
              <a:spcBef>
                <a:spcPct val="20000"/>
              </a:spcBef>
              <a:buFont typeface="Wingdings" panose="05000000000000000000" pitchFamily="2" charset="2"/>
              <a:buChar char="l"/>
            </a:pPr>
            <a:r>
              <a:rPr lang="zh-CN" altLang="en-US" sz="2000" b="1" dirty="0">
                <a:latin typeface="Times New Roman" panose="02020603050405020304" pitchFamily="18" charset="0"/>
              </a:rPr>
              <a:t> 核聚变产物</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氦核，稳定，无放射性污染，无难于处理的废料</a:t>
            </a:r>
            <a:endParaRPr lang="zh-CN" altLang="en-US" sz="2000" b="1" dirty="0">
              <a:latin typeface="Times New Roman" panose="02020603050405020304" pitchFamily="18" charset="0"/>
            </a:endParaRPr>
          </a:p>
          <a:p>
            <a:pPr lvl="1" algn="just" eaLnBrk="1" hangingPunct="1">
              <a:spcBef>
                <a:spcPct val="20000"/>
              </a:spcBef>
              <a:buFont typeface="Wingdings" panose="05000000000000000000" pitchFamily="2" charset="2"/>
              <a:buChar char="l"/>
            </a:pPr>
            <a:r>
              <a:rPr lang="zh-CN" altLang="en-US" sz="2000" b="1" dirty="0">
                <a:latin typeface="Times New Roman" panose="02020603050405020304" pitchFamily="18" charset="0"/>
              </a:rPr>
              <a:t>  核聚变原料</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氘、氚，资源丰富，可从海水中提取</a:t>
            </a:r>
            <a:endParaRPr lang="zh-CN" altLang="en-US" sz="2000" b="1" dirty="0">
              <a:latin typeface="Times New Roman" panose="02020603050405020304" pitchFamily="18" charset="0"/>
            </a:endParaRPr>
          </a:p>
          <a:p>
            <a:pPr lvl="1" algn="just" eaLnBrk="1" hangingPunct="1">
              <a:spcBef>
                <a:spcPct val="20000"/>
              </a:spcBef>
            </a:pPr>
            <a:r>
              <a:rPr lang="en-US" altLang="zh-CN" sz="2000" b="1" dirty="0">
                <a:latin typeface="Times New Roman" panose="02020603050405020304" pitchFamily="18" charset="0"/>
              </a:rPr>
              <a:t>1kg</a:t>
            </a:r>
            <a:r>
              <a:rPr lang="zh-CN" altLang="en-US" sz="2000" b="1" dirty="0">
                <a:latin typeface="Times New Roman" panose="02020603050405020304" pitchFamily="18" charset="0"/>
              </a:rPr>
              <a:t>海水中含有</a:t>
            </a:r>
            <a:r>
              <a:rPr lang="en-US" altLang="zh-CN" sz="2000" b="1" dirty="0">
                <a:latin typeface="Times New Roman" panose="02020603050405020304" pitchFamily="18" charset="0"/>
              </a:rPr>
              <a:t>0.03g</a:t>
            </a:r>
            <a:r>
              <a:rPr lang="zh-CN" altLang="en-US" sz="2000" b="1" dirty="0">
                <a:latin typeface="Times New Roman" panose="02020603050405020304" pitchFamily="18" charset="0"/>
              </a:rPr>
              <a:t>氘，地球上的海水约有</a:t>
            </a:r>
            <a:r>
              <a:rPr lang="en-US" altLang="zh-CN" sz="2000" b="1" dirty="0">
                <a:latin typeface="Times New Roman" panose="02020603050405020304" pitchFamily="18" charset="0"/>
              </a:rPr>
              <a:t>10</a:t>
            </a:r>
            <a:r>
              <a:rPr lang="en-US" altLang="zh-CN" sz="2000" b="1" baseline="30000" dirty="0">
                <a:latin typeface="Times New Roman" panose="02020603050405020304" pitchFamily="18" charset="0"/>
              </a:rPr>
              <a:t>18</a:t>
            </a:r>
            <a:r>
              <a:rPr lang="zh-CN" altLang="en-US" sz="2000" b="1" dirty="0">
                <a:latin typeface="Times New Roman" panose="02020603050405020304" pitchFamily="18" charset="0"/>
              </a:rPr>
              <a:t>吨，聚变原料十分丰富。</a:t>
            </a:r>
            <a:endParaRPr lang="zh-CN" altLang="en-US" sz="2000" b="1" dirty="0">
              <a:latin typeface="Times New Roman" panose="02020603050405020304" pitchFamily="18" charset="0"/>
            </a:endParaRPr>
          </a:p>
        </p:txBody>
      </p:sp>
      <p:sp>
        <p:nvSpPr>
          <p:cNvPr id="27654" name="文本框 22535"/>
          <p:cNvSpPr txBox="1"/>
          <p:nvPr/>
        </p:nvSpPr>
        <p:spPr>
          <a:xfrm>
            <a:off x="250825" y="4070350"/>
            <a:ext cx="6192838" cy="1138238"/>
          </a:xfrm>
          <a:prstGeom prst="rect">
            <a:avLst/>
          </a:prstGeom>
          <a:noFill/>
          <a:ln w="9525">
            <a:noFill/>
          </a:ln>
        </p:spPr>
        <p:txBody>
          <a:bodyPr>
            <a:spAutoFit/>
          </a:bodyPr>
          <a:p>
            <a:pPr algn="just">
              <a:spcBef>
                <a:spcPct val="20000"/>
              </a:spcBef>
            </a:pPr>
            <a:r>
              <a:rPr lang="zh-CN" altLang="en-US" sz="2000" b="1" dirty="0">
                <a:solidFill>
                  <a:srgbClr val="0000FF"/>
                </a:solidFill>
                <a:latin typeface="Times New Roman" panose="02020603050405020304" pitchFamily="18" charset="0"/>
              </a:rPr>
              <a:t>            实现核聚变的两个关键问题：</a:t>
            </a:r>
            <a:endParaRPr lang="zh-CN" altLang="en-US" sz="2000" b="1" dirty="0">
              <a:solidFill>
                <a:srgbClr val="0000FF"/>
              </a:solidFill>
              <a:latin typeface="Times New Roman" panose="02020603050405020304" pitchFamily="18" charset="0"/>
            </a:endParaRPr>
          </a:p>
          <a:p>
            <a:pPr lvl="2" algn="just" eaLnBrk="1" hangingPunct="1">
              <a:spcBef>
                <a:spcPct val="20000"/>
              </a:spcBef>
              <a:buFont typeface="Wingdings" panose="05000000000000000000" pitchFamily="2" charset="2"/>
              <a:buChar char="l"/>
            </a:pPr>
            <a:r>
              <a:rPr lang="zh-CN" altLang="en-US" sz="2000" b="1" dirty="0">
                <a:latin typeface="Times New Roman" panose="02020603050405020304" pitchFamily="18" charset="0"/>
              </a:rPr>
              <a:t>反应温度足够高：</a:t>
            </a:r>
            <a:r>
              <a:rPr lang="en-US" altLang="zh-CN" sz="2000" b="1" dirty="0">
                <a:latin typeface="Times New Roman" panose="02020603050405020304" pitchFamily="18" charset="0"/>
              </a:rPr>
              <a:t>10</a:t>
            </a:r>
            <a:r>
              <a:rPr lang="en-US" altLang="zh-CN" sz="2000" b="1" baseline="30000" dirty="0">
                <a:latin typeface="Times New Roman" panose="02020603050405020304" pitchFamily="18" charset="0"/>
              </a:rPr>
              <a:t>9</a:t>
            </a:r>
            <a:r>
              <a:rPr lang="en-US" altLang="zh-CN" sz="2000" b="1" dirty="0">
                <a:latin typeface="宋体" panose="02010600030101010101" pitchFamily="2" charset="-122"/>
              </a:rPr>
              <a:t>℃</a:t>
            </a:r>
            <a:endParaRPr lang="en-US" altLang="zh-CN" sz="2000" b="1" dirty="0">
              <a:latin typeface="Times New Roman" panose="02020603050405020304" pitchFamily="18" charset="0"/>
            </a:endParaRPr>
          </a:p>
          <a:p>
            <a:pPr lvl="2" algn="just" eaLnBrk="1" hangingPunct="1">
              <a:spcBef>
                <a:spcPct val="20000"/>
              </a:spcBef>
              <a:buFont typeface="Wingdings" panose="05000000000000000000" pitchFamily="2" charset="2"/>
              <a:buChar char="l"/>
            </a:pPr>
            <a:r>
              <a:rPr lang="zh-CN" altLang="en-US" sz="2000" b="1" dirty="0">
                <a:latin typeface="Times New Roman" panose="02020603050405020304" pitchFamily="18" charset="0"/>
              </a:rPr>
              <a:t>人为控制核聚变反应的速度</a:t>
            </a:r>
            <a:r>
              <a:rPr lang="en-US" altLang="zh-CN" sz="2000" b="1" dirty="0">
                <a:latin typeface="Times New Roman" panose="02020603050405020304" pitchFamily="18" charset="0"/>
              </a:rPr>
              <a:t>——</a:t>
            </a:r>
            <a:r>
              <a:rPr lang="zh-CN" altLang="en-US" sz="2000" b="1" dirty="0">
                <a:latin typeface="Times New Roman" panose="02020603050405020304" pitchFamily="18" charset="0"/>
              </a:rPr>
              <a:t>受控核聚变</a:t>
            </a:r>
            <a:endParaRPr lang="zh-CN" altLang="en-US" sz="2000" b="1" dirty="0">
              <a:latin typeface="Times New Roman" panose="02020603050405020304" pitchFamily="18" charset="0"/>
            </a:endParaRPr>
          </a:p>
        </p:txBody>
      </p:sp>
      <p:pic>
        <p:nvPicPr>
          <p:cNvPr id="22533" name="图片 22532" descr=" 中国环流1号"/>
          <p:cNvPicPr>
            <a:picLocks noChangeAspect="1"/>
          </p:cNvPicPr>
          <p:nvPr/>
        </p:nvPicPr>
        <p:blipFill>
          <a:blip r:embed="rId1"/>
          <a:stretch>
            <a:fillRect/>
          </a:stretch>
        </p:blipFill>
        <p:spPr>
          <a:xfrm>
            <a:off x="5292725" y="2463800"/>
            <a:ext cx="3851275" cy="2049463"/>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537"/>
                                        </p:tgtEl>
                                        <p:attrNameLst>
                                          <p:attrName>style.visibility</p:attrName>
                                        </p:attrNameLst>
                                      </p:cBhvr>
                                      <p:to>
                                        <p:strVal val="visible"/>
                                      </p:to>
                                    </p:set>
                                    <p:animEffect transition="in" filter="blinds(horizontal)">
                                      <p:cBhvr>
                                        <p:cTn id="12" dur="500"/>
                                        <p:tgtEl>
                                          <p:spTgt spid="2253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535"/>
                                        </p:tgtEl>
                                        <p:attrNameLst>
                                          <p:attrName>style.visibility</p:attrName>
                                        </p:attrNameLst>
                                      </p:cBhvr>
                                      <p:to>
                                        <p:strVal val="visible"/>
                                      </p:to>
                                    </p:set>
                                    <p:animEffect transition="in" filter="blinds(horizontal)">
                                      <p:cBhvr>
                                        <p:cTn id="17" dur="500"/>
                                        <p:tgtEl>
                                          <p:spTgt spid="2253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654"/>
                                        </p:tgtEl>
                                        <p:attrNameLst>
                                          <p:attrName>style.visibility</p:attrName>
                                        </p:attrNameLst>
                                      </p:cBhvr>
                                      <p:to>
                                        <p:strVal val="visible"/>
                                      </p:to>
                                    </p:set>
                                    <p:animEffect transition="in" filter="blinds(horizontal)">
                                      <p:cBhvr>
                                        <p:cTn id="22" dur="500"/>
                                        <p:tgtEl>
                                          <p:spTgt spid="27654"/>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528" fill="hold" nodeType="clickEffect">
                                  <p:stCondLst>
                                    <p:cond delay="0"/>
                                  </p:stCondLst>
                                  <p:childTnLst>
                                    <p:set>
                                      <p:cBhvr>
                                        <p:cTn id="26" dur="1" fill="hold">
                                          <p:stCondLst>
                                            <p:cond delay="0"/>
                                          </p:stCondLst>
                                        </p:cTn>
                                        <p:tgtEl>
                                          <p:spTgt spid="22533"/>
                                        </p:tgtEl>
                                        <p:attrNameLst>
                                          <p:attrName>style.visibility</p:attrName>
                                        </p:attrNameLst>
                                      </p:cBhvr>
                                      <p:to>
                                        <p:strVal val="visible"/>
                                      </p:to>
                                    </p:set>
                                    <p:anim calcmode="lin" valueType="num">
                                      <p:cBhvr>
                                        <p:cTn id="27" dur="500" fill="hold"/>
                                        <p:tgtEl>
                                          <p:spTgt spid="22533"/>
                                        </p:tgtEl>
                                        <p:attrNameLst>
                                          <p:attrName>ppt_w</p:attrName>
                                        </p:attrNameLst>
                                      </p:cBhvr>
                                      <p:tavLst>
                                        <p:tav tm="0">
                                          <p:val>
                                            <p:fltVal val="0.000000"/>
                                          </p:val>
                                        </p:tav>
                                        <p:tav tm="100000">
                                          <p:val>
                                            <p:strVal val="#ppt_w"/>
                                          </p:val>
                                        </p:tav>
                                      </p:tavLst>
                                    </p:anim>
                                    <p:anim calcmode="lin" valueType="num">
                                      <p:cBhvr>
                                        <p:cTn id="28" dur="500" fill="hold"/>
                                        <p:tgtEl>
                                          <p:spTgt spid="22533"/>
                                        </p:tgtEl>
                                        <p:attrNameLst>
                                          <p:attrName>ppt_h</p:attrName>
                                        </p:attrNameLst>
                                      </p:cBhvr>
                                      <p:tavLst>
                                        <p:tav tm="0">
                                          <p:val>
                                            <p:fltVal val="0.000000"/>
                                          </p:val>
                                        </p:tav>
                                        <p:tav tm="100000">
                                          <p:val>
                                            <p:strVal val="#ppt_h"/>
                                          </p:val>
                                        </p:tav>
                                      </p:tavLst>
                                    </p:anim>
                                    <p:anim calcmode="lin" valueType="num">
                                      <p:cBhvr>
                                        <p:cTn id="29" dur="500" fill="hold"/>
                                        <p:tgtEl>
                                          <p:spTgt spid="22533"/>
                                        </p:tgtEl>
                                        <p:attrNameLst>
                                          <p:attrName>ppt_x</p:attrName>
                                        </p:attrNameLst>
                                      </p:cBhvr>
                                      <p:tavLst>
                                        <p:tav tm="0">
                                          <p:val>
                                            <p:fltVal val="0.500000"/>
                                          </p:val>
                                        </p:tav>
                                        <p:tav tm="100000">
                                          <p:val>
                                            <p:strVal val="#ppt_x"/>
                                          </p:val>
                                        </p:tav>
                                      </p:tavLst>
                                    </p:anim>
                                    <p:anim calcmode="lin" valueType="num">
                                      <p:cBhvr>
                                        <p:cTn id="30" dur="500" fill="hold"/>
                                        <p:tgtEl>
                                          <p:spTgt spid="22533"/>
                                        </p:tgtEl>
                                        <p:attrNameLst>
                                          <p:attrName>ppt_y</p:attrName>
                                        </p:attrNameLst>
                                      </p:cBhvr>
                                      <p:tavLst>
                                        <p:tav tm="0">
                                          <p:val>
                                            <p:fltVal val="0.500000"/>
                                          </p:val>
                                        </p:tav>
                                        <p:tav tm="100000">
                                          <p:val>
                                            <p:strVal val="#ppt_y"/>
                                          </p:val>
                                        </p:tav>
                                      </p:tavLst>
                                    </p:anim>
                                  </p:childTnLst>
                                </p:cTn>
                              </p:par>
                            </p:childTnLst>
                          </p:cTn>
                        </p:par>
                        <p:par>
                          <p:cTn id="31" fill="hold">
                            <p:stCondLst>
                              <p:cond delay="500"/>
                            </p:stCondLst>
                            <p:childTnLst>
                              <p:par>
                                <p:cTn id="32" presetID="9" presetClass="entr" presetSubtype="0" fill="hold" grpId="0" nodeType="afterEffect">
                                  <p:stCondLst>
                                    <p:cond delay="0"/>
                                  </p:stCondLst>
                                  <p:childTnLst>
                                    <p:set>
                                      <p:cBhvr>
                                        <p:cTn id="33" dur="1" fill="hold">
                                          <p:stCondLst>
                                            <p:cond delay="0"/>
                                          </p:stCondLst>
                                        </p:cTn>
                                        <p:tgtEl>
                                          <p:spTgt spid="22534"/>
                                        </p:tgtEl>
                                        <p:attrNameLst>
                                          <p:attrName>style.visibility</p:attrName>
                                        </p:attrNameLst>
                                      </p:cBhvr>
                                      <p:to>
                                        <p:strVal val="visible"/>
                                      </p:to>
                                    </p:set>
                                    <p:animEffect transition="in" filter="dissolve">
                                      <p:cBhvr>
                                        <p:cTn id="34" dur="500"/>
                                        <p:tgtEl>
                                          <p:spTgt spid="225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7" grpId="0"/>
      <p:bldP spid="2" grpId="0"/>
      <p:bldP spid="22534" grpId="0" animBg="1"/>
      <p:bldP spid="22535" grpId="0"/>
      <p:bldP spid="2765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9090" name="图片 89089"/>
          <p:cNvPicPr>
            <a:picLocks noChangeAspect="1"/>
          </p:cNvPicPr>
          <p:nvPr/>
        </p:nvPicPr>
        <p:blipFill>
          <a:blip r:embed="rId1"/>
          <a:stretch>
            <a:fillRect/>
          </a:stretch>
        </p:blipFill>
        <p:spPr>
          <a:xfrm>
            <a:off x="179388" y="3327400"/>
            <a:ext cx="3543300" cy="1685925"/>
          </a:xfrm>
          <a:prstGeom prst="rect">
            <a:avLst/>
          </a:prstGeom>
          <a:noFill/>
          <a:ln w="9525">
            <a:noFill/>
          </a:ln>
        </p:spPr>
      </p:pic>
      <p:sp>
        <p:nvSpPr>
          <p:cNvPr id="27651" name="标题 89090"/>
          <p:cNvSpPr>
            <a:spLocks noGrp="1"/>
          </p:cNvSpPr>
          <p:nvPr>
            <p:ph type="title"/>
          </p:nvPr>
        </p:nvSpPr>
        <p:spPr>
          <a:xfrm>
            <a:off x="395288" y="50800"/>
            <a:ext cx="3848100" cy="669925"/>
          </a:xfrm>
          <a:solidFill>
            <a:srgbClr val="006600"/>
          </a:solidFill>
          <a:ln>
            <a:noFill/>
          </a:ln>
        </p:spPr>
        <p:txBody>
          <a:bodyPr anchor="ctr" anchorCtr="0"/>
          <a:p>
            <a:pPr algn="just">
              <a:lnSpc>
                <a:spcPct val="90000"/>
              </a:lnSpc>
            </a:pPr>
            <a:r>
              <a:rPr lang="" altLang="zh-CN" sz="3200" b="1" dirty="0">
                <a:solidFill>
                  <a:srgbClr val="FF9900"/>
                </a:solidFill>
              </a:rPr>
              <a:t>7.2.2.  </a:t>
            </a:r>
            <a:r>
              <a:rPr lang="" altLang="en-US" sz="3200" b="1" dirty="0">
                <a:solidFill>
                  <a:srgbClr val="FF9900"/>
                </a:solidFill>
              </a:rPr>
              <a:t>太阳能</a:t>
            </a:r>
            <a:endParaRPr lang="" altLang="en-US" b="1" dirty="0">
              <a:solidFill>
                <a:srgbClr val="FF9900"/>
              </a:solidFill>
            </a:endParaRPr>
          </a:p>
        </p:txBody>
      </p:sp>
      <p:sp>
        <p:nvSpPr>
          <p:cNvPr id="89092" name="内容占位符 89091"/>
          <p:cNvSpPr>
            <a:spLocks noGrp="1"/>
          </p:cNvSpPr>
          <p:nvPr>
            <p:ph idx="1"/>
          </p:nvPr>
        </p:nvSpPr>
        <p:spPr>
          <a:xfrm>
            <a:off x="395288" y="817563"/>
            <a:ext cx="5410200" cy="3394075"/>
          </a:xfrm>
          <a:noFill/>
          <a:ln>
            <a:noFill/>
          </a:ln>
        </p:spPr>
        <p:txBody>
          <a:bodyPr/>
          <a:p>
            <a:pPr algn="just">
              <a:lnSpc>
                <a:spcPct val="80000"/>
              </a:lnSpc>
              <a:buNone/>
            </a:pPr>
            <a:r>
              <a:rPr lang="zh-CN" altLang="en-US" sz="2400" b="1" dirty="0">
                <a:latin typeface="Times New Roman" panose="02020603050405020304" pitchFamily="18" charset="0"/>
                <a:ea typeface="宋体" panose="02010600030101010101" pitchFamily="2" charset="-122"/>
              </a:rPr>
              <a:t>太阳能的本质是核聚变能，其中最主要的核反应为：</a:t>
            </a:r>
            <a:endParaRPr lang="zh-CN" altLang="en-US" sz="2400" b="1" dirty="0">
              <a:latin typeface="Times New Roman" panose="02020603050405020304" pitchFamily="18" charset="0"/>
              <a:ea typeface="宋体" panose="02010600030101010101" pitchFamily="2" charset="-122"/>
            </a:endParaRPr>
          </a:p>
          <a:p>
            <a:pPr algn="just">
              <a:lnSpc>
                <a:spcPct val="80000"/>
              </a:lnSpc>
              <a:buNone/>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4 </a:t>
            </a:r>
            <a:r>
              <a:rPr lang="en-US" altLang="zh-CN" sz="2400" b="1" baseline="30000" dirty="0">
                <a:latin typeface="Times New Roman" panose="02020603050405020304" pitchFamily="18" charset="0"/>
                <a:ea typeface="宋体" panose="02010600030101010101" pitchFamily="2" charset="-122"/>
              </a:rPr>
              <a:t>1</a:t>
            </a:r>
            <a:r>
              <a:rPr lang="en-US" altLang="zh-CN" sz="2400" b="1" baseline="-25000" dirty="0">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rPr>
              <a:t>H → </a:t>
            </a:r>
            <a:r>
              <a:rPr lang="en-US" altLang="zh-CN" sz="2400" b="1" baseline="30000" dirty="0">
                <a:latin typeface="Times New Roman" panose="02020603050405020304" pitchFamily="18" charset="0"/>
                <a:ea typeface="宋体" panose="02010600030101010101" pitchFamily="2" charset="-122"/>
              </a:rPr>
              <a:t>4</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He + 2 </a:t>
            </a:r>
            <a:r>
              <a:rPr lang="en-US" altLang="zh-CN" sz="2400" b="1" baseline="-25000" dirty="0">
                <a:latin typeface="Times New Roman" panose="02020603050405020304" pitchFamily="18" charset="0"/>
                <a:ea typeface="宋体" panose="02010600030101010101" pitchFamily="2" charset="-122"/>
              </a:rPr>
              <a:t>-1</a:t>
            </a:r>
            <a:r>
              <a:rPr lang="en-US" altLang="zh-CN" sz="2400" b="1" baseline="30000" dirty="0">
                <a:latin typeface="Times New Roman" panose="02020603050405020304" pitchFamily="18" charset="0"/>
                <a:ea typeface="宋体" panose="02010600030101010101" pitchFamily="2" charset="-122"/>
              </a:rPr>
              <a:t>0</a:t>
            </a:r>
            <a:r>
              <a:rPr lang="en-US" altLang="zh-CN" sz="2400" b="1" dirty="0">
                <a:latin typeface="Times New Roman" panose="02020603050405020304" pitchFamily="18" charset="0"/>
                <a:ea typeface="宋体" panose="02010600030101010101" pitchFamily="2" charset="-122"/>
              </a:rPr>
              <a:t>e</a:t>
            </a:r>
            <a:r>
              <a:rPr lang="en-US" altLang="zh-CN" sz="2400" b="1" baseline="30000" dirty="0">
                <a:latin typeface="Times New Roman" panose="02020603050405020304" pitchFamily="18" charset="0"/>
                <a:ea typeface="宋体" panose="02010600030101010101" pitchFamily="2" charset="-122"/>
              </a:rPr>
              <a:t>-</a:t>
            </a:r>
            <a:endParaRPr lang="en-US" altLang="zh-CN" sz="2400" b="1" dirty="0">
              <a:latin typeface="Times New Roman" panose="02020603050405020304" pitchFamily="18" charset="0"/>
              <a:ea typeface="宋体" panose="02010600030101010101" pitchFamily="2" charset="-122"/>
            </a:endParaRPr>
          </a:p>
          <a:p>
            <a:pPr>
              <a:lnSpc>
                <a:spcPct val="80000"/>
              </a:lnSpc>
              <a:buNone/>
            </a:pPr>
            <a:r>
              <a:rPr lang="zh-CN" altLang="en-US" sz="2400" b="1" dirty="0">
                <a:latin typeface="Times New Roman" panose="02020603050405020304" pitchFamily="18" charset="0"/>
                <a:ea typeface="宋体" panose="02010600030101010101" pitchFamily="2" charset="-122"/>
              </a:rPr>
              <a:t>该反应释放出的核能约为：</a:t>
            </a:r>
            <a:endParaRPr lang="zh-CN" altLang="en-US" sz="2400" b="1" dirty="0">
              <a:latin typeface="Times New Roman" panose="02020603050405020304" pitchFamily="18" charset="0"/>
              <a:ea typeface="宋体" panose="02010600030101010101" pitchFamily="2" charset="-122"/>
            </a:endParaRPr>
          </a:p>
          <a:p>
            <a:pPr>
              <a:lnSpc>
                <a:spcPct val="80000"/>
              </a:lnSpc>
              <a:buNone/>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2.39×10</a:t>
            </a:r>
            <a:r>
              <a:rPr lang="en-US" altLang="zh-CN" sz="2400" b="1" baseline="30000" dirty="0">
                <a:latin typeface="Times New Roman" panose="02020603050405020304" pitchFamily="18" charset="0"/>
                <a:ea typeface="宋体" panose="02010600030101010101" pitchFamily="2" charset="-122"/>
              </a:rPr>
              <a:t>9</a:t>
            </a:r>
            <a:r>
              <a:rPr lang="en-US" altLang="zh-CN" sz="2400" b="1" dirty="0">
                <a:latin typeface="Times New Roman" panose="02020603050405020304" pitchFamily="18" charset="0"/>
                <a:ea typeface="宋体" panose="02010600030101010101" pitchFamily="2" charset="-122"/>
              </a:rPr>
              <a:t>kj·mol</a:t>
            </a:r>
            <a:r>
              <a:rPr lang="en-US" altLang="zh-CN" sz="2400" b="1" baseline="30000" dirty="0">
                <a:latin typeface="Times New Roman" panose="02020603050405020304" pitchFamily="18" charset="0"/>
                <a:ea typeface="宋体" panose="02010600030101010101" pitchFamily="2" charset="-122"/>
              </a:rPr>
              <a:t>-1</a:t>
            </a:r>
            <a:endParaRPr lang="zh-CN" altLang="en-US" sz="2400" b="1" dirty="0">
              <a:latin typeface="Times New Roman" panose="02020603050405020304" pitchFamily="18" charset="0"/>
              <a:ea typeface="宋体" panose="02010600030101010101" pitchFamily="2" charset="-122"/>
            </a:endParaRPr>
          </a:p>
          <a:p>
            <a:pPr algn="just">
              <a:lnSpc>
                <a:spcPct val="80000"/>
              </a:lnSpc>
              <a:buNone/>
            </a:pPr>
            <a:r>
              <a:rPr lang="zh-CN" altLang="en-US" sz="2400" b="1" dirty="0">
                <a:latin typeface="Times New Roman" panose="02020603050405020304" pitchFamily="18" charset="0"/>
                <a:ea typeface="宋体" panose="02010600030101010101" pitchFamily="2" charset="-122"/>
              </a:rPr>
              <a:t>太阳能利用方法：</a:t>
            </a:r>
            <a:endParaRPr lang="zh-CN" altLang="en-US" sz="2400" b="1" dirty="0">
              <a:latin typeface="Times New Roman" panose="02020603050405020304" pitchFamily="18" charset="0"/>
              <a:ea typeface="宋体" panose="02010600030101010101" pitchFamily="2" charset="-122"/>
            </a:endParaRPr>
          </a:p>
          <a:p>
            <a:pPr lvl="2" algn="just">
              <a:lnSpc>
                <a:spcPct val="80000"/>
              </a:lnSpc>
              <a:buNone/>
            </a:pPr>
            <a:r>
              <a:rPr lang="en-US" altLang="zh-CN" b="1" dirty="0">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宋体" panose="02010600030101010101" pitchFamily="2" charset="-122"/>
              </a:rPr>
              <a:t>）光</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热转换</a:t>
            </a:r>
            <a:endParaRPr lang="zh-CN" altLang="en-US" b="1" dirty="0">
              <a:latin typeface="Times New Roman" panose="02020603050405020304" pitchFamily="18" charset="0"/>
              <a:ea typeface="宋体" panose="02010600030101010101" pitchFamily="2" charset="-122"/>
            </a:endParaRPr>
          </a:p>
          <a:p>
            <a:pPr lvl="2" algn="just">
              <a:lnSpc>
                <a:spcPct val="80000"/>
              </a:lnSpc>
              <a:buNone/>
            </a:pPr>
            <a:r>
              <a:rPr lang="en-US" altLang="zh-CN" b="1" dirty="0">
                <a:latin typeface="Times New Roman" panose="02020603050405020304" pitchFamily="18" charset="0"/>
                <a:ea typeface="宋体" panose="02010600030101010101" pitchFamily="2" charset="-122"/>
              </a:rPr>
              <a:t>2</a:t>
            </a:r>
            <a:r>
              <a:rPr lang="zh-CN" altLang="en-US" b="1" dirty="0">
                <a:latin typeface="Times New Roman" panose="02020603050405020304" pitchFamily="18" charset="0"/>
                <a:ea typeface="宋体" panose="02010600030101010101" pitchFamily="2" charset="-122"/>
              </a:rPr>
              <a:t>）光</a:t>
            </a:r>
            <a:r>
              <a:rPr lang="en-US" altLang="zh-CN" b="1" dirty="0">
                <a:latin typeface="Times New Roman" panose="02020603050405020304" pitchFamily="18" charset="0"/>
                <a:ea typeface="宋体" panose="02010600030101010101" pitchFamily="2" charset="-122"/>
              </a:rPr>
              <a:t>——</a:t>
            </a:r>
            <a:r>
              <a:rPr lang="zh-CN" altLang="en-US" b="1" dirty="0">
                <a:latin typeface="Times New Roman" panose="02020603050405020304" pitchFamily="18" charset="0"/>
                <a:ea typeface="宋体" panose="02010600030101010101" pitchFamily="2" charset="-122"/>
              </a:rPr>
              <a:t>电转换</a:t>
            </a:r>
            <a:endParaRPr lang="zh-CN" altLang="en-US" b="1" dirty="0">
              <a:latin typeface="Times New Roman" panose="02020603050405020304" pitchFamily="18" charset="0"/>
              <a:ea typeface="宋体" panose="02010600030101010101" pitchFamily="2" charset="-122"/>
            </a:endParaRPr>
          </a:p>
        </p:txBody>
      </p:sp>
      <p:pic>
        <p:nvPicPr>
          <p:cNvPr id="89093" name="图片 89092" descr="太阳能电池1"/>
          <p:cNvPicPr>
            <a:picLocks noChangeAspect="1"/>
          </p:cNvPicPr>
          <p:nvPr/>
        </p:nvPicPr>
        <p:blipFill>
          <a:blip r:embed="rId2"/>
          <a:stretch>
            <a:fillRect/>
          </a:stretch>
        </p:blipFill>
        <p:spPr>
          <a:xfrm>
            <a:off x="3635375" y="3279775"/>
            <a:ext cx="3313113" cy="1863725"/>
          </a:xfrm>
          <a:prstGeom prst="rect">
            <a:avLst/>
          </a:prstGeom>
          <a:noFill/>
          <a:ln w="9525">
            <a:noFill/>
          </a:ln>
        </p:spPr>
      </p:pic>
      <p:pic>
        <p:nvPicPr>
          <p:cNvPr id="89094" name="图片 89093" descr="太阳的电池"/>
          <p:cNvPicPr>
            <a:picLocks noChangeAspect="1"/>
          </p:cNvPicPr>
          <p:nvPr/>
        </p:nvPicPr>
        <p:blipFill>
          <a:blip r:embed="rId3"/>
          <a:stretch>
            <a:fillRect/>
          </a:stretch>
        </p:blipFill>
        <p:spPr>
          <a:xfrm>
            <a:off x="6253163" y="1978025"/>
            <a:ext cx="2819400" cy="1822450"/>
          </a:xfrm>
          <a:prstGeom prst="rect">
            <a:avLst/>
          </a:prstGeom>
          <a:noFill/>
          <a:ln w="9525">
            <a:noFill/>
          </a:ln>
        </p:spPr>
      </p:pic>
      <p:pic>
        <p:nvPicPr>
          <p:cNvPr id="89095" name="图片 89094"/>
          <p:cNvPicPr>
            <a:picLocks noChangeAspect="1"/>
          </p:cNvPicPr>
          <p:nvPr/>
        </p:nvPicPr>
        <p:blipFill>
          <a:blip r:embed="rId4"/>
          <a:stretch>
            <a:fillRect/>
          </a:stretch>
        </p:blipFill>
        <p:spPr>
          <a:xfrm>
            <a:off x="6084888" y="31750"/>
            <a:ext cx="2879725" cy="1946275"/>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89092"/>
                                        </p:tgtEl>
                                        <p:attrNameLst>
                                          <p:attrName>style.visibility</p:attrName>
                                        </p:attrNameLst>
                                      </p:cBhvr>
                                      <p:to>
                                        <p:strVal val="visible"/>
                                      </p:to>
                                    </p:set>
                                    <p:animEffect transition="in" filter="blinds(vertical)">
                                      <p:cBhvr>
                                        <p:cTn id="7" dur="500"/>
                                        <p:tgtEl>
                                          <p:spTgt spid="8909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89090"/>
                                        </p:tgtEl>
                                        <p:attrNameLst>
                                          <p:attrName>style.visibility</p:attrName>
                                        </p:attrNameLst>
                                      </p:cBhvr>
                                      <p:to>
                                        <p:strVal val="visible"/>
                                      </p:to>
                                    </p:set>
                                    <p:animEffect transition="in" filter="box(out)">
                                      <p:cBhvr>
                                        <p:cTn id="12" dur="500"/>
                                        <p:tgtEl>
                                          <p:spTgt spid="8909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89093"/>
                                        </p:tgtEl>
                                        <p:attrNameLst>
                                          <p:attrName>style.visibility</p:attrName>
                                        </p:attrNameLst>
                                      </p:cBhvr>
                                      <p:to>
                                        <p:strVal val="visible"/>
                                      </p:to>
                                    </p:set>
                                    <p:animEffect transition="in" filter="box(out)">
                                      <p:cBhvr>
                                        <p:cTn id="17" dur="500"/>
                                        <p:tgtEl>
                                          <p:spTgt spid="8909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89094"/>
                                        </p:tgtEl>
                                        <p:attrNameLst>
                                          <p:attrName>style.visibility</p:attrName>
                                        </p:attrNameLst>
                                      </p:cBhvr>
                                      <p:to>
                                        <p:strVal val="visible"/>
                                      </p:to>
                                    </p:set>
                                    <p:animEffect transition="in" filter="box(out)">
                                      <p:cBhvr>
                                        <p:cTn id="22" dur="500"/>
                                        <p:tgtEl>
                                          <p:spTgt spid="8909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89095"/>
                                        </p:tgtEl>
                                        <p:attrNameLst>
                                          <p:attrName>style.visibility</p:attrName>
                                        </p:attrNameLst>
                                      </p:cBhvr>
                                      <p:to>
                                        <p:strVal val="visible"/>
                                      </p:to>
                                    </p:set>
                                    <p:animEffect transition="in" filter="box(out)">
                                      <p:cBhvr>
                                        <p:cTn id="27" dur="500"/>
                                        <p:tgtEl>
                                          <p:spTgt spid="89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标题 90113"/>
          <p:cNvSpPr>
            <a:spLocks noGrp="1"/>
          </p:cNvSpPr>
          <p:nvPr>
            <p:ph type="title"/>
          </p:nvPr>
        </p:nvSpPr>
        <p:spPr>
          <a:xfrm>
            <a:off x="457200" y="206375"/>
            <a:ext cx="3251200" cy="754063"/>
          </a:xfrm>
          <a:solidFill>
            <a:srgbClr val="006600"/>
          </a:solidFill>
          <a:ln>
            <a:noFill/>
          </a:ln>
        </p:spPr>
        <p:txBody>
          <a:bodyPr anchor="ctr" anchorCtr="0"/>
          <a:p>
            <a:r>
              <a:rPr lang="" altLang="zh-CN" sz="3200" b="1" dirty="0">
                <a:solidFill>
                  <a:srgbClr val="FF9900"/>
                </a:solidFill>
              </a:rPr>
              <a:t>7.2.3.</a:t>
            </a:r>
            <a:r>
              <a:rPr lang="" altLang="en-US" sz="3200" b="1" dirty="0">
                <a:solidFill>
                  <a:srgbClr val="FF9900"/>
                </a:solidFill>
              </a:rPr>
              <a:t>生物质能</a:t>
            </a:r>
            <a:endParaRPr lang="" altLang="en-US" sz="3200" b="1" dirty="0">
              <a:solidFill>
                <a:srgbClr val="FF9900"/>
              </a:solidFill>
            </a:endParaRPr>
          </a:p>
        </p:txBody>
      </p:sp>
      <p:sp>
        <p:nvSpPr>
          <p:cNvPr id="90115" name="内容占位符 90114"/>
          <p:cNvSpPr>
            <a:spLocks noGrp="1"/>
          </p:cNvSpPr>
          <p:nvPr>
            <p:ph idx="1"/>
          </p:nvPr>
        </p:nvSpPr>
        <p:spPr>
          <a:xfrm>
            <a:off x="457200" y="1200150"/>
            <a:ext cx="8229600" cy="3394075"/>
          </a:xfrm>
          <a:noFill/>
          <a:ln>
            <a:noFill/>
          </a:ln>
        </p:spPr>
        <p:txBody>
          <a:bodyPr/>
          <a:p>
            <a:pPr>
              <a:buNone/>
            </a:pPr>
            <a:r>
              <a:rPr lang="zh-CN" altLang="en-US" sz="2400" b="1" dirty="0">
                <a:ea typeface="宋体" panose="02010600030101010101" pitchFamily="2" charset="-122"/>
              </a:rPr>
              <a:t>中国第一座垃圾发电站：</a:t>
            </a:r>
            <a:endParaRPr lang="zh-CN" altLang="en-US" sz="2400" b="1" dirty="0">
              <a:ea typeface="宋体" panose="02010600030101010101" pitchFamily="2" charset="-122"/>
            </a:endParaRPr>
          </a:p>
          <a:p>
            <a:pPr>
              <a:buNone/>
            </a:pPr>
            <a:r>
              <a:rPr lang="zh-CN" altLang="en-US" sz="2400" b="1" dirty="0">
                <a:ea typeface="宋体" panose="02010600030101010101" pitchFamily="2" charset="-122"/>
              </a:rPr>
              <a:t>深圳垃圾发电站</a:t>
            </a:r>
            <a:endParaRPr lang="zh-CN" altLang="en-US" sz="2000" b="1" dirty="0">
              <a:ea typeface="宋体" panose="02010600030101010101" pitchFamily="2" charset="-122"/>
            </a:endParaRPr>
          </a:p>
          <a:p>
            <a:pPr>
              <a:buNone/>
            </a:pPr>
            <a:endParaRPr lang="zh-CN" altLang="en-US" sz="2000" b="1" dirty="0">
              <a:ea typeface="宋体" panose="02010600030101010101" pitchFamily="2" charset="-122"/>
            </a:endParaRPr>
          </a:p>
        </p:txBody>
      </p:sp>
      <p:sp>
        <p:nvSpPr>
          <p:cNvPr id="90118" name="文本框 90117"/>
          <p:cNvSpPr txBox="1"/>
          <p:nvPr/>
        </p:nvSpPr>
        <p:spPr>
          <a:xfrm>
            <a:off x="381000" y="2800350"/>
            <a:ext cx="8382000" cy="1323975"/>
          </a:xfrm>
          <a:prstGeom prst="rect">
            <a:avLst/>
          </a:prstGeom>
          <a:noFill/>
          <a:ln w="9525">
            <a:noFill/>
          </a:ln>
        </p:spPr>
        <p:txBody>
          <a:bodyPr>
            <a:spAutoFit/>
          </a:bodyPr>
          <a:p>
            <a:pPr>
              <a:spcBef>
                <a:spcPct val="50000"/>
              </a:spcBef>
            </a:pPr>
            <a:r>
              <a:rPr lang="en-US" altLang="zh-CN" sz="2000" b="1" dirty="0">
                <a:latin typeface="Times New Roman" panose="02020603050405020304" pitchFamily="18" charset="0"/>
              </a:rPr>
              <a:t>1</a:t>
            </a:r>
            <a:r>
              <a:rPr lang="zh-CN" altLang="en-US" sz="2000" b="1" dirty="0">
                <a:latin typeface="Times New Roman" panose="02020603050405020304" pitchFamily="18" charset="0"/>
              </a:rPr>
              <a:t>）经过发酵或高温热分解制备甲醇、乙醇等液体燃料。</a:t>
            </a:r>
            <a:endParaRPr lang="zh-CN" altLang="en-US" sz="2000" b="1" dirty="0">
              <a:latin typeface="Times New Roman" panose="02020603050405020304" pitchFamily="18" charset="0"/>
            </a:endParaRPr>
          </a:p>
          <a:p>
            <a:pPr>
              <a:spcBef>
                <a:spcPct val="50000"/>
              </a:spcBef>
            </a:pPr>
            <a:r>
              <a:rPr lang="en-US" altLang="zh-CN" sz="2000" b="1" dirty="0">
                <a:latin typeface="Times New Roman" panose="02020603050405020304" pitchFamily="18" charset="0"/>
              </a:rPr>
              <a:t>2</a:t>
            </a:r>
            <a:r>
              <a:rPr lang="zh-CN" altLang="en-US" sz="2000" b="1" dirty="0">
                <a:latin typeface="Times New Roman" panose="02020603050405020304" pitchFamily="18" charset="0"/>
              </a:rPr>
              <a:t>）在密闭容器内经高温干馏生成一氧化碳、氢气、甲烷等气体燃料。</a:t>
            </a:r>
            <a:endParaRPr lang="zh-CN" altLang="en-US" sz="2000" b="1" dirty="0">
              <a:latin typeface="Times New Roman" panose="02020603050405020304" pitchFamily="18" charset="0"/>
            </a:endParaRPr>
          </a:p>
          <a:p>
            <a:pPr>
              <a:spcBef>
                <a:spcPct val="50000"/>
              </a:spcBef>
            </a:pPr>
            <a:r>
              <a:rPr lang="en-US" altLang="zh-CN" sz="2000" b="1" dirty="0">
                <a:latin typeface="Times New Roman" panose="02020603050405020304" pitchFamily="18" charset="0"/>
              </a:rPr>
              <a:t>3</a:t>
            </a:r>
            <a:r>
              <a:rPr lang="zh-CN" altLang="en-US" sz="2000" b="1" dirty="0">
                <a:latin typeface="Times New Roman" panose="02020603050405020304" pitchFamily="18" charset="0"/>
              </a:rPr>
              <a:t>）在厌氧条件下生成沼气（</a:t>
            </a:r>
            <a:r>
              <a:rPr lang="en-US" altLang="zh-CN" sz="2000" b="1" dirty="0">
                <a:latin typeface="Times New Roman" panose="02020603050405020304" pitchFamily="18" charset="0"/>
              </a:rPr>
              <a:t>CH</a:t>
            </a:r>
            <a:r>
              <a:rPr lang="en-US" altLang="zh-CN" sz="2000" b="1" baseline="-25000" dirty="0">
                <a:latin typeface="Times New Roman" panose="02020603050405020304" pitchFamily="18" charset="0"/>
              </a:rPr>
              <a:t>4</a:t>
            </a:r>
            <a:r>
              <a:rPr lang="zh-CN" altLang="en-US" sz="2000" b="1" dirty="0">
                <a:latin typeface="Times New Roman" panose="02020603050405020304" pitchFamily="18" charset="0"/>
              </a:rPr>
              <a:t>）。</a:t>
            </a:r>
            <a:endParaRPr lang="zh-CN" altLang="en-US" sz="2000" b="1" dirty="0">
              <a:latin typeface="Times New Roman" panose="02020603050405020304" pitchFamily="18" charset="0"/>
            </a:endParaRPr>
          </a:p>
        </p:txBody>
      </p:sp>
      <p:pic>
        <p:nvPicPr>
          <p:cNvPr id="90119" name="图片 90118"/>
          <p:cNvPicPr>
            <a:picLocks noChangeAspect="1"/>
          </p:cNvPicPr>
          <p:nvPr/>
        </p:nvPicPr>
        <p:blipFill>
          <a:blip r:embed="rId1"/>
          <a:stretch>
            <a:fillRect/>
          </a:stretch>
        </p:blipFill>
        <p:spPr>
          <a:xfrm>
            <a:off x="4800600" y="3371850"/>
            <a:ext cx="3752850" cy="1479550"/>
          </a:xfrm>
          <a:prstGeom prst="rect">
            <a:avLst/>
          </a:prstGeom>
          <a:noFill/>
          <a:ln w="9525">
            <a:noFill/>
          </a:ln>
        </p:spPr>
      </p:pic>
      <p:pic>
        <p:nvPicPr>
          <p:cNvPr id="90120" name="图片 90119" descr="郑州荣锦垃圾发电站"/>
          <p:cNvPicPr>
            <a:picLocks noChangeAspect="1"/>
          </p:cNvPicPr>
          <p:nvPr/>
        </p:nvPicPr>
        <p:blipFill>
          <a:blip r:embed="rId2"/>
          <a:stretch>
            <a:fillRect/>
          </a:stretch>
        </p:blipFill>
        <p:spPr>
          <a:xfrm>
            <a:off x="3886200" y="0"/>
            <a:ext cx="5257800" cy="2792413"/>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90114"/>
                                        </p:tgtEl>
                                        <p:attrNameLst>
                                          <p:attrName>style.visibility</p:attrName>
                                        </p:attrNameLst>
                                      </p:cBhvr>
                                      <p:to>
                                        <p:strVal val="visible"/>
                                      </p:to>
                                    </p:set>
                                    <p:animEffect transition="in" filter="blinds(vertical)">
                                      <p:cBhvr>
                                        <p:cTn id="7" dur="500"/>
                                        <p:tgtEl>
                                          <p:spTgt spid="901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0118"/>
                                        </p:tgtEl>
                                        <p:attrNameLst>
                                          <p:attrName>style.visibility</p:attrName>
                                        </p:attrNameLst>
                                      </p:cBhvr>
                                      <p:to>
                                        <p:strVal val="visible"/>
                                      </p:to>
                                    </p:set>
                                    <p:animEffect transition="in" filter="blinds(horizontal)">
                                      <p:cBhvr>
                                        <p:cTn id="12" dur="500"/>
                                        <p:tgtEl>
                                          <p:spTgt spid="9011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0115"/>
                                        </p:tgtEl>
                                        <p:attrNameLst>
                                          <p:attrName>style.visibility</p:attrName>
                                        </p:attrNameLst>
                                      </p:cBhvr>
                                      <p:to>
                                        <p:strVal val="visible"/>
                                      </p:to>
                                    </p:set>
                                    <p:animEffect transition="in" filter="blinds(horizontal)">
                                      <p:cBhvr>
                                        <p:cTn id="17" dur="500"/>
                                        <p:tgtEl>
                                          <p:spTgt spid="90115"/>
                                        </p:tgtEl>
                                      </p:cBhvr>
                                    </p:animEffect>
                                  </p:childTnLst>
                                </p:cTn>
                              </p:par>
                            </p:childTnLst>
                          </p:cTn>
                        </p:par>
                        <p:par>
                          <p:cTn id="18" fill="hold">
                            <p:stCondLst>
                              <p:cond delay="500"/>
                            </p:stCondLst>
                            <p:childTnLst>
                              <p:par>
                                <p:cTn id="19" presetID="4" presetClass="entr" presetSubtype="32" fill="hold" nodeType="afterEffect">
                                  <p:stCondLst>
                                    <p:cond delay="0"/>
                                  </p:stCondLst>
                                  <p:childTnLst>
                                    <p:set>
                                      <p:cBhvr>
                                        <p:cTn id="20" dur="1" fill="hold">
                                          <p:stCondLst>
                                            <p:cond delay="0"/>
                                          </p:stCondLst>
                                        </p:cTn>
                                        <p:tgtEl>
                                          <p:spTgt spid="90119"/>
                                        </p:tgtEl>
                                        <p:attrNameLst>
                                          <p:attrName>style.visibility</p:attrName>
                                        </p:attrNameLst>
                                      </p:cBhvr>
                                      <p:to>
                                        <p:strVal val="visible"/>
                                      </p:to>
                                    </p:set>
                                    <p:animEffect transition="in" filter="box(out)">
                                      <p:cBhvr>
                                        <p:cTn id="21" dur="500"/>
                                        <p:tgtEl>
                                          <p:spTgt spid="90119"/>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90120"/>
                                        </p:tgtEl>
                                        <p:attrNameLst>
                                          <p:attrName>style.visibility</p:attrName>
                                        </p:attrNameLst>
                                      </p:cBhvr>
                                      <p:to>
                                        <p:strVal val="visible"/>
                                      </p:to>
                                    </p:set>
                                    <p:animEffect transition="in" filter="box(out)">
                                      <p:cBhvr>
                                        <p:cTn id="26" dur="500"/>
                                        <p:tgtEl>
                                          <p:spTgt spid="90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bldLvl="0" animBg="1"/>
      <p:bldP spid="90115" grpId="0"/>
      <p:bldP spid="901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文本占位符 166914"/>
          <p:cNvSpPr>
            <a:spLocks noGrp="1" noChangeArrowheads="1"/>
          </p:cNvSpPr>
          <p:nvPr>
            <p:ph idx="1"/>
          </p:nvPr>
        </p:nvSpPr>
        <p:spPr bwMode="auto">
          <a:xfrm>
            <a:off x="1403350" y="2951163"/>
            <a:ext cx="3240088" cy="142081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Tx/>
              <a:buSzTx/>
              <a:buFontTx/>
              <a:buNone/>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1</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．锂离子电池</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．钠硫电池 </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altLang="zh-CN" sz="240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．银锌电池 </a:t>
            </a:r>
            <a:endParaRPr kumimoji="0" lang="zh-CN" altLang="en-US" sz="2400" b="1" i="0" u="none" strike="noStrike" kern="0" cap="none" spc="0" normalizeH="0" baseline="0" noProof="0" dirty="0" smtClean="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66916" name="矩形 166915"/>
          <p:cNvSpPr/>
          <p:nvPr/>
        </p:nvSpPr>
        <p:spPr>
          <a:xfrm>
            <a:off x="611188" y="249238"/>
            <a:ext cx="3035300" cy="581025"/>
          </a:xfrm>
          <a:prstGeom prst="rect">
            <a:avLst/>
          </a:prstGeom>
          <a:solidFill>
            <a:srgbClr val="006600"/>
          </a:solidFill>
          <a:ln w="9525">
            <a:noFill/>
          </a:ln>
        </p:spPr>
        <p:txBody>
          <a:bodyPr anchor="ctr" anchorCtr="0"/>
          <a:p>
            <a:r>
              <a:rPr lang="" altLang="zh-CN" sz="3200" b="1" dirty="0">
                <a:solidFill>
                  <a:srgbClr val="FF9900"/>
                </a:solidFill>
                <a:latin typeface="Times New Roman" panose="02020603050405020304" pitchFamily="18" charset="0"/>
                <a:sym typeface="+mn-ea"/>
              </a:rPr>
              <a:t>7.2.4.</a:t>
            </a:r>
            <a:r>
              <a:rPr lang="" altLang="en-US" sz="3200" b="1" dirty="0">
                <a:solidFill>
                  <a:srgbClr val="FF9900"/>
                </a:solidFill>
                <a:latin typeface="Times New Roman" panose="02020603050405020304" pitchFamily="18" charset="0"/>
                <a:sym typeface="+mn-ea"/>
              </a:rPr>
              <a:t>绿色电池</a:t>
            </a:r>
            <a:endParaRPr lang="" altLang="en-US" sz="3200" b="1" dirty="0">
              <a:solidFill>
                <a:srgbClr val="FF9900"/>
              </a:solidFill>
              <a:latin typeface="Times New Roman" panose="02020603050405020304" pitchFamily="18" charset="0"/>
              <a:sym typeface="+mn-ea"/>
            </a:endParaRPr>
          </a:p>
        </p:txBody>
      </p:sp>
      <p:pic>
        <p:nvPicPr>
          <p:cNvPr id="29700" name="图片 166916" descr="F:/2018/工程化学/http:/www.taopic.com/uploads/allimg/110322/9116-11032220325644.jpg"/>
          <p:cNvPicPr>
            <a:picLocks noChangeAspect="1"/>
          </p:cNvPicPr>
          <p:nvPr/>
        </p:nvPicPr>
        <p:blipFill>
          <a:blip r:embed="rId1" r:link="rId2"/>
          <a:stretch>
            <a:fillRect/>
          </a:stretch>
        </p:blipFill>
        <p:spPr>
          <a:xfrm>
            <a:off x="4859338" y="3006725"/>
            <a:ext cx="4284662" cy="2136775"/>
          </a:xfrm>
          <a:prstGeom prst="rect">
            <a:avLst/>
          </a:prstGeom>
          <a:noFill/>
          <a:ln w="9525">
            <a:noFill/>
          </a:ln>
        </p:spPr>
      </p:pic>
      <p:sp>
        <p:nvSpPr>
          <p:cNvPr id="24580" name="矩形 166918"/>
          <p:cNvSpPr/>
          <p:nvPr/>
        </p:nvSpPr>
        <p:spPr>
          <a:xfrm>
            <a:off x="611187" y="892260"/>
            <a:ext cx="7920037" cy="2012859"/>
          </a:xfrm>
          <a:prstGeom prst="rect">
            <a:avLst/>
          </a:prstGeom>
          <a:noFill/>
          <a:ln w="9525">
            <a:noFill/>
          </a:ln>
        </p:spPr>
        <p:txBody>
          <a:bodyPr anchor="ctr">
            <a:spAutoFit/>
          </a:bodyPr>
          <a:lstStyle/>
          <a:p>
            <a:pPr marL="0" marR="0" lvl="0" indent="0" algn="l" defTabSz="914400" rtl="0" eaLnBrk="1" fontAlgn="base" latinLnBrk="0" hangingPunct="1">
              <a:lnSpc>
                <a:spcPct val="130000"/>
              </a:lnSpc>
              <a:spcBef>
                <a:spcPct val="0"/>
              </a:spcBef>
              <a:spcAft>
                <a:spcPct val="0"/>
              </a:spcAft>
              <a:buClrTx/>
              <a:buSzTx/>
              <a:buFont typeface="Arial" panose="020B0604020202020204" pitchFamily="34" charset="0"/>
              <a:buNone/>
              <a:defRPr/>
            </a:pPr>
            <a:r>
              <a:rPr kumimoji="0" lang="zh-CN" altLang="en-US" sz="2400" b="1" i="0" u="none" strike="noStrike" kern="1200" cap="none" spc="0" normalizeH="0" baseline="0" noProof="1" smtClean="0">
                <a:ln>
                  <a:noFill/>
                </a:ln>
                <a:solidFill>
                  <a:schemeClr val="tx1"/>
                </a:solidFill>
                <a:effectLst/>
                <a:uLnTx/>
                <a:uFillTx/>
                <a:latin typeface="Times New Roman" panose="02020603050405020304" pitchFamily="18" charset="0"/>
                <a:ea typeface="宋体" panose="02010600030101010101" pitchFamily="2" charset="-122"/>
                <a:cs typeface="+mn-cs"/>
              </a:rPr>
              <a:t>       除</a:t>
            </a: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燃料电池外，其他新型电池也在研究开发之中，如锂离子电池、钠硫电池以及银锌镍氢电池等。这些新型电池与铅蓄电池相比，具有质量轻、体积小、贮存能量大以及无污染等优点，被称为</a:t>
            </a:r>
            <a:r>
              <a:rPr kumimoji="0" lang="zh-CN" altLang="en-US" sz="2400" b="1" i="0" u="none" strike="noStrike" kern="1200" cap="none" spc="0" normalizeH="0" baseline="0" noProof="1">
                <a:ln>
                  <a:solidFill>
                    <a:srgbClr val="FF0000"/>
                  </a:solidFill>
                </a:ln>
                <a:solidFill>
                  <a:schemeClr val="tx1"/>
                </a:solidFill>
                <a:effectLst/>
                <a:uLnTx/>
                <a:uFillTx/>
                <a:latin typeface="Times New Roman" panose="02020603050405020304" pitchFamily="18" charset="0"/>
                <a:ea typeface="宋体" panose="02010600030101010101" pitchFamily="2" charset="-122"/>
                <a:cs typeface="+mn-cs"/>
                <a:hlinkClick r:id="rId3" action="ppaction://hlinkfile"/>
              </a:rPr>
              <a:t>绿色电池</a:t>
            </a:r>
            <a:r>
              <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rPr>
              <a:t>。</a:t>
            </a:r>
            <a:endParaRPr kumimoji="0" lang="zh-CN" altLang="en-US" sz="2400" b="1"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9702" name="矩形 166919"/>
          <p:cNvSpPr/>
          <p:nvPr/>
        </p:nvSpPr>
        <p:spPr>
          <a:xfrm>
            <a:off x="-473075" y="2173288"/>
            <a:ext cx="341313" cy="246062"/>
          </a:xfrm>
          <a:prstGeom prst="rect">
            <a:avLst/>
          </a:prstGeom>
          <a:noFill/>
          <a:ln w="9525">
            <a:noFill/>
          </a:ln>
        </p:spPr>
        <p:txBody>
          <a:bodyPr wrap="none" anchor="ctr" anchorCtr="0">
            <a:spAutoFit/>
          </a:bodyPr>
          <a:p>
            <a:r>
              <a:rPr lang="zh-CN" altLang="en-US" sz="1000" dirty="0">
                <a:latin typeface="Times New Roman" panose="02020603050405020304" pitchFamily="18" charset="0"/>
              </a:rPr>
              <a:t>。</a:t>
            </a:r>
            <a:r>
              <a:rPr lang="zh-CN" altLang="en-US" sz="900" dirty="0">
                <a:latin typeface="Times New Roman" panose="02020603050405020304" pitchFamily="18" charset="0"/>
              </a:rPr>
              <a:t> </a:t>
            </a:r>
            <a:endParaRPr lang="zh-CN" altLang="en-US" dirty="0">
              <a:latin typeface="Times New Roman" panose="02020603050405020304" pitchFamily="18"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66916"/>
                                        </p:tgtEl>
                                        <p:attrNameLst>
                                          <p:attrName>style.visibility</p:attrName>
                                        </p:attrNameLst>
                                      </p:cBhvr>
                                      <p:to>
                                        <p:strVal val="visible"/>
                                      </p:to>
                                    </p:set>
                                    <p:animEffect transition="in" filter="blinds(vertical)">
                                      <p:cBhvr>
                                        <p:cTn id="7" dur="500"/>
                                        <p:tgtEl>
                                          <p:spTgt spid="16691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4580"/>
                                        </p:tgtEl>
                                        <p:attrNameLst>
                                          <p:attrName>style.visibility</p:attrName>
                                        </p:attrNameLst>
                                      </p:cBhvr>
                                      <p:to>
                                        <p:strVal val="visible"/>
                                      </p:to>
                                    </p:set>
                                    <p:animEffect transition="in" filter="checkerboard(across)">
                                      <p:cBhvr>
                                        <p:cTn id="12" dur="500"/>
                                        <p:tgtEl>
                                          <p:spTgt spid="24580"/>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0721"/>
                                        </p:tgtEl>
                                        <p:attrNameLst>
                                          <p:attrName>style.visibility</p:attrName>
                                        </p:attrNameLst>
                                      </p:cBhvr>
                                      <p:to>
                                        <p:strVal val="visible"/>
                                      </p:to>
                                    </p:set>
                                    <p:animEffect transition="in" filter="checkerboard(across)">
                                      <p:cBhvr>
                                        <p:cTn id="17" dur="500"/>
                                        <p:tgtEl>
                                          <p:spTgt spid="307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1" grpId="0"/>
      <p:bldP spid="166916"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7" name="内容占位符 149506"/>
          <p:cNvSpPr>
            <a:spLocks noGrp="1"/>
          </p:cNvSpPr>
          <p:nvPr>
            <p:ph idx="4294967295"/>
          </p:nvPr>
        </p:nvSpPr>
        <p:spPr>
          <a:xfrm>
            <a:off x="519113" y="1003300"/>
            <a:ext cx="8135937" cy="2376488"/>
          </a:xfrm>
          <a:prstGeom prst="rect">
            <a:avLst/>
          </a:prstGeom>
          <a:noFill/>
          <a:ln w="9525">
            <a:noFill/>
          </a:ln>
        </p:spPr>
        <p:txBody>
          <a:bodyPr/>
          <a:p>
            <a:pPr algn="just">
              <a:lnSpc>
                <a:spcPct val="125000"/>
              </a:lnSpc>
              <a:buNone/>
            </a:pPr>
            <a:r>
              <a:rPr lang="en-US" altLang="zh-CN" sz="2800" b="1" dirty="0">
                <a:solidFill>
                  <a:srgbClr val="FF0000"/>
                </a:solidFill>
                <a:ea typeface="宋体" panose="02010600030101010101" pitchFamily="2" charset="-122"/>
              </a:rPr>
              <a:t>1.  </a:t>
            </a:r>
            <a:r>
              <a:rPr lang="zh-CN" altLang="en-US" sz="2800" b="1" dirty="0">
                <a:solidFill>
                  <a:srgbClr val="FF0000"/>
                </a:solidFill>
                <a:ea typeface="宋体" panose="02010600030101010101" pitchFamily="2" charset="-122"/>
              </a:rPr>
              <a:t>氢能</a:t>
            </a:r>
            <a:r>
              <a:rPr lang="en-US" altLang="zh-CN" sz="2800" b="1" dirty="0">
                <a:solidFill>
                  <a:srgbClr val="FF0000"/>
                </a:solidFill>
                <a:ea typeface="宋体" panose="02010600030101010101" pitchFamily="2" charset="-122"/>
              </a:rPr>
              <a:t>——</a:t>
            </a:r>
            <a:r>
              <a:rPr lang="zh-CN" altLang="en-US" sz="2800" b="1" dirty="0">
                <a:solidFill>
                  <a:srgbClr val="FF0000"/>
                </a:solidFill>
                <a:ea typeface="宋体" panose="02010600030101010101" pitchFamily="2" charset="-122"/>
              </a:rPr>
              <a:t>以氢作为燃料而释放出的能量</a:t>
            </a:r>
            <a:endParaRPr lang="zh-CN" altLang="en-US" sz="2800" dirty="0">
              <a:solidFill>
                <a:srgbClr val="0000CC"/>
              </a:solidFill>
              <a:ea typeface="宋体" panose="02010600030101010101" pitchFamily="2" charset="-122"/>
            </a:endParaRPr>
          </a:p>
          <a:p>
            <a:pPr algn="just">
              <a:lnSpc>
                <a:spcPct val="125000"/>
              </a:lnSpc>
              <a:buNone/>
            </a:pPr>
            <a:r>
              <a:rPr lang="zh-CN" altLang="en-US" sz="2400" b="1" dirty="0">
                <a:ea typeface="宋体" panose="02010600030101010101" pitchFamily="2" charset="-122"/>
              </a:rPr>
              <a:t>氢能的特点：</a:t>
            </a:r>
            <a:endParaRPr lang="zh-CN" altLang="en-US" sz="2400" b="1" dirty="0">
              <a:ea typeface="宋体" panose="02010600030101010101" pitchFamily="2" charset="-122"/>
            </a:endParaRPr>
          </a:p>
          <a:p>
            <a:pPr algn="just">
              <a:lnSpc>
                <a:spcPct val="125000"/>
              </a:lnSpc>
              <a:buNone/>
            </a:pPr>
            <a:r>
              <a:rPr lang="zh-CN" altLang="en-US" sz="2000" b="1" dirty="0">
                <a:ea typeface="宋体" panose="02010600030101010101" pitchFamily="2" charset="-122"/>
              </a:rPr>
              <a:t> </a:t>
            </a:r>
            <a:r>
              <a:rPr lang="zh-CN" altLang="en-US" sz="2400" b="1" dirty="0">
                <a:ea typeface="宋体" panose="02010600030101010101" pitchFamily="2" charset="-122"/>
              </a:rPr>
              <a:t>（</a:t>
            </a:r>
            <a:r>
              <a:rPr lang="en-US" altLang="zh-CN" sz="2400" b="1" dirty="0">
                <a:ea typeface="宋体" panose="02010600030101010101" pitchFamily="2" charset="-122"/>
              </a:rPr>
              <a:t>1</a:t>
            </a:r>
            <a:r>
              <a:rPr lang="zh-CN" altLang="en-US" sz="2400" b="1" dirty="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氢气的导热性好，比大多数气体的导热系数高出</a:t>
            </a:r>
            <a:r>
              <a:rPr lang="en-US" altLang="zh-CN" sz="2400" b="1" dirty="0">
                <a:ea typeface="宋体" panose="02010600030101010101" pitchFamily="2" charset="-122"/>
              </a:rPr>
              <a:t>10</a:t>
            </a:r>
            <a:r>
              <a:rPr lang="zh-CN" altLang="en-US" sz="2400" b="1" dirty="0">
                <a:latin typeface="宋体" panose="02010600030101010101" pitchFamily="2" charset="-122"/>
                <a:ea typeface="宋体" panose="02010600030101010101" pitchFamily="2" charset="-122"/>
              </a:rPr>
              <a:t>倍</a:t>
            </a:r>
            <a:r>
              <a:rPr lang="zh-CN" altLang="en-US" sz="2400" b="1" dirty="0">
                <a:ea typeface="宋体" panose="02010600030101010101" pitchFamily="2" charset="-122"/>
              </a:rPr>
              <a:t> </a:t>
            </a:r>
            <a:endParaRPr lang="zh-CN" altLang="en-US" sz="2400" b="1" dirty="0">
              <a:ea typeface="宋体" panose="02010600030101010101" pitchFamily="2" charset="-122"/>
            </a:endParaRPr>
          </a:p>
          <a:p>
            <a:pPr algn="just">
              <a:lnSpc>
                <a:spcPct val="125000"/>
              </a:lnSpc>
              <a:buNone/>
            </a:pPr>
            <a:r>
              <a:rPr lang="zh-CN" altLang="en-US" sz="2400" b="1" dirty="0">
                <a:ea typeface="宋体" panose="02010600030101010101" pitchFamily="2" charset="-122"/>
              </a:rPr>
              <a:t>（</a:t>
            </a:r>
            <a:r>
              <a:rPr lang="en-US" altLang="zh-CN" sz="2400" b="1" dirty="0">
                <a:ea typeface="宋体" panose="02010600030101010101" pitchFamily="2" charset="-122"/>
              </a:rPr>
              <a:t>2</a:t>
            </a:r>
            <a:r>
              <a:rPr lang="zh-CN" altLang="en-US" sz="2400" b="1" dirty="0">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氢的发热值是所有化石燃料、化工燃料和生物燃料中最高的，是汽油发热值的</a:t>
            </a:r>
            <a:r>
              <a:rPr lang="en-US" altLang="zh-CN" sz="2400" b="1" dirty="0">
                <a:ea typeface="宋体" panose="02010600030101010101" pitchFamily="2" charset="-122"/>
              </a:rPr>
              <a:t>3</a:t>
            </a:r>
            <a:r>
              <a:rPr lang="zh-CN" altLang="en-US" sz="2400" b="1" dirty="0">
                <a:latin typeface="宋体" panose="02010600030101010101" pitchFamily="2" charset="-122"/>
                <a:ea typeface="宋体" panose="02010600030101010101" pitchFamily="2" charset="-122"/>
              </a:rPr>
              <a:t>倍。</a:t>
            </a:r>
            <a:endParaRPr lang="zh-CN" altLang="en-US" sz="2400" b="1" dirty="0">
              <a:latin typeface="宋体" panose="02010600030101010101" pitchFamily="2" charset="-122"/>
              <a:ea typeface="宋体" panose="02010600030101010101" pitchFamily="2" charset="-122"/>
            </a:endParaRPr>
          </a:p>
          <a:p>
            <a:pPr algn="just">
              <a:lnSpc>
                <a:spcPct val="125000"/>
              </a:lnSpc>
              <a:buNone/>
            </a:pP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3</a:t>
            </a:r>
            <a:r>
              <a:rPr lang="zh-CN" altLang="en-US" sz="2400" b="1" dirty="0">
                <a:latin typeface="宋体" panose="02010600030101010101" pitchFamily="2" charset="-122"/>
                <a:ea typeface="宋体" panose="02010600030101010101" pitchFamily="2" charset="-122"/>
              </a:rPr>
              <a:t>）氢燃烧性能好，点燃快，与空气混合时有广泛的可燃范围，而且燃点高，燃烧速度快 。</a:t>
            </a:r>
            <a:endParaRPr lang="zh-CN" altLang="en-US" sz="2400" b="1" dirty="0">
              <a:latin typeface="宋体" panose="02010600030101010101" pitchFamily="2" charset="-122"/>
              <a:ea typeface="宋体" panose="02010600030101010101" pitchFamily="2" charset="-122"/>
            </a:endParaRPr>
          </a:p>
          <a:p>
            <a:pPr algn="just">
              <a:lnSpc>
                <a:spcPct val="90000"/>
              </a:lnSpc>
              <a:buNone/>
            </a:pPr>
            <a:endParaRPr lang="zh-CN" altLang="en-US" sz="2000" b="1" dirty="0">
              <a:ea typeface="宋体" panose="02010600030101010101" pitchFamily="2" charset="-122"/>
            </a:endParaRPr>
          </a:p>
        </p:txBody>
      </p:sp>
      <p:sp>
        <p:nvSpPr>
          <p:cNvPr id="149508" name="矩形 149507"/>
          <p:cNvSpPr/>
          <p:nvPr/>
        </p:nvSpPr>
        <p:spPr>
          <a:xfrm>
            <a:off x="539750" y="411163"/>
            <a:ext cx="2868613" cy="581025"/>
          </a:xfrm>
          <a:prstGeom prst="rect">
            <a:avLst/>
          </a:prstGeom>
          <a:solidFill>
            <a:srgbClr val="006600"/>
          </a:solidFill>
          <a:ln w="9525">
            <a:noFill/>
          </a:ln>
        </p:spPr>
        <p:txBody>
          <a:bodyPr anchor="ctr" anchorCtr="0"/>
          <a:p>
            <a:r>
              <a:rPr lang="" altLang="zh-CN" sz="3200" b="1" dirty="0">
                <a:solidFill>
                  <a:srgbClr val="FF9900"/>
                </a:solidFill>
                <a:latin typeface="Times New Roman" panose="02020603050405020304" pitchFamily="18" charset="0"/>
                <a:sym typeface="+mn-ea"/>
              </a:rPr>
              <a:t>7.2.5.</a:t>
            </a:r>
            <a:r>
              <a:rPr lang="" altLang="en-US" sz="3200" b="1" dirty="0">
                <a:solidFill>
                  <a:srgbClr val="FF9900"/>
                </a:solidFill>
                <a:latin typeface="Times New Roman" panose="02020603050405020304" pitchFamily="18" charset="0"/>
                <a:sym typeface="+mn-ea"/>
              </a:rPr>
              <a:t>氢能</a:t>
            </a:r>
            <a:endParaRPr lang="" altLang="en-US" sz="3200" b="1" dirty="0">
              <a:solidFill>
                <a:srgbClr val="FF9900"/>
              </a:solidFill>
              <a:latin typeface="Times New Roman" panose="02020603050405020304" pitchFamily="18" charset="0"/>
              <a:sym typeface="+mn-ea"/>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49508"/>
                                        </p:tgtEl>
                                        <p:attrNameLst>
                                          <p:attrName>style.visibility</p:attrName>
                                        </p:attrNameLst>
                                      </p:cBhvr>
                                      <p:to>
                                        <p:strVal val="visible"/>
                                      </p:to>
                                    </p:set>
                                    <p:animEffect transition="in" filter="blinds(vertical)">
                                      <p:cBhvr>
                                        <p:cTn id="7" dur="500"/>
                                        <p:tgtEl>
                                          <p:spTgt spid="14950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9507">
                                            <p:txEl>
                                              <p:charRg st="0" end="22"/>
                                            </p:txEl>
                                          </p:spTgt>
                                        </p:tgtEl>
                                        <p:attrNameLst>
                                          <p:attrName>style.visibility</p:attrName>
                                        </p:attrNameLst>
                                      </p:cBhvr>
                                      <p:to>
                                        <p:strVal val="visible"/>
                                      </p:to>
                                    </p:set>
                                    <p:animEffect transition="in" filter="blinds(horizontal)">
                                      <p:cBhvr>
                                        <p:cTn id="12" dur="500"/>
                                        <p:tgtEl>
                                          <p:spTgt spid="149507">
                                            <p:txEl>
                                              <p:charRg st="0" end="2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9507">
                                            <p:txEl>
                                              <p:charRg st="22" end="29"/>
                                            </p:txEl>
                                          </p:spTgt>
                                        </p:tgtEl>
                                        <p:attrNameLst>
                                          <p:attrName>style.visibility</p:attrName>
                                        </p:attrNameLst>
                                      </p:cBhvr>
                                      <p:to>
                                        <p:strVal val="visible"/>
                                      </p:to>
                                    </p:set>
                                    <p:animEffect transition="in" filter="blinds(horizontal)">
                                      <p:cBhvr>
                                        <p:cTn id="17" dur="500"/>
                                        <p:tgtEl>
                                          <p:spTgt spid="149507">
                                            <p:txEl>
                                              <p:charRg st="22" end="2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9507">
                                            <p:txEl>
                                              <p:charRg st="29" end="59"/>
                                            </p:txEl>
                                          </p:spTgt>
                                        </p:tgtEl>
                                        <p:attrNameLst>
                                          <p:attrName>style.visibility</p:attrName>
                                        </p:attrNameLst>
                                      </p:cBhvr>
                                      <p:to>
                                        <p:strVal val="visible"/>
                                      </p:to>
                                    </p:set>
                                    <p:animEffect transition="in" filter="blinds(horizontal)">
                                      <p:cBhvr>
                                        <p:cTn id="22" dur="500"/>
                                        <p:tgtEl>
                                          <p:spTgt spid="149507">
                                            <p:txEl>
                                              <p:charRg st="29" end="5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49507">
                                            <p:txEl>
                                              <p:charRg st="59" end="100"/>
                                            </p:txEl>
                                          </p:spTgt>
                                        </p:tgtEl>
                                        <p:attrNameLst>
                                          <p:attrName>style.visibility</p:attrName>
                                        </p:attrNameLst>
                                      </p:cBhvr>
                                      <p:to>
                                        <p:strVal val="visible"/>
                                      </p:to>
                                    </p:set>
                                    <p:animEffect transition="in" filter="blinds(horizontal)">
                                      <p:cBhvr>
                                        <p:cTn id="27" dur="500"/>
                                        <p:tgtEl>
                                          <p:spTgt spid="149507">
                                            <p:txEl>
                                              <p:charRg st="59" end="10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49507">
                                            <p:txEl>
                                              <p:charRg st="100" end="143"/>
                                            </p:txEl>
                                          </p:spTgt>
                                        </p:tgtEl>
                                        <p:attrNameLst>
                                          <p:attrName>style.visibility</p:attrName>
                                        </p:attrNameLst>
                                      </p:cBhvr>
                                      <p:to>
                                        <p:strVal val="visible"/>
                                      </p:to>
                                    </p:set>
                                    <p:animEffect transition="in" filter="blinds(horizontal)">
                                      <p:cBhvr>
                                        <p:cTn id="32" dur="500"/>
                                        <p:tgtEl>
                                          <p:spTgt spid="149507">
                                            <p:txEl>
                                              <p:charRg st="100" end="1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p:bldP spid="149508"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7" name="内容占位符 149506"/>
          <p:cNvSpPr>
            <a:spLocks noGrp="1"/>
          </p:cNvSpPr>
          <p:nvPr>
            <p:ph idx="1"/>
          </p:nvPr>
        </p:nvSpPr>
        <p:spPr>
          <a:xfrm>
            <a:off x="395288" y="411163"/>
            <a:ext cx="8229600" cy="3394075"/>
          </a:xfrm>
          <a:noFill/>
          <a:ln>
            <a:noFill/>
          </a:ln>
        </p:spPr>
        <p:txBody>
          <a:bodyPr/>
          <a:p>
            <a:pPr algn="just">
              <a:lnSpc>
                <a:spcPct val="90000"/>
              </a:lnSpc>
              <a:buNone/>
            </a:pPr>
            <a:endParaRPr lang="zh-CN" altLang="en-US" sz="2400" b="1" dirty="0">
              <a:latin typeface="宋体" panose="02010600030101010101" pitchFamily="2" charset="-122"/>
              <a:ea typeface="宋体" panose="02010600030101010101" pitchFamily="2" charset="-122"/>
            </a:endParaRPr>
          </a:p>
          <a:p>
            <a:pPr algn="just">
              <a:lnSpc>
                <a:spcPct val="125000"/>
              </a:lnSpc>
              <a:buNone/>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4</a:t>
            </a:r>
            <a:r>
              <a:rPr lang="zh-CN" altLang="en-US" sz="2400" b="1" dirty="0">
                <a:latin typeface="Times New Roman" panose="02020603050405020304" pitchFamily="18" charset="0"/>
                <a:ea typeface="宋体" panose="02010600030101010101" pitchFamily="2" charset="-122"/>
              </a:rPr>
              <a:t>）制氢的原料</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水，资源极为丰富。</a:t>
            </a:r>
            <a:endParaRPr lang="zh-CN" altLang="en-US" sz="2400" b="1" dirty="0">
              <a:latin typeface="Times New Roman" panose="02020603050405020304" pitchFamily="18" charset="0"/>
              <a:ea typeface="宋体" panose="02010600030101010101" pitchFamily="2" charset="-122"/>
            </a:endParaRPr>
          </a:p>
          <a:p>
            <a:pPr algn="just">
              <a:lnSpc>
                <a:spcPct val="125000"/>
              </a:lnSpc>
              <a:buNone/>
            </a:pPr>
            <a:r>
              <a:rPr lang="zh-CN" altLang="en-US" sz="2400" b="1" dirty="0">
                <a:latin typeface="Times New Roman" panose="02020603050405020304" pitchFamily="18" charset="0"/>
                <a:ea typeface="宋体" panose="02010600030101010101" pitchFamily="2" charset="-122"/>
              </a:rPr>
              <a:t>        燃烧产物</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水，对环境无污染。</a:t>
            </a:r>
            <a:endParaRPr lang="zh-CN" altLang="en-US" sz="2400" b="1" dirty="0">
              <a:latin typeface="Times New Roman" panose="02020603050405020304" pitchFamily="18" charset="0"/>
              <a:ea typeface="宋体" panose="02010600030101010101" pitchFamily="2" charset="-122"/>
            </a:endParaRPr>
          </a:p>
          <a:p>
            <a:pPr algn="just">
              <a:lnSpc>
                <a:spcPct val="125000"/>
              </a:lnSpc>
              <a:buNone/>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5</a:t>
            </a:r>
            <a:r>
              <a:rPr lang="zh-CN" altLang="en-US" sz="2400" b="1" dirty="0">
                <a:latin typeface="Times New Roman" panose="02020603050405020304" pitchFamily="18" charset="0"/>
                <a:ea typeface="宋体" panose="02010600030101010101" pitchFamily="2" charset="-122"/>
              </a:rPr>
              <a:t>）氢能利用形式多，既可以通过燃烧产生热能，在热力   发动机中产生机械功，又可以作为能源材料用于燃料电池，或转换成固态氢用作结构材料。 </a:t>
            </a:r>
            <a:endParaRPr lang="zh-CN" altLang="en-US" sz="2400" b="1" dirty="0">
              <a:latin typeface="Times New Roman" panose="02020603050405020304" pitchFamily="18" charset="0"/>
              <a:ea typeface="宋体" panose="02010600030101010101" pitchFamily="2" charset="-122"/>
            </a:endParaRPr>
          </a:p>
          <a:p>
            <a:pPr algn="just">
              <a:lnSpc>
                <a:spcPct val="125000"/>
              </a:lnSpc>
              <a:buNone/>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6</a:t>
            </a:r>
            <a:r>
              <a:rPr lang="zh-CN" altLang="en-US" sz="2400" b="1" dirty="0">
                <a:latin typeface="Times New Roman" panose="02020603050405020304" pitchFamily="18" charset="0"/>
                <a:ea typeface="宋体" panose="02010600030101010101" pitchFamily="2" charset="-122"/>
              </a:rPr>
              <a:t>）氢可以以气态、液态或固态的金属氢化物出现，能适应贮运及各种应用环境的不同要求。</a:t>
            </a:r>
            <a:r>
              <a:rPr lang="zh-CN" altLang="en-US" sz="2000" b="1" dirty="0">
                <a:latin typeface="Times New Roman" panose="02020603050405020304" pitchFamily="18" charset="0"/>
                <a:ea typeface="宋体" panose="02010600030101010101" pitchFamily="2" charset="-122"/>
              </a:rPr>
              <a:t> </a:t>
            </a:r>
            <a:endParaRPr lang="zh-CN" altLang="en-US" sz="2000" b="1" dirty="0">
              <a:latin typeface="Times New Roman" panose="02020603050405020304" pitchFamily="18" charset="0"/>
              <a:ea typeface="宋体" panose="02010600030101010101" pitchFamily="2"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9507">
                                            <p:txEl>
                                              <p:charRg st="1" end="21"/>
                                            </p:txEl>
                                          </p:spTgt>
                                        </p:tgtEl>
                                        <p:attrNameLst>
                                          <p:attrName>style.visibility</p:attrName>
                                        </p:attrNameLst>
                                      </p:cBhvr>
                                      <p:to>
                                        <p:strVal val="visible"/>
                                      </p:to>
                                    </p:set>
                                    <p:animEffect transition="in" filter="blinds(horizontal)">
                                      <p:cBhvr>
                                        <p:cTn id="7" dur="500"/>
                                        <p:tgtEl>
                                          <p:spTgt spid="149507">
                                            <p:txEl>
                                              <p:charRg st="1" end="2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49507">
                                            <p:txEl>
                                              <p:charRg st="21" end="45"/>
                                            </p:txEl>
                                          </p:spTgt>
                                        </p:tgtEl>
                                        <p:attrNameLst>
                                          <p:attrName>style.visibility</p:attrName>
                                        </p:attrNameLst>
                                      </p:cBhvr>
                                      <p:to>
                                        <p:strVal val="visible"/>
                                      </p:to>
                                    </p:set>
                                    <p:animEffect transition="in" filter="blinds(horizontal)">
                                      <p:cBhvr>
                                        <p:cTn id="12" dur="500"/>
                                        <p:tgtEl>
                                          <p:spTgt spid="149507">
                                            <p:txEl>
                                              <p:charRg st="21" end="4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49507">
                                            <p:txEl>
                                              <p:charRg st="45" end="116"/>
                                            </p:txEl>
                                          </p:spTgt>
                                        </p:tgtEl>
                                        <p:attrNameLst>
                                          <p:attrName>style.visibility</p:attrName>
                                        </p:attrNameLst>
                                      </p:cBhvr>
                                      <p:to>
                                        <p:strVal val="visible"/>
                                      </p:to>
                                    </p:set>
                                    <p:animEffect transition="in" filter="blinds(horizontal)">
                                      <p:cBhvr>
                                        <p:cTn id="17" dur="500"/>
                                        <p:tgtEl>
                                          <p:spTgt spid="149507">
                                            <p:txEl>
                                              <p:charRg st="45" end="11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49507">
                                            <p:txEl>
                                              <p:charRg st="116" end="160"/>
                                            </p:txEl>
                                          </p:spTgt>
                                        </p:tgtEl>
                                        <p:attrNameLst>
                                          <p:attrName>style.visibility</p:attrName>
                                        </p:attrNameLst>
                                      </p:cBhvr>
                                      <p:to>
                                        <p:strVal val="visible"/>
                                      </p:to>
                                    </p:set>
                                    <p:animEffect transition="in" filter="blinds(horizontal)">
                                      <p:cBhvr>
                                        <p:cTn id="22" dur="500"/>
                                        <p:tgtEl>
                                          <p:spTgt spid="149507">
                                            <p:txEl>
                                              <p:charRg st="116" end="16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标题 87041"/>
          <p:cNvSpPr>
            <a:spLocks noGrp="1"/>
          </p:cNvSpPr>
          <p:nvPr>
            <p:ph type="title"/>
          </p:nvPr>
        </p:nvSpPr>
        <p:spPr>
          <a:xfrm>
            <a:off x="457200" y="206375"/>
            <a:ext cx="3035300" cy="744538"/>
          </a:xfrm>
          <a:noFill/>
          <a:ln>
            <a:noFill/>
          </a:ln>
        </p:spPr>
        <p:txBody>
          <a:bodyPr anchor="ctr" anchorCtr="0"/>
          <a:p>
            <a:r>
              <a:rPr lang="zh-CN" altLang="en-US" sz="3200" b="1" dirty="0">
                <a:solidFill>
                  <a:srgbClr val="0000FF"/>
                </a:solidFill>
                <a:ea typeface="宋体" panose="02010600030101010101" pitchFamily="2" charset="-122"/>
              </a:rPr>
              <a:t>（</a:t>
            </a:r>
            <a:r>
              <a:rPr lang="en-US" altLang="zh-CN" sz="3200" b="1" dirty="0">
                <a:solidFill>
                  <a:srgbClr val="0000FF"/>
                </a:solidFill>
                <a:ea typeface="宋体" panose="02010600030101010101" pitchFamily="2" charset="-122"/>
              </a:rPr>
              <a:t>1</a:t>
            </a:r>
            <a:r>
              <a:rPr lang="zh-CN" altLang="en-US" sz="3200" b="1" dirty="0">
                <a:solidFill>
                  <a:srgbClr val="0000FF"/>
                </a:solidFill>
                <a:ea typeface="宋体" panose="02010600030101010101" pitchFamily="2" charset="-122"/>
              </a:rPr>
              <a:t>）氢的制取</a:t>
            </a:r>
            <a:endParaRPr lang="zh-CN" altLang="en-US" sz="3200" b="1" dirty="0">
              <a:solidFill>
                <a:srgbClr val="0000FF"/>
              </a:solidFill>
              <a:ea typeface="宋体" panose="02010600030101010101" pitchFamily="2" charset="-122"/>
            </a:endParaRPr>
          </a:p>
        </p:txBody>
      </p:sp>
      <p:sp>
        <p:nvSpPr>
          <p:cNvPr id="87052" name="内容占位符 87051"/>
          <p:cNvSpPr>
            <a:spLocks noGrp="1"/>
          </p:cNvSpPr>
          <p:nvPr>
            <p:ph idx="1"/>
          </p:nvPr>
        </p:nvSpPr>
        <p:spPr>
          <a:xfrm>
            <a:off x="468313" y="987425"/>
            <a:ext cx="8229600" cy="2432050"/>
          </a:xfrm>
          <a:noFill/>
          <a:ln>
            <a:noFill/>
          </a:ln>
        </p:spPr>
        <p:txBody>
          <a:bodyPr/>
          <a:p>
            <a:pPr>
              <a:lnSpc>
                <a:spcPct val="110000"/>
              </a:lnSpc>
              <a:buFont typeface="Wingdings" panose="05000000000000000000" pitchFamily="2" charset="2"/>
              <a:buNone/>
            </a:pPr>
            <a:r>
              <a:rPr lang="en-US" altLang="zh-CN" sz="2400" b="1" dirty="0">
                <a:latin typeface="Times New Roman" panose="02020603050405020304" pitchFamily="18" charset="0"/>
                <a:ea typeface="宋体" panose="02010600030101010101" pitchFamily="2" charset="-122"/>
              </a:rPr>
              <a:t>     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 = 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 + 1/2 O</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      </a:t>
            </a:r>
            <a:endParaRPr lang="en-US" altLang="zh-CN" sz="2400" b="1" baseline="30000" dirty="0">
              <a:latin typeface="Times New Roman" panose="02020603050405020304" pitchFamily="18" charset="0"/>
              <a:ea typeface="宋体" panose="02010600030101010101" pitchFamily="2" charset="-122"/>
            </a:endParaRPr>
          </a:p>
          <a:p>
            <a:pPr>
              <a:lnSpc>
                <a:spcPct val="110000"/>
              </a:lnSpc>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反应中键能的变化为：</a:t>
            </a:r>
            <a:endParaRPr lang="zh-CN" altLang="en-US" sz="2400" b="1" dirty="0">
              <a:latin typeface="Times New Roman" panose="02020603050405020304" pitchFamily="18" charset="0"/>
              <a:ea typeface="宋体" panose="02010600030101010101" pitchFamily="2" charset="-122"/>
            </a:endParaRPr>
          </a:p>
          <a:p>
            <a:pPr>
              <a:lnSpc>
                <a:spcPct val="110000"/>
              </a:lnSpc>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断开</a:t>
            </a:r>
            <a:r>
              <a:rPr lang="en-US" altLang="zh-CN" sz="2400" b="1" dirty="0">
                <a:latin typeface="Times New Roman" panose="02020603050405020304" pitchFamily="18" charset="0"/>
                <a:ea typeface="宋体" panose="02010600030101010101" pitchFamily="2" charset="-122"/>
              </a:rPr>
              <a:t>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zh-CN" altLang="en-US" sz="2400" b="1" dirty="0">
                <a:latin typeface="Times New Roman" panose="02020603050405020304" pitchFamily="18" charset="0"/>
                <a:ea typeface="宋体" panose="02010600030101010101" pitchFamily="2" charset="-122"/>
              </a:rPr>
              <a:t>分子中</a:t>
            </a:r>
            <a:r>
              <a:rPr lang="en-US" altLang="zh-CN" sz="2400" b="1" dirty="0">
                <a:latin typeface="Times New Roman" panose="02020603050405020304" pitchFamily="18" charset="0"/>
                <a:ea typeface="宋体" panose="02010600030101010101" pitchFamily="2" charset="-122"/>
              </a:rPr>
              <a:t>2mol O-H </a:t>
            </a:r>
            <a:r>
              <a:rPr lang="zh-CN" altLang="en-US" sz="2400" b="1" dirty="0">
                <a:latin typeface="Times New Roman" panose="02020603050405020304" pitchFamily="18" charset="0"/>
                <a:ea typeface="宋体" panose="02010600030101010101" pitchFamily="2" charset="-122"/>
              </a:rPr>
              <a:t>键需吸收</a:t>
            </a:r>
            <a:r>
              <a:rPr lang="en-US" altLang="zh-CN" sz="2400" b="1" dirty="0">
                <a:latin typeface="Times New Roman" panose="02020603050405020304" pitchFamily="18" charset="0"/>
                <a:ea typeface="宋体" panose="02010600030101010101" pitchFamily="2" charset="-122"/>
              </a:rPr>
              <a:t>930kj</a:t>
            </a:r>
            <a:r>
              <a:rPr lang="zh-CN" altLang="en-US" sz="2400" b="1" dirty="0">
                <a:latin typeface="Times New Roman" panose="02020603050405020304" pitchFamily="18" charset="0"/>
                <a:ea typeface="宋体" panose="02010600030101010101" pitchFamily="2" charset="-122"/>
              </a:rPr>
              <a:t>的能量</a:t>
            </a:r>
            <a:endParaRPr lang="zh-CN" altLang="en-US" sz="2400" b="1" dirty="0">
              <a:latin typeface="Times New Roman" panose="02020603050405020304" pitchFamily="18" charset="0"/>
              <a:ea typeface="宋体" panose="02010600030101010101" pitchFamily="2" charset="-122"/>
            </a:endParaRPr>
          </a:p>
          <a:p>
            <a:pPr>
              <a:lnSpc>
                <a:spcPct val="110000"/>
              </a:lnSpc>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生成</a:t>
            </a:r>
            <a:r>
              <a:rPr lang="en-US" altLang="zh-CN" sz="2400" b="1" dirty="0">
                <a:latin typeface="Times New Roman" panose="02020603050405020304" pitchFamily="18" charset="0"/>
                <a:ea typeface="宋体" panose="02010600030101010101" pitchFamily="2" charset="-122"/>
              </a:rPr>
              <a:t>1mol H-H </a:t>
            </a:r>
            <a:r>
              <a:rPr lang="zh-CN" altLang="en-US" sz="2400" b="1" dirty="0">
                <a:latin typeface="Times New Roman" panose="02020603050405020304" pitchFamily="18" charset="0"/>
                <a:ea typeface="宋体" panose="02010600030101010101" pitchFamily="2" charset="-122"/>
              </a:rPr>
              <a:t>键放出</a:t>
            </a:r>
            <a:r>
              <a:rPr lang="en-US" altLang="zh-CN" sz="2400" b="1" dirty="0">
                <a:latin typeface="Times New Roman" panose="02020603050405020304" pitchFamily="18" charset="0"/>
                <a:ea typeface="宋体" panose="02010600030101010101" pitchFamily="2" charset="-122"/>
              </a:rPr>
              <a:t>463kj</a:t>
            </a:r>
            <a:r>
              <a:rPr lang="zh-CN" altLang="en-US" sz="2400" b="1" dirty="0">
                <a:latin typeface="Times New Roman" panose="02020603050405020304" pitchFamily="18" charset="0"/>
                <a:ea typeface="宋体" panose="02010600030101010101" pitchFamily="2" charset="-122"/>
              </a:rPr>
              <a:t>的能量</a:t>
            </a:r>
            <a:endParaRPr lang="zh-CN" altLang="en-US" sz="2400" b="1" dirty="0">
              <a:latin typeface="Times New Roman" panose="02020603050405020304" pitchFamily="18" charset="0"/>
              <a:ea typeface="宋体" panose="02010600030101010101" pitchFamily="2" charset="-122"/>
            </a:endParaRPr>
          </a:p>
          <a:p>
            <a:pPr>
              <a:lnSpc>
                <a:spcPct val="110000"/>
              </a:lnSpc>
              <a:buFont typeface="Wingdings" panose="05000000000000000000" pitchFamily="2" charset="2"/>
              <a:buNone/>
            </a:pPr>
            <a:r>
              <a:rPr lang="zh-CN" altLang="en-US" sz="2400" b="1" dirty="0">
                <a:latin typeface="Times New Roman" panose="02020603050405020304" pitchFamily="18" charset="0"/>
                <a:ea typeface="宋体" panose="02010600030101010101" pitchFamily="2" charset="-122"/>
              </a:rPr>
              <a:t>      生成</a:t>
            </a:r>
            <a:r>
              <a:rPr lang="en-US" altLang="zh-CN" sz="2400" b="1" dirty="0">
                <a:latin typeface="Times New Roman" panose="02020603050405020304" pitchFamily="18" charset="0"/>
                <a:ea typeface="宋体" panose="02010600030101010101" pitchFamily="2" charset="-122"/>
              </a:rPr>
              <a:t>0.5mol O=O </a:t>
            </a:r>
            <a:r>
              <a:rPr lang="zh-CN" altLang="en-US" sz="2400" b="1" dirty="0">
                <a:latin typeface="Times New Roman" panose="02020603050405020304" pitchFamily="18" charset="0"/>
                <a:ea typeface="宋体" panose="02010600030101010101" pitchFamily="2" charset="-122"/>
              </a:rPr>
              <a:t>键放出</a:t>
            </a:r>
            <a:r>
              <a:rPr lang="en-US" altLang="zh-CN" sz="2400" b="1" dirty="0">
                <a:latin typeface="Times New Roman" panose="02020603050405020304" pitchFamily="18" charset="0"/>
                <a:ea typeface="宋体" panose="02010600030101010101" pitchFamily="2" charset="-122"/>
              </a:rPr>
              <a:t>249kj</a:t>
            </a:r>
            <a:r>
              <a:rPr lang="zh-CN" altLang="en-US" sz="2400" b="1" dirty="0">
                <a:latin typeface="Times New Roman" panose="02020603050405020304" pitchFamily="18" charset="0"/>
                <a:ea typeface="宋体" panose="02010600030101010101" pitchFamily="2" charset="-122"/>
              </a:rPr>
              <a:t>的能量</a:t>
            </a:r>
            <a:endParaRPr lang="zh-CN" altLang="en-US" sz="2400" b="1" dirty="0">
              <a:latin typeface="Times New Roman" panose="02020603050405020304" pitchFamily="18" charset="0"/>
              <a:ea typeface="宋体" panose="02010600030101010101" pitchFamily="2" charset="-122"/>
            </a:endParaRPr>
          </a:p>
          <a:p>
            <a:pPr>
              <a:lnSpc>
                <a:spcPct val="110000"/>
              </a:lnSpc>
              <a:buFont typeface="Wingdings" panose="05000000000000000000" pitchFamily="2" charset="2"/>
              <a:buNone/>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分解</a:t>
            </a:r>
            <a:r>
              <a:rPr lang="en-US" altLang="zh-CN" sz="2400" b="1" dirty="0">
                <a:latin typeface="Times New Roman" panose="02020603050405020304" pitchFamily="18" charset="0"/>
                <a:ea typeface="宋体" panose="02010600030101010101" pitchFamily="2" charset="-122"/>
              </a:rPr>
              <a:t>1mol</a:t>
            </a:r>
            <a:r>
              <a:rPr lang="zh-CN" altLang="en-US" sz="2400" b="1" dirty="0">
                <a:latin typeface="Times New Roman" panose="02020603050405020304" pitchFamily="18" charset="0"/>
                <a:ea typeface="宋体" panose="02010600030101010101" pitchFamily="2" charset="-122"/>
              </a:rPr>
              <a:t>的</a:t>
            </a:r>
            <a:r>
              <a:rPr lang="en-US" altLang="zh-CN" sz="2400" b="1" dirty="0">
                <a:latin typeface="Times New Roman" panose="02020603050405020304" pitchFamily="18" charset="0"/>
                <a:ea typeface="宋体" panose="02010600030101010101" pitchFamily="2" charset="-122"/>
              </a:rPr>
              <a:t>H</a:t>
            </a:r>
            <a:r>
              <a:rPr lang="en-US" altLang="zh-CN" sz="2400" b="1" baseline="-25000" dirty="0">
                <a:latin typeface="Times New Roman" panose="02020603050405020304" pitchFamily="18" charset="0"/>
                <a:ea typeface="宋体" panose="02010600030101010101" pitchFamily="2" charset="-122"/>
              </a:rPr>
              <a:t>2</a:t>
            </a:r>
            <a:r>
              <a:rPr lang="en-US" altLang="zh-CN" sz="2400" b="1" dirty="0">
                <a:latin typeface="Times New Roman" panose="02020603050405020304" pitchFamily="18" charset="0"/>
                <a:ea typeface="宋体" panose="02010600030101010101" pitchFamily="2" charset="-122"/>
              </a:rPr>
              <a:t>O</a:t>
            </a:r>
            <a:r>
              <a:rPr lang="zh-CN" altLang="en-US" sz="2400" b="1" dirty="0">
                <a:latin typeface="Times New Roman" panose="02020603050405020304" pitchFamily="18" charset="0"/>
                <a:ea typeface="宋体" panose="02010600030101010101" pitchFamily="2" charset="-122"/>
              </a:rPr>
              <a:t>需提供的能量为：</a:t>
            </a:r>
            <a:r>
              <a:rPr lang="en-US" altLang="zh-CN" sz="2400" b="1" dirty="0">
                <a:latin typeface="Times New Roman" panose="02020603050405020304" pitchFamily="18" charset="0"/>
                <a:ea typeface="宋体" panose="02010600030101010101" pitchFamily="2" charset="-122"/>
              </a:rPr>
              <a:t>930kj-436kj-249kj=245kj</a:t>
            </a:r>
            <a:endParaRPr lang="en-US" altLang="zh-CN" sz="2400" b="1" dirty="0">
              <a:latin typeface="Times New Roman" panose="02020603050405020304" pitchFamily="18" charset="0"/>
              <a:ea typeface="宋体" panose="02010600030101010101" pitchFamily="2"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7052">
                                            <p:txEl>
                                              <p:charRg st="0" end="29"/>
                                            </p:txEl>
                                          </p:spTgt>
                                        </p:tgtEl>
                                        <p:attrNameLst>
                                          <p:attrName>style.visibility</p:attrName>
                                        </p:attrNameLst>
                                      </p:cBhvr>
                                      <p:to>
                                        <p:strVal val="visible"/>
                                      </p:to>
                                    </p:set>
                                    <p:animEffect transition="in" filter="blinds(horizontal)">
                                      <p:cBhvr>
                                        <p:cTn id="7" dur="500"/>
                                        <p:tgtEl>
                                          <p:spTgt spid="87052">
                                            <p:txEl>
                                              <p:charRg st="0" end="2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7052">
                                            <p:txEl>
                                              <p:charRg st="29" end="40"/>
                                            </p:txEl>
                                          </p:spTgt>
                                        </p:tgtEl>
                                        <p:attrNameLst>
                                          <p:attrName>style.visibility</p:attrName>
                                        </p:attrNameLst>
                                      </p:cBhvr>
                                      <p:to>
                                        <p:strVal val="visible"/>
                                      </p:to>
                                    </p:set>
                                    <p:animEffect transition="in" filter="blinds(horizontal)">
                                      <p:cBhvr>
                                        <p:cTn id="12" dur="500"/>
                                        <p:tgtEl>
                                          <p:spTgt spid="87052">
                                            <p:txEl>
                                              <p:charRg st="29" end="4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7052">
                                            <p:txEl>
                                              <p:charRg st="40" end="76"/>
                                            </p:txEl>
                                          </p:spTgt>
                                        </p:tgtEl>
                                        <p:attrNameLst>
                                          <p:attrName>style.visibility</p:attrName>
                                        </p:attrNameLst>
                                      </p:cBhvr>
                                      <p:to>
                                        <p:strVal val="visible"/>
                                      </p:to>
                                    </p:set>
                                    <p:animEffect transition="in" filter="blinds(horizontal)">
                                      <p:cBhvr>
                                        <p:cTn id="17" dur="500"/>
                                        <p:tgtEl>
                                          <p:spTgt spid="87052">
                                            <p:txEl>
                                              <p:charRg st="40" end="7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7052">
                                            <p:txEl>
                                              <p:charRg st="76" end="105"/>
                                            </p:txEl>
                                          </p:spTgt>
                                        </p:tgtEl>
                                        <p:attrNameLst>
                                          <p:attrName>style.visibility</p:attrName>
                                        </p:attrNameLst>
                                      </p:cBhvr>
                                      <p:to>
                                        <p:strVal val="visible"/>
                                      </p:to>
                                    </p:set>
                                    <p:animEffect transition="in" filter="blinds(horizontal)">
                                      <p:cBhvr>
                                        <p:cTn id="22" dur="500"/>
                                        <p:tgtEl>
                                          <p:spTgt spid="87052">
                                            <p:txEl>
                                              <p:charRg st="76" end="10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7052">
                                            <p:txEl>
                                              <p:charRg st="105" end="136"/>
                                            </p:txEl>
                                          </p:spTgt>
                                        </p:tgtEl>
                                        <p:attrNameLst>
                                          <p:attrName>style.visibility</p:attrName>
                                        </p:attrNameLst>
                                      </p:cBhvr>
                                      <p:to>
                                        <p:strVal val="visible"/>
                                      </p:to>
                                    </p:set>
                                    <p:animEffect transition="in" filter="blinds(horizontal)">
                                      <p:cBhvr>
                                        <p:cTn id="27" dur="500"/>
                                        <p:tgtEl>
                                          <p:spTgt spid="87052">
                                            <p:txEl>
                                              <p:charRg st="105" end="13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7052">
                                            <p:txEl>
                                              <p:charRg st="136" end="180"/>
                                            </p:txEl>
                                          </p:spTgt>
                                        </p:tgtEl>
                                        <p:attrNameLst>
                                          <p:attrName>style.visibility</p:attrName>
                                        </p:attrNameLst>
                                      </p:cBhvr>
                                      <p:to>
                                        <p:strVal val="visible"/>
                                      </p:to>
                                    </p:set>
                                    <p:animEffect transition="in" filter="blinds(horizontal)">
                                      <p:cBhvr>
                                        <p:cTn id="32" dur="500"/>
                                        <p:tgtEl>
                                          <p:spTgt spid="87052">
                                            <p:txEl>
                                              <p:charRg st="136" end="18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5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 name="组合 87043"/>
          <p:cNvGrpSpPr/>
          <p:nvPr/>
        </p:nvGrpSpPr>
        <p:grpSpPr>
          <a:xfrm>
            <a:off x="2124075" y="3489325"/>
            <a:ext cx="5105400" cy="641350"/>
            <a:chOff x="2016" y="3744"/>
            <a:chExt cx="3024" cy="406"/>
          </a:xfrm>
        </p:grpSpPr>
        <p:sp>
          <p:nvSpPr>
            <p:cNvPr id="33796" name="直接连接符 87044"/>
            <p:cNvSpPr/>
            <p:nvPr/>
          </p:nvSpPr>
          <p:spPr>
            <a:xfrm>
              <a:off x="2928" y="3888"/>
              <a:ext cx="864" cy="0"/>
            </a:xfrm>
            <a:prstGeom prst="line">
              <a:avLst/>
            </a:prstGeom>
            <a:ln w="9525" cap="flat" cmpd="sng">
              <a:solidFill>
                <a:srgbClr val="FF6600"/>
              </a:solidFill>
              <a:prstDash val="solid"/>
              <a:headEnd type="none" w="med" len="med"/>
              <a:tailEnd type="triangle" w="med" len="med"/>
            </a:ln>
          </p:spPr>
        </p:sp>
        <p:sp>
          <p:nvSpPr>
            <p:cNvPr id="33797" name="文本框 87045"/>
            <p:cNvSpPr txBox="1"/>
            <p:nvPr/>
          </p:nvSpPr>
          <p:spPr>
            <a:xfrm>
              <a:off x="3552" y="3744"/>
              <a:ext cx="1488" cy="253"/>
            </a:xfrm>
            <a:prstGeom prst="rect">
              <a:avLst/>
            </a:prstGeom>
            <a:noFill/>
            <a:ln w="9525">
              <a:noFill/>
            </a:ln>
          </p:spPr>
          <p:txBody>
            <a:bodyPr>
              <a:spAutoFit/>
            </a:bodyPr>
            <a:p>
              <a:pPr lvl="1" eaLnBrk="1" hangingPunct="1"/>
              <a:r>
                <a:rPr lang="en-US" altLang="zh-CN" sz="2000" b="1" dirty="0">
                  <a:solidFill>
                    <a:srgbClr val="0000FF"/>
                  </a:solidFill>
                  <a:latin typeface="Times New Roman" panose="02020603050405020304" pitchFamily="18" charset="0"/>
                </a:rPr>
                <a:t>H</a:t>
              </a:r>
              <a:r>
                <a:rPr lang="en-US" altLang="zh-CN" sz="2000" b="1" baseline="-25000" dirty="0">
                  <a:solidFill>
                    <a:srgbClr val="0000FF"/>
                  </a:solidFill>
                  <a:latin typeface="Times New Roman" panose="02020603050405020304" pitchFamily="18" charset="0"/>
                </a:rPr>
                <a:t>2</a:t>
              </a:r>
              <a:r>
                <a:rPr lang="en-US" altLang="zh-CN" sz="2000" b="1" dirty="0">
                  <a:solidFill>
                    <a:srgbClr val="0000FF"/>
                  </a:solidFill>
                  <a:latin typeface="Times New Roman" panose="02020603050405020304" pitchFamily="18" charset="0"/>
                </a:rPr>
                <a:t> (g) + 1/2 O</a:t>
              </a:r>
              <a:r>
                <a:rPr lang="en-US" altLang="zh-CN" sz="2000" b="1" baseline="-25000" dirty="0">
                  <a:solidFill>
                    <a:srgbClr val="0000FF"/>
                  </a:solidFill>
                  <a:latin typeface="Times New Roman" panose="02020603050405020304" pitchFamily="18" charset="0"/>
                </a:rPr>
                <a:t>2 </a:t>
              </a:r>
              <a:r>
                <a:rPr lang="en-US" altLang="zh-CN" sz="2000" b="1" dirty="0">
                  <a:solidFill>
                    <a:srgbClr val="0000FF"/>
                  </a:solidFill>
                  <a:latin typeface="Times New Roman" panose="02020603050405020304" pitchFamily="18" charset="0"/>
                </a:rPr>
                <a:t>(g)</a:t>
              </a:r>
              <a:endParaRPr lang="en-US" altLang="zh-CN" sz="2800" b="1" dirty="0">
                <a:solidFill>
                  <a:srgbClr val="0000FF"/>
                </a:solidFill>
                <a:latin typeface="Times New Roman" panose="02020603050405020304" pitchFamily="18" charset="0"/>
              </a:endParaRPr>
            </a:p>
          </p:txBody>
        </p:sp>
        <p:sp>
          <p:nvSpPr>
            <p:cNvPr id="33798" name="文本框 87046"/>
            <p:cNvSpPr txBox="1"/>
            <p:nvPr/>
          </p:nvSpPr>
          <p:spPr>
            <a:xfrm>
              <a:off x="2688" y="3936"/>
              <a:ext cx="1440" cy="214"/>
            </a:xfrm>
            <a:prstGeom prst="rect">
              <a:avLst/>
            </a:prstGeom>
            <a:noFill/>
            <a:ln w="9525">
              <a:noFill/>
            </a:ln>
          </p:spPr>
          <p:txBody>
            <a:bodyPr>
              <a:spAutoFit/>
            </a:bodyPr>
            <a:p>
              <a:pPr lvl="1" eaLnBrk="1" hangingPunct="1"/>
              <a:r>
                <a:rPr lang="en-US" altLang="zh-CN" sz="1600" b="1" dirty="0">
                  <a:solidFill>
                    <a:srgbClr val="0000FF"/>
                  </a:solidFill>
                  <a:latin typeface="Times New Roman" panose="02020603050405020304" pitchFamily="18" charset="0"/>
                </a:rPr>
                <a:t>hν  </a:t>
              </a:r>
              <a:r>
                <a:rPr lang="zh-CN" altLang="en-US" sz="1600" b="1" dirty="0">
                  <a:solidFill>
                    <a:srgbClr val="0000FF"/>
                  </a:solidFill>
                  <a:latin typeface="Times New Roman" panose="02020603050405020304" pitchFamily="18" charset="0"/>
                </a:rPr>
                <a:t>催化剂</a:t>
              </a:r>
              <a:endParaRPr lang="zh-CN" altLang="en-US" sz="2800" b="1" dirty="0">
                <a:solidFill>
                  <a:srgbClr val="0000FF"/>
                </a:solidFill>
                <a:latin typeface="Times New Roman" panose="02020603050405020304" pitchFamily="18" charset="0"/>
              </a:endParaRPr>
            </a:p>
          </p:txBody>
        </p:sp>
        <p:sp>
          <p:nvSpPr>
            <p:cNvPr id="33799" name="文本框 87047"/>
            <p:cNvSpPr txBox="1"/>
            <p:nvPr/>
          </p:nvSpPr>
          <p:spPr>
            <a:xfrm>
              <a:off x="2016" y="3744"/>
              <a:ext cx="1008" cy="292"/>
            </a:xfrm>
            <a:prstGeom prst="rect">
              <a:avLst/>
            </a:prstGeom>
            <a:noFill/>
            <a:ln w="9525">
              <a:noFill/>
            </a:ln>
          </p:spPr>
          <p:txBody>
            <a:bodyPr>
              <a:spAutoFit/>
            </a:bodyPr>
            <a:p>
              <a:pPr algn="ctr">
                <a:spcBef>
                  <a:spcPct val="50000"/>
                </a:spcBef>
              </a:pPr>
              <a:r>
                <a:rPr lang="en-US" altLang="zh-CN" b="1" dirty="0">
                  <a:solidFill>
                    <a:srgbClr val="0000FF"/>
                  </a:solidFill>
                  <a:latin typeface="Times New Roman" panose="02020603050405020304" pitchFamily="18" charset="0"/>
                </a:rPr>
                <a:t>H</a:t>
              </a:r>
              <a:r>
                <a:rPr lang="en-US" altLang="zh-CN" b="1" baseline="-25000" dirty="0">
                  <a:solidFill>
                    <a:srgbClr val="0000FF"/>
                  </a:solidFill>
                  <a:latin typeface="Times New Roman" panose="02020603050405020304" pitchFamily="18" charset="0"/>
                </a:rPr>
                <a:t>2</a:t>
              </a:r>
              <a:r>
                <a:rPr lang="en-US" altLang="zh-CN" b="1" dirty="0">
                  <a:solidFill>
                    <a:srgbClr val="0000FF"/>
                  </a:solidFill>
                  <a:latin typeface="Times New Roman" panose="02020603050405020304" pitchFamily="18" charset="0"/>
                </a:rPr>
                <a:t>O</a:t>
              </a:r>
              <a:r>
                <a:rPr lang="zh-CN" altLang="en-US" b="1" dirty="0">
                  <a:solidFill>
                    <a:srgbClr val="0000FF"/>
                  </a:solidFill>
                  <a:latin typeface="Times New Roman" panose="02020603050405020304" pitchFamily="18" charset="0"/>
                </a:rPr>
                <a:t>（</a:t>
              </a:r>
              <a:r>
                <a:rPr lang="en-US" altLang="zh-CN" b="1" dirty="0">
                  <a:solidFill>
                    <a:srgbClr val="0000FF"/>
                  </a:solidFill>
                  <a:latin typeface="Times New Roman" panose="02020603050405020304" pitchFamily="18" charset="0"/>
                </a:rPr>
                <a:t>l</a:t>
              </a:r>
              <a:r>
                <a:rPr lang="zh-CN" altLang="en-US" b="1" dirty="0">
                  <a:solidFill>
                    <a:srgbClr val="0000FF"/>
                  </a:solidFill>
                  <a:latin typeface="Times New Roman" panose="02020603050405020304" pitchFamily="18" charset="0"/>
                </a:rPr>
                <a:t>）</a:t>
              </a:r>
              <a:endParaRPr lang="zh-CN" altLang="en-US" sz="2800" b="1" dirty="0">
                <a:solidFill>
                  <a:srgbClr val="0000FF"/>
                </a:solidFill>
                <a:latin typeface="Times New Roman" panose="02020603050405020304" pitchFamily="18" charset="0"/>
              </a:endParaRPr>
            </a:p>
          </p:txBody>
        </p:sp>
      </p:grpSp>
      <p:sp>
        <p:nvSpPr>
          <p:cNvPr id="87051" name="文本框 87050"/>
          <p:cNvSpPr txBox="1"/>
          <p:nvPr/>
        </p:nvSpPr>
        <p:spPr>
          <a:xfrm>
            <a:off x="301625" y="808038"/>
            <a:ext cx="8534400" cy="2678112"/>
          </a:xfrm>
          <a:prstGeom prst="rect">
            <a:avLst/>
          </a:prstGeom>
          <a:noFill/>
          <a:ln w="9525">
            <a:noFill/>
          </a:ln>
        </p:spPr>
        <p:txBody>
          <a:bodyPr>
            <a:spAutoFit/>
          </a:bodyPr>
          <a:p>
            <a:pPr lvl="1" algn="just" eaLnBrk="1" hangingPunct="1">
              <a:spcBef>
                <a:spcPct val="20000"/>
              </a:spcBef>
            </a:pPr>
            <a:r>
              <a:rPr lang="zh-CN" altLang="en-US" b="1" dirty="0">
                <a:latin typeface="Times New Roman" panose="02020603050405020304" pitchFamily="18" charset="0"/>
              </a:rPr>
              <a:t>氢的制取方法：</a:t>
            </a:r>
            <a:endParaRPr lang="zh-CN" altLang="en-US" b="1" dirty="0">
              <a:latin typeface="Times New Roman" panose="02020603050405020304" pitchFamily="18" charset="0"/>
            </a:endParaRPr>
          </a:p>
          <a:p>
            <a:pPr lvl="1" algn="just" eaLnBrk="1" hangingPunct="1">
              <a:spcBef>
                <a:spcPct val="20000"/>
              </a:spcBef>
            </a:pPr>
            <a:r>
              <a:rPr lang="zh-CN" altLang="en-US" b="1" dirty="0">
                <a:latin typeface="Times New Roman" panose="02020603050405020304" pitchFamily="18" charset="0"/>
              </a:rPr>
              <a:t>水煤气法：在高温下用</a:t>
            </a:r>
            <a:r>
              <a:rPr lang="en-US" altLang="zh-CN" b="1" dirty="0">
                <a:latin typeface="Times New Roman" panose="02020603050405020304" pitchFamily="18" charset="0"/>
              </a:rPr>
              <a:t>C</a:t>
            </a:r>
            <a:r>
              <a:rPr lang="zh-CN" altLang="en-US" b="1" dirty="0">
                <a:latin typeface="Times New Roman" panose="02020603050405020304" pitchFamily="18" charset="0"/>
              </a:rPr>
              <a:t>做还原剂，与水反应   </a:t>
            </a:r>
            <a:endParaRPr lang="zh-CN" altLang="en-US" b="1" dirty="0">
              <a:latin typeface="Times New Roman" panose="02020603050405020304" pitchFamily="18" charset="0"/>
            </a:endParaRPr>
          </a:p>
          <a:p>
            <a:pPr lvl="1" algn="just" eaLnBrk="1" hangingPunct="1">
              <a:spcBef>
                <a:spcPct val="20000"/>
              </a:spcBef>
            </a:pPr>
            <a:r>
              <a:rPr lang="zh-CN" altLang="en-US" b="1" dirty="0">
                <a:latin typeface="Times New Roman" panose="02020603050405020304" pitchFamily="18" charset="0"/>
              </a:rPr>
              <a:t> </a:t>
            </a:r>
            <a:r>
              <a:rPr lang="en-US" altLang="zh-CN" b="1" dirty="0">
                <a:latin typeface="Times New Roman" panose="02020603050405020304" pitchFamily="18" charset="0"/>
              </a:rPr>
              <a:t>C + 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O = CO + H</a:t>
            </a:r>
            <a:r>
              <a:rPr lang="en-US" altLang="zh-CN" b="1" baseline="-25000" dirty="0">
                <a:latin typeface="Times New Roman" panose="02020603050405020304" pitchFamily="18" charset="0"/>
              </a:rPr>
              <a:t>2</a:t>
            </a:r>
            <a:endParaRPr lang="en-US" altLang="zh-CN" b="1" dirty="0">
              <a:latin typeface="Times New Roman" panose="02020603050405020304" pitchFamily="18" charset="0"/>
            </a:endParaRPr>
          </a:p>
          <a:p>
            <a:pPr lvl="1" algn="just" eaLnBrk="1" hangingPunct="1">
              <a:spcBef>
                <a:spcPct val="20000"/>
              </a:spcBef>
            </a:pPr>
            <a:r>
              <a:rPr lang="zh-CN" altLang="en-US" b="1" dirty="0">
                <a:latin typeface="Times New Roman" panose="02020603050405020304" pitchFamily="18" charset="0"/>
              </a:rPr>
              <a:t>电解法：     </a:t>
            </a:r>
            <a:r>
              <a:rPr lang="en-US" altLang="zh-CN" b="1" dirty="0">
                <a:latin typeface="Times New Roman" panose="02020603050405020304" pitchFamily="18" charset="0"/>
              </a:rPr>
              <a:t>2H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O(l) = 2H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(g) + O</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(g)</a:t>
            </a:r>
            <a:endParaRPr lang="en-US" altLang="zh-CN" b="1" dirty="0">
              <a:latin typeface="Times New Roman" panose="02020603050405020304" pitchFamily="18" charset="0"/>
            </a:endParaRPr>
          </a:p>
          <a:p>
            <a:pPr lvl="1" algn="just" eaLnBrk="1" hangingPunct="1">
              <a:spcBef>
                <a:spcPct val="20000"/>
              </a:spcBef>
            </a:pPr>
            <a:r>
              <a:rPr lang="zh-CN" altLang="en-US" b="1" dirty="0">
                <a:latin typeface="Times New Roman" panose="02020603050405020304" pitchFamily="18" charset="0"/>
              </a:rPr>
              <a:t>热化学分解法                      </a:t>
            </a:r>
            <a:endParaRPr lang="zh-CN" altLang="en-US" b="1" dirty="0">
              <a:latin typeface="Times New Roman" panose="02020603050405020304" pitchFamily="18" charset="0"/>
            </a:endParaRPr>
          </a:p>
          <a:p>
            <a:pPr lvl="1" algn="just" eaLnBrk="1" hangingPunct="1">
              <a:spcBef>
                <a:spcPct val="20000"/>
              </a:spcBef>
            </a:pPr>
            <a:r>
              <a:rPr lang="zh-CN" altLang="en-US" b="1" dirty="0">
                <a:latin typeface="Times New Roman" panose="02020603050405020304" pitchFamily="18" charset="0"/>
              </a:rPr>
              <a:t>太阳能制氢：                        </a:t>
            </a:r>
            <a:endParaRPr lang="zh-CN" altLang="en-US" b="1" dirty="0">
              <a:latin typeface="Times New Roman" panose="02020603050405020304" pitchFamily="18"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7051">
                                            <p:txEl>
                                              <p:charRg st="0" end="8"/>
                                            </p:txEl>
                                          </p:spTgt>
                                        </p:tgtEl>
                                        <p:attrNameLst>
                                          <p:attrName>style.visibility</p:attrName>
                                        </p:attrNameLst>
                                      </p:cBhvr>
                                      <p:to>
                                        <p:strVal val="visible"/>
                                      </p:to>
                                    </p:set>
                                    <p:animEffect transition="in" filter="blinds(horizontal)">
                                      <p:cBhvr>
                                        <p:cTn id="7" dur="500"/>
                                        <p:tgtEl>
                                          <p:spTgt spid="87051">
                                            <p:txEl>
                                              <p:charRg st="0" end="8"/>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7051">
                                            <p:txEl>
                                              <p:charRg st="8" end="32"/>
                                            </p:txEl>
                                          </p:spTgt>
                                        </p:tgtEl>
                                        <p:attrNameLst>
                                          <p:attrName>style.visibility</p:attrName>
                                        </p:attrNameLst>
                                      </p:cBhvr>
                                      <p:to>
                                        <p:strVal val="visible"/>
                                      </p:to>
                                    </p:set>
                                    <p:animEffect transition="in" filter="blinds(horizontal)">
                                      <p:cBhvr>
                                        <p:cTn id="12" dur="500"/>
                                        <p:tgtEl>
                                          <p:spTgt spid="87051">
                                            <p:txEl>
                                              <p:charRg st="8" end="3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7051">
                                            <p:txEl>
                                              <p:charRg st="32" end="51"/>
                                            </p:txEl>
                                          </p:spTgt>
                                        </p:tgtEl>
                                        <p:attrNameLst>
                                          <p:attrName>style.visibility</p:attrName>
                                        </p:attrNameLst>
                                      </p:cBhvr>
                                      <p:to>
                                        <p:strVal val="visible"/>
                                      </p:to>
                                    </p:set>
                                    <p:animEffect transition="in" filter="blinds(horizontal)">
                                      <p:cBhvr>
                                        <p:cTn id="17" dur="500"/>
                                        <p:tgtEl>
                                          <p:spTgt spid="87051">
                                            <p:txEl>
                                              <p:charRg st="32" end="5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7051">
                                            <p:txEl>
                                              <p:charRg st="51" end="85"/>
                                            </p:txEl>
                                          </p:spTgt>
                                        </p:tgtEl>
                                        <p:attrNameLst>
                                          <p:attrName>style.visibility</p:attrName>
                                        </p:attrNameLst>
                                      </p:cBhvr>
                                      <p:to>
                                        <p:strVal val="visible"/>
                                      </p:to>
                                    </p:set>
                                    <p:animEffect transition="in" filter="blinds(horizontal)">
                                      <p:cBhvr>
                                        <p:cTn id="22" dur="500"/>
                                        <p:tgtEl>
                                          <p:spTgt spid="87051">
                                            <p:txEl>
                                              <p:charRg st="51" end="8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7051">
                                            <p:txEl>
                                              <p:charRg st="85" end="114"/>
                                            </p:txEl>
                                          </p:spTgt>
                                        </p:tgtEl>
                                        <p:attrNameLst>
                                          <p:attrName>style.visibility</p:attrName>
                                        </p:attrNameLst>
                                      </p:cBhvr>
                                      <p:to>
                                        <p:strVal val="visible"/>
                                      </p:to>
                                    </p:set>
                                    <p:animEffect transition="in" filter="blinds(horizontal)">
                                      <p:cBhvr>
                                        <p:cTn id="27" dur="500"/>
                                        <p:tgtEl>
                                          <p:spTgt spid="87051">
                                            <p:txEl>
                                              <p:charRg st="85" end="11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7051">
                                            <p:txEl>
                                              <p:charRg st="114" end="145"/>
                                            </p:txEl>
                                          </p:spTgt>
                                        </p:tgtEl>
                                        <p:attrNameLst>
                                          <p:attrName>style.visibility</p:attrName>
                                        </p:attrNameLst>
                                      </p:cBhvr>
                                      <p:to>
                                        <p:strVal val="visible"/>
                                      </p:to>
                                    </p:set>
                                    <p:animEffect transition="in" filter="blinds(horizontal)">
                                      <p:cBhvr>
                                        <p:cTn id="32" dur="500"/>
                                        <p:tgtEl>
                                          <p:spTgt spid="87051">
                                            <p:txEl>
                                              <p:charRg st="114" end="14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5"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vertical)">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51" grpId="0" bldLvl="2"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标题 88065"/>
          <p:cNvSpPr>
            <a:spLocks noGrp="1"/>
          </p:cNvSpPr>
          <p:nvPr>
            <p:ph type="title"/>
          </p:nvPr>
        </p:nvSpPr>
        <p:spPr>
          <a:xfrm>
            <a:off x="323850" y="268288"/>
            <a:ext cx="2601913" cy="474662"/>
          </a:xfrm>
          <a:noFill/>
          <a:ln>
            <a:noFill/>
          </a:ln>
        </p:spPr>
        <p:txBody>
          <a:bodyPr anchor="ctr" anchorCtr="0"/>
          <a:p>
            <a:r>
              <a:rPr lang="zh-CN" altLang="en-US" sz="2800" b="1" dirty="0">
                <a:solidFill>
                  <a:srgbClr val="0000FF"/>
                </a:solidFill>
                <a:ea typeface="宋体" panose="02010600030101010101" pitchFamily="2" charset="-122"/>
              </a:rPr>
              <a:t>（</a:t>
            </a:r>
            <a:r>
              <a:rPr lang="en-US" altLang="zh-CN" sz="2800" b="1" dirty="0">
                <a:solidFill>
                  <a:srgbClr val="0000FF"/>
                </a:solidFill>
                <a:ea typeface="宋体" panose="02010600030101010101" pitchFamily="2" charset="-122"/>
              </a:rPr>
              <a:t>2</a:t>
            </a:r>
            <a:r>
              <a:rPr lang="zh-CN" altLang="en-US" sz="2800" b="1" dirty="0">
                <a:solidFill>
                  <a:srgbClr val="0000FF"/>
                </a:solidFill>
                <a:ea typeface="宋体" panose="02010600030101010101" pitchFamily="2" charset="-122"/>
              </a:rPr>
              <a:t>）氢的储存</a:t>
            </a:r>
            <a:endParaRPr lang="zh-CN" altLang="en-US" sz="2800" b="1" dirty="0">
              <a:solidFill>
                <a:srgbClr val="0000FF"/>
              </a:solidFill>
              <a:ea typeface="宋体" panose="02010600030101010101" pitchFamily="2" charset="-122"/>
            </a:endParaRPr>
          </a:p>
        </p:txBody>
      </p:sp>
      <p:sp>
        <p:nvSpPr>
          <p:cNvPr id="88067" name="内容占位符 88066"/>
          <p:cNvSpPr>
            <a:spLocks noGrp="1"/>
          </p:cNvSpPr>
          <p:nvPr>
            <p:ph idx="1"/>
          </p:nvPr>
        </p:nvSpPr>
        <p:spPr>
          <a:xfrm>
            <a:off x="457200" y="777875"/>
            <a:ext cx="8229600" cy="3394075"/>
          </a:xfrm>
          <a:noFill/>
          <a:ln>
            <a:noFill/>
          </a:ln>
        </p:spPr>
        <p:txBody>
          <a:bodyPr/>
          <a:p>
            <a:pPr algn="just">
              <a:lnSpc>
                <a:spcPct val="90000"/>
              </a:lnSpc>
              <a:buNone/>
            </a:pPr>
            <a:r>
              <a:rPr lang="zh-CN" altLang="en-US" sz="2400" b="1" dirty="0">
                <a:latin typeface="Times New Roman" panose="02020603050405020304" pitchFamily="18" charset="0"/>
                <a:ea typeface="宋体" panose="02010600030101010101" pitchFamily="2" charset="-122"/>
              </a:rPr>
              <a:t>氢的密度 </a:t>
            </a:r>
            <a:r>
              <a:rPr lang="en-US" altLang="zh-CN" sz="2400" b="1" i="1" dirty="0">
                <a:latin typeface="Times New Roman" panose="02020603050405020304" pitchFamily="18" charset="0"/>
                <a:ea typeface="宋体" panose="02010600030101010101" pitchFamily="2" charset="-122"/>
              </a:rPr>
              <a:t>ρ</a:t>
            </a:r>
            <a:r>
              <a:rPr lang="en-US" altLang="zh-CN" sz="2400" b="1" dirty="0">
                <a:latin typeface="Times New Roman" panose="02020603050405020304" pitchFamily="18" charset="0"/>
                <a:ea typeface="宋体" panose="02010600030101010101" pitchFamily="2" charset="-122"/>
              </a:rPr>
              <a:t>= 0.071 g·cm</a:t>
            </a:r>
            <a:r>
              <a:rPr lang="en-US" altLang="zh-CN" sz="2400" b="1" baseline="30000" dirty="0">
                <a:latin typeface="Times New Roman" panose="02020603050405020304" pitchFamily="18" charset="0"/>
                <a:ea typeface="宋体" panose="02010600030101010101" pitchFamily="2" charset="-122"/>
              </a:rPr>
              <a:t>-1</a:t>
            </a: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不利于储存，</a:t>
            </a:r>
            <a:endParaRPr lang="zh-CN" altLang="en-US" sz="2400" b="1" dirty="0">
              <a:latin typeface="Times New Roman" panose="02020603050405020304" pitchFamily="18" charset="0"/>
              <a:ea typeface="宋体" panose="02010600030101010101" pitchFamily="2" charset="-122"/>
            </a:endParaRPr>
          </a:p>
          <a:p>
            <a:pPr algn="just">
              <a:lnSpc>
                <a:spcPct val="90000"/>
              </a:lnSpc>
              <a:buNone/>
            </a:pPr>
            <a:r>
              <a:rPr lang="zh-CN" altLang="en-US" sz="2400" b="1" dirty="0">
                <a:latin typeface="Times New Roman" panose="02020603050405020304" pitchFamily="18" charset="0"/>
                <a:ea typeface="宋体" panose="02010600030101010101" pitchFamily="2" charset="-122"/>
              </a:rPr>
              <a:t>如：</a:t>
            </a:r>
            <a:r>
              <a:rPr lang="en-US" altLang="zh-CN" sz="2400" b="1" dirty="0">
                <a:latin typeface="Times New Roman" panose="02020603050405020304" pitchFamily="18" charset="0"/>
                <a:ea typeface="宋体" panose="02010600030101010101" pitchFamily="2" charset="-122"/>
              </a:rPr>
              <a:t>15MPa</a:t>
            </a:r>
            <a:r>
              <a:rPr lang="zh-CN" altLang="en-US" sz="2400" b="1" dirty="0">
                <a:latin typeface="Times New Roman" panose="02020603050405020304" pitchFamily="18" charset="0"/>
                <a:ea typeface="宋体" panose="02010600030101010101" pitchFamily="2" charset="-122"/>
              </a:rPr>
              <a:t>压力下，</a:t>
            </a:r>
            <a:r>
              <a:rPr lang="en-US" altLang="zh-CN" sz="2400" b="1" dirty="0">
                <a:latin typeface="Times New Roman" panose="02020603050405020304" pitchFamily="18" charset="0"/>
                <a:ea typeface="宋体" panose="02010600030101010101" pitchFamily="2" charset="-122"/>
              </a:rPr>
              <a:t>40dm</a:t>
            </a:r>
            <a:r>
              <a:rPr lang="en-US" altLang="zh-CN" sz="2400" b="1" baseline="30000"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的钢瓶只能装</a:t>
            </a:r>
            <a:r>
              <a:rPr lang="en-US" altLang="zh-CN" sz="2400" b="1" dirty="0">
                <a:latin typeface="Times New Roman" panose="02020603050405020304" pitchFamily="18" charset="0"/>
                <a:ea typeface="宋体" panose="02010600030101010101" pitchFamily="2" charset="-122"/>
              </a:rPr>
              <a:t>0.5kg</a:t>
            </a:r>
            <a:r>
              <a:rPr lang="zh-CN" altLang="en-US" sz="2400" b="1" dirty="0">
                <a:latin typeface="Times New Roman" panose="02020603050405020304" pitchFamily="18" charset="0"/>
                <a:ea typeface="宋体" panose="02010600030101010101" pitchFamily="2" charset="-122"/>
              </a:rPr>
              <a:t>的</a:t>
            </a:r>
            <a:r>
              <a:rPr lang="en-US" altLang="zh-CN" sz="2400" b="1" dirty="0">
                <a:latin typeface="Times New Roman" panose="02020603050405020304" pitchFamily="18" charset="0"/>
                <a:ea typeface="宋体" panose="02010600030101010101" pitchFamily="2" charset="-122"/>
              </a:rPr>
              <a:t>H</a:t>
            </a:r>
            <a:r>
              <a:rPr lang="en-US" altLang="zh-CN" sz="2400" b="1" baseline="-25000" dirty="0">
                <a:latin typeface="Times New Roman" panose="02020603050405020304" pitchFamily="18" charset="0"/>
                <a:ea typeface="宋体" panose="02010600030101010101" pitchFamily="2" charset="-122"/>
              </a:rPr>
              <a:t>2</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a:p>
            <a:pPr algn="just">
              <a:lnSpc>
                <a:spcPct val="90000"/>
              </a:lnSpc>
              <a:buNone/>
            </a:pPr>
            <a:r>
              <a:rPr lang="zh-CN" altLang="en-US" sz="2400" b="1" dirty="0">
                <a:latin typeface="Times New Roman" panose="02020603050405020304" pitchFamily="18" charset="0"/>
                <a:ea typeface="宋体" panose="02010600030101010101" pitchFamily="2" charset="-122"/>
              </a:rPr>
              <a:t>        若是将氢液化，</a:t>
            </a:r>
            <a:r>
              <a:rPr lang="en-US" altLang="zh-CN" sz="2400" b="1" dirty="0">
                <a:latin typeface="Times New Roman" panose="02020603050405020304" pitchFamily="18" charset="0"/>
                <a:ea typeface="宋体" panose="02010600030101010101" pitchFamily="2" charset="-122"/>
              </a:rPr>
              <a:t>t=-253℃</a:t>
            </a:r>
            <a:r>
              <a:rPr lang="zh-CN" altLang="en-US" sz="2400" b="1" dirty="0">
                <a:latin typeface="Times New Roman" panose="02020603050405020304" pitchFamily="18" charset="0"/>
                <a:ea typeface="宋体" panose="02010600030101010101" pitchFamily="2" charset="-122"/>
              </a:rPr>
              <a:t>，需耗费很高的能量</a:t>
            </a:r>
            <a:r>
              <a:rPr lang="zh-CN" altLang="en-US" sz="2400" dirty="0">
                <a:latin typeface="Times New Roman" panose="02020603050405020304" pitchFamily="18" charset="0"/>
                <a:ea typeface="宋体" panose="02010600030101010101" pitchFamily="2" charset="-122"/>
              </a:rPr>
              <a:t>。</a:t>
            </a:r>
            <a:endParaRPr lang="zh-CN" altLang="en-US" sz="2400" dirty="0">
              <a:latin typeface="Times New Roman" panose="02020603050405020304" pitchFamily="18" charset="0"/>
              <a:ea typeface="宋体" panose="02010600030101010101" pitchFamily="2" charset="-122"/>
            </a:endParaRPr>
          </a:p>
          <a:p>
            <a:pPr algn="just">
              <a:lnSpc>
                <a:spcPct val="90000"/>
              </a:lnSpc>
              <a:buNone/>
            </a:pPr>
            <a:r>
              <a:rPr lang="zh-CN" altLang="en-US" sz="2400"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grpSp>
        <p:nvGrpSpPr>
          <p:cNvPr id="2" name="组合 88076"/>
          <p:cNvGrpSpPr/>
          <p:nvPr/>
        </p:nvGrpSpPr>
        <p:grpSpPr>
          <a:xfrm>
            <a:off x="1143000" y="3829050"/>
            <a:ext cx="5943600" cy="1187450"/>
            <a:chOff x="720" y="3216"/>
            <a:chExt cx="3744" cy="997"/>
          </a:xfrm>
        </p:grpSpPr>
        <p:sp>
          <p:nvSpPr>
            <p:cNvPr id="34824" name="直接连接符 88068"/>
            <p:cNvSpPr/>
            <p:nvPr/>
          </p:nvSpPr>
          <p:spPr>
            <a:xfrm>
              <a:off x="2112" y="3504"/>
              <a:ext cx="960" cy="0"/>
            </a:xfrm>
            <a:prstGeom prst="line">
              <a:avLst/>
            </a:prstGeom>
            <a:ln w="28575" cap="flat" cmpd="sng">
              <a:solidFill>
                <a:srgbClr val="FF6600"/>
              </a:solidFill>
              <a:prstDash val="solid"/>
              <a:headEnd type="none" w="med" len="med"/>
              <a:tailEnd type="triangle" w="med" len="med"/>
            </a:ln>
          </p:spPr>
        </p:sp>
        <p:sp>
          <p:nvSpPr>
            <p:cNvPr id="34825" name="文本框 88069"/>
            <p:cNvSpPr txBox="1"/>
            <p:nvPr/>
          </p:nvSpPr>
          <p:spPr>
            <a:xfrm>
              <a:off x="2064" y="3216"/>
              <a:ext cx="1248" cy="659"/>
            </a:xfrm>
            <a:prstGeom prst="rect">
              <a:avLst/>
            </a:prstGeom>
            <a:noFill/>
            <a:ln w="9525">
              <a:noFill/>
            </a:ln>
          </p:spPr>
          <p:txBody>
            <a:bodyPr>
              <a:spAutoFit/>
            </a:bodyPr>
            <a:p>
              <a:r>
                <a:rPr lang="en-US" altLang="zh-CN" sz="1800" b="1" dirty="0">
                  <a:latin typeface="Times New Roman" panose="02020603050405020304" pitchFamily="18" charset="0"/>
                </a:rPr>
                <a:t>(200~300kPa)</a:t>
              </a:r>
              <a:endParaRPr lang="en-US" altLang="zh-CN" sz="1800" b="1" dirty="0">
                <a:latin typeface="Times New Roman" panose="02020603050405020304" pitchFamily="18" charset="0"/>
              </a:endParaRPr>
            </a:p>
            <a:p>
              <a:pPr algn="ctr">
                <a:spcBef>
                  <a:spcPct val="50000"/>
                </a:spcBef>
              </a:pPr>
              <a:endParaRPr lang="en-US" altLang="zh-CN" sz="1800" b="1" dirty="0">
                <a:latin typeface="Times New Roman" panose="02020603050405020304" pitchFamily="18" charset="0"/>
              </a:endParaRPr>
            </a:p>
          </p:txBody>
        </p:sp>
        <p:sp>
          <p:nvSpPr>
            <p:cNvPr id="34826" name="文本框 88070"/>
            <p:cNvSpPr txBox="1"/>
            <p:nvPr/>
          </p:nvSpPr>
          <p:spPr>
            <a:xfrm>
              <a:off x="2112" y="3600"/>
              <a:ext cx="816" cy="310"/>
            </a:xfrm>
            <a:prstGeom prst="rect">
              <a:avLst/>
            </a:prstGeom>
            <a:noFill/>
            <a:ln w="9525">
              <a:noFill/>
            </a:ln>
          </p:spPr>
          <p:txBody>
            <a:bodyPr>
              <a:spAutoFit/>
            </a:bodyPr>
            <a:p>
              <a:pPr algn="ctr">
                <a:spcBef>
                  <a:spcPct val="50000"/>
                </a:spcBef>
              </a:pPr>
              <a:r>
                <a:rPr lang="zh-CN" altLang="en-US" sz="1800" b="1" dirty="0">
                  <a:latin typeface="Times New Roman" panose="02020603050405020304" pitchFamily="18" charset="0"/>
                </a:rPr>
                <a:t>微 热</a:t>
              </a:r>
              <a:endParaRPr lang="zh-CN" altLang="en-US" sz="1800" b="1" dirty="0">
                <a:latin typeface="Times New Roman" panose="02020603050405020304" pitchFamily="18" charset="0"/>
              </a:endParaRPr>
            </a:p>
          </p:txBody>
        </p:sp>
        <p:sp>
          <p:nvSpPr>
            <p:cNvPr id="34827" name="文本框 88071"/>
            <p:cNvSpPr txBox="1"/>
            <p:nvPr/>
          </p:nvSpPr>
          <p:spPr>
            <a:xfrm>
              <a:off x="3168" y="3360"/>
              <a:ext cx="1296" cy="853"/>
            </a:xfrm>
            <a:prstGeom prst="rect">
              <a:avLst/>
            </a:prstGeom>
            <a:noFill/>
            <a:ln w="9525">
              <a:noFill/>
            </a:ln>
          </p:spPr>
          <p:txBody>
            <a:bodyPr>
              <a:spAutoFit/>
            </a:bodyPr>
            <a:p>
              <a:r>
                <a:rPr lang="en-US" altLang="zh-CN" b="1" dirty="0">
                  <a:latin typeface="Times New Roman" panose="02020603050405020304" pitchFamily="18" charset="0"/>
                </a:rPr>
                <a:t>LaNi</a:t>
              </a:r>
              <a:r>
                <a:rPr lang="en-US" altLang="zh-CN" b="1" baseline="-25000" dirty="0">
                  <a:latin typeface="Times New Roman" panose="02020603050405020304" pitchFamily="18" charset="0"/>
                </a:rPr>
                <a:t>5</a:t>
              </a:r>
              <a:r>
                <a:rPr lang="en-US" altLang="zh-CN" b="1" dirty="0">
                  <a:latin typeface="Times New Roman" panose="02020603050405020304" pitchFamily="18" charset="0"/>
                </a:rPr>
                <a:t>H</a:t>
              </a:r>
              <a:r>
                <a:rPr lang="en-US" altLang="zh-CN" b="1" baseline="-25000" dirty="0">
                  <a:latin typeface="Times New Roman" panose="02020603050405020304" pitchFamily="18" charset="0"/>
                </a:rPr>
                <a:t>6</a:t>
              </a:r>
              <a:endParaRPr lang="en-US" altLang="zh-CN" b="1" dirty="0">
                <a:latin typeface="Times New Roman" panose="02020603050405020304" pitchFamily="18" charset="0"/>
              </a:endParaRPr>
            </a:p>
            <a:p>
              <a:pPr algn="ctr">
                <a:spcBef>
                  <a:spcPct val="50000"/>
                </a:spcBef>
              </a:pPr>
              <a:endParaRPr lang="en-US" altLang="zh-CN" b="1" dirty="0">
                <a:latin typeface="Times New Roman" panose="02020603050405020304" pitchFamily="18" charset="0"/>
              </a:endParaRPr>
            </a:p>
          </p:txBody>
        </p:sp>
        <p:sp>
          <p:nvSpPr>
            <p:cNvPr id="34828" name="文本框 88072"/>
            <p:cNvSpPr txBox="1"/>
            <p:nvPr/>
          </p:nvSpPr>
          <p:spPr>
            <a:xfrm>
              <a:off x="720" y="3360"/>
              <a:ext cx="1296" cy="388"/>
            </a:xfrm>
            <a:prstGeom prst="rect">
              <a:avLst/>
            </a:prstGeom>
            <a:noFill/>
            <a:ln w="9525">
              <a:noFill/>
            </a:ln>
          </p:spPr>
          <p:txBody>
            <a:bodyPr>
              <a:spAutoFit/>
            </a:bodyPr>
            <a:p>
              <a:pPr algn="ctr">
                <a:spcBef>
                  <a:spcPct val="50000"/>
                </a:spcBef>
              </a:pPr>
              <a:r>
                <a:rPr lang="en-US" altLang="zh-CN" b="1" dirty="0">
                  <a:latin typeface="Times New Roman" panose="02020603050405020304" pitchFamily="18" charset="0"/>
                </a:rPr>
                <a:t>LaNi</a:t>
              </a:r>
              <a:r>
                <a:rPr lang="en-US" altLang="zh-CN" b="1" baseline="-25000" dirty="0">
                  <a:latin typeface="Times New Roman" panose="02020603050405020304" pitchFamily="18" charset="0"/>
                </a:rPr>
                <a:t>5</a:t>
              </a:r>
              <a:r>
                <a:rPr lang="en-US" altLang="zh-CN" b="1" dirty="0">
                  <a:latin typeface="Times New Roman" panose="02020603050405020304" pitchFamily="18" charset="0"/>
                </a:rPr>
                <a:t> + 3 H</a:t>
              </a:r>
              <a:r>
                <a:rPr lang="en-US" altLang="zh-CN" b="1" baseline="-25000" dirty="0">
                  <a:latin typeface="Times New Roman" panose="02020603050405020304" pitchFamily="18" charset="0"/>
                </a:rPr>
                <a:t>2</a:t>
              </a:r>
              <a:endParaRPr lang="en-US" altLang="zh-CN" b="1" baseline="-25000" dirty="0">
                <a:latin typeface="Times New Roman" panose="02020603050405020304" pitchFamily="18" charset="0"/>
              </a:endParaRPr>
            </a:p>
          </p:txBody>
        </p:sp>
      </p:grpSp>
      <p:sp>
        <p:nvSpPr>
          <p:cNvPr id="88074" name="文本框 88073"/>
          <p:cNvSpPr txBox="1"/>
          <p:nvPr/>
        </p:nvSpPr>
        <p:spPr>
          <a:xfrm>
            <a:off x="533400" y="1895475"/>
            <a:ext cx="8077200" cy="2012950"/>
          </a:xfrm>
          <a:prstGeom prst="rect">
            <a:avLst/>
          </a:prstGeom>
          <a:noFill/>
          <a:ln w="9525">
            <a:noFill/>
          </a:ln>
        </p:spPr>
        <p:txBody>
          <a:bodyPr>
            <a:spAutoFit/>
          </a:bodyPr>
          <a:p>
            <a:pPr algn="just">
              <a:lnSpc>
                <a:spcPct val="90000"/>
              </a:lnSpc>
              <a:spcBef>
                <a:spcPct val="20000"/>
              </a:spcBef>
            </a:pPr>
            <a:r>
              <a:rPr lang="zh-CN" altLang="en-US" b="1" dirty="0">
                <a:latin typeface="Times New Roman" panose="02020603050405020304" pitchFamily="18" charset="0"/>
              </a:rPr>
              <a:t>储氢合金：</a:t>
            </a:r>
            <a:endParaRPr lang="zh-CN" altLang="en-US" b="1" dirty="0">
              <a:latin typeface="Times New Roman" panose="02020603050405020304" pitchFamily="18" charset="0"/>
            </a:endParaRPr>
          </a:p>
          <a:p>
            <a:pPr algn="just">
              <a:lnSpc>
                <a:spcPct val="90000"/>
              </a:lnSpc>
              <a:spcBef>
                <a:spcPct val="20000"/>
              </a:spcBef>
            </a:pPr>
            <a:r>
              <a:rPr lang="zh-CN" altLang="en-US" b="1" dirty="0">
                <a:latin typeface="Times New Roman" panose="02020603050405020304" pitchFamily="18" charset="0"/>
              </a:rPr>
              <a:t>                    镁系储氢合金    </a:t>
            </a:r>
            <a:r>
              <a:rPr lang="en-US" altLang="zh-CN" b="1" dirty="0">
                <a:latin typeface="Times New Roman" panose="02020603050405020304" pitchFamily="18" charset="0"/>
              </a:rPr>
              <a:t>MgH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Mg</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Ni</a:t>
            </a:r>
            <a:endParaRPr lang="en-US" altLang="zh-CN" b="1" dirty="0">
              <a:latin typeface="Times New Roman" panose="02020603050405020304" pitchFamily="18" charset="0"/>
            </a:endParaRPr>
          </a:p>
          <a:p>
            <a:pPr algn="just">
              <a:lnSpc>
                <a:spcPct val="90000"/>
              </a:lnSpc>
              <a:spcBef>
                <a:spcPct val="20000"/>
              </a:spcBef>
            </a:pPr>
            <a:r>
              <a:rPr lang="en-US" altLang="zh-CN" b="1" dirty="0">
                <a:latin typeface="Times New Roman" panose="02020603050405020304" pitchFamily="18" charset="0"/>
              </a:rPr>
              <a:t>                    </a:t>
            </a:r>
            <a:r>
              <a:rPr lang="zh-CN" altLang="en-US" b="1" dirty="0">
                <a:latin typeface="Times New Roman" panose="02020603050405020304" pitchFamily="18" charset="0"/>
              </a:rPr>
              <a:t>稀土系储氢合金  </a:t>
            </a:r>
            <a:r>
              <a:rPr lang="en-US" altLang="zh-CN" b="1" dirty="0">
                <a:latin typeface="Times New Roman" panose="02020603050405020304" pitchFamily="18" charset="0"/>
              </a:rPr>
              <a:t>LaNi</a:t>
            </a:r>
            <a:r>
              <a:rPr lang="en-US" altLang="zh-CN" b="1" baseline="-25000" dirty="0">
                <a:latin typeface="Times New Roman" panose="02020603050405020304" pitchFamily="18" charset="0"/>
              </a:rPr>
              <a:t>5</a:t>
            </a:r>
            <a:r>
              <a:rPr lang="en-US" altLang="zh-CN" b="1" dirty="0">
                <a:latin typeface="Times New Roman" panose="02020603050405020304" pitchFamily="18" charset="0"/>
              </a:rPr>
              <a:t>  MmNiMn (</a:t>
            </a:r>
            <a:r>
              <a:rPr lang="zh-CN" altLang="en-US" b="1" dirty="0">
                <a:latin typeface="Times New Roman" panose="02020603050405020304" pitchFamily="18" charset="0"/>
              </a:rPr>
              <a:t>混合稀土</a:t>
            </a:r>
            <a:r>
              <a:rPr lang="en-US" altLang="zh-CN" b="1" dirty="0">
                <a:latin typeface="Times New Roman" panose="02020603050405020304" pitchFamily="18" charset="0"/>
              </a:rPr>
              <a:t>)</a:t>
            </a:r>
            <a:endParaRPr lang="en-US" altLang="zh-CN" b="1" dirty="0">
              <a:latin typeface="Times New Roman" panose="02020603050405020304" pitchFamily="18" charset="0"/>
            </a:endParaRPr>
          </a:p>
          <a:p>
            <a:pPr algn="just">
              <a:lnSpc>
                <a:spcPct val="90000"/>
              </a:lnSpc>
              <a:spcBef>
                <a:spcPct val="20000"/>
              </a:spcBef>
            </a:pPr>
            <a:r>
              <a:rPr lang="en-US" altLang="zh-CN" b="1" dirty="0">
                <a:latin typeface="Times New Roman" panose="02020603050405020304" pitchFamily="18" charset="0"/>
              </a:rPr>
              <a:t>                    </a:t>
            </a:r>
            <a:r>
              <a:rPr lang="zh-CN" altLang="en-US" b="1" dirty="0">
                <a:latin typeface="Times New Roman" panose="02020603050405020304" pitchFamily="18" charset="0"/>
              </a:rPr>
              <a:t>钛系储氢合金    </a:t>
            </a:r>
            <a:r>
              <a:rPr lang="en-US" altLang="zh-CN" b="1" dirty="0">
                <a:latin typeface="Times New Roman" panose="02020603050405020304" pitchFamily="18" charset="0"/>
              </a:rPr>
              <a:t>TiH</a:t>
            </a:r>
            <a:r>
              <a:rPr lang="en-US" altLang="zh-CN" b="1" baseline="-25000" dirty="0">
                <a:latin typeface="Times New Roman" panose="02020603050405020304" pitchFamily="18" charset="0"/>
              </a:rPr>
              <a:t>2</a:t>
            </a:r>
            <a:r>
              <a:rPr lang="en-US" altLang="zh-CN" b="1" dirty="0">
                <a:latin typeface="Times New Roman" panose="02020603050405020304" pitchFamily="18" charset="0"/>
              </a:rPr>
              <a:t>   TiMn</a:t>
            </a:r>
            <a:r>
              <a:rPr lang="en-US" altLang="zh-CN" b="1" baseline="-25000" dirty="0">
                <a:latin typeface="Times New Roman" panose="02020603050405020304" pitchFamily="18" charset="0"/>
              </a:rPr>
              <a:t>1.5</a:t>
            </a:r>
            <a:endParaRPr lang="en-US" altLang="zh-CN" b="1" baseline="-25000" dirty="0">
              <a:latin typeface="Times New Roman" panose="02020603050405020304" pitchFamily="18" charset="0"/>
            </a:endParaRPr>
          </a:p>
          <a:p>
            <a:pPr algn="ctr">
              <a:spcBef>
                <a:spcPct val="50000"/>
              </a:spcBef>
            </a:pPr>
            <a:endParaRPr lang="en-US" altLang="zh-CN" b="1" baseline="-25000" dirty="0">
              <a:latin typeface="Times New Roman" panose="02020603050405020304" pitchFamily="18" charset="0"/>
            </a:endParaRPr>
          </a:p>
        </p:txBody>
      </p:sp>
      <p:sp>
        <p:nvSpPr>
          <p:cNvPr id="88075" name="文本框 88074"/>
          <p:cNvSpPr txBox="1"/>
          <p:nvPr/>
        </p:nvSpPr>
        <p:spPr>
          <a:xfrm>
            <a:off x="609600" y="3429000"/>
            <a:ext cx="4876800" cy="461963"/>
          </a:xfrm>
          <a:prstGeom prst="rect">
            <a:avLst/>
          </a:prstGeom>
          <a:noFill/>
          <a:ln w="9525">
            <a:noFill/>
          </a:ln>
        </p:spPr>
        <p:txBody>
          <a:bodyPr>
            <a:spAutoFit/>
          </a:bodyPr>
          <a:p>
            <a:pPr algn="just">
              <a:spcBef>
                <a:spcPct val="20000"/>
              </a:spcBef>
            </a:pPr>
            <a:r>
              <a:rPr lang="zh-CN" altLang="en-US" b="1" dirty="0">
                <a:latin typeface="Times New Roman" panose="02020603050405020304" pitchFamily="18" charset="0"/>
              </a:rPr>
              <a:t>例： 镧镍合金</a:t>
            </a:r>
            <a:r>
              <a:rPr lang="en-US" altLang="zh-CN" b="1" dirty="0">
                <a:latin typeface="Times New Roman" panose="02020603050405020304" pitchFamily="18" charset="0"/>
              </a:rPr>
              <a:t>LaNi</a:t>
            </a:r>
            <a:r>
              <a:rPr lang="en-US" altLang="zh-CN" b="1" baseline="-25000" dirty="0">
                <a:latin typeface="Times New Roman" panose="02020603050405020304" pitchFamily="18" charset="0"/>
              </a:rPr>
              <a:t>5</a:t>
            </a:r>
            <a:r>
              <a:rPr lang="zh-CN" altLang="en-US" b="1" dirty="0">
                <a:latin typeface="Times New Roman" panose="02020603050405020304" pitchFamily="18" charset="0"/>
              </a:rPr>
              <a:t>的吸氢反应：</a:t>
            </a:r>
            <a:endParaRPr lang="zh-CN" altLang="en-US" b="1" dirty="0">
              <a:latin typeface="Times New Roman" panose="02020603050405020304" pitchFamily="18" charset="0"/>
            </a:endParaRPr>
          </a:p>
        </p:txBody>
      </p:sp>
      <p:sp>
        <p:nvSpPr>
          <p:cNvPr id="88076" name="直接连接符 88075"/>
          <p:cNvSpPr/>
          <p:nvPr/>
        </p:nvSpPr>
        <p:spPr>
          <a:xfrm>
            <a:off x="3352800" y="4229100"/>
            <a:ext cx="1447800" cy="0"/>
          </a:xfrm>
          <a:prstGeom prst="line">
            <a:avLst/>
          </a:prstGeom>
          <a:ln w="28575" cap="flat" cmpd="sng">
            <a:solidFill>
              <a:srgbClr val="FF3300"/>
            </a:solidFill>
            <a:prstDash val="solid"/>
            <a:headEnd type="triangle" w="med" len="med"/>
            <a:tailEnd type="none" w="med" len="med"/>
          </a:ln>
        </p:spPr>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88067"/>
                                        </p:tgtEl>
                                        <p:attrNameLst>
                                          <p:attrName>style.visibility</p:attrName>
                                        </p:attrNameLst>
                                      </p:cBhvr>
                                      <p:to>
                                        <p:strVal val="visible"/>
                                      </p:to>
                                    </p:set>
                                    <p:animEffect transition="in" filter="blinds(vertical)">
                                      <p:cBhvr>
                                        <p:cTn id="7" dur="500"/>
                                        <p:tgtEl>
                                          <p:spTgt spid="8806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8074"/>
                                        </p:tgtEl>
                                        <p:attrNameLst>
                                          <p:attrName>style.visibility</p:attrName>
                                        </p:attrNameLst>
                                      </p:cBhvr>
                                      <p:to>
                                        <p:strVal val="visible"/>
                                      </p:to>
                                    </p:set>
                                    <p:animEffect transition="in" filter="blinds(horizontal)">
                                      <p:cBhvr>
                                        <p:cTn id="12" dur="500"/>
                                        <p:tgtEl>
                                          <p:spTgt spid="8807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8075"/>
                                        </p:tgtEl>
                                        <p:attrNameLst>
                                          <p:attrName>style.visibility</p:attrName>
                                        </p:attrNameLst>
                                      </p:cBhvr>
                                      <p:to>
                                        <p:strVal val="visible"/>
                                      </p:to>
                                    </p:set>
                                    <p:animEffect transition="in" filter="blinds(horizontal)">
                                      <p:cBhvr>
                                        <p:cTn id="17" dur="500"/>
                                        <p:tgtEl>
                                          <p:spTgt spid="8807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88076"/>
                                        </p:tgtEl>
                                        <p:attrNameLst>
                                          <p:attrName>style.visibility</p:attrName>
                                        </p:attrNameLst>
                                      </p:cBhvr>
                                      <p:to>
                                        <p:strVal val="visible"/>
                                      </p:to>
                                    </p:set>
                                    <p:animEffect transition="in" filter="dissolve">
                                      <p:cBhvr>
                                        <p:cTn id="26" dur="500"/>
                                        <p:tgtEl>
                                          <p:spTgt spid="88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p:bldP spid="88074" grpId="0"/>
      <p:bldP spid="8807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文本占位符 165890"/>
          <p:cNvSpPr>
            <a:spLocks noGrp="1"/>
          </p:cNvSpPr>
          <p:nvPr>
            <p:ph idx="1"/>
          </p:nvPr>
        </p:nvSpPr>
        <p:spPr>
          <a:xfrm>
            <a:off x="457200" y="1200150"/>
            <a:ext cx="8229600" cy="3394075"/>
          </a:xfrm>
          <a:noFill/>
          <a:ln>
            <a:noFill/>
          </a:ln>
        </p:spPr>
        <p:txBody>
          <a:bodyPr/>
          <a:p>
            <a:r>
              <a:rPr lang="zh-CN" altLang="en-US" sz="2800" b="1" dirty="0">
                <a:ea typeface="宋体" panose="02010600030101010101" pitchFamily="2" charset="-122"/>
              </a:rPr>
              <a:t>风能的利用主要是以风能作动力和风力发电两种形式，其中又以风力发电为主。</a:t>
            </a:r>
            <a:r>
              <a:rPr lang="zh-CN" altLang="en-US" dirty="0">
                <a:ea typeface="宋体" panose="02010600030101010101" pitchFamily="2" charset="-122"/>
              </a:rPr>
              <a:t> </a:t>
            </a:r>
            <a:endParaRPr lang="zh-CN" altLang="en-US" dirty="0">
              <a:ea typeface="宋体" panose="02010600030101010101" pitchFamily="2" charset="-122"/>
            </a:endParaRPr>
          </a:p>
        </p:txBody>
      </p:sp>
      <p:sp>
        <p:nvSpPr>
          <p:cNvPr id="35843" name="矩形 165891"/>
          <p:cNvSpPr/>
          <p:nvPr/>
        </p:nvSpPr>
        <p:spPr>
          <a:xfrm>
            <a:off x="468313" y="357188"/>
            <a:ext cx="2865437" cy="565150"/>
          </a:xfrm>
          <a:prstGeom prst="rect">
            <a:avLst/>
          </a:prstGeom>
          <a:solidFill>
            <a:srgbClr val="006600"/>
          </a:solidFill>
          <a:ln w="9525">
            <a:noFill/>
          </a:ln>
        </p:spPr>
        <p:txBody>
          <a:bodyPr anchor="ctr" anchorCtr="0"/>
          <a:p>
            <a:pPr algn="just">
              <a:lnSpc>
                <a:spcPct val="90000"/>
              </a:lnSpc>
            </a:pPr>
            <a:r>
              <a:rPr lang="" altLang="zh-CN" sz="3600" dirty="0">
                <a:solidFill>
                  <a:srgbClr val="FF9900"/>
                </a:solidFill>
                <a:latin typeface="Times New Roman" panose="02020603050405020304" pitchFamily="18" charset="0"/>
                <a:sym typeface="+mn-ea"/>
              </a:rPr>
              <a:t>7.2.6    </a:t>
            </a:r>
            <a:r>
              <a:rPr lang="" altLang="en-US" sz="3600" dirty="0">
                <a:solidFill>
                  <a:srgbClr val="FF9900"/>
                </a:solidFill>
                <a:latin typeface="Times New Roman" panose="02020603050405020304" pitchFamily="18" charset="0"/>
                <a:sym typeface="+mn-ea"/>
              </a:rPr>
              <a:t>风能</a:t>
            </a:r>
            <a:endParaRPr lang="" altLang="en-US" sz="3600" dirty="0">
              <a:solidFill>
                <a:srgbClr val="FF9900"/>
              </a:solidFill>
              <a:latin typeface="Times New Roman" panose="02020603050405020304" pitchFamily="18" charset="0"/>
              <a:sym typeface="+mn-ea"/>
            </a:endParaRPr>
          </a:p>
        </p:txBody>
      </p:sp>
      <p:pic>
        <p:nvPicPr>
          <p:cNvPr id="35844" name="图片 165892"/>
          <p:cNvPicPr>
            <a:picLocks noChangeAspect="1"/>
          </p:cNvPicPr>
          <p:nvPr/>
        </p:nvPicPr>
        <p:blipFill>
          <a:blip r:embed="rId1"/>
          <a:stretch>
            <a:fillRect/>
          </a:stretch>
        </p:blipFill>
        <p:spPr>
          <a:xfrm>
            <a:off x="1187450" y="2301875"/>
            <a:ext cx="2543175" cy="2100263"/>
          </a:xfrm>
          <a:prstGeom prst="rect">
            <a:avLst/>
          </a:prstGeom>
          <a:noFill/>
          <a:ln w="9525">
            <a:noFill/>
          </a:ln>
        </p:spPr>
      </p:pic>
      <p:pic>
        <p:nvPicPr>
          <p:cNvPr id="35845" name="图片 165893" descr=" 风力发电"/>
          <p:cNvPicPr>
            <a:picLocks noChangeAspect="1"/>
          </p:cNvPicPr>
          <p:nvPr/>
        </p:nvPicPr>
        <p:blipFill>
          <a:blip r:embed="rId2"/>
          <a:stretch>
            <a:fillRect/>
          </a:stretch>
        </p:blipFill>
        <p:spPr>
          <a:xfrm>
            <a:off x="4067175" y="2247900"/>
            <a:ext cx="3495675" cy="2108200"/>
          </a:xfrm>
          <a:prstGeom prst="rect">
            <a:avLst/>
          </a:prstGeom>
          <a:noFill/>
          <a:ln w="9525">
            <a:noFill/>
          </a:ln>
        </p:spPr>
      </p:pic>
    </p:spTree>
  </p:cSld>
  <p:clrMapOvr>
    <a:masterClrMapping/>
  </p:clrMapOvr>
  <p:transition spd="slow">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文本占位符 167938"/>
          <p:cNvSpPr>
            <a:spLocks noGrp="1"/>
          </p:cNvSpPr>
          <p:nvPr>
            <p:ph idx="1"/>
          </p:nvPr>
        </p:nvSpPr>
        <p:spPr>
          <a:xfrm>
            <a:off x="457200" y="1200150"/>
            <a:ext cx="8229600" cy="3394075"/>
          </a:xfrm>
          <a:noFill/>
          <a:ln>
            <a:noFill/>
          </a:ln>
        </p:spPr>
        <p:txBody>
          <a:bodyPr/>
          <a:p>
            <a:pPr>
              <a:lnSpc>
                <a:spcPct val="80000"/>
              </a:lnSpc>
            </a:pPr>
            <a:r>
              <a:rPr lang="zh-CN" altLang="en-US" sz="2400" b="1" dirty="0">
                <a:ea typeface="宋体" panose="02010600030101010101" pitchFamily="2" charset="-122"/>
              </a:rPr>
              <a:t>一、地热能的分类</a:t>
            </a:r>
            <a:endParaRPr lang="zh-CN" altLang="en-US" sz="2400" b="1" dirty="0">
              <a:ea typeface="宋体" panose="02010600030101010101" pitchFamily="2" charset="-122"/>
            </a:endParaRPr>
          </a:p>
          <a:p>
            <a:pPr>
              <a:lnSpc>
                <a:spcPct val="80000"/>
              </a:lnSpc>
            </a:pPr>
            <a:r>
              <a:rPr lang="zh-CN" altLang="en-US" sz="2400" b="1" dirty="0">
                <a:ea typeface="宋体" panose="02010600030101010101" pitchFamily="2" charset="-122"/>
              </a:rPr>
              <a:t>二、地热能的分布 </a:t>
            </a:r>
            <a:endParaRPr lang="zh-CN" altLang="en-US" sz="2400" b="1" dirty="0">
              <a:ea typeface="宋体" panose="02010600030101010101" pitchFamily="2" charset="-122"/>
            </a:endParaRPr>
          </a:p>
          <a:p>
            <a:pPr>
              <a:lnSpc>
                <a:spcPct val="80000"/>
              </a:lnSpc>
            </a:pPr>
            <a:r>
              <a:rPr lang="zh-CN" altLang="en-US" sz="2400" b="1" dirty="0">
                <a:ea typeface="宋体" panose="02010600030101010101" pitchFamily="2" charset="-122"/>
              </a:rPr>
              <a:t>三、地热能的作用</a:t>
            </a:r>
            <a:endParaRPr lang="zh-CN" altLang="en-US" sz="2400" b="1" dirty="0">
              <a:ea typeface="宋体" panose="02010600030101010101" pitchFamily="2" charset="-122"/>
            </a:endParaRPr>
          </a:p>
          <a:p>
            <a:pPr>
              <a:lnSpc>
                <a:spcPct val="80000"/>
              </a:lnSpc>
              <a:buNone/>
            </a:pPr>
            <a:r>
              <a:rPr lang="zh-CN" altLang="en-US" sz="2400" b="1" dirty="0">
                <a:ea typeface="宋体" panose="02010600030101010101" pitchFamily="2" charset="-122"/>
              </a:rPr>
              <a:t>   </a:t>
            </a:r>
            <a:r>
              <a:rPr lang="en-US" altLang="zh-CN" sz="2400" b="1" dirty="0">
                <a:ea typeface="宋体" panose="02010600030101010101" pitchFamily="2" charset="-122"/>
              </a:rPr>
              <a:t>(1)</a:t>
            </a:r>
            <a:r>
              <a:rPr lang="zh-CN" altLang="en-US" sz="2400" b="1" dirty="0">
                <a:ea typeface="宋体" panose="02010600030101010101" pitchFamily="2" charset="-122"/>
              </a:rPr>
              <a:t>地热发电</a:t>
            </a:r>
            <a:endParaRPr lang="zh-CN" altLang="en-US" sz="2400" b="1" dirty="0">
              <a:ea typeface="宋体" panose="02010600030101010101" pitchFamily="2" charset="-122"/>
            </a:endParaRPr>
          </a:p>
          <a:p>
            <a:pPr>
              <a:lnSpc>
                <a:spcPct val="80000"/>
              </a:lnSpc>
              <a:buNone/>
            </a:pPr>
            <a:r>
              <a:rPr lang="zh-CN" altLang="en-US" sz="2400" b="1" dirty="0">
                <a:ea typeface="宋体" panose="02010600030101010101" pitchFamily="2" charset="-122"/>
              </a:rPr>
              <a:t>        </a:t>
            </a:r>
            <a:r>
              <a:rPr lang="en-US" altLang="zh-CN" sz="2400" b="1" dirty="0">
                <a:ea typeface="宋体" panose="02010600030101010101" pitchFamily="2" charset="-122"/>
              </a:rPr>
              <a:t>①</a:t>
            </a:r>
            <a:r>
              <a:rPr lang="zh-CN" altLang="en-US" sz="2400" b="1" dirty="0">
                <a:ea typeface="宋体" panose="02010600030101010101" pitchFamily="2" charset="-122"/>
              </a:rPr>
              <a:t>蒸汽型地热发电。 </a:t>
            </a:r>
            <a:endParaRPr lang="zh-CN" altLang="en-US" sz="2400" b="1" dirty="0">
              <a:ea typeface="宋体" panose="02010600030101010101" pitchFamily="2" charset="-122"/>
            </a:endParaRPr>
          </a:p>
          <a:p>
            <a:pPr>
              <a:lnSpc>
                <a:spcPct val="80000"/>
              </a:lnSpc>
              <a:buNone/>
            </a:pPr>
            <a:r>
              <a:rPr lang="zh-CN" altLang="en-US" sz="2400" b="1" dirty="0">
                <a:ea typeface="宋体" panose="02010600030101010101" pitchFamily="2" charset="-122"/>
              </a:rPr>
              <a:t>        </a:t>
            </a:r>
            <a:r>
              <a:rPr lang="en-US" altLang="zh-CN" sz="2400" b="1" dirty="0">
                <a:ea typeface="宋体" panose="02010600030101010101" pitchFamily="2" charset="-122"/>
              </a:rPr>
              <a:t>②</a:t>
            </a:r>
            <a:r>
              <a:rPr lang="zh-CN" altLang="en-US" sz="2400" b="1" dirty="0">
                <a:ea typeface="宋体" panose="02010600030101010101" pitchFamily="2" charset="-122"/>
              </a:rPr>
              <a:t>热水型地热发电。</a:t>
            </a:r>
            <a:endParaRPr lang="zh-CN" altLang="en-US" sz="2400" b="1" dirty="0">
              <a:ea typeface="宋体" panose="02010600030101010101" pitchFamily="2" charset="-122"/>
            </a:endParaRPr>
          </a:p>
          <a:p>
            <a:pPr>
              <a:lnSpc>
                <a:spcPct val="80000"/>
              </a:lnSpc>
              <a:buNone/>
            </a:pPr>
            <a:r>
              <a:rPr lang="zh-CN" altLang="en-US" sz="2400" b="1" dirty="0">
                <a:ea typeface="宋体" panose="02010600030101010101" pitchFamily="2" charset="-122"/>
              </a:rPr>
              <a:t>   </a:t>
            </a:r>
            <a:r>
              <a:rPr lang="en-US" altLang="zh-CN" sz="2400" b="1" dirty="0">
                <a:ea typeface="宋体" panose="02010600030101010101" pitchFamily="2" charset="-122"/>
              </a:rPr>
              <a:t>(2)</a:t>
            </a:r>
            <a:r>
              <a:rPr lang="zh-CN" altLang="en-US" sz="2400" b="1" dirty="0">
                <a:ea typeface="宋体" panose="02010600030101010101" pitchFamily="2" charset="-122"/>
              </a:rPr>
              <a:t>地热供暖</a:t>
            </a:r>
            <a:endParaRPr lang="zh-CN" altLang="en-US" sz="2400" b="1" dirty="0">
              <a:ea typeface="宋体" panose="02010600030101010101" pitchFamily="2" charset="-122"/>
            </a:endParaRPr>
          </a:p>
          <a:p>
            <a:pPr>
              <a:lnSpc>
                <a:spcPct val="80000"/>
              </a:lnSpc>
              <a:buNone/>
            </a:pPr>
            <a:r>
              <a:rPr lang="zh-CN" altLang="en-US" sz="2400" b="1" dirty="0">
                <a:ea typeface="宋体" panose="02010600030101010101" pitchFamily="2" charset="-122"/>
              </a:rPr>
              <a:t>   </a:t>
            </a:r>
            <a:r>
              <a:rPr lang="en-US" altLang="zh-CN" sz="2400" b="1" dirty="0">
                <a:ea typeface="宋体" panose="02010600030101010101" pitchFamily="2" charset="-122"/>
              </a:rPr>
              <a:t>(3)</a:t>
            </a:r>
            <a:r>
              <a:rPr lang="zh-CN" altLang="en-US" sz="2400" b="1" dirty="0">
                <a:ea typeface="宋体" panose="02010600030101010101" pitchFamily="2" charset="-122"/>
              </a:rPr>
              <a:t>地热务农</a:t>
            </a:r>
            <a:endParaRPr lang="zh-CN" altLang="en-US" sz="2400" b="1" dirty="0">
              <a:ea typeface="宋体" panose="02010600030101010101" pitchFamily="2" charset="-122"/>
            </a:endParaRPr>
          </a:p>
          <a:p>
            <a:pPr>
              <a:lnSpc>
                <a:spcPct val="80000"/>
              </a:lnSpc>
              <a:buNone/>
            </a:pPr>
            <a:r>
              <a:rPr lang="zh-CN" altLang="en-US" sz="2400" b="1" dirty="0">
                <a:ea typeface="宋体" panose="02010600030101010101" pitchFamily="2" charset="-122"/>
              </a:rPr>
              <a:t>   </a:t>
            </a:r>
            <a:r>
              <a:rPr lang="en-US" altLang="zh-CN" sz="2400" b="1" dirty="0">
                <a:ea typeface="宋体" panose="02010600030101010101" pitchFamily="2" charset="-122"/>
              </a:rPr>
              <a:t>(4)</a:t>
            </a:r>
            <a:r>
              <a:rPr lang="zh-CN" altLang="en-US" sz="2400" b="1" dirty="0">
                <a:ea typeface="宋体" panose="02010600030101010101" pitchFamily="2" charset="-122"/>
              </a:rPr>
              <a:t>地热行医</a:t>
            </a:r>
            <a:endParaRPr lang="zh-CN" altLang="en-US" sz="2400" b="1" dirty="0">
              <a:ea typeface="宋体" panose="02010600030101010101" pitchFamily="2" charset="-122"/>
            </a:endParaRPr>
          </a:p>
        </p:txBody>
      </p:sp>
      <p:sp>
        <p:nvSpPr>
          <p:cNvPr id="167940" name="矩形 167939"/>
          <p:cNvSpPr/>
          <p:nvPr/>
        </p:nvSpPr>
        <p:spPr>
          <a:xfrm>
            <a:off x="539750" y="250825"/>
            <a:ext cx="2924175" cy="569913"/>
          </a:xfrm>
          <a:prstGeom prst="rect">
            <a:avLst/>
          </a:prstGeom>
          <a:solidFill>
            <a:srgbClr val="006600"/>
          </a:solidFill>
          <a:ln w="9525">
            <a:noFill/>
          </a:ln>
        </p:spPr>
        <p:txBody>
          <a:bodyPr anchor="ctr" anchorCtr="0"/>
          <a:p>
            <a:r>
              <a:rPr lang="" altLang="zh-CN" sz="3200" b="1" dirty="0">
                <a:solidFill>
                  <a:srgbClr val="FF9900"/>
                </a:solidFill>
                <a:latin typeface="Times New Roman" panose="02020603050405020304" pitchFamily="18" charset="0"/>
                <a:sym typeface="+mn-ea"/>
              </a:rPr>
              <a:t>7.2.7.</a:t>
            </a:r>
            <a:r>
              <a:rPr lang="" altLang="en-US" sz="3200" b="1" dirty="0">
                <a:solidFill>
                  <a:srgbClr val="FF9900"/>
                </a:solidFill>
                <a:latin typeface="Times New Roman" panose="02020603050405020304" pitchFamily="18" charset="0"/>
                <a:sym typeface="+mn-ea"/>
              </a:rPr>
              <a:t>地热能</a:t>
            </a:r>
            <a:endParaRPr lang="" altLang="en-US" sz="3200" b="1" dirty="0">
              <a:solidFill>
                <a:srgbClr val="FF9900"/>
              </a:solidFill>
              <a:latin typeface="Times New Roman" panose="02020603050405020304" pitchFamily="18" charset="0"/>
              <a:sym typeface="+mn-ea"/>
            </a:endParaRPr>
          </a:p>
        </p:txBody>
      </p:sp>
      <p:pic>
        <p:nvPicPr>
          <p:cNvPr id="36868" name="图片 167940" descr="F:/2018/工程化学/http:/www.cceec.com.cn/uploads/100920/16-100920103Q63G.jpg"/>
          <p:cNvPicPr>
            <a:picLocks noChangeAspect="1"/>
          </p:cNvPicPr>
          <p:nvPr/>
        </p:nvPicPr>
        <p:blipFill>
          <a:blip r:embed="rId1" r:link="rId2"/>
          <a:stretch>
            <a:fillRect/>
          </a:stretch>
        </p:blipFill>
        <p:spPr>
          <a:xfrm>
            <a:off x="5003800" y="2247900"/>
            <a:ext cx="3744913" cy="2124075"/>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67940"/>
                                        </p:tgtEl>
                                        <p:attrNameLst>
                                          <p:attrName>style.visibility</p:attrName>
                                        </p:attrNameLst>
                                      </p:cBhvr>
                                      <p:to>
                                        <p:strVal val="visible"/>
                                      </p:to>
                                    </p:set>
                                    <p:animEffect transition="in" filter="blinds(vertical)">
                                      <p:cBhvr>
                                        <p:cTn id="7" dur="500"/>
                                        <p:tgtEl>
                                          <p:spTgt spid="167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0"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文本占位符 168962"/>
          <p:cNvSpPr>
            <a:spLocks noGrp="1"/>
          </p:cNvSpPr>
          <p:nvPr>
            <p:ph idx="1"/>
          </p:nvPr>
        </p:nvSpPr>
        <p:spPr>
          <a:xfrm>
            <a:off x="0" y="1546225"/>
            <a:ext cx="5573713" cy="1951038"/>
          </a:xfrm>
          <a:noFill/>
          <a:ln>
            <a:noFill/>
          </a:ln>
        </p:spPr>
        <p:txBody>
          <a:bodyPr/>
          <a:p>
            <a:pPr>
              <a:lnSpc>
                <a:spcPct val="125000"/>
              </a:lnSpc>
            </a:pPr>
            <a:r>
              <a:rPr lang="zh-CN" altLang="en-US" sz="2800" b="1" dirty="0">
                <a:latin typeface="宋体" panose="02010600030101010101" pitchFamily="2" charset="-122"/>
                <a:ea typeface="宋体" panose="02010600030101010101" pitchFamily="2" charset="-122"/>
              </a:rPr>
              <a:t>海洋能是海水运动过程中产生的可再生能。主要包括温差能、潮汐能、波浪能、潮流能、海流能和盐差能等。</a:t>
            </a:r>
            <a:endParaRPr lang="zh-CN" altLang="en-US" sz="2800" b="1" dirty="0">
              <a:latin typeface="宋体" panose="02010600030101010101" pitchFamily="2" charset="-122"/>
              <a:ea typeface="宋体" panose="02010600030101010101" pitchFamily="2" charset="-122"/>
            </a:endParaRPr>
          </a:p>
        </p:txBody>
      </p:sp>
      <p:sp>
        <p:nvSpPr>
          <p:cNvPr id="168964" name="矩形 168963"/>
          <p:cNvSpPr/>
          <p:nvPr/>
        </p:nvSpPr>
        <p:spPr>
          <a:xfrm>
            <a:off x="250825" y="844550"/>
            <a:ext cx="2938463" cy="560388"/>
          </a:xfrm>
          <a:prstGeom prst="rect">
            <a:avLst/>
          </a:prstGeom>
          <a:solidFill>
            <a:srgbClr val="006600"/>
          </a:solidFill>
          <a:ln w="9525">
            <a:noFill/>
          </a:ln>
        </p:spPr>
        <p:txBody>
          <a:bodyPr anchor="ctr"/>
          <a:lstStyle>
            <a:lvl1pPr marL="0" lvl="0" indent="0" algn="ctr" defTabSz="914400" rtl="0" eaLnBrk="1" fontAlgn="base" latinLnBrk="0" hangingPunct="1">
              <a:lnSpc>
                <a:spcPct val="100000"/>
              </a:lnSpc>
              <a:spcBef>
                <a:spcPct val="0"/>
              </a:spcBef>
              <a:spcAft>
                <a:spcPct val="0"/>
              </a:spcAft>
              <a:buNone/>
              <a:defRPr sz="4400" u="none" kern="1200" baseline="0">
                <a:solidFill>
                  <a:schemeClr val="tx2"/>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1">
                <a:ln>
                  <a:noFill/>
                </a:ln>
                <a:solidFill>
                  <a:srgbClr val="FF99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sym typeface="+mn-ea"/>
              </a:rPr>
              <a:t>7.2.8.</a:t>
            </a:r>
            <a:r>
              <a:rPr kumimoji="0" lang="zh-CN" altLang="en-US" sz="3200" b="1" i="0" u="none" strike="noStrike" kern="1200" cap="none" spc="0" normalizeH="0" baseline="0" noProof="1">
                <a:ln>
                  <a:noFill/>
                </a:ln>
                <a:solidFill>
                  <a:srgbClr val="FF99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sym typeface="+mn-ea"/>
              </a:rPr>
              <a:t>海洋能</a:t>
            </a:r>
            <a:endParaRPr kumimoji="0" lang="zh-CN" altLang="en-US" sz="3200" b="1" i="0" u="none" strike="noStrike" kern="1200" cap="none" spc="0" normalizeH="0" baseline="0" noProof="1">
              <a:ln>
                <a:noFill/>
              </a:ln>
              <a:solidFill>
                <a:srgbClr val="FF99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sym typeface="+mn-ea"/>
            </a:endParaRPr>
          </a:p>
        </p:txBody>
      </p:sp>
      <p:pic>
        <p:nvPicPr>
          <p:cNvPr id="37892" name="图片 168964" descr="F:/2018/工程化学/http:/zynews.com/images/2009-07/16/xin_5607061611238971434021.jpg"/>
          <p:cNvPicPr>
            <a:picLocks noChangeAspect="1"/>
          </p:cNvPicPr>
          <p:nvPr/>
        </p:nvPicPr>
        <p:blipFill>
          <a:blip r:embed="rId1" r:link="rId2"/>
          <a:stretch>
            <a:fillRect/>
          </a:stretch>
        </p:blipFill>
        <p:spPr>
          <a:xfrm>
            <a:off x="5724525" y="2625725"/>
            <a:ext cx="3168650" cy="1787525"/>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68964"/>
                                        </p:tgtEl>
                                        <p:attrNameLst>
                                          <p:attrName>style.visibility</p:attrName>
                                        </p:attrNameLst>
                                      </p:cBhvr>
                                      <p:to>
                                        <p:strVal val="visible"/>
                                      </p:to>
                                    </p:set>
                                    <p:animEffect transition="in" filter="blinds(vertical)">
                                      <p:cBhvr>
                                        <p:cTn id="7" dur="500"/>
                                        <p:tgtEl>
                                          <p:spTgt spid="16896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6865"/>
                                        </p:tgtEl>
                                        <p:attrNameLst>
                                          <p:attrName>style.visibility</p:attrName>
                                        </p:attrNameLst>
                                      </p:cBhvr>
                                      <p:to>
                                        <p:strVal val="visible"/>
                                      </p:to>
                                    </p:set>
                                    <p:animEffect transition="in" filter="checkerboard(across)">
                                      <p:cBhvr>
                                        <p:cTn id="12" dur="500"/>
                                        <p:tgtEl>
                                          <p:spTgt spid="368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5" grpId="0"/>
      <p:bldP spid="168964"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8914" name="图片 168964" descr="F:/2018/工程化学/http:/zynews.com/images/2009-07/16/xin_5607061611238971434021.jpg"/>
          <p:cNvPicPr>
            <a:picLocks noChangeAspect="1"/>
          </p:cNvPicPr>
          <p:nvPr/>
        </p:nvPicPr>
        <p:blipFill>
          <a:blip r:embed="rId1" r:link="rId2"/>
          <a:stretch>
            <a:fillRect/>
          </a:stretch>
        </p:blipFill>
        <p:spPr>
          <a:xfrm>
            <a:off x="6091238" y="123825"/>
            <a:ext cx="2663825" cy="1501775"/>
          </a:xfrm>
          <a:prstGeom prst="rect">
            <a:avLst/>
          </a:prstGeom>
          <a:noFill/>
          <a:ln w="9525">
            <a:noFill/>
          </a:ln>
        </p:spPr>
      </p:pic>
      <p:sp>
        <p:nvSpPr>
          <p:cNvPr id="40965" name="矩形 168965"/>
          <p:cNvSpPr/>
          <p:nvPr/>
        </p:nvSpPr>
        <p:spPr>
          <a:xfrm>
            <a:off x="468313" y="1131888"/>
            <a:ext cx="8499475" cy="3738562"/>
          </a:xfrm>
          <a:prstGeom prst="rect">
            <a:avLst/>
          </a:prstGeom>
          <a:noFill/>
          <a:ln w="9525">
            <a:noFill/>
          </a:ln>
        </p:spPr>
        <p:txBody>
          <a:bodyPr anchor="ctr" anchorCtr="0">
            <a:spAutoFit/>
          </a:bodyPr>
          <a:p>
            <a:pPr indent="266700">
              <a:lnSpc>
                <a:spcPct val="125000"/>
              </a:lnSpc>
            </a:pPr>
            <a:r>
              <a:rPr lang="zh-CN" altLang="en-US" b="1" dirty="0">
                <a:latin typeface="Times New Roman" panose="02020603050405020304" pitchFamily="18" charset="0"/>
              </a:rPr>
              <a:t>特点：</a:t>
            </a:r>
            <a:endParaRPr lang="zh-CN" altLang="en-US" b="1" dirty="0">
              <a:latin typeface="Times New Roman" panose="02020603050405020304" pitchFamily="18" charset="0"/>
            </a:endParaRPr>
          </a:p>
          <a:p>
            <a:pPr indent="266700">
              <a:lnSpc>
                <a:spcPct val="125000"/>
              </a:lnSpc>
            </a:pPr>
            <a:r>
              <a:rPr lang="en-US" altLang="zh-CN" b="1" dirty="0">
                <a:latin typeface="Times New Roman" panose="02020603050405020304" pitchFamily="18" charset="0"/>
              </a:rPr>
              <a:t>   ①</a:t>
            </a:r>
            <a:r>
              <a:rPr lang="zh-CN" altLang="en-US" b="1" dirty="0">
                <a:latin typeface="Times New Roman" panose="02020603050405020304" pitchFamily="18" charset="0"/>
              </a:rPr>
              <a:t>海洋能在海洋总水体中的蕴藏量巨大，而单位体积、单位面积、单位长度所拥有的能量较小。</a:t>
            </a:r>
            <a:endParaRPr lang="zh-CN" altLang="en-US" b="1" dirty="0">
              <a:latin typeface="Times New Roman" panose="02020603050405020304" pitchFamily="18" charset="0"/>
            </a:endParaRPr>
          </a:p>
          <a:p>
            <a:pPr indent="266700">
              <a:lnSpc>
                <a:spcPct val="125000"/>
              </a:lnSpc>
            </a:pPr>
            <a:r>
              <a:rPr lang="en-US" altLang="zh-CN" b="1" dirty="0">
                <a:latin typeface="Times New Roman" panose="02020603050405020304" pitchFamily="18" charset="0"/>
              </a:rPr>
              <a:t>   ②</a:t>
            </a:r>
            <a:r>
              <a:rPr lang="zh-CN" altLang="en-US" b="1" dirty="0">
                <a:latin typeface="Times New Roman" panose="02020603050405020304" pitchFamily="18" charset="0"/>
              </a:rPr>
              <a:t>海洋能具有可再生性。</a:t>
            </a:r>
            <a:endParaRPr lang="zh-CN" altLang="en-US" b="1" dirty="0">
              <a:latin typeface="Times New Roman" panose="02020603050405020304" pitchFamily="18" charset="0"/>
            </a:endParaRPr>
          </a:p>
          <a:p>
            <a:pPr indent="266700">
              <a:lnSpc>
                <a:spcPct val="125000"/>
              </a:lnSpc>
            </a:pPr>
            <a:r>
              <a:rPr lang="en-US" altLang="zh-CN" b="1" dirty="0">
                <a:latin typeface="Times New Roman" panose="02020603050405020304" pitchFamily="18" charset="0"/>
              </a:rPr>
              <a:t>   ③</a:t>
            </a:r>
            <a:r>
              <a:rPr lang="zh-CN" altLang="en-US" b="1" dirty="0">
                <a:latin typeface="Times New Roman" panose="02020603050405020304" pitchFamily="18" charset="0"/>
              </a:rPr>
              <a:t>海洋能有较稳定与不稳定能源之分。较稳定的为温度差能、盐度差能和海流能。不稳定能源分为变化有规律与变化无规律两种。属于不稳定但变化有规律的有潮汐能与潮流能。</a:t>
            </a:r>
            <a:endParaRPr lang="zh-CN" altLang="en-US" b="1" dirty="0">
              <a:latin typeface="Times New Roman" panose="02020603050405020304" pitchFamily="18" charset="0"/>
            </a:endParaRPr>
          </a:p>
          <a:p>
            <a:pPr indent="266700">
              <a:lnSpc>
                <a:spcPct val="125000"/>
              </a:lnSpc>
            </a:pPr>
            <a:r>
              <a:rPr lang="en-US" altLang="zh-CN" b="1" dirty="0">
                <a:latin typeface="Times New Roman" panose="02020603050405020304" pitchFamily="18" charset="0"/>
              </a:rPr>
              <a:t>    ④</a:t>
            </a:r>
            <a:r>
              <a:rPr lang="zh-CN" altLang="en-US" b="1" dirty="0">
                <a:latin typeface="Times New Roman" panose="02020603050405020304" pitchFamily="18" charset="0"/>
              </a:rPr>
              <a:t>海洋能属于清洁能源。</a:t>
            </a:r>
            <a:endParaRPr lang="zh-CN" altLang="en-US" b="1" dirty="0">
              <a:latin typeface="Times New Roman" panose="02020603050405020304" pitchFamily="18"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0965">
                                            <p:txEl>
                                              <p:charRg st="0" end="4"/>
                                            </p:txEl>
                                          </p:spTgt>
                                        </p:tgtEl>
                                        <p:attrNameLst>
                                          <p:attrName>style.visibility</p:attrName>
                                        </p:attrNameLst>
                                      </p:cBhvr>
                                      <p:to>
                                        <p:strVal val="visible"/>
                                      </p:to>
                                    </p:set>
                                    <p:animEffect transition="in" filter="checkerboard(across)">
                                      <p:cBhvr>
                                        <p:cTn id="7" dur="500"/>
                                        <p:tgtEl>
                                          <p:spTgt spid="40965">
                                            <p:txEl>
                                              <p:charRg st="0"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0965">
                                            <p:txEl>
                                              <p:charRg st="4" end="50"/>
                                            </p:txEl>
                                          </p:spTgt>
                                        </p:tgtEl>
                                        <p:attrNameLst>
                                          <p:attrName>style.visibility</p:attrName>
                                        </p:attrNameLst>
                                      </p:cBhvr>
                                      <p:to>
                                        <p:strVal val="visible"/>
                                      </p:to>
                                    </p:set>
                                    <p:animEffect transition="in" filter="checkerboard(across)">
                                      <p:cBhvr>
                                        <p:cTn id="12" dur="500"/>
                                        <p:tgtEl>
                                          <p:spTgt spid="40965">
                                            <p:txEl>
                                              <p:charRg st="4" end="5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40965">
                                            <p:txEl>
                                              <p:charRg st="50" end="65"/>
                                            </p:txEl>
                                          </p:spTgt>
                                        </p:tgtEl>
                                        <p:attrNameLst>
                                          <p:attrName>style.visibility</p:attrName>
                                        </p:attrNameLst>
                                      </p:cBhvr>
                                      <p:to>
                                        <p:strVal val="visible"/>
                                      </p:to>
                                    </p:set>
                                    <p:animEffect transition="in" filter="checkerboard(across)">
                                      <p:cBhvr>
                                        <p:cTn id="17" dur="500"/>
                                        <p:tgtEl>
                                          <p:spTgt spid="40965">
                                            <p:txEl>
                                              <p:charRg st="50" end="6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0965">
                                            <p:txEl>
                                              <p:charRg st="65" end="147"/>
                                            </p:txEl>
                                          </p:spTgt>
                                        </p:tgtEl>
                                        <p:attrNameLst>
                                          <p:attrName>style.visibility</p:attrName>
                                        </p:attrNameLst>
                                      </p:cBhvr>
                                      <p:to>
                                        <p:strVal val="visible"/>
                                      </p:to>
                                    </p:set>
                                    <p:animEffect transition="in" filter="checkerboard(across)">
                                      <p:cBhvr>
                                        <p:cTn id="22" dur="500"/>
                                        <p:tgtEl>
                                          <p:spTgt spid="40965">
                                            <p:txEl>
                                              <p:charRg st="65" end="14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40965">
                                            <p:txEl>
                                              <p:charRg st="147" end="163"/>
                                            </p:txEl>
                                          </p:spTgt>
                                        </p:tgtEl>
                                        <p:attrNameLst>
                                          <p:attrName>style.visibility</p:attrName>
                                        </p:attrNameLst>
                                      </p:cBhvr>
                                      <p:to>
                                        <p:strVal val="visible"/>
                                      </p:to>
                                    </p:set>
                                    <p:animEffect transition="in" filter="checkerboard(across)">
                                      <p:cBhvr>
                                        <p:cTn id="27" dur="500"/>
                                        <p:tgtEl>
                                          <p:spTgt spid="40965">
                                            <p:txEl>
                                              <p:charRg st="147" end="16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8" name="矩形 169987"/>
          <p:cNvSpPr/>
          <p:nvPr/>
        </p:nvSpPr>
        <p:spPr>
          <a:xfrm>
            <a:off x="467679" y="897968"/>
            <a:ext cx="4392295" cy="538163"/>
          </a:xfrm>
          <a:prstGeom prst="rect">
            <a:avLst/>
          </a:prstGeom>
          <a:solidFill>
            <a:srgbClr val="006600"/>
          </a:solidFill>
          <a:ln w="9525">
            <a:noFill/>
          </a:ln>
        </p:spPr>
        <p:txBody>
          <a:bodyPr anchor="ctr"/>
          <a:lstStyle>
            <a:lvl1pPr marL="0" lvl="0" indent="0" algn="ctr" defTabSz="914400" rtl="0" eaLnBrk="1" fontAlgn="base" latinLnBrk="0" hangingPunct="1">
              <a:lnSpc>
                <a:spcPct val="100000"/>
              </a:lnSpc>
              <a:spcBef>
                <a:spcPct val="0"/>
              </a:spcBef>
              <a:spcAft>
                <a:spcPct val="0"/>
              </a:spcAft>
              <a:buNone/>
              <a:defRPr sz="4400" u="none" kern="1200" baseline="0">
                <a:solidFill>
                  <a:schemeClr val="tx2"/>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1">
                <a:ln>
                  <a:noFill/>
                </a:ln>
                <a:solidFill>
                  <a:srgbClr val="FF99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sym typeface="+mn-ea"/>
              </a:rPr>
              <a:t>7.2.9.</a:t>
            </a:r>
            <a:r>
              <a:rPr kumimoji="0" lang="zh-CN" altLang="en-US" sz="3200" b="1" i="0" u="none" strike="noStrike" kern="1200" cap="none" spc="0" normalizeH="0" baseline="0" noProof="1">
                <a:ln>
                  <a:noFill/>
                </a:ln>
                <a:solidFill>
                  <a:srgbClr val="FF99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sym typeface="+mn-ea"/>
              </a:rPr>
              <a:t>未来的几种</a:t>
            </a:r>
            <a:r>
              <a:rPr kumimoji="0" lang="zh-CN" altLang="en-US" sz="3200" b="1" i="0" u="none" strike="noStrike" kern="1200" cap="none" spc="0" normalizeH="0" baseline="0" noProof="1">
                <a:ln>
                  <a:solidFill>
                    <a:srgbClr val="FF0000"/>
                  </a:solid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sym typeface="+mn-ea"/>
                <a:hlinkClick r:id="rId1" action="ppaction://hlinkfile"/>
              </a:rPr>
              <a:t>新能源</a:t>
            </a:r>
            <a:endParaRPr kumimoji="0" lang="zh-CN" altLang="en-US" sz="3200" b="1" i="0" u="none" strike="noStrike" kern="1200" cap="none" spc="0" normalizeH="0" baseline="0" noProof="1">
              <a:ln>
                <a:solidFill>
                  <a:srgbClr val="FF0000"/>
                </a:solidFill>
              </a:ln>
              <a:solidFill>
                <a:srgbClr val="FF0000"/>
              </a:solidFill>
              <a:effectLst>
                <a:outerShdw blurRad="38100" dist="38100" dir="2700000">
                  <a:srgbClr val="C0C0C0"/>
                </a:outerShdw>
              </a:effectLst>
              <a:uLnTx/>
              <a:uFillTx/>
              <a:latin typeface="Times New Roman" panose="02020603050405020304" pitchFamily="18" charset="0"/>
              <a:ea typeface="宋体" panose="02010600030101010101" pitchFamily="2" charset="-122"/>
              <a:cs typeface="+mn-cs"/>
              <a:sym typeface="+mn-ea"/>
            </a:endParaRPr>
          </a:p>
        </p:txBody>
      </p:sp>
      <p:sp>
        <p:nvSpPr>
          <p:cNvPr id="37891" name="矩形 169988"/>
          <p:cNvSpPr/>
          <p:nvPr/>
        </p:nvSpPr>
        <p:spPr>
          <a:xfrm>
            <a:off x="457200" y="1476375"/>
            <a:ext cx="8497888" cy="2843213"/>
          </a:xfrm>
          <a:prstGeom prst="rect">
            <a:avLst/>
          </a:prstGeom>
          <a:noFill/>
          <a:ln w="9525">
            <a:noFill/>
          </a:ln>
        </p:spPr>
        <p:txBody>
          <a:bodyPr anchor="ctr" anchorCtr="0">
            <a:spAutoFit/>
          </a:bodyPr>
          <a:p>
            <a:pPr indent="9525">
              <a:lnSpc>
                <a:spcPct val="125000"/>
              </a:lnSpc>
            </a:pPr>
            <a:r>
              <a:rPr lang="en-US" altLang="zh-CN" b="1" dirty="0">
                <a:latin typeface="Times New Roman" panose="02020603050405020304" pitchFamily="18" charset="0"/>
              </a:rPr>
              <a:t>       ①</a:t>
            </a:r>
            <a:r>
              <a:rPr lang="zh-CN" altLang="en-US" b="1" dirty="0">
                <a:latin typeface="Times New Roman" panose="02020603050405020304" pitchFamily="18" charset="0"/>
              </a:rPr>
              <a:t>可燃冰：这是一种甲烷与水结合在一起的固体化合物，它的外形与冰相似，故被称为“可燃冰”。可燃冰在低温高压下，呈现出稳定状态，冰融化所释放的可燃气体相当于原来固体化合物体积的</a:t>
            </a:r>
            <a:r>
              <a:rPr lang="en-US" altLang="zh-CN" b="1" dirty="0">
                <a:latin typeface="Times New Roman" panose="02020603050405020304" pitchFamily="18" charset="0"/>
              </a:rPr>
              <a:t>100</a:t>
            </a:r>
            <a:r>
              <a:rPr lang="zh-CN" altLang="en-US" b="1" dirty="0">
                <a:latin typeface="Times New Roman" panose="02020603050405020304" pitchFamily="18" charset="0"/>
              </a:rPr>
              <a:t>倍。据有关组织测算，可燃冰的蕴藏量比地球上的煤、石油和天然气的总和还多。</a:t>
            </a:r>
            <a:endParaRPr lang="zh-CN" altLang="en-US" b="1" dirty="0">
              <a:latin typeface="Times New Roman" panose="02020603050405020304" pitchFamily="18" charset="0"/>
            </a:endParaRPr>
          </a:p>
          <a:p>
            <a:pPr indent="9525">
              <a:lnSpc>
                <a:spcPct val="120000"/>
              </a:lnSpc>
            </a:pPr>
            <a:endParaRPr lang="zh-CN" altLang="en-US" b="1" dirty="0">
              <a:latin typeface="Times New Roman" panose="02020603050405020304" pitchFamily="18" charset="0"/>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169988"/>
                                        </p:tgtEl>
                                        <p:attrNameLst>
                                          <p:attrName>style.visibility</p:attrName>
                                        </p:attrNameLst>
                                      </p:cBhvr>
                                      <p:to>
                                        <p:strVal val="visible"/>
                                      </p:to>
                                    </p:set>
                                    <p:animEffect transition="in" filter="blinds(vertical)">
                                      <p:cBhvr>
                                        <p:cTn id="7" dur="500"/>
                                        <p:tgtEl>
                                          <p:spTgt spid="16998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7891"/>
                                        </p:tgtEl>
                                        <p:attrNameLst>
                                          <p:attrName>style.visibility</p:attrName>
                                        </p:attrNameLst>
                                      </p:cBhvr>
                                      <p:to>
                                        <p:strVal val="visible"/>
                                      </p:to>
                                    </p:set>
                                    <p:animEffect transition="in" filter="checkerboard(across)">
                                      <p:cBhvr>
                                        <p:cTn id="12" dur="500"/>
                                        <p:tgtEl>
                                          <p:spTgt spid="37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矩形 169988"/>
          <p:cNvSpPr/>
          <p:nvPr/>
        </p:nvSpPr>
        <p:spPr>
          <a:xfrm>
            <a:off x="468313" y="588963"/>
            <a:ext cx="8497887" cy="3638550"/>
          </a:xfrm>
          <a:prstGeom prst="rect">
            <a:avLst/>
          </a:prstGeom>
          <a:noFill/>
          <a:ln w="9525">
            <a:noFill/>
          </a:ln>
        </p:spPr>
        <p:txBody>
          <a:bodyPr anchor="ctr" anchorCtr="0">
            <a:spAutoFit/>
          </a:bodyPr>
          <a:p>
            <a:pPr indent="9525">
              <a:lnSpc>
                <a:spcPct val="120000"/>
              </a:lnSpc>
            </a:pPr>
            <a:endParaRPr lang="zh-CN" altLang="en-US" b="1" dirty="0">
              <a:latin typeface="Times New Roman" panose="02020603050405020304" pitchFamily="18" charset="0"/>
            </a:endParaRPr>
          </a:p>
          <a:p>
            <a:pPr indent="9525">
              <a:lnSpc>
                <a:spcPct val="120000"/>
              </a:lnSpc>
            </a:pPr>
            <a:r>
              <a:rPr lang="en-US" altLang="zh-CN" b="1" dirty="0">
                <a:latin typeface="Times New Roman" panose="02020603050405020304" pitchFamily="18" charset="0"/>
              </a:rPr>
              <a:t>     ②</a:t>
            </a:r>
            <a:r>
              <a:rPr lang="zh-CN" altLang="en-US" b="1" dirty="0">
                <a:latin typeface="Times New Roman" panose="02020603050405020304" pitchFamily="18" charset="0"/>
              </a:rPr>
              <a:t>煤层气：煤在形成过程中，随着温度和压力增加，在产生变质作用的同时，也释放出可燃性气体。</a:t>
            </a:r>
            <a:endParaRPr lang="zh-CN" altLang="en-US" b="1" dirty="0">
              <a:latin typeface="Times New Roman" panose="02020603050405020304" pitchFamily="18" charset="0"/>
            </a:endParaRPr>
          </a:p>
          <a:p>
            <a:pPr indent="9525">
              <a:lnSpc>
                <a:spcPct val="120000"/>
              </a:lnSpc>
            </a:pPr>
            <a:endParaRPr lang="zh-CN" altLang="en-US" b="1" dirty="0">
              <a:latin typeface="Times New Roman" panose="02020603050405020304" pitchFamily="18" charset="0"/>
            </a:endParaRPr>
          </a:p>
          <a:p>
            <a:pPr indent="9525">
              <a:lnSpc>
                <a:spcPct val="120000"/>
              </a:lnSpc>
            </a:pPr>
            <a:r>
              <a:rPr lang="en-US" altLang="zh-CN" b="1" dirty="0">
                <a:latin typeface="Times New Roman" panose="02020603050405020304" pitchFamily="18" charset="0"/>
              </a:rPr>
              <a:t>      ③</a:t>
            </a:r>
            <a:r>
              <a:rPr lang="zh-CN" altLang="en-US" b="1" dirty="0">
                <a:latin typeface="Times New Roman" panose="02020603050405020304" pitchFamily="18" charset="0"/>
              </a:rPr>
              <a:t>微生物：世界上有不少国家盛产甘蔗、甜菜、木薯等，利用微生物发酵，可以制成酒精，酒精具有燃烧完全、效率高、无污染等待点，用其稀释汽油，可以得到“乙醇汽油”，而且制作酒精的原料丰富、成本低廉。</a:t>
            </a:r>
            <a:endParaRPr lang="zh-CN" altLang="en-US" b="1" dirty="0">
              <a:latin typeface="Times New Roman" panose="02020603050405020304" pitchFamily="18" charset="0"/>
            </a:endParaRPr>
          </a:p>
        </p:txBody>
      </p:sp>
    </p:spTree>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AutoShape 5" descr="u=812926120,737121040&amp;fm=27&amp;gp=0"/>
          <p:cNvSpPr>
            <a:spLocks noChangeAspect="1"/>
          </p:cNvSpPr>
          <p:nvPr/>
        </p:nvSpPr>
        <p:spPr>
          <a:xfrm>
            <a:off x="4419600" y="2457450"/>
            <a:ext cx="304800" cy="228600"/>
          </a:xfrm>
          <a:prstGeom prst="rect">
            <a:avLst/>
          </a:prstGeom>
          <a:noFill/>
          <a:ln w="9525">
            <a:noFill/>
          </a:ln>
        </p:spPr>
        <p:txBody>
          <a:bodyPr/>
          <a:p>
            <a:endParaRPr lang="zh-CN" altLang="en-US" dirty="0">
              <a:latin typeface="Times New Roman" panose="02020603050405020304" pitchFamily="18" charset="0"/>
            </a:endParaRPr>
          </a:p>
        </p:txBody>
      </p:sp>
      <p:sp>
        <p:nvSpPr>
          <p:cNvPr id="41987" name="AutoShape 7" descr="u=812926120,737121040&amp;fm=27&amp;gp=0"/>
          <p:cNvSpPr>
            <a:spLocks noChangeAspect="1"/>
          </p:cNvSpPr>
          <p:nvPr/>
        </p:nvSpPr>
        <p:spPr>
          <a:xfrm>
            <a:off x="4419600" y="2457450"/>
            <a:ext cx="304800" cy="228600"/>
          </a:xfrm>
          <a:prstGeom prst="rect">
            <a:avLst/>
          </a:prstGeom>
          <a:noFill/>
          <a:ln w="9525">
            <a:noFill/>
          </a:ln>
        </p:spPr>
        <p:txBody>
          <a:bodyPr/>
          <a:p>
            <a:endParaRPr lang="zh-CN" altLang="en-US" dirty="0">
              <a:latin typeface="Times New Roman" panose="02020603050405020304" pitchFamily="18" charset="0"/>
            </a:endParaRPr>
          </a:p>
        </p:txBody>
      </p:sp>
      <p:sp>
        <p:nvSpPr>
          <p:cNvPr id="41988" name="AutoShape 9" descr="u=812926120,737121040&amp;fm=27&amp;gp=0"/>
          <p:cNvSpPr>
            <a:spLocks noChangeAspect="1"/>
          </p:cNvSpPr>
          <p:nvPr/>
        </p:nvSpPr>
        <p:spPr>
          <a:xfrm>
            <a:off x="4419600" y="2457450"/>
            <a:ext cx="304800" cy="228600"/>
          </a:xfrm>
          <a:prstGeom prst="rect">
            <a:avLst/>
          </a:prstGeom>
          <a:noFill/>
          <a:ln w="9525">
            <a:noFill/>
          </a:ln>
        </p:spPr>
        <p:txBody>
          <a:bodyPr/>
          <a:p>
            <a:endParaRPr lang="zh-CN" altLang="en-US" dirty="0">
              <a:latin typeface="Times New Roman" panose="02020603050405020304" pitchFamily="18" charset="0"/>
            </a:endParaRPr>
          </a:p>
        </p:txBody>
      </p:sp>
      <p:pic>
        <p:nvPicPr>
          <p:cNvPr id="41989" name="Picture 10"/>
          <p:cNvPicPr>
            <a:picLocks noChangeAspect="1"/>
          </p:cNvPicPr>
          <p:nvPr/>
        </p:nvPicPr>
        <p:blipFill>
          <a:blip r:embed="rId1"/>
          <a:srcRect r="16182"/>
          <a:stretch>
            <a:fillRect/>
          </a:stretch>
        </p:blipFill>
        <p:spPr>
          <a:xfrm>
            <a:off x="0" y="0"/>
            <a:ext cx="9144000" cy="5143500"/>
          </a:xfrm>
          <a:prstGeom prst="rect">
            <a:avLst/>
          </a:prstGeom>
          <a:noFill/>
          <a:ln w="9525">
            <a:noFill/>
          </a:ln>
        </p:spPr>
      </p:pic>
      <p:pic>
        <p:nvPicPr>
          <p:cNvPr id="45067" name="Picture 11"/>
          <p:cNvPicPr>
            <a:picLocks noChangeAspect="1"/>
          </p:cNvPicPr>
          <p:nvPr/>
        </p:nvPicPr>
        <p:blipFill>
          <a:blip r:embed="rId2">
            <a:lum bright="-17999"/>
          </a:blip>
          <a:stretch>
            <a:fillRect/>
          </a:stretch>
        </p:blipFill>
        <p:spPr>
          <a:xfrm>
            <a:off x="6300788" y="3813175"/>
            <a:ext cx="2533650" cy="1085850"/>
          </a:xfrm>
          <a:prstGeom prst="rect">
            <a:avLst/>
          </a:prstGeom>
          <a:noFill/>
          <a:ln w="9525">
            <a:noFill/>
          </a:ln>
        </p:spPr>
      </p:pic>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5067"/>
                                        </p:tgtEl>
                                        <p:attrNameLst>
                                          <p:attrName>style.visibility</p:attrName>
                                        </p:attrNameLst>
                                      </p:cBhvr>
                                      <p:to>
                                        <p:strVal val="visible"/>
                                      </p:to>
                                    </p:set>
                                    <p:animEffect transition="in" filter="checkerboard(across)">
                                      <p:cBhvr>
                                        <p:cTn id="7" dur="500"/>
                                        <p:tgtEl>
                                          <p:spTgt spid="450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commondata" val="eyJoZGlkIjoiMzBlOWVlMGNkMmFjNDM3NzgyN2FmN2M1NGNjNDBmZTYifQ=="/>
</p:tagLst>
</file>

<file path=ppt/theme/theme1.xml><?xml version="1.0" encoding="utf-8"?>
<a:theme xmlns:a="http://schemas.openxmlformats.org/drawingml/2006/main" name="枫叶PPT模板">
  <a:themeElements>
    <a:clrScheme name="枫叶PPT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枫叶PPT模板">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枫叶PPT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枫叶PPT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枫叶PPT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枫叶PPT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枫叶PPT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枫叶PPT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枫叶PPT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枫叶PPT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枫叶PPT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枫叶PPT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枫叶PPT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枫叶PPT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Designs\Soaring.pot</Template>
  <TotalTime>0</TotalTime>
  <Words>6111</Words>
  <Application>WPS 演示</Application>
  <PresentationFormat>全屏显示(16:9)</PresentationFormat>
  <Paragraphs>473</Paragraphs>
  <Slides>37</Slides>
  <Notes>2</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37</vt:i4>
      </vt:variant>
    </vt:vector>
  </HeadingPairs>
  <TitlesOfParts>
    <vt:vector size="53" baseType="lpstr">
      <vt:lpstr>Arial</vt:lpstr>
      <vt:lpstr>宋体</vt:lpstr>
      <vt:lpstr>Wingdings</vt:lpstr>
      <vt:lpstr>Times New Roman</vt:lpstr>
      <vt:lpstr>Calibri</vt:lpstr>
      <vt:lpstr>隶书</vt:lpstr>
      <vt:lpstr>楷体_GB2312</vt:lpstr>
      <vt:lpstr>+mn-ea</vt:lpstr>
      <vt:lpstr>Segoe Print</vt:lpstr>
      <vt:lpstr>Lucida Sans Unicode</vt:lpstr>
      <vt:lpstr>仿宋_GB2312</vt:lpstr>
      <vt:lpstr>微软雅黑</vt:lpstr>
      <vt:lpstr>Arial Unicode MS</vt:lpstr>
      <vt:lpstr>枫叶PPT模板</vt:lpstr>
      <vt:lpstr>Word.Document.8</vt:lpstr>
      <vt:lpstr>Word.Document.8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bbb</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能源与化学 </dc:title>
  <dc:creator>aaa</dc:creator>
  <cp:lastModifiedBy>微信用户</cp:lastModifiedBy>
  <cp:revision>119</cp:revision>
  <dcterms:created xsi:type="dcterms:W3CDTF">2000-12-27T14:08:02Z</dcterms:created>
  <dcterms:modified xsi:type="dcterms:W3CDTF">2024-08-09T03:45:46Z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E5E4AF57919E43C886385FBC1689C1EA_12</vt:lpwstr>
  </property>
</Properties>
</file>